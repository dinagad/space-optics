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61" r:id="rId3"/>
    <p:sldId id="265" r:id="rId4"/>
    <p:sldId id="269" r:id="rId5"/>
    <p:sldId id="262" r:id="rId6"/>
    <p:sldId id="260" r:id="rId7"/>
    <p:sldId id="263" r:id="rId8"/>
    <p:sldId id="270" r:id="rId9"/>
    <p:sldId id="266" r:id="rId10"/>
    <p:sldId id="259" r:id="rId11"/>
    <p:sldId id="258" r:id="rId12"/>
    <p:sldId id="267" r:id="rId13"/>
    <p:sldId id="268" r:id="rId14"/>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4" d="100"/>
          <a:sy n="104" d="100"/>
        </p:scale>
        <p:origin x="126"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1BB57D-6017-4DDC-A92B-7E444D9B9B1B}" type="doc">
      <dgm:prSet loTypeId="urn:diagrams.loki3.com/BracketList" loCatId="list" qsTypeId="urn:microsoft.com/office/officeart/2005/8/quickstyle/simple1" qsCatId="simple" csTypeId="urn:microsoft.com/office/officeart/2005/8/colors/colorful1" csCatId="colorful" phldr="1"/>
      <dgm:spPr/>
    </dgm:pt>
    <dgm:pt modelId="{7C664C18-6E5C-46C3-9CCF-7981727B4D48}">
      <dgm:prSet phldrT="[Text]" custT="1"/>
      <dgm:spPr/>
      <dgm:t>
        <a:bodyPr/>
        <a:lstStyle/>
        <a:p>
          <a:pPr algn="just">
            <a:buFont typeface="+mj-lt"/>
            <a:buAutoNum type="arabicPeriod"/>
          </a:pPr>
          <a:r>
            <a:rPr lang="en-US" sz="1200" b="1" dirty="0">
              <a:solidFill>
                <a:schemeClr val="tx1"/>
              </a:solidFill>
              <a:latin typeface="Garamond" panose="02020404030301010803" pitchFamily="18" charset="0"/>
            </a:rPr>
            <a:t>Define mission objectives and requirements:</a:t>
          </a:r>
        </a:p>
      </dgm:t>
    </dgm:pt>
    <dgm:pt modelId="{38EF9201-8F58-487A-A23C-1E97E85BAB23}" type="parTrans" cxnId="{E2B22A12-14D6-46E1-AC87-A772F295C334}">
      <dgm:prSet/>
      <dgm:spPr/>
      <dgm:t>
        <a:bodyPr/>
        <a:lstStyle/>
        <a:p>
          <a:pPr algn="just"/>
          <a:endParaRPr lang="en-US" sz="1200">
            <a:solidFill>
              <a:schemeClr val="tx1"/>
            </a:solidFill>
            <a:latin typeface="Garamond" panose="02020404030301010803" pitchFamily="18" charset="0"/>
          </a:endParaRPr>
        </a:p>
      </dgm:t>
    </dgm:pt>
    <dgm:pt modelId="{33001B9A-4190-4E24-BEC7-1CA64DD4DEC9}" type="sibTrans" cxnId="{E2B22A12-14D6-46E1-AC87-A772F295C334}">
      <dgm:prSet/>
      <dgm:spPr/>
      <dgm:t>
        <a:bodyPr/>
        <a:lstStyle/>
        <a:p>
          <a:pPr algn="just"/>
          <a:endParaRPr lang="en-US" sz="1200">
            <a:solidFill>
              <a:schemeClr val="tx1"/>
            </a:solidFill>
            <a:latin typeface="Garamond" panose="02020404030301010803" pitchFamily="18" charset="0"/>
          </a:endParaRPr>
        </a:p>
      </dgm:t>
    </dgm:pt>
    <dgm:pt modelId="{A87ACEED-04C7-4D95-ABD5-7E036E4F58D9}">
      <dgm:prSet phldrT="[Text]" custT="1"/>
      <dgm:spPr/>
      <dgm:t>
        <a:bodyPr/>
        <a:lstStyle/>
        <a:p>
          <a:pPr algn="just">
            <a:buFont typeface="+mj-lt"/>
            <a:buAutoNum type="arabicPeriod"/>
          </a:pPr>
          <a:r>
            <a:rPr lang="en-US" sz="1200" b="1" dirty="0">
              <a:solidFill>
                <a:schemeClr val="tx1"/>
              </a:solidFill>
              <a:latin typeface="Garamond" panose="02020404030301010803" pitchFamily="18" charset="0"/>
            </a:rPr>
            <a:t>Conducting mission feasibility study:</a:t>
          </a:r>
        </a:p>
      </dgm:t>
    </dgm:pt>
    <dgm:pt modelId="{CA1D5B6F-0A16-496A-A4F8-1182C1411E06}" type="parTrans" cxnId="{6ED25DAF-841F-40C7-B24D-616A9D650B65}">
      <dgm:prSet/>
      <dgm:spPr/>
      <dgm:t>
        <a:bodyPr/>
        <a:lstStyle/>
        <a:p>
          <a:pPr algn="just"/>
          <a:endParaRPr lang="en-US" sz="1200">
            <a:solidFill>
              <a:schemeClr val="tx1"/>
            </a:solidFill>
            <a:latin typeface="Garamond" panose="02020404030301010803" pitchFamily="18" charset="0"/>
          </a:endParaRPr>
        </a:p>
      </dgm:t>
    </dgm:pt>
    <dgm:pt modelId="{C4EA790C-AC99-49A9-8D12-641BBAF8FF08}" type="sibTrans" cxnId="{6ED25DAF-841F-40C7-B24D-616A9D650B65}">
      <dgm:prSet/>
      <dgm:spPr/>
      <dgm:t>
        <a:bodyPr/>
        <a:lstStyle/>
        <a:p>
          <a:pPr algn="just"/>
          <a:endParaRPr lang="en-US" sz="1200">
            <a:solidFill>
              <a:schemeClr val="tx1"/>
            </a:solidFill>
            <a:latin typeface="Garamond" panose="02020404030301010803" pitchFamily="18" charset="0"/>
          </a:endParaRPr>
        </a:p>
      </dgm:t>
    </dgm:pt>
    <dgm:pt modelId="{A097A77A-EDBC-4BF3-BB00-9EAB2D7F7228}">
      <dgm:prSet phldrT="[Text]" custT="1"/>
      <dgm:spPr/>
      <dgm:t>
        <a:bodyPr/>
        <a:lstStyle/>
        <a:p>
          <a:pPr algn="just">
            <a:buFont typeface="+mj-lt"/>
            <a:buAutoNum type="arabicPeriod"/>
          </a:pPr>
          <a:r>
            <a:rPr lang="en-US" sz="1200" b="1" dirty="0">
              <a:solidFill>
                <a:schemeClr val="tx1"/>
              </a:solidFill>
              <a:latin typeface="Garamond" panose="02020404030301010803" pitchFamily="18" charset="0"/>
            </a:rPr>
            <a:t>Selecting the sensor:</a:t>
          </a:r>
        </a:p>
      </dgm:t>
    </dgm:pt>
    <dgm:pt modelId="{419A3A8C-1E45-4B91-B5B1-D70D537412E7}" type="parTrans" cxnId="{3F99C347-C6CB-44CF-AC99-746EAB3C86D3}">
      <dgm:prSet/>
      <dgm:spPr/>
      <dgm:t>
        <a:bodyPr/>
        <a:lstStyle/>
        <a:p>
          <a:pPr algn="just"/>
          <a:endParaRPr lang="en-US" sz="1200">
            <a:solidFill>
              <a:schemeClr val="tx1"/>
            </a:solidFill>
            <a:latin typeface="Garamond" panose="02020404030301010803" pitchFamily="18" charset="0"/>
          </a:endParaRPr>
        </a:p>
      </dgm:t>
    </dgm:pt>
    <dgm:pt modelId="{6CD141BF-CB41-495C-9819-25D57ACAF5DF}" type="sibTrans" cxnId="{3F99C347-C6CB-44CF-AC99-746EAB3C86D3}">
      <dgm:prSet/>
      <dgm:spPr/>
      <dgm:t>
        <a:bodyPr/>
        <a:lstStyle/>
        <a:p>
          <a:pPr algn="just"/>
          <a:endParaRPr lang="en-US" sz="1200">
            <a:solidFill>
              <a:schemeClr val="tx1"/>
            </a:solidFill>
            <a:latin typeface="Garamond" panose="02020404030301010803" pitchFamily="18" charset="0"/>
          </a:endParaRPr>
        </a:p>
      </dgm:t>
    </dgm:pt>
    <dgm:pt modelId="{0EAE227B-A5C9-4892-86E5-C9F5EDCF321E}">
      <dgm:prSet phldrT="[Text]" custT="1"/>
      <dgm:spPr/>
      <dgm:t>
        <a:bodyPr/>
        <a:lstStyle/>
        <a:p>
          <a:pPr algn="just">
            <a:buFont typeface="+mj-lt"/>
            <a:buAutoNum type="arabicPeriod"/>
          </a:pPr>
          <a:r>
            <a:rPr lang="en-US" sz="1200" b="1" dirty="0">
              <a:solidFill>
                <a:schemeClr val="tx1"/>
              </a:solidFill>
              <a:latin typeface="Garamond" panose="02020404030301010803" pitchFamily="18" charset="0"/>
            </a:rPr>
            <a:t>Mechanical design concept:</a:t>
          </a:r>
        </a:p>
      </dgm:t>
    </dgm:pt>
    <dgm:pt modelId="{9978998D-4EBB-44C6-B97A-4FF716992950}" type="parTrans" cxnId="{B2F6413B-3EF2-4665-A629-1B82B78F98DF}">
      <dgm:prSet/>
      <dgm:spPr/>
      <dgm:t>
        <a:bodyPr/>
        <a:lstStyle/>
        <a:p>
          <a:pPr algn="just"/>
          <a:endParaRPr lang="en-US" sz="1200">
            <a:solidFill>
              <a:schemeClr val="tx1"/>
            </a:solidFill>
            <a:latin typeface="Garamond" panose="02020404030301010803" pitchFamily="18" charset="0"/>
          </a:endParaRPr>
        </a:p>
      </dgm:t>
    </dgm:pt>
    <dgm:pt modelId="{10C16B74-7EED-4AFE-A0ED-F0B433606B71}" type="sibTrans" cxnId="{B2F6413B-3EF2-4665-A629-1B82B78F98DF}">
      <dgm:prSet/>
      <dgm:spPr/>
      <dgm:t>
        <a:bodyPr/>
        <a:lstStyle/>
        <a:p>
          <a:pPr algn="just"/>
          <a:endParaRPr lang="en-US" sz="1200">
            <a:solidFill>
              <a:schemeClr val="tx1"/>
            </a:solidFill>
            <a:latin typeface="Garamond" panose="02020404030301010803" pitchFamily="18" charset="0"/>
          </a:endParaRPr>
        </a:p>
      </dgm:t>
    </dgm:pt>
    <dgm:pt modelId="{137948AC-E663-4C1F-B89E-8744A3BC2E4C}">
      <dgm:prSet phldrT="[Text]" custT="1"/>
      <dgm:spPr/>
      <dgm:t>
        <a:bodyPr/>
        <a:lstStyle/>
        <a:p>
          <a:pPr algn="just">
            <a:buFont typeface="+mj-lt"/>
            <a:buAutoNum type="arabicPeriod"/>
          </a:pPr>
          <a:r>
            <a:rPr lang="en-US" sz="1200" b="1" dirty="0">
              <a:solidFill>
                <a:schemeClr val="tx1"/>
              </a:solidFill>
              <a:latin typeface="Garamond" panose="02020404030301010803" pitchFamily="18" charset="0"/>
            </a:rPr>
            <a:t>Optical and telescope design: </a:t>
          </a:r>
        </a:p>
      </dgm:t>
    </dgm:pt>
    <dgm:pt modelId="{04FAF621-B7E4-480E-BA1E-4DAA65808D53}" type="parTrans" cxnId="{9BAC1B8C-4D7D-4969-8DFC-1B6DE0CC01F5}">
      <dgm:prSet/>
      <dgm:spPr/>
      <dgm:t>
        <a:bodyPr/>
        <a:lstStyle/>
        <a:p>
          <a:pPr algn="just"/>
          <a:endParaRPr lang="en-US" sz="1200">
            <a:solidFill>
              <a:schemeClr val="tx1"/>
            </a:solidFill>
            <a:latin typeface="Garamond" panose="02020404030301010803" pitchFamily="18" charset="0"/>
          </a:endParaRPr>
        </a:p>
      </dgm:t>
    </dgm:pt>
    <dgm:pt modelId="{E730BD8B-86ED-4EF9-BE25-99C1E0782DFB}" type="sibTrans" cxnId="{9BAC1B8C-4D7D-4969-8DFC-1B6DE0CC01F5}">
      <dgm:prSet/>
      <dgm:spPr/>
      <dgm:t>
        <a:bodyPr/>
        <a:lstStyle/>
        <a:p>
          <a:pPr algn="just"/>
          <a:endParaRPr lang="en-US" sz="1200">
            <a:solidFill>
              <a:schemeClr val="tx1"/>
            </a:solidFill>
            <a:latin typeface="Garamond" panose="02020404030301010803" pitchFamily="18" charset="0"/>
          </a:endParaRPr>
        </a:p>
      </dgm:t>
    </dgm:pt>
    <dgm:pt modelId="{4EFAC4A9-A4E3-4827-9A0F-6CBE58E9646B}">
      <dgm:prSet phldrT="[Text]" custT="1"/>
      <dgm:spPr/>
      <dgm:t>
        <a:bodyPr/>
        <a:lstStyle/>
        <a:p>
          <a:pPr algn="just">
            <a:buFont typeface="+mj-lt"/>
            <a:buAutoNum type="arabicPeriod"/>
          </a:pPr>
          <a:r>
            <a:rPr lang="en-US" sz="1200" b="1" dirty="0">
              <a:solidFill>
                <a:schemeClr val="tx1"/>
              </a:solidFill>
              <a:latin typeface="Garamond" panose="02020404030301010803" pitchFamily="18" charset="0"/>
            </a:rPr>
            <a:t>Electronics and control system:</a:t>
          </a:r>
        </a:p>
      </dgm:t>
    </dgm:pt>
    <dgm:pt modelId="{340FC33E-5CF2-47FA-A872-C1B3543F82B2}" type="parTrans" cxnId="{50791F44-09ED-4CA6-945D-1F5E8E79E1C8}">
      <dgm:prSet/>
      <dgm:spPr/>
      <dgm:t>
        <a:bodyPr/>
        <a:lstStyle/>
        <a:p>
          <a:pPr algn="just"/>
          <a:endParaRPr lang="en-US" sz="1200">
            <a:solidFill>
              <a:schemeClr val="tx1"/>
            </a:solidFill>
            <a:latin typeface="Garamond" panose="02020404030301010803" pitchFamily="18" charset="0"/>
          </a:endParaRPr>
        </a:p>
      </dgm:t>
    </dgm:pt>
    <dgm:pt modelId="{B575FFDD-D7B5-44B0-8440-71631F850BE6}" type="sibTrans" cxnId="{50791F44-09ED-4CA6-945D-1F5E8E79E1C8}">
      <dgm:prSet/>
      <dgm:spPr/>
      <dgm:t>
        <a:bodyPr/>
        <a:lstStyle/>
        <a:p>
          <a:pPr algn="just"/>
          <a:endParaRPr lang="en-US" sz="1200">
            <a:solidFill>
              <a:schemeClr val="tx1"/>
            </a:solidFill>
            <a:latin typeface="Garamond" panose="02020404030301010803" pitchFamily="18" charset="0"/>
          </a:endParaRPr>
        </a:p>
      </dgm:t>
    </dgm:pt>
    <dgm:pt modelId="{4BEF186F-4A09-41E6-800F-9C2C6B93DD65}">
      <dgm:prSet phldrT="[Text]" custT="1"/>
      <dgm:spPr/>
      <dgm:t>
        <a:bodyPr/>
        <a:lstStyle/>
        <a:p>
          <a:pPr algn="just">
            <a:buFont typeface="+mj-lt"/>
            <a:buAutoNum type="arabicPeriod"/>
          </a:pPr>
          <a:r>
            <a:rPr lang="en-US" sz="1200" b="1" dirty="0">
              <a:solidFill>
                <a:schemeClr val="tx1"/>
              </a:solidFill>
              <a:latin typeface="Garamond" panose="02020404030301010803" pitchFamily="18" charset="0"/>
            </a:rPr>
            <a:t>Performance evaluation</a:t>
          </a:r>
        </a:p>
      </dgm:t>
    </dgm:pt>
    <dgm:pt modelId="{4CFF7403-82A7-4A31-895A-37D44E8DE998}" type="parTrans" cxnId="{B9ACB550-D47D-41E9-B20D-0E1B06DF7AFB}">
      <dgm:prSet/>
      <dgm:spPr/>
      <dgm:t>
        <a:bodyPr/>
        <a:lstStyle/>
        <a:p>
          <a:pPr algn="just"/>
          <a:endParaRPr lang="en-US" sz="1200">
            <a:solidFill>
              <a:schemeClr val="tx1"/>
            </a:solidFill>
            <a:latin typeface="Garamond" panose="02020404030301010803" pitchFamily="18" charset="0"/>
          </a:endParaRPr>
        </a:p>
      </dgm:t>
    </dgm:pt>
    <dgm:pt modelId="{409E5D43-2BB2-4838-ABEC-6E5A1EC1474E}" type="sibTrans" cxnId="{B9ACB550-D47D-41E9-B20D-0E1B06DF7AFB}">
      <dgm:prSet/>
      <dgm:spPr/>
      <dgm:t>
        <a:bodyPr/>
        <a:lstStyle/>
        <a:p>
          <a:pPr algn="just"/>
          <a:endParaRPr lang="en-US" sz="1200">
            <a:solidFill>
              <a:schemeClr val="tx1"/>
            </a:solidFill>
            <a:latin typeface="Garamond" panose="02020404030301010803" pitchFamily="18" charset="0"/>
          </a:endParaRPr>
        </a:p>
      </dgm:t>
    </dgm:pt>
    <dgm:pt modelId="{959928A0-21FA-4382-B081-7F5608486901}">
      <dgm:prSet custT="1"/>
      <dgm:spPr/>
      <dgm:t>
        <a:bodyPr/>
        <a:lstStyle/>
        <a:p>
          <a:pPr algn="just">
            <a:buNone/>
          </a:pPr>
          <a:r>
            <a:rPr lang="en-US" sz="1200" dirty="0">
              <a:solidFill>
                <a:schemeClr val="tx1"/>
              </a:solidFill>
              <a:latin typeface="Garamond" panose="02020404030301010803" pitchFamily="18" charset="0"/>
            </a:rPr>
            <a:t>The mission objectives and the specific requirements of the optical imaging system suppose to be clearly defined considering the factors such as spatial resolution, spectral bands, FOV, data storage capacity, power consumption, mass and volume constraints. </a:t>
          </a:r>
        </a:p>
      </dgm:t>
    </dgm:pt>
    <dgm:pt modelId="{40E72D0B-0511-44A4-8BB0-5CF90C1C307D}" type="parTrans" cxnId="{5B6AE379-834A-42DB-8986-03B092CCDCAE}">
      <dgm:prSet/>
      <dgm:spPr/>
      <dgm:t>
        <a:bodyPr/>
        <a:lstStyle/>
        <a:p>
          <a:pPr algn="just"/>
          <a:endParaRPr lang="en-US" sz="1200">
            <a:solidFill>
              <a:schemeClr val="tx1"/>
            </a:solidFill>
            <a:latin typeface="Garamond" panose="02020404030301010803" pitchFamily="18" charset="0"/>
          </a:endParaRPr>
        </a:p>
      </dgm:t>
    </dgm:pt>
    <dgm:pt modelId="{6422E32E-58A4-49AA-9CB0-13087D839EDF}" type="sibTrans" cxnId="{5B6AE379-834A-42DB-8986-03B092CCDCAE}">
      <dgm:prSet/>
      <dgm:spPr/>
      <dgm:t>
        <a:bodyPr/>
        <a:lstStyle/>
        <a:p>
          <a:pPr algn="just"/>
          <a:endParaRPr lang="en-US" sz="1200">
            <a:solidFill>
              <a:schemeClr val="tx1"/>
            </a:solidFill>
            <a:latin typeface="Garamond" panose="02020404030301010803" pitchFamily="18" charset="0"/>
          </a:endParaRPr>
        </a:p>
      </dgm:t>
    </dgm:pt>
    <dgm:pt modelId="{B0BAE97F-F6FF-4FEA-A463-4F7F084EC2A4}">
      <dgm:prSet custT="1"/>
      <dgm:spPr/>
      <dgm:t>
        <a:bodyPr/>
        <a:lstStyle/>
        <a:p>
          <a:pPr algn="just">
            <a:buNone/>
          </a:pPr>
          <a:endParaRPr lang="en-US" sz="1200" dirty="0">
            <a:solidFill>
              <a:schemeClr val="tx1"/>
            </a:solidFill>
            <a:latin typeface="Garamond" panose="02020404030301010803" pitchFamily="18" charset="0"/>
          </a:endParaRPr>
        </a:p>
      </dgm:t>
    </dgm:pt>
    <dgm:pt modelId="{319BF43B-B82B-46CD-81A8-42E9F66503D1}" type="parTrans" cxnId="{63B4D15F-C58F-47EE-89C3-4F22D979648D}">
      <dgm:prSet/>
      <dgm:spPr/>
      <dgm:t>
        <a:bodyPr/>
        <a:lstStyle/>
        <a:p>
          <a:pPr algn="just"/>
          <a:endParaRPr lang="en-US" sz="1200">
            <a:solidFill>
              <a:schemeClr val="tx1"/>
            </a:solidFill>
            <a:latin typeface="Garamond" panose="02020404030301010803" pitchFamily="18" charset="0"/>
          </a:endParaRPr>
        </a:p>
      </dgm:t>
    </dgm:pt>
    <dgm:pt modelId="{F0AF45FF-6093-4CB2-8E3F-F3306EC0C2AB}" type="sibTrans" cxnId="{63B4D15F-C58F-47EE-89C3-4F22D979648D}">
      <dgm:prSet/>
      <dgm:spPr/>
      <dgm:t>
        <a:bodyPr/>
        <a:lstStyle/>
        <a:p>
          <a:pPr algn="just"/>
          <a:endParaRPr lang="en-US" sz="1200">
            <a:solidFill>
              <a:schemeClr val="tx1"/>
            </a:solidFill>
            <a:latin typeface="Garamond" panose="02020404030301010803" pitchFamily="18" charset="0"/>
          </a:endParaRPr>
        </a:p>
      </dgm:t>
    </dgm:pt>
    <dgm:pt modelId="{D3AF715C-CDB8-40EB-B2FB-6699E7B90905}">
      <dgm:prSet custT="1"/>
      <dgm:spPr/>
      <dgm:t>
        <a:bodyPr/>
        <a:lstStyle/>
        <a:p>
          <a:pPr algn="just">
            <a:buNone/>
          </a:pPr>
          <a:r>
            <a:rPr lang="en-US" sz="1200" dirty="0">
              <a:solidFill>
                <a:schemeClr val="tx1"/>
              </a:solidFill>
              <a:latin typeface="Garamond" panose="02020404030301010803" pitchFamily="18" charset="0"/>
            </a:rPr>
            <a:t>Assess the feasibility of the mission and suitability of the CubeSat platforms for achieving the mission goals. </a:t>
          </a:r>
        </a:p>
      </dgm:t>
    </dgm:pt>
    <dgm:pt modelId="{693D405E-9C4D-4B6E-9C3B-FD3B7DBCABA3}" type="parTrans" cxnId="{775B12C7-EDA5-40C0-A32C-2622A6FE1F56}">
      <dgm:prSet/>
      <dgm:spPr/>
      <dgm:t>
        <a:bodyPr/>
        <a:lstStyle/>
        <a:p>
          <a:pPr algn="just"/>
          <a:endParaRPr lang="en-US" sz="1200">
            <a:solidFill>
              <a:schemeClr val="tx1"/>
            </a:solidFill>
            <a:latin typeface="Garamond" panose="02020404030301010803" pitchFamily="18" charset="0"/>
          </a:endParaRPr>
        </a:p>
      </dgm:t>
    </dgm:pt>
    <dgm:pt modelId="{DEF5BA2B-1D5C-45A5-9B12-1B7BFF431479}" type="sibTrans" cxnId="{775B12C7-EDA5-40C0-A32C-2622A6FE1F56}">
      <dgm:prSet/>
      <dgm:spPr/>
      <dgm:t>
        <a:bodyPr/>
        <a:lstStyle/>
        <a:p>
          <a:pPr algn="just"/>
          <a:endParaRPr lang="en-US" sz="1200">
            <a:solidFill>
              <a:schemeClr val="tx1"/>
            </a:solidFill>
            <a:latin typeface="Garamond" panose="02020404030301010803" pitchFamily="18" charset="0"/>
          </a:endParaRPr>
        </a:p>
      </dgm:t>
    </dgm:pt>
    <dgm:pt modelId="{8938B62A-EC0D-44E4-BDE4-3560C9E73760}">
      <dgm:prSet custT="1"/>
      <dgm:spPr/>
      <dgm:t>
        <a:bodyPr/>
        <a:lstStyle/>
        <a:p>
          <a:pPr algn="just"/>
          <a:endParaRPr lang="en-US" sz="1200" dirty="0">
            <a:solidFill>
              <a:schemeClr val="tx1"/>
            </a:solidFill>
            <a:latin typeface="Garamond" panose="02020404030301010803" pitchFamily="18" charset="0"/>
          </a:endParaRPr>
        </a:p>
      </dgm:t>
    </dgm:pt>
    <dgm:pt modelId="{8EA4A2EF-6925-465D-A1A1-ED92A6626C27}" type="parTrans" cxnId="{9900C38D-5386-4468-8916-0B63A571C1D1}">
      <dgm:prSet/>
      <dgm:spPr/>
      <dgm:t>
        <a:bodyPr/>
        <a:lstStyle/>
        <a:p>
          <a:pPr algn="just"/>
          <a:endParaRPr lang="en-US" sz="1200">
            <a:solidFill>
              <a:schemeClr val="tx1"/>
            </a:solidFill>
            <a:latin typeface="Garamond" panose="02020404030301010803" pitchFamily="18" charset="0"/>
          </a:endParaRPr>
        </a:p>
      </dgm:t>
    </dgm:pt>
    <dgm:pt modelId="{DAFE0C98-ECD9-4F6E-804B-B0DB605AF0B8}" type="sibTrans" cxnId="{9900C38D-5386-4468-8916-0B63A571C1D1}">
      <dgm:prSet/>
      <dgm:spPr/>
      <dgm:t>
        <a:bodyPr/>
        <a:lstStyle/>
        <a:p>
          <a:pPr algn="just"/>
          <a:endParaRPr lang="en-US" sz="1200">
            <a:solidFill>
              <a:schemeClr val="tx1"/>
            </a:solidFill>
            <a:latin typeface="Garamond" panose="02020404030301010803" pitchFamily="18" charset="0"/>
          </a:endParaRPr>
        </a:p>
      </dgm:t>
    </dgm:pt>
    <dgm:pt modelId="{A1D2857C-6418-4050-A2E6-4EAC43B4B5C7}">
      <dgm:prSet custT="1"/>
      <dgm:spPr/>
      <dgm:t>
        <a:bodyPr/>
        <a:lstStyle/>
        <a:p>
          <a:pPr algn="just">
            <a:buNone/>
          </a:pPr>
          <a:r>
            <a:rPr lang="en-US" sz="1200" dirty="0">
              <a:solidFill>
                <a:schemeClr val="tx1"/>
              </a:solidFill>
              <a:latin typeface="Garamond" panose="02020404030301010803" pitchFamily="18" charset="0"/>
            </a:rPr>
            <a:t>Select optical imaging sensor that aligns with the mission requirements considering factors such as sensor type, resolution, and spectral sensitivity.  </a:t>
          </a:r>
        </a:p>
      </dgm:t>
    </dgm:pt>
    <dgm:pt modelId="{96F44DA1-B76D-420A-91C1-5B1EB6FEC2DE}" type="parTrans" cxnId="{B0CA0E8C-B6D4-4595-A9F4-C6FA541C3927}">
      <dgm:prSet/>
      <dgm:spPr/>
      <dgm:t>
        <a:bodyPr/>
        <a:lstStyle/>
        <a:p>
          <a:pPr algn="just"/>
          <a:endParaRPr lang="en-US" sz="1200">
            <a:solidFill>
              <a:schemeClr val="tx1"/>
            </a:solidFill>
            <a:latin typeface="Garamond" panose="02020404030301010803" pitchFamily="18" charset="0"/>
          </a:endParaRPr>
        </a:p>
      </dgm:t>
    </dgm:pt>
    <dgm:pt modelId="{FBB54B0F-83F1-4775-AA88-58C3DC485E74}" type="sibTrans" cxnId="{B0CA0E8C-B6D4-4595-A9F4-C6FA541C3927}">
      <dgm:prSet/>
      <dgm:spPr/>
      <dgm:t>
        <a:bodyPr/>
        <a:lstStyle/>
        <a:p>
          <a:pPr algn="just"/>
          <a:endParaRPr lang="en-US" sz="1200">
            <a:solidFill>
              <a:schemeClr val="tx1"/>
            </a:solidFill>
            <a:latin typeface="Garamond" panose="02020404030301010803" pitchFamily="18" charset="0"/>
          </a:endParaRPr>
        </a:p>
      </dgm:t>
    </dgm:pt>
    <dgm:pt modelId="{FC7BB6BE-6DAD-4C29-82A6-29B56D86D794}">
      <dgm:prSet custT="1"/>
      <dgm:spPr/>
      <dgm:t>
        <a:bodyPr/>
        <a:lstStyle/>
        <a:p>
          <a:pPr algn="just"/>
          <a:endParaRPr lang="en-US" sz="1200">
            <a:solidFill>
              <a:schemeClr val="tx1"/>
            </a:solidFill>
            <a:latin typeface="Garamond" panose="02020404030301010803" pitchFamily="18" charset="0"/>
          </a:endParaRPr>
        </a:p>
      </dgm:t>
    </dgm:pt>
    <dgm:pt modelId="{3B1F3D5C-B9FE-49E2-AA0A-27F883152E52}" type="parTrans" cxnId="{2E1F0C6D-EC9E-42C8-A89A-FBF8FA324372}">
      <dgm:prSet/>
      <dgm:spPr/>
      <dgm:t>
        <a:bodyPr/>
        <a:lstStyle/>
        <a:p>
          <a:pPr algn="just"/>
          <a:endParaRPr lang="en-US" sz="1200">
            <a:solidFill>
              <a:schemeClr val="tx1"/>
            </a:solidFill>
            <a:latin typeface="Garamond" panose="02020404030301010803" pitchFamily="18" charset="0"/>
          </a:endParaRPr>
        </a:p>
      </dgm:t>
    </dgm:pt>
    <dgm:pt modelId="{47C7FC5E-EFE0-4B75-A553-29D75E81E07C}" type="sibTrans" cxnId="{2E1F0C6D-EC9E-42C8-A89A-FBF8FA324372}">
      <dgm:prSet/>
      <dgm:spPr/>
      <dgm:t>
        <a:bodyPr/>
        <a:lstStyle/>
        <a:p>
          <a:pPr algn="just"/>
          <a:endParaRPr lang="en-US" sz="1200">
            <a:solidFill>
              <a:schemeClr val="tx1"/>
            </a:solidFill>
            <a:latin typeface="Garamond" panose="02020404030301010803" pitchFamily="18" charset="0"/>
          </a:endParaRPr>
        </a:p>
      </dgm:t>
    </dgm:pt>
    <dgm:pt modelId="{690EAA82-6D91-43FD-99D7-1C9DBD7D0392}">
      <dgm:prSet custT="1"/>
      <dgm:spPr/>
      <dgm:t>
        <a:bodyPr/>
        <a:lstStyle/>
        <a:p>
          <a:pPr algn="just">
            <a:buNone/>
          </a:pPr>
          <a:r>
            <a:rPr lang="en-US" sz="1200" dirty="0">
              <a:solidFill>
                <a:schemeClr val="tx1"/>
              </a:solidFill>
              <a:latin typeface="Garamond" panose="02020404030301010803" pitchFamily="18" charset="0"/>
            </a:rPr>
            <a:t>Preliminary design of optical system including telescope or lens assembly considering parameters like focal length, aperture size, FOV and conduct basic optical simulations to assess system performance</a:t>
          </a:r>
        </a:p>
      </dgm:t>
    </dgm:pt>
    <dgm:pt modelId="{43D2DF11-500B-4F8E-AD18-EA67E0F32628}" type="parTrans" cxnId="{E7A5DC88-4990-47EA-86E1-457B0F67910E}">
      <dgm:prSet/>
      <dgm:spPr/>
      <dgm:t>
        <a:bodyPr/>
        <a:lstStyle/>
        <a:p>
          <a:pPr algn="just"/>
          <a:endParaRPr lang="en-US" sz="1200">
            <a:solidFill>
              <a:schemeClr val="tx1"/>
            </a:solidFill>
            <a:latin typeface="Garamond" panose="02020404030301010803" pitchFamily="18" charset="0"/>
          </a:endParaRPr>
        </a:p>
      </dgm:t>
    </dgm:pt>
    <dgm:pt modelId="{057CA806-EA35-4712-9807-3B52CC1C9CC9}" type="sibTrans" cxnId="{E7A5DC88-4990-47EA-86E1-457B0F67910E}">
      <dgm:prSet/>
      <dgm:spPr/>
      <dgm:t>
        <a:bodyPr/>
        <a:lstStyle/>
        <a:p>
          <a:pPr algn="just"/>
          <a:endParaRPr lang="en-US" sz="1200">
            <a:solidFill>
              <a:schemeClr val="tx1"/>
            </a:solidFill>
            <a:latin typeface="Garamond" panose="02020404030301010803" pitchFamily="18" charset="0"/>
          </a:endParaRPr>
        </a:p>
      </dgm:t>
    </dgm:pt>
    <dgm:pt modelId="{0C8E432D-1BCC-437B-B6CD-5D522529253A}">
      <dgm:prSet custT="1"/>
      <dgm:spPr/>
      <dgm:t>
        <a:bodyPr/>
        <a:lstStyle/>
        <a:p>
          <a:pPr algn="just"/>
          <a:endParaRPr lang="en-US" sz="1200">
            <a:solidFill>
              <a:schemeClr val="tx1"/>
            </a:solidFill>
            <a:latin typeface="Garamond" panose="02020404030301010803" pitchFamily="18" charset="0"/>
          </a:endParaRPr>
        </a:p>
      </dgm:t>
    </dgm:pt>
    <dgm:pt modelId="{345CB06C-3296-4645-96AD-60B949348F03}" type="parTrans" cxnId="{0BD81179-4680-4AC3-BF80-20C6118FA371}">
      <dgm:prSet/>
      <dgm:spPr/>
      <dgm:t>
        <a:bodyPr/>
        <a:lstStyle/>
        <a:p>
          <a:pPr algn="just"/>
          <a:endParaRPr lang="en-US" sz="1200">
            <a:solidFill>
              <a:schemeClr val="tx1"/>
            </a:solidFill>
            <a:latin typeface="Garamond" panose="02020404030301010803" pitchFamily="18" charset="0"/>
          </a:endParaRPr>
        </a:p>
      </dgm:t>
    </dgm:pt>
    <dgm:pt modelId="{45BB962A-1EC8-4FE2-AB2A-F51E79A3C365}" type="sibTrans" cxnId="{0BD81179-4680-4AC3-BF80-20C6118FA371}">
      <dgm:prSet/>
      <dgm:spPr/>
      <dgm:t>
        <a:bodyPr/>
        <a:lstStyle/>
        <a:p>
          <a:pPr algn="just"/>
          <a:endParaRPr lang="en-US" sz="1200">
            <a:solidFill>
              <a:schemeClr val="tx1"/>
            </a:solidFill>
            <a:latin typeface="Garamond" panose="02020404030301010803" pitchFamily="18" charset="0"/>
          </a:endParaRPr>
        </a:p>
      </dgm:t>
    </dgm:pt>
    <dgm:pt modelId="{4E0AB3A8-86B4-4E41-8307-7BF8A5FF7117}">
      <dgm:prSet custT="1"/>
      <dgm:spPr/>
      <dgm:t>
        <a:bodyPr/>
        <a:lstStyle/>
        <a:p>
          <a:pPr algn="just">
            <a:buNone/>
          </a:pPr>
          <a:r>
            <a:rPr lang="en-US" sz="1200" dirty="0">
              <a:solidFill>
                <a:schemeClr val="tx1"/>
              </a:solidFill>
              <a:latin typeface="Garamond" panose="02020404030301010803" pitchFamily="18" charset="0"/>
            </a:rPr>
            <a:t>Preliminary design of electronic and control components including power management, imaging acquisition, data storage and on-board processing.</a:t>
          </a:r>
        </a:p>
      </dgm:t>
    </dgm:pt>
    <dgm:pt modelId="{80A07760-23D4-4C3E-A55C-D8D53E2EA13A}" type="parTrans" cxnId="{B8618F4E-23BF-4963-B5E3-907B16C91132}">
      <dgm:prSet/>
      <dgm:spPr/>
      <dgm:t>
        <a:bodyPr/>
        <a:lstStyle/>
        <a:p>
          <a:pPr algn="just"/>
          <a:endParaRPr lang="en-US" sz="1200">
            <a:solidFill>
              <a:schemeClr val="tx1"/>
            </a:solidFill>
            <a:latin typeface="Garamond" panose="02020404030301010803" pitchFamily="18" charset="0"/>
          </a:endParaRPr>
        </a:p>
      </dgm:t>
    </dgm:pt>
    <dgm:pt modelId="{C95433FE-FD66-41FD-952D-EC299CAFF3A3}" type="sibTrans" cxnId="{B8618F4E-23BF-4963-B5E3-907B16C91132}">
      <dgm:prSet/>
      <dgm:spPr/>
      <dgm:t>
        <a:bodyPr/>
        <a:lstStyle/>
        <a:p>
          <a:pPr algn="just"/>
          <a:endParaRPr lang="en-US" sz="1200">
            <a:solidFill>
              <a:schemeClr val="tx1"/>
            </a:solidFill>
            <a:latin typeface="Garamond" panose="02020404030301010803" pitchFamily="18" charset="0"/>
          </a:endParaRPr>
        </a:p>
      </dgm:t>
    </dgm:pt>
    <dgm:pt modelId="{1A8CBE78-EF82-4DEB-BBD7-37576F21A468}">
      <dgm:prSet custT="1"/>
      <dgm:spPr/>
      <dgm:t>
        <a:bodyPr/>
        <a:lstStyle/>
        <a:p>
          <a:pPr algn="just"/>
          <a:endParaRPr lang="en-US" sz="1200">
            <a:solidFill>
              <a:schemeClr val="tx1"/>
            </a:solidFill>
            <a:latin typeface="Garamond" panose="02020404030301010803" pitchFamily="18" charset="0"/>
          </a:endParaRPr>
        </a:p>
      </dgm:t>
    </dgm:pt>
    <dgm:pt modelId="{97E7C709-28BB-49BC-920F-4193AEDD1CB9}" type="parTrans" cxnId="{D5E32EB1-B9CD-41DE-B8A9-83FC344C5676}">
      <dgm:prSet/>
      <dgm:spPr/>
      <dgm:t>
        <a:bodyPr/>
        <a:lstStyle/>
        <a:p>
          <a:pPr algn="just"/>
          <a:endParaRPr lang="en-US" sz="1200">
            <a:solidFill>
              <a:schemeClr val="tx1"/>
            </a:solidFill>
            <a:latin typeface="Garamond" panose="02020404030301010803" pitchFamily="18" charset="0"/>
          </a:endParaRPr>
        </a:p>
      </dgm:t>
    </dgm:pt>
    <dgm:pt modelId="{578593F9-EC93-4C1C-A001-AC5922DEDE8F}" type="sibTrans" cxnId="{D5E32EB1-B9CD-41DE-B8A9-83FC344C5676}">
      <dgm:prSet/>
      <dgm:spPr/>
      <dgm:t>
        <a:bodyPr/>
        <a:lstStyle/>
        <a:p>
          <a:pPr algn="just"/>
          <a:endParaRPr lang="en-US" sz="1200">
            <a:solidFill>
              <a:schemeClr val="tx1"/>
            </a:solidFill>
            <a:latin typeface="Garamond" panose="02020404030301010803" pitchFamily="18" charset="0"/>
          </a:endParaRPr>
        </a:p>
      </dgm:t>
    </dgm:pt>
    <dgm:pt modelId="{8568D583-231C-4F1B-8198-702181448244}">
      <dgm:prSet custT="1"/>
      <dgm:spPr/>
      <dgm:t>
        <a:bodyPr/>
        <a:lstStyle/>
        <a:p>
          <a:pPr algn="just">
            <a:buNone/>
          </a:pPr>
          <a:r>
            <a:rPr lang="en-US" sz="1200" dirty="0">
              <a:solidFill>
                <a:schemeClr val="tx1"/>
              </a:solidFill>
              <a:latin typeface="Garamond" panose="02020404030301010803" pitchFamily="18" charset="0"/>
            </a:rPr>
            <a:t>Preliminary design mechanical structure of imaging payload system with 3U CubeSat form factor and weight constraints considering  structural stability, thermal management and alignment of optical components.</a:t>
          </a:r>
        </a:p>
      </dgm:t>
    </dgm:pt>
    <dgm:pt modelId="{6A2A2699-49DE-4C5A-AA06-62D1E1F7A578}" type="parTrans" cxnId="{0897E73D-11D6-456E-AE2A-77831DD4AFCB}">
      <dgm:prSet/>
      <dgm:spPr/>
      <dgm:t>
        <a:bodyPr/>
        <a:lstStyle/>
        <a:p>
          <a:pPr algn="just"/>
          <a:endParaRPr lang="en-US" sz="1200">
            <a:solidFill>
              <a:schemeClr val="tx1"/>
            </a:solidFill>
            <a:latin typeface="Garamond" panose="02020404030301010803" pitchFamily="18" charset="0"/>
          </a:endParaRPr>
        </a:p>
      </dgm:t>
    </dgm:pt>
    <dgm:pt modelId="{8E25511B-C103-44DE-B7A2-3CC111FF4DC1}" type="sibTrans" cxnId="{0897E73D-11D6-456E-AE2A-77831DD4AFCB}">
      <dgm:prSet/>
      <dgm:spPr/>
      <dgm:t>
        <a:bodyPr/>
        <a:lstStyle/>
        <a:p>
          <a:pPr algn="just"/>
          <a:endParaRPr lang="en-US" sz="1200">
            <a:solidFill>
              <a:schemeClr val="tx1"/>
            </a:solidFill>
            <a:latin typeface="Garamond" panose="02020404030301010803" pitchFamily="18" charset="0"/>
          </a:endParaRPr>
        </a:p>
      </dgm:t>
    </dgm:pt>
    <dgm:pt modelId="{ABFF1403-3F3A-4654-8900-0DD2BC719030}">
      <dgm:prSet custT="1"/>
      <dgm:spPr/>
      <dgm:t>
        <a:bodyPr/>
        <a:lstStyle/>
        <a:p>
          <a:pPr algn="just"/>
          <a:endParaRPr lang="en-US" sz="1200" dirty="0">
            <a:solidFill>
              <a:schemeClr val="tx1"/>
            </a:solidFill>
            <a:latin typeface="Garamond" panose="02020404030301010803" pitchFamily="18" charset="0"/>
          </a:endParaRPr>
        </a:p>
      </dgm:t>
    </dgm:pt>
    <dgm:pt modelId="{407E407C-3F54-4C36-85E8-274125557F4F}" type="parTrans" cxnId="{C4622FC5-FCFB-4E1A-AB42-FEE714C30BE4}">
      <dgm:prSet/>
      <dgm:spPr/>
      <dgm:t>
        <a:bodyPr/>
        <a:lstStyle/>
        <a:p>
          <a:pPr algn="just"/>
          <a:endParaRPr lang="en-US" sz="1200">
            <a:solidFill>
              <a:schemeClr val="tx1"/>
            </a:solidFill>
            <a:latin typeface="Garamond" panose="02020404030301010803" pitchFamily="18" charset="0"/>
          </a:endParaRPr>
        </a:p>
      </dgm:t>
    </dgm:pt>
    <dgm:pt modelId="{3FA5CF01-BABD-45B6-83C0-D0D07BAEEEE3}" type="sibTrans" cxnId="{C4622FC5-FCFB-4E1A-AB42-FEE714C30BE4}">
      <dgm:prSet/>
      <dgm:spPr/>
      <dgm:t>
        <a:bodyPr/>
        <a:lstStyle/>
        <a:p>
          <a:pPr algn="just"/>
          <a:endParaRPr lang="en-US" sz="1200">
            <a:solidFill>
              <a:schemeClr val="tx1"/>
            </a:solidFill>
            <a:latin typeface="Garamond" panose="02020404030301010803" pitchFamily="18" charset="0"/>
          </a:endParaRPr>
        </a:p>
      </dgm:t>
    </dgm:pt>
    <dgm:pt modelId="{5C9D35F5-9E01-4A76-8831-F942162DBD4B}">
      <dgm:prSet custT="1"/>
      <dgm:spPr/>
      <dgm:t>
        <a:bodyPr/>
        <a:lstStyle/>
        <a:p>
          <a:pPr algn="just">
            <a:buNone/>
          </a:pPr>
          <a:r>
            <a:rPr lang="en-US" sz="1200" dirty="0">
              <a:solidFill>
                <a:schemeClr val="tx1"/>
              </a:solidFill>
              <a:latin typeface="Garamond" panose="02020404030301010803" pitchFamily="18" charset="0"/>
            </a:rPr>
            <a:t>Preliminary performance evaluations, including optical simulations and analysis, to assess imaging payload capabilities and alignment with mission requirements </a:t>
          </a:r>
        </a:p>
      </dgm:t>
    </dgm:pt>
    <dgm:pt modelId="{7E026DE2-E48A-4D18-A904-1AE4F0FCA449}" type="parTrans" cxnId="{320488F9-6D93-4C56-8DA1-DB9987C9C06F}">
      <dgm:prSet/>
      <dgm:spPr/>
      <dgm:t>
        <a:bodyPr/>
        <a:lstStyle/>
        <a:p>
          <a:pPr algn="just"/>
          <a:endParaRPr lang="en-US" sz="1200">
            <a:solidFill>
              <a:schemeClr val="tx1"/>
            </a:solidFill>
            <a:latin typeface="Garamond" panose="02020404030301010803" pitchFamily="18" charset="0"/>
          </a:endParaRPr>
        </a:p>
      </dgm:t>
    </dgm:pt>
    <dgm:pt modelId="{4BDC82FE-B6E9-4FB1-A5CC-1E755E0FB3FE}" type="sibTrans" cxnId="{320488F9-6D93-4C56-8DA1-DB9987C9C06F}">
      <dgm:prSet/>
      <dgm:spPr/>
      <dgm:t>
        <a:bodyPr/>
        <a:lstStyle/>
        <a:p>
          <a:pPr algn="just"/>
          <a:endParaRPr lang="en-US" sz="1200">
            <a:solidFill>
              <a:schemeClr val="tx1"/>
            </a:solidFill>
            <a:latin typeface="Garamond" panose="02020404030301010803" pitchFamily="18" charset="0"/>
          </a:endParaRPr>
        </a:p>
      </dgm:t>
    </dgm:pt>
    <dgm:pt modelId="{3D0BD7C4-F524-4BCF-8F37-3B972B617BE7}">
      <dgm:prSet custT="1"/>
      <dgm:spPr/>
      <dgm:t>
        <a:bodyPr/>
        <a:lstStyle/>
        <a:p>
          <a:pPr algn="just">
            <a:buNone/>
          </a:pPr>
          <a:endParaRPr lang="en-US" sz="1200" dirty="0">
            <a:solidFill>
              <a:schemeClr val="tx1"/>
            </a:solidFill>
            <a:latin typeface="Garamond" panose="02020404030301010803" pitchFamily="18" charset="0"/>
          </a:endParaRPr>
        </a:p>
      </dgm:t>
    </dgm:pt>
    <dgm:pt modelId="{D139308B-46C4-41CA-874E-EC72A9A9B8DA}" type="parTrans" cxnId="{1E668A6A-BF6A-4EFA-BB17-349715B48BE8}">
      <dgm:prSet/>
      <dgm:spPr/>
      <dgm:t>
        <a:bodyPr/>
        <a:lstStyle/>
        <a:p>
          <a:pPr algn="just"/>
          <a:endParaRPr lang="en-US" sz="1200">
            <a:solidFill>
              <a:schemeClr val="tx1"/>
            </a:solidFill>
            <a:latin typeface="Garamond" panose="02020404030301010803" pitchFamily="18" charset="0"/>
          </a:endParaRPr>
        </a:p>
      </dgm:t>
    </dgm:pt>
    <dgm:pt modelId="{E1117DAB-6EE9-4A99-B0FB-D7D9110EF1BD}" type="sibTrans" cxnId="{1E668A6A-BF6A-4EFA-BB17-349715B48BE8}">
      <dgm:prSet/>
      <dgm:spPr/>
      <dgm:t>
        <a:bodyPr/>
        <a:lstStyle/>
        <a:p>
          <a:pPr algn="just"/>
          <a:endParaRPr lang="en-US" sz="1200">
            <a:solidFill>
              <a:schemeClr val="tx1"/>
            </a:solidFill>
            <a:latin typeface="Garamond" panose="02020404030301010803" pitchFamily="18" charset="0"/>
          </a:endParaRPr>
        </a:p>
      </dgm:t>
    </dgm:pt>
    <dgm:pt modelId="{030980FB-560F-4C13-9C03-9E4C7C435929}" type="pres">
      <dgm:prSet presAssocID="{AA1BB57D-6017-4DDC-A92B-7E444D9B9B1B}" presName="Name0" presStyleCnt="0">
        <dgm:presLayoutVars>
          <dgm:dir/>
          <dgm:animLvl val="lvl"/>
          <dgm:resizeHandles val="exact"/>
        </dgm:presLayoutVars>
      </dgm:prSet>
      <dgm:spPr/>
    </dgm:pt>
    <dgm:pt modelId="{6E5804B3-057E-4083-BB65-2F85A0A1B393}" type="pres">
      <dgm:prSet presAssocID="{7C664C18-6E5C-46C3-9CCF-7981727B4D48}" presName="linNode" presStyleCnt="0"/>
      <dgm:spPr/>
    </dgm:pt>
    <dgm:pt modelId="{803F40CD-CD62-4933-8406-2DB48C7B1226}" type="pres">
      <dgm:prSet presAssocID="{7C664C18-6E5C-46C3-9CCF-7981727B4D48}" presName="parTx" presStyleLbl="revTx" presStyleIdx="0" presStyleCnt="7" custScaleY="276004">
        <dgm:presLayoutVars>
          <dgm:chMax val="1"/>
          <dgm:bulletEnabled val="1"/>
        </dgm:presLayoutVars>
      </dgm:prSet>
      <dgm:spPr/>
    </dgm:pt>
    <dgm:pt modelId="{4A3AB84F-397C-4FFF-8D0C-9D59E048358A}" type="pres">
      <dgm:prSet presAssocID="{7C664C18-6E5C-46C3-9CCF-7981727B4D48}" presName="bracket" presStyleLbl="parChTrans1D1" presStyleIdx="0" presStyleCnt="7" custScaleX="34152"/>
      <dgm:spPr>
        <a:solidFill>
          <a:schemeClr val="accent6">
            <a:lumMod val="60000"/>
            <a:lumOff val="40000"/>
          </a:schemeClr>
        </a:solidFill>
        <a:ln>
          <a:solidFill>
            <a:srgbClr val="002060"/>
          </a:solidFill>
        </a:ln>
      </dgm:spPr>
    </dgm:pt>
    <dgm:pt modelId="{837484E4-64DF-4C93-9ABE-B94509054ECF}" type="pres">
      <dgm:prSet presAssocID="{7C664C18-6E5C-46C3-9CCF-7981727B4D48}" presName="spH" presStyleCnt="0"/>
      <dgm:spPr/>
    </dgm:pt>
    <dgm:pt modelId="{B55BCDF2-1C87-4DA4-9C1E-C1D6C898C3AF}" type="pres">
      <dgm:prSet presAssocID="{7C664C18-6E5C-46C3-9CCF-7981727B4D48}" presName="desTx" presStyleLbl="node1" presStyleIdx="0" presStyleCnt="7">
        <dgm:presLayoutVars>
          <dgm:bulletEnabled val="1"/>
        </dgm:presLayoutVars>
      </dgm:prSet>
      <dgm:spPr/>
    </dgm:pt>
    <dgm:pt modelId="{F791EA33-99AC-48B1-83EB-360040BF1DE4}" type="pres">
      <dgm:prSet presAssocID="{33001B9A-4190-4E24-BEC7-1CA64DD4DEC9}" presName="spV" presStyleCnt="0"/>
      <dgm:spPr/>
    </dgm:pt>
    <dgm:pt modelId="{C08ACEEB-3E94-4E3F-8EF0-BDAF0052E319}" type="pres">
      <dgm:prSet presAssocID="{A87ACEED-04C7-4D95-ABD5-7E036E4F58D9}" presName="linNode" presStyleCnt="0"/>
      <dgm:spPr/>
    </dgm:pt>
    <dgm:pt modelId="{CB665BE9-D63D-475D-B568-1BB5E9BF39E5}" type="pres">
      <dgm:prSet presAssocID="{A87ACEED-04C7-4D95-ABD5-7E036E4F58D9}" presName="parTx" presStyleLbl="revTx" presStyleIdx="1" presStyleCnt="7">
        <dgm:presLayoutVars>
          <dgm:chMax val="1"/>
          <dgm:bulletEnabled val="1"/>
        </dgm:presLayoutVars>
      </dgm:prSet>
      <dgm:spPr/>
    </dgm:pt>
    <dgm:pt modelId="{57499436-1C76-4DED-AA0A-11FB7DAD8C25}" type="pres">
      <dgm:prSet presAssocID="{A87ACEED-04C7-4D95-ABD5-7E036E4F58D9}" presName="bracket" presStyleLbl="parChTrans1D1" presStyleIdx="1" presStyleCnt="7" custScaleX="34152"/>
      <dgm:spPr>
        <a:solidFill>
          <a:schemeClr val="accent6">
            <a:lumMod val="60000"/>
            <a:lumOff val="40000"/>
          </a:schemeClr>
        </a:solidFill>
        <a:ln>
          <a:solidFill>
            <a:srgbClr val="002060"/>
          </a:solidFill>
        </a:ln>
      </dgm:spPr>
    </dgm:pt>
    <dgm:pt modelId="{D86BEAFF-6B56-4680-B4D8-D7DB41683013}" type="pres">
      <dgm:prSet presAssocID="{A87ACEED-04C7-4D95-ABD5-7E036E4F58D9}" presName="spH" presStyleCnt="0"/>
      <dgm:spPr/>
    </dgm:pt>
    <dgm:pt modelId="{6E81DA17-3A6F-4E87-9871-5E8B190F05EA}" type="pres">
      <dgm:prSet presAssocID="{A87ACEED-04C7-4D95-ABD5-7E036E4F58D9}" presName="desTx" presStyleLbl="node1" presStyleIdx="1" presStyleCnt="7">
        <dgm:presLayoutVars>
          <dgm:bulletEnabled val="1"/>
        </dgm:presLayoutVars>
      </dgm:prSet>
      <dgm:spPr/>
    </dgm:pt>
    <dgm:pt modelId="{EACC27F3-A02D-46D8-A6EB-AE50AC68E812}" type="pres">
      <dgm:prSet presAssocID="{C4EA790C-AC99-49A9-8D12-641BBAF8FF08}" presName="spV" presStyleCnt="0"/>
      <dgm:spPr/>
    </dgm:pt>
    <dgm:pt modelId="{8B14EC23-FA91-40A3-BA21-4AE064B8BCF2}" type="pres">
      <dgm:prSet presAssocID="{A097A77A-EDBC-4BF3-BB00-9EAB2D7F7228}" presName="linNode" presStyleCnt="0"/>
      <dgm:spPr/>
    </dgm:pt>
    <dgm:pt modelId="{4377E0EE-C84A-44B5-A954-B54AF801D56C}" type="pres">
      <dgm:prSet presAssocID="{A097A77A-EDBC-4BF3-BB00-9EAB2D7F7228}" presName="parTx" presStyleLbl="revTx" presStyleIdx="2" presStyleCnt="7">
        <dgm:presLayoutVars>
          <dgm:chMax val="1"/>
          <dgm:bulletEnabled val="1"/>
        </dgm:presLayoutVars>
      </dgm:prSet>
      <dgm:spPr/>
    </dgm:pt>
    <dgm:pt modelId="{5AF9FA3F-5430-46FE-84AD-D81FDB0DDB11}" type="pres">
      <dgm:prSet presAssocID="{A097A77A-EDBC-4BF3-BB00-9EAB2D7F7228}" presName="bracket" presStyleLbl="parChTrans1D1" presStyleIdx="2" presStyleCnt="7" custScaleX="34152"/>
      <dgm:spPr>
        <a:solidFill>
          <a:schemeClr val="accent6">
            <a:lumMod val="60000"/>
            <a:lumOff val="40000"/>
          </a:schemeClr>
        </a:solidFill>
        <a:ln>
          <a:solidFill>
            <a:srgbClr val="002060"/>
          </a:solidFill>
        </a:ln>
      </dgm:spPr>
    </dgm:pt>
    <dgm:pt modelId="{3B08E964-4958-4DF6-B5BB-25B10CDF662C}" type="pres">
      <dgm:prSet presAssocID="{A097A77A-EDBC-4BF3-BB00-9EAB2D7F7228}" presName="spH" presStyleCnt="0"/>
      <dgm:spPr/>
    </dgm:pt>
    <dgm:pt modelId="{2D0246E5-EE23-416E-BDAA-DE0AE7EBCCAA}" type="pres">
      <dgm:prSet presAssocID="{A097A77A-EDBC-4BF3-BB00-9EAB2D7F7228}" presName="desTx" presStyleLbl="node1" presStyleIdx="2" presStyleCnt="7">
        <dgm:presLayoutVars>
          <dgm:bulletEnabled val="1"/>
        </dgm:presLayoutVars>
      </dgm:prSet>
      <dgm:spPr/>
    </dgm:pt>
    <dgm:pt modelId="{75F4581A-01F9-4A20-9A91-191F17CBE75C}" type="pres">
      <dgm:prSet presAssocID="{6CD141BF-CB41-495C-9819-25D57ACAF5DF}" presName="spV" presStyleCnt="0"/>
      <dgm:spPr/>
    </dgm:pt>
    <dgm:pt modelId="{5922224E-6504-4BB1-8B97-D2CEB80E8258}" type="pres">
      <dgm:prSet presAssocID="{137948AC-E663-4C1F-B89E-8744A3BC2E4C}" presName="linNode" presStyleCnt="0"/>
      <dgm:spPr/>
    </dgm:pt>
    <dgm:pt modelId="{5F514278-B4AC-47B9-8142-F3F6F09BD060}" type="pres">
      <dgm:prSet presAssocID="{137948AC-E663-4C1F-B89E-8744A3BC2E4C}" presName="parTx" presStyleLbl="revTx" presStyleIdx="3" presStyleCnt="7">
        <dgm:presLayoutVars>
          <dgm:chMax val="1"/>
          <dgm:bulletEnabled val="1"/>
        </dgm:presLayoutVars>
      </dgm:prSet>
      <dgm:spPr/>
    </dgm:pt>
    <dgm:pt modelId="{A604904D-E06A-4305-9832-8E341333FD5A}" type="pres">
      <dgm:prSet presAssocID="{137948AC-E663-4C1F-B89E-8744A3BC2E4C}" presName="bracket" presStyleLbl="parChTrans1D1" presStyleIdx="3" presStyleCnt="7" custScaleX="34152"/>
      <dgm:spPr>
        <a:solidFill>
          <a:schemeClr val="accent6">
            <a:lumMod val="60000"/>
            <a:lumOff val="40000"/>
          </a:schemeClr>
        </a:solidFill>
        <a:ln>
          <a:solidFill>
            <a:srgbClr val="002060"/>
          </a:solidFill>
        </a:ln>
      </dgm:spPr>
    </dgm:pt>
    <dgm:pt modelId="{100EFE6A-7BBD-4CC4-BAC0-86B5C6662B81}" type="pres">
      <dgm:prSet presAssocID="{137948AC-E663-4C1F-B89E-8744A3BC2E4C}" presName="spH" presStyleCnt="0"/>
      <dgm:spPr/>
    </dgm:pt>
    <dgm:pt modelId="{40F1C1AB-7007-48F4-8671-1F9536AD4687}" type="pres">
      <dgm:prSet presAssocID="{137948AC-E663-4C1F-B89E-8744A3BC2E4C}" presName="desTx" presStyleLbl="node1" presStyleIdx="3" presStyleCnt="7">
        <dgm:presLayoutVars>
          <dgm:bulletEnabled val="1"/>
        </dgm:presLayoutVars>
      </dgm:prSet>
      <dgm:spPr/>
    </dgm:pt>
    <dgm:pt modelId="{9C5C4AC0-590F-4364-BB65-AE7A5363FEBE}" type="pres">
      <dgm:prSet presAssocID="{E730BD8B-86ED-4EF9-BE25-99C1E0782DFB}" presName="spV" presStyleCnt="0"/>
      <dgm:spPr/>
    </dgm:pt>
    <dgm:pt modelId="{5F3A0C41-A74B-4FB8-8D3F-00E2781B9A1F}" type="pres">
      <dgm:prSet presAssocID="{4EFAC4A9-A4E3-4827-9A0F-6CBE58E9646B}" presName="linNode" presStyleCnt="0"/>
      <dgm:spPr/>
    </dgm:pt>
    <dgm:pt modelId="{14DADFE5-B6E0-437A-8EF0-97C398C9325E}" type="pres">
      <dgm:prSet presAssocID="{4EFAC4A9-A4E3-4827-9A0F-6CBE58E9646B}" presName="parTx" presStyleLbl="revTx" presStyleIdx="4" presStyleCnt="7">
        <dgm:presLayoutVars>
          <dgm:chMax val="1"/>
          <dgm:bulletEnabled val="1"/>
        </dgm:presLayoutVars>
      </dgm:prSet>
      <dgm:spPr/>
    </dgm:pt>
    <dgm:pt modelId="{87A91E21-2921-47BC-8C85-9CB352EB7DB1}" type="pres">
      <dgm:prSet presAssocID="{4EFAC4A9-A4E3-4827-9A0F-6CBE58E9646B}" presName="bracket" presStyleLbl="parChTrans1D1" presStyleIdx="4" presStyleCnt="7" custScaleX="34152"/>
      <dgm:spPr>
        <a:solidFill>
          <a:schemeClr val="accent6">
            <a:lumMod val="60000"/>
            <a:lumOff val="40000"/>
          </a:schemeClr>
        </a:solidFill>
        <a:ln>
          <a:solidFill>
            <a:srgbClr val="002060"/>
          </a:solidFill>
        </a:ln>
      </dgm:spPr>
    </dgm:pt>
    <dgm:pt modelId="{280933F8-F069-41AB-BA7C-593B023D2842}" type="pres">
      <dgm:prSet presAssocID="{4EFAC4A9-A4E3-4827-9A0F-6CBE58E9646B}" presName="spH" presStyleCnt="0"/>
      <dgm:spPr/>
    </dgm:pt>
    <dgm:pt modelId="{85E380D2-2E63-4B80-BA6E-57F0A4860C13}" type="pres">
      <dgm:prSet presAssocID="{4EFAC4A9-A4E3-4827-9A0F-6CBE58E9646B}" presName="desTx" presStyleLbl="node1" presStyleIdx="4" presStyleCnt="7">
        <dgm:presLayoutVars>
          <dgm:bulletEnabled val="1"/>
        </dgm:presLayoutVars>
      </dgm:prSet>
      <dgm:spPr/>
    </dgm:pt>
    <dgm:pt modelId="{8CBAC7B9-5D04-42EA-A370-CDF1C7D86B35}" type="pres">
      <dgm:prSet presAssocID="{B575FFDD-D7B5-44B0-8440-71631F850BE6}" presName="spV" presStyleCnt="0"/>
      <dgm:spPr/>
    </dgm:pt>
    <dgm:pt modelId="{EFA5D358-888A-4037-B723-678343EF2F90}" type="pres">
      <dgm:prSet presAssocID="{0EAE227B-A5C9-4892-86E5-C9F5EDCF321E}" presName="linNode" presStyleCnt="0"/>
      <dgm:spPr/>
    </dgm:pt>
    <dgm:pt modelId="{F2C4C2C2-C27F-46A9-9A09-529069FAC5F5}" type="pres">
      <dgm:prSet presAssocID="{0EAE227B-A5C9-4892-86E5-C9F5EDCF321E}" presName="parTx" presStyleLbl="revTx" presStyleIdx="5" presStyleCnt="7">
        <dgm:presLayoutVars>
          <dgm:chMax val="1"/>
          <dgm:bulletEnabled val="1"/>
        </dgm:presLayoutVars>
      </dgm:prSet>
      <dgm:spPr/>
    </dgm:pt>
    <dgm:pt modelId="{0F21D7A6-BF4D-4E68-96A9-854908E04C33}" type="pres">
      <dgm:prSet presAssocID="{0EAE227B-A5C9-4892-86E5-C9F5EDCF321E}" presName="bracket" presStyleLbl="parChTrans1D1" presStyleIdx="5" presStyleCnt="7" custScaleX="34152"/>
      <dgm:spPr>
        <a:solidFill>
          <a:schemeClr val="accent6">
            <a:lumMod val="60000"/>
            <a:lumOff val="40000"/>
          </a:schemeClr>
        </a:solidFill>
        <a:ln>
          <a:solidFill>
            <a:srgbClr val="002060"/>
          </a:solidFill>
        </a:ln>
      </dgm:spPr>
    </dgm:pt>
    <dgm:pt modelId="{78E35CD9-20ED-4585-ACDD-F5A7F3DEA72B}" type="pres">
      <dgm:prSet presAssocID="{0EAE227B-A5C9-4892-86E5-C9F5EDCF321E}" presName="spH" presStyleCnt="0"/>
      <dgm:spPr/>
    </dgm:pt>
    <dgm:pt modelId="{604A89B4-709B-4B55-8087-505D68C2C732}" type="pres">
      <dgm:prSet presAssocID="{0EAE227B-A5C9-4892-86E5-C9F5EDCF321E}" presName="desTx" presStyleLbl="node1" presStyleIdx="5" presStyleCnt="7" custLinFactNeighborX="-2112" custLinFactNeighborY="-9580">
        <dgm:presLayoutVars>
          <dgm:bulletEnabled val="1"/>
        </dgm:presLayoutVars>
      </dgm:prSet>
      <dgm:spPr/>
    </dgm:pt>
    <dgm:pt modelId="{EE72B472-469D-42A4-816E-E32A016733B3}" type="pres">
      <dgm:prSet presAssocID="{10C16B74-7EED-4AFE-A0ED-F0B433606B71}" presName="spV" presStyleCnt="0"/>
      <dgm:spPr/>
    </dgm:pt>
    <dgm:pt modelId="{E1896DDA-B7C6-44E2-B6D1-47A0203A9471}" type="pres">
      <dgm:prSet presAssocID="{4BEF186F-4A09-41E6-800F-9C2C6B93DD65}" presName="linNode" presStyleCnt="0"/>
      <dgm:spPr/>
    </dgm:pt>
    <dgm:pt modelId="{9855D568-70A1-4D8F-9584-C2D3A82658CC}" type="pres">
      <dgm:prSet presAssocID="{4BEF186F-4A09-41E6-800F-9C2C6B93DD65}" presName="parTx" presStyleLbl="revTx" presStyleIdx="6" presStyleCnt="7">
        <dgm:presLayoutVars>
          <dgm:chMax val="1"/>
          <dgm:bulletEnabled val="1"/>
        </dgm:presLayoutVars>
      </dgm:prSet>
      <dgm:spPr/>
    </dgm:pt>
    <dgm:pt modelId="{F2A8B844-1018-415D-AD6D-A4A97AE21D7E}" type="pres">
      <dgm:prSet presAssocID="{4BEF186F-4A09-41E6-800F-9C2C6B93DD65}" presName="bracket" presStyleLbl="parChTrans1D1" presStyleIdx="6" presStyleCnt="7" custScaleX="34152"/>
      <dgm:spPr>
        <a:solidFill>
          <a:schemeClr val="accent6">
            <a:lumMod val="60000"/>
            <a:lumOff val="40000"/>
          </a:schemeClr>
        </a:solidFill>
        <a:ln>
          <a:solidFill>
            <a:srgbClr val="002060"/>
          </a:solidFill>
        </a:ln>
      </dgm:spPr>
    </dgm:pt>
    <dgm:pt modelId="{AED8CFA5-C396-40F0-B2C2-9044BD7A5D49}" type="pres">
      <dgm:prSet presAssocID="{4BEF186F-4A09-41E6-800F-9C2C6B93DD65}" presName="spH" presStyleCnt="0"/>
      <dgm:spPr/>
    </dgm:pt>
    <dgm:pt modelId="{55069ABA-44AD-45CB-B964-7C34D16F3429}" type="pres">
      <dgm:prSet presAssocID="{4BEF186F-4A09-41E6-800F-9C2C6B93DD65}" presName="desTx" presStyleLbl="node1" presStyleIdx="6" presStyleCnt="7">
        <dgm:presLayoutVars>
          <dgm:bulletEnabled val="1"/>
        </dgm:presLayoutVars>
      </dgm:prSet>
      <dgm:spPr/>
    </dgm:pt>
  </dgm:ptLst>
  <dgm:cxnLst>
    <dgm:cxn modelId="{9CDD5F00-4118-4C23-BEAC-5333C0483965}" type="presOf" srcId="{690EAA82-6D91-43FD-99D7-1C9DBD7D0392}" destId="{40F1C1AB-7007-48F4-8671-1F9536AD4687}" srcOrd="0" destOrd="0" presId="urn:diagrams.loki3.com/BracketList"/>
    <dgm:cxn modelId="{E2B22A12-14D6-46E1-AC87-A772F295C334}" srcId="{AA1BB57D-6017-4DDC-A92B-7E444D9B9B1B}" destId="{7C664C18-6E5C-46C3-9CCF-7981727B4D48}" srcOrd="0" destOrd="0" parTransId="{38EF9201-8F58-487A-A23C-1E97E85BAB23}" sibTransId="{33001B9A-4190-4E24-BEC7-1CA64DD4DEC9}"/>
    <dgm:cxn modelId="{AAB85217-A0A7-457C-8CAC-04F9923428DB}" type="presOf" srcId="{4BEF186F-4A09-41E6-800F-9C2C6B93DD65}" destId="{9855D568-70A1-4D8F-9584-C2D3A82658CC}" srcOrd="0" destOrd="0" presId="urn:diagrams.loki3.com/BracketList"/>
    <dgm:cxn modelId="{BA11CC17-E6E8-4E83-A765-3845AA991C55}" type="presOf" srcId="{FC7BB6BE-6DAD-4C29-82A6-29B56D86D794}" destId="{2D0246E5-EE23-416E-BDAA-DE0AE7EBCCAA}" srcOrd="0" destOrd="1" presId="urn:diagrams.loki3.com/BracketList"/>
    <dgm:cxn modelId="{40F26323-65A0-4DE3-B56A-238ABE9F566E}" type="presOf" srcId="{D3AF715C-CDB8-40EB-B2FB-6699E7B90905}" destId="{6E81DA17-3A6F-4E87-9871-5E8B190F05EA}" srcOrd="0" destOrd="0" presId="urn:diagrams.loki3.com/BracketList"/>
    <dgm:cxn modelId="{B2F6413B-3EF2-4665-A629-1B82B78F98DF}" srcId="{AA1BB57D-6017-4DDC-A92B-7E444D9B9B1B}" destId="{0EAE227B-A5C9-4892-86E5-C9F5EDCF321E}" srcOrd="5" destOrd="0" parTransId="{9978998D-4EBB-44C6-B97A-4FF716992950}" sibTransId="{10C16B74-7EED-4AFE-A0ED-F0B433606B71}"/>
    <dgm:cxn modelId="{0897E73D-11D6-456E-AE2A-77831DD4AFCB}" srcId="{0EAE227B-A5C9-4892-86E5-C9F5EDCF321E}" destId="{8568D583-231C-4F1B-8198-702181448244}" srcOrd="0" destOrd="0" parTransId="{6A2A2699-49DE-4C5A-AA06-62D1E1F7A578}" sibTransId="{8E25511B-C103-44DE-B7A2-3CC111FF4DC1}"/>
    <dgm:cxn modelId="{63B4D15F-C58F-47EE-89C3-4F22D979648D}" srcId="{7C664C18-6E5C-46C3-9CCF-7981727B4D48}" destId="{B0BAE97F-F6FF-4FEA-A463-4F7F084EC2A4}" srcOrd="1" destOrd="0" parTransId="{319BF43B-B82B-46CD-81A8-42E9F66503D1}" sibTransId="{F0AF45FF-6093-4CB2-8E3F-F3306EC0C2AB}"/>
    <dgm:cxn modelId="{50791F44-09ED-4CA6-945D-1F5E8E79E1C8}" srcId="{AA1BB57D-6017-4DDC-A92B-7E444D9B9B1B}" destId="{4EFAC4A9-A4E3-4827-9A0F-6CBE58E9646B}" srcOrd="4" destOrd="0" parTransId="{340FC33E-5CF2-47FA-A872-C1B3543F82B2}" sibTransId="{B575FFDD-D7B5-44B0-8440-71631F850BE6}"/>
    <dgm:cxn modelId="{3F99C347-C6CB-44CF-AC99-746EAB3C86D3}" srcId="{AA1BB57D-6017-4DDC-A92B-7E444D9B9B1B}" destId="{A097A77A-EDBC-4BF3-BB00-9EAB2D7F7228}" srcOrd="2" destOrd="0" parTransId="{419A3A8C-1E45-4B91-B5B1-D70D537412E7}" sibTransId="{6CD141BF-CB41-495C-9819-25D57ACAF5DF}"/>
    <dgm:cxn modelId="{1E668A6A-BF6A-4EFA-BB17-349715B48BE8}" srcId="{4BEF186F-4A09-41E6-800F-9C2C6B93DD65}" destId="{3D0BD7C4-F524-4BCF-8F37-3B972B617BE7}" srcOrd="1" destOrd="0" parTransId="{D139308B-46C4-41CA-874E-EC72A9A9B8DA}" sibTransId="{E1117DAB-6EE9-4A99-B0FB-D7D9110EF1BD}"/>
    <dgm:cxn modelId="{2E1F0C6D-EC9E-42C8-A89A-FBF8FA324372}" srcId="{A097A77A-EDBC-4BF3-BB00-9EAB2D7F7228}" destId="{FC7BB6BE-6DAD-4C29-82A6-29B56D86D794}" srcOrd="1" destOrd="0" parTransId="{3B1F3D5C-B9FE-49E2-AA0A-27F883152E52}" sibTransId="{47C7FC5E-EFE0-4B75-A553-29D75E81E07C}"/>
    <dgm:cxn modelId="{B8618F4E-23BF-4963-B5E3-907B16C91132}" srcId="{4EFAC4A9-A4E3-4827-9A0F-6CBE58E9646B}" destId="{4E0AB3A8-86B4-4E41-8307-7BF8A5FF7117}" srcOrd="0" destOrd="0" parTransId="{80A07760-23D4-4C3E-A55C-D8D53E2EA13A}" sibTransId="{C95433FE-FD66-41FD-952D-EC299CAFF3A3}"/>
    <dgm:cxn modelId="{B9ACB550-D47D-41E9-B20D-0E1B06DF7AFB}" srcId="{AA1BB57D-6017-4DDC-A92B-7E444D9B9B1B}" destId="{4BEF186F-4A09-41E6-800F-9C2C6B93DD65}" srcOrd="6" destOrd="0" parTransId="{4CFF7403-82A7-4A31-895A-37D44E8DE998}" sibTransId="{409E5D43-2BB2-4838-ABEC-6E5A1EC1474E}"/>
    <dgm:cxn modelId="{8B2BCB58-A76E-4A9D-AFCE-0384A8400428}" type="presOf" srcId="{4E0AB3A8-86B4-4E41-8307-7BF8A5FF7117}" destId="{85E380D2-2E63-4B80-BA6E-57F0A4860C13}" srcOrd="0" destOrd="0" presId="urn:diagrams.loki3.com/BracketList"/>
    <dgm:cxn modelId="{0BD81179-4680-4AC3-BF80-20C6118FA371}" srcId="{137948AC-E663-4C1F-B89E-8744A3BC2E4C}" destId="{0C8E432D-1BCC-437B-B6CD-5D522529253A}" srcOrd="1" destOrd="0" parTransId="{345CB06C-3296-4645-96AD-60B949348F03}" sibTransId="{45BB962A-1EC8-4FE2-AB2A-F51E79A3C365}"/>
    <dgm:cxn modelId="{5FC2E059-E01A-459F-B318-8D6797D88FEC}" type="presOf" srcId="{1A8CBE78-EF82-4DEB-BBD7-37576F21A468}" destId="{85E380D2-2E63-4B80-BA6E-57F0A4860C13}" srcOrd="0" destOrd="1" presId="urn:diagrams.loki3.com/BracketList"/>
    <dgm:cxn modelId="{5B6AE379-834A-42DB-8986-03B092CCDCAE}" srcId="{7C664C18-6E5C-46C3-9CCF-7981727B4D48}" destId="{959928A0-21FA-4382-B081-7F5608486901}" srcOrd="0" destOrd="0" parTransId="{40E72D0B-0511-44A4-8BB0-5CF90C1C307D}" sibTransId="{6422E32E-58A4-49AA-9CB0-13087D839EDF}"/>
    <dgm:cxn modelId="{5ACA027C-788A-4A76-9727-91E047A09CD0}" type="presOf" srcId="{959928A0-21FA-4382-B081-7F5608486901}" destId="{B55BCDF2-1C87-4DA4-9C1E-C1D6C898C3AF}" srcOrd="0" destOrd="0" presId="urn:diagrams.loki3.com/BracketList"/>
    <dgm:cxn modelId="{E7A5DC88-4990-47EA-86E1-457B0F67910E}" srcId="{137948AC-E663-4C1F-B89E-8744A3BC2E4C}" destId="{690EAA82-6D91-43FD-99D7-1C9DBD7D0392}" srcOrd="0" destOrd="0" parTransId="{43D2DF11-500B-4F8E-AD18-EA67E0F32628}" sibTransId="{057CA806-EA35-4712-9807-3B52CC1C9CC9}"/>
    <dgm:cxn modelId="{B0CA0E8C-B6D4-4595-A9F4-C6FA541C3927}" srcId="{A097A77A-EDBC-4BF3-BB00-9EAB2D7F7228}" destId="{A1D2857C-6418-4050-A2E6-4EAC43B4B5C7}" srcOrd="0" destOrd="0" parTransId="{96F44DA1-B76D-420A-91C1-5B1EB6FEC2DE}" sibTransId="{FBB54B0F-83F1-4775-AA88-58C3DC485E74}"/>
    <dgm:cxn modelId="{9BAC1B8C-4D7D-4969-8DFC-1B6DE0CC01F5}" srcId="{AA1BB57D-6017-4DDC-A92B-7E444D9B9B1B}" destId="{137948AC-E663-4C1F-B89E-8744A3BC2E4C}" srcOrd="3" destOrd="0" parTransId="{04FAF621-B7E4-480E-BA1E-4DAA65808D53}" sibTransId="{E730BD8B-86ED-4EF9-BE25-99C1E0782DFB}"/>
    <dgm:cxn modelId="{9900C38D-5386-4468-8916-0B63A571C1D1}" srcId="{A87ACEED-04C7-4D95-ABD5-7E036E4F58D9}" destId="{8938B62A-EC0D-44E4-BDE4-3560C9E73760}" srcOrd="1" destOrd="0" parTransId="{8EA4A2EF-6925-465D-A1A1-ED92A6626C27}" sibTransId="{DAFE0C98-ECD9-4F6E-804B-B0DB605AF0B8}"/>
    <dgm:cxn modelId="{FC259D9D-FD6F-4E09-AD5A-46D63C124A1A}" type="presOf" srcId="{A87ACEED-04C7-4D95-ABD5-7E036E4F58D9}" destId="{CB665BE9-D63D-475D-B568-1BB5E9BF39E5}" srcOrd="0" destOrd="0" presId="urn:diagrams.loki3.com/BracketList"/>
    <dgm:cxn modelId="{702BE0A2-F360-4004-BB83-B7E62BFEBEB1}" type="presOf" srcId="{4EFAC4A9-A4E3-4827-9A0F-6CBE58E9646B}" destId="{14DADFE5-B6E0-437A-8EF0-97C398C9325E}" srcOrd="0" destOrd="0" presId="urn:diagrams.loki3.com/BracketList"/>
    <dgm:cxn modelId="{6ED25DAF-841F-40C7-B24D-616A9D650B65}" srcId="{AA1BB57D-6017-4DDC-A92B-7E444D9B9B1B}" destId="{A87ACEED-04C7-4D95-ABD5-7E036E4F58D9}" srcOrd="1" destOrd="0" parTransId="{CA1D5B6F-0A16-496A-A4F8-1182C1411E06}" sibTransId="{C4EA790C-AC99-49A9-8D12-641BBAF8FF08}"/>
    <dgm:cxn modelId="{D5E32EB1-B9CD-41DE-B8A9-83FC344C5676}" srcId="{4EFAC4A9-A4E3-4827-9A0F-6CBE58E9646B}" destId="{1A8CBE78-EF82-4DEB-BBD7-37576F21A468}" srcOrd="1" destOrd="0" parTransId="{97E7C709-28BB-49BC-920F-4193AEDD1CB9}" sibTransId="{578593F9-EC93-4C1C-A001-AC5922DEDE8F}"/>
    <dgm:cxn modelId="{BD3DDAB8-0538-4AB2-8F33-231924D5B0CD}" type="presOf" srcId="{8938B62A-EC0D-44E4-BDE4-3560C9E73760}" destId="{6E81DA17-3A6F-4E87-9871-5E8B190F05EA}" srcOrd="0" destOrd="1" presId="urn:diagrams.loki3.com/BracketList"/>
    <dgm:cxn modelId="{F668E0BC-3323-4B2F-A0E4-95FD908544A7}" type="presOf" srcId="{B0BAE97F-F6FF-4FEA-A463-4F7F084EC2A4}" destId="{B55BCDF2-1C87-4DA4-9C1E-C1D6C898C3AF}" srcOrd="0" destOrd="1" presId="urn:diagrams.loki3.com/BracketList"/>
    <dgm:cxn modelId="{8FBA12C3-B8DD-4152-9054-3B7220CDADC5}" type="presOf" srcId="{8568D583-231C-4F1B-8198-702181448244}" destId="{604A89B4-709B-4B55-8087-505D68C2C732}" srcOrd="0" destOrd="0" presId="urn:diagrams.loki3.com/BracketList"/>
    <dgm:cxn modelId="{C4622FC5-FCFB-4E1A-AB42-FEE714C30BE4}" srcId="{0EAE227B-A5C9-4892-86E5-C9F5EDCF321E}" destId="{ABFF1403-3F3A-4654-8900-0DD2BC719030}" srcOrd="1" destOrd="0" parTransId="{407E407C-3F54-4C36-85E8-274125557F4F}" sibTransId="{3FA5CF01-BABD-45B6-83C0-D0D07BAEEEE3}"/>
    <dgm:cxn modelId="{775B12C7-EDA5-40C0-A32C-2622A6FE1F56}" srcId="{A87ACEED-04C7-4D95-ABD5-7E036E4F58D9}" destId="{D3AF715C-CDB8-40EB-B2FB-6699E7B90905}" srcOrd="0" destOrd="0" parTransId="{693D405E-9C4D-4B6E-9C3B-FD3B7DBCABA3}" sibTransId="{DEF5BA2B-1D5C-45A5-9B12-1B7BFF431479}"/>
    <dgm:cxn modelId="{2EAC49D4-FF50-432D-96CB-8B8B0A516197}" type="presOf" srcId="{5C9D35F5-9E01-4A76-8831-F942162DBD4B}" destId="{55069ABA-44AD-45CB-B964-7C34D16F3429}" srcOrd="0" destOrd="0" presId="urn:diagrams.loki3.com/BracketList"/>
    <dgm:cxn modelId="{54F811D5-AD8C-464F-AFFD-6A8A72EB53D7}" type="presOf" srcId="{ABFF1403-3F3A-4654-8900-0DD2BC719030}" destId="{604A89B4-709B-4B55-8087-505D68C2C732}" srcOrd="0" destOrd="1" presId="urn:diagrams.loki3.com/BracketList"/>
    <dgm:cxn modelId="{19B351D9-4E86-4E1A-AA1E-F796BE1C35F6}" type="presOf" srcId="{3D0BD7C4-F524-4BCF-8F37-3B972B617BE7}" destId="{55069ABA-44AD-45CB-B964-7C34D16F3429}" srcOrd="0" destOrd="1" presId="urn:diagrams.loki3.com/BracketList"/>
    <dgm:cxn modelId="{98CD16E2-3E58-483B-9CC0-C9E0B8CAFE95}" type="presOf" srcId="{A1D2857C-6418-4050-A2E6-4EAC43B4B5C7}" destId="{2D0246E5-EE23-416E-BDAA-DE0AE7EBCCAA}" srcOrd="0" destOrd="0" presId="urn:diagrams.loki3.com/BracketList"/>
    <dgm:cxn modelId="{9A1C8DE7-3BC2-46E0-81D2-96B26772570F}" type="presOf" srcId="{0EAE227B-A5C9-4892-86E5-C9F5EDCF321E}" destId="{F2C4C2C2-C27F-46A9-9A09-529069FAC5F5}" srcOrd="0" destOrd="0" presId="urn:diagrams.loki3.com/BracketList"/>
    <dgm:cxn modelId="{8C1698ED-D3FD-48BC-8421-2B7EE5D5C315}" type="presOf" srcId="{7C664C18-6E5C-46C3-9CCF-7981727B4D48}" destId="{803F40CD-CD62-4933-8406-2DB48C7B1226}" srcOrd="0" destOrd="0" presId="urn:diagrams.loki3.com/BracketList"/>
    <dgm:cxn modelId="{7639C0F0-5F70-461D-BB46-DCAAD0FAEEB7}" type="presOf" srcId="{0C8E432D-1BCC-437B-B6CD-5D522529253A}" destId="{40F1C1AB-7007-48F4-8671-1F9536AD4687}" srcOrd="0" destOrd="1" presId="urn:diagrams.loki3.com/BracketList"/>
    <dgm:cxn modelId="{524BA8F5-4860-454A-B8B9-465287C16A0A}" type="presOf" srcId="{A097A77A-EDBC-4BF3-BB00-9EAB2D7F7228}" destId="{4377E0EE-C84A-44B5-A954-B54AF801D56C}" srcOrd="0" destOrd="0" presId="urn:diagrams.loki3.com/BracketList"/>
    <dgm:cxn modelId="{320488F9-6D93-4C56-8DA1-DB9987C9C06F}" srcId="{4BEF186F-4A09-41E6-800F-9C2C6B93DD65}" destId="{5C9D35F5-9E01-4A76-8831-F942162DBD4B}" srcOrd="0" destOrd="0" parTransId="{7E026DE2-E48A-4D18-A904-1AE4F0FCA449}" sibTransId="{4BDC82FE-B6E9-4FB1-A5CC-1E755E0FB3FE}"/>
    <dgm:cxn modelId="{3E29ECF9-5292-4280-BBE2-6CB4D980E5E7}" type="presOf" srcId="{137948AC-E663-4C1F-B89E-8744A3BC2E4C}" destId="{5F514278-B4AC-47B9-8142-F3F6F09BD060}" srcOrd="0" destOrd="0" presId="urn:diagrams.loki3.com/BracketList"/>
    <dgm:cxn modelId="{5E5CA1FA-F104-4A4E-AE71-F14BF4847622}" type="presOf" srcId="{AA1BB57D-6017-4DDC-A92B-7E444D9B9B1B}" destId="{030980FB-560F-4C13-9C03-9E4C7C435929}" srcOrd="0" destOrd="0" presId="urn:diagrams.loki3.com/BracketList"/>
    <dgm:cxn modelId="{825103A9-B5FF-4550-A88B-1764214CDCF7}" type="presParOf" srcId="{030980FB-560F-4C13-9C03-9E4C7C435929}" destId="{6E5804B3-057E-4083-BB65-2F85A0A1B393}" srcOrd="0" destOrd="0" presId="urn:diagrams.loki3.com/BracketList"/>
    <dgm:cxn modelId="{7DBD9CA4-B77F-4F9C-BF56-AC1BDB5DEC93}" type="presParOf" srcId="{6E5804B3-057E-4083-BB65-2F85A0A1B393}" destId="{803F40CD-CD62-4933-8406-2DB48C7B1226}" srcOrd="0" destOrd="0" presId="urn:diagrams.loki3.com/BracketList"/>
    <dgm:cxn modelId="{315ECBA2-F0EE-406C-AD8E-489A811530F3}" type="presParOf" srcId="{6E5804B3-057E-4083-BB65-2F85A0A1B393}" destId="{4A3AB84F-397C-4FFF-8D0C-9D59E048358A}" srcOrd="1" destOrd="0" presId="urn:diagrams.loki3.com/BracketList"/>
    <dgm:cxn modelId="{4C2F2A11-450E-4195-909E-7F95885395DF}" type="presParOf" srcId="{6E5804B3-057E-4083-BB65-2F85A0A1B393}" destId="{837484E4-64DF-4C93-9ABE-B94509054ECF}" srcOrd="2" destOrd="0" presId="urn:diagrams.loki3.com/BracketList"/>
    <dgm:cxn modelId="{736AD6D1-88B7-4567-8665-C64FB7250B8B}" type="presParOf" srcId="{6E5804B3-057E-4083-BB65-2F85A0A1B393}" destId="{B55BCDF2-1C87-4DA4-9C1E-C1D6C898C3AF}" srcOrd="3" destOrd="0" presId="urn:diagrams.loki3.com/BracketList"/>
    <dgm:cxn modelId="{40E2DA78-D048-4DDA-9052-2EE94DD3FFAD}" type="presParOf" srcId="{030980FB-560F-4C13-9C03-9E4C7C435929}" destId="{F791EA33-99AC-48B1-83EB-360040BF1DE4}" srcOrd="1" destOrd="0" presId="urn:diagrams.loki3.com/BracketList"/>
    <dgm:cxn modelId="{7034AA74-36FE-4C07-A2C7-5467F045947B}" type="presParOf" srcId="{030980FB-560F-4C13-9C03-9E4C7C435929}" destId="{C08ACEEB-3E94-4E3F-8EF0-BDAF0052E319}" srcOrd="2" destOrd="0" presId="urn:diagrams.loki3.com/BracketList"/>
    <dgm:cxn modelId="{B776C98A-B058-4315-8E69-573F43CB8211}" type="presParOf" srcId="{C08ACEEB-3E94-4E3F-8EF0-BDAF0052E319}" destId="{CB665BE9-D63D-475D-B568-1BB5E9BF39E5}" srcOrd="0" destOrd="0" presId="urn:diagrams.loki3.com/BracketList"/>
    <dgm:cxn modelId="{34A0CFCE-AECD-40CD-BC77-53C62BAC7755}" type="presParOf" srcId="{C08ACEEB-3E94-4E3F-8EF0-BDAF0052E319}" destId="{57499436-1C76-4DED-AA0A-11FB7DAD8C25}" srcOrd="1" destOrd="0" presId="urn:diagrams.loki3.com/BracketList"/>
    <dgm:cxn modelId="{A31C07AD-5792-46D4-A4D4-0489E2998562}" type="presParOf" srcId="{C08ACEEB-3E94-4E3F-8EF0-BDAF0052E319}" destId="{D86BEAFF-6B56-4680-B4D8-D7DB41683013}" srcOrd="2" destOrd="0" presId="urn:diagrams.loki3.com/BracketList"/>
    <dgm:cxn modelId="{973CB038-EFB0-428A-865B-903200312A16}" type="presParOf" srcId="{C08ACEEB-3E94-4E3F-8EF0-BDAF0052E319}" destId="{6E81DA17-3A6F-4E87-9871-5E8B190F05EA}" srcOrd="3" destOrd="0" presId="urn:diagrams.loki3.com/BracketList"/>
    <dgm:cxn modelId="{B86FF70B-F683-4ECE-8945-CB11DED76FED}" type="presParOf" srcId="{030980FB-560F-4C13-9C03-9E4C7C435929}" destId="{EACC27F3-A02D-46D8-A6EB-AE50AC68E812}" srcOrd="3" destOrd="0" presId="urn:diagrams.loki3.com/BracketList"/>
    <dgm:cxn modelId="{ADB19E75-BA60-41B9-93D3-A359832AF9DA}" type="presParOf" srcId="{030980FB-560F-4C13-9C03-9E4C7C435929}" destId="{8B14EC23-FA91-40A3-BA21-4AE064B8BCF2}" srcOrd="4" destOrd="0" presId="urn:diagrams.loki3.com/BracketList"/>
    <dgm:cxn modelId="{84214C09-8BB7-4068-862F-53265395EFAD}" type="presParOf" srcId="{8B14EC23-FA91-40A3-BA21-4AE064B8BCF2}" destId="{4377E0EE-C84A-44B5-A954-B54AF801D56C}" srcOrd="0" destOrd="0" presId="urn:diagrams.loki3.com/BracketList"/>
    <dgm:cxn modelId="{5A1B6209-0716-484B-A743-255853D14199}" type="presParOf" srcId="{8B14EC23-FA91-40A3-BA21-4AE064B8BCF2}" destId="{5AF9FA3F-5430-46FE-84AD-D81FDB0DDB11}" srcOrd="1" destOrd="0" presId="urn:diagrams.loki3.com/BracketList"/>
    <dgm:cxn modelId="{94969C83-A628-48CA-9243-9361D8610550}" type="presParOf" srcId="{8B14EC23-FA91-40A3-BA21-4AE064B8BCF2}" destId="{3B08E964-4958-4DF6-B5BB-25B10CDF662C}" srcOrd="2" destOrd="0" presId="urn:diagrams.loki3.com/BracketList"/>
    <dgm:cxn modelId="{E1E85D90-14C8-4728-8D9D-206056AB98A8}" type="presParOf" srcId="{8B14EC23-FA91-40A3-BA21-4AE064B8BCF2}" destId="{2D0246E5-EE23-416E-BDAA-DE0AE7EBCCAA}" srcOrd="3" destOrd="0" presId="urn:diagrams.loki3.com/BracketList"/>
    <dgm:cxn modelId="{D055AE68-A884-4DCD-B5BB-3D080F9CA36B}" type="presParOf" srcId="{030980FB-560F-4C13-9C03-9E4C7C435929}" destId="{75F4581A-01F9-4A20-9A91-191F17CBE75C}" srcOrd="5" destOrd="0" presId="urn:diagrams.loki3.com/BracketList"/>
    <dgm:cxn modelId="{ECAF6D3A-B5C0-419E-A13F-120C9DA0AB54}" type="presParOf" srcId="{030980FB-560F-4C13-9C03-9E4C7C435929}" destId="{5922224E-6504-4BB1-8B97-D2CEB80E8258}" srcOrd="6" destOrd="0" presId="urn:diagrams.loki3.com/BracketList"/>
    <dgm:cxn modelId="{A73597E7-4718-462B-AE8E-3E4929811246}" type="presParOf" srcId="{5922224E-6504-4BB1-8B97-D2CEB80E8258}" destId="{5F514278-B4AC-47B9-8142-F3F6F09BD060}" srcOrd="0" destOrd="0" presId="urn:diagrams.loki3.com/BracketList"/>
    <dgm:cxn modelId="{183ED662-A2A0-455D-8E1E-6530F48731C5}" type="presParOf" srcId="{5922224E-6504-4BB1-8B97-D2CEB80E8258}" destId="{A604904D-E06A-4305-9832-8E341333FD5A}" srcOrd="1" destOrd="0" presId="urn:diagrams.loki3.com/BracketList"/>
    <dgm:cxn modelId="{5F864FB1-2E24-4D4B-BDB2-1E6C084E7A58}" type="presParOf" srcId="{5922224E-6504-4BB1-8B97-D2CEB80E8258}" destId="{100EFE6A-7BBD-4CC4-BAC0-86B5C6662B81}" srcOrd="2" destOrd="0" presId="urn:diagrams.loki3.com/BracketList"/>
    <dgm:cxn modelId="{457222CA-FE01-4F8A-8013-20AD947A6412}" type="presParOf" srcId="{5922224E-6504-4BB1-8B97-D2CEB80E8258}" destId="{40F1C1AB-7007-48F4-8671-1F9536AD4687}" srcOrd="3" destOrd="0" presId="urn:diagrams.loki3.com/BracketList"/>
    <dgm:cxn modelId="{B20D9E60-1A54-41AB-9DB5-42B06B84D27F}" type="presParOf" srcId="{030980FB-560F-4C13-9C03-9E4C7C435929}" destId="{9C5C4AC0-590F-4364-BB65-AE7A5363FEBE}" srcOrd="7" destOrd="0" presId="urn:diagrams.loki3.com/BracketList"/>
    <dgm:cxn modelId="{29D4B3B9-080A-4BC4-8A8E-5F9128786BA7}" type="presParOf" srcId="{030980FB-560F-4C13-9C03-9E4C7C435929}" destId="{5F3A0C41-A74B-4FB8-8D3F-00E2781B9A1F}" srcOrd="8" destOrd="0" presId="urn:diagrams.loki3.com/BracketList"/>
    <dgm:cxn modelId="{AB5D612A-110C-455A-8C52-613037CAF9A1}" type="presParOf" srcId="{5F3A0C41-A74B-4FB8-8D3F-00E2781B9A1F}" destId="{14DADFE5-B6E0-437A-8EF0-97C398C9325E}" srcOrd="0" destOrd="0" presId="urn:diagrams.loki3.com/BracketList"/>
    <dgm:cxn modelId="{5729863A-0DDD-4904-930B-712A6B0F22EC}" type="presParOf" srcId="{5F3A0C41-A74B-4FB8-8D3F-00E2781B9A1F}" destId="{87A91E21-2921-47BC-8C85-9CB352EB7DB1}" srcOrd="1" destOrd="0" presId="urn:diagrams.loki3.com/BracketList"/>
    <dgm:cxn modelId="{657BA602-EBFC-4CB3-8A01-C3877264D901}" type="presParOf" srcId="{5F3A0C41-A74B-4FB8-8D3F-00E2781B9A1F}" destId="{280933F8-F069-41AB-BA7C-593B023D2842}" srcOrd="2" destOrd="0" presId="urn:diagrams.loki3.com/BracketList"/>
    <dgm:cxn modelId="{BE2EB9EE-A2A9-4CB6-AD78-3F317A7D94FA}" type="presParOf" srcId="{5F3A0C41-A74B-4FB8-8D3F-00E2781B9A1F}" destId="{85E380D2-2E63-4B80-BA6E-57F0A4860C13}" srcOrd="3" destOrd="0" presId="urn:diagrams.loki3.com/BracketList"/>
    <dgm:cxn modelId="{0A8ABFF5-D84A-4905-AA08-B92018A13C37}" type="presParOf" srcId="{030980FB-560F-4C13-9C03-9E4C7C435929}" destId="{8CBAC7B9-5D04-42EA-A370-CDF1C7D86B35}" srcOrd="9" destOrd="0" presId="urn:diagrams.loki3.com/BracketList"/>
    <dgm:cxn modelId="{6145A84A-303A-42DE-983F-888E21AB850E}" type="presParOf" srcId="{030980FB-560F-4C13-9C03-9E4C7C435929}" destId="{EFA5D358-888A-4037-B723-678343EF2F90}" srcOrd="10" destOrd="0" presId="urn:diagrams.loki3.com/BracketList"/>
    <dgm:cxn modelId="{EF9E0D0D-85B8-4BD0-B263-2D785883A03A}" type="presParOf" srcId="{EFA5D358-888A-4037-B723-678343EF2F90}" destId="{F2C4C2C2-C27F-46A9-9A09-529069FAC5F5}" srcOrd="0" destOrd="0" presId="urn:diagrams.loki3.com/BracketList"/>
    <dgm:cxn modelId="{23997832-A425-4E66-9627-39888DD1AAD5}" type="presParOf" srcId="{EFA5D358-888A-4037-B723-678343EF2F90}" destId="{0F21D7A6-BF4D-4E68-96A9-854908E04C33}" srcOrd="1" destOrd="0" presId="urn:diagrams.loki3.com/BracketList"/>
    <dgm:cxn modelId="{A95EAF10-2C99-428D-90F8-FCA997D40D0E}" type="presParOf" srcId="{EFA5D358-888A-4037-B723-678343EF2F90}" destId="{78E35CD9-20ED-4585-ACDD-F5A7F3DEA72B}" srcOrd="2" destOrd="0" presId="urn:diagrams.loki3.com/BracketList"/>
    <dgm:cxn modelId="{8CCDB09A-DD59-4A18-8C85-F1FCF71D8261}" type="presParOf" srcId="{EFA5D358-888A-4037-B723-678343EF2F90}" destId="{604A89B4-709B-4B55-8087-505D68C2C732}" srcOrd="3" destOrd="0" presId="urn:diagrams.loki3.com/BracketList"/>
    <dgm:cxn modelId="{3EC90B8C-AE11-4E48-88D0-11F422B1FBBB}" type="presParOf" srcId="{030980FB-560F-4C13-9C03-9E4C7C435929}" destId="{EE72B472-469D-42A4-816E-E32A016733B3}" srcOrd="11" destOrd="0" presId="urn:diagrams.loki3.com/BracketList"/>
    <dgm:cxn modelId="{4891F08D-7939-4717-9CA0-778C9B470BF4}" type="presParOf" srcId="{030980FB-560F-4C13-9C03-9E4C7C435929}" destId="{E1896DDA-B7C6-44E2-B6D1-47A0203A9471}" srcOrd="12" destOrd="0" presId="urn:diagrams.loki3.com/BracketList"/>
    <dgm:cxn modelId="{E691DF36-690B-4507-A537-BA52ED9690E6}" type="presParOf" srcId="{E1896DDA-B7C6-44E2-B6D1-47A0203A9471}" destId="{9855D568-70A1-4D8F-9584-C2D3A82658CC}" srcOrd="0" destOrd="0" presId="urn:diagrams.loki3.com/BracketList"/>
    <dgm:cxn modelId="{4441DDF1-270A-4432-A23B-7E9D7B916F23}" type="presParOf" srcId="{E1896DDA-B7C6-44E2-B6D1-47A0203A9471}" destId="{F2A8B844-1018-415D-AD6D-A4A97AE21D7E}" srcOrd="1" destOrd="0" presId="urn:diagrams.loki3.com/BracketList"/>
    <dgm:cxn modelId="{EF3EAB76-8E05-4CEF-9FB4-028182E15660}" type="presParOf" srcId="{E1896DDA-B7C6-44E2-B6D1-47A0203A9471}" destId="{AED8CFA5-C396-40F0-B2C2-9044BD7A5D49}" srcOrd="2" destOrd="0" presId="urn:diagrams.loki3.com/BracketList"/>
    <dgm:cxn modelId="{AE225C5A-BF3F-4BC0-862E-2D8A58A94D11}" type="presParOf" srcId="{E1896DDA-B7C6-44E2-B6D1-47A0203A9471}" destId="{55069ABA-44AD-45CB-B964-7C34D16F3429}" srcOrd="3" destOrd="0" presId="urn:diagrams.loki3.com/BracketList"/>
  </dgm:cxnLst>
  <dgm:bg>
    <a:solidFill>
      <a:schemeClr val="bg2"/>
    </a:solidFill>
  </dgm:bg>
  <dgm:whole>
    <a:ln>
      <a:solidFill>
        <a:srgbClr val="002060"/>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3F40CD-CD62-4933-8406-2DB48C7B1226}">
      <dsp:nvSpPr>
        <dsp:cNvPr id="0" name=""/>
        <dsp:cNvSpPr/>
      </dsp:nvSpPr>
      <dsp:spPr>
        <a:xfrm>
          <a:off x="154709" y="4269"/>
          <a:ext cx="2349499" cy="1038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just" defTabSz="533400">
            <a:lnSpc>
              <a:spcPct val="90000"/>
            </a:lnSpc>
            <a:spcBef>
              <a:spcPct val="0"/>
            </a:spcBef>
            <a:spcAft>
              <a:spcPct val="35000"/>
            </a:spcAft>
            <a:buFont typeface="+mj-lt"/>
            <a:buNone/>
          </a:pPr>
          <a:r>
            <a:rPr lang="en-US" sz="1200" b="1" kern="1200" dirty="0">
              <a:solidFill>
                <a:schemeClr val="tx1"/>
              </a:solidFill>
              <a:latin typeface="Garamond" panose="02020404030301010803" pitchFamily="18" charset="0"/>
            </a:rPr>
            <a:t>Define mission objectives and requirements:</a:t>
          </a:r>
        </a:p>
      </dsp:txBody>
      <dsp:txXfrm>
        <a:off x="154709" y="4269"/>
        <a:ext cx="2349499" cy="1038327"/>
      </dsp:txXfrm>
    </dsp:sp>
    <dsp:sp modelId="{4A3AB84F-397C-4FFF-8D0C-9D59E048358A}">
      <dsp:nvSpPr>
        <dsp:cNvPr id="0" name=""/>
        <dsp:cNvSpPr/>
      </dsp:nvSpPr>
      <dsp:spPr>
        <a:xfrm>
          <a:off x="2504209" y="153110"/>
          <a:ext cx="160480" cy="740643"/>
        </a:xfrm>
        <a:prstGeom prst="leftBrace">
          <a:avLst>
            <a:gd name="adj1" fmla="val 35000"/>
            <a:gd name="adj2" fmla="val 50000"/>
          </a:avLst>
        </a:prstGeom>
        <a:solidFill>
          <a:schemeClr val="accent6">
            <a:lumMod val="60000"/>
            <a:lumOff val="40000"/>
          </a:schemeClr>
        </a:solidFill>
        <a:ln w="127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B55BCDF2-1C87-4DA4-9C1E-C1D6C898C3AF}">
      <dsp:nvSpPr>
        <dsp:cNvPr id="0" name=""/>
        <dsp:cNvSpPr/>
      </dsp:nvSpPr>
      <dsp:spPr>
        <a:xfrm>
          <a:off x="2852649" y="153110"/>
          <a:ext cx="6390639" cy="74064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just" defTabSz="533400">
            <a:lnSpc>
              <a:spcPct val="90000"/>
            </a:lnSpc>
            <a:spcBef>
              <a:spcPct val="0"/>
            </a:spcBef>
            <a:spcAft>
              <a:spcPct val="15000"/>
            </a:spcAft>
            <a:buNone/>
          </a:pPr>
          <a:r>
            <a:rPr lang="en-US" sz="1200" kern="1200" dirty="0">
              <a:solidFill>
                <a:schemeClr val="tx1"/>
              </a:solidFill>
              <a:latin typeface="Garamond" panose="02020404030301010803" pitchFamily="18" charset="0"/>
            </a:rPr>
            <a:t>The mission objectives and the specific requirements of the optical imaging system suppose to be clearly defined considering the factors such as spatial resolution, spectral bands, FOV, data storage capacity, power consumption, mass and volume constraints. </a:t>
          </a:r>
        </a:p>
        <a:p>
          <a:pPr marL="114300" lvl="1" indent="-114300" algn="just" defTabSz="533400">
            <a:lnSpc>
              <a:spcPct val="90000"/>
            </a:lnSpc>
            <a:spcBef>
              <a:spcPct val="0"/>
            </a:spcBef>
            <a:spcAft>
              <a:spcPct val="15000"/>
            </a:spcAft>
            <a:buNone/>
          </a:pPr>
          <a:endParaRPr lang="en-US" sz="1200" kern="1200" dirty="0">
            <a:solidFill>
              <a:schemeClr val="tx1"/>
            </a:solidFill>
            <a:latin typeface="Garamond" panose="02020404030301010803" pitchFamily="18" charset="0"/>
          </a:endParaRPr>
        </a:p>
      </dsp:txBody>
      <dsp:txXfrm>
        <a:off x="2852649" y="153110"/>
        <a:ext cx="6390639" cy="740643"/>
      </dsp:txXfrm>
    </dsp:sp>
    <dsp:sp modelId="{CB665BE9-D63D-475D-B568-1BB5E9BF39E5}">
      <dsp:nvSpPr>
        <dsp:cNvPr id="0" name=""/>
        <dsp:cNvSpPr/>
      </dsp:nvSpPr>
      <dsp:spPr>
        <a:xfrm>
          <a:off x="154709" y="1206002"/>
          <a:ext cx="2349499" cy="376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just" defTabSz="533400">
            <a:lnSpc>
              <a:spcPct val="90000"/>
            </a:lnSpc>
            <a:spcBef>
              <a:spcPct val="0"/>
            </a:spcBef>
            <a:spcAft>
              <a:spcPct val="35000"/>
            </a:spcAft>
            <a:buFont typeface="+mj-lt"/>
            <a:buNone/>
          </a:pPr>
          <a:r>
            <a:rPr lang="en-US" sz="1200" b="1" kern="1200" dirty="0">
              <a:solidFill>
                <a:schemeClr val="tx1"/>
              </a:solidFill>
              <a:latin typeface="Garamond" panose="02020404030301010803" pitchFamily="18" charset="0"/>
            </a:rPr>
            <a:t>Conducting mission feasibility study:</a:t>
          </a:r>
        </a:p>
      </dsp:txBody>
      <dsp:txXfrm>
        <a:off x="154709" y="1206002"/>
        <a:ext cx="2349499" cy="376200"/>
      </dsp:txXfrm>
    </dsp:sp>
    <dsp:sp modelId="{57499436-1C76-4DED-AA0A-11FB7DAD8C25}">
      <dsp:nvSpPr>
        <dsp:cNvPr id="0" name=""/>
        <dsp:cNvSpPr/>
      </dsp:nvSpPr>
      <dsp:spPr>
        <a:xfrm>
          <a:off x="2504209" y="1100196"/>
          <a:ext cx="160480" cy="587812"/>
        </a:xfrm>
        <a:prstGeom prst="leftBrace">
          <a:avLst>
            <a:gd name="adj1" fmla="val 35000"/>
            <a:gd name="adj2" fmla="val 50000"/>
          </a:avLst>
        </a:prstGeom>
        <a:solidFill>
          <a:schemeClr val="accent6">
            <a:lumMod val="60000"/>
            <a:lumOff val="40000"/>
          </a:schemeClr>
        </a:solidFill>
        <a:ln w="127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6E81DA17-3A6F-4E87-9871-5E8B190F05EA}">
      <dsp:nvSpPr>
        <dsp:cNvPr id="0" name=""/>
        <dsp:cNvSpPr/>
      </dsp:nvSpPr>
      <dsp:spPr>
        <a:xfrm>
          <a:off x="2852649" y="1100196"/>
          <a:ext cx="6390639" cy="58781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just" defTabSz="533400">
            <a:lnSpc>
              <a:spcPct val="90000"/>
            </a:lnSpc>
            <a:spcBef>
              <a:spcPct val="0"/>
            </a:spcBef>
            <a:spcAft>
              <a:spcPct val="15000"/>
            </a:spcAft>
            <a:buNone/>
          </a:pPr>
          <a:r>
            <a:rPr lang="en-US" sz="1200" kern="1200" dirty="0">
              <a:solidFill>
                <a:schemeClr val="tx1"/>
              </a:solidFill>
              <a:latin typeface="Garamond" panose="02020404030301010803" pitchFamily="18" charset="0"/>
            </a:rPr>
            <a:t>Assess the feasibility of the mission and suitability of the CubeSat platforms for achieving the mission goals. </a:t>
          </a:r>
        </a:p>
        <a:p>
          <a:pPr marL="114300" lvl="1" indent="-114300" algn="just" defTabSz="533400">
            <a:lnSpc>
              <a:spcPct val="90000"/>
            </a:lnSpc>
            <a:spcBef>
              <a:spcPct val="0"/>
            </a:spcBef>
            <a:spcAft>
              <a:spcPct val="15000"/>
            </a:spcAft>
            <a:buChar char="•"/>
          </a:pPr>
          <a:endParaRPr lang="en-US" sz="1200" kern="1200" dirty="0">
            <a:solidFill>
              <a:schemeClr val="tx1"/>
            </a:solidFill>
            <a:latin typeface="Garamond" panose="02020404030301010803" pitchFamily="18" charset="0"/>
          </a:endParaRPr>
        </a:p>
      </dsp:txBody>
      <dsp:txXfrm>
        <a:off x="2852649" y="1100196"/>
        <a:ext cx="6390639" cy="587812"/>
      </dsp:txXfrm>
    </dsp:sp>
    <dsp:sp modelId="{4377E0EE-C84A-44B5-A954-B54AF801D56C}">
      <dsp:nvSpPr>
        <dsp:cNvPr id="0" name=""/>
        <dsp:cNvSpPr/>
      </dsp:nvSpPr>
      <dsp:spPr>
        <a:xfrm>
          <a:off x="154709" y="1879258"/>
          <a:ext cx="2349499"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just" defTabSz="533400">
            <a:lnSpc>
              <a:spcPct val="90000"/>
            </a:lnSpc>
            <a:spcBef>
              <a:spcPct val="0"/>
            </a:spcBef>
            <a:spcAft>
              <a:spcPct val="35000"/>
            </a:spcAft>
            <a:buFont typeface="+mj-lt"/>
            <a:buNone/>
          </a:pPr>
          <a:r>
            <a:rPr lang="en-US" sz="1200" b="1" kern="1200" dirty="0">
              <a:solidFill>
                <a:schemeClr val="tx1"/>
              </a:solidFill>
              <a:latin typeface="Garamond" panose="02020404030301010803" pitchFamily="18" charset="0"/>
            </a:rPr>
            <a:t>Selecting the sensor:</a:t>
          </a:r>
        </a:p>
      </dsp:txBody>
      <dsp:txXfrm>
        <a:off x="154709" y="1879258"/>
        <a:ext cx="2349499" cy="316800"/>
      </dsp:txXfrm>
    </dsp:sp>
    <dsp:sp modelId="{5AF9FA3F-5430-46FE-84AD-D81FDB0DDB11}">
      <dsp:nvSpPr>
        <dsp:cNvPr id="0" name=""/>
        <dsp:cNvSpPr/>
      </dsp:nvSpPr>
      <dsp:spPr>
        <a:xfrm>
          <a:off x="2504209" y="1745608"/>
          <a:ext cx="160480" cy="584100"/>
        </a:xfrm>
        <a:prstGeom prst="leftBrace">
          <a:avLst>
            <a:gd name="adj1" fmla="val 35000"/>
            <a:gd name="adj2" fmla="val 50000"/>
          </a:avLst>
        </a:prstGeom>
        <a:solidFill>
          <a:schemeClr val="accent6">
            <a:lumMod val="60000"/>
            <a:lumOff val="40000"/>
          </a:schemeClr>
        </a:solidFill>
        <a:ln w="127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2D0246E5-EE23-416E-BDAA-DE0AE7EBCCAA}">
      <dsp:nvSpPr>
        <dsp:cNvPr id="0" name=""/>
        <dsp:cNvSpPr/>
      </dsp:nvSpPr>
      <dsp:spPr>
        <a:xfrm>
          <a:off x="2852649" y="1745608"/>
          <a:ext cx="6390639" cy="5841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just" defTabSz="533400">
            <a:lnSpc>
              <a:spcPct val="90000"/>
            </a:lnSpc>
            <a:spcBef>
              <a:spcPct val="0"/>
            </a:spcBef>
            <a:spcAft>
              <a:spcPct val="15000"/>
            </a:spcAft>
            <a:buNone/>
          </a:pPr>
          <a:r>
            <a:rPr lang="en-US" sz="1200" kern="1200" dirty="0">
              <a:solidFill>
                <a:schemeClr val="tx1"/>
              </a:solidFill>
              <a:latin typeface="Garamond" panose="02020404030301010803" pitchFamily="18" charset="0"/>
            </a:rPr>
            <a:t>Select optical imaging sensor that aligns with the mission requirements considering factors such as sensor type, resolution, and spectral sensitivity.  </a:t>
          </a:r>
        </a:p>
        <a:p>
          <a:pPr marL="114300" lvl="1" indent="-114300" algn="just" defTabSz="533400">
            <a:lnSpc>
              <a:spcPct val="90000"/>
            </a:lnSpc>
            <a:spcBef>
              <a:spcPct val="0"/>
            </a:spcBef>
            <a:spcAft>
              <a:spcPct val="15000"/>
            </a:spcAft>
            <a:buChar char="•"/>
          </a:pPr>
          <a:endParaRPr lang="en-US" sz="1200" kern="1200">
            <a:solidFill>
              <a:schemeClr val="tx1"/>
            </a:solidFill>
            <a:latin typeface="Garamond" panose="02020404030301010803" pitchFamily="18" charset="0"/>
          </a:endParaRPr>
        </a:p>
      </dsp:txBody>
      <dsp:txXfrm>
        <a:off x="2852649" y="1745608"/>
        <a:ext cx="6390639" cy="584100"/>
      </dsp:txXfrm>
    </dsp:sp>
    <dsp:sp modelId="{5F514278-B4AC-47B9-8142-F3F6F09BD060}">
      <dsp:nvSpPr>
        <dsp:cNvPr id="0" name=""/>
        <dsp:cNvSpPr/>
      </dsp:nvSpPr>
      <dsp:spPr>
        <a:xfrm>
          <a:off x="154709" y="2520958"/>
          <a:ext cx="2349499"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just" defTabSz="533400">
            <a:lnSpc>
              <a:spcPct val="90000"/>
            </a:lnSpc>
            <a:spcBef>
              <a:spcPct val="0"/>
            </a:spcBef>
            <a:spcAft>
              <a:spcPct val="35000"/>
            </a:spcAft>
            <a:buFont typeface="+mj-lt"/>
            <a:buNone/>
          </a:pPr>
          <a:r>
            <a:rPr lang="en-US" sz="1200" b="1" kern="1200" dirty="0">
              <a:solidFill>
                <a:schemeClr val="tx1"/>
              </a:solidFill>
              <a:latin typeface="Garamond" panose="02020404030301010803" pitchFamily="18" charset="0"/>
            </a:rPr>
            <a:t>Optical and telescope design: </a:t>
          </a:r>
        </a:p>
      </dsp:txBody>
      <dsp:txXfrm>
        <a:off x="154709" y="2520958"/>
        <a:ext cx="2349499" cy="316800"/>
      </dsp:txXfrm>
    </dsp:sp>
    <dsp:sp modelId="{A604904D-E06A-4305-9832-8E341333FD5A}">
      <dsp:nvSpPr>
        <dsp:cNvPr id="0" name=""/>
        <dsp:cNvSpPr/>
      </dsp:nvSpPr>
      <dsp:spPr>
        <a:xfrm>
          <a:off x="2504209" y="2387308"/>
          <a:ext cx="160480" cy="584100"/>
        </a:xfrm>
        <a:prstGeom prst="leftBrace">
          <a:avLst>
            <a:gd name="adj1" fmla="val 35000"/>
            <a:gd name="adj2" fmla="val 50000"/>
          </a:avLst>
        </a:prstGeom>
        <a:solidFill>
          <a:schemeClr val="accent6">
            <a:lumMod val="60000"/>
            <a:lumOff val="40000"/>
          </a:schemeClr>
        </a:solidFill>
        <a:ln w="127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40F1C1AB-7007-48F4-8671-1F9536AD4687}">
      <dsp:nvSpPr>
        <dsp:cNvPr id="0" name=""/>
        <dsp:cNvSpPr/>
      </dsp:nvSpPr>
      <dsp:spPr>
        <a:xfrm>
          <a:off x="2852649" y="2387308"/>
          <a:ext cx="6390639" cy="5841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just" defTabSz="533400">
            <a:lnSpc>
              <a:spcPct val="90000"/>
            </a:lnSpc>
            <a:spcBef>
              <a:spcPct val="0"/>
            </a:spcBef>
            <a:spcAft>
              <a:spcPct val="15000"/>
            </a:spcAft>
            <a:buNone/>
          </a:pPr>
          <a:r>
            <a:rPr lang="en-US" sz="1200" kern="1200" dirty="0">
              <a:solidFill>
                <a:schemeClr val="tx1"/>
              </a:solidFill>
              <a:latin typeface="Garamond" panose="02020404030301010803" pitchFamily="18" charset="0"/>
            </a:rPr>
            <a:t>Preliminary design of optical system including telescope or lens assembly considering parameters like focal length, aperture size, FOV and conduct basic optical simulations to assess system performance</a:t>
          </a:r>
        </a:p>
        <a:p>
          <a:pPr marL="114300" lvl="1" indent="-114300" algn="just" defTabSz="533400">
            <a:lnSpc>
              <a:spcPct val="90000"/>
            </a:lnSpc>
            <a:spcBef>
              <a:spcPct val="0"/>
            </a:spcBef>
            <a:spcAft>
              <a:spcPct val="15000"/>
            </a:spcAft>
            <a:buChar char="•"/>
          </a:pPr>
          <a:endParaRPr lang="en-US" sz="1200" kern="1200">
            <a:solidFill>
              <a:schemeClr val="tx1"/>
            </a:solidFill>
            <a:latin typeface="Garamond" panose="02020404030301010803" pitchFamily="18" charset="0"/>
          </a:endParaRPr>
        </a:p>
      </dsp:txBody>
      <dsp:txXfrm>
        <a:off x="2852649" y="2387308"/>
        <a:ext cx="6390639" cy="584100"/>
      </dsp:txXfrm>
    </dsp:sp>
    <dsp:sp modelId="{14DADFE5-B6E0-437A-8EF0-97C398C9325E}">
      <dsp:nvSpPr>
        <dsp:cNvPr id="0" name=""/>
        <dsp:cNvSpPr/>
      </dsp:nvSpPr>
      <dsp:spPr>
        <a:xfrm>
          <a:off x="154709" y="3162658"/>
          <a:ext cx="2349499"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just" defTabSz="533400">
            <a:lnSpc>
              <a:spcPct val="90000"/>
            </a:lnSpc>
            <a:spcBef>
              <a:spcPct val="0"/>
            </a:spcBef>
            <a:spcAft>
              <a:spcPct val="35000"/>
            </a:spcAft>
            <a:buFont typeface="+mj-lt"/>
            <a:buNone/>
          </a:pPr>
          <a:r>
            <a:rPr lang="en-US" sz="1200" b="1" kern="1200" dirty="0">
              <a:solidFill>
                <a:schemeClr val="tx1"/>
              </a:solidFill>
              <a:latin typeface="Garamond" panose="02020404030301010803" pitchFamily="18" charset="0"/>
            </a:rPr>
            <a:t>Electronics and control system:</a:t>
          </a:r>
        </a:p>
      </dsp:txBody>
      <dsp:txXfrm>
        <a:off x="154709" y="3162658"/>
        <a:ext cx="2349499" cy="316800"/>
      </dsp:txXfrm>
    </dsp:sp>
    <dsp:sp modelId="{87A91E21-2921-47BC-8C85-9CB352EB7DB1}">
      <dsp:nvSpPr>
        <dsp:cNvPr id="0" name=""/>
        <dsp:cNvSpPr/>
      </dsp:nvSpPr>
      <dsp:spPr>
        <a:xfrm>
          <a:off x="2504209" y="3029008"/>
          <a:ext cx="160480" cy="584100"/>
        </a:xfrm>
        <a:prstGeom prst="leftBrace">
          <a:avLst>
            <a:gd name="adj1" fmla="val 35000"/>
            <a:gd name="adj2" fmla="val 50000"/>
          </a:avLst>
        </a:prstGeom>
        <a:solidFill>
          <a:schemeClr val="accent6">
            <a:lumMod val="60000"/>
            <a:lumOff val="40000"/>
          </a:schemeClr>
        </a:solidFill>
        <a:ln w="127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85E380D2-2E63-4B80-BA6E-57F0A4860C13}">
      <dsp:nvSpPr>
        <dsp:cNvPr id="0" name=""/>
        <dsp:cNvSpPr/>
      </dsp:nvSpPr>
      <dsp:spPr>
        <a:xfrm>
          <a:off x="2852649" y="3029008"/>
          <a:ext cx="6390639" cy="58410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just" defTabSz="533400">
            <a:lnSpc>
              <a:spcPct val="90000"/>
            </a:lnSpc>
            <a:spcBef>
              <a:spcPct val="0"/>
            </a:spcBef>
            <a:spcAft>
              <a:spcPct val="15000"/>
            </a:spcAft>
            <a:buNone/>
          </a:pPr>
          <a:r>
            <a:rPr lang="en-US" sz="1200" kern="1200" dirty="0">
              <a:solidFill>
                <a:schemeClr val="tx1"/>
              </a:solidFill>
              <a:latin typeface="Garamond" panose="02020404030301010803" pitchFamily="18" charset="0"/>
            </a:rPr>
            <a:t>Preliminary design of electronic and control components including power management, imaging acquisition, data storage and on-board processing.</a:t>
          </a:r>
        </a:p>
        <a:p>
          <a:pPr marL="114300" lvl="1" indent="-114300" algn="just" defTabSz="533400">
            <a:lnSpc>
              <a:spcPct val="90000"/>
            </a:lnSpc>
            <a:spcBef>
              <a:spcPct val="0"/>
            </a:spcBef>
            <a:spcAft>
              <a:spcPct val="15000"/>
            </a:spcAft>
            <a:buChar char="•"/>
          </a:pPr>
          <a:endParaRPr lang="en-US" sz="1200" kern="1200">
            <a:solidFill>
              <a:schemeClr val="tx1"/>
            </a:solidFill>
            <a:latin typeface="Garamond" panose="02020404030301010803" pitchFamily="18" charset="0"/>
          </a:endParaRPr>
        </a:p>
      </dsp:txBody>
      <dsp:txXfrm>
        <a:off x="2852649" y="3029008"/>
        <a:ext cx="6390639" cy="584100"/>
      </dsp:txXfrm>
    </dsp:sp>
    <dsp:sp modelId="{F2C4C2C2-C27F-46A9-9A09-529069FAC5F5}">
      <dsp:nvSpPr>
        <dsp:cNvPr id="0" name=""/>
        <dsp:cNvSpPr/>
      </dsp:nvSpPr>
      <dsp:spPr>
        <a:xfrm>
          <a:off x="154709" y="3888508"/>
          <a:ext cx="2349499"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just" defTabSz="533400">
            <a:lnSpc>
              <a:spcPct val="90000"/>
            </a:lnSpc>
            <a:spcBef>
              <a:spcPct val="0"/>
            </a:spcBef>
            <a:spcAft>
              <a:spcPct val="35000"/>
            </a:spcAft>
            <a:buFont typeface="+mj-lt"/>
            <a:buNone/>
          </a:pPr>
          <a:r>
            <a:rPr lang="en-US" sz="1200" b="1" kern="1200" dirty="0">
              <a:solidFill>
                <a:schemeClr val="tx1"/>
              </a:solidFill>
              <a:latin typeface="Garamond" panose="02020404030301010803" pitchFamily="18" charset="0"/>
            </a:rPr>
            <a:t>Mechanical design concept:</a:t>
          </a:r>
        </a:p>
      </dsp:txBody>
      <dsp:txXfrm>
        <a:off x="154709" y="3888508"/>
        <a:ext cx="2349499" cy="316800"/>
      </dsp:txXfrm>
    </dsp:sp>
    <dsp:sp modelId="{0F21D7A6-BF4D-4E68-96A9-854908E04C33}">
      <dsp:nvSpPr>
        <dsp:cNvPr id="0" name=""/>
        <dsp:cNvSpPr/>
      </dsp:nvSpPr>
      <dsp:spPr>
        <a:xfrm>
          <a:off x="2504209" y="3670708"/>
          <a:ext cx="160480" cy="752400"/>
        </a:xfrm>
        <a:prstGeom prst="leftBrace">
          <a:avLst>
            <a:gd name="adj1" fmla="val 35000"/>
            <a:gd name="adj2" fmla="val 50000"/>
          </a:avLst>
        </a:prstGeom>
        <a:solidFill>
          <a:schemeClr val="accent6">
            <a:lumMod val="60000"/>
            <a:lumOff val="40000"/>
          </a:schemeClr>
        </a:solidFill>
        <a:ln w="127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604A89B4-709B-4B55-8087-505D68C2C732}">
      <dsp:nvSpPr>
        <dsp:cNvPr id="0" name=""/>
        <dsp:cNvSpPr/>
      </dsp:nvSpPr>
      <dsp:spPr>
        <a:xfrm>
          <a:off x="2848680" y="3598628"/>
          <a:ext cx="6390639" cy="75240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just" defTabSz="533400">
            <a:lnSpc>
              <a:spcPct val="90000"/>
            </a:lnSpc>
            <a:spcBef>
              <a:spcPct val="0"/>
            </a:spcBef>
            <a:spcAft>
              <a:spcPct val="15000"/>
            </a:spcAft>
            <a:buNone/>
          </a:pPr>
          <a:r>
            <a:rPr lang="en-US" sz="1200" kern="1200" dirty="0">
              <a:solidFill>
                <a:schemeClr val="tx1"/>
              </a:solidFill>
              <a:latin typeface="Garamond" panose="02020404030301010803" pitchFamily="18" charset="0"/>
            </a:rPr>
            <a:t>Preliminary design mechanical structure of imaging payload system with 3U CubeSat form factor and weight constraints considering  structural stability, thermal management and alignment of optical components.</a:t>
          </a:r>
        </a:p>
        <a:p>
          <a:pPr marL="114300" lvl="1" indent="-114300" algn="just" defTabSz="533400">
            <a:lnSpc>
              <a:spcPct val="90000"/>
            </a:lnSpc>
            <a:spcBef>
              <a:spcPct val="0"/>
            </a:spcBef>
            <a:spcAft>
              <a:spcPct val="15000"/>
            </a:spcAft>
            <a:buChar char="•"/>
          </a:pPr>
          <a:endParaRPr lang="en-US" sz="1200" kern="1200" dirty="0">
            <a:solidFill>
              <a:schemeClr val="tx1"/>
            </a:solidFill>
            <a:latin typeface="Garamond" panose="02020404030301010803" pitchFamily="18" charset="0"/>
          </a:endParaRPr>
        </a:p>
      </dsp:txBody>
      <dsp:txXfrm>
        <a:off x="2848680" y="3598628"/>
        <a:ext cx="6390639" cy="752400"/>
      </dsp:txXfrm>
    </dsp:sp>
    <dsp:sp modelId="{9855D568-70A1-4D8F-9584-C2D3A82658CC}">
      <dsp:nvSpPr>
        <dsp:cNvPr id="0" name=""/>
        <dsp:cNvSpPr/>
      </dsp:nvSpPr>
      <dsp:spPr>
        <a:xfrm>
          <a:off x="154709" y="4614358"/>
          <a:ext cx="2349499"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just" defTabSz="533400">
            <a:lnSpc>
              <a:spcPct val="90000"/>
            </a:lnSpc>
            <a:spcBef>
              <a:spcPct val="0"/>
            </a:spcBef>
            <a:spcAft>
              <a:spcPct val="35000"/>
            </a:spcAft>
            <a:buFont typeface="+mj-lt"/>
            <a:buNone/>
          </a:pPr>
          <a:r>
            <a:rPr lang="en-US" sz="1200" b="1" kern="1200" dirty="0">
              <a:solidFill>
                <a:schemeClr val="tx1"/>
              </a:solidFill>
              <a:latin typeface="Garamond" panose="02020404030301010803" pitchFamily="18" charset="0"/>
            </a:rPr>
            <a:t>Performance evaluation</a:t>
          </a:r>
        </a:p>
      </dsp:txBody>
      <dsp:txXfrm>
        <a:off x="154709" y="4614358"/>
        <a:ext cx="2349499" cy="316800"/>
      </dsp:txXfrm>
    </dsp:sp>
    <dsp:sp modelId="{F2A8B844-1018-415D-AD6D-A4A97AE21D7E}">
      <dsp:nvSpPr>
        <dsp:cNvPr id="0" name=""/>
        <dsp:cNvSpPr/>
      </dsp:nvSpPr>
      <dsp:spPr>
        <a:xfrm>
          <a:off x="2504209" y="4480708"/>
          <a:ext cx="160480" cy="584100"/>
        </a:xfrm>
        <a:prstGeom prst="leftBrace">
          <a:avLst>
            <a:gd name="adj1" fmla="val 35000"/>
            <a:gd name="adj2" fmla="val 50000"/>
          </a:avLst>
        </a:prstGeom>
        <a:solidFill>
          <a:schemeClr val="accent6">
            <a:lumMod val="60000"/>
            <a:lumOff val="40000"/>
          </a:schemeClr>
        </a:solidFill>
        <a:ln w="127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55069ABA-44AD-45CB-B964-7C34D16F3429}">
      <dsp:nvSpPr>
        <dsp:cNvPr id="0" name=""/>
        <dsp:cNvSpPr/>
      </dsp:nvSpPr>
      <dsp:spPr>
        <a:xfrm>
          <a:off x="2852649" y="4480708"/>
          <a:ext cx="6390639" cy="58410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just" defTabSz="533400">
            <a:lnSpc>
              <a:spcPct val="90000"/>
            </a:lnSpc>
            <a:spcBef>
              <a:spcPct val="0"/>
            </a:spcBef>
            <a:spcAft>
              <a:spcPct val="15000"/>
            </a:spcAft>
            <a:buNone/>
          </a:pPr>
          <a:r>
            <a:rPr lang="en-US" sz="1200" kern="1200" dirty="0">
              <a:solidFill>
                <a:schemeClr val="tx1"/>
              </a:solidFill>
              <a:latin typeface="Garamond" panose="02020404030301010803" pitchFamily="18" charset="0"/>
            </a:rPr>
            <a:t>Preliminary performance evaluations, including optical simulations and analysis, to assess imaging payload capabilities and alignment with mission requirements </a:t>
          </a:r>
        </a:p>
        <a:p>
          <a:pPr marL="114300" lvl="1" indent="-114300" algn="just" defTabSz="533400">
            <a:lnSpc>
              <a:spcPct val="90000"/>
            </a:lnSpc>
            <a:spcBef>
              <a:spcPct val="0"/>
            </a:spcBef>
            <a:spcAft>
              <a:spcPct val="15000"/>
            </a:spcAft>
            <a:buNone/>
          </a:pPr>
          <a:endParaRPr lang="en-US" sz="1200" kern="1200" dirty="0">
            <a:solidFill>
              <a:schemeClr val="tx1"/>
            </a:solidFill>
            <a:latin typeface="Garamond" panose="02020404030301010803" pitchFamily="18" charset="0"/>
          </a:endParaRPr>
        </a:p>
      </dsp:txBody>
      <dsp:txXfrm>
        <a:off x="2852649" y="4480708"/>
        <a:ext cx="6390639" cy="584100"/>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6FB1332-8D9D-4D17-BDA8-7BF28D333A5F}" type="datetimeFigureOut">
              <a:rPr lang="en-US" smtClean="0"/>
              <a:t>9/6/2023</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7A2DA8AD-93C9-4955-8AD0-38439BC90832}" type="slidenum">
              <a:rPr lang="en-US" smtClean="0"/>
              <a:t>‹#›</a:t>
            </a:fld>
            <a:endParaRPr lang="en-US"/>
          </a:p>
        </p:txBody>
      </p:sp>
    </p:spTree>
    <p:extLst>
      <p:ext uri="{BB962C8B-B14F-4D97-AF65-F5344CB8AC3E}">
        <p14:creationId xmlns:p14="http://schemas.microsoft.com/office/powerpoint/2010/main" val="4014744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a:t>
            </a:r>
          </a:p>
          <a:p>
            <a:pPr marL="228600" indent="-228600">
              <a:buAutoNum type="arabicPeriod"/>
            </a:pPr>
            <a:r>
              <a:rPr lang="en-US" dirty="0"/>
              <a:t>https://www.reuters.com/business/environment/south-korea-city-wildfire-fanned-by-strong-winds-evacuations-begin-2023-04-11/</a:t>
            </a:r>
          </a:p>
          <a:p>
            <a:pPr marL="228600" indent="-228600">
              <a:buAutoNum type="arabicPeriod"/>
            </a:pPr>
            <a:r>
              <a:rPr lang="en-US" dirty="0"/>
              <a:t>https://disasterphilanthropy.org/disasters/south-korean-wildfires/</a:t>
            </a:r>
          </a:p>
        </p:txBody>
      </p:sp>
      <p:sp>
        <p:nvSpPr>
          <p:cNvPr id="4" name="Slide Number Placeholder 3"/>
          <p:cNvSpPr>
            <a:spLocks noGrp="1"/>
          </p:cNvSpPr>
          <p:nvPr>
            <p:ph type="sldNum" sz="quarter" idx="5"/>
          </p:nvPr>
        </p:nvSpPr>
        <p:spPr/>
        <p:txBody>
          <a:bodyPr/>
          <a:lstStyle/>
          <a:p>
            <a:fld id="{7A2DA8AD-93C9-4955-8AD0-38439BC90832}" type="slidenum">
              <a:rPr lang="en-US" smtClean="0"/>
              <a:t>2</a:t>
            </a:fld>
            <a:endParaRPr lang="en-US"/>
          </a:p>
        </p:txBody>
      </p:sp>
    </p:spTree>
    <p:extLst>
      <p:ext uri="{BB962C8B-B14F-4D97-AF65-F5344CB8AC3E}">
        <p14:creationId xmlns:p14="http://schemas.microsoft.com/office/powerpoint/2010/main" val="3130568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Optical aberrations are the deviations from the geometric optics that are mainly caused by faults in optical lenses. The main types of aberrations are spherical, comatic , distortion, astigmatism, field curvature and chromatic aberration.  </a:t>
            </a:r>
          </a:p>
          <a:p>
            <a:r>
              <a:rPr lang="en-US" dirty="0"/>
              <a:t>Comatic aberration is caused by off-axis light fluxes and is regarded as the worst among aberrations due to the symmetry of the image that it causes.</a:t>
            </a:r>
          </a:p>
        </p:txBody>
      </p:sp>
      <p:sp>
        <p:nvSpPr>
          <p:cNvPr id="4" name="Slide Number Placeholder 3"/>
          <p:cNvSpPr>
            <a:spLocks noGrp="1"/>
          </p:cNvSpPr>
          <p:nvPr>
            <p:ph type="sldNum" sz="quarter" idx="5"/>
          </p:nvPr>
        </p:nvSpPr>
        <p:spPr/>
        <p:txBody>
          <a:bodyPr/>
          <a:lstStyle/>
          <a:p>
            <a:fld id="{7A2DA8AD-93C9-4955-8AD0-38439BC90832}" type="slidenum">
              <a:rPr lang="en-US" smtClean="0"/>
              <a:t>3</a:t>
            </a:fld>
            <a:endParaRPr lang="en-US"/>
          </a:p>
        </p:txBody>
      </p:sp>
    </p:spTree>
    <p:extLst>
      <p:ext uri="{BB962C8B-B14F-4D97-AF65-F5344CB8AC3E}">
        <p14:creationId xmlns:p14="http://schemas.microsoft.com/office/powerpoint/2010/main" val="420638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Optical aberrations are the deviations from the geometric optics that are mainly caused by faults in optical lenses. The main types of aberrations are spherical, comatic , distortion, astigmatism, field curvature and chromatic aberration.  </a:t>
            </a:r>
          </a:p>
          <a:p>
            <a:r>
              <a:rPr lang="en-US" dirty="0"/>
              <a:t>Comatic aberration is caused by off-axis light fluxes and is regarded as the worst among aberrations due to the symmetry of the image that it causes.</a:t>
            </a:r>
          </a:p>
        </p:txBody>
      </p:sp>
      <p:sp>
        <p:nvSpPr>
          <p:cNvPr id="4" name="Slide Number Placeholder 3"/>
          <p:cNvSpPr>
            <a:spLocks noGrp="1"/>
          </p:cNvSpPr>
          <p:nvPr>
            <p:ph type="sldNum" sz="quarter" idx="5"/>
          </p:nvPr>
        </p:nvSpPr>
        <p:spPr/>
        <p:txBody>
          <a:bodyPr/>
          <a:lstStyle/>
          <a:p>
            <a:fld id="{7A2DA8AD-93C9-4955-8AD0-38439BC90832}" type="slidenum">
              <a:rPr lang="en-US" smtClean="0"/>
              <a:t>4</a:t>
            </a:fld>
            <a:endParaRPr lang="en-US"/>
          </a:p>
        </p:txBody>
      </p:sp>
    </p:spTree>
    <p:extLst>
      <p:ext uri="{BB962C8B-B14F-4D97-AF65-F5344CB8AC3E}">
        <p14:creationId xmlns:p14="http://schemas.microsoft.com/office/powerpoint/2010/main" val="2682524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Optical aberrations are the deviations from the geometric optics that are mainly caused by faults in optical lenses. The main types of aberrations are spherical, comatic , distortion, astigmatism, field curvature and chromatic aberration.  </a:t>
            </a:r>
          </a:p>
          <a:p>
            <a:r>
              <a:rPr lang="en-US" dirty="0"/>
              <a:t>Comatic aberration is caused by off-axis light fluxes and is regarded as the worst among aberrations due to the symmetry of the image that it causes.</a:t>
            </a:r>
          </a:p>
        </p:txBody>
      </p:sp>
      <p:sp>
        <p:nvSpPr>
          <p:cNvPr id="4" name="Slide Number Placeholder 3"/>
          <p:cNvSpPr>
            <a:spLocks noGrp="1"/>
          </p:cNvSpPr>
          <p:nvPr>
            <p:ph type="sldNum" sz="quarter" idx="5"/>
          </p:nvPr>
        </p:nvSpPr>
        <p:spPr/>
        <p:txBody>
          <a:bodyPr/>
          <a:lstStyle/>
          <a:p>
            <a:fld id="{7A2DA8AD-93C9-4955-8AD0-38439BC90832}" type="slidenum">
              <a:rPr lang="en-US" smtClean="0"/>
              <a:t>8</a:t>
            </a:fld>
            <a:endParaRPr lang="en-US"/>
          </a:p>
        </p:txBody>
      </p:sp>
    </p:spTree>
    <p:extLst>
      <p:ext uri="{BB962C8B-B14F-4D97-AF65-F5344CB8AC3E}">
        <p14:creationId xmlns:p14="http://schemas.microsoft.com/office/powerpoint/2010/main" val="3956647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F6EE-9A47-4723-8B60-821A8F932C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B7AF60-6887-47EE-B7B3-D5D7F705B5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17CDDE-4CEE-4F8C-8B33-36838BCADCFE}"/>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5" name="Footer Placeholder 4">
            <a:extLst>
              <a:ext uri="{FF2B5EF4-FFF2-40B4-BE49-F238E27FC236}">
                <a16:creationId xmlns:a16="http://schemas.microsoft.com/office/drawing/2014/main" id="{501346B8-67AC-4A7F-9722-3D21A1E931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111A25-BD98-413C-8EA7-D5798E621198}"/>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4136874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EC279-61AE-41DB-A41E-773C7592BF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B39C0-19CD-40BD-8372-520B0E5055D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CF68E8-45CA-4781-A70B-7264C9D915EA}"/>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5" name="Footer Placeholder 4">
            <a:extLst>
              <a:ext uri="{FF2B5EF4-FFF2-40B4-BE49-F238E27FC236}">
                <a16:creationId xmlns:a16="http://schemas.microsoft.com/office/drawing/2014/main" id="{1794C3EC-4D66-4EAE-91AB-352ECF4A03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18A74-3DE4-4052-B6B4-C674194ECADB}"/>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3953613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4B2D9-1EEC-4071-AA5A-747C59F9E4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2DC2D6-01F0-4CBD-9784-F54DD134A1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E751D77-C8D9-40EA-8878-F5D5A2AC5CB1}"/>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5" name="Footer Placeholder 4">
            <a:extLst>
              <a:ext uri="{FF2B5EF4-FFF2-40B4-BE49-F238E27FC236}">
                <a16:creationId xmlns:a16="http://schemas.microsoft.com/office/drawing/2014/main" id="{E4220925-5D23-4710-B8FE-979CA55B9D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2DD1A-E741-437F-91F5-CB20A0C911FC}"/>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861581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F1E03-1AE4-4B92-A127-E3BCF9D126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34A8F6-4332-417D-B77B-4B89D873A3A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9C4688-F803-4BFC-B606-F28C04DF2EB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21888A-0AED-460E-ADBF-48C9604D6999}"/>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6" name="Footer Placeholder 5">
            <a:extLst>
              <a:ext uri="{FF2B5EF4-FFF2-40B4-BE49-F238E27FC236}">
                <a16:creationId xmlns:a16="http://schemas.microsoft.com/office/drawing/2014/main" id="{692A846F-D43D-40BA-B526-781BED24FF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60E6EC-3EAC-4343-A6E5-D068FEDDFFA0}"/>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3141279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E631-1EEA-4FED-B03F-63B733698B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BBB6DF-2549-4E5C-B6BB-64E4F84C76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AA12059-A45A-4839-96CE-2F96CD7F287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0ED588-B74C-4369-BD5F-10DBEC79DF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A4EE468-62D3-481B-927B-015C961A799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2D6C8E-8D36-495A-AA44-574A401B2128}"/>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8" name="Footer Placeholder 7">
            <a:extLst>
              <a:ext uri="{FF2B5EF4-FFF2-40B4-BE49-F238E27FC236}">
                <a16:creationId xmlns:a16="http://schemas.microsoft.com/office/drawing/2014/main" id="{13B1E7B6-717A-4FCF-83B9-8776AC1E04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0B46DB-CD00-47D0-8B06-EF50F767F8BA}"/>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1819951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E704-8F8A-491E-858C-CD7886DE03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563F88-05D4-41AE-91BE-916C869F88C5}"/>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4" name="Footer Placeholder 3">
            <a:extLst>
              <a:ext uri="{FF2B5EF4-FFF2-40B4-BE49-F238E27FC236}">
                <a16:creationId xmlns:a16="http://schemas.microsoft.com/office/drawing/2014/main" id="{059DB81B-8098-48FF-9C3B-BD076BDA55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C8FFA1-B6BE-4D97-819B-70AFDFF60D3D}"/>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1281859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0132E6-5D46-42F3-9495-5C4E10F7ADFC}"/>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3" name="Footer Placeholder 2">
            <a:extLst>
              <a:ext uri="{FF2B5EF4-FFF2-40B4-BE49-F238E27FC236}">
                <a16:creationId xmlns:a16="http://schemas.microsoft.com/office/drawing/2014/main" id="{9ACDB4F1-4351-4DA1-BF3A-2F15C7A1CA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5AC867-D9E4-4E93-A1C0-B2F2B6F74B62}"/>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197330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FCBB-51AB-4C87-A419-7411E12697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6C6DB8-E2D6-4F39-81A1-AD5FCAB15E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495B3F-786F-4C76-9C9A-FA4F6923D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B662745-F2CC-4961-8880-97D087DCB19C}"/>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6" name="Footer Placeholder 5">
            <a:extLst>
              <a:ext uri="{FF2B5EF4-FFF2-40B4-BE49-F238E27FC236}">
                <a16:creationId xmlns:a16="http://schemas.microsoft.com/office/drawing/2014/main" id="{D4188210-62E2-4DBA-B678-F8EDEF6445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9FA12-89FE-4A5B-8161-26F8335D5E16}"/>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3557891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EB2EC-E412-465A-94BF-BA04439A64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31A892-7E8B-4104-B11D-2A2FEACE85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9CE92F-E1A3-4239-A4A5-E3665569D0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1DD2380-B2EE-4D01-99BC-967942AE1813}"/>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6" name="Footer Placeholder 5">
            <a:extLst>
              <a:ext uri="{FF2B5EF4-FFF2-40B4-BE49-F238E27FC236}">
                <a16:creationId xmlns:a16="http://schemas.microsoft.com/office/drawing/2014/main" id="{3B54C9FC-F3A4-4B9F-BED1-891D5AA544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55F6D2-E2F1-490C-A0A4-343D47730828}"/>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144500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01B16-14AD-462A-837C-45F6B55191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1C42A4-41F1-427F-95DA-60A073AC372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0CD5A3-5B28-46B6-ACFB-E9D615835780}"/>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5" name="Footer Placeholder 4">
            <a:extLst>
              <a:ext uri="{FF2B5EF4-FFF2-40B4-BE49-F238E27FC236}">
                <a16:creationId xmlns:a16="http://schemas.microsoft.com/office/drawing/2014/main" id="{7EB5771A-9288-4BF4-9FF9-F849FF247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09869-EB3A-45B4-ACAF-B68644A8749E}"/>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1896099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BA3A09-E0CE-42B2-81E1-6BF96BD802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139FA1-80CB-4697-8F50-58DDA7AC488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B2CED-DFAF-4331-BEEE-C87B72B2656F}"/>
              </a:ext>
            </a:extLst>
          </p:cNvPr>
          <p:cNvSpPr>
            <a:spLocks noGrp="1"/>
          </p:cNvSpPr>
          <p:nvPr>
            <p:ph type="dt" sz="half" idx="10"/>
          </p:nvPr>
        </p:nvSpPr>
        <p:spPr/>
        <p:txBody>
          <a:bodyPr/>
          <a:lstStyle/>
          <a:p>
            <a:fld id="{28223DC7-CAB2-4772-BE87-99D29BA229A8}" type="datetimeFigureOut">
              <a:rPr lang="en-US" smtClean="0"/>
              <a:t>9/6/2023</a:t>
            </a:fld>
            <a:endParaRPr lang="en-US"/>
          </a:p>
        </p:txBody>
      </p:sp>
      <p:sp>
        <p:nvSpPr>
          <p:cNvPr id="5" name="Footer Placeholder 4">
            <a:extLst>
              <a:ext uri="{FF2B5EF4-FFF2-40B4-BE49-F238E27FC236}">
                <a16:creationId xmlns:a16="http://schemas.microsoft.com/office/drawing/2014/main" id="{5AB85758-95C1-4D73-8B36-88C74E3475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D3C19-289F-4247-A4ED-1D12038C3CC2}"/>
              </a:ext>
            </a:extLst>
          </p:cNvPr>
          <p:cNvSpPr>
            <a:spLocks noGrp="1"/>
          </p:cNvSpPr>
          <p:nvPr>
            <p:ph type="sldNum" sz="quarter" idx="12"/>
          </p:nvPr>
        </p:nvSpPr>
        <p:spPr/>
        <p:txBody>
          <a:bodyPr/>
          <a:lstStyle/>
          <a:p>
            <a:fld id="{A401069D-8609-42E0-A0E3-DD1CAAE437DA}" type="slidenum">
              <a:rPr lang="en-US" smtClean="0"/>
              <a:t>‹#›</a:t>
            </a:fld>
            <a:endParaRPr lang="en-US"/>
          </a:p>
        </p:txBody>
      </p:sp>
    </p:spTree>
    <p:extLst>
      <p:ext uri="{BB962C8B-B14F-4D97-AF65-F5344CB8AC3E}">
        <p14:creationId xmlns:p14="http://schemas.microsoft.com/office/powerpoint/2010/main" val="161363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783DC-DCB0-4B96-966B-BCA8A8A25D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E03DB8-F3E7-4982-AB0F-F2FB77E7E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7E8206-75EF-4B5B-8921-6823B16C9D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223DC7-CAB2-4772-BE87-99D29BA229A8}" type="datetimeFigureOut">
              <a:rPr lang="en-US" smtClean="0"/>
              <a:t>9/6/2023</a:t>
            </a:fld>
            <a:endParaRPr lang="en-US"/>
          </a:p>
        </p:txBody>
      </p:sp>
      <p:sp>
        <p:nvSpPr>
          <p:cNvPr id="5" name="Footer Placeholder 4">
            <a:extLst>
              <a:ext uri="{FF2B5EF4-FFF2-40B4-BE49-F238E27FC236}">
                <a16:creationId xmlns:a16="http://schemas.microsoft.com/office/drawing/2014/main" id="{BC27AB8B-71F8-41D0-8A60-73AD334030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FD0DCE-DE5D-44A3-AD02-4D7C3F627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01069D-8609-42E0-A0E3-DD1CAAE437DA}" type="slidenum">
              <a:rPr lang="en-US" smtClean="0"/>
              <a:t>‹#›</a:t>
            </a:fld>
            <a:endParaRPr lang="en-US"/>
          </a:p>
        </p:txBody>
      </p:sp>
    </p:spTree>
    <p:extLst>
      <p:ext uri="{BB962C8B-B14F-4D97-AF65-F5344CB8AC3E}">
        <p14:creationId xmlns:p14="http://schemas.microsoft.com/office/powerpoint/2010/main" val="3735376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5.8 GHz CubeSat Politech.1 | AMSAT-UK">
            <a:extLst>
              <a:ext uri="{FF2B5EF4-FFF2-40B4-BE49-F238E27FC236}">
                <a16:creationId xmlns:a16="http://schemas.microsoft.com/office/drawing/2014/main" id="{3258CD6A-2E7C-4D77-A563-A335F8D42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565" y="1060103"/>
            <a:ext cx="10927972" cy="522985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683491" y="847288"/>
            <a:ext cx="1080103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a:cxnSpLocks/>
          </p:cNvCxnSpPr>
          <p:nvPr/>
        </p:nvCxnSpPr>
        <p:spPr>
          <a:xfrm>
            <a:off x="461818" y="6414993"/>
            <a:ext cx="11015719" cy="0"/>
          </a:xfrm>
          <a:prstGeom prst="line">
            <a:avLst/>
          </a:prstGeom>
          <a:ln/>
        </p:spPr>
        <p:style>
          <a:lnRef idx="3">
            <a:schemeClr val="accent2"/>
          </a:lnRef>
          <a:fillRef idx="0">
            <a:schemeClr val="accent2"/>
          </a:fillRef>
          <a:effectRef idx="2">
            <a:schemeClr val="accent2"/>
          </a:effectRef>
          <a:fontRef idx="minor">
            <a:schemeClr val="tx1"/>
          </a:fontRef>
        </p:style>
      </p:cxnSp>
      <p:sp>
        <p:nvSpPr>
          <p:cNvPr id="10" name="Title 3">
            <a:extLst>
              <a:ext uri="{FF2B5EF4-FFF2-40B4-BE49-F238E27FC236}">
                <a16:creationId xmlns:a16="http://schemas.microsoft.com/office/drawing/2014/main" id="{FDC7E69B-A5B7-4A03-A1D8-95EE61D2158B}"/>
              </a:ext>
            </a:extLst>
          </p:cNvPr>
          <p:cNvSpPr txBox="1">
            <a:spLocks/>
          </p:cNvSpPr>
          <p:nvPr/>
        </p:nvSpPr>
        <p:spPr>
          <a:xfrm>
            <a:off x="683491" y="376858"/>
            <a:ext cx="10801037"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highlight>
                  <a:srgbClr val="C0C0C0"/>
                </a:highlight>
                <a:latin typeface="Garamond" panose="02020404030301010803" pitchFamily="18" charset="0"/>
              </a:rPr>
              <a:t>Preliminary design and performance evaluation CubeSat optical imaging payload system</a:t>
            </a:r>
            <a:endParaRPr lang="en-US" sz="2800" dirty="0">
              <a:latin typeface="Garamond" panose="02020404030301010803" pitchFamily="18" charset="0"/>
            </a:endParaRPr>
          </a:p>
        </p:txBody>
      </p:sp>
      <p:graphicFrame>
        <p:nvGraphicFramePr>
          <p:cNvPr id="11" name="Diagram 10">
            <a:extLst>
              <a:ext uri="{FF2B5EF4-FFF2-40B4-BE49-F238E27FC236}">
                <a16:creationId xmlns:a16="http://schemas.microsoft.com/office/drawing/2014/main" id="{441B170D-B6A5-436E-8D0A-9A73E45D1773}"/>
              </a:ext>
            </a:extLst>
          </p:cNvPr>
          <p:cNvGraphicFramePr/>
          <p:nvPr>
            <p:extLst>
              <p:ext uri="{D42A27DB-BD31-4B8C-83A1-F6EECF244321}">
                <p14:modId xmlns:p14="http://schemas.microsoft.com/office/powerpoint/2010/main" val="2459045611"/>
              </p:ext>
            </p:extLst>
          </p:nvPr>
        </p:nvGraphicFramePr>
        <p:xfrm>
          <a:off x="1076039" y="1108364"/>
          <a:ext cx="9397999" cy="50690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Arrow: Down 15">
            <a:extLst>
              <a:ext uri="{FF2B5EF4-FFF2-40B4-BE49-F238E27FC236}">
                <a16:creationId xmlns:a16="http://schemas.microsoft.com/office/drawing/2014/main" id="{D9F15753-0AFA-4355-AAFA-DAAB12A5F216}"/>
              </a:ext>
            </a:extLst>
          </p:cNvPr>
          <p:cNvSpPr/>
          <p:nvPr/>
        </p:nvSpPr>
        <p:spPr>
          <a:xfrm>
            <a:off x="2198252" y="2717653"/>
            <a:ext cx="143171" cy="293405"/>
          </a:xfrm>
          <a:prstGeom prst="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en-US"/>
          </a:p>
        </p:txBody>
      </p:sp>
      <p:sp>
        <p:nvSpPr>
          <p:cNvPr id="17" name="Arrow: Down 16">
            <a:extLst>
              <a:ext uri="{FF2B5EF4-FFF2-40B4-BE49-F238E27FC236}">
                <a16:creationId xmlns:a16="http://schemas.microsoft.com/office/drawing/2014/main" id="{C91F6A6C-AEEF-4313-8CBB-F53ED45481E9}"/>
              </a:ext>
            </a:extLst>
          </p:cNvPr>
          <p:cNvSpPr/>
          <p:nvPr/>
        </p:nvSpPr>
        <p:spPr>
          <a:xfrm>
            <a:off x="2189014" y="3468268"/>
            <a:ext cx="133935" cy="149458"/>
          </a:xfrm>
          <a:prstGeom prst="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en-US"/>
          </a:p>
        </p:txBody>
      </p:sp>
      <p:sp>
        <p:nvSpPr>
          <p:cNvPr id="18" name="Arrow: Down 17">
            <a:extLst>
              <a:ext uri="{FF2B5EF4-FFF2-40B4-BE49-F238E27FC236}">
                <a16:creationId xmlns:a16="http://schemas.microsoft.com/office/drawing/2014/main" id="{81444295-E33E-4CC5-B82D-9E4E6092D882}"/>
              </a:ext>
            </a:extLst>
          </p:cNvPr>
          <p:cNvSpPr/>
          <p:nvPr/>
        </p:nvSpPr>
        <p:spPr>
          <a:xfrm>
            <a:off x="2216723" y="1902703"/>
            <a:ext cx="124699" cy="351702"/>
          </a:xfrm>
          <a:prstGeom prst="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en-US"/>
          </a:p>
        </p:txBody>
      </p:sp>
      <p:sp>
        <p:nvSpPr>
          <p:cNvPr id="19" name="Arrow: Down 18">
            <a:extLst>
              <a:ext uri="{FF2B5EF4-FFF2-40B4-BE49-F238E27FC236}">
                <a16:creationId xmlns:a16="http://schemas.microsoft.com/office/drawing/2014/main" id="{75107D3B-6266-4A0B-BBA7-B74F02CBFF48}"/>
              </a:ext>
            </a:extLst>
          </p:cNvPr>
          <p:cNvSpPr/>
          <p:nvPr/>
        </p:nvSpPr>
        <p:spPr>
          <a:xfrm>
            <a:off x="2189014" y="4122361"/>
            <a:ext cx="133935" cy="140233"/>
          </a:xfrm>
          <a:prstGeom prst="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en-US"/>
          </a:p>
        </p:txBody>
      </p:sp>
      <p:sp>
        <p:nvSpPr>
          <p:cNvPr id="20" name="Arrow: Down 19">
            <a:extLst>
              <a:ext uri="{FF2B5EF4-FFF2-40B4-BE49-F238E27FC236}">
                <a16:creationId xmlns:a16="http://schemas.microsoft.com/office/drawing/2014/main" id="{AB4DC193-981A-44E0-B612-29A91D96409E}"/>
              </a:ext>
            </a:extLst>
          </p:cNvPr>
          <p:cNvSpPr/>
          <p:nvPr/>
        </p:nvSpPr>
        <p:spPr>
          <a:xfrm>
            <a:off x="2189015" y="4752196"/>
            <a:ext cx="115462" cy="193876"/>
          </a:xfrm>
          <a:prstGeom prst="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en-US"/>
          </a:p>
        </p:txBody>
      </p:sp>
      <p:sp>
        <p:nvSpPr>
          <p:cNvPr id="21" name="Arrow: Down 20">
            <a:extLst>
              <a:ext uri="{FF2B5EF4-FFF2-40B4-BE49-F238E27FC236}">
                <a16:creationId xmlns:a16="http://schemas.microsoft.com/office/drawing/2014/main" id="{B617D5CC-16E5-4AC0-A60F-AD99B301114B}"/>
              </a:ext>
            </a:extLst>
          </p:cNvPr>
          <p:cNvSpPr/>
          <p:nvPr/>
        </p:nvSpPr>
        <p:spPr>
          <a:xfrm>
            <a:off x="2189014" y="5444836"/>
            <a:ext cx="115463" cy="203588"/>
          </a:xfrm>
          <a:prstGeom prst="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en-US"/>
          </a:p>
        </p:txBody>
      </p:sp>
      <p:sp>
        <p:nvSpPr>
          <p:cNvPr id="15" name="Rectangle 14">
            <a:extLst>
              <a:ext uri="{FF2B5EF4-FFF2-40B4-BE49-F238E27FC236}">
                <a16:creationId xmlns:a16="http://schemas.microsoft.com/office/drawing/2014/main" id="{2CBAC0D7-2AD7-452E-8642-EDF1DEC6E881}"/>
              </a:ext>
            </a:extLst>
          </p:cNvPr>
          <p:cNvSpPr/>
          <p:nvPr/>
        </p:nvSpPr>
        <p:spPr>
          <a:xfrm>
            <a:off x="1200727" y="1413164"/>
            <a:ext cx="2355273" cy="48953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3" name="Rectangle 22">
            <a:extLst>
              <a:ext uri="{FF2B5EF4-FFF2-40B4-BE49-F238E27FC236}">
                <a16:creationId xmlns:a16="http://schemas.microsoft.com/office/drawing/2014/main" id="{CDCBA7DA-DD69-4821-A400-EA9D4E46C12E}"/>
              </a:ext>
            </a:extLst>
          </p:cNvPr>
          <p:cNvSpPr/>
          <p:nvPr/>
        </p:nvSpPr>
        <p:spPr>
          <a:xfrm>
            <a:off x="1196103" y="2230576"/>
            <a:ext cx="2355273" cy="48953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4" name="Rectangle 23">
            <a:extLst>
              <a:ext uri="{FF2B5EF4-FFF2-40B4-BE49-F238E27FC236}">
                <a16:creationId xmlns:a16="http://schemas.microsoft.com/office/drawing/2014/main" id="{A3A2025D-E926-4E09-8B5B-A8CA0C16D18B}"/>
              </a:ext>
            </a:extLst>
          </p:cNvPr>
          <p:cNvSpPr/>
          <p:nvPr/>
        </p:nvSpPr>
        <p:spPr>
          <a:xfrm>
            <a:off x="1205344" y="2978728"/>
            <a:ext cx="2355273" cy="48953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5" name="Rectangle 24">
            <a:extLst>
              <a:ext uri="{FF2B5EF4-FFF2-40B4-BE49-F238E27FC236}">
                <a16:creationId xmlns:a16="http://schemas.microsoft.com/office/drawing/2014/main" id="{3344C733-AF09-4532-9337-ECB1B886CB73}"/>
              </a:ext>
            </a:extLst>
          </p:cNvPr>
          <p:cNvSpPr/>
          <p:nvPr/>
        </p:nvSpPr>
        <p:spPr>
          <a:xfrm>
            <a:off x="1196115" y="3625276"/>
            <a:ext cx="2355273" cy="48953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6" name="Rectangle 25">
            <a:extLst>
              <a:ext uri="{FF2B5EF4-FFF2-40B4-BE49-F238E27FC236}">
                <a16:creationId xmlns:a16="http://schemas.microsoft.com/office/drawing/2014/main" id="{99144674-3ADF-44D7-8ED2-C6114B22633B}"/>
              </a:ext>
            </a:extLst>
          </p:cNvPr>
          <p:cNvSpPr/>
          <p:nvPr/>
        </p:nvSpPr>
        <p:spPr>
          <a:xfrm>
            <a:off x="1186879" y="4271820"/>
            <a:ext cx="2355273" cy="48953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7" name="Rectangle 26">
            <a:extLst>
              <a:ext uri="{FF2B5EF4-FFF2-40B4-BE49-F238E27FC236}">
                <a16:creationId xmlns:a16="http://schemas.microsoft.com/office/drawing/2014/main" id="{4926EFAE-4611-431D-BF6B-4FEBCA8B3D00}"/>
              </a:ext>
            </a:extLst>
          </p:cNvPr>
          <p:cNvSpPr/>
          <p:nvPr/>
        </p:nvSpPr>
        <p:spPr>
          <a:xfrm>
            <a:off x="1196113" y="4946071"/>
            <a:ext cx="2355273" cy="48953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8" name="Rectangle 27">
            <a:extLst>
              <a:ext uri="{FF2B5EF4-FFF2-40B4-BE49-F238E27FC236}">
                <a16:creationId xmlns:a16="http://schemas.microsoft.com/office/drawing/2014/main" id="{F2E4A57F-1E9D-49E8-85EE-50B98B33A055}"/>
              </a:ext>
            </a:extLst>
          </p:cNvPr>
          <p:cNvSpPr/>
          <p:nvPr/>
        </p:nvSpPr>
        <p:spPr>
          <a:xfrm>
            <a:off x="1205344" y="5620332"/>
            <a:ext cx="2355273" cy="48953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426427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646546" y="1054812"/>
            <a:ext cx="6031346" cy="4489881"/>
          </a:xfrm>
        </p:spPr>
        <p:style>
          <a:lnRef idx="2">
            <a:schemeClr val="accent5"/>
          </a:lnRef>
          <a:fillRef idx="1">
            <a:schemeClr val="lt1"/>
          </a:fillRef>
          <a:effectRef idx="0">
            <a:schemeClr val="accent5"/>
          </a:effectRef>
          <a:fontRef idx="minor">
            <a:schemeClr val="dk1"/>
          </a:fontRef>
        </p:style>
        <p:txBody>
          <a:bodyPr>
            <a:noAutofit/>
          </a:bodyPr>
          <a:lstStyle/>
          <a:p>
            <a:pPr algn="just">
              <a:lnSpc>
                <a:spcPct val="100000"/>
              </a:lnSpc>
              <a:buFont typeface="Wingdings" panose="05000000000000000000" pitchFamily="2" charset="2"/>
              <a:buChar char="§"/>
            </a:pPr>
            <a:r>
              <a:rPr lang="en-US" sz="1400" dirty="0">
                <a:latin typeface="Garamond" panose="02020404030301010803" pitchFamily="18" charset="0"/>
              </a:rPr>
              <a:t>Advancement of CubeSat-based technologies including EO are revolutionizing the way we monitor environmental from form space.</a:t>
            </a:r>
          </a:p>
          <a:p>
            <a:pPr algn="just">
              <a:lnSpc>
                <a:spcPct val="100000"/>
              </a:lnSpc>
              <a:buFont typeface="Wingdings" panose="05000000000000000000" pitchFamily="2" charset="2"/>
              <a:buChar char="§"/>
            </a:pPr>
            <a:r>
              <a:rPr lang="en-US" sz="1400" dirty="0">
                <a:latin typeface="Garamond" panose="02020404030301010803" pitchFamily="18" charset="0"/>
              </a:rPr>
              <a:t>CubeSat can be used for variety of space based environmental monitoring tasks such as:</a:t>
            </a:r>
          </a:p>
          <a:p>
            <a:pPr lvl="1" algn="just">
              <a:lnSpc>
                <a:spcPct val="100000"/>
              </a:lnSpc>
            </a:pPr>
            <a:r>
              <a:rPr lang="en-US" sz="1400" dirty="0">
                <a:latin typeface="Garamond" panose="02020404030301010803" pitchFamily="18" charset="0"/>
              </a:rPr>
              <a:t>Measuring the amount of pollutant in the air and ocean temperature.</a:t>
            </a:r>
          </a:p>
          <a:p>
            <a:pPr lvl="1" algn="just">
              <a:lnSpc>
                <a:spcPct val="100000"/>
              </a:lnSpc>
            </a:pPr>
            <a:r>
              <a:rPr lang="en-US" sz="1400" dirty="0">
                <a:latin typeface="Garamond" panose="02020404030301010803" pitchFamily="18" charset="0"/>
              </a:rPr>
              <a:t>Measuring variation in plant life and land cover.</a:t>
            </a:r>
          </a:p>
          <a:p>
            <a:pPr lvl="1" algn="just">
              <a:lnSpc>
                <a:spcPct val="100000"/>
              </a:lnSpc>
            </a:pPr>
            <a:r>
              <a:rPr lang="en-US" sz="1400" dirty="0">
                <a:latin typeface="Garamond" panose="02020404030301010803" pitchFamily="18" charset="0"/>
              </a:rPr>
              <a:t>Monitoring natural disasters such as wildfires, floods and hurricanes.</a:t>
            </a:r>
          </a:p>
          <a:p>
            <a:pPr algn="just">
              <a:lnSpc>
                <a:spcPct val="100000"/>
              </a:lnSpc>
              <a:buFont typeface="Wingdings" panose="05000000000000000000" pitchFamily="2" charset="2"/>
              <a:buChar char="§"/>
            </a:pPr>
            <a:r>
              <a:rPr lang="en-US" sz="1400" dirty="0">
                <a:latin typeface="Garamond" panose="02020404030301010803" pitchFamily="18" charset="0"/>
              </a:rPr>
              <a:t>The primary mission objective of 3U CubeSat:</a:t>
            </a:r>
          </a:p>
          <a:p>
            <a:pPr lvl="1" algn="just">
              <a:lnSpc>
                <a:spcPct val="100000"/>
              </a:lnSpc>
            </a:pPr>
            <a:r>
              <a:rPr lang="en-US" sz="1400" dirty="0">
                <a:latin typeface="Garamond" panose="02020404030301010803" pitchFamily="18" charset="0"/>
              </a:rPr>
              <a:t>To detect, identify and monitor wildfires through out south Korea including </a:t>
            </a:r>
            <a:r>
              <a:rPr lang="en-US" sz="1400" dirty="0" err="1">
                <a:solidFill>
                  <a:srgbClr val="FF0000"/>
                </a:solidFill>
                <a:latin typeface="Garamond" panose="02020404030301010803" pitchFamily="18" charset="0"/>
              </a:rPr>
              <a:t>Gangneung</a:t>
            </a:r>
            <a:r>
              <a:rPr lang="en-US" sz="1400" dirty="0">
                <a:latin typeface="Garamond" panose="02020404030301010803" pitchFamily="18" charset="0"/>
              </a:rPr>
              <a:t> (eastern coastal city) and </a:t>
            </a:r>
            <a:r>
              <a:rPr lang="en-US" sz="1400" dirty="0" err="1">
                <a:solidFill>
                  <a:srgbClr val="FF0000"/>
                </a:solidFill>
                <a:latin typeface="Garamond" panose="02020404030301010803" pitchFamily="18" charset="0"/>
              </a:rPr>
              <a:t>Uljin</a:t>
            </a:r>
            <a:r>
              <a:rPr lang="en-US" sz="1400" dirty="0">
                <a:solidFill>
                  <a:srgbClr val="FF0000"/>
                </a:solidFill>
                <a:latin typeface="Garamond" panose="02020404030301010803" pitchFamily="18" charset="0"/>
              </a:rPr>
              <a:t> county </a:t>
            </a:r>
            <a:r>
              <a:rPr lang="en-US" sz="1400" dirty="0">
                <a:latin typeface="Garamond" panose="02020404030301010803" pitchFamily="18" charset="0"/>
              </a:rPr>
              <a:t>(seaside area in north </a:t>
            </a:r>
            <a:r>
              <a:rPr lang="en-US" sz="1400" dirty="0" err="1">
                <a:solidFill>
                  <a:srgbClr val="FF0000"/>
                </a:solidFill>
                <a:latin typeface="Garamond" panose="02020404030301010803" pitchFamily="18" charset="0"/>
              </a:rPr>
              <a:t>Gyeongsang</a:t>
            </a:r>
            <a:r>
              <a:rPr lang="en-US" sz="1400" dirty="0">
                <a:solidFill>
                  <a:srgbClr val="FF0000"/>
                </a:solidFill>
                <a:latin typeface="Garamond" panose="02020404030301010803" pitchFamily="18" charset="0"/>
              </a:rPr>
              <a:t> </a:t>
            </a:r>
            <a:r>
              <a:rPr lang="en-US" sz="1400" dirty="0">
                <a:latin typeface="Garamond" panose="02020404030301010803" pitchFamily="18" charset="0"/>
              </a:rPr>
              <a:t>province). </a:t>
            </a:r>
          </a:p>
          <a:p>
            <a:pPr algn="just">
              <a:lnSpc>
                <a:spcPct val="100000"/>
              </a:lnSpc>
              <a:buFont typeface="Wingdings" panose="05000000000000000000" pitchFamily="2" charset="2"/>
              <a:buChar char="§"/>
            </a:pPr>
            <a:r>
              <a:rPr lang="en-US" sz="1400" dirty="0">
                <a:latin typeface="Garamond" panose="02020404030301010803" pitchFamily="18" charset="0"/>
              </a:rPr>
              <a:t>The secondary mission objectives are:</a:t>
            </a:r>
          </a:p>
          <a:p>
            <a:pPr lvl="1" algn="just">
              <a:lnSpc>
                <a:spcPct val="100000"/>
              </a:lnSpc>
            </a:pPr>
            <a:r>
              <a:rPr lang="en-US" sz="1400" dirty="0">
                <a:latin typeface="Garamond" panose="02020404030301010803" pitchFamily="18" charset="0"/>
              </a:rPr>
              <a:t>To collect statistical data on the outbreak and growth of wildfires.</a:t>
            </a:r>
          </a:p>
          <a:p>
            <a:pPr lvl="1" algn="just">
              <a:lnSpc>
                <a:spcPct val="100000"/>
              </a:lnSpc>
            </a:pPr>
            <a:r>
              <a:rPr lang="en-US" sz="1400" dirty="0">
                <a:latin typeface="Garamond" panose="02020404030301010803" pitchFamily="18" charset="0"/>
              </a:rPr>
              <a:t>To monitor forest fires for other foreign countries.</a:t>
            </a:r>
          </a:p>
          <a:p>
            <a:pPr lvl="1" algn="just">
              <a:lnSpc>
                <a:spcPct val="100000"/>
              </a:lnSpc>
            </a:pPr>
            <a:r>
              <a:rPr lang="en-US" sz="1400" dirty="0">
                <a:latin typeface="Garamond" panose="02020404030301010803" pitchFamily="18" charset="0"/>
              </a:rPr>
              <a:t>To collect other forest management data and to demonstrate the public proactive action. </a:t>
            </a:r>
          </a:p>
          <a:p>
            <a:pPr algn="just">
              <a:lnSpc>
                <a:spcPct val="100000"/>
              </a:lnSpc>
              <a:buFont typeface="Wingdings" panose="05000000000000000000" pitchFamily="2" charset="2"/>
              <a:buChar char="§"/>
            </a:pPr>
            <a:endParaRPr lang="en-US" sz="1400" dirty="0">
              <a:latin typeface="Garamond" panose="02020404030301010803" pitchFamily="18" charset="0"/>
            </a:endParaRPr>
          </a:p>
          <a:p>
            <a:pPr marL="0" indent="0" algn="just">
              <a:lnSpc>
                <a:spcPct val="100000"/>
              </a:lnSpc>
              <a:buNone/>
            </a:pPr>
            <a:endParaRPr lang="en-US" sz="1400" dirty="0">
              <a:latin typeface="Garamond" panose="02020404030301010803" pitchFamily="18" charset="0"/>
            </a:endParaRPr>
          </a:p>
          <a:p>
            <a:pPr marL="457200" lvl="1" indent="0" algn="just">
              <a:lnSpc>
                <a:spcPct val="100000"/>
              </a:lnSpc>
              <a:buNone/>
            </a:pPr>
            <a:endParaRPr lang="en-US" sz="1400" dirty="0">
              <a:latin typeface="Garamond" panose="02020404030301010803" pitchFamily="18" charset="0"/>
            </a:endParaRPr>
          </a:p>
          <a:p>
            <a:pPr lvl="1" algn="just">
              <a:lnSpc>
                <a:spcPct val="100000"/>
              </a:lnSpc>
              <a:buFont typeface="Wingdings" panose="05000000000000000000" pitchFamily="2" charset="2"/>
              <a:buChar char="§"/>
            </a:pPr>
            <a:endParaRPr lang="en-US" sz="1400" dirty="0">
              <a:latin typeface="Garamond" panose="02020404030301010803" pitchFamily="18" charset="0"/>
            </a:endParaRP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498764" y="708746"/>
            <a:ext cx="11268363"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405760"/>
            <a:ext cx="10452682" cy="0"/>
          </a:xfrm>
          <a:prstGeom prst="line">
            <a:avLst/>
          </a:prstGeom>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mc:Choice xmlns:a14="http://schemas.microsoft.com/office/drawing/2010/main" Requires="a14">
          <p:graphicFrame>
            <p:nvGraphicFramePr>
              <p:cNvPr id="19" name="Table 18">
                <a:extLst>
                  <a:ext uri="{FF2B5EF4-FFF2-40B4-BE49-F238E27FC236}">
                    <a16:creationId xmlns:a16="http://schemas.microsoft.com/office/drawing/2014/main" id="{C497744D-AEE4-445C-B6F8-7CC56A4883B9}"/>
                  </a:ext>
                </a:extLst>
              </p:cNvPr>
              <p:cNvGraphicFramePr>
                <a:graphicFrameLocks noGrp="1"/>
              </p:cNvGraphicFramePr>
              <p:nvPr>
                <p:extLst>
                  <p:ext uri="{D42A27DB-BD31-4B8C-83A1-F6EECF244321}">
                    <p14:modId xmlns:p14="http://schemas.microsoft.com/office/powerpoint/2010/main" val="916665769"/>
                  </p:ext>
                </p:extLst>
              </p:nvPr>
            </p:nvGraphicFramePr>
            <p:xfrm>
              <a:off x="6734093" y="1393368"/>
              <a:ext cx="4959144" cy="4151301"/>
            </p:xfrm>
            <a:graphic>
              <a:graphicData uri="http://schemas.openxmlformats.org/drawingml/2006/table">
                <a:tbl>
                  <a:tblPr firstRow="1" bandRow="1">
                    <a:tableStyleId>{69C7853C-536D-4A76-A0AE-DD22124D55A5}</a:tableStyleId>
                  </a:tblPr>
                  <a:tblGrid>
                    <a:gridCol w="1037368">
                      <a:extLst>
                        <a:ext uri="{9D8B030D-6E8A-4147-A177-3AD203B41FA5}">
                          <a16:colId xmlns:a16="http://schemas.microsoft.com/office/drawing/2014/main" val="1330455166"/>
                        </a:ext>
                      </a:extLst>
                    </a:gridCol>
                    <a:gridCol w="1307884">
                      <a:extLst>
                        <a:ext uri="{9D8B030D-6E8A-4147-A177-3AD203B41FA5}">
                          <a16:colId xmlns:a16="http://schemas.microsoft.com/office/drawing/2014/main" val="3368611295"/>
                        </a:ext>
                      </a:extLst>
                    </a:gridCol>
                    <a:gridCol w="1496883">
                      <a:extLst>
                        <a:ext uri="{9D8B030D-6E8A-4147-A177-3AD203B41FA5}">
                          <a16:colId xmlns:a16="http://schemas.microsoft.com/office/drawing/2014/main" val="596589849"/>
                        </a:ext>
                      </a:extLst>
                    </a:gridCol>
                    <a:gridCol w="1117009">
                      <a:extLst>
                        <a:ext uri="{9D8B030D-6E8A-4147-A177-3AD203B41FA5}">
                          <a16:colId xmlns:a16="http://schemas.microsoft.com/office/drawing/2014/main" val="2059522777"/>
                        </a:ext>
                      </a:extLst>
                    </a:gridCol>
                  </a:tblGrid>
                  <a:tr h="314613">
                    <a:tc>
                      <a:txBody>
                        <a:bodyPr/>
                        <a:lstStyle/>
                        <a:p>
                          <a:r>
                            <a:rPr lang="en-US" sz="1400" dirty="0">
                              <a:latin typeface="Garamond" panose="02020404030301010803" pitchFamily="18" charset="0"/>
                            </a:rPr>
                            <a:t>Volume </a:t>
                          </a:r>
                        </a:p>
                      </a:txBody>
                      <a:tcPr>
                        <a:solidFill>
                          <a:schemeClr val="accent5">
                            <a:lumMod val="60000"/>
                            <a:lumOff val="40000"/>
                          </a:schemeClr>
                        </a:solidFill>
                      </a:tcPr>
                    </a:tc>
                    <a:tc>
                      <a:txBody>
                        <a:bodyPr/>
                        <a:lstStyle/>
                        <a:p>
                          <a:r>
                            <a:rPr lang="en-US" sz="1400" dirty="0">
                              <a:latin typeface="Garamond" panose="02020404030301010803" pitchFamily="18" charset="0"/>
                            </a:rPr>
                            <a:t>1.5U</a:t>
                          </a:r>
                        </a:p>
                      </a:txBody>
                      <a:tcPr>
                        <a:solidFill>
                          <a:schemeClr val="accent5">
                            <a:lumMod val="60000"/>
                            <a:lumOff val="40000"/>
                          </a:schemeClr>
                        </a:solidFill>
                      </a:tcPr>
                    </a:tc>
                    <a:tc>
                      <a:txBody>
                        <a:bodyPr/>
                        <a:lstStyle/>
                        <a:p>
                          <a:r>
                            <a:rPr lang="en-US" sz="1400" dirty="0">
                              <a:latin typeface="Garamond" panose="02020404030301010803" pitchFamily="18" charset="0"/>
                            </a:rPr>
                            <a:t>Data storage</a:t>
                          </a:r>
                        </a:p>
                      </a:txBody>
                      <a:tcPr>
                        <a:solidFill>
                          <a:schemeClr val="accent5">
                            <a:lumMod val="60000"/>
                            <a:lumOff val="40000"/>
                          </a:schemeClr>
                        </a:solidFill>
                      </a:tcPr>
                    </a:tc>
                    <a:tc>
                      <a:txBody>
                        <a:bodyPr/>
                        <a:lstStyle/>
                        <a:p>
                          <a:r>
                            <a:rPr lang="en-US" sz="1400" dirty="0">
                              <a:latin typeface="Garamond" panose="02020404030301010803" pitchFamily="18" charset="0"/>
                            </a:rPr>
                            <a:t>½ TB</a:t>
                          </a:r>
                        </a:p>
                      </a:txBody>
                      <a:tcPr>
                        <a:solidFill>
                          <a:schemeClr val="accent5">
                            <a:lumMod val="60000"/>
                            <a:lumOff val="40000"/>
                          </a:schemeClr>
                        </a:solidFill>
                      </a:tcPr>
                    </a:tc>
                    <a:extLst>
                      <a:ext uri="{0D108BD9-81ED-4DB2-BD59-A6C34878D82A}">
                        <a16:rowId xmlns:a16="http://schemas.microsoft.com/office/drawing/2014/main" val="1678785903"/>
                      </a:ext>
                    </a:extLst>
                  </a:tr>
                  <a:tr h="534842">
                    <a:tc>
                      <a:txBody>
                        <a:bodyPr/>
                        <a:lstStyle/>
                        <a:p>
                          <a:r>
                            <a:rPr lang="en-US" sz="1400" dirty="0">
                              <a:latin typeface="Garamond" panose="02020404030301010803" pitchFamily="18" charset="0"/>
                            </a:rPr>
                            <a:t>Spectral bands</a:t>
                          </a:r>
                        </a:p>
                      </a:txBody>
                      <a:tcPr>
                        <a:solidFill>
                          <a:schemeClr val="accent5">
                            <a:lumMod val="60000"/>
                            <a:lumOff val="40000"/>
                          </a:schemeClr>
                        </a:solidFill>
                      </a:tcPr>
                    </a:tc>
                    <a:tc>
                      <a:txBody>
                        <a:bodyPr/>
                        <a:lstStyle/>
                        <a:p>
                          <a:r>
                            <a:rPr lang="en-US" sz="1400" dirty="0">
                              <a:latin typeface="Garamond" panose="02020404030301010803" pitchFamily="18" charset="0"/>
                            </a:rPr>
                            <a:t>0.4 – 0.95 um</a:t>
                          </a:r>
                        </a:p>
                      </a:txBody>
                      <a:tcPr>
                        <a:solidFill>
                          <a:schemeClr val="accent5">
                            <a:lumMod val="60000"/>
                            <a:lumOff val="40000"/>
                          </a:schemeClr>
                        </a:solidFill>
                      </a:tcPr>
                    </a:tc>
                    <a:tc>
                      <a:txBody>
                        <a:bodyPr/>
                        <a:lstStyle/>
                        <a:p>
                          <a:r>
                            <a:rPr lang="en-US" sz="1400" dirty="0">
                              <a:latin typeface="Garamond" panose="02020404030301010803" pitchFamily="18" charset="0"/>
                            </a:rPr>
                            <a:t>Power </a:t>
                          </a:r>
                        </a:p>
                      </a:txBody>
                      <a:tcPr>
                        <a:solidFill>
                          <a:schemeClr val="accent5">
                            <a:lumMod val="60000"/>
                            <a:lumOff val="40000"/>
                          </a:schemeClr>
                        </a:solidFill>
                      </a:tcPr>
                    </a:tc>
                    <a:tc>
                      <a:txBody>
                        <a:bodyPr/>
                        <a:lstStyle/>
                        <a:p>
                          <a:r>
                            <a:rPr lang="en-US" sz="1400" dirty="0">
                              <a:latin typeface="Garamond" panose="02020404030301010803" pitchFamily="18" charset="0"/>
                            </a:rPr>
                            <a:t>&lt; 10 W</a:t>
                          </a:r>
                        </a:p>
                      </a:txBody>
                      <a:tcPr>
                        <a:solidFill>
                          <a:schemeClr val="accent5">
                            <a:lumMod val="60000"/>
                            <a:lumOff val="40000"/>
                          </a:schemeClr>
                        </a:solidFill>
                      </a:tcPr>
                    </a:tc>
                    <a:extLst>
                      <a:ext uri="{0D108BD9-81ED-4DB2-BD59-A6C34878D82A}">
                        <a16:rowId xmlns:a16="http://schemas.microsoft.com/office/drawing/2014/main" val="324579822"/>
                      </a:ext>
                    </a:extLst>
                  </a:tr>
                  <a:tr h="314613">
                    <a:tc>
                      <a:txBody>
                        <a:bodyPr/>
                        <a:lstStyle/>
                        <a:p>
                          <a:r>
                            <a:rPr lang="en-US" sz="1400" dirty="0">
                              <a:latin typeface="Garamond" panose="02020404030301010803" pitchFamily="18" charset="0"/>
                            </a:rPr>
                            <a:t>Revisit time</a:t>
                          </a:r>
                        </a:p>
                      </a:txBody>
                      <a:tcPr>
                        <a:solidFill>
                          <a:schemeClr val="accent5">
                            <a:lumMod val="60000"/>
                            <a:lumOff val="40000"/>
                          </a:schemeClr>
                        </a:solidFill>
                      </a:tcPr>
                    </a:tc>
                    <a:tc>
                      <a:txBody>
                        <a:bodyPr/>
                        <a:lstStyle/>
                        <a:p>
                          <a:r>
                            <a:rPr lang="en-US" sz="1400" dirty="0">
                              <a:latin typeface="Garamond" panose="02020404030301010803" pitchFamily="18" charset="0"/>
                            </a:rPr>
                            <a:t>1 month</a:t>
                          </a:r>
                        </a:p>
                      </a:txBody>
                      <a:tcPr>
                        <a:solidFill>
                          <a:schemeClr val="accent5">
                            <a:lumMod val="60000"/>
                            <a:lumOff val="40000"/>
                          </a:schemeClr>
                        </a:solidFill>
                      </a:tcPr>
                    </a:tc>
                    <a:tc>
                      <a:txBody>
                        <a:bodyPr/>
                        <a:lstStyle/>
                        <a:p>
                          <a:r>
                            <a:rPr lang="en-US" sz="1400" dirty="0">
                              <a:latin typeface="Garamond" panose="02020404030301010803" pitchFamily="18" charset="0"/>
                            </a:rPr>
                            <a:t>Data format</a:t>
                          </a:r>
                        </a:p>
                      </a:txBody>
                      <a:tcPr>
                        <a:solidFill>
                          <a:schemeClr val="accent5">
                            <a:lumMod val="60000"/>
                            <a:lumOff val="40000"/>
                          </a:schemeClr>
                        </a:solidFill>
                      </a:tcPr>
                    </a:tc>
                    <a:tc>
                      <a:txBody>
                        <a:bodyPr/>
                        <a:lstStyle/>
                        <a:p>
                          <a:r>
                            <a:rPr lang="en-US" sz="1400" dirty="0">
                              <a:latin typeface="Garamond" panose="02020404030301010803" pitchFamily="18" charset="0"/>
                            </a:rPr>
                            <a:t>8/16 bit</a:t>
                          </a:r>
                        </a:p>
                      </a:txBody>
                      <a:tcPr>
                        <a:solidFill>
                          <a:schemeClr val="accent5">
                            <a:lumMod val="60000"/>
                            <a:lumOff val="40000"/>
                          </a:schemeClr>
                        </a:solidFill>
                      </a:tcPr>
                    </a:tc>
                    <a:extLst>
                      <a:ext uri="{0D108BD9-81ED-4DB2-BD59-A6C34878D82A}">
                        <a16:rowId xmlns:a16="http://schemas.microsoft.com/office/drawing/2014/main" val="2885538163"/>
                      </a:ext>
                    </a:extLst>
                  </a:tr>
                  <a:tr h="534842">
                    <a:tc>
                      <a:txBody>
                        <a:bodyPr/>
                        <a:lstStyle/>
                        <a:p>
                          <a:r>
                            <a:rPr lang="en-US" sz="1400" dirty="0">
                              <a:latin typeface="Garamond" panose="02020404030301010803" pitchFamily="18" charset="0"/>
                            </a:rPr>
                            <a:t>Mass </a:t>
                          </a:r>
                        </a:p>
                      </a:txBody>
                      <a:tcPr>
                        <a:solidFill>
                          <a:schemeClr val="accent5">
                            <a:lumMod val="60000"/>
                            <a:lumOff val="40000"/>
                          </a:schemeClr>
                        </a:solidFill>
                      </a:tcPr>
                    </a:tc>
                    <a:tc>
                      <a:txBody>
                        <a:bodyPr/>
                        <a:lstStyle/>
                        <a:p>
                          <a:r>
                            <a:rPr lang="en-US" sz="1400" dirty="0">
                              <a:latin typeface="Garamond" panose="02020404030301010803" pitchFamily="18" charset="0"/>
                            </a:rPr>
                            <a:t>Max 2 kg, mass of S/C </a:t>
                          </a:r>
                          <a14:m>
                            <m:oMath xmlns:m="http://schemas.openxmlformats.org/officeDocument/2006/math">
                              <m:r>
                                <a:rPr lang="en-US" sz="1400" i="1" dirty="0" smtClean="0">
                                  <a:latin typeface="Cambria Math" panose="02040503050406030204" pitchFamily="18" charset="0"/>
                                  <a:ea typeface="Cambria Math" panose="02040503050406030204" pitchFamily="18" charset="0"/>
                                </a:rPr>
                                <m:t>≤</m:t>
                              </m:r>
                            </m:oMath>
                          </a14:m>
                          <a:r>
                            <a:rPr lang="en-US" sz="1400" dirty="0">
                              <a:latin typeface="Garamond" panose="02020404030301010803" pitchFamily="18" charset="0"/>
                            </a:rPr>
                            <a:t> 6kg</a:t>
                          </a:r>
                        </a:p>
                      </a:txBody>
                      <a:tcPr>
                        <a:solidFill>
                          <a:schemeClr val="accent5">
                            <a:lumMod val="60000"/>
                            <a:lumOff val="40000"/>
                          </a:schemeClr>
                        </a:solidFill>
                      </a:tcPr>
                    </a:tc>
                    <a:tc>
                      <a:txBody>
                        <a:bodyPr/>
                        <a:lstStyle/>
                        <a:p>
                          <a:r>
                            <a:rPr lang="en-US" sz="1400" dirty="0">
                              <a:latin typeface="Garamond" panose="02020404030301010803" pitchFamily="18" charset="0"/>
                            </a:rPr>
                            <a:t>Data interface </a:t>
                          </a:r>
                        </a:p>
                      </a:txBody>
                      <a:tcPr>
                        <a:solidFill>
                          <a:schemeClr val="accent5">
                            <a:lumMod val="60000"/>
                            <a:lumOff val="40000"/>
                          </a:schemeClr>
                        </a:solidFill>
                      </a:tcPr>
                    </a:tc>
                    <a:tc>
                      <a:txBody>
                        <a:bodyPr/>
                        <a:lstStyle/>
                        <a:p>
                          <a:r>
                            <a:rPr lang="en-US" sz="1400" dirty="0">
                              <a:latin typeface="Garamond" panose="02020404030301010803" pitchFamily="18" charset="0"/>
                            </a:rPr>
                            <a:t>LVDS, SPI, CAN, RS422</a:t>
                          </a:r>
                        </a:p>
                      </a:txBody>
                      <a:tcPr>
                        <a:solidFill>
                          <a:schemeClr val="accent5">
                            <a:lumMod val="60000"/>
                            <a:lumOff val="40000"/>
                          </a:schemeClr>
                        </a:solidFill>
                      </a:tcPr>
                    </a:tc>
                    <a:extLst>
                      <a:ext uri="{0D108BD9-81ED-4DB2-BD59-A6C34878D82A}">
                        <a16:rowId xmlns:a16="http://schemas.microsoft.com/office/drawing/2014/main" val="443640529"/>
                      </a:ext>
                    </a:extLst>
                  </a:tr>
                  <a:tr h="314613">
                    <a:tc>
                      <a:txBody>
                        <a:bodyPr/>
                        <a:lstStyle/>
                        <a:p>
                          <a:r>
                            <a:rPr lang="en-US" sz="1400" dirty="0">
                              <a:latin typeface="Garamond" panose="02020404030301010803" pitchFamily="18" charset="0"/>
                            </a:rPr>
                            <a:t>Altitude </a:t>
                          </a:r>
                        </a:p>
                      </a:txBody>
                      <a:tcPr>
                        <a:solidFill>
                          <a:schemeClr val="accent5">
                            <a:lumMod val="60000"/>
                            <a:lumOff val="40000"/>
                          </a:schemeClr>
                        </a:solidFill>
                      </a:tcPr>
                    </a:tc>
                    <a:tc>
                      <a:txBody>
                        <a:bodyPr/>
                        <a:lstStyle/>
                        <a:p>
                          <a:r>
                            <a:rPr lang="en-US" sz="1400" dirty="0">
                              <a:latin typeface="Garamond" panose="02020404030301010803" pitchFamily="18" charset="0"/>
                            </a:rPr>
                            <a:t>500 – 700 km</a:t>
                          </a:r>
                        </a:p>
                      </a:txBody>
                      <a:tcPr>
                        <a:solidFill>
                          <a:schemeClr val="accent5">
                            <a:lumMod val="60000"/>
                            <a:lumOff val="40000"/>
                          </a:schemeClr>
                        </a:solidFill>
                      </a:tcPr>
                    </a:tc>
                    <a:tc>
                      <a:txBody>
                        <a:bodyPr/>
                        <a:lstStyle/>
                        <a:p>
                          <a:r>
                            <a:rPr lang="en-US" sz="1400" dirty="0">
                              <a:latin typeface="Garamond" panose="02020404030301010803" pitchFamily="18" charset="0"/>
                            </a:rPr>
                            <a:t>MTF</a:t>
                          </a:r>
                        </a:p>
                      </a:txBody>
                      <a:tcPr>
                        <a:solidFill>
                          <a:schemeClr val="accent5">
                            <a:lumMod val="60000"/>
                            <a:lumOff val="40000"/>
                          </a:schemeClr>
                        </a:solidFill>
                      </a:tcPr>
                    </a:tc>
                    <a:tc>
                      <a:txBody>
                        <a:bodyPr/>
                        <a:lstStyle/>
                        <a:p>
                          <a:r>
                            <a:rPr lang="en-US" sz="1400" dirty="0">
                              <a:latin typeface="Garamond" panose="02020404030301010803" pitchFamily="18" charset="0"/>
                            </a:rPr>
                            <a:t>&gt; 60</a:t>
                          </a:r>
                        </a:p>
                      </a:txBody>
                      <a:tcPr>
                        <a:solidFill>
                          <a:schemeClr val="accent5">
                            <a:lumMod val="60000"/>
                            <a:lumOff val="40000"/>
                          </a:schemeClr>
                        </a:solidFill>
                      </a:tcPr>
                    </a:tc>
                    <a:extLst>
                      <a:ext uri="{0D108BD9-81ED-4DB2-BD59-A6C34878D82A}">
                        <a16:rowId xmlns:a16="http://schemas.microsoft.com/office/drawing/2014/main" val="1513486314"/>
                      </a:ext>
                    </a:extLst>
                  </a:tr>
                  <a:tr h="534842">
                    <a:tc>
                      <a:txBody>
                        <a:bodyPr/>
                        <a:lstStyle/>
                        <a:p>
                          <a:r>
                            <a:rPr lang="en-US" sz="1400" dirty="0">
                              <a:latin typeface="Garamond" panose="02020404030301010803" pitchFamily="18" charset="0"/>
                            </a:rPr>
                            <a:t>GSD</a:t>
                          </a:r>
                        </a:p>
                      </a:txBody>
                      <a:tcPr>
                        <a:solidFill>
                          <a:schemeClr val="accent5">
                            <a:lumMod val="60000"/>
                            <a:lumOff val="40000"/>
                          </a:schemeClr>
                        </a:solidFill>
                      </a:tcPr>
                    </a:tc>
                    <a:tc>
                      <a:txBody>
                        <a:bodyPr/>
                        <a:lstStyle/>
                        <a:p>
                          <a:r>
                            <a:rPr lang="en-US" sz="1400" dirty="0">
                              <a:latin typeface="Garamond" panose="02020404030301010803" pitchFamily="18" charset="0"/>
                            </a:rPr>
                            <a:t>3-5m</a:t>
                          </a:r>
                        </a:p>
                      </a:txBody>
                      <a:tcPr>
                        <a:solidFill>
                          <a:schemeClr val="accent5">
                            <a:lumMod val="60000"/>
                            <a:lumOff val="40000"/>
                          </a:schemeClr>
                        </a:solidFill>
                      </a:tcPr>
                    </a:tc>
                    <a:tc>
                      <a:txBody>
                        <a:bodyPr/>
                        <a:lstStyle/>
                        <a:p>
                          <a:r>
                            <a:rPr lang="en-US" sz="1400" dirty="0">
                              <a:latin typeface="Garamond" panose="02020404030301010803" pitchFamily="18" charset="0"/>
                            </a:rPr>
                            <a:t>HFOV = 16.1km, VFOV = 10.7km</a:t>
                          </a:r>
                        </a:p>
                      </a:txBody>
                      <a:tcPr>
                        <a:solidFill>
                          <a:schemeClr val="accent5">
                            <a:lumMod val="60000"/>
                            <a:lumOff val="40000"/>
                          </a:schemeClr>
                        </a:solidFill>
                      </a:tcPr>
                    </a:tc>
                    <a:tc>
                      <a:txBody>
                        <a:bodyPr/>
                        <a:lstStyle/>
                        <a:p>
                          <a:pPr algn="just"/>
                          <a:r>
                            <a:rPr lang="en-US" sz="1400" dirty="0">
                              <a:latin typeface="Garamond" panose="02020404030301010803" pitchFamily="18" charset="0"/>
                            </a:rPr>
                            <a:t>Area 173km </a:t>
                          </a:r>
                          <a:r>
                            <a:rPr lang="en-US" sz="1400" dirty="0" err="1">
                              <a:latin typeface="Garamond" panose="02020404030301010803" pitchFamily="18" charset="0"/>
                            </a:rPr>
                            <a:t>sq</a:t>
                          </a:r>
                          <a:endParaRPr lang="en-US" sz="1400" dirty="0">
                            <a:latin typeface="Garamond" panose="02020404030301010803" pitchFamily="18" charset="0"/>
                          </a:endParaRPr>
                        </a:p>
                      </a:txBody>
                      <a:tcPr>
                        <a:solidFill>
                          <a:schemeClr val="accent5">
                            <a:lumMod val="60000"/>
                            <a:lumOff val="40000"/>
                          </a:schemeClr>
                        </a:solidFill>
                      </a:tcPr>
                    </a:tc>
                    <a:extLst>
                      <a:ext uri="{0D108BD9-81ED-4DB2-BD59-A6C34878D82A}">
                        <a16:rowId xmlns:a16="http://schemas.microsoft.com/office/drawing/2014/main" val="4011304415"/>
                      </a:ext>
                    </a:extLst>
                  </a:tr>
                  <a:tr h="534312">
                    <a:tc>
                      <a:txBody>
                        <a:bodyPr/>
                        <a:lstStyle/>
                        <a:p>
                          <a:r>
                            <a:rPr lang="en-US" sz="1400" dirty="0">
                              <a:latin typeface="Garamond" panose="02020404030301010803" pitchFamily="18" charset="0"/>
                            </a:rPr>
                            <a:t>Swath </a:t>
                          </a:r>
                        </a:p>
                      </a:txBody>
                      <a:tcPr>
                        <a:solidFill>
                          <a:schemeClr val="accent5">
                            <a:lumMod val="60000"/>
                            <a:lumOff val="40000"/>
                          </a:schemeClr>
                        </a:solidFill>
                      </a:tcPr>
                    </a:tc>
                    <a:tc>
                      <a:txBody>
                        <a:bodyPr/>
                        <a:lstStyle/>
                        <a:p>
                          <a:r>
                            <a:rPr lang="en-US" sz="1400" dirty="0">
                              <a:latin typeface="Garamond" panose="02020404030301010803" pitchFamily="18" charset="0"/>
                            </a:rPr>
                            <a:t>20 km</a:t>
                          </a:r>
                        </a:p>
                      </a:txBody>
                      <a:tcPr>
                        <a:solidFill>
                          <a:schemeClr val="accent5">
                            <a:lumMod val="60000"/>
                            <a:lumOff val="40000"/>
                          </a:schemeClr>
                        </a:solidFill>
                      </a:tcPr>
                    </a:tc>
                    <a:tc>
                      <a:txBody>
                        <a:bodyPr/>
                        <a:lstStyle/>
                        <a:p>
                          <a:r>
                            <a:rPr lang="en-US" sz="1400" dirty="0">
                              <a:latin typeface="Garamond" panose="02020404030301010803" pitchFamily="18" charset="0"/>
                            </a:rPr>
                            <a:t>Config </a:t>
                          </a:r>
                        </a:p>
                      </a:txBody>
                      <a:tcPr>
                        <a:solidFill>
                          <a:schemeClr val="accent5">
                            <a:lumMod val="60000"/>
                            <a:lumOff val="40000"/>
                          </a:schemeClr>
                        </a:solidFill>
                      </a:tcPr>
                    </a:tc>
                    <a:tc>
                      <a:txBody>
                        <a:bodyPr/>
                        <a:lstStyle/>
                        <a:p>
                          <a:pPr algn="just"/>
                          <a:r>
                            <a:rPr lang="en-US" sz="1400" dirty="0">
                              <a:latin typeface="Garamond" panose="02020404030301010803" pitchFamily="18" charset="0"/>
                            </a:rPr>
                            <a:t>Push broom </a:t>
                          </a:r>
                        </a:p>
                      </a:txBody>
                      <a:tcPr>
                        <a:solidFill>
                          <a:schemeClr val="accent5">
                            <a:lumMod val="60000"/>
                            <a:lumOff val="40000"/>
                          </a:schemeClr>
                        </a:solidFill>
                      </a:tcPr>
                    </a:tc>
                    <a:extLst>
                      <a:ext uri="{0D108BD9-81ED-4DB2-BD59-A6C34878D82A}">
                        <a16:rowId xmlns:a16="http://schemas.microsoft.com/office/drawing/2014/main" val="792797962"/>
                      </a:ext>
                    </a:extLst>
                  </a:tr>
                  <a:tr h="534312">
                    <a:tc>
                      <a:txBody>
                        <a:bodyPr/>
                        <a:lstStyle/>
                        <a:p>
                          <a:r>
                            <a:rPr lang="en-US" sz="1400" dirty="0">
                              <a:latin typeface="Garamond" panose="02020404030301010803" pitchFamily="18" charset="0"/>
                            </a:rPr>
                            <a:t>Sensor </a:t>
                          </a:r>
                        </a:p>
                      </a:txBody>
                      <a:tcPr>
                        <a:solidFill>
                          <a:schemeClr val="accent5">
                            <a:lumMod val="60000"/>
                            <a:lumOff val="40000"/>
                          </a:schemeClr>
                        </a:solidFill>
                      </a:tcPr>
                    </a:tc>
                    <a:tc>
                      <a:txBody>
                        <a:bodyPr/>
                        <a:lstStyle/>
                        <a:p>
                          <a:r>
                            <a:rPr lang="en-US" sz="1400" dirty="0">
                              <a:latin typeface="Garamond" panose="02020404030301010803" pitchFamily="18" charset="0"/>
                            </a:rPr>
                            <a:t>CMOS/CCD</a:t>
                          </a:r>
                        </a:p>
                      </a:txBody>
                      <a:tcPr>
                        <a:solidFill>
                          <a:schemeClr val="accent5">
                            <a:lumMod val="60000"/>
                            <a:lumOff val="40000"/>
                          </a:schemeClr>
                        </a:solidFill>
                      </a:tcPr>
                    </a:tc>
                    <a:tc>
                      <a:txBody>
                        <a:bodyPr/>
                        <a:lstStyle/>
                        <a:p>
                          <a:r>
                            <a:rPr lang="en-US" sz="1400" dirty="0">
                              <a:latin typeface="Garamond" panose="02020404030301010803" pitchFamily="18" charset="0"/>
                            </a:rPr>
                            <a:t>Aperture </a:t>
                          </a:r>
                        </a:p>
                      </a:txBody>
                      <a:tcPr>
                        <a:solidFill>
                          <a:schemeClr val="accent5">
                            <a:lumMod val="60000"/>
                            <a:lumOff val="40000"/>
                          </a:schemeClr>
                        </a:solidFill>
                      </a:tcPr>
                    </a:tc>
                    <a:tc>
                      <a:txBody>
                        <a:bodyPr/>
                        <a:lstStyle/>
                        <a:p>
                          <a:pPr algn="just"/>
                          <a:r>
                            <a:rPr lang="en-US" sz="1400" dirty="0">
                              <a:latin typeface="Garamond" panose="02020404030301010803" pitchFamily="18" charset="0"/>
                            </a:rPr>
                            <a:t>95 mm</a:t>
                          </a:r>
                        </a:p>
                      </a:txBody>
                      <a:tcPr>
                        <a:solidFill>
                          <a:schemeClr val="accent5">
                            <a:lumMod val="60000"/>
                            <a:lumOff val="40000"/>
                          </a:schemeClr>
                        </a:solidFill>
                      </a:tcPr>
                    </a:tc>
                    <a:extLst>
                      <a:ext uri="{0D108BD9-81ED-4DB2-BD59-A6C34878D82A}">
                        <a16:rowId xmlns:a16="http://schemas.microsoft.com/office/drawing/2014/main" val="1192971653"/>
                      </a:ext>
                    </a:extLst>
                  </a:tr>
                  <a:tr h="534312">
                    <a:tc>
                      <a:txBody>
                        <a:bodyPr/>
                        <a:lstStyle/>
                        <a:p>
                          <a:r>
                            <a:rPr lang="en-US" sz="1400" dirty="0" err="1">
                              <a:latin typeface="Garamond" panose="02020404030301010803" pitchFamily="18" charset="0"/>
                            </a:rPr>
                            <a:t>FoV</a:t>
                          </a:r>
                          <a:endParaRPr lang="en-US" sz="1400" dirty="0">
                            <a:latin typeface="Garamond" panose="02020404030301010803" pitchFamily="18" charset="0"/>
                          </a:endParaRPr>
                        </a:p>
                      </a:txBody>
                      <a:tcPr>
                        <a:solidFill>
                          <a:schemeClr val="accent5">
                            <a:lumMod val="60000"/>
                            <a:lumOff val="40000"/>
                          </a:schemeClr>
                        </a:solidFill>
                      </a:tcPr>
                    </a:tc>
                    <a:tc>
                      <a:txBody>
                        <a:bodyPr/>
                        <a:lstStyle/>
                        <a:p>
                          <a:r>
                            <a:rPr lang="en-US" sz="1400" dirty="0">
                              <a:latin typeface="Garamond" panose="02020404030301010803" pitchFamily="18" charset="0"/>
                            </a:rPr>
                            <a:t>3</a:t>
                          </a:r>
                          <a14:m>
                            <m:oMath xmlns:m="http://schemas.openxmlformats.org/officeDocument/2006/math">
                              <m:r>
                                <a:rPr lang="en-US" sz="1400" i="1" smtClean="0">
                                  <a:latin typeface="Cambria Math" panose="02040503050406030204" pitchFamily="18" charset="0"/>
                                  <a:ea typeface="Cambria Math" panose="02040503050406030204" pitchFamily="18" charset="0"/>
                                </a:rPr>
                                <m:t>°</m:t>
                              </m:r>
                            </m:oMath>
                          </a14:m>
                          <a:r>
                            <a:rPr lang="en-US" sz="1400" dirty="0">
                              <a:latin typeface="Garamond" panose="02020404030301010803" pitchFamily="18" charset="0"/>
                            </a:rPr>
                            <a:t> (across track)</a:t>
                          </a:r>
                        </a:p>
                      </a:txBody>
                      <a:tcPr>
                        <a:solidFill>
                          <a:schemeClr val="accent5">
                            <a:lumMod val="60000"/>
                            <a:lumOff val="40000"/>
                          </a:schemeClr>
                        </a:solidFill>
                      </a:tcPr>
                    </a:tc>
                    <a:tc>
                      <a:txBody>
                        <a:bodyPr/>
                        <a:lstStyle/>
                        <a:p>
                          <a:r>
                            <a:rPr lang="en-US" sz="1400" dirty="0">
                              <a:latin typeface="Garamond" panose="02020404030301010803" pitchFamily="18" charset="0"/>
                            </a:rPr>
                            <a:t>Focal length </a:t>
                          </a:r>
                        </a:p>
                      </a:txBody>
                      <a:tcPr>
                        <a:solidFill>
                          <a:schemeClr val="accent5">
                            <a:lumMod val="60000"/>
                            <a:lumOff val="40000"/>
                          </a:schemeClr>
                        </a:solidFill>
                      </a:tcPr>
                    </a:tc>
                    <a:tc>
                      <a:txBody>
                        <a:bodyPr/>
                        <a:lstStyle/>
                        <a:p>
                          <a:pPr algn="just"/>
                          <a:r>
                            <a:rPr lang="en-US" sz="1400" dirty="0">
                              <a:latin typeface="Garamond" panose="02020404030301010803" pitchFamily="18" charset="0"/>
                            </a:rPr>
                            <a:t>~60mm</a:t>
                          </a:r>
                        </a:p>
                      </a:txBody>
                      <a:tcPr>
                        <a:solidFill>
                          <a:schemeClr val="accent5">
                            <a:lumMod val="60000"/>
                            <a:lumOff val="40000"/>
                          </a:schemeClr>
                        </a:solidFill>
                      </a:tcPr>
                    </a:tc>
                    <a:extLst>
                      <a:ext uri="{0D108BD9-81ED-4DB2-BD59-A6C34878D82A}">
                        <a16:rowId xmlns:a16="http://schemas.microsoft.com/office/drawing/2014/main" val="1408909629"/>
                      </a:ext>
                    </a:extLst>
                  </a:tr>
                </a:tbl>
              </a:graphicData>
            </a:graphic>
          </p:graphicFrame>
        </mc:Choice>
        <mc:Fallback>
          <p:graphicFrame>
            <p:nvGraphicFramePr>
              <p:cNvPr id="19" name="Table 18">
                <a:extLst>
                  <a:ext uri="{FF2B5EF4-FFF2-40B4-BE49-F238E27FC236}">
                    <a16:creationId xmlns:a16="http://schemas.microsoft.com/office/drawing/2014/main" id="{C497744D-AEE4-445C-B6F8-7CC56A4883B9}"/>
                  </a:ext>
                </a:extLst>
              </p:cNvPr>
              <p:cNvGraphicFramePr>
                <a:graphicFrameLocks noGrp="1"/>
              </p:cNvGraphicFramePr>
              <p:nvPr>
                <p:extLst>
                  <p:ext uri="{D42A27DB-BD31-4B8C-83A1-F6EECF244321}">
                    <p14:modId xmlns:p14="http://schemas.microsoft.com/office/powerpoint/2010/main" val="916665769"/>
                  </p:ext>
                </p:extLst>
              </p:nvPr>
            </p:nvGraphicFramePr>
            <p:xfrm>
              <a:off x="6734093" y="1393368"/>
              <a:ext cx="4959144" cy="4151301"/>
            </p:xfrm>
            <a:graphic>
              <a:graphicData uri="http://schemas.openxmlformats.org/drawingml/2006/table">
                <a:tbl>
                  <a:tblPr firstRow="1" bandRow="1">
                    <a:tableStyleId>{69C7853C-536D-4A76-A0AE-DD22124D55A5}</a:tableStyleId>
                  </a:tblPr>
                  <a:tblGrid>
                    <a:gridCol w="1037368">
                      <a:extLst>
                        <a:ext uri="{9D8B030D-6E8A-4147-A177-3AD203B41FA5}">
                          <a16:colId xmlns:a16="http://schemas.microsoft.com/office/drawing/2014/main" val="1330455166"/>
                        </a:ext>
                      </a:extLst>
                    </a:gridCol>
                    <a:gridCol w="1307884">
                      <a:extLst>
                        <a:ext uri="{9D8B030D-6E8A-4147-A177-3AD203B41FA5}">
                          <a16:colId xmlns:a16="http://schemas.microsoft.com/office/drawing/2014/main" val="3368611295"/>
                        </a:ext>
                      </a:extLst>
                    </a:gridCol>
                    <a:gridCol w="1496883">
                      <a:extLst>
                        <a:ext uri="{9D8B030D-6E8A-4147-A177-3AD203B41FA5}">
                          <a16:colId xmlns:a16="http://schemas.microsoft.com/office/drawing/2014/main" val="596589849"/>
                        </a:ext>
                      </a:extLst>
                    </a:gridCol>
                    <a:gridCol w="1117009">
                      <a:extLst>
                        <a:ext uri="{9D8B030D-6E8A-4147-A177-3AD203B41FA5}">
                          <a16:colId xmlns:a16="http://schemas.microsoft.com/office/drawing/2014/main" val="2059522777"/>
                        </a:ext>
                      </a:extLst>
                    </a:gridCol>
                  </a:tblGrid>
                  <a:tr h="314613">
                    <a:tc>
                      <a:txBody>
                        <a:bodyPr/>
                        <a:lstStyle/>
                        <a:p>
                          <a:r>
                            <a:rPr lang="en-US" sz="1400" dirty="0">
                              <a:latin typeface="Garamond" panose="02020404030301010803" pitchFamily="18" charset="0"/>
                            </a:rPr>
                            <a:t>Volume </a:t>
                          </a:r>
                        </a:p>
                      </a:txBody>
                      <a:tcPr>
                        <a:solidFill>
                          <a:schemeClr val="accent5">
                            <a:lumMod val="60000"/>
                            <a:lumOff val="40000"/>
                          </a:schemeClr>
                        </a:solidFill>
                      </a:tcPr>
                    </a:tc>
                    <a:tc>
                      <a:txBody>
                        <a:bodyPr/>
                        <a:lstStyle/>
                        <a:p>
                          <a:r>
                            <a:rPr lang="en-US" sz="1400" dirty="0">
                              <a:latin typeface="Garamond" panose="02020404030301010803" pitchFamily="18" charset="0"/>
                            </a:rPr>
                            <a:t>1.5U</a:t>
                          </a:r>
                        </a:p>
                      </a:txBody>
                      <a:tcPr>
                        <a:solidFill>
                          <a:schemeClr val="accent5">
                            <a:lumMod val="60000"/>
                            <a:lumOff val="40000"/>
                          </a:schemeClr>
                        </a:solidFill>
                      </a:tcPr>
                    </a:tc>
                    <a:tc>
                      <a:txBody>
                        <a:bodyPr/>
                        <a:lstStyle/>
                        <a:p>
                          <a:r>
                            <a:rPr lang="en-US" sz="1400" dirty="0">
                              <a:latin typeface="Garamond" panose="02020404030301010803" pitchFamily="18" charset="0"/>
                            </a:rPr>
                            <a:t>Data storage</a:t>
                          </a:r>
                        </a:p>
                      </a:txBody>
                      <a:tcPr>
                        <a:solidFill>
                          <a:schemeClr val="accent5">
                            <a:lumMod val="60000"/>
                            <a:lumOff val="40000"/>
                          </a:schemeClr>
                        </a:solidFill>
                      </a:tcPr>
                    </a:tc>
                    <a:tc>
                      <a:txBody>
                        <a:bodyPr/>
                        <a:lstStyle/>
                        <a:p>
                          <a:r>
                            <a:rPr lang="en-US" sz="1400" dirty="0">
                              <a:latin typeface="Garamond" panose="02020404030301010803" pitchFamily="18" charset="0"/>
                            </a:rPr>
                            <a:t>½ TB</a:t>
                          </a:r>
                        </a:p>
                      </a:txBody>
                      <a:tcPr>
                        <a:solidFill>
                          <a:schemeClr val="accent5">
                            <a:lumMod val="60000"/>
                            <a:lumOff val="40000"/>
                          </a:schemeClr>
                        </a:solidFill>
                      </a:tcPr>
                    </a:tc>
                    <a:extLst>
                      <a:ext uri="{0D108BD9-81ED-4DB2-BD59-A6C34878D82A}">
                        <a16:rowId xmlns:a16="http://schemas.microsoft.com/office/drawing/2014/main" val="1678785903"/>
                      </a:ext>
                    </a:extLst>
                  </a:tr>
                  <a:tr h="534842">
                    <a:tc>
                      <a:txBody>
                        <a:bodyPr/>
                        <a:lstStyle/>
                        <a:p>
                          <a:r>
                            <a:rPr lang="en-US" sz="1400" dirty="0">
                              <a:latin typeface="Garamond" panose="02020404030301010803" pitchFamily="18" charset="0"/>
                            </a:rPr>
                            <a:t>Spectral bands</a:t>
                          </a:r>
                        </a:p>
                      </a:txBody>
                      <a:tcPr>
                        <a:solidFill>
                          <a:schemeClr val="accent5">
                            <a:lumMod val="60000"/>
                            <a:lumOff val="40000"/>
                          </a:schemeClr>
                        </a:solidFill>
                      </a:tcPr>
                    </a:tc>
                    <a:tc>
                      <a:txBody>
                        <a:bodyPr/>
                        <a:lstStyle/>
                        <a:p>
                          <a:r>
                            <a:rPr lang="en-US" sz="1400" dirty="0">
                              <a:latin typeface="Garamond" panose="02020404030301010803" pitchFamily="18" charset="0"/>
                            </a:rPr>
                            <a:t>0.4 – 0.95 um</a:t>
                          </a:r>
                        </a:p>
                      </a:txBody>
                      <a:tcPr>
                        <a:solidFill>
                          <a:schemeClr val="accent5">
                            <a:lumMod val="60000"/>
                            <a:lumOff val="40000"/>
                          </a:schemeClr>
                        </a:solidFill>
                      </a:tcPr>
                    </a:tc>
                    <a:tc>
                      <a:txBody>
                        <a:bodyPr/>
                        <a:lstStyle/>
                        <a:p>
                          <a:r>
                            <a:rPr lang="en-US" sz="1400" dirty="0">
                              <a:latin typeface="Garamond" panose="02020404030301010803" pitchFamily="18" charset="0"/>
                            </a:rPr>
                            <a:t>Power </a:t>
                          </a:r>
                        </a:p>
                      </a:txBody>
                      <a:tcPr>
                        <a:solidFill>
                          <a:schemeClr val="accent5">
                            <a:lumMod val="60000"/>
                            <a:lumOff val="40000"/>
                          </a:schemeClr>
                        </a:solidFill>
                      </a:tcPr>
                    </a:tc>
                    <a:tc>
                      <a:txBody>
                        <a:bodyPr/>
                        <a:lstStyle/>
                        <a:p>
                          <a:r>
                            <a:rPr lang="en-US" sz="1400" dirty="0">
                              <a:latin typeface="Garamond" panose="02020404030301010803" pitchFamily="18" charset="0"/>
                            </a:rPr>
                            <a:t>&lt; 10 W</a:t>
                          </a:r>
                        </a:p>
                      </a:txBody>
                      <a:tcPr>
                        <a:solidFill>
                          <a:schemeClr val="accent5">
                            <a:lumMod val="60000"/>
                            <a:lumOff val="40000"/>
                          </a:schemeClr>
                        </a:solidFill>
                      </a:tcPr>
                    </a:tc>
                    <a:extLst>
                      <a:ext uri="{0D108BD9-81ED-4DB2-BD59-A6C34878D82A}">
                        <a16:rowId xmlns:a16="http://schemas.microsoft.com/office/drawing/2014/main" val="324579822"/>
                      </a:ext>
                    </a:extLst>
                  </a:tr>
                  <a:tr h="314613">
                    <a:tc>
                      <a:txBody>
                        <a:bodyPr/>
                        <a:lstStyle/>
                        <a:p>
                          <a:r>
                            <a:rPr lang="en-US" sz="1400" dirty="0">
                              <a:latin typeface="Garamond" panose="02020404030301010803" pitchFamily="18" charset="0"/>
                            </a:rPr>
                            <a:t>Revisit time</a:t>
                          </a:r>
                        </a:p>
                      </a:txBody>
                      <a:tcPr>
                        <a:solidFill>
                          <a:schemeClr val="accent5">
                            <a:lumMod val="60000"/>
                            <a:lumOff val="40000"/>
                          </a:schemeClr>
                        </a:solidFill>
                      </a:tcPr>
                    </a:tc>
                    <a:tc>
                      <a:txBody>
                        <a:bodyPr/>
                        <a:lstStyle/>
                        <a:p>
                          <a:r>
                            <a:rPr lang="en-US" sz="1400" dirty="0">
                              <a:latin typeface="Garamond" panose="02020404030301010803" pitchFamily="18" charset="0"/>
                            </a:rPr>
                            <a:t>1 month</a:t>
                          </a:r>
                        </a:p>
                      </a:txBody>
                      <a:tcPr>
                        <a:solidFill>
                          <a:schemeClr val="accent5">
                            <a:lumMod val="60000"/>
                            <a:lumOff val="40000"/>
                          </a:schemeClr>
                        </a:solidFill>
                      </a:tcPr>
                    </a:tc>
                    <a:tc>
                      <a:txBody>
                        <a:bodyPr/>
                        <a:lstStyle/>
                        <a:p>
                          <a:r>
                            <a:rPr lang="en-US" sz="1400" dirty="0">
                              <a:latin typeface="Garamond" panose="02020404030301010803" pitchFamily="18" charset="0"/>
                            </a:rPr>
                            <a:t>Data format</a:t>
                          </a:r>
                        </a:p>
                      </a:txBody>
                      <a:tcPr>
                        <a:solidFill>
                          <a:schemeClr val="accent5">
                            <a:lumMod val="60000"/>
                            <a:lumOff val="40000"/>
                          </a:schemeClr>
                        </a:solidFill>
                      </a:tcPr>
                    </a:tc>
                    <a:tc>
                      <a:txBody>
                        <a:bodyPr/>
                        <a:lstStyle/>
                        <a:p>
                          <a:r>
                            <a:rPr lang="en-US" sz="1400" dirty="0">
                              <a:latin typeface="Garamond" panose="02020404030301010803" pitchFamily="18" charset="0"/>
                            </a:rPr>
                            <a:t>8/16 bit</a:t>
                          </a:r>
                        </a:p>
                      </a:txBody>
                      <a:tcPr>
                        <a:solidFill>
                          <a:schemeClr val="accent5">
                            <a:lumMod val="60000"/>
                            <a:lumOff val="40000"/>
                          </a:schemeClr>
                        </a:solidFill>
                      </a:tcPr>
                    </a:tc>
                    <a:extLst>
                      <a:ext uri="{0D108BD9-81ED-4DB2-BD59-A6C34878D82A}">
                        <a16:rowId xmlns:a16="http://schemas.microsoft.com/office/drawing/2014/main" val="2885538163"/>
                      </a:ext>
                    </a:extLst>
                  </a:tr>
                  <a:tr h="534842">
                    <a:tc>
                      <a:txBody>
                        <a:bodyPr/>
                        <a:lstStyle/>
                        <a:p>
                          <a:r>
                            <a:rPr lang="en-US" sz="1400" dirty="0">
                              <a:latin typeface="Garamond" panose="02020404030301010803" pitchFamily="18" charset="0"/>
                            </a:rPr>
                            <a:t>Mass </a:t>
                          </a:r>
                        </a:p>
                      </a:txBody>
                      <a:tcPr>
                        <a:solidFill>
                          <a:schemeClr val="accent5">
                            <a:lumMod val="60000"/>
                            <a:lumOff val="40000"/>
                          </a:schemeClr>
                        </a:solidFill>
                      </a:tcPr>
                    </a:tc>
                    <a:tc>
                      <a:txBody>
                        <a:bodyPr/>
                        <a:lstStyle/>
                        <a:p>
                          <a:endParaRPr lang="en-US"/>
                        </a:p>
                      </a:txBody>
                      <a:tcPr>
                        <a:blipFill>
                          <a:blip r:embed="rId3"/>
                          <a:stretch>
                            <a:fillRect l="-79070" t="-218182" r="-200465" b="-459091"/>
                          </a:stretch>
                        </a:blipFill>
                      </a:tcPr>
                    </a:tc>
                    <a:tc>
                      <a:txBody>
                        <a:bodyPr/>
                        <a:lstStyle/>
                        <a:p>
                          <a:r>
                            <a:rPr lang="en-US" sz="1400" dirty="0">
                              <a:latin typeface="Garamond" panose="02020404030301010803" pitchFamily="18" charset="0"/>
                            </a:rPr>
                            <a:t>Data interface </a:t>
                          </a:r>
                        </a:p>
                      </a:txBody>
                      <a:tcPr>
                        <a:solidFill>
                          <a:schemeClr val="accent5">
                            <a:lumMod val="60000"/>
                            <a:lumOff val="40000"/>
                          </a:schemeClr>
                        </a:solidFill>
                      </a:tcPr>
                    </a:tc>
                    <a:tc>
                      <a:txBody>
                        <a:bodyPr/>
                        <a:lstStyle/>
                        <a:p>
                          <a:r>
                            <a:rPr lang="en-US" sz="1400" dirty="0">
                              <a:latin typeface="Garamond" panose="02020404030301010803" pitchFamily="18" charset="0"/>
                            </a:rPr>
                            <a:t>LVDS, SPI, CAN, RS422</a:t>
                          </a:r>
                        </a:p>
                      </a:txBody>
                      <a:tcPr>
                        <a:solidFill>
                          <a:schemeClr val="accent5">
                            <a:lumMod val="60000"/>
                            <a:lumOff val="40000"/>
                          </a:schemeClr>
                        </a:solidFill>
                      </a:tcPr>
                    </a:tc>
                    <a:extLst>
                      <a:ext uri="{0D108BD9-81ED-4DB2-BD59-A6C34878D82A}">
                        <a16:rowId xmlns:a16="http://schemas.microsoft.com/office/drawing/2014/main" val="443640529"/>
                      </a:ext>
                    </a:extLst>
                  </a:tr>
                  <a:tr h="314613">
                    <a:tc>
                      <a:txBody>
                        <a:bodyPr/>
                        <a:lstStyle/>
                        <a:p>
                          <a:r>
                            <a:rPr lang="en-US" sz="1400" dirty="0">
                              <a:latin typeface="Garamond" panose="02020404030301010803" pitchFamily="18" charset="0"/>
                            </a:rPr>
                            <a:t>Altitude </a:t>
                          </a:r>
                        </a:p>
                      </a:txBody>
                      <a:tcPr>
                        <a:solidFill>
                          <a:schemeClr val="accent5">
                            <a:lumMod val="60000"/>
                            <a:lumOff val="40000"/>
                          </a:schemeClr>
                        </a:solidFill>
                      </a:tcPr>
                    </a:tc>
                    <a:tc>
                      <a:txBody>
                        <a:bodyPr/>
                        <a:lstStyle/>
                        <a:p>
                          <a:r>
                            <a:rPr lang="en-US" sz="1400" dirty="0">
                              <a:latin typeface="Garamond" panose="02020404030301010803" pitchFamily="18" charset="0"/>
                            </a:rPr>
                            <a:t>500 – 700 km</a:t>
                          </a:r>
                        </a:p>
                      </a:txBody>
                      <a:tcPr>
                        <a:solidFill>
                          <a:schemeClr val="accent5">
                            <a:lumMod val="60000"/>
                            <a:lumOff val="40000"/>
                          </a:schemeClr>
                        </a:solidFill>
                      </a:tcPr>
                    </a:tc>
                    <a:tc>
                      <a:txBody>
                        <a:bodyPr/>
                        <a:lstStyle/>
                        <a:p>
                          <a:r>
                            <a:rPr lang="en-US" sz="1400" dirty="0">
                              <a:latin typeface="Garamond" panose="02020404030301010803" pitchFamily="18" charset="0"/>
                            </a:rPr>
                            <a:t>MTF</a:t>
                          </a:r>
                        </a:p>
                      </a:txBody>
                      <a:tcPr>
                        <a:solidFill>
                          <a:schemeClr val="accent5">
                            <a:lumMod val="60000"/>
                            <a:lumOff val="40000"/>
                          </a:schemeClr>
                        </a:solidFill>
                      </a:tcPr>
                    </a:tc>
                    <a:tc>
                      <a:txBody>
                        <a:bodyPr/>
                        <a:lstStyle/>
                        <a:p>
                          <a:r>
                            <a:rPr lang="en-US" sz="1400" dirty="0">
                              <a:latin typeface="Garamond" panose="02020404030301010803" pitchFamily="18" charset="0"/>
                            </a:rPr>
                            <a:t>&gt; 60</a:t>
                          </a:r>
                        </a:p>
                      </a:txBody>
                      <a:tcPr>
                        <a:solidFill>
                          <a:schemeClr val="accent5">
                            <a:lumMod val="60000"/>
                            <a:lumOff val="40000"/>
                          </a:schemeClr>
                        </a:solidFill>
                      </a:tcPr>
                    </a:tc>
                    <a:extLst>
                      <a:ext uri="{0D108BD9-81ED-4DB2-BD59-A6C34878D82A}">
                        <a16:rowId xmlns:a16="http://schemas.microsoft.com/office/drawing/2014/main" val="1513486314"/>
                      </a:ext>
                    </a:extLst>
                  </a:tr>
                  <a:tr h="534842">
                    <a:tc>
                      <a:txBody>
                        <a:bodyPr/>
                        <a:lstStyle/>
                        <a:p>
                          <a:r>
                            <a:rPr lang="en-US" sz="1400" dirty="0">
                              <a:latin typeface="Garamond" panose="02020404030301010803" pitchFamily="18" charset="0"/>
                            </a:rPr>
                            <a:t>GSD</a:t>
                          </a:r>
                        </a:p>
                      </a:txBody>
                      <a:tcPr>
                        <a:solidFill>
                          <a:schemeClr val="accent5">
                            <a:lumMod val="60000"/>
                            <a:lumOff val="40000"/>
                          </a:schemeClr>
                        </a:solidFill>
                      </a:tcPr>
                    </a:tc>
                    <a:tc>
                      <a:txBody>
                        <a:bodyPr/>
                        <a:lstStyle/>
                        <a:p>
                          <a:r>
                            <a:rPr lang="en-US" sz="1400" dirty="0">
                              <a:latin typeface="Garamond" panose="02020404030301010803" pitchFamily="18" charset="0"/>
                            </a:rPr>
                            <a:t>3-5m</a:t>
                          </a:r>
                        </a:p>
                      </a:txBody>
                      <a:tcPr>
                        <a:solidFill>
                          <a:schemeClr val="accent5">
                            <a:lumMod val="60000"/>
                            <a:lumOff val="40000"/>
                          </a:schemeClr>
                        </a:solidFill>
                      </a:tcPr>
                    </a:tc>
                    <a:tc>
                      <a:txBody>
                        <a:bodyPr/>
                        <a:lstStyle/>
                        <a:p>
                          <a:r>
                            <a:rPr lang="en-US" sz="1400" dirty="0">
                              <a:latin typeface="Garamond" panose="02020404030301010803" pitchFamily="18" charset="0"/>
                            </a:rPr>
                            <a:t>HFOV = 16.1km, VFOV = 10.7km</a:t>
                          </a:r>
                        </a:p>
                      </a:txBody>
                      <a:tcPr>
                        <a:solidFill>
                          <a:schemeClr val="accent5">
                            <a:lumMod val="60000"/>
                            <a:lumOff val="40000"/>
                          </a:schemeClr>
                        </a:solidFill>
                      </a:tcPr>
                    </a:tc>
                    <a:tc>
                      <a:txBody>
                        <a:bodyPr/>
                        <a:lstStyle/>
                        <a:p>
                          <a:pPr algn="just"/>
                          <a:r>
                            <a:rPr lang="en-US" sz="1400" dirty="0">
                              <a:latin typeface="Garamond" panose="02020404030301010803" pitchFamily="18" charset="0"/>
                            </a:rPr>
                            <a:t>Area 173km </a:t>
                          </a:r>
                          <a:r>
                            <a:rPr lang="en-US" sz="1400" dirty="0" err="1">
                              <a:latin typeface="Garamond" panose="02020404030301010803" pitchFamily="18" charset="0"/>
                            </a:rPr>
                            <a:t>sq</a:t>
                          </a:r>
                          <a:endParaRPr lang="en-US" sz="1400" dirty="0">
                            <a:latin typeface="Garamond" panose="02020404030301010803" pitchFamily="18" charset="0"/>
                          </a:endParaRPr>
                        </a:p>
                      </a:txBody>
                      <a:tcPr>
                        <a:solidFill>
                          <a:schemeClr val="accent5">
                            <a:lumMod val="60000"/>
                            <a:lumOff val="40000"/>
                          </a:schemeClr>
                        </a:solidFill>
                      </a:tcPr>
                    </a:tc>
                    <a:extLst>
                      <a:ext uri="{0D108BD9-81ED-4DB2-BD59-A6C34878D82A}">
                        <a16:rowId xmlns:a16="http://schemas.microsoft.com/office/drawing/2014/main" val="4011304415"/>
                      </a:ext>
                    </a:extLst>
                  </a:tr>
                  <a:tr h="534312">
                    <a:tc>
                      <a:txBody>
                        <a:bodyPr/>
                        <a:lstStyle/>
                        <a:p>
                          <a:r>
                            <a:rPr lang="en-US" sz="1400" dirty="0">
                              <a:latin typeface="Garamond" panose="02020404030301010803" pitchFamily="18" charset="0"/>
                            </a:rPr>
                            <a:t>Swath </a:t>
                          </a:r>
                        </a:p>
                      </a:txBody>
                      <a:tcPr>
                        <a:solidFill>
                          <a:schemeClr val="accent5">
                            <a:lumMod val="60000"/>
                            <a:lumOff val="40000"/>
                          </a:schemeClr>
                        </a:solidFill>
                      </a:tcPr>
                    </a:tc>
                    <a:tc>
                      <a:txBody>
                        <a:bodyPr/>
                        <a:lstStyle/>
                        <a:p>
                          <a:r>
                            <a:rPr lang="en-US" sz="1400" dirty="0">
                              <a:latin typeface="Garamond" panose="02020404030301010803" pitchFamily="18" charset="0"/>
                            </a:rPr>
                            <a:t>20 km</a:t>
                          </a:r>
                        </a:p>
                      </a:txBody>
                      <a:tcPr>
                        <a:solidFill>
                          <a:schemeClr val="accent5">
                            <a:lumMod val="60000"/>
                            <a:lumOff val="40000"/>
                          </a:schemeClr>
                        </a:solidFill>
                      </a:tcPr>
                    </a:tc>
                    <a:tc>
                      <a:txBody>
                        <a:bodyPr/>
                        <a:lstStyle/>
                        <a:p>
                          <a:r>
                            <a:rPr lang="en-US" sz="1400" dirty="0">
                              <a:latin typeface="Garamond" panose="02020404030301010803" pitchFamily="18" charset="0"/>
                            </a:rPr>
                            <a:t>Config </a:t>
                          </a:r>
                        </a:p>
                      </a:txBody>
                      <a:tcPr>
                        <a:solidFill>
                          <a:schemeClr val="accent5">
                            <a:lumMod val="60000"/>
                            <a:lumOff val="40000"/>
                          </a:schemeClr>
                        </a:solidFill>
                      </a:tcPr>
                    </a:tc>
                    <a:tc>
                      <a:txBody>
                        <a:bodyPr/>
                        <a:lstStyle/>
                        <a:p>
                          <a:pPr algn="just"/>
                          <a:r>
                            <a:rPr lang="en-US" sz="1400" dirty="0">
                              <a:latin typeface="Garamond" panose="02020404030301010803" pitchFamily="18" charset="0"/>
                            </a:rPr>
                            <a:t>Push broom </a:t>
                          </a:r>
                        </a:p>
                      </a:txBody>
                      <a:tcPr>
                        <a:solidFill>
                          <a:schemeClr val="accent5">
                            <a:lumMod val="60000"/>
                            <a:lumOff val="40000"/>
                          </a:schemeClr>
                        </a:solidFill>
                      </a:tcPr>
                    </a:tc>
                    <a:extLst>
                      <a:ext uri="{0D108BD9-81ED-4DB2-BD59-A6C34878D82A}">
                        <a16:rowId xmlns:a16="http://schemas.microsoft.com/office/drawing/2014/main" val="792797962"/>
                      </a:ext>
                    </a:extLst>
                  </a:tr>
                  <a:tr h="534312">
                    <a:tc>
                      <a:txBody>
                        <a:bodyPr/>
                        <a:lstStyle/>
                        <a:p>
                          <a:r>
                            <a:rPr lang="en-US" sz="1400" dirty="0">
                              <a:latin typeface="Garamond" panose="02020404030301010803" pitchFamily="18" charset="0"/>
                            </a:rPr>
                            <a:t>Sensor </a:t>
                          </a:r>
                        </a:p>
                      </a:txBody>
                      <a:tcPr>
                        <a:solidFill>
                          <a:schemeClr val="accent5">
                            <a:lumMod val="60000"/>
                            <a:lumOff val="40000"/>
                          </a:schemeClr>
                        </a:solidFill>
                      </a:tcPr>
                    </a:tc>
                    <a:tc>
                      <a:txBody>
                        <a:bodyPr/>
                        <a:lstStyle/>
                        <a:p>
                          <a:r>
                            <a:rPr lang="en-US" sz="1400" dirty="0">
                              <a:latin typeface="Garamond" panose="02020404030301010803" pitchFamily="18" charset="0"/>
                            </a:rPr>
                            <a:t>CMOS/CCD</a:t>
                          </a:r>
                        </a:p>
                      </a:txBody>
                      <a:tcPr>
                        <a:solidFill>
                          <a:schemeClr val="accent5">
                            <a:lumMod val="60000"/>
                            <a:lumOff val="40000"/>
                          </a:schemeClr>
                        </a:solidFill>
                      </a:tcPr>
                    </a:tc>
                    <a:tc>
                      <a:txBody>
                        <a:bodyPr/>
                        <a:lstStyle/>
                        <a:p>
                          <a:r>
                            <a:rPr lang="en-US" sz="1400" dirty="0">
                              <a:latin typeface="Garamond" panose="02020404030301010803" pitchFamily="18" charset="0"/>
                            </a:rPr>
                            <a:t>Aperture </a:t>
                          </a:r>
                        </a:p>
                      </a:txBody>
                      <a:tcPr>
                        <a:solidFill>
                          <a:schemeClr val="accent5">
                            <a:lumMod val="60000"/>
                            <a:lumOff val="40000"/>
                          </a:schemeClr>
                        </a:solidFill>
                      </a:tcPr>
                    </a:tc>
                    <a:tc>
                      <a:txBody>
                        <a:bodyPr/>
                        <a:lstStyle/>
                        <a:p>
                          <a:pPr algn="just"/>
                          <a:r>
                            <a:rPr lang="en-US" sz="1400" dirty="0">
                              <a:latin typeface="Garamond" panose="02020404030301010803" pitchFamily="18" charset="0"/>
                            </a:rPr>
                            <a:t>95 mm</a:t>
                          </a:r>
                        </a:p>
                      </a:txBody>
                      <a:tcPr>
                        <a:solidFill>
                          <a:schemeClr val="accent5">
                            <a:lumMod val="60000"/>
                            <a:lumOff val="40000"/>
                          </a:schemeClr>
                        </a:solidFill>
                      </a:tcPr>
                    </a:tc>
                    <a:extLst>
                      <a:ext uri="{0D108BD9-81ED-4DB2-BD59-A6C34878D82A}">
                        <a16:rowId xmlns:a16="http://schemas.microsoft.com/office/drawing/2014/main" val="1192971653"/>
                      </a:ext>
                    </a:extLst>
                  </a:tr>
                  <a:tr h="534312">
                    <a:tc>
                      <a:txBody>
                        <a:bodyPr/>
                        <a:lstStyle/>
                        <a:p>
                          <a:r>
                            <a:rPr lang="en-US" sz="1400" dirty="0" err="1">
                              <a:latin typeface="Garamond" panose="02020404030301010803" pitchFamily="18" charset="0"/>
                            </a:rPr>
                            <a:t>FoV</a:t>
                          </a:r>
                          <a:endParaRPr lang="en-US" sz="1400" dirty="0">
                            <a:latin typeface="Garamond" panose="02020404030301010803" pitchFamily="18" charset="0"/>
                          </a:endParaRPr>
                        </a:p>
                      </a:txBody>
                      <a:tcPr>
                        <a:solidFill>
                          <a:schemeClr val="accent5">
                            <a:lumMod val="60000"/>
                            <a:lumOff val="40000"/>
                          </a:schemeClr>
                        </a:solidFill>
                      </a:tcPr>
                    </a:tc>
                    <a:tc>
                      <a:txBody>
                        <a:bodyPr/>
                        <a:lstStyle/>
                        <a:p>
                          <a:endParaRPr lang="en-US"/>
                        </a:p>
                      </a:txBody>
                      <a:tcPr>
                        <a:blipFill>
                          <a:blip r:embed="rId3"/>
                          <a:stretch>
                            <a:fillRect l="-79070" t="-676136" r="-200465" b="-1136"/>
                          </a:stretch>
                        </a:blipFill>
                      </a:tcPr>
                    </a:tc>
                    <a:tc>
                      <a:txBody>
                        <a:bodyPr/>
                        <a:lstStyle/>
                        <a:p>
                          <a:r>
                            <a:rPr lang="en-US" sz="1400" dirty="0">
                              <a:latin typeface="Garamond" panose="02020404030301010803" pitchFamily="18" charset="0"/>
                            </a:rPr>
                            <a:t>Focal length </a:t>
                          </a:r>
                        </a:p>
                      </a:txBody>
                      <a:tcPr>
                        <a:solidFill>
                          <a:schemeClr val="accent5">
                            <a:lumMod val="60000"/>
                            <a:lumOff val="40000"/>
                          </a:schemeClr>
                        </a:solidFill>
                      </a:tcPr>
                    </a:tc>
                    <a:tc>
                      <a:txBody>
                        <a:bodyPr/>
                        <a:lstStyle/>
                        <a:p>
                          <a:pPr algn="just"/>
                          <a:r>
                            <a:rPr lang="en-US" sz="1400" dirty="0">
                              <a:latin typeface="Garamond" panose="02020404030301010803" pitchFamily="18" charset="0"/>
                            </a:rPr>
                            <a:t>~60mm</a:t>
                          </a:r>
                        </a:p>
                      </a:txBody>
                      <a:tcPr>
                        <a:solidFill>
                          <a:schemeClr val="accent5">
                            <a:lumMod val="60000"/>
                            <a:lumOff val="40000"/>
                          </a:schemeClr>
                        </a:solidFill>
                      </a:tcPr>
                    </a:tc>
                    <a:extLst>
                      <a:ext uri="{0D108BD9-81ED-4DB2-BD59-A6C34878D82A}">
                        <a16:rowId xmlns:a16="http://schemas.microsoft.com/office/drawing/2014/main" val="1408909629"/>
                      </a:ext>
                    </a:extLst>
                  </a:tr>
                </a:tbl>
              </a:graphicData>
            </a:graphic>
          </p:graphicFrame>
        </mc:Fallback>
      </mc:AlternateContent>
      <p:sp>
        <p:nvSpPr>
          <p:cNvPr id="20" name="Rectangle 19">
            <a:extLst>
              <a:ext uri="{FF2B5EF4-FFF2-40B4-BE49-F238E27FC236}">
                <a16:creationId xmlns:a16="http://schemas.microsoft.com/office/drawing/2014/main" id="{13FA7C8D-C1E7-473A-A9C1-FC21EDDE69F6}"/>
              </a:ext>
            </a:extLst>
          </p:cNvPr>
          <p:cNvSpPr/>
          <p:nvPr/>
        </p:nvSpPr>
        <p:spPr>
          <a:xfrm>
            <a:off x="6734093" y="1054812"/>
            <a:ext cx="4959144" cy="338554"/>
          </a:xfrm>
          <a:prstGeom prst="rect">
            <a:avLst/>
          </a:prstGeom>
          <a:solidFill>
            <a:schemeClr val="accent2">
              <a:lumMod val="40000"/>
              <a:lumOff val="60000"/>
            </a:schemeClr>
          </a:solidFill>
        </p:spPr>
        <p:txBody>
          <a:bodyPr wrap="square">
            <a:spAutoFit/>
          </a:bodyPr>
          <a:lstStyle/>
          <a:p>
            <a:r>
              <a:rPr lang="en-US" sz="1600" i="1" dirty="0">
                <a:solidFill>
                  <a:srgbClr val="0070C0"/>
                </a:solidFill>
                <a:latin typeface="Garamond" panose="02020404030301010803" pitchFamily="18" charset="0"/>
              </a:rPr>
              <a:t>Preliminary requirement definition</a:t>
            </a:r>
            <a:endParaRPr lang="en-US" sz="1200" i="1" dirty="0">
              <a:solidFill>
                <a:srgbClr val="0070C0"/>
              </a:solidFill>
              <a:latin typeface="Garamond" panose="02020404030301010803" pitchFamily="18" charset="0"/>
            </a:endParaRPr>
          </a:p>
        </p:txBody>
      </p:sp>
      <p:sp>
        <p:nvSpPr>
          <p:cNvPr id="16" name="Title 3">
            <a:extLst>
              <a:ext uri="{FF2B5EF4-FFF2-40B4-BE49-F238E27FC236}">
                <a16:creationId xmlns:a16="http://schemas.microsoft.com/office/drawing/2014/main" id="{08089C88-94E8-416C-81B3-B39FC7B29EE7}"/>
              </a:ext>
            </a:extLst>
          </p:cNvPr>
          <p:cNvSpPr txBox="1">
            <a:spLocks/>
          </p:cNvSpPr>
          <p:nvPr/>
        </p:nvSpPr>
        <p:spPr>
          <a:xfrm>
            <a:off x="498764" y="238316"/>
            <a:ext cx="11268363"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r>
              <a:rPr lang="en-US" sz="2400" dirty="0">
                <a:highlight>
                  <a:srgbClr val="C0C0C0"/>
                </a:highlight>
                <a:latin typeface="Garamond" panose="02020404030301010803" pitchFamily="18" charset="0"/>
              </a:rPr>
              <a:t>Define mission objectives and requirements:</a:t>
            </a:r>
          </a:p>
        </p:txBody>
      </p:sp>
    </p:spTree>
    <p:extLst>
      <p:ext uri="{BB962C8B-B14F-4D97-AF65-F5344CB8AC3E}">
        <p14:creationId xmlns:p14="http://schemas.microsoft.com/office/powerpoint/2010/main" val="4258502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9F66A5-9AE9-4E77-B4E8-ED8D4C9D1B24}"/>
              </a:ext>
            </a:extLst>
          </p:cNvPr>
          <p:cNvSpPr txBox="1">
            <a:spLocks/>
          </p:cNvSpPr>
          <p:nvPr/>
        </p:nvSpPr>
        <p:spPr>
          <a:xfrm>
            <a:off x="572655" y="284490"/>
            <a:ext cx="11157527"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r>
              <a:rPr lang="en-US" sz="2400" dirty="0">
                <a:highlight>
                  <a:srgbClr val="C0C0C0"/>
                </a:highlight>
                <a:latin typeface="Garamond" panose="02020404030301010803" pitchFamily="18" charset="0"/>
              </a:rPr>
              <a:t>Selecting image sensor</a:t>
            </a: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572655" y="754920"/>
            <a:ext cx="1115752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184090"/>
            <a:ext cx="10452682" cy="0"/>
          </a:xfrm>
          <a:prstGeom prst="line">
            <a:avLst/>
          </a:prstGeom>
          <a:ln/>
        </p:spPr>
        <p:style>
          <a:lnRef idx="3">
            <a:schemeClr val="accent2"/>
          </a:lnRef>
          <a:fillRef idx="0">
            <a:schemeClr val="accent2"/>
          </a:fillRef>
          <a:effectRef idx="2">
            <a:schemeClr val="accent2"/>
          </a:effectRef>
          <a:fontRef idx="minor">
            <a:schemeClr val="tx1"/>
          </a:fontRef>
        </p:style>
      </p:cxnSp>
      <p:sp>
        <p:nvSpPr>
          <p:cNvPr id="18" name="Rectangle 17">
            <a:extLst>
              <a:ext uri="{FF2B5EF4-FFF2-40B4-BE49-F238E27FC236}">
                <a16:creationId xmlns:a16="http://schemas.microsoft.com/office/drawing/2014/main" id="{B1F74221-3526-4E7B-BEA8-C150C77FB9AC}"/>
              </a:ext>
            </a:extLst>
          </p:cNvPr>
          <p:cNvSpPr/>
          <p:nvPr/>
        </p:nvSpPr>
        <p:spPr>
          <a:xfrm>
            <a:off x="5543408" y="4276044"/>
            <a:ext cx="5641830" cy="26275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200" i="1" dirty="0">
                <a:solidFill>
                  <a:srgbClr val="0070C0"/>
                </a:solidFill>
                <a:latin typeface="Garamond" panose="02020404030301010803" pitchFamily="18" charset="0"/>
              </a:rPr>
              <a:t>Figure 1:  Schematic view of optical system and camera (Credit: Planet Lab) </a:t>
            </a:r>
          </a:p>
        </p:txBody>
      </p:sp>
      <p:pic>
        <p:nvPicPr>
          <p:cNvPr id="16" name="Content Placeholder 15">
            <a:extLst>
              <a:ext uri="{FF2B5EF4-FFF2-40B4-BE49-F238E27FC236}">
                <a16:creationId xmlns:a16="http://schemas.microsoft.com/office/drawing/2014/main" id="{47007A66-6584-4D07-82B1-AE4CA08998DD}"/>
              </a:ext>
            </a:extLst>
          </p:cNvPr>
          <p:cNvPicPr>
            <a:picLocks noGrp="1" noChangeAspect="1"/>
          </p:cNvPicPr>
          <p:nvPr>
            <p:ph idx="1"/>
          </p:nvPr>
        </p:nvPicPr>
        <p:blipFill>
          <a:blip r:embed="rId3"/>
          <a:stretch>
            <a:fillRect/>
          </a:stretch>
        </p:blipFill>
        <p:spPr>
          <a:xfrm>
            <a:off x="5478752" y="1079974"/>
            <a:ext cx="5706486" cy="3067050"/>
          </a:xfrm>
          <a:prstGeom prst="rect">
            <a:avLst/>
          </a:prstGeom>
          <a:ln w="3175">
            <a:solidFill>
              <a:schemeClr val="tx1"/>
            </a:solidFill>
          </a:ln>
        </p:spPr>
      </p:pic>
      <p:sp>
        <p:nvSpPr>
          <p:cNvPr id="21" name="Rectangle 20">
            <a:extLst>
              <a:ext uri="{FF2B5EF4-FFF2-40B4-BE49-F238E27FC236}">
                <a16:creationId xmlns:a16="http://schemas.microsoft.com/office/drawing/2014/main" id="{7F91707C-2EDD-4CF2-A866-4D41987263CC}"/>
              </a:ext>
            </a:extLst>
          </p:cNvPr>
          <p:cNvSpPr/>
          <p:nvPr/>
        </p:nvSpPr>
        <p:spPr>
          <a:xfrm>
            <a:off x="572655" y="1064079"/>
            <a:ext cx="4729017" cy="308294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285750" indent="-285750" algn="just">
              <a:buFont typeface="Wingdings" panose="05000000000000000000" pitchFamily="2" charset="2"/>
              <a:buChar char="§"/>
            </a:pPr>
            <a:r>
              <a:rPr lang="en-US" sz="1400" dirty="0">
                <a:solidFill>
                  <a:schemeClr val="tx1"/>
                </a:solidFill>
                <a:latin typeface="Garamond" panose="02020404030301010803" pitchFamily="18" charset="0"/>
              </a:rPr>
              <a:t>An image sensor is a sensor that detects and conveys information used to form an image </a:t>
            </a:r>
          </a:p>
          <a:p>
            <a:pPr marL="285750" indent="-285750" algn="just">
              <a:buFont typeface="Wingdings" panose="05000000000000000000" pitchFamily="2" charset="2"/>
              <a:buChar char="§"/>
            </a:pPr>
            <a:r>
              <a:rPr lang="en-US" sz="1400" dirty="0">
                <a:solidFill>
                  <a:schemeClr val="tx1"/>
                </a:solidFill>
                <a:latin typeface="Garamond" panose="02020404030301010803" pitchFamily="18" charset="0"/>
              </a:rPr>
              <a:t>It can be used in electronic imaging devices of both analog and digital including digital camera, camera modules, medical imaging equipment, thermal imaging devices, radar and other.</a:t>
            </a:r>
          </a:p>
          <a:p>
            <a:pPr marL="285750" indent="-285750" algn="just">
              <a:buFont typeface="Wingdings" panose="05000000000000000000" pitchFamily="2" charset="2"/>
              <a:buChar char="§"/>
            </a:pPr>
            <a:r>
              <a:rPr lang="en-US" sz="1400" dirty="0">
                <a:solidFill>
                  <a:schemeClr val="tx1"/>
                </a:solidFill>
                <a:latin typeface="Garamond" panose="02020404030301010803" pitchFamily="18" charset="0"/>
              </a:rPr>
              <a:t>Typically there two types of electronic imaging sensor: CCD  and CMOS.  </a:t>
            </a:r>
          </a:p>
          <a:p>
            <a:pPr marL="285750" indent="-285750" algn="just">
              <a:buFont typeface="Wingdings" panose="05000000000000000000" pitchFamily="2" charset="2"/>
              <a:buChar char="§"/>
            </a:pPr>
            <a:r>
              <a:rPr lang="en-US" sz="1400" dirty="0">
                <a:solidFill>
                  <a:schemeClr val="tx1"/>
                </a:solidFill>
                <a:latin typeface="Garamond" panose="02020404030301010803" pitchFamily="18" charset="0"/>
              </a:rPr>
              <a:t>In this project on of the sensor is utilized from COTs depend on the mission of the spacecraft.</a:t>
            </a:r>
          </a:p>
          <a:p>
            <a:pPr marL="285750" indent="-285750" algn="just">
              <a:buFont typeface="Wingdings" panose="05000000000000000000" pitchFamily="2" charset="2"/>
              <a:buChar char="§"/>
            </a:pPr>
            <a:endParaRPr lang="en-US" sz="1400" dirty="0">
              <a:solidFill>
                <a:schemeClr val="tx1"/>
              </a:solidFill>
              <a:latin typeface="Garamond" panose="02020404030301010803" pitchFamily="18" charset="0"/>
            </a:endParaRPr>
          </a:p>
          <a:p>
            <a:pPr marL="285750" indent="-285750" algn="just">
              <a:buFont typeface="Wingdings" panose="05000000000000000000" pitchFamily="2" charset="2"/>
              <a:buChar char="§"/>
            </a:pPr>
            <a:endParaRPr lang="en-US" sz="1400" dirty="0">
              <a:solidFill>
                <a:schemeClr val="tx1"/>
              </a:solidFill>
              <a:latin typeface="Garamond" panose="02020404030301010803" pitchFamily="18" charset="0"/>
            </a:endParaRPr>
          </a:p>
        </p:txBody>
      </p:sp>
      <p:pic>
        <p:nvPicPr>
          <p:cNvPr id="22" name="Picture 21">
            <a:extLst>
              <a:ext uri="{FF2B5EF4-FFF2-40B4-BE49-F238E27FC236}">
                <a16:creationId xmlns:a16="http://schemas.microsoft.com/office/drawing/2014/main" id="{F6D7B542-740E-4030-B49F-3D87999BBDDB}"/>
              </a:ext>
            </a:extLst>
          </p:cNvPr>
          <p:cNvPicPr>
            <a:picLocks noChangeAspect="1"/>
          </p:cNvPicPr>
          <p:nvPr/>
        </p:nvPicPr>
        <p:blipFill>
          <a:blip r:embed="rId4"/>
          <a:stretch>
            <a:fillRect/>
          </a:stretch>
        </p:blipFill>
        <p:spPr>
          <a:xfrm>
            <a:off x="3103415" y="3827552"/>
            <a:ext cx="2022767" cy="2022764"/>
          </a:xfrm>
          <a:prstGeom prst="rect">
            <a:avLst/>
          </a:prstGeom>
        </p:spPr>
      </p:pic>
      <p:pic>
        <p:nvPicPr>
          <p:cNvPr id="2052" name="Picture 4" descr="https://upload.wikimedia.org/wikipedia/commons/thumb/6/66/Delta-Doped_Charged_Coupled_Devices_%28CCD%29_for_Ultra-Violet_and_Visible_Detection.jpg/220px-Delta-Doped_Charged_Coupled_Devices_%28CCD%29_for_Ultra-Violet_and_Visible_Detection.jpg">
            <a:extLst>
              <a:ext uri="{FF2B5EF4-FFF2-40B4-BE49-F238E27FC236}">
                <a16:creationId xmlns:a16="http://schemas.microsoft.com/office/drawing/2014/main" id="{40DC04F6-7524-4F56-B4B3-344E5DB740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9375" y="3827551"/>
            <a:ext cx="2095500" cy="2022761"/>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91F4913F-21E6-4F8B-984B-F1390CC5B696}"/>
              </a:ext>
            </a:extLst>
          </p:cNvPr>
          <p:cNvSpPr/>
          <p:nvPr/>
        </p:nvSpPr>
        <p:spPr>
          <a:xfrm>
            <a:off x="919374" y="5885820"/>
            <a:ext cx="4382297" cy="26275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200" i="1" dirty="0">
                <a:solidFill>
                  <a:srgbClr val="0070C0"/>
                </a:solidFill>
                <a:latin typeface="Garamond" panose="02020404030301010803" pitchFamily="18" charset="0"/>
              </a:rPr>
              <a:t>Figure 2:  Typical CCD and CMOS sensor (credit: Teledyne e2v)</a:t>
            </a:r>
          </a:p>
        </p:txBody>
      </p:sp>
      <p:sp>
        <p:nvSpPr>
          <p:cNvPr id="26" name="Rectangle 25">
            <a:extLst>
              <a:ext uri="{FF2B5EF4-FFF2-40B4-BE49-F238E27FC236}">
                <a16:creationId xmlns:a16="http://schemas.microsoft.com/office/drawing/2014/main" id="{2F7FFC63-2D90-4534-B7CD-CC7A49B2C63F}"/>
              </a:ext>
            </a:extLst>
          </p:cNvPr>
          <p:cNvSpPr/>
          <p:nvPr/>
        </p:nvSpPr>
        <p:spPr>
          <a:xfrm>
            <a:off x="5478752" y="4574314"/>
            <a:ext cx="5706485" cy="131150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285750" indent="-285750" algn="just">
              <a:buFont typeface="Wingdings" panose="05000000000000000000" pitchFamily="2" charset="2"/>
              <a:buChar char="§"/>
            </a:pPr>
            <a:r>
              <a:rPr lang="en-US" sz="1400" dirty="0">
                <a:solidFill>
                  <a:schemeClr val="tx1"/>
                </a:solidFill>
                <a:latin typeface="Garamond" panose="02020404030301010803" pitchFamily="18" charset="0"/>
              </a:rPr>
              <a:t>Both sensor accomplish the same task of capturing of light and converting into electrical signals. </a:t>
            </a:r>
          </a:p>
          <a:p>
            <a:pPr marL="285750" indent="-285750" algn="just">
              <a:buFont typeface="Wingdings" panose="05000000000000000000" pitchFamily="2" charset="2"/>
              <a:buChar char="§"/>
            </a:pPr>
            <a:r>
              <a:rPr lang="en-US" sz="1400" dirty="0">
                <a:solidFill>
                  <a:schemeClr val="tx1"/>
                </a:solidFill>
                <a:latin typeface="Garamond" panose="02020404030301010803" pitchFamily="18" charset="0"/>
              </a:rPr>
              <a:t>However, CMOS is usually cheaper and consume less power as compared CCD sensor. </a:t>
            </a:r>
          </a:p>
          <a:p>
            <a:pPr algn="just"/>
            <a:endParaRPr lang="en-US" sz="1400" dirty="0">
              <a:solidFill>
                <a:schemeClr val="tx1"/>
              </a:solidFill>
              <a:latin typeface="Garamond" panose="02020404030301010803" pitchFamily="18" charset="0"/>
            </a:endParaRPr>
          </a:p>
          <a:p>
            <a:pPr marL="285750" indent="-285750" algn="just">
              <a:buFont typeface="Wingdings" panose="05000000000000000000" pitchFamily="2" charset="2"/>
              <a:buChar char="§"/>
            </a:pPr>
            <a:endParaRPr lang="en-US" sz="1400" dirty="0">
              <a:solidFill>
                <a:schemeClr val="tx1"/>
              </a:solidFill>
              <a:latin typeface="Garamond" panose="02020404030301010803" pitchFamily="18" charset="0"/>
            </a:endParaRPr>
          </a:p>
        </p:txBody>
      </p:sp>
    </p:spTree>
    <p:extLst>
      <p:ext uri="{BB962C8B-B14F-4D97-AF65-F5344CB8AC3E}">
        <p14:creationId xmlns:p14="http://schemas.microsoft.com/office/powerpoint/2010/main" val="3858764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838200" y="1449633"/>
            <a:ext cx="10515600" cy="4720251"/>
          </a:xfrm>
        </p:spPr>
        <p:txBody>
          <a:bodyPr>
            <a:normAutofit/>
          </a:bodyPr>
          <a:lstStyle/>
          <a:p>
            <a:pPr>
              <a:buFont typeface="Wingdings" panose="05000000000000000000" pitchFamily="2" charset="2"/>
              <a:buChar char="§"/>
            </a:pPr>
            <a:r>
              <a:rPr lang="en-US" sz="1400" dirty="0">
                <a:latin typeface="Garamond" panose="02020404030301010803" pitchFamily="18" charset="0"/>
              </a:rPr>
              <a:t>The Schmidt Cassegrain is a catadioptric telescope that combines a Cassegrain reflector’s optical path with Schmidt corrector plate to make compact optical system.</a:t>
            </a:r>
          </a:p>
          <a:p>
            <a:pPr>
              <a:buFont typeface="Wingdings" panose="05000000000000000000" pitchFamily="2" charset="2"/>
              <a:buChar char="§"/>
            </a:pPr>
            <a:r>
              <a:rPr lang="en-US" sz="1400" dirty="0">
                <a:latin typeface="Garamond" panose="02020404030301010803" pitchFamily="18" charset="0"/>
              </a:rPr>
              <a:t>The preliminary performance analysis of this telescope, including MTF, spot diagram, ray aberration plot, pupil map, and others, is shown on the following pages:</a:t>
            </a:r>
          </a:p>
          <a:p>
            <a:pPr marL="0" indent="0">
              <a:buNone/>
            </a:pPr>
            <a:endParaRPr lang="en-US" sz="1400" dirty="0">
              <a:latin typeface="Garamond" panose="02020404030301010803" pitchFamily="18" charset="0"/>
            </a:endParaRPr>
          </a:p>
          <a:p>
            <a:pPr lvl="1">
              <a:buFont typeface="Wingdings" panose="05000000000000000000" pitchFamily="2" charset="2"/>
              <a:buChar char="§"/>
            </a:pPr>
            <a:endParaRPr lang="en-US" sz="1400" dirty="0">
              <a:latin typeface="Garamond" panose="02020404030301010803" pitchFamily="18" charset="0"/>
            </a:endParaRPr>
          </a:p>
          <a:p>
            <a:pPr marL="457200" lvl="1" indent="0">
              <a:buNone/>
            </a:pPr>
            <a:endParaRPr lang="en-US" sz="1400" dirty="0">
              <a:latin typeface="Garamond" panose="02020404030301010803" pitchFamily="18" charset="0"/>
            </a:endParaRPr>
          </a:p>
        </p:txBody>
      </p:sp>
      <p:sp>
        <p:nvSpPr>
          <p:cNvPr id="4" name="Title 3">
            <a:extLst>
              <a:ext uri="{FF2B5EF4-FFF2-40B4-BE49-F238E27FC236}">
                <a16:creationId xmlns:a16="http://schemas.microsoft.com/office/drawing/2014/main" id="{DA9F66A5-9AE9-4E77-B4E8-ED8D4C9D1B24}"/>
              </a:ext>
            </a:extLst>
          </p:cNvPr>
          <p:cNvSpPr txBox="1">
            <a:spLocks/>
          </p:cNvSpPr>
          <p:nvPr/>
        </p:nvSpPr>
        <p:spPr>
          <a:xfrm>
            <a:off x="707472" y="330678"/>
            <a:ext cx="11101430"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1" algn="ctr"/>
            <a:r>
              <a:rPr lang="en-US" sz="2400" dirty="0">
                <a:highlight>
                  <a:srgbClr val="C0C0C0"/>
                </a:highlight>
                <a:latin typeface="Garamond" panose="02020404030301010803" pitchFamily="18" charset="0"/>
              </a:rPr>
              <a:t>Optical and telescope design: Tradeoff </a:t>
            </a: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707472" y="801108"/>
            <a:ext cx="1110143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184090"/>
            <a:ext cx="10452682" cy="0"/>
          </a:xfrm>
          <a:prstGeom prst="line">
            <a:avLst/>
          </a:prstGeom>
          <a:ln/>
        </p:spPr>
        <p:style>
          <a:lnRef idx="3">
            <a:schemeClr val="accent2"/>
          </a:lnRef>
          <a:fillRef idx="0">
            <a:schemeClr val="accent2"/>
          </a:fillRef>
          <a:effectRef idx="2">
            <a:schemeClr val="accent2"/>
          </a:effectRef>
          <a:fontRef idx="minor">
            <a:schemeClr val="tx1"/>
          </a:fontRef>
        </p:style>
      </p:cxnSp>
      <p:sp>
        <p:nvSpPr>
          <p:cNvPr id="18" name="Rectangle 17">
            <a:extLst>
              <a:ext uri="{FF2B5EF4-FFF2-40B4-BE49-F238E27FC236}">
                <a16:creationId xmlns:a16="http://schemas.microsoft.com/office/drawing/2014/main" id="{B1F74221-3526-4E7B-BEA8-C150C77FB9AC}"/>
              </a:ext>
            </a:extLst>
          </p:cNvPr>
          <p:cNvSpPr/>
          <p:nvPr/>
        </p:nvSpPr>
        <p:spPr>
          <a:xfrm>
            <a:off x="6991925" y="5678465"/>
            <a:ext cx="4156365" cy="26275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4:</a:t>
            </a:r>
            <a:r>
              <a:rPr lang="en-US" sz="1400" dirty="0">
                <a:latin typeface="Garamond" panose="02020404030301010803" pitchFamily="18" charset="0"/>
              </a:rPr>
              <a:t> Flat-field Schmidt </a:t>
            </a:r>
            <a:r>
              <a:rPr lang="en-US" sz="1400" i="1" dirty="0">
                <a:latin typeface="Garamond" panose="02020404030301010803" pitchFamily="18" charset="0"/>
              </a:rPr>
              <a:t>optical system 3D</a:t>
            </a:r>
          </a:p>
        </p:txBody>
      </p:sp>
      <p:sp>
        <p:nvSpPr>
          <p:cNvPr id="21" name="Rectangle 20">
            <a:extLst>
              <a:ext uri="{FF2B5EF4-FFF2-40B4-BE49-F238E27FC236}">
                <a16:creationId xmlns:a16="http://schemas.microsoft.com/office/drawing/2014/main" id="{0312A256-0BFA-469A-8DF3-0C2DF34D44C4}"/>
              </a:ext>
            </a:extLst>
          </p:cNvPr>
          <p:cNvSpPr/>
          <p:nvPr/>
        </p:nvSpPr>
        <p:spPr>
          <a:xfrm>
            <a:off x="1491673" y="5643907"/>
            <a:ext cx="4932218" cy="26275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3:</a:t>
            </a:r>
            <a:r>
              <a:rPr lang="en-US" sz="1400" dirty="0">
                <a:latin typeface="Garamond" panose="02020404030301010803" pitchFamily="18" charset="0"/>
              </a:rPr>
              <a:t> Flat-field Schmidt catadioptric</a:t>
            </a:r>
            <a:r>
              <a:rPr lang="en-US" sz="1400" i="1" dirty="0">
                <a:latin typeface="Garamond" panose="02020404030301010803" pitchFamily="18" charset="0"/>
              </a:rPr>
              <a:t> optical system</a:t>
            </a:r>
          </a:p>
        </p:txBody>
      </p:sp>
      <p:pic>
        <p:nvPicPr>
          <p:cNvPr id="22" name="Picture 21">
            <a:extLst>
              <a:ext uri="{FF2B5EF4-FFF2-40B4-BE49-F238E27FC236}">
                <a16:creationId xmlns:a16="http://schemas.microsoft.com/office/drawing/2014/main" id="{F1D7B234-4D11-4DB4-BF1A-8EABB1D3F956}"/>
              </a:ext>
            </a:extLst>
          </p:cNvPr>
          <p:cNvPicPr>
            <a:picLocks noChangeAspect="1"/>
          </p:cNvPicPr>
          <p:nvPr/>
        </p:nvPicPr>
        <p:blipFill>
          <a:blip r:embed="rId3"/>
          <a:stretch>
            <a:fillRect/>
          </a:stretch>
        </p:blipFill>
        <p:spPr>
          <a:xfrm>
            <a:off x="1283855" y="2650193"/>
            <a:ext cx="5347854" cy="2979844"/>
          </a:xfrm>
          <a:prstGeom prst="rect">
            <a:avLst/>
          </a:prstGeom>
        </p:spPr>
      </p:pic>
      <p:sp>
        <p:nvSpPr>
          <p:cNvPr id="23" name="Rectangle 22">
            <a:extLst>
              <a:ext uri="{FF2B5EF4-FFF2-40B4-BE49-F238E27FC236}">
                <a16:creationId xmlns:a16="http://schemas.microsoft.com/office/drawing/2014/main" id="{185E3E11-22C1-45F8-BFEF-5E7110CD443E}"/>
              </a:ext>
            </a:extLst>
          </p:cNvPr>
          <p:cNvSpPr/>
          <p:nvPr/>
        </p:nvSpPr>
        <p:spPr>
          <a:xfrm>
            <a:off x="707472" y="947427"/>
            <a:ext cx="11101430" cy="262758"/>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latin typeface="Garamond" panose="02020404030301010803" pitchFamily="18" charset="0"/>
              </a:rPr>
              <a:t>1. Preliminary design of Flat-field Schmidt catadioptric optical system and its analysis</a:t>
            </a:r>
          </a:p>
        </p:txBody>
      </p:sp>
      <p:pic>
        <p:nvPicPr>
          <p:cNvPr id="16" name="Picture 15">
            <a:extLst>
              <a:ext uri="{FF2B5EF4-FFF2-40B4-BE49-F238E27FC236}">
                <a16:creationId xmlns:a16="http://schemas.microsoft.com/office/drawing/2014/main" id="{DCC7A62B-4078-401B-8074-23B0D9816D0D}"/>
              </a:ext>
            </a:extLst>
          </p:cNvPr>
          <p:cNvPicPr>
            <a:picLocks noChangeAspect="1"/>
          </p:cNvPicPr>
          <p:nvPr/>
        </p:nvPicPr>
        <p:blipFill>
          <a:blip r:embed="rId4"/>
          <a:stretch>
            <a:fillRect/>
          </a:stretch>
        </p:blipFill>
        <p:spPr>
          <a:xfrm>
            <a:off x="6991927" y="2650192"/>
            <a:ext cx="4156364" cy="2979844"/>
          </a:xfrm>
          <a:prstGeom prst="rect">
            <a:avLst/>
          </a:prstGeom>
          <a:ln>
            <a:solidFill>
              <a:srgbClr val="002060"/>
            </a:solidFill>
          </a:ln>
        </p:spPr>
      </p:pic>
    </p:spTree>
    <p:extLst>
      <p:ext uri="{BB962C8B-B14F-4D97-AF65-F5344CB8AC3E}">
        <p14:creationId xmlns:p14="http://schemas.microsoft.com/office/powerpoint/2010/main" val="946058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838200" y="1615900"/>
            <a:ext cx="10515600" cy="4351338"/>
          </a:xfrm>
        </p:spPr>
        <p:txBody>
          <a:bodyPr>
            <a:normAutofit/>
          </a:bodyPr>
          <a:lstStyle/>
          <a:p>
            <a:pPr lvl="1">
              <a:buFont typeface="Wingdings" panose="05000000000000000000" pitchFamily="2" charset="2"/>
              <a:buChar char="§"/>
            </a:pPr>
            <a:endParaRPr lang="en-US" sz="1400" dirty="0">
              <a:latin typeface="Garamond" panose="02020404030301010803" pitchFamily="18" charset="0"/>
            </a:endParaRPr>
          </a:p>
          <a:p>
            <a:pPr lvl="1">
              <a:buFont typeface="Wingdings" panose="05000000000000000000" pitchFamily="2" charset="2"/>
              <a:buChar char="§"/>
            </a:pPr>
            <a:endParaRPr lang="en-US" sz="1400" dirty="0">
              <a:latin typeface="Garamond" panose="02020404030301010803" pitchFamily="18" charset="0"/>
            </a:endParaRPr>
          </a:p>
        </p:txBody>
      </p:sp>
      <p:sp>
        <p:nvSpPr>
          <p:cNvPr id="4" name="Title 3">
            <a:extLst>
              <a:ext uri="{FF2B5EF4-FFF2-40B4-BE49-F238E27FC236}">
                <a16:creationId xmlns:a16="http://schemas.microsoft.com/office/drawing/2014/main" id="{DA9F66A5-9AE9-4E77-B4E8-ED8D4C9D1B24}"/>
              </a:ext>
            </a:extLst>
          </p:cNvPr>
          <p:cNvSpPr txBox="1">
            <a:spLocks/>
          </p:cNvSpPr>
          <p:nvPr/>
        </p:nvSpPr>
        <p:spPr>
          <a:xfrm>
            <a:off x="665018" y="376858"/>
            <a:ext cx="10819510"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1" algn="ctr"/>
            <a:r>
              <a:rPr lang="en-US" sz="2400" dirty="0">
                <a:highlight>
                  <a:srgbClr val="C0C0C0"/>
                </a:highlight>
                <a:latin typeface="Garamond" panose="02020404030301010803" pitchFamily="18" charset="0"/>
              </a:rPr>
              <a:t>Cont’d…</a:t>
            </a: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665018" y="847288"/>
            <a:ext cx="1081951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414994"/>
            <a:ext cx="10452682" cy="0"/>
          </a:xfrm>
          <a:prstGeom prst="line">
            <a:avLst/>
          </a:prstGeom>
          <a:ln/>
        </p:spPr>
        <p:style>
          <a:lnRef idx="3">
            <a:schemeClr val="accent2"/>
          </a:lnRef>
          <a:fillRef idx="0">
            <a:schemeClr val="accent2"/>
          </a:fillRef>
          <a:effectRef idx="2">
            <a:schemeClr val="accent2"/>
          </a:effectRef>
          <a:fontRef idx="minor">
            <a:schemeClr val="tx1"/>
          </a:fontRef>
        </p:style>
      </p:cxnSp>
      <p:sp>
        <p:nvSpPr>
          <p:cNvPr id="11" name="Rectangle 10">
            <a:extLst>
              <a:ext uri="{FF2B5EF4-FFF2-40B4-BE49-F238E27FC236}">
                <a16:creationId xmlns:a16="http://schemas.microsoft.com/office/drawing/2014/main" id="{16D62301-D52C-4E1F-9EDD-F6500A060515}"/>
              </a:ext>
            </a:extLst>
          </p:cNvPr>
          <p:cNvSpPr/>
          <p:nvPr/>
        </p:nvSpPr>
        <p:spPr>
          <a:xfrm>
            <a:off x="1681018" y="6124960"/>
            <a:ext cx="9160069" cy="27252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5:</a:t>
            </a:r>
            <a:r>
              <a:rPr lang="en-US" sz="1400" dirty="0">
                <a:latin typeface="Garamond" panose="02020404030301010803" pitchFamily="18" charset="0"/>
              </a:rPr>
              <a:t> Flat-field </a:t>
            </a:r>
            <a:r>
              <a:rPr lang="en-US" sz="1400" i="1" dirty="0">
                <a:latin typeface="Garamond" panose="02020404030301010803" pitchFamily="18" charset="0"/>
              </a:rPr>
              <a:t>catadioptric optical system spot diagram and its modulation transfer function  </a:t>
            </a:r>
          </a:p>
        </p:txBody>
      </p:sp>
      <p:pic>
        <p:nvPicPr>
          <p:cNvPr id="7" name="Picture 6">
            <a:extLst>
              <a:ext uri="{FF2B5EF4-FFF2-40B4-BE49-F238E27FC236}">
                <a16:creationId xmlns:a16="http://schemas.microsoft.com/office/drawing/2014/main" id="{2BBE5BCA-C0BD-46CD-9393-0CD82D9689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6546" y="1830883"/>
            <a:ext cx="5022070" cy="4228688"/>
          </a:xfrm>
          <a:prstGeom prst="rect">
            <a:avLst/>
          </a:prstGeom>
        </p:spPr>
      </p:pic>
      <p:sp>
        <p:nvSpPr>
          <p:cNvPr id="15" name="Rectangle 14">
            <a:extLst>
              <a:ext uri="{FF2B5EF4-FFF2-40B4-BE49-F238E27FC236}">
                <a16:creationId xmlns:a16="http://schemas.microsoft.com/office/drawing/2014/main" id="{A9DCF3F2-6E81-4CFA-8AD7-DFD87E05AFE8}"/>
              </a:ext>
            </a:extLst>
          </p:cNvPr>
          <p:cNvSpPr/>
          <p:nvPr/>
        </p:nvSpPr>
        <p:spPr>
          <a:xfrm>
            <a:off x="909782" y="970533"/>
            <a:ext cx="10574746" cy="768014"/>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marL="285750" indent="-285750" algn="just">
              <a:buFont typeface="Wingdings" panose="05000000000000000000" pitchFamily="2" charset="2"/>
              <a:buChar char="§"/>
            </a:pPr>
            <a:r>
              <a:rPr lang="en-US" sz="1400" b="1" dirty="0">
                <a:solidFill>
                  <a:schemeClr val="tx1"/>
                </a:solidFill>
                <a:latin typeface="Garamond" panose="02020404030301010803" pitchFamily="18" charset="0"/>
              </a:rPr>
              <a:t>MTF (Modulation transfer function): </a:t>
            </a:r>
            <a:r>
              <a:rPr lang="en-US" sz="1400" dirty="0">
                <a:solidFill>
                  <a:schemeClr val="tx1"/>
                </a:solidFill>
                <a:latin typeface="Garamond" panose="02020404030301010803" pitchFamily="18" charset="0"/>
              </a:rPr>
              <a:t>is measure of the ability of an optical system to transfer various levels of detail from object to image. </a:t>
            </a:r>
          </a:p>
          <a:p>
            <a:pPr marL="285750" indent="-285750" algn="just">
              <a:buFont typeface="Wingdings" panose="05000000000000000000" pitchFamily="2" charset="2"/>
              <a:buChar char="§"/>
            </a:pPr>
            <a:r>
              <a:rPr lang="en-US" sz="1400" b="1" dirty="0">
                <a:solidFill>
                  <a:schemeClr val="tx1"/>
                </a:solidFill>
                <a:latin typeface="Garamond" panose="02020404030301010803" pitchFamily="18" charset="0"/>
              </a:rPr>
              <a:t>Spot diagram: </a:t>
            </a:r>
            <a:r>
              <a:rPr lang="en-US" sz="1400" dirty="0">
                <a:solidFill>
                  <a:schemeClr val="tx1"/>
                </a:solidFill>
                <a:latin typeface="Garamond" panose="02020404030301010803" pitchFamily="18" charset="0"/>
              </a:rPr>
              <a:t>are graphical tool used to show where rays from a point object will fall on the image surface (they must fall close together if the lens is to form a good image).  </a:t>
            </a:r>
          </a:p>
        </p:txBody>
      </p:sp>
      <p:pic>
        <p:nvPicPr>
          <p:cNvPr id="18" name="Picture 17">
            <a:extLst>
              <a:ext uri="{FF2B5EF4-FFF2-40B4-BE49-F238E27FC236}">
                <a16:creationId xmlns:a16="http://schemas.microsoft.com/office/drawing/2014/main" id="{BB372169-6994-472C-B5C7-5CD3FF41AA6B}"/>
              </a:ext>
            </a:extLst>
          </p:cNvPr>
          <p:cNvPicPr>
            <a:picLocks noChangeAspect="1"/>
          </p:cNvPicPr>
          <p:nvPr/>
        </p:nvPicPr>
        <p:blipFill>
          <a:blip r:embed="rId3"/>
          <a:stretch>
            <a:fillRect/>
          </a:stretch>
        </p:blipFill>
        <p:spPr>
          <a:xfrm>
            <a:off x="1618763" y="1830882"/>
            <a:ext cx="4260404" cy="4351327"/>
          </a:xfrm>
          <a:prstGeom prst="rect">
            <a:avLst/>
          </a:prstGeom>
        </p:spPr>
      </p:pic>
    </p:spTree>
    <p:extLst>
      <p:ext uri="{BB962C8B-B14F-4D97-AF65-F5344CB8AC3E}">
        <p14:creationId xmlns:p14="http://schemas.microsoft.com/office/powerpoint/2010/main" val="317363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9F66A5-9AE9-4E77-B4E8-ED8D4C9D1B24}"/>
              </a:ext>
            </a:extLst>
          </p:cNvPr>
          <p:cNvSpPr txBox="1">
            <a:spLocks/>
          </p:cNvSpPr>
          <p:nvPr/>
        </p:nvSpPr>
        <p:spPr>
          <a:xfrm>
            <a:off x="461818" y="376858"/>
            <a:ext cx="11268364"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highlight>
                  <a:srgbClr val="C0C0C0"/>
                </a:highlight>
                <a:latin typeface="Garamond" panose="02020404030301010803" pitchFamily="18" charset="0"/>
              </a:rPr>
              <a:t>Cont’d… </a:t>
            </a:r>
            <a:endParaRPr lang="en-US" sz="2400" dirty="0">
              <a:latin typeface="Garamond" panose="02020404030301010803" pitchFamily="18" charset="0"/>
            </a:endParaRP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461818" y="847288"/>
            <a:ext cx="11268364"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396518"/>
            <a:ext cx="10452682" cy="0"/>
          </a:xfrm>
          <a:prstGeom prst="line">
            <a:avLst/>
          </a:prstGeom>
          <a:ln/>
        </p:spPr>
        <p:style>
          <a:lnRef idx="3">
            <a:schemeClr val="accent2"/>
          </a:lnRef>
          <a:fillRef idx="0">
            <a:schemeClr val="accent2"/>
          </a:fillRef>
          <a:effectRef idx="2">
            <a:schemeClr val="accent2"/>
          </a:effectRef>
          <a:fontRef idx="minor">
            <a:schemeClr val="tx1"/>
          </a:fontRef>
        </p:style>
      </p:cxnSp>
      <p:pic>
        <p:nvPicPr>
          <p:cNvPr id="20" name="Picture 19">
            <a:extLst>
              <a:ext uri="{FF2B5EF4-FFF2-40B4-BE49-F238E27FC236}">
                <a16:creationId xmlns:a16="http://schemas.microsoft.com/office/drawing/2014/main" id="{2C791AEB-D47B-459B-A672-824F79E43571}"/>
              </a:ext>
            </a:extLst>
          </p:cNvPr>
          <p:cNvPicPr>
            <a:picLocks noChangeAspect="1"/>
          </p:cNvPicPr>
          <p:nvPr/>
        </p:nvPicPr>
        <p:blipFill>
          <a:blip r:embed="rId2"/>
          <a:stretch>
            <a:fillRect/>
          </a:stretch>
        </p:blipFill>
        <p:spPr>
          <a:xfrm>
            <a:off x="1370243" y="1984105"/>
            <a:ext cx="5381537" cy="4185492"/>
          </a:xfrm>
          <a:prstGeom prst="rect">
            <a:avLst/>
          </a:prstGeom>
        </p:spPr>
      </p:pic>
      <p:pic>
        <p:nvPicPr>
          <p:cNvPr id="23" name="Picture 22">
            <a:extLst>
              <a:ext uri="{FF2B5EF4-FFF2-40B4-BE49-F238E27FC236}">
                <a16:creationId xmlns:a16="http://schemas.microsoft.com/office/drawing/2014/main" id="{61C92CFB-E956-4E0E-BAA0-1DC54FEE7157}"/>
              </a:ext>
            </a:extLst>
          </p:cNvPr>
          <p:cNvPicPr>
            <a:picLocks noChangeAspect="1"/>
          </p:cNvPicPr>
          <p:nvPr/>
        </p:nvPicPr>
        <p:blipFill>
          <a:blip r:embed="rId3"/>
          <a:stretch>
            <a:fillRect/>
          </a:stretch>
        </p:blipFill>
        <p:spPr>
          <a:xfrm>
            <a:off x="7069459" y="1976512"/>
            <a:ext cx="4180432" cy="4193660"/>
          </a:xfrm>
          <a:prstGeom prst="rect">
            <a:avLst/>
          </a:prstGeom>
        </p:spPr>
      </p:pic>
      <p:sp>
        <p:nvSpPr>
          <p:cNvPr id="26" name="Rectangle 25">
            <a:extLst>
              <a:ext uri="{FF2B5EF4-FFF2-40B4-BE49-F238E27FC236}">
                <a16:creationId xmlns:a16="http://schemas.microsoft.com/office/drawing/2014/main" id="{0D3B85D4-51CE-4DC5-BC28-B3A86B263453}"/>
              </a:ext>
            </a:extLst>
          </p:cNvPr>
          <p:cNvSpPr/>
          <p:nvPr/>
        </p:nvSpPr>
        <p:spPr>
          <a:xfrm>
            <a:off x="1681018" y="6124960"/>
            <a:ext cx="9160069" cy="27252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6:</a:t>
            </a:r>
            <a:r>
              <a:rPr lang="en-US" sz="1400" dirty="0">
                <a:latin typeface="Garamond" panose="02020404030301010803" pitchFamily="18" charset="0"/>
              </a:rPr>
              <a:t> Flat-field </a:t>
            </a:r>
            <a:r>
              <a:rPr lang="en-US" sz="1400" i="1" dirty="0">
                <a:latin typeface="Garamond" panose="02020404030301010803" pitchFamily="18" charset="0"/>
              </a:rPr>
              <a:t>catadioptric optical system encircled energy fraction and its intensity spread function</a:t>
            </a:r>
          </a:p>
        </p:txBody>
      </p:sp>
      <p:sp>
        <p:nvSpPr>
          <p:cNvPr id="27" name="Rectangle 26">
            <a:extLst>
              <a:ext uri="{FF2B5EF4-FFF2-40B4-BE49-F238E27FC236}">
                <a16:creationId xmlns:a16="http://schemas.microsoft.com/office/drawing/2014/main" id="{4FCC087A-D00E-4ED4-A5D2-72C6A23F4709}"/>
              </a:ext>
            </a:extLst>
          </p:cNvPr>
          <p:cNvSpPr/>
          <p:nvPr/>
        </p:nvSpPr>
        <p:spPr>
          <a:xfrm>
            <a:off x="868218" y="885911"/>
            <a:ext cx="10861963" cy="1059572"/>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marL="285750" indent="-285750" algn="just">
              <a:buFont typeface="Wingdings" panose="05000000000000000000" pitchFamily="2" charset="2"/>
              <a:buChar char="§"/>
            </a:pPr>
            <a:r>
              <a:rPr lang="en-US" sz="1400" b="1" dirty="0">
                <a:solidFill>
                  <a:schemeClr val="tx1"/>
                </a:solidFill>
                <a:latin typeface="Garamond" panose="02020404030301010803" pitchFamily="18" charset="0"/>
              </a:rPr>
              <a:t>Diffraction intensity spread function: </a:t>
            </a:r>
            <a:r>
              <a:rPr lang="en-US" sz="1400" dirty="0">
                <a:solidFill>
                  <a:schemeClr val="tx1"/>
                </a:solidFill>
                <a:latin typeface="Garamond" panose="02020404030301010803" pitchFamily="18" charset="0"/>
              </a:rPr>
              <a:t>computes the wave aberration of the system, and by fast Fourier transform, the diffraction image shape in the designated focal plane over the wavelength according to the weights assigned to system is the LDM. </a:t>
            </a:r>
          </a:p>
          <a:p>
            <a:pPr marL="285750" indent="-285750" algn="just">
              <a:buFont typeface="Wingdings" panose="05000000000000000000" pitchFamily="2" charset="2"/>
              <a:buChar char="§"/>
            </a:pPr>
            <a:r>
              <a:rPr lang="en-US" sz="1400" dirty="0">
                <a:solidFill>
                  <a:schemeClr val="tx1"/>
                </a:solidFill>
                <a:latin typeface="Garamond" panose="02020404030301010803" pitchFamily="18" charset="0"/>
              </a:rPr>
              <a:t>This image patch is represented by intensity values in a grid across the image with the chief ray or optical axis as the center point of the grid.  </a:t>
            </a:r>
          </a:p>
          <a:p>
            <a:pPr marL="285750" indent="-285750" algn="just">
              <a:buFont typeface="Wingdings" panose="05000000000000000000" pitchFamily="2" charset="2"/>
              <a:buChar char="§"/>
            </a:pPr>
            <a:r>
              <a:rPr lang="en-US" sz="1400" b="1" dirty="0">
                <a:solidFill>
                  <a:schemeClr val="tx1"/>
                </a:solidFill>
                <a:latin typeface="Garamond" panose="02020404030301010803" pitchFamily="18" charset="0"/>
              </a:rPr>
              <a:t>Diffraction encircled energy: </a:t>
            </a:r>
            <a:r>
              <a:rPr lang="en-US" sz="1400" dirty="0">
                <a:solidFill>
                  <a:schemeClr val="tx1"/>
                </a:solidFill>
                <a:latin typeface="Garamond" panose="02020404030301010803" pitchFamily="18" charset="0"/>
              </a:rPr>
              <a:t> is an alternate grid display circle diameters that enclose fixed percentage of energy. The circles are minimized by scanning their centers along the y-axis running from the chief ray in the image. </a:t>
            </a:r>
          </a:p>
        </p:txBody>
      </p:sp>
    </p:spTree>
    <p:extLst>
      <p:ext uri="{BB962C8B-B14F-4D97-AF65-F5344CB8AC3E}">
        <p14:creationId xmlns:p14="http://schemas.microsoft.com/office/powerpoint/2010/main" val="369040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838200" y="1615900"/>
            <a:ext cx="10515600" cy="4351338"/>
          </a:xfrm>
        </p:spPr>
        <p:txBody>
          <a:bodyPr>
            <a:normAutofit/>
          </a:bodyPr>
          <a:lstStyle/>
          <a:p>
            <a:pPr marL="457200" lvl="1" indent="0">
              <a:buNone/>
            </a:pPr>
            <a:endParaRPr lang="en-US" sz="1400" dirty="0">
              <a:latin typeface="Garamond" panose="02020404030301010803" pitchFamily="18" charset="0"/>
            </a:endParaRPr>
          </a:p>
          <a:p>
            <a:pPr lvl="1">
              <a:buFont typeface="Wingdings" panose="05000000000000000000" pitchFamily="2" charset="2"/>
              <a:buChar char="§"/>
            </a:pPr>
            <a:endParaRPr lang="en-US" sz="1400" dirty="0">
              <a:latin typeface="Garamond" panose="02020404030301010803" pitchFamily="18" charset="0"/>
            </a:endParaRPr>
          </a:p>
        </p:txBody>
      </p:sp>
      <p:sp>
        <p:nvSpPr>
          <p:cNvPr id="4" name="Title 3">
            <a:extLst>
              <a:ext uri="{FF2B5EF4-FFF2-40B4-BE49-F238E27FC236}">
                <a16:creationId xmlns:a16="http://schemas.microsoft.com/office/drawing/2014/main" id="{DA9F66A5-9AE9-4E77-B4E8-ED8D4C9D1B24}"/>
              </a:ext>
            </a:extLst>
          </p:cNvPr>
          <p:cNvSpPr txBox="1">
            <a:spLocks/>
          </p:cNvSpPr>
          <p:nvPr/>
        </p:nvSpPr>
        <p:spPr>
          <a:xfrm>
            <a:off x="535709" y="376858"/>
            <a:ext cx="11259127"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1" algn="ctr"/>
            <a:r>
              <a:rPr lang="en-US" sz="2400" dirty="0">
                <a:highlight>
                  <a:srgbClr val="C0C0C0"/>
                </a:highlight>
                <a:latin typeface="Garamond" panose="02020404030301010803" pitchFamily="18" charset="0"/>
              </a:rPr>
              <a:t>Cont’d…</a:t>
            </a: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535709" y="847288"/>
            <a:ext cx="1125912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479650"/>
            <a:ext cx="10452682" cy="0"/>
          </a:xfrm>
          <a:prstGeom prst="line">
            <a:avLst/>
          </a:prstGeom>
          <a:ln/>
        </p:spPr>
        <p:style>
          <a:lnRef idx="3">
            <a:schemeClr val="accent2"/>
          </a:lnRef>
          <a:fillRef idx="0">
            <a:schemeClr val="accent2"/>
          </a:fillRef>
          <a:effectRef idx="2">
            <a:schemeClr val="accent2"/>
          </a:effectRef>
          <a:fontRef idx="minor">
            <a:schemeClr val="tx1"/>
          </a:fontRef>
        </p:style>
      </p:cxnSp>
      <p:pic>
        <p:nvPicPr>
          <p:cNvPr id="16" name="Picture 15">
            <a:extLst>
              <a:ext uri="{FF2B5EF4-FFF2-40B4-BE49-F238E27FC236}">
                <a16:creationId xmlns:a16="http://schemas.microsoft.com/office/drawing/2014/main" id="{5239CD3C-7EA9-487B-AFF2-553E467B6269}"/>
              </a:ext>
            </a:extLst>
          </p:cNvPr>
          <p:cNvPicPr>
            <a:picLocks noChangeAspect="1"/>
          </p:cNvPicPr>
          <p:nvPr/>
        </p:nvPicPr>
        <p:blipFill>
          <a:blip r:embed="rId2"/>
          <a:stretch>
            <a:fillRect/>
          </a:stretch>
        </p:blipFill>
        <p:spPr>
          <a:xfrm>
            <a:off x="951345" y="1704105"/>
            <a:ext cx="4950691" cy="4306602"/>
          </a:xfrm>
          <a:prstGeom prst="rect">
            <a:avLst/>
          </a:prstGeom>
        </p:spPr>
      </p:pic>
      <p:pic>
        <p:nvPicPr>
          <p:cNvPr id="17" name="Picture 16">
            <a:extLst>
              <a:ext uri="{FF2B5EF4-FFF2-40B4-BE49-F238E27FC236}">
                <a16:creationId xmlns:a16="http://schemas.microsoft.com/office/drawing/2014/main" id="{1F8ACFC9-C14D-4239-88DE-9512C2B3FD5A}"/>
              </a:ext>
            </a:extLst>
          </p:cNvPr>
          <p:cNvPicPr>
            <a:picLocks noChangeAspect="1"/>
          </p:cNvPicPr>
          <p:nvPr/>
        </p:nvPicPr>
        <p:blipFill>
          <a:blip r:embed="rId3"/>
          <a:stretch>
            <a:fillRect/>
          </a:stretch>
        </p:blipFill>
        <p:spPr>
          <a:xfrm>
            <a:off x="6372564" y="1704104"/>
            <a:ext cx="4510708" cy="4306601"/>
          </a:xfrm>
          <a:prstGeom prst="rect">
            <a:avLst/>
          </a:prstGeom>
        </p:spPr>
      </p:pic>
      <p:sp>
        <p:nvSpPr>
          <p:cNvPr id="19" name="Rectangle 18">
            <a:extLst>
              <a:ext uri="{FF2B5EF4-FFF2-40B4-BE49-F238E27FC236}">
                <a16:creationId xmlns:a16="http://schemas.microsoft.com/office/drawing/2014/main" id="{F4C20027-6C65-4949-A78D-B0BA9B668FF7}"/>
              </a:ext>
            </a:extLst>
          </p:cNvPr>
          <p:cNvSpPr/>
          <p:nvPr/>
        </p:nvSpPr>
        <p:spPr>
          <a:xfrm>
            <a:off x="1585237" y="6080821"/>
            <a:ext cx="9160069" cy="241776"/>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7:</a:t>
            </a:r>
            <a:r>
              <a:rPr lang="en-US" sz="1400" dirty="0">
                <a:latin typeface="Garamond" panose="02020404030301010803" pitchFamily="18" charset="0"/>
              </a:rPr>
              <a:t> Flat-field </a:t>
            </a:r>
            <a:r>
              <a:rPr lang="en-US" sz="1400" i="1" dirty="0">
                <a:latin typeface="Garamond" panose="02020404030301010803" pitchFamily="18" charset="0"/>
              </a:rPr>
              <a:t>catadioptric optical system ray aberration plot and its 2D image simulation</a:t>
            </a:r>
          </a:p>
        </p:txBody>
      </p:sp>
      <p:sp>
        <p:nvSpPr>
          <p:cNvPr id="20" name="Rectangle 19">
            <a:extLst>
              <a:ext uri="{FF2B5EF4-FFF2-40B4-BE49-F238E27FC236}">
                <a16:creationId xmlns:a16="http://schemas.microsoft.com/office/drawing/2014/main" id="{0CD19462-B6EE-4175-97D5-8DCB168056DC}"/>
              </a:ext>
            </a:extLst>
          </p:cNvPr>
          <p:cNvSpPr/>
          <p:nvPr/>
        </p:nvSpPr>
        <p:spPr>
          <a:xfrm>
            <a:off x="909782" y="970533"/>
            <a:ext cx="10574746" cy="768014"/>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marL="285750" indent="-285750" algn="just">
              <a:buFont typeface="Wingdings" panose="05000000000000000000" pitchFamily="2" charset="2"/>
              <a:buChar char="§"/>
            </a:pPr>
            <a:r>
              <a:rPr lang="en-US" sz="1400" b="1" dirty="0">
                <a:solidFill>
                  <a:schemeClr val="tx1"/>
                </a:solidFill>
                <a:latin typeface="Garamond" panose="02020404030301010803" pitchFamily="18" charset="0"/>
              </a:rPr>
              <a:t>Ray aberration curve: </a:t>
            </a:r>
            <a:r>
              <a:rPr lang="en-US" sz="1400" dirty="0">
                <a:solidFill>
                  <a:schemeClr val="tx1"/>
                </a:solidFill>
                <a:latin typeface="Garamond" panose="02020404030301010803" pitchFamily="18" charset="0"/>
              </a:rPr>
              <a:t>provide a graphic display of lens aberrations. It can display transverse aberration (real-ray position from real chief-ray position on image surface vertex tangent plane in lens unit) and wave aberration (optical path difference in waves at each wave length). </a:t>
            </a:r>
          </a:p>
          <a:p>
            <a:pPr marL="285750" indent="-285750" algn="just">
              <a:buFont typeface="Wingdings" panose="05000000000000000000" pitchFamily="2" charset="2"/>
              <a:buChar char="§"/>
            </a:pPr>
            <a:r>
              <a:rPr lang="en-US" sz="1400" b="1" dirty="0">
                <a:solidFill>
                  <a:schemeClr val="tx1"/>
                </a:solidFill>
                <a:latin typeface="Garamond" panose="02020404030301010803" pitchFamily="18" charset="0"/>
              </a:rPr>
              <a:t>2D image simulation: </a:t>
            </a:r>
            <a:r>
              <a:rPr lang="en-US" sz="1400" dirty="0">
                <a:solidFill>
                  <a:schemeClr val="tx1"/>
                </a:solidFill>
                <a:latin typeface="Garamond" panose="02020404030301010803" pitchFamily="18" charset="0"/>
              </a:rPr>
              <a:t>simulates the appearance of a 2D input object as it is imaged through the optical system defined in CODE V. </a:t>
            </a:r>
          </a:p>
        </p:txBody>
      </p:sp>
    </p:spTree>
    <p:extLst>
      <p:ext uri="{BB962C8B-B14F-4D97-AF65-F5344CB8AC3E}">
        <p14:creationId xmlns:p14="http://schemas.microsoft.com/office/powerpoint/2010/main" val="828247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838200" y="1237677"/>
                <a:ext cx="10515600" cy="4729561"/>
              </a:xfrm>
            </p:spPr>
            <p:txBody>
              <a:bodyPr>
                <a:normAutofit/>
              </a:bodyPr>
              <a:lstStyle/>
              <a:p>
                <a:pPr marL="0" indent="0">
                  <a:buNone/>
                </a:pPr>
                <a:r>
                  <a:rPr lang="en-US" sz="1400" dirty="0">
                    <a:latin typeface="Garamond" panose="02020404030301010803" pitchFamily="18" charset="0"/>
                  </a:rPr>
                  <a:t>The Ritchey-</a:t>
                </a:r>
                <a:r>
                  <a:rPr lang="en-US" sz="1400" dirty="0" err="1">
                    <a:latin typeface="Garamond" panose="02020404030301010803" pitchFamily="18" charset="0"/>
                  </a:rPr>
                  <a:t>Chretian</a:t>
                </a:r>
                <a:r>
                  <a:rPr lang="en-US" sz="1400" dirty="0">
                    <a:latin typeface="Garamond" panose="02020404030301010803" pitchFamily="18" charset="0"/>
                  </a:rPr>
                  <a:t> telescope is a customized version of the Cassegrain telescope with a hyperbolic primary mirror and a hyperbolic secondary mirror intended to remove coma-causing off-axis optical aberrations.</a:t>
                </a:r>
              </a:p>
              <a:p>
                <a:pPr lvl="1">
                  <a:buFont typeface="Wingdings" panose="05000000000000000000" pitchFamily="2" charset="2"/>
                  <a:buChar char="§"/>
                </a:pPr>
                <a:r>
                  <a:rPr lang="en-US" sz="1400" dirty="0">
                    <a:latin typeface="Garamond" panose="02020404030301010803" pitchFamily="18" charset="0"/>
                  </a:rPr>
                  <a:t>This system has very short optical tube assembly and compact design for a given focal length.</a:t>
                </a:r>
              </a:p>
              <a:p>
                <a:pPr lvl="1">
                  <a:buFont typeface="Wingdings" panose="05000000000000000000" pitchFamily="2" charset="2"/>
                  <a:buChar char="§"/>
                </a:pPr>
                <a:r>
                  <a:rPr lang="en-US" sz="1400" dirty="0">
                    <a:latin typeface="Garamond" panose="02020404030301010803" pitchFamily="18" charset="0"/>
                  </a:rPr>
                  <a:t>It offers good off-axis optical performance, but its mirror requires sophisticated techniques to manufacture and test.</a:t>
                </a:r>
              </a:p>
              <a:p>
                <a:pPr lvl="1">
                  <a:buFont typeface="Wingdings" panose="05000000000000000000" pitchFamily="2" charset="2"/>
                  <a:buChar char="§"/>
                </a:pPr>
                <a:r>
                  <a:rPr lang="en-US" sz="1400" dirty="0">
                    <a:latin typeface="Garamond" panose="02020404030301010803" pitchFamily="18" charset="0"/>
                  </a:rPr>
                  <a:t>The semi-field of view and f-number for RCT are 11.680700 and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0.6</m:t>
                        </m:r>
                      </m:e>
                      <m:sup>
                        <m:r>
                          <a:rPr lang="en-US" sz="1400" i="1">
                            <a:latin typeface="Cambria Math" panose="02040503050406030204" pitchFamily="18" charset="0"/>
                          </a:rPr>
                          <m:t>0</m:t>
                        </m:r>
                      </m:sup>
                    </m:sSup>
                  </m:oMath>
                </a14:m>
                <a:r>
                  <a:rPr lang="en-US" sz="1400" dirty="0">
                    <a:latin typeface="Garamond" panose="02020404030301010803" pitchFamily="18" charset="0"/>
                  </a:rPr>
                  <a:t>, respectively.</a:t>
                </a:r>
              </a:p>
              <a:p>
                <a:pPr lvl="1">
                  <a:buFont typeface="Wingdings" panose="05000000000000000000" pitchFamily="2" charset="2"/>
                  <a:buChar char="§"/>
                </a:pPr>
                <a:endParaRPr lang="en-US" sz="1400" dirty="0">
                  <a:latin typeface="Garamond" panose="02020404030301010803" pitchFamily="18" charset="0"/>
                </a:endParaRPr>
              </a:p>
              <a:p>
                <a:pPr marL="457200" lvl="1" indent="0">
                  <a:buNone/>
                </a:pPr>
                <a:endParaRPr lang="en-US" sz="1400" dirty="0">
                  <a:latin typeface="Garamond" panose="02020404030301010803" pitchFamily="18" charset="0"/>
                </a:endParaRPr>
              </a:p>
            </p:txBody>
          </p:sp>
        </mc:Choice>
        <mc:Fallback xmlns="">
          <p:sp>
            <p:nvSpPr>
              <p:cNvPr id="3" name="Content Placeholder 2">
                <a:extLst>
                  <a:ext uri="{FF2B5EF4-FFF2-40B4-BE49-F238E27FC236}">
                    <a16:creationId xmlns:a16="http://schemas.microsoft.com/office/drawing/2014/main" id="{06EA494C-7A98-4D78-AE95-AE4B087062AF}"/>
                  </a:ext>
                </a:extLst>
              </p:cNvPr>
              <p:cNvSpPr>
                <a:spLocks noGrp="1" noRot="1" noChangeAspect="1" noMove="1" noResize="1" noEditPoints="1" noAdjustHandles="1" noChangeArrowheads="1" noChangeShapeType="1" noTextEdit="1"/>
              </p:cNvSpPr>
              <p:nvPr>
                <p:ph idx="1"/>
              </p:nvPr>
            </p:nvSpPr>
            <p:spPr>
              <a:xfrm>
                <a:off x="838200" y="1237677"/>
                <a:ext cx="10515600" cy="4729561"/>
              </a:xfrm>
              <a:blipFill>
                <a:blip r:embed="rId3"/>
                <a:stretch>
                  <a:fillRect l="-174" t="-644"/>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DA9F66A5-9AE9-4E77-B4E8-ED8D4C9D1B24}"/>
              </a:ext>
            </a:extLst>
          </p:cNvPr>
          <p:cNvSpPr txBox="1">
            <a:spLocks/>
          </p:cNvSpPr>
          <p:nvPr/>
        </p:nvSpPr>
        <p:spPr>
          <a:xfrm>
            <a:off x="707472" y="376858"/>
            <a:ext cx="11101430"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1" algn="ctr"/>
            <a:r>
              <a:rPr lang="en-US" sz="2400" dirty="0">
                <a:highlight>
                  <a:srgbClr val="C0C0C0"/>
                </a:highlight>
                <a:latin typeface="Garamond" panose="02020404030301010803" pitchFamily="18" charset="0"/>
              </a:rPr>
              <a:t>Optical and telescope design: Tradeoff </a:t>
            </a: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707472" y="847288"/>
            <a:ext cx="1110143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184090"/>
            <a:ext cx="10452682" cy="0"/>
          </a:xfrm>
          <a:prstGeom prst="line">
            <a:avLst/>
          </a:prstGeom>
          <a:ln/>
        </p:spPr>
        <p:style>
          <a:lnRef idx="3">
            <a:schemeClr val="accent2"/>
          </a:lnRef>
          <a:fillRef idx="0">
            <a:schemeClr val="accent2"/>
          </a:fillRef>
          <a:effectRef idx="2">
            <a:schemeClr val="accent2"/>
          </a:effectRef>
          <a:fontRef idx="minor">
            <a:schemeClr val="tx1"/>
          </a:fontRef>
        </p:style>
      </p:cxnSp>
      <p:grpSp>
        <p:nvGrpSpPr>
          <p:cNvPr id="17" name="Group 16">
            <a:extLst>
              <a:ext uri="{FF2B5EF4-FFF2-40B4-BE49-F238E27FC236}">
                <a16:creationId xmlns:a16="http://schemas.microsoft.com/office/drawing/2014/main" id="{F88B4C97-0FCC-4EDE-BCD1-B5AA168C631C}"/>
              </a:ext>
            </a:extLst>
          </p:cNvPr>
          <p:cNvGrpSpPr/>
          <p:nvPr/>
        </p:nvGrpSpPr>
        <p:grpSpPr>
          <a:xfrm>
            <a:off x="1505527" y="2447633"/>
            <a:ext cx="4590473" cy="3369409"/>
            <a:chOff x="1505527" y="2706254"/>
            <a:chExt cx="4590473" cy="3369409"/>
          </a:xfrm>
        </p:grpSpPr>
        <p:pic>
          <p:nvPicPr>
            <p:cNvPr id="2" name="Picture 1">
              <a:extLst>
                <a:ext uri="{FF2B5EF4-FFF2-40B4-BE49-F238E27FC236}">
                  <a16:creationId xmlns:a16="http://schemas.microsoft.com/office/drawing/2014/main" id="{DD263625-C2F2-400B-98EB-D0A2A4522A37}"/>
                </a:ext>
              </a:extLst>
            </p:cNvPr>
            <p:cNvPicPr>
              <a:picLocks noChangeAspect="1"/>
            </p:cNvPicPr>
            <p:nvPr/>
          </p:nvPicPr>
          <p:blipFill>
            <a:blip r:embed="rId4"/>
            <a:stretch>
              <a:fillRect/>
            </a:stretch>
          </p:blipFill>
          <p:spPr>
            <a:xfrm>
              <a:off x="1505527" y="2706254"/>
              <a:ext cx="4590473" cy="3369409"/>
            </a:xfrm>
            <a:prstGeom prst="rect">
              <a:avLst/>
            </a:prstGeo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80BB0729-D616-40E4-8AAD-47EBB815A19B}"/>
                    </a:ext>
                  </a:extLst>
                </p:cNvPr>
                <p:cNvSpPr/>
                <p:nvPr/>
              </p:nvSpPr>
              <p:spPr>
                <a:xfrm>
                  <a:off x="1828801" y="4802912"/>
                  <a:ext cx="434109" cy="489527"/>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m:rPr>
                                <m:sty m:val="p"/>
                              </m:rPr>
                              <a:rPr lang="en-US" sz="1400" b="0" i="0" smtClean="0">
                                <a:latin typeface="Cambria Math" panose="02040503050406030204" pitchFamily="18" charset="0"/>
                              </a:rPr>
                              <m:t>M</m:t>
                            </m:r>
                          </m:e>
                          <m:sub>
                            <m:r>
                              <a:rPr lang="en-US" sz="1400" b="0" i="0" smtClean="0">
                                <a:latin typeface="Cambria Math" panose="02040503050406030204" pitchFamily="18" charset="0"/>
                              </a:rPr>
                              <m:t>2</m:t>
                            </m:r>
                          </m:sub>
                        </m:sSub>
                      </m:oMath>
                    </m:oMathPara>
                  </a14:m>
                  <a:endParaRPr lang="en-US" sz="1400" dirty="0"/>
                </a:p>
              </p:txBody>
            </p:sp>
          </mc:Choice>
          <mc:Fallback xmlns="">
            <p:sp>
              <p:nvSpPr>
                <p:cNvPr id="7" name="Rectangle 6">
                  <a:extLst>
                    <a:ext uri="{FF2B5EF4-FFF2-40B4-BE49-F238E27FC236}">
                      <a16:creationId xmlns:a16="http://schemas.microsoft.com/office/drawing/2014/main" id="{80BB0729-D616-40E4-8AAD-47EBB815A19B}"/>
                    </a:ext>
                  </a:extLst>
                </p:cNvPr>
                <p:cNvSpPr>
                  <a:spLocks noRot="1" noChangeAspect="1" noMove="1" noResize="1" noEditPoints="1" noAdjustHandles="1" noChangeArrowheads="1" noChangeShapeType="1" noTextEdit="1"/>
                </p:cNvSpPr>
                <p:nvPr/>
              </p:nvSpPr>
              <p:spPr>
                <a:xfrm>
                  <a:off x="1828801" y="4802912"/>
                  <a:ext cx="434109" cy="489527"/>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95EC6EA-C845-4983-9072-40C6B463436D}"/>
                    </a:ext>
                  </a:extLst>
                </p:cNvPr>
                <p:cNvSpPr/>
                <p:nvPr/>
              </p:nvSpPr>
              <p:spPr>
                <a:xfrm>
                  <a:off x="3773044" y="4918357"/>
                  <a:ext cx="434109" cy="489527"/>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m:rPr>
                                <m:sty m:val="p"/>
                              </m:rPr>
                              <a:rPr lang="en-US" sz="1400" b="0" i="0" smtClean="0">
                                <a:latin typeface="Cambria Math" panose="02040503050406030204" pitchFamily="18" charset="0"/>
                              </a:rPr>
                              <m:t>M</m:t>
                            </m:r>
                          </m:e>
                          <m:sub>
                            <m:r>
                              <a:rPr lang="en-US" sz="1400" b="0" i="0" smtClean="0">
                                <a:latin typeface="Cambria Math" panose="02040503050406030204" pitchFamily="18" charset="0"/>
                              </a:rPr>
                              <m:t>1</m:t>
                            </m:r>
                          </m:sub>
                        </m:sSub>
                      </m:oMath>
                    </m:oMathPara>
                  </a14:m>
                  <a:endParaRPr lang="en-US" sz="1400" dirty="0"/>
                </a:p>
              </p:txBody>
            </p:sp>
          </mc:Choice>
          <mc:Fallback xmlns="">
            <p:sp>
              <p:nvSpPr>
                <p:cNvPr id="8" name="Rectangle 7">
                  <a:extLst>
                    <a:ext uri="{FF2B5EF4-FFF2-40B4-BE49-F238E27FC236}">
                      <a16:creationId xmlns:a16="http://schemas.microsoft.com/office/drawing/2014/main" id="{895EC6EA-C845-4983-9072-40C6B463436D}"/>
                    </a:ext>
                  </a:extLst>
                </p:cNvPr>
                <p:cNvSpPr>
                  <a:spLocks noRot="1" noChangeAspect="1" noMove="1" noResize="1" noEditPoints="1" noAdjustHandles="1" noChangeArrowheads="1" noChangeShapeType="1" noTextEdit="1"/>
                </p:cNvSpPr>
                <p:nvPr/>
              </p:nvSpPr>
              <p:spPr>
                <a:xfrm>
                  <a:off x="3773044" y="4918357"/>
                  <a:ext cx="434109" cy="489527"/>
                </a:xfrm>
                <a:prstGeom prst="rect">
                  <a:avLst/>
                </a:prstGeom>
                <a:blipFill>
                  <a:blip r:embed="rId6"/>
                  <a:stretch>
                    <a:fillRect/>
                  </a:stretch>
                </a:blipFill>
                <a:ln>
                  <a:no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534C600A-351E-4FB4-916F-977801D235D3}"/>
                </a:ext>
              </a:extLst>
            </p:cNvPr>
            <p:cNvCxnSpPr/>
            <p:nvPr/>
          </p:nvCxnSpPr>
          <p:spPr>
            <a:xfrm flipV="1">
              <a:off x="1985818" y="4461164"/>
              <a:ext cx="0" cy="5172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0DB3AE70-E22B-4B50-8830-D5D268D66A40}"/>
                </a:ext>
              </a:extLst>
            </p:cNvPr>
            <p:cNvCxnSpPr/>
            <p:nvPr/>
          </p:nvCxnSpPr>
          <p:spPr>
            <a:xfrm flipV="1">
              <a:off x="3934691" y="4890649"/>
              <a:ext cx="0" cy="1893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pic>
        <p:nvPicPr>
          <p:cNvPr id="15" name="Picture 14">
            <a:extLst>
              <a:ext uri="{FF2B5EF4-FFF2-40B4-BE49-F238E27FC236}">
                <a16:creationId xmlns:a16="http://schemas.microsoft.com/office/drawing/2014/main" id="{BD70009C-D6F7-4ED8-B013-4A49F608328D}"/>
              </a:ext>
            </a:extLst>
          </p:cNvPr>
          <p:cNvPicPr>
            <a:picLocks noChangeAspect="1"/>
          </p:cNvPicPr>
          <p:nvPr/>
        </p:nvPicPr>
        <p:blipFill>
          <a:blip r:embed="rId7"/>
          <a:stretch>
            <a:fillRect/>
          </a:stretch>
        </p:blipFill>
        <p:spPr>
          <a:xfrm>
            <a:off x="6230063" y="2447633"/>
            <a:ext cx="4590472" cy="3369409"/>
          </a:xfrm>
          <a:prstGeom prst="rect">
            <a:avLst/>
          </a:prstGeom>
          <a:ln w="3175">
            <a:solidFill>
              <a:srgbClr val="C00000"/>
            </a:solidFill>
          </a:ln>
        </p:spPr>
      </p:pic>
      <p:sp>
        <p:nvSpPr>
          <p:cNvPr id="18" name="Rectangle 17">
            <a:extLst>
              <a:ext uri="{FF2B5EF4-FFF2-40B4-BE49-F238E27FC236}">
                <a16:creationId xmlns:a16="http://schemas.microsoft.com/office/drawing/2014/main" id="{B1F74221-3526-4E7B-BEA8-C150C77FB9AC}"/>
              </a:ext>
            </a:extLst>
          </p:cNvPr>
          <p:cNvSpPr/>
          <p:nvPr/>
        </p:nvSpPr>
        <p:spPr>
          <a:xfrm>
            <a:off x="1505527" y="5866347"/>
            <a:ext cx="9315008" cy="26275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8:</a:t>
            </a:r>
            <a:r>
              <a:rPr lang="en-US" sz="1400" dirty="0">
                <a:latin typeface="Garamond" panose="02020404030301010803" pitchFamily="18" charset="0"/>
              </a:rPr>
              <a:t> </a:t>
            </a:r>
            <a:r>
              <a:rPr lang="en-US" sz="1400" dirty="0">
                <a:solidFill>
                  <a:schemeClr val="accent2">
                    <a:lumMod val="75000"/>
                  </a:schemeClr>
                </a:solidFill>
                <a:latin typeface="Garamond" panose="02020404030301010803" pitchFamily="18" charset="0"/>
              </a:rPr>
              <a:t>(a) </a:t>
            </a:r>
            <a:r>
              <a:rPr lang="en-US" sz="1400" i="1" dirty="0">
                <a:latin typeface="Garamond" panose="02020404030301010803" pitchFamily="18" charset="0"/>
              </a:rPr>
              <a:t>Cassegrain Ritchey Chretien optical system  and </a:t>
            </a:r>
            <a:r>
              <a:rPr lang="en-US" sz="1400" dirty="0">
                <a:solidFill>
                  <a:schemeClr val="accent2">
                    <a:lumMod val="75000"/>
                  </a:schemeClr>
                </a:solidFill>
                <a:latin typeface="Garamond" panose="02020404030301010803" pitchFamily="18" charset="0"/>
              </a:rPr>
              <a:t>(b)</a:t>
            </a:r>
            <a:r>
              <a:rPr lang="en-US" sz="1400" i="1" dirty="0">
                <a:solidFill>
                  <a:schemeClr val="accent2">
                    <a:lumMod val="75000"/>
                  </a:schemeClr>
                </a:solidFill>
                <a:latin typeface="Garamond" panose="02020404030301010803" pitchFamily="18" charset="0"/>
              </a:rPr>
              <a:t> </a:t>
            </a:r>
            <a:r>
              <a:rPr lang="en-US" sz="1400" i="1" dirty="0">
                <a:latin typeface="Garamond" panose="02020404030301010803" pitchFamily="18" charset="0"/>
              </a:rPr>
              <a:t>its 3D viewing  </a:t>
            </a:r>
          </a:p>
        </p:txBody>
      </p:sp>
      <p:sp>
        <p:nvSpPr>
          <p:cNvPr id="19" name="Oval 18">
            <a:extLst>
              <a:ext uri="{FF2B5EF4-FFF2-40B4-BE49-F238E27FC236}">
                <a16:creationId xmlns:a16="http://schemas.microsoft.com/office/drawing/2014/main" id="{64AC934F-8CF6-41CC-B07C-E6BCFEA830FE}"/>
              </a:ext>
            </a:extLst>
          </p:cNvPr>
          <p:cNvSpPr/>
          <p:nvPr/>
        </p:nvSpPr>
        <p:spPr>
          <a:xfrm>
            <a:off x="2122044" y="4840017"/>
            <a:ext cx="464140" cy="489528"/>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a</a:t>
            </a:r>
          </a:p>
        </p:txBody>
      </p:sp>
      <p:sp>
        <p:nvSpPr>
          <p:cNvPr id="20" name="Oval 19">
            <a:extLst>
              <a:ext uri="{FF2B5EF4-FFF2-40B4-BE49-F238E27FC236}">
                <a16:creationId xmlns:a16="http://schemas.microsoft.com/office/drawing/2014/main" id="{96473433-4E50-4DF0-B2DC-B694C3A56069}"/>
              </a:ext>
            </a:extLst>
          </p:cNvPr>
          <p:cNvSpPr/>
          <p:nvPr/>
        </p:nvSpPr>
        <p:spPr>
          <a:xfrm>
            <a:off x="6721756" y="4840017"/>
            <a:ext cx="464140" cy="489528"/>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b</a:t>
            </a:r>
          </a:p>
        </p:txBody>
      </p:sp>
      <p:sp>
        <p:nvSpPr>
          <p:cNvPr id="16" name="Rectangle 15">
            <a:extLst>
              <a:ext uri="{FF2B5EF4-FFF2-40B4-BE49-F238E27FC236}">
                <a16:creationId xmlns:a16="http://schemas.microsoft.com/office/drawing/2014/main" id="{E844C2E6-202E-49D5-B07E-263407A5E85C}"/>
              </a:ext>
            </a:extLst>
          </p:cNvPr>
          <p:cNvSpPr/>
          <p:nvPr/>
        </p:nvSpPr>
        <p:spPr>
          <a:xfrm>
            <a:off x="707472" y="947427"/>
            <a:ext cx="11101430" cy="262758"/>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latin typeface="Garamond" panose="02020404030301010803" pitchFamily="18" charset="0"/>
              </a:rPr>
              <a:t>2. Preliminary design of Ritchey-</a:t>
            </a:r>
            <a:r>
              <a:rPr lang="en-US" sz="1600" b="1" dirty="0" err="1">
                <a:latin typeface="Garamond" panose="02020404030301010803" pitchFamily="18" charset="0"/>
              </a:rPr>
              <a:t>Chretian</a:t>
            </a:r>
            <a:r>
              <a:rPr lang="en-US" sz="1600" b="1" dirty="0">
                <a:latin typeface="Garamond" panose="02020404030301010803" pitchFamily="18" charset="0"/>
              </a:rPr>
              <a:t> optical system and its analysis</a:t>
            </a:r>
          </a:p>
        </p:txBody>
      </p:sp>
    </p:spTree>
    <p:extLst>
      <p:ext uri="{BB962C8B-B14F-4D97-AF65-F5344CB8AC3E}">
        <p14:creationId xmlns:p14="http://schemas.microsoft.com/office/powerpoint/2010/main" val="2801715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838200" y="1237677"/>
            <a:ext cx="10515600" cy="4729561"/>
          </a:xfrm>
        </p:spPr>
        <p:txBody>
          <a:bodyPr>
            <a:normAutofit/>
          </a:bodyPr>
          <a:lstStyle/>
          <a:p>
            <a:pPr marL="0" indent="0" algn="just">
              <a:buNone/>
            </a:pPr>
            <a:r>
              <a:rPr lang="en-US" sz="1400" dirty="0">
                <a:latin typeface="Garamond" panose="02020404030301010803" pitchFamily="18" charset="0"/>
              </a:rPr>
              <a:t>The Ritchey-</a:t>
            </a:r>
            <a:r>
              <a:rPr lang="en-US" sz="1400" dirty="0" err="1">
                <a:latin typeface="Garamond" panose="02020404030301010803" pitchFamily="18" charset="0"/>
              </a:rPr>
              <a:t>Chretian</a:t>
            </a:r>
            <a:r>
              <a:rPr lang="en-US" sz="1400" dirty="0">
                <a:latin typeface="Garamond" panose="02020404030301010803" pitchFamily="18" charset="0"/>
              </a:rPr>
              <a:t> telescope is a customized version of the Cassegrain telescope with a hyperbolic primary mirror and a hyperbolic secondary mirror intended to remove coma-causing off-axis optical aberrations.</a:t>
            </a:r>
          </a:p>
          <a:p>
            <a:pPr lvl="1">
              <a:buFont typeface="Wingdings" panose="05000000000000000000" pitchFamily="2" charset="2"/>
              <a:buChar char="§"/>
            </a:pPr>
            <a:r>
              <a:rPr lang="en-US" sz="1400" dirty="0">
                <a:latin typeface="Garamond" panose="02020404030301010803" pitchFamily="18" charset="0"/>
              </a:rPr>
              <a:t>This system has very short optical tube assembly and compact design for a given focal length.</a:t>
            </a:r>
          </a:p>
          <a:p>
            <a:pPr lvl="1">
              <a:buFont typeface="Wingdings" panose="05000000000000000000" pitchFamily="2" charset="2"/>
              <a:buChar char="§"/>
            </a:pPr>
            <a:r>
              <a:rPr lang="en-US" sz="1400" dirty="0">
                <a:latin typeface="Garamond" panose="02020404030301010803" pitchFamily="18" charset="0"/>
              </a:rPr>
              <a:t>It offers good off-axis optical performance, but its mirror requires sophisticated techniques to manufacture and test.</a:t>
            </a:r>
          </a:p>
          <a:p>
            <a:pPr lvl="1">
              <a:buFont typeface="Wingdings" panose="05000000000000000000" pitchFamily="2" charset="2"/>
              <a:buChar char="§"/>
            </a:pPr>
            <a:endParaRPr lang="en-US" sz="1400" dirty="0">
              <a:latin typeface="Garamond" panose="02020404030301010803" pitchFamily="18" charset="0"/>
            </a:endParaRPr>
          </a:p>
          <a:p>
            <a:pPr marL="457200" lvl="1" indent="0">
              <a:buNone/>
            </a:pPr>
            <a:endParaRPr lang="en-US" sz="1400" dirty="0">
              <a:latin typeface="Garamond" panose="02020404030301010803" pitchFamily="18" charset="0"/>
            </a:endParaRPr>
          </a:p>
        </p:txBody>
      </p:sp>
      <p:sp>
        <p:nvSpPr>
          <p:cNvPr id="4" name="Title 3">
            <a:extLst>
              <a:ext uri="{FF2B5EF4-FFF2-40B4-BE49-F238E27FC236}">
                <a16:creationId xmlns:a16="http://schemas.microsoft.com/office/drawing/2014/main" id="{DA9F66A5-9AE9-4E77-B4E8-ED8D4C9D1B24}"/>
              </a:ext>
            </a:extLst>
          </p:cNvPr>
          <p:cNvSpPr txBox="1">
            <a:spLocks/>
          </p:cNvSpPr>
          <p:nvPr/>
        </p:nvSpPr>
        <p:spPr>
          <a:xfrm>
            <a:off x="628073" y="376858"/>
            <a:ext cx="10856455"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1" algn="ctr"/>
            <a:r>
              <a:rPr lang="en-US" sz="2400" dirty="0">
                <a:highlight>
                  <a:srgbClr val="C0C0C0"/>
                </a:highlight>
                <a:latin typeface="Garamond" panose="02020404030301010803" pitchFamily="18" charset="0"/>
              </a:rPr>
              <a:t>Cont’d…</a:t>
            </a: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628073" y="847288"/>
            <a:ext cx="10856455"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184090"/>
            <a:ext cx="10452682" cy="0"/>
          </a:xfrm>
          <a:prstGeom prst="line">
            <a:avLst/>
          </a:prstGeom>
          <a:ln/>
        </p:spPr>
        <p:style>
          <a:lnRef idx="3">
            <a:schemeClr val="accent2"/>
          </a:lnRef>
          <a:fillRef idx="0">
            <a:schemeClr val="accent2"/>
          </a:fillRef>
          <a:effectRef idx="2">
            <a:schemeClr val="accent2"/>
          </a:effectRef>
          <a:fontRef idx="minor">
            <a:schemeClr val="tx1"/>
          </a:fontRef>
        </p:style>
      </p:cxnSp>
      <p:sp>
        <p:nvSpPr>
          <p:cNvPr id="18" name="Rectangle 17">
            <a:extLst>
              <a:ext uri="{FF2B5EF4-FFF2-40B4-BE49-F238E27FC236}">
                <a16:creationId xmlns:a16="http://schemas.microsoft.com/office/drawing/2014/main" id="{DD2D3D77-83B1-43CD-835D-9954783DDE16}"/>
              </a:ext>
            </a:extLst>
          </p:cNvPr>
          <p:cNvSpPr/>
          <p:nvPr/>
        </p:nvSpPr>
        <p:spPr>
          <a:xfrm>
            <a:off x="1505527" y="5866347"/>
            <a:ext cx="9315008" cy="26275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9:</a:t>
            </a:r>
            <a:r>
              <a:rPr lang="en-US" sz="1400" dirty="0">
                <a:latin typeface="Garamond" panose="02020404030301010803" pitchFamily="18" charset="0"/>
              </a:rPr>
              <a:t> </a:t>
            </a:r>
            <a:r>
              <a:rPr lang="en-US" sz="1400" dirty="0">
                <a:solidFill>
                  <a:schemeClr val="accent2">
                    <a:lumMod val="75000"/>
                  </a:schemeClr>
                </a:solidFill>
                <a:latin typeface="Garamond" panose="02020404030301010803" pitchFamily="18" charset="0"/>
              </a:rPr>
              <a:t>(a) </a:t>
            </a:r>
            <a:r>
              <a:rPr lang="en-US" sz="1400" i="1" dirty="0">
                <a:latin typeface="Garamond" panose="02020404030301010803" pitchFamily="18" charset="0"/>
              </a:rPr>
              <a:t>Cassegrain Ritchey Chretien optical system  diffraction intensity function and </a:t>
            </a:r>
            <a:r>
              <a:rPr lang="en-US" sz="1400" dirty="0">
                <a:solidFill>
                  <a:schemeClr val="accent2">
                    <a:lumMod val="75000"/>
                  </a:schemeClr>
                </a:solidFill>
                <a:latin typeface="Garamond" panose="02020404030301010803" pitchFamily="18" charset="0"/>
              </a:rPr>
              <a:t>(b)</a:t>
            </a:r>
            <a:r>
              <a:rPr lang="en-US" sz="1400" i="1" dirty="0">
                <a:solidFill>
                  <a:schemeClr val="accent2">
                    <a:lumMod val="75000"/>
                  </a:schemeClr>
                </a:solidFill>
                <a:latin typeface="Garamond" panose="02020404030301010803" pitchFamily="18" charset="0"/>
              </a:rPr>
              <a:t> </a:t>
            </a:r>
            <a:r>
              <a:rPr lang="en-US" sz="1400" i="1" dirty="0">
                <a:latin typeface="Garamond" panose="02020404030301010803" pitchFamily="18" charset="0"/>
              </a:rPr>
              <a:t>its modulation transfer function (MTF)</a:t>
            </a:r>
          </a:p>
        </p:txBody>
      </p:sp>
      <p:sp>
        <p:nvSpPr>
          <p:cNvPr id="20" name="Oval 19">
            <a:extLst>
              <a:ext uri="{FF2B5EF4-FFF2-40B4-BE49-F238E27FC236}">
                <a16:creationId xmlns:a16="http://schemas.microsoft.com/office/drawing/2014/main" id="{EE777B16-CC6C-4376-820E-2E9CB492C8BC}"/>
              </a:ext>
            </a:extLst>
          </p:cNvPr>
          <p:cNvSpPr/>
          <p:nvPr/>
        </p:nvSpPr>
        <p:spPr>
          <a:xfrm>
            <a:off x="6973454" y="5467926"/>
            <a:ext cx="341745" cy="369613"/>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b</a:t>
            </a:r>
          </a:p>
        </p:txBody>
      </p:sp>
      <p:pic>
        <p:nvPicPr>
          <p:cNvPr id="21" name="Picture 20">
            <a:extLst>
              <a:ext uri="{FF2B5EF4-FFF2-40B4-BE49-F238E27FC236}">
                <a16:creationId xmlns:a16="http://schemas.microsoft.com/office/drawing/2014/main" id="{BBF2E61B-BF75-4097-8B7C-1599173F9FC2}"/>
              </a:ext>
            </a:extLst>
          </p:cNvPr>
          <p:cNvPicPr>
            <a:picLocks noChangeAspect="1"/>
          </p:cNvPicPr>
          <p:nvPr/>
        </p:nvPicPr>
        <p:blipFill>
          <a:blip r:embed="rId2"/>
          <a:stretch>
            <a:fillRect/>
          </a:stretch>
        </p:blipFill>
        <p:spPr>
          <a:xfrm>
            <a:off x="6760702" y="2512291"/>
            <a:ext cx="4284419" cy="2955635"/>
          </a:xfrm>
          <a:prstGeom prst="rect">
            <a:avLst/>
          </a:prstGeom>
        </p:spPr>
      </p:pic>
      <p:pic>
        <p:nvPicPr>
          <p:cNvPr id="23" name="Picture 22">
            <a:extLst>
              <a:ext uri="{FF2B5EF4-FFF2-40B4-BE49-F238E27FC236}">
                <a16:creationId xmlns:a16="http://schemas.microsoft.com/office/drawing/2014/main" id="{48E4626E-8344-484D-859F-2DF8EB1F2413}"/>
              </a:ext>
            </a:extLst>
          </p:cNvPr>
          <p:cNvPicPr>
            <a:picLocks noChangeAspect="1"/>
          </p:cNvPicPr>
          <p:nvPr/>
        </p:nvPicPr>
        <p:blipFill>
          <a:blip r:embed="rId3"/>
          <a:stretch>
            <a:fillRect/>
          </a:stretch>
        </p:blipFill>
        <p:spPr>
          <a:xfrm>
            <a:off x="2247900" y="2512290"/>
            <a:ext cx="4204123" cy="3221759"/>
          </a:xfrm>
          <a:prstGeom prst="rect">
            <a:avLst/>
          </a:prstGeom>
        </p:spPr>
      </p:pic>
      <p:sp>
        <p:nvSpPr>
          <p:cNvPr id="19" name="Oval 18">
            <a:extLst>
              <a:ext uri="{FF2B5EF4-FFF2-40B4-BE49-F238E27FC236}">
                <a16:creationId xmlns:a16="http://schemas.microsoft.com/office/drawing/2014/main" id="{F26B9CD1-D50A-4B02-8980-ABFB9BC217EA}"/>
              </a:ext>
            </a:extLst>
          </p:cNvPr>
          <p:cNvSpPr/>
          <p:nvPr/>
        </p:nvSpPr>
        <p:spPr>
          <a:xfrm>
            <a:off x="2648951" y="5467926"/>
            <a:ext cx="341745" cy="369613"/>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a</a:t>
            </a:r>
          </a:p>
        </p:txBody>
      </p:sp>
    </p:spTree>
    <p:extLst>
      <p:ext uri="{BB962C8B-B14F-4D97-AF65-F5344CB8AC3E}">
        <p14:creationId xmlns:p14="http://schemas.microsoft.com/office/powerpoint/2010/main" val="421556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838200" y="1037060"/>
            <a:ext cx="10515600" cy="4351338"/>
          </a:xfrm>
        </p:spPr>
        <p:txBody>
          <a:bodyPr>
            <a:normAutofit/>
          </a:bodyPr>
          <a:lstStyle/>
          <a:p>
            <a:pPr lvl="1">
              <a:buFont typeface="Wingdings" panose="05000000000000000000" pitchFamily="2" charset="2"/>
              <a:buChar char="§"/>
            </a:pPr>
            <a:endParaRPr lang="en-US" sz="1400" dirty="0">
              <a:latin typeface="Garamond" panose="02020404030301010803" pitchFamily="18" charset="0"/>
            </a:endParaRPr>
          </a:p>
          <a:p>
            <a:pPr lvl="1">
              <a:buFont typeface="Wingdings" panose="05000000000000000000" pitchFamily="2" charset="2"/>
              <a:buChar char="§"/>
            </a:pPr>
            <a:endParaRPr lang="en-US" sz="1400" dirty="0">
              <a:latin typeface="Garamond" panose="02020404030301010803" pitchFamily="18" charset="0"/>
            </a:endParaRPr>
          </a:p>
        </p:txBody>
      </p:sp>
      <p:sp>
        <p:nvSpPr>
          <p:cNvPr id="4" name="Title 3">
            <a:extLst>
              <a:ext uri="{FF2B5EF4-FFF2-40B4-BE49-F238E27FC236}">
                <a16:creationId xmlns:a16="http://schemas.microsoft.com/office/drawing/2014/main" id="{DA9F66A5-9AE9-4E77-B4E8-ED8D4C9D1B24}"/>
              </a:ext>
            </a:extLst>
          </p:cNvPr>
          <p:cNvSpPr txBox="1">
            <a:spLocks/>
          </p:cNvSpPr>
          <p:nvPr/>
        </p:nvSpPr>
        <p:spPr>
          <a:xfrm>
            <a:off x="498764" y="376858"/>
            <a:ext cx="10985764"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highlight>
                  <a:srgbClr val="C0C0C0"/>
                </a:highlight>
                <a:latin typeface="Garamond" panose="02020404030301010803" pitchFamily="18" charset="0"/>
              </a:rPr>
              <a:t>Cont’d…</a:t>
            </a:r>
            <a:endParaRPr lang="en-US" sz="2400" dirty="0">
              <a:latin typeface="Garamond" panose="02020404030301010803" pitchFamily="18" charset="0"/>
            </a:endParaRP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498764" y="847288"/>
            <a:ext cx="10985764"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184090"/>
            <a:ext cx="10452682" cy="0"/>
          </a:xfrm>
          <a:prstGeom prst="line">
            <a:avLst/>
          </a:prstGeom>
          <a:ln/>
        </p:spPr>
        <p:style>
          <a:lnRef idx="3">
            <a:schemeClr val="accent2"/>
          </a:lnRef>
          <a:fillRef idx="0">
            <a:schemeClr val="accent2"/>
          </a:fillRef>
          <a:effectRef idx="2">
            <a:schemeClr val="accent2"/>
          </a:effectRef>
          <a:fontRef idx="minor">
            <a:schemeClr val="tx1"/>
          </a:fontRef>
        </p:style>
      </p:cxnSp>
      <p:pic>
        <p:nvPicPr>
          <p:cNvPr id="7" name="Picture 6">
            <a:extLst>
              <a:ext uri="{FF2B5EF4-FFF2-40B4-BE49-F238E27FC236}">
                <a16:creationId xmlns:a16="http://schemas.microsoft.com/office/drawing/2014/main" id="{3A5C8E37-AEFD-4D01-9103-CAD218DEFEAF}"/>
              </a:ext>
            </a:extLst>
          </p:cNvPr>
          <p:cNvPicPr>
            <a:picLocks noChangeAspect="1"/>
          </p:cNvPicPr>
          <p:nvPr/>
        </p:nvPicPr>
        <p:blipFill>
          <a:blip r:embed="rId2"/>
          <a:stretch>
            <a:fillRect/>
          </a:stretch>
        </p:blipFill>
        <p:spPr>
          <a:xfrm>
            <a:off x="1330036" y="1182256"/>
            <a:ext cx="5255491" cy="4742294"/>
          </a:xfrm>
          <a:prstGeom prst="rect">
            <a:avLst/>
          </a:prstGeom>
        </p:spPr>
      </p:pic>
      <p:pic>
        <p:nvPicPr>
          <p:cNvPr id="8" name="Picture 7">
            <a:extLst>
              <a:ext uri="{FF2B5EF4-FFF2-40B4-BE49-F238E27FC236}">
                <a16:creationId xmlns:a16="http://schemas.microsoft.com/office/drawing/2014/main" id="{1EEDE05F-B4D2-49B8-8E6E-B7B2F33D90E4}"/>
              </a:ext>
            </a:extLst>
          </p:cNvPr>
          <p:cNvPicPr>
            <a:picLocks noChangeAspect="1"/>
          </p:cNvPicPr>
          <p:nvPr/>
        </p:nvPicPr>
        <p:blipFill>
          <a:blip r:embed="rId3"/>
          <a:stretch>
            <a:fillRect/>
          </a:stretch>
        </p:blipFill>
        <p:spPr>
          <a:xfrm>
            <a:off x="6342063" y="1181538"/>
            <a:ext cx="5142466" cy="4494206"/>
          </a:xfrm>
          <a:prstGeom prst="rect">
            <a:avLst/>
          </a:prstGeom>
        </p:spPr>
      </p:pic>
      <p:sp>
        <p:nvSpPr>
          <p:cNvPr id="9" name="Rectangle 8">
            <a:extLst>
              <a:ext uri="{FF2B5EF4-FFF2-40B4-BE49-F238E27FC236}">
                <a16:creationId xmlns:a16="http://schemas.microsoft.com/office/drawing/2014/main" id="{66D7086F-A808-465A-B83E-81EA943B6666}"/>
              </a:ext>
            </a:extLst>
          </p:cNvPr>
          <p:cNvSpPr/>
          <p:nvPr/>
        </p:nvSpPr>
        <p:spPr>
          <a:xfrm>
            <a:off x="1505527" y="5866347"/>
            <a:ext cx="9315008" cy="26275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10:</a:t>
            </a:r>
            <a:r>
              <a:rPr lang="en-US" sz="1400" dirty="0">
                <a:latin typeface="Garamond" panose="02020404030301010803" pitchFamily="18" charset="0"/>
              </a:rPr>
              <a:t> </a:t>
            </a:r>
            <a:r>
              <a:rPr lang="en-US" sz="1400" i="1" dirty="0">
                <a:latin typeface="Garamond" panose="02020404030301010803" pitchFamily="18" charset="0"/>
              </a:rPr>
              <a:t>Cassegrain Ritchey Chretien optical system  spot diagram and its wave front aberration</a:t>
            </a:r>
          </a:p>
        </p:txBody>
      </p:sp>
    </p:spTree>
    <p:extLst>
      <p:ext uri="{BB962C8B-B14F-4D97-AF65-F5344CB8AC3E}">
        <p14:creationId xmlns:p14="http://schemas.microsoft.com/office/powerpoint/2010/main" val="1390686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838200" y="1229556"/>
                <a:ext cx="10515600" cy="4737681"/>
              </a:xfrm>
            </p:spPr>
            <p:txBody>
              <a:bodyPr>
                <a:normAutofit/>
              </a:bodyPr>
              <a:lstStyle/>
              <a:p>
                <a:r>
                  <a:rPr lang="en-US" sz="1400" dirty="0">
                    <a:latin typeface="Garamond" panose="02020404030301010803" pitchFamily="18" charset="0"/>
                  </a:rPr>
                  <a:t>The catadioptric combine the optical benefits of both lenses and mirrors into compact package, being smaller than either reflector or reflectors of the same aperture.</a:t>
                </a:r>
              </a:p>
              <a:p>
                <a:pPr lvl="1">
                  <a:buFont typeface="Wingdings" panose="05000000000000000000" pitchFamily="2" charset="2"/>
                  <a:buChar char="§"/>
                </a:pPr>
                <a:r>
                  <a:rPr lang="en-US" sz="1400" dirty="0">
                    <a:latin typeface="Garamond" panose="02020404030301010803" pitchFamily="18" charset="0"/>
                  </a:rPr>
                  <a:t>This is made possibly by corrector plate that folds the light path and curved secondary mirror that magnifies the light internally as depicted in Figure 2.</a:t>
                </a:r>
              </a:p>
              <a:p>
                <a:pPr lvl="1">
                  <a:buFont typeface="Wingdings" panose="05000000000000000000" pitchFamily="2" charset="2"/>
                  <a:buChar char="§"/>
                </a:pPr>
                <a:r>
                  <a:rPr lang="en-US" sz="1400" dirty="0">
                    <a:latin typeface="Garamond" panose="02020404030301010803" pitchFamily="18" charset="0"/>
                  </a:rPr>
                  <a:t>The semi-field of view and f-number for catadioptric telephoto lens are 10.000 and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1.5</m:t>
                        </m:r>
                      </m:e>
                      <m:sup>
                        <m:r>
                          <a:rPr lang="en-US" sz="1400" i="1">
                            <a:latin typeface="Cambria Math" panose="02040503050406030204" pitchFamily="18" charset="0"/>
                          </a:rPr>
                          <m:t>0</m:t>
                        </m:r>
                      </m:sup>
                    </m:sSup>
                  </m:oMath>
                </a14:m>
                <a:r>
                  <a:rPr lang="en-US" sz="1400" dirty="0">
                    <a:latin typeface="Garamond" panose="02020404030301010803" pitchFamily="18" charset="0"/>
                  </a:rPr>
                  <a:t>, respectively.</a:t>
                </a:r>
              </a:p>
              <a:p>
                <a:pPr marL="457200" lvl="1" indent="0">
                  <a:buNone/>
                </a:pPr>
                <a:endParaRPr lang="en-US" sz="1400" dirty="0">
                  <a:latin typeface="Garamond" panose="02020404030301010803" pitchFamily="18" charset="0"/>
                </a:endParaRPr>
              </a:p>
            </p:txBody>
          </p:sp>
        </mc:Choice>
        <mc:Fallback>
          <p:sp>
            <p:nvSpPr>
              <p:cNvPr id="3" name="Content Placeholder 2">
                <a:extLst>
                  <a:ext uri="{FF2B5EF4-FFF2-40B4-BE49-F238E27FC236}">
                    <a16:creationId xmlns:a16="http://schemas.microsoft.com/office/drawing/2014/main" id="{06EA494C-7A98-4D78-AE95-AE4B087062AF}"/>
                  </a:ext>
                </a:extLst>
              </p:cNvPr>
              <p:cNvSpPr>
                <a:spLocks noGrp="1" noRot="1" noChangeAspect="1" noMove="1" noResize="1" noEditPoints="1" noAdjustHandles="1" noChangeArrowheads="1" noChangeShapeType="1" noTextEdit="1"/>
              </p:cNvSpPr>
              <p:nvPr>
                <p:ph idx="1"/>
              </p:nvPr>
            </p:nvSpPr>
            <p:spPr>
              <a:xfrm>
                <a:off x="838200" y="1229556"/>
                <a:ext cx="10515600" cy="4737681"/>
              </a:xfrm>
              <a:blipFill>
                <a:blip r:embed="rId2"/>
                <a:stretch>
                  <a:fillRect l="-116" t="-644" r="-464"/>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DA9F66A5-9AE9-4E77-B4E8-ED8D4C9D1B24}"/>
              </a:ext>
            </a:extLst>
          </p:cNvPr>
          <p:cNvSpPr txBox="1">
            <a:spLocks/>
          </p:cNvSpPr>
          <p:nvPr/>
        </p:nvSpPr>
        <p:spPr>
          <a:xfrm>
            <a:off x="517236" y="376858"/>
            <a:ext cx="11388437"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1" algn="ctr"/>
            <a:r>
              <a:rPr lang="en-US" sz="2400" dirty="0">
                <a:highlight>
                  <a:srgbClr val="C0C0C0"/>
                </a:highlight>
                <a:latin typeface="Garamond" panose="02020404030301010803" pitchFamily="18" charset="0"/>
              </a:rPr>
              <a:t>Optical and telescope design: Tradeoff </a:t>
            </a: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517236" y="847288"/>
            <a:ext cx="1138843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184090"/>
            <a:ext cx="10452682" cy="0"/>
          </a:xfrm>
          <a:prstGeom prst="line">
            <a:avLst/>
          </a:prstGeom>
          <a:ln/>
        </p:spPr>
        <p:style>
          <a:lnRef idx="3">
            <a:schemeClr val="accent2"/>
          </a:lnRef>
          <a:fillRef idx="0">
            <a:schemeClr val="accent2"/>
          </a:fillRef>
          <a:effectRef idx="2">
            <a:schemeClr val="accent2"/>
          </a:effectRef>
          <a:fontRef idx="minor">
            <a:schemeClr val="tx1"/>
          </a:fontRef>
        </p:style>
      </p:cxnSp>
      <p:pic>
        <p:nvPicPr>
          <p:cNvPr id="7" name="Picture 6">
            <a:extLst>
              <a:ext uri="{FF2B5EF4-FFF2-40B4-BE49-F238E27FC236}">
                <a16:creationId xmlns:a16="http://schemas.microsoft.com/office/drawing/2014/main" id="{57F3F995-F9E9-4BAA-892D-46143F7E53C5}"/>
              </a:ext>
            </a:extLst>
          </p:cNvPr>
          <p:cNvPicPr>
            <a:picLocks noChangeAspect="1"/>
          </p:cNvPicPr>
          <p:nvPr/>
        </p:nvPicPr>
        <p:blipFill>
          <a:blip r:embed="rId3"/>
          <a:stretch>
            <a:fillRect/>
          </a:stretch>
        </p:blipFill>
        <p:spPr>
          <a:xfrm>
            <a:off x="1031846" y="2484586"/>
            <a:ext cx="4226502" cy="2830351"/>
          </a:xfrm>
          <a:prstGeom prst="rect">
            <a:avLst/>
          </a:prstGeom>
        </p:spPr>
      </p:pic>
      <p:pic>
        <p:nvPicPr>
          <p:cNvPr id="8" name="Picture 7">
            <a:extLst>
              <a:ext uri="{FF2B5EF4-FFF2-40B4-BE49-F238E27FC236}">
                <a16:creationId xmlns:a16="http://schemas.microsoft.com/office/drawing/2014/main" id="{30A719AD-88EB-430A-972A-067D165D67F3}"/>
              </a:ext>
            </a:extLst>
          </p:cNvPr>
          <p:cNvPicPr>
            <a:picLocks noChangeAspect="1"/>
          </p:cNvPicPr>
          <p:nvPr/>
        </p:nvPicPr>
        <p:blipFill>
          <a:blip r:embed="rId4"/>
          <a:stretch>
            <a:fillRect/>
          </a:stretch>
        </p:blipFill>
        <p:spPr>
          <a:xfrm>
            <a:off x="5952835" y="2484584"/>
            <a:ext cx="5001491" cy="2830351"/>
          </a:xfrm>
          <a:prstGeom prst="rect">
            <a:avLst/>
          </a:prstGeom>
          <a:ln w="3175">
            <a:solidFill>
              <a:schemeClr val="tx1"/>
            </a:solidFill>
          </a:ln>
        </p:spPr>
      </p:pic>
      <p:sp>
        <p:nvSpPr>
          <p:cNvPr id="12" name="Oval 11">
            <a:extLst>
              <a:ext uri="{FF2B5EF4-FFF2-40B4-BE49-F238E27FC236}">
                <a16:creationId xmlns:a16="http://schemas.microsoft.com/office/drawing/2014/main" id="{723C8019-C96B-44A9-89B4-8C8C5B1A9538}"/>
              </a:ext>
            </a:extLst>
          </p:cNvPr>
          <p:cNvSpPr/>
          <p:nvPr/>
        </p:nvSpPr>
        <p:spPr>
          <a:xfrm>
            <a:off x="1447799" y="4641743"/>
            <a:ext cx="464140" cy="392242"/>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a</a:t>
            </a:r>
          </a:p>
        </p:txBody>
      </p:sp>
      <p:sp>
        <p:nvSpPr>
          <p:cNvPr id="13" name="Oval 12">
            <a:extLst>
              <a:ext uri="{FF2B5EF4-FFF2-40B4-BE49-F238E27FC236}">
                <a16:creationId xmlns:a16="http://schemas.microsoft.com/office/drawing/2014/main" id="{95D7B326-0071-45F1-B59E-964A7D8AC009}"/>
              </a:ext>
            </a:extLst>
          </p:cNvPr>
          <p:cNvSpPr/>
          <p:nvPr/>
        </p:nvSpPr>
        <p:spPr>
          <a:xfrm>
            <a:off x="6047511" y="4641743"/>
            <a:ext cx="464140" cy="392242"/>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b</a:t>
            </a:r>
          </a:p>
        </p:txBody>
      </p:sp>
      <p:sp>
        <p:nvSpPr>
          <p:cNvPr id="14" name="Rectangle 13">
            <a:extLst>
              <a:ext uri="{FF2B5EF4-FFF2-40B4-BE49-F238E27FC236}">
                <a16:creationId xmlns:a16="http://schemas.microsoft.com/office/drawing/2014/main" id="{2E282A82-079E-4C88-BFF4-A6C0DD9BD7F0}"/>
              </a:ext>
            </a:extLst>
          </p:cNvPr>
          <p:cNvSpPr/>
          <p:nvPr/>
        </p:nvSpPr>
        <p:spPr>
          <a:xfrm>
            <a:off x="1496291" y="5376823"/>
            <a:ext cx="9315008" cy="25162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11:</a:t>
            </a:r>
            <a:r>
              <a:rPr lang="en-US" sz="1400" dirty="0">
                <a:latin typeface="Garamond" panose="02020404030301010803" pitchFamily="18" charset="0"/>
              </a:rPr>
              <a:t> </a:t>
            </a:r>
            <a:r>
              <a:rPr lang="en-US" sz="1400" dirty="0">
                <a:solidFill>
                  <a:schemeClr val="accent2">
                    <a:lumMod val="75000"/>
                  </a:schemeClr>
                </a:solidFill>
                <a:latin typeface="Garamond" panose="02020404030301010803" pitchFamily="18" charset="0"/>
              </a:rPr>
              <a:t>(a) </a:t>
            </a:r>
            <a:r>
              <a:rPr lang="en-US" sz="1400" i="1" dirty="0">
                <a:latin typeface="Garamond" panose="02020404030301010803" pitchFamily="18" charset="0"/>
              </a:rPr>
              <a:t>Catadioptric optical system  and </a:t>
            </a:r>
            <a:r>
              <a:rPr lang="en-US" sz="1400" dirty="0">
                <a:solidFill>
                  <a:schemeClr val="accent2">
                    <a:lumMod val="75000"/>
                  </a:schemeClr>
                </a:solidFill>
                <a:latin typeface="Garamond" panose="02020404030301010803" pitchFamily="18" charset="0"/>
              </a:rPr>
              <a:t>(b)</a:t>
            </a:r>
            <a:r>
              <a:rPr lang="en-US" sz="1400" i="1" dirty="0">
                <a:solidFill>
                  <a:schemeClr val="accent2">
                    <a:lumMod val="75000"/>
                  </a:schemeClr>
                </a:solidFill>
                <a:latin typeface="Garamond" panose="02020404030301010803" pitchFamily="18" charset="0"/>
              </a:rPr>
              <a:t> </a:t>
            </a:r>
            <a:r>
              <a:rPr lang="en-US" sz="1400" i="1" dirty="0">
                <a:latin typeface="Garamond" panose="02020404030301010803" pitchFamily="18" charset="0"/>
              </a:rPr>
              <a:t>its 3D viewing  </a:t>
            </a:r>
          </a:p>
        </p:txBody>
      </p:sp>
      <p:sp>
        <p:nvSpPr>
          <p:cNvPr id="15" name="Rectangle 14">
            <a:extLst>
              <a:ext uri="{FF2B5EF4-FFF2-40B4-BE49-F238E27FC236}">
                <a16:creationId xmlns:a16="http://schemas.microsoft.com/office/drawing/2014/main" id="{2686A161-121C-4E67-94CE-ED89D110733F}"/>
              </a:ext>
            </a:extLst>
          </p:cNvPr>
          <p:cNvSpPr/>
          <p:nvPr/>
        </p:nvSpPr>
        <p:spPr>
          <a:xfrm>
            <a:off x="517235" y="947427"/>
            <a:ext cx="11388437" cy="262758"/>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latin typeface="Garamond" panose="02020404030301010803" pitchFamily="18" charset="0"/>
              </a:rPr>
              <a:t>3. Preliminary design of Catadioptric optical system and its analysis</a:t>
            </a:r>
          </a:p>
        </p:txBody>
      </p:sp>
    </p:spTree>
    <p:extLst>
      <p:ext uri="{BB962C8B-B14F-4D97-AF65-F5344CB8AC3E}">
        <p14:creationId xmlns:p14="http://schemas.microsoft.com/office/powerpoint/2010/main" val="4110639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838200" y="863652"/>
                <a:ext cx="10515600" cy="5103586"/>
              </a:xfrm>
            </p:spPr>
            <p:txBody>
              <a:bodyPr>
                <a:normAutofit/>
              </a:bodyPr>
              <a:lstStyle/>
              <a:p>
                <a:r>
                  <a:rPr lang="en-US" sz="1400" dirty="0">
                    <a:latin typeface="Garamond" panose="02020404030301010803" pitchFamily="18" charset="0"/>
                  </a:rPr>
                  <a:t>The catadioptric combine the optical benefits of both lenses and mirrors into compact package, being smaller than either reflector or reflectors of the same aperture.</a:t>
                </a:r>
              </a:p>
              <a:p>
                <a:pPr lvl="1">
                  <a:buFont typeface="Wingdings" panose="05000000000000000000" pitchFamily="2" charset="2"/>
                  <a:buChar char="§"/>
                </a:pPr>
                <a:r>
                  <a:rPr lang="en-US" sz="1400" dirty="0">
                    <a:latin typeface="Garamond" panose="02020404030301010803" pitchFamily="18" charset="0"/>
                  </a:rPr>
                  <a:t>This is made possibly by corrector plate that folds the light path and curved secondary mirror that magnifies the light internally as depicted in Figure 12.</a:t>
                </a:r>
              </a:p>
              <a:p>
                <a:pPr lvl="1">
                  <a:buFont typeface="Wingdings" panose="05000000000000000000" pitchFamily="2" charset="2"/>
                  <a:buChar char="§"/>
                </a:pPr>
                <a:r>
                  <a:rPr lang="en-US" sz="1400" dirty="0">
                    <a:latin typeface="Garamond" panose="02020404030301010803" pitchFamily="18" charset="0"/>
                  </a:rPr>
                  <a:t>The semi-field of view and f-number for RCT are 10.000 and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1.5</m:t>
                        </m:r>
                      </m:e>
                      <m:sup>
                        <m:r>
                          <a:rPr lang="en-US" sz="1400" i="1">
                            <a:latin typeface="Cambria Math" panose="02040503050406030204" pitchFamily="18" charset="0"/>
                          </a:rPr>
                          <m:t>0</m:t>
                        </m:r>
                      </m:sup>
                    </m:sSup>
                  </m:oMath>
                </a14:m>
                <a:r>
                  <a:rPr lang="en-US" sz="1400" dirty="0">
                    <a:latin typeface="Garamond" panose="02020404030301010803" pitchFamily="18" charset="0"/>
                  </a:rPr>
                  <a:t>, respectively.</a:t>
                </a:r>
              </a:p>
              <a:p>
                <a:pPr marL="457200" lvl="1" indent="0">
                  <a:buNone/>
                </a:pPr>
                <a:endParaRPr lang="en-US" sz="1400" dirty="0">
                  <a:latin typeface="Garamond" panose="02020404030301010803" pitchFamily="18" charset="0"/>
                </a:endParaRPr>
              </a:p>
            </p:txBody>
          </p:sp>
        </mc:Choice>
        <mc:Fallback>
          <p:sp>
            <p:nvSpPr>
              <p:cNvPr id="3" name="Content Placeholder 2">
                <a:extLst>
                  <a:ext uri="{FF2B5EF4-FFF2-40B4-BE49-F238E27FC236}">
                    <a16:creationId xmlns:a16="http://schemas.microsoft.com/office/drawing/2014/main" id="{06EA494C-7A98-4D78-AE95-AE4B087062AF}"/>
                  </a:ext>
                </a:extLst>
              </p:cNvPr>
              <p:cNvSpPr>
                <a:spLocks noGrp="1" noRot="1" noChangeAspect="1" noMove="1" noResize="1" noEditPoints="1" noAdjustHandles="1" noChangeArrowheads="1" noChangeShapeType="1" noTextEdit="1"/>
              </p:cNvSpPr>
              <p:nvPr>
                <p:ph idx="1"/>
              </p:nvPr>
            </p:nvSpPr>
            <p:spPr>
              <a:xfrm>
                <a:off x="838200" y="863652"/>
                <a:ext cx="10515600" cy="5103586"/>
              </a:xfrm>
              <a:blipFill>
                <a:blip r:embed="rId2"/>
                <a:stretch>
                  <a:fillRect l="-116" t="-597" r="-464"/>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DA9F66A5-9AE9-4E77-B4E8-ED8D4C9D1B24}"/>
              </a:ext>
            </a:extLst>
          </p:cNvPr>
          <p:cNvSpPr txBox="1">
            <a:spLocks/>
          </p:cNvSpPr>
          <p:nvPr/>
        </p:nvSpPr>
        <p:spPr>
          <a:xfrm>
            <a:off x="452582" y="376858"/>
            <a:ext cx="11031946"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highlight>
                  <a:srgbClr val="C0C0C0"/>
                </a:highlight>
                <a:latin typeface="Garamond" panose="02020404030301010803" pitchFamily="18" charset="0"/>
              </a:rPr>
              <a:t>Cont’d…</a:t>
            </a:r>
            <a:endParaRPr lang="en-US" sz="2400" dirty="0">
              <a:latin typeface="Garamond" panose="02020404030301010803" pitchFamily="18" charset="0"/>
            </a:endParaRP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452582" y="847288"/>
            <a:ext cx="11031946"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184090"/>
            <a:ext cx="10452682" cy="0"/>
          </a:xfrm>
          <a:prstGeom prst="line">
            <a:avLst/>
          </a:prstGeom>
          <a:ln/>
        </p:spPr>
        <p:style>
          <a:lnRef idx="3">
            <a:schemeClr val="accent2"/>
          </a:lnRef>
          <a:fillRef idx="0">
            <a:schemeClr val="accent2"/>
          </a:fillRef>
          <a:effectRef idx="2">
            <a:schemeClr val="accent2"/>
          </a:effectRef>
          <a:fontRef idx="minor">
            <a:schemeClr val="tx1"/>
          </a:fontRef>
        </p:style>
      </p:cxnSp>
      <p:sp>
        <p:nvSpPr>
          <p:cNvPr id="14" name="Rectangle 13">
            <a:extLst>
              <a:ext uri="{FF2B5EF4-FFF2-40B4-BE49-F238E27FC236}">
                <a16:creationId xmlns:a16="http://schemas.microsoft.com/office/drawing/2014/main" id="{2E282A82-079E-4C88-BFF4-A6C0DD9BD7F0}"/>
              </a:ext>
            </a:extLst>
          </p:cNvPr>
          <p:cNvSpPr/>
          <p:nvPr/>
        </p:nvSpPr>
        <p:spPr>
          <a:xfrm>
            <a:off x="707472" y="5866347"/>
            <a:ext cx="10113063" cy="26275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400" i="1" dirty="0">
                <a:latin typeface="Garamond" panose="02020404030301010803" pitchFamily="18" charset="0"/>
              </a:rPr>
              <a:t>Figure 12:</a:t>
            </a:r>
            <a:r>
              <a:rPr lang="en-US" sz="1400" dirty="0">
                <a:latin typeface="Garamond" panose="02020404030301010803" pitchFamily="18" charset="0"/>
              </a:rPr>
              <a:t> </a:t>
            </a:r>
            <a:r>
              <a:rPr lang="en-US" sz="1400" dirty="0">
                <a:solidFill>
                  <a:schemeClr val="accent2">
                    <a:lumMod val="75000"/>
                  </a:schemeClr>
                </a:solidFill>
                <a:latin typeface="Garamond" panose="02020404030301010803" pitchFamily="18" charset="0"/>
              </a:rPr>
              <a:t>(a) </a:t>
            </a:r>
            <a:r>
              <a:rPr lang="en-US" sz="1400" i="1" dirty="0">
                <a:latin typeface="Garamond" panose="02020404030301010803" pitchFamily="18" charset="0"/>
              </a:rPr>
              <a:t>Catadioptric optical system diffraction intensity spread function and </a:t>
            </a:r>
            <a:r>
              <a:rPr lang="en-US" sz="1400" dirty="0">
                <a:solidFill>
                  <a:schemeClr val="accent2">
                    <a:lumMod val="75000"/>
                  </a:schemeClr>
                </a:solidFill>
                <a:latin typeface="Garamond" panose="02020404030301010803" pitchFamily="18" charset="0"/>
              </a:rPr>
              <a:t>(b)</a:t>
            </a:r>
            <a:r>
              <a:rPr lang="en-US" sz="1400" i="1" dirty="0">
                <a:solidFill>
                  <a:schemeClr val="accent2">
                    <a:lumMod val="75000"/>
                  </a:schemeClr>
                </a:solidFill>
                <a:latin typeface="Garamond" panose="02020404030301010803" pitchFamily="18" charset="0"/>
              </a:rPr>
              <a:t> </a:t>
            </a:r>
            <a:r>
              <a:rPr lang="en-US" sz="1400" i="1" dirty="0">
                <a:latin typeface="Garamond" panose="02020404030301010803" pitchFamily="18" charset="0"/>
              </a:rPr>
              <a:t>wave front aberration</a:t>
            </a:r>
            <a:r>
              <a:rPr lang="en-US" sz="1400" i="1" dirty="0">
                <a:solidFill>
                  <a:schemeClr val="accent2">
                    <a:lumMod val="75000"/>
                  </a:schemeClr>
                </a:solidFill>
                <a:latin typeface="Garamond" panose="02020404030301010803" pitchFamily="18" charset="0"/>
              </a:rPr>
              <a:t>, </a:t>
            </a:r>
            <a:r>
              <a:rPr lang="en-US" sz="1400" dirty="0">
                <a:solidFill>
                  <a:schemeClr val="accent2">
                    <a:lumMod val="75000"/>
                  </a:schemeClr>
                </a:solidFill>
                <a:latin typeface="Garamond" panose="02020404030301010803" pitchFamily="18" charset="0"/>
              </a:rPr>
              <a:t>(c) </a:t>
            </a:r>
            <a:r>
              <a:rPr lang="en-US" sz="1400" i="1" dirty="0">
                <a:latin typeface="Garamond" panose="02020404030301010803" pitchFamily="18" charset="0"/>
              </a:rPr>
              <a:t>Spot diagram and </a:t>
            </a:r>
            <a:r>
              <a:rPr lang="en-US" sz="1400" dirty="0">
                <a:solidFill>
                  <a:schemeClr val="accent2">
                    <a:lumMod val="75000"/>
                  </a:schemeClr>
                </a:solidFill>
                <a:latin typeface="Garamond" panose="02020404030301010803" pitchFamily="18" charset="0"/>
              </a:rPr>
              <a:t>(d) </a:t>
            </a:r>
            <a:r>
              <a:rPr lang="en-US" sz="1400" i="1" dirty="0">
                <a:latin typeface="Garamond" panose="02020404030301010803" pitchFamily="18" charset="0"/>
              </a:rPr>
              <a:t>its modulation transfer function  </a:t>
            </a:r>
          </a:p>
        </p:txBody>
      </p:sp>
      <p:pic>
        <p:nvPicPr>
          <p:cNvPr id="11" name="Picture 10">
            <a:extLst>
              <a:ext uri="{FF2B5EF4-FFF2-40B4-BE49-F238E27FC236}">
                <a16:creationId xmlns:a16="http://schemas.microsoft.com/office/drawing/2014/main" id="{78A6FE46-3291-425D-BCC1-F2494CC4D214}"/>
              </a:ext>
            </a:extLst>
          </p:cNvPr>
          <p:cNvPicPr>
            <a:picLocks noChangeAspect="1"/>
          </p:cNvPicPr>
          <p:nvPr/>
        </p:nvPicPr>
        <p:blipFill>
          <a:blip r:embed="rId3"/>
          <a:stretch>
            <a:fillRect/>
          </a:stretch>
        </p:blipFill>
        <p:spPr>
          <a:xfrm>
            <a:off x="8661400" y="2262914"/>
            <a:ext cx="2823128" cy="3282630"/>
          </a:xfrm>
          <a:prstGeom prst="rect">
            <a:avLst/>
          </a:prstGeom>
        </p:spPr>
      </p:pic>
      <p:pic>
        <p:nvPicPr>
          <p:cNvPr id="16" name="Picture 15">
            <a:extLst>
              <a:ext uri="{FF2B5EF4-FFF2-40B4-BE49-F238E27FC236}">
                <a16:creationId xmlns:a16="http://schemas.microsoft.com/office/drawing/2014/main" id="{DD89AF46-6C9E-4A4C-A45B-3548F785A54D}"/>
              </a:ext>
            </a:extLst>
          </p:cNvPr>
          <p:cNvPicPr>
            <a:picLocks noChangeAspect="1"/>
          </p:cNvPicPr>
          <p:nvPr/>
        </p:nvPicPr>
        <p:blipFill>
          <a:blip r:embed="rId4"/>
          <a:stretch>
            <a:fillRect/>
          </a:stretch>
        </p:blipFill>
        <p:spPr>
          <a:xfrm>
            <a:off x="3326359" y="2262916"/>
            <a:ext cx="2488160" cy="3256843"/>
          </a:xfrm>
          <a:prstGeom prst="rect">
            <a:avLst/>
          </a:prstGeom>
        </p:spPr>
      </p:pic>
      <p:pic>
        <p:nvPicPr>
          <p:cNvPr id="17" name="Picture 16">
            <a:extLst>
              <a:ext uri="{FF2B5EF4-FFF2-40B4-BE49-F238E27FC236}">
                <a16:creationId xmlns:a16="http://schemas.microsoft.com/office/drawing/2014/main" id="{B12FDF39-C22C-4537-A8E9-C7B85EC0C91C}"/>
              </a:ext>
            </a:extLst>
          </p:cNvPr>
          <p:cNvPicPr>
            <a:picLocks noChangeAspect="1"/>
          </p:cNvPicPr>
          <p:nvPr/>
        </p:nvPicPr>
        <p:blipFill>
          <a:blip r:embed="rId5"/>
          <a:stretch>
            <a:fillRect/>
          </a:stretch>
        </p:blipFill>
        <p:spPr>
          <a:xfrm>
            <a:off x="5814520" y="2262916"/>
            <a:ext cx="2846879" cy="3282630"/>
          </a:xfrm>
          <a:prstGeom prst="rect">
            <a:avLst/>
          </a:prstGeom>
        </p:spPr>
      </p:pic>
      <p:sp>
        <p:nvSpPr>
          <p:cNvPr id="18" name="Oval 17">
            <a:extLst>
              <a:ext uri="{FF2B5EF4-FFF2-40B4-BE49-F238E27FC236}">
                <a16:creationId xmlns:a16="http://schemas.microsoft.com/office/drawing/2014/main" id="{4E51587B-FE0D-4307-98F1-AE3F6DB90237}"/>
              </a:ext>
            </a:extLst>
          </p:cNvPr>
          <p:cNvSpPr/>
          <p:nvPr/>
        </p:nvSpPr>
        <p:spPr>
          <a:xfrm>
            <a:off x="1505526" y="5548050"/>
            <a:ext cx="353292" cy="249543"/>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a</a:t>
            </a:r>
          </a:p>
        </p:txBody>
      </p:sp>
      <p:sp>
        <p:nvSpPr>
          <p:cNvPr id="19" name="Oval 18">
            <a:extLst>
              <a:ext uri="{FF2B5EF4-FFF2-40B4-BE49-F238E27FC236}">
                <a16:creationId xmlns:a16="http://schemas.microsoft.com/office/drawing/2014/main" id="{A69F6BBA-4640-4E79-82D4-03CFB1211135}"/>
              </a:ext>
            </a:extLst>
          </p:cNvPr>
          <p:cNvSpPr/>
          <p:nvPr/>
        </p:nvSpPr>
        <p:spPr>
          <a:xfrm>
            <a:off x="4354943" y="5608088"/>
            <a:ext cx="353292" cy="249543"/>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b</a:t>
            </a:r>
          </a:p>
        </p:txBody>
      </p:sp>
      <p:sp>
        <p:nvSpPr>
          <p:cNvPr id="20" name="Oval 19">
            <a:extLst>
              <a:ext uri="{FF2B5EF4-FFF2-40B4-BE49-F238E27FC236}">
                <a16:creationId xmlns:a16="http://schemas.microsoft.com/office/drawing/2014/main" id="{BE533F62-F98F-4C90-8430-083F982D013D}"/>
              </a:ext>
            </a:extLst>
          </p:cNvPr>
          <p:cNvSpPr/>
          <p:nvPr/>
        </p:nvSpPr>
        <p:spPr>
          <a:xfrm>
            <a:off x="7017211" y="5553917"/>
            <a:ext cx="353292" cy="249543"/>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c</a:t>
            </a:r>
          </a:p>
        </p:txBody>
      </p:sp>
      <p:sp>
        <p:nvSpPr>
          <p:cNvPr id="21" name="Oval 20">
            <a:extLst>
              <a:ext uri="{FF2B5EF4-FFF2-40B4-BE49-F238E27FC236}">
                <a16:creationId xmlns:a16="http://schemas.microsoft.com/office/drawing/2014/main" id="{CF43CA48-A309-4864-9055-2141C5062649}"/>
              </a:ext>
            </a:extLst>
          </p:cNvPr>
          <p:cNvSpPr/>
          <p:nvPr/>
        </p:nvSpPr>
        <p:spPr>
          <a:xfrm>
            <a:off x="9768163" y="5543176"/>
            <a:ext cx="353292" cy="249543"/>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dirty="0">
                <a:latin typeface="Garamond" panose="02020404030301010803" pitchFamily="18" charset="0"/>
              </a:rPr>
              <a:t>d</a:t>
            </a:r>
          </a:p>
        </p:txBody>
      </p:sp>
      <p:pic>
        <p:nvPicPr>
          <p:cNvPr id="2" name="Picture 1">
            <a:extLst>
              <a:ext uri="{FF2B5EF4-FFF2-40B4-BE49-F238E27FC236}">
                <a16:creationId xmlns:a16="http://schemas.microsoft.com/office/drawing/2014/main" id="{5E1E0DB8-1B1B-4526-ADFA-1C2C8A81D1FC}"/>
              </a:ext>
            </a:extLst>
          </p:cNvPr>
          <p:cNvPicPr>
            <a:picLocks noChangeAspect="1"/>
          </p:cNvPicPr>
          <p:nvPr/>
        </p:nvPicPr>
        <p:blipFill>
          <a:blip r:embed="rId6"/>
          <a:stretch>
            <a:fillRect/>
          </a:stretch>
        </p:blipFill>
        <p:spPr>
          <a:xfrm>
            <a:off x="838200" y="2246988"/>
            <a:ext cx="2426142" cy="3306930"/>
          </a:xfrm>
          <a:prstGeom prst="rect">
            <a:avLst/>
          </a:prstGeom>
        </p:spPr>
      </p:pic>
    </p:spTree>
    <p:extLst>
      <p:ext uri="{BB962C8B-B14F-4D97-AF65-F5344CB8AC3E}">
        <p14:creationId xmlns:p14="http://schemas.microsoft.com/office/powerpoint/2010/main" val="3689936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A494C-7A98-4D78-AE95-AE4B087062AF}"/>
              </a:ext>
            </a:extLst>
          </p:cNvPr>
          <p:cNvSpPr>
            <a:spLocks noGrp="1"/>
          </p:cNvSpPr>
          <p:nvPr>
            <p:ph idx="1"/>
          </p:nvPr>
        </p:nvSpPr>
        <p:spPr>
          <a:xfrm>
            <a:off x="838200" y="975881"/>
            <a:ext cx="10515600" cy="4351338"/>
          </a:xfrm>
        </p:spPr>
        <p:txBody>
          <a:bodyPr>
            <a:normAutofit/>
          </a:bodyPr>
          <a:lstStyle/>
          <a:p>
            <a:pPr lvl="1">
              <a:buFont typeface="Wingdings" panose="05000000000000000000" pitchFamily="2" charset="2"/>
              <a:buChar char="§"/>
            </a:pPr>
            <a:r>
              <a:rPr lang="en-US" sz="1400" dirty="0">
                <a:latin typeface="Garamond" panose="02020404030301010803" pitchFamily="18" charset="0"/>
              </a:rPr>
              <a:t>Optomechanical housing design</a:t>
            </a:r>
          </a:p>
          <a:p>
            <a:pPr lvl="1">
              <a:buFont typeface="Wingdings" panose="05000000000000000000" pitchFamily="2" charset="2"/>
              <a:buChar char="§"/>
            </a:pPr>
            <a:r>
              <a:rPr lang="en-US" sz="1400" dirty="0">
                <a:latin typeface="Garamond" panose="02020404030301010803" pitchFamily="18" charset="0"/>
              </a:rPr>
              <a:t>Optimization</a:t>
            </a:r>
          </a:p>
          <a:p>
            <a:pPr lvl="1">
              <a:buFont typeface="Wingdings" panose="05000000000000000000" pitchFamily="2" charset="2"/>
              <a:buChar char="§"/>
            </a:pPr>
            <a:r>
              <a:rPr lang="en-US" sz="1400" dirty="0">
                <a:latin typeface="Garamond" panose="02020404030301010803" pitchFamily="18" charset="0"/>
              </a:rPr>
              <a:t>Evaluate the performance</a:t>
            </a:r>
          </a:p>
          <a:p>
            <a:pPr lvl="1">
              <a:buFont typeface="Wingdings" panose="05000000000000000000" pitchFamily="2" charset="2"/>
              <a:buChar char="§"/>
            </a:pPr>
            <a:r>
              <a:rPr lang="en-US" sz="1400" dirty="0">
                <a:latin typeface="Garamond" panose="02020404030301010803" pitchFamily="18" charset="0"/>
              </a:rPr>
              <a:t>3D print  </a:t>
            </a:r>
          </a:p>
          <a:p>
            <a:pPr lvl="1">
              <a:buFont typeface="Wingdings" panose="05000000000000000000" pitchFamily="2" charset="2"/>
              <a:buChar char="§"/>
            </a:pPr>
            <a:r>
              <a:rPr lang="en-US" sz="1400" dirty="0">
                <a:latin typeface="Garamond" panose="02020404030301010803" pitchFamily="18" charset="0"/>
              </a:rPr>
              <a:t>3U CubeSat design</a:t>
            </a:r>
          </a:p>
          <a:p>
            <a:pPr lvl="1">
              <a:buFont typeface="Wingdings" panose="05000000000000000000" pitchFamily="2" charset="2"/>
              <a:buChar char="§"/>
            </a:pPr>
            <a:endParaRPr lang="en-US" sz="1400" dirty="0">
              <a:latin typeface="Garamond" panose="02020404030301010803" pitchFamily="18" charset="0"/>
            </a:endParaRPr>
          </a:p>
          <a:p>
            <a:pPr marL="457200" lvl="1" indent="0">
              <a:buNone/>
            </a:pPr>
            <a:r>
              <a:rPr lang="en-US" sz="1400" dirty="0">
                <a:latin typeface="Garamond" panose="02020404030301010803" pitchFamily="18" charset="0"/>
              </a:rPr>
              <a:t> </a:t>
            </a:r>
          </a:p>
        </p:txBody>
      </p:sp>
      <p:sp>
        <p:nvSpPr>
          <p:cNvPr id="4" name="Title 3">
            <a:extLst>
              <a:ext uri="{FF2B5EF4-FFF2-40B4-BE49-F238E27FC236}">
                <a16:creationId xmlns:a16="http://schemas.microsoft.com/office/drawing/2014/main" id="{DA9F66A5-9AE9-4E77-B4E8-ED8D4C9D1B24}"/>
              </a:ext>
            </a:extLst>
          </p:cNvPr>
          <p:cNvSpPr txBox="1">
            <a:spLocks/>
          </p:cNvSpPr>
          <p:nvPr/>
        </p:nvSpPr>
        <p:spPr>
          <a:xfrm>
            <a:off x="628073" y="376858"/>
            <a:ext cx="11260228" cy="431809"/>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highlight>
                  <a:srgbClr val="C0C0C0"/>
                </a:highlight>
                <a:latin typeface="Garamond" panose="02020404030301010803" pitchFamily="18" charset="0"/>
              </a:rPr>
              <a:t>Future work</a:t>
            </a:r>
            <a:endParaRPr lang="en-US" sz="2400" dirty="0">
              <a:latin typeface="Garamond" panose="02020404030301010803" pitchFamily="18" charset="0"/>
            </a:endParaRPr>
          </a:p>
        </p:txBody>
      </p:sp>
      <p:cxnSp>
        <p:nvCxnSpPr>
          <p:cNvPr id="5" name="Straight Connector 4">
            <a:extLst>
              <a:ext uri="{FF2B5EF4-FFF2-40B4-BE49-F238E27FC236}">
                <a16:creationId xmlns:a16="http://schemas.microsoft.com/office/drawing/2014/main" id="{C94F82CC-9DF0-41E3-A68C-2C17A9E55685}"/>
              </a:ext>
            </a:extLst>
          </p:cNvPr>
          <p:cNvCxnSpPr>
            <a:cxnSpLocks/>
          </p:cNvCxnSpPr>
          <p:nvPr/>
        </p:nvCxnSpPr>
        <p:spPr>
          <a:xfrm>
            <a:off x="628073" y="847288"/>
            <a:ext cx="11260228"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B76585F0-3A99-4CC3-81B6-AEF122CEC694}"/>
              </a:ext>
            </a:extLst>
          </p:cNvPr>
          <p:cNvCxnSpPr/>
          <p:nvPr/>
        </p:nvCxnSpPr>
        <p:spPr>
          <a:xfrm>
            <a:off x="1024855" y="6184090"/>
            <a:ext cx="10452682" cy="0"/>
          </a:xfrm>
          <a:prstGeom prst="line">
            <a:avLst/>
          </a:prstGeom>
          <a:ln/>
        </p:spPr>
        <p:style>
          <a:lnRef idx="3">
            <a:schemeClr val="accent2"/>
          </a:lnRef>
          <a:fillRef idx="0">
            <a:schemeClr val="accent2"/>
          </a:fillRef>
          <a:effectRef idx="2">
            <a:schemeClr val="accent2"/>
          </a:effectRef>
          <a:fontRef idx="minor">
            <a:schemeClr val="tx1"/>
          </a:fontRef>
        </p:style>
      </p:cxnSp>
      <p:pic>
        <p:nvPicPr>
          <p:cNvPr id="2" name="Picture 1">
            <a:extLst>
              <a:ext uri="{FF2B5EF4-FFF2-40B4-BE49-F238E27FC236}">
                <a16:creationId xmlns:a16="http://schemas.microsoft.com/office/drawing/2014/main" id="{F3C0CCBD-6EFF-4B68-9F40-E124D385017F}"/>
              </a:ext>
            </a:extLst>
          </p:cNvPr>
          <p:cNvPicPr>
            <a:picLocks noChangeAspect="1"/>
          </p:cNvPicPr>
          <p:nvPr/>
        </p:nvPicPr>
        <p:blipFill>
          <a:blip r:embed="rId2"/>
          <a:stretch>
            <a:fillRect/>
          </a:stretch>
        </p:blipFill>
        <p:spPr>
          <a:xfrm>
            <a:off x="4193309" y="1394691"/>
            <a:ext cx="6622473" cy="4257963"/>
          </a:xfrm>
          <a:prstGeom prst="rect">
            <a:avLst/>
          </a:prstGeom>
        </p:spPr>
      </p:pic>
    </p:spTree>
    <p:extLst>
      <p:ext uri="{BB962C8B-B14F-4D97-AF65-F5344CB8AC3E}">
        <p14:creationId xmlns:p14="http://schemas.microsoft.com/office/powerpoint/2010/main" val="893651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3764</TotalTime>
  <Words>1676</Words>
  <Application>Microsoft Office PowerPoint</Application>
  <PresentationFormat>Widescreen</PresentationFormat>
  <Paragraphs>153</Paragraphs>
  <Slides>13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Cambria Math</vt:lpstr>
      <vt:lpstr>Garamond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ASCL</dc:creator>
  <cp:lastModifiedBy>ASCL</cp:lastModifiedBy>
  <cp:revision>122</cp:revision>
  <cp:lastPrinted>2023-09-06T15:02:17Z</cp:lastPrinted>
  <dcterms:created xsi:type="dcterms:W3CDTF">2023-03-27T10:40:11Z</dcterms:created>
  <dcterms:modified xsi:type="dcterms:W3CDTF">2023-09-07T03:11:01Z</dcterms:modified>
</cp:coreProperties>
</file>