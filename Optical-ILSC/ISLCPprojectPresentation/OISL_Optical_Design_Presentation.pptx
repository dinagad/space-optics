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A8B8D8"/>
                </a:solidFill>
                <a:latin typeface="Arial"/>
              </a:defRPr>
            </a:pPr>
            <a:r>
              <a:rPr sz="1200" b="0" i="0" u="none" strike="noStrike">
                <a:solidFill>
                  <a:srgbClr val="A8B8D8"/>
                </a:solidFill>
                <a:latin typeface="Arial"/>
              </a:rPr>
              <a:t>Max Data Rate (Mbps) vs. Range (km)</a:t>
            </a:r>
          </a:p>
        </c:rich>
      </c:tx>
      <c:layout/>
      <c:overlay val="0"/>
    </c:title>
    <c:autoTitleDeleted val="0"/>
    <c:plotArea>
      <c:layout/>
      <c:lineChart>
        <c:varyColors val="0"/>
        <c:ser>
          <c:idx val="0"/>
          <c:order val="0"/>
          <c:tx>
            <c:strRef>
              <c:f>Sheet1!$B$1</c:f>
              <c:strCache>
                <c:ptCount val="1"/>
                <c:pt idx="0">
                  <c:v>D = 20 mm</c:v>
                </c:pt>
              </c:strCache>
            </c:strRef>
          </c:tx>
          <c:spPr>
            <a:solidFill>
              <a:srgbClr val="7B5EF8"/>
            </a:solidFill>
            <a:ln w="31750" cap="flat">
              <a:solidFill>
                <a:srgbClr val="7B5EF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7B5EF8"/>
              </a:solidFill>
              <a:ln w="9525" cap="flat">
                <a:solidFill>
                  <a:srgbClr val="7B5EF8"/>
                </a:solidFill>
                <a:prstDash val="solid"/>
                <a:round/>
              </a:ln>
              <a:effectLst/>
            </c:spPr>
          </c:marker>
          <c:cat>
            <c:multiLvlStrRef>
              <c:f>Sheet1!$A$2:$A$7</c:f>
              <c:multiLvlStrCache>
                <c:ptCount val="6"/>
                <c:lvl>
                  <c:pt idx="0">
                    <c:v>100</c:v>
                  </c:pt>
                  <c:pt idx="1">
                    <c:v>300</c:v>
                  </c:pt>
                  <c:pt idx="2">
                    <c:v>500</c:v>
                  </c:pt>
                  <c:pt idx="3">
                    <c:v>700</c:v>
                  </c:pt>
                  <c:pt idx="4">
                    <c:v>1000</c:v>
                  </c:pt>
                  <c:pt idx="5">
                    <c:v>1500</c:v>
                  </c:pt>
                </c:lvl>
              </c:multiLvlStrCache>
            </c:multiLvlStrRef>
          </c:cat>
          <c:val>
            <c:numRef>
              <c:f>Sheet1!$B$2:$B$7</c:f>
              <c:numCache>
                <c:formatCode>General</c:formatCode>
                <c:ptCount val="6"/>
                <c:pt idx="0">
                  <c:v>520</c:v>
                </c:pt>
                <c:pt idx="1">
                  <c:v>58</c:v>
                </c:pt>
                <c:pt idx="2">
                  <c:v>21</c:v>
                </c:pt>
                <c:pt idx="3">
                  <c:v>11</c:v>
                </c:pt>
                <c:pt idx="4">
                  <c:v>5</c:v>
                </c:pt>
                <c:pt idx="5">
                  <c:v>2.4</c:v>
                </c:pt>
              </c:numCache>
            </c:numRef>
          </c:val>
          <c:smooth val="1"/>
        </c:ser>
        <c:ser>
          <c:idx val="1"/>
          <c:order val="1"/>
          <c:tx>
            <c:strRef>
              <c:f>Sheet1!$C$1</c:f>
              <c:strCache>
                <c:ptCount val="1"/>
                <c:pt idx="0">
                  <c:v>D = 40 mm</c:v>
                </c:pt>
              </c:strCache>
            </c:strRef>
          </c:tx>
          <c:spPr>
            <a:solidFill>
              <a:srgbClr val="00E5C0"/>
            </a:solidFill>
            <a:ln w="31750" cap="flat">
              <a:solidFill>
                <a:srgbClr val="00E5C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0E5C0"/>
              </a:solidFill>
              <a:ln w="9525" cap="flat">
                <a:solidFill>
                  <a:srgbClr val="00E5C0"/>
                </a:solidFill>
                <a:prstDash val="solid"/>
                <a:round/>
              </a:ln>
              <a:effectLst/>
            </c:spPr>
          </c:marker>
          <c:cat>
            <c:multiLvlStrRef>
              <c:f>Sheet1!$A$2:$A$7</c:f>
              <c:multiLvlStrCache>
                <c:ptCount val="6"/>
                <c:lvl>
                  <c:pt idx="0">
                    <c:v>100</c:v>
                  </c:pt>
                  <c:pt idx="1">
                    <c:v>300</c:v>
                  </c:pt>
                  <c:pt idx="2">
                    <c:v>500</c:v>
                  </c:pt>
                  <c:pt idx="3">
                    <c:v>700</c:v>
                  </c:pt>
                  <c:pt idx="4">
                    <c:v>1000</c:v>
                  </c:pt>
                  <c:pt idx="5">
                    <c:v>1500</c:v>
                  </c:pt>
                </c:lvl>
              </c:multiLvlStrCache>
            </c:multiLvlStrRef>
          </c:cat>
          <c:val>
            <c:numRef>
              <c:f>Sheet1!$C$2:$C$7</c:f>
              <c:numCache>
                <c:formatCode>General</c:formatCode>
                <c:ptCount val="6"/>
                <c:pt idx="0">
                  <c:v>8300</c:v>
                </c:pt>
                <c:pt idx="1">
                  <c:v>920</c:v>
                </c:pt>
                <c:pt idx="2">
                  <c:v>330</c:v>
                </c:pt>
                <c:pt idx="3">
                  <c:v>170</c:v>
                </c:pt>
                <c:pt idx="4">
                  <c:v>83</c:v>
                </c:pt>
                <c:pt idx="5">
                  <c:v>37</c:v>
                </c:pt>
              </c:numCache>
            </c:numRef>
          </c:val>
          <c:smooth val="1"/>
        </c:ser>
        <c:ser>
          <c:idx val="2"/>
          <c:order val="2"/>
          <c:tx>
            <c:strRef>
              <c:f>Sheet1!$D$1</c:f>
              <c:strCache>
                <c:ptCount val="1"/>
                <c:pt idx="0">
                  <c:v>D = 60 mm</c:v>
                </c:pt>
              </c:strCache>
            </c:strRef>
          </c:tx>
          <c:spPr>
            <a:solidFill>
              <a:srgbClr val="FFD166"/>
            </a:solidFill>
            <a:ln w="31750" cap="flat">
              <a:solidFill>
                <a:srgbClr val="FFD1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FD166"/>
              </a:solidFill>
              <a:ln w="9525" cap="flat">
                <a:solidFill>
                  <a:srgbClr val="FFD166"/>
                </a:solidFill>
                <a:prstDash val="solid"/>
                <a:round/>
              </a:ln>
              <a:effectLst/>
            </c:spPr>
          </c:marker>
          <c:cat>
            <c:multiLvlStrRef>
              <c:f>Sheet1!$A$2:$A$7</c:f>
              <c:multiLvlStrCache>
                <c:ptCount val="6"/>
                <c:lvl>
                  <c:pt idx="0">
                    <c:v>100</c:v>
                  </c:pt>
                  <c:pt idx="1">
                    <c:v>300</c:v>
                  </c:pt>
                  <c:pt idx="2">
                    <c:v>500</c:v>
                  </c:pt>
                  <c:pt idx="3">
                    <c:v>700</c:v>
                  </c:pt>
                  <c:pt idx="4">
                    <c:v>1000</c:v>
                  </c:pt>
                  <c:pt idx="5">
                    <c:v>1500</c:v>
                  </c:pt>
                </c:lvl>
              </c:multiLvlStrCache>
            </c:multiLvlStrRef>
          </c:cat>
          <c:val>
            <c:numRef>
              <c:f>Sheet1!$D$2:$D$7</c:f>
              <c:numCache>
                <c:formatCode>General</c:formatCode>
                <c:ptCount val="6"/>
                <c:pt idx="0">
                  <c:v>42000</c:v>
                </c:pt>
                <c:pt idx="1">
                  <c:v>4600</c:v>
                </c:pt>
                <c:pt idx="2">
                  <c:v>1660</c:v>
                </c:pt>
                <c:pt idx="3">
                  <c:v>840</c:v>
                </c:pt>
                <c:pt idx="4">
                  <c:v>420</c:v>
                </c:pt>
                <c:pt idx="5">
                  <c:v>185</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8B8D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E306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8B8D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solidFill>
      <a:srgbClr val="111D45"/>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Introduce the topic: optical inter-satellite links as the key enabling technology for high-rate CubeSat constellations. Mention your research context at KAIST.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major topics. Emphasize the connection: link budget drives component specs, which drive WFE budget, which feeds back into link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optical ISL is not incremental — it is a paradigm shift in satellite communication. The beam narrowness is both the superpower (EM-quiet, compact) and the engineering challenge (PAT).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interdependence of the three chains — the FSM sits at the intersection of TX and PAT. The beacon detector feeds the pointing error that drives the FSM, which steers the TX beam. This tight coupling is the key design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MOPA architecture is standard because it separates frequency stability (DFB seed) from power (EDFA). The Doppler shift at 1550 nm is enormous compared to RF — 5 GHz compared to a few MHz for Ka-band — and must be managed in the tracking/control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Galilean beam expander avoids a focal point inside the optics — important when multi-watt beams could ionize air or damage coatings at a focus. The FSM is unique because it is shared hardware between TX beam-steering and PAT error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CubeSat OISL, APD is the only realistic choice — SNSPDs require cryogenic cooling at 4K which is incompatible with a 10W CubeSat power budget. The bandpass filter is critical: without it, solar background at 1550nm would saturate the APD.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RSS combination assumes statistically independent contributors. Thermal gradient dominates at 12nm — drives material selection (Zerodur, fused silica) and thermal control design. Budget target was S &gt; 0.80; achieved S = 0.91 with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development process is inherently iterative — sensitivity analysis feeds back into optical design, and tolerance results feed into mechanical design. This matrix-driven approach is how professional space programs (ESA, NASA) manage optical budgets.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insight: the notch filter is not optional — without it the PID controller would excite the mechanical resonance and oscillate. The Kalman filter upgrade provides ~10 dB additional disturbance rejection over plain PID by predicting and canceling reaction-wheel harmonics.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free-space path loss at 500 km at 1550 nm is ~278 dB. The TX aperture gain at 40mm is ~77 dB — this is why optical beats RF so decisively. The link margin of ~28 dB gives enormous headroom for pointing losses and hardware variation.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D⁴ scaling is the most important insight: since both TX and RX aperture enter as D², using matched apertures means received power scales with D⁴. This is why aperture selection is the highest-leverage design choice in CubeSat OISL.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three-stage acquisition is driven by the enormous mismatch between initial pointing uncertainty (0.5°) and beam divergence (40 μrad = 0.002°). A single-stage direct acquisition would require sweeping 625,000 beam positions — practically impossible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bridges the tutorial into your own research context. MEMS FSM and PIC transceivers are the two technologies most likely to enable true 1U CubeSat OISL within 5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connection to your own research: your hall-thruster optimization work for CubeSat propulsion and the OISL link design for inter-satellite data relay are the two technical pillars of a 1U platform with full mission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2C"/>
        </a:solidFill>
      </p:bgPr>
    </p:bg>
    <p:spTree>
      <p:nvGrpSpPr>
        <p:cNvPr id="1" name=""/>
        <p:cNvGrpSpPr/>
        <p:nvPr/>
      </p:nvGrpSpPr>
      <p:grpSpPr>
        <a:xfrm>
          <a:off x="0" y="0"/>
          <a:ext cx="0" cy="0"/>
          <a:chOff x="0" y="0"/>
          <a:chExt cx="0" cy="0"/>
        </a:xfrm>
      </p:grpSpPr>
      <p:sp>
        <p:nvSpPr>
          <p:cNvPr id="2" name="Shape 0"/>
          <p:cNvSpPr/>
          <p:nvPr/>
        </p:nvSpPr>
        <p:spPr>
          <a:xfrm>
            <a:off x="6217920" y="-731520"/>
            <a:ext cx="5943600" cy="5943600"/>
          </a:xfrm>
          <a:prstGeom prst="ellipse">
            <a:avLst/>
          </a:prstGeom>
          <a:solidFill>
            <a:srgbClr val="7B5EF8">
              <a:alpha val="15000"/>
            </a:srgbClr>
          </a:solidFill>
          <a:ln w="12700">
            <a:solidFill>
              <a:srgbClr val="7B5EF8">
                <a:alpha val="30000"/>
              </a:srgbClr>
            </a:solidFill>
            <a:prstDash val="solid"/>
          </a:ln>
        </p:spPr>
      </p:sp>
      <p:sp>
        <p:nvSpPr>
          <p:cNvPr id="3" name="Shape 1"/>
          <p:cNvSpPr/>
          <p:nvPr/>
        </p:nvSpPr>
        <p:spPr>
          <a:xfrm>
            <a:off x="-1371600" y="2743200"/>
            <a:ext cx="3657600" cy="3657600"/>
          </a:xfrm>
          <a:prstGeom prst="ellipse">
            <a:avLst/>
          </a:prstGeom>
          <a:solidFill>
            <a:srgbClr val="00C8FF">
              <a:alpha val="10000"/>
            </a:srgbClr>
          </a:solidFill>
          <a:ln w="6350">
            <a:solidFill>
              <a:srgbClr val="00C8FF">
                <a:alpha val="20000"/>
              </a:srgbClr>
            </a:solidFill>
            <a:prstDash val="solid"/>
          </a:ln>
        </p:spPr>
      </p:sp>
      <p:sp>
        <p:nvSpPr>
          <p:cNvPr id="4" name="Shape 2"/>
          <p:cNvSpPr/>
          <p:nvPr/>
        </p:nvSpPr>
        <p:spPr>
          <a:xfrm>
            <a:off x="6858000" y="3200400"/>
            <a:ext cx="2286000" cy="2286000"/>
          </a:xfrm>
          <a:prstGeom prst="ellipse">
            <a:avLst/>
          </a:prstGeom>
          <a:solidFill>
            <a:srgbClr val="00E5C0">
              <a:alpha val="12000"/>
            </a:srgbClr>
          </a:solidFill>
          <a:ln w="6350">
            <a:solidFill>
              <a:srgbClr val="00E5C0">
                <a:alpha val="25000"/>
              </a:srgbClr>
            </a:solidFill>
            <a:prstDash val="solid"/>
          </a:ln>
        </p:spPr>
      </p:sp>
      <p:pic>
        <p:nvPicPr>
          <p:cNvPr id="5" name="Image 0" descr="preencoded.png">    </p:cNvPr>
          <p:cNvPicPr>
            <a:picLocks noChangeAspect="1"/>
          </p:cNvPicPr>
          <p:nvPr/>
        </p:nvPicPr>
        <p:blipFill>
          <a:blip r:embed="rId1"/>
          <a:stretch>
            <a:fillRect/>
          </a:stretch>
        </p:blipFill>
        <p:spPr>
          <a:xfrm>
            <a:off x="7589520" y="457200"/>
            <a:ext cx="1280160" cy="1280160"/>
          </a:xfrm>
          <a:prstGeom prst="rect">
            <a:avLst/>
          </a:prstGeom>
        </p:spPr>
      </p:pic>
      <p:sp>
        <p:nvSpPr>
          <p:cNvPr id="6" name="Text 3"/>
          <p:cNvSpPr/>
          <p:nvPr/>
        </p:nvSpPr>
        <p:spPr>
          <a:xfrm>
            <a:off x="457200" y="594360"/>
            <a:ext cx="7315200" cy="82296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Inter-Satellite Laser</a:t>
            </a:r>
            <a:endParaRPr lang="en-US" sz="4000" dirty="0"/>
          </a:p>
        </p:txBody>
      </p:sp>
      <p:sp>
        <p:nvSpPr>
          <p:cNvPr id="7" name="Text 4"/>
          <p:cNvSpPr/>
          <p:nvPr/>
        </p:nvSpPr>
        <p:spPr>
          <a:xfrm>
            <a:off x="457200" y="1371600"/>
            <a:ext cx="6858000" cy="822960"/>
          </a:xfrm>
          <a:prstGeom prst="rect">
            <a:avLst/>
          </a:prstGeom>
          <a:noFill/>
          <a:ln/>
        </p:spPr>
        <p:txBody>
          <a:bodyPr wrap="square" rtlCol="0" anchor="ctr"/>
          <a:lstStyle/>
          <a:p>
            <a:pPr indent="0" marL="0">
              <a:buNone/>
            </a:pPr>
            <a:r>
              <a:rPr lang="en-US" sz="4000" b="1" dirty="0">
                <a:solidFill>
                  <a:srgbClr val="00C8FF"/>
                </a:solidFill>
                <a:latin typeface="Cambria" pitchFamily="34" charset="0"/>
                <a:ea typeface="Cambria" pitchFamily="34" charset="-122"/>
                <a:cs typeface="Cambria" pitchFamily="34" charset="-120"/>
              </a:rPr>
              <a:t>Communication</a:t>
            </a:r>
            <a:endParaRPr lang="en-US" sz="4000" dirty="0"/>
          </a:p>
        </p:txBody>
      </p:sp>
      <p:sp>
        <p:nvSpPr>
          <p:cNvPr id="8" name="Text 5"/>
          <p:cNvSpPr/>
          <p:nvPr/>
        </p:nvSpPr>
        <p:spPr>
          <a:xfrm>
            <a:off x="457200" y="2286000"/>
            <a:ext cx="7772400" cy="502920"/>
          </a:xfrm>
          <a:prstGeom prst="rect">
            <a:avLst/>
          </a:prstGeom>
          <a:noFill/>
          <a:ln/>
        </p:spPr>
        <p:txBody>
          <a:bodyPr wrap="square" rtlCol="0" anchor="ctr"/>
          <a:lstStyle/>
          <a:p>
            <a:pPr indent="0" marL="0">
              <a:buNone/>
            </a:pPr>
            <a:r>
              <a:rPr lang="en-US" sz="2000" dirty="0">
                <a:solidFill>
                  <a:srgbClr val="A8B8D8"/>
                </a:solidFill>
                <a:latin typeface="Calibri" pitchFamily="34" charset="0"/>
                <a:ea typeface="Calibri" pitchFamily="34" charset="-122"/>
                <a:cs typeface="Calibri" pitchFamily="34" charset="-120"/>
              </a:rPr>
              <a:t>Design &amp; Development of Optical Components</a:t>
            </a:r>
            <a:endParaRPr lang="en-US" sz="2000" dirty="0"/>
          </a:p>
        </p:txBody>
      </p:sp>
      <p:sp>
        <p:nvSpPr>
          <p:cNvPr id="9" name="Shape 6"/>
          <p:cNvSpPr/>
          <p:nvPr/>
        </p:nvSpPr>
        <p:spPr>
          <a:xfrm>
            <a:off x="457200" y="2880360"/>
            <a:ext cx="3200400" cy="27432"/>
          </a:xfrm>
          <a:prstGeom prst="rect">
            <a:avLst/>
          </a:prstGeom>
          <a:solidFill>
            <a:srgbClr val="00C8FF"/>
          </a:solidFill>
          <a:ln w="12700">
            <a:solidFill>
              <a:srgbClr val="00C8FF"/>
            </a:solidFill>
            <a:prstDash val="solid"/>
          </a:ln>
        </p:spPr>
      </p:sp>
      <p:sp>
        <p:nvSpPr>
          <p:cNvPr id="10" name="Text 7"/>
          <p:cNvSpPr/>
          <p:nvPr/>
        </p:nvSpPr>
        <p:spPr>
          <a:xfrm>
            <a:off x="457200" y="3017520"/>
            <a:ext cx="777240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Dina  |  </a:t>
            </a:r>
            <a:pPr indent="0" marL="0">
              <a:buNone/>
            </a:pPr>
            <a:r>
              <a:rPr lang="en-US" sz="1200" dirty="0">
                <a:solidFill>
                  <a:srgbClr val="A8B8D8"/>
                </a:solidFill>
                <a:latin typeface="Calibri" pitchFamily="34" charset="0"/>
                <a:ea typeface="Calibri" pitchFamily="34" charset="-122"/>
                <a:cs typeface="Calibri" pitchFamily="34" charset="-120"/>
              </a:rPr>
              <a:t>KAIST – Dept. of Aerospace Engineering  |  </a:t>
            </a:r>
            <a:pPr indent="0" marL="0">
              <a:buNone/>
            </a:pPr>
            <a:r>
              <a:rPr lang="en-US" sz="1200" dirty="0">
                <a:solidFill>
                  <a:srgbClr val="A8B8D8"/>
                </a:solidFill>
                <a:latin typeface="Calibri" pitchFamily="34" charset="0"/>
                <a:ea typeface="Calibri" pitchFamily="34" charset="-122"/>
                <a:cs typeface="Calibri" pitchFamily="34" charset="-120"/>
              </a:rPr>
              <a:t>PhD Research Seminar</a:t>
            </a:r>
            <a:endParaRPr lang="en-US" sz="1200" dirty="0"/>
          </a:p>
        </p:txBody>
      </p:sp>
      <p:sp>
        <p:nvSpPr>
          <p:cNvPr id="11" name="Shape 8"/>
          <p:cNvSpPr/>
          <p:nvPr/>
        </p:nvSpPr>
        <p:spPr>
          <a:xfrm>
            <a:off x="457200" y="4114800"/>
            <a:ext cx="1554480" cy="347472"/>
          </a:xfrm>
          <a:prstGeom prst="roundRect">
            <a:avLst>
              <a:gd name="adj" fmla="val 18421"/>
            </a:avLst>
          </a:prstGeom>
          <a:solidFill>
            <a:srgbClr val="00C8FF">
              <a:alpha val="20000"/>
            </a:srgbClr>
          </a:solidFill>
          <a:ln w="6350">
            <a:solidFill>
              <a:srgbClr val="00C8FF">
                <a:alpha val="60000"/>
              </a:srgbClr>
            </a:solidFill>
            <a:prstDash val="solid"/>
          </a:ln>
        </p:spPr>
      </p:sp>
      <p:sp>
        <p:nvSpPr>
          <p:cNvPr id="12" name="Text 9"/>
          <p:cNvSpPr/>
          <p:nvPr/>
        </p:nvSpPr>
        <p:spPr>
          <a:xfrm>
            <a:off x="457200" y="4114800"/>
            <a:ext cx="1554480" cy="347472"/>
          </a:xfrm>
          <a:prstGeom prst="rect">
            <a:avLst/>
          </a:prstGeom>
          <a:noFill/>
          <a:ln/>
        </p:spPr>
        <p:txBody>
          <a:bodyPr wrap="square" lIns="0" tIns="0" rIns="0" bIns="0" rtlCol="0" anchor="ctr"/>
          <a:lstStyle/>
          <a:p>
            <a:pPr algn="ctr" indent="0" marL="0">
              <a:buNone/>
            </a:pPr>
            <a:r>
              <a:rPr lang="en-US" sz="1000" b="1" dirty="0">
                <a:solidFill>
                  <a:srgbClr val="00C8FF"/>
                </a:solidFill>
              </a:rPr>
              <a:t>Link Budget</a:t>
            </a:r>
            <a:endParaRPr lang="en-US" sz="1000" dirty="0"/>
          </a:p>
        </p:txBody>
      </p:sp>
      <p:sp>
        <p:nvSpPr>
          <p:cNvPr id="13" name="Shape 10"/>
          <p:cNvSpPr/>
          <p:nvPr/>
        </p:nvSpPr>
        <p:spPr>
          <a:xfrm>
            <a:off x="2148840" y="4114800"/>
            <a:ext cx="1554480" cy="347472"/>
          </a:xfrm>
          <a:prstGeom prst="roundRect">
            <a:avLst>
              <a:gd name="adj" fmla="val 18421"/>
            </a:avLst>
          </a:prstGeom>
          <a:solidFill>
            <a:srgbClr val="7B5EF8">
              <a:alpha val="20000"/>
            </a:srgbClr>
          </a:solidFill>
          <a:ln w="6350">
            <a:solidFill>
              <a:srgbClr val="7B5EF8">
                <a:alpha val="60000"/>
              </a:srgbClr>
            </a:solidFill>
            <a:prstDash val="solid"/>
          </a:ln>
        </p:spPr>
      </p:sp>
      <p:sp>
        <p:nvSpPr>
          <p:cNvPr id="14" name="Text 11"/>
          <p:cNvSpPr/>
          <p:nvPr/>
        </p:nvSpPr>
        <p:spPr>
          <a:xfrm>
            <a:off x="2148840" y="4114800"/>
            <a:ext cx="1554480" cy="347472"/>
          </a:xfrm>
          <a:prstGeom prst="rect">
            <a:avLst/>
          </a:prstGeom>
          <a:noFill/>
          <a:ln/>
        </p:spPr>
        <p:txBody>
          <a:bodyPr wrap="square" lIns="0" tIns="0" rIns="0" bIns="0" rtlCol="0" anchor="ctr"/>
          <a:lstStyle/>
          <a:p>
            <a:pPr algn="ctr" indent="0" marL="0">
              <a:buNone/>
            </a:pPr>
            <a:r>
              <a:rPr lang="en-US" sz="1000" b="1" dirty="0">
                <a:solidFill>
                  <a:srgbClr val="7B5EF8"/>
                </a:solidFill>
              </a:rPr>
              <a:t>Optical Design</a:t>
            </a:r>
            <a:endParaRPr lang="en-US" sz="1000" dirty="0"/>
          </a:p>
        </p:txBody>
      </p:sp>
      <p:sp>
        <p:nvSpPr>
          <p:cNvPr id="15" name="Shape 12"/>
          <p:cNvSpPr/>
          <p:nvPr/>
        </p:nvSpPr>
        <p:spPr>
          <a:xfrm>
            <a:off x="3840480" y="4114800"/>
            <a:ext cx="1554480" cy="347472"/>
          </a:xfrm>
          <a:prstGeom prst="roundRect">
            <a:avLst>
              <a:gd name="adj" fmla="val 18421"/>
            </a:avLst>
          </a:prstGeom>
          <a:solidFill>
            <a:srgbClr val="00E5C0">
              <a:alpha val="20000"/>
            </a:srgbClr>
          </a:solidFill>
          <a:ln w="6350">
            <a:solidFill>
              <a:srgbClr val="00E5C0">
                <a:alpha val="60000"/>
              </a:srgbClr>
            </a:solidFill>
            <a:prstDash val="solid"/>
          </a:ln>
        </p:spPr>
      </p:sp>
      <p:sp>
        <p:nvSpPr>
          <p:cNvPr id="16" name="Text 13"/>
          <p:cNvSpPr/>
          <p:nvPr/>
        </p:nvSpPr>
        <p:spPr>
          <a:xfrm>
            <a:off x="3840480" y="4114800"/>
            <a:ext cx="1554480" cy="347472"/>
          </a:xfrm>
          <a:prstGeom prst="rect">
            <a:avLst/>
          </a:prstGeom>
          <a:noFill/>
          <a:ln/>
        </p:spPr>
        <p:txBody>
          <a:bodyPr wrap="square" lIns="0" tIns="0" rIns="0" bIns="0" rtlCol="0" anchor="ctr"/>
          <a:lstStyle/>
          <a:p>
            <a:pPr algn="ctr" indent="0" marL="0">
              <a:buNone/>
            </a:pPr>
            <a:r>
              <a:rPr lang="en-US" sz="1000" b="1" dirty="0">
                <a:solidFill>
                  <a:srgbClr val="00E5C0"/>
                </a:solidFill>
              </a:rPr>
              <a:t>PAT Systems</a:t>
            </a:r>
            <a:endParaRPr lang="en-US" sz="1000" dirty="0"/>
          </a:p>
        </p:txBody>
      </p:sp>
      <p:sp>
        <p:nvSpPr>
          <p:cNvPr id="17" name="Shape 14"/>
          <p:cNvSpPr/>
          <p:nvPr/>
        </p:nvSpPr>
        <p:spPr>
          <a:xfrm>
            <a:off x="5532120" y="4114800"/>
            <a:ext cx="1554480" cy="347472"/>
          </a:xfrm>
          <a:prstGeom prst="roundRect">
            <a:avLst>
              <a:gd name="adj" fmla="val 18421"/>
            </a:avLst>
          </a:prstGeom>
          <a:solidFill>
            <a:srgbClr val="FFD166">
              <a:alpha val="20000"/>
            </a:srgbClr>
          </a:solidFill>
          <a:ln w="6350">
            <a:solidFill>
              <a:srgbClr val="FFD166">
                <a:alpha val="60000"/>
              </a:srgbClr>
            </a:solidFill>
            <a:prstDash val="solid"/>
          </a:ln>
        </p:spPr>
      </p:sp>
      <p:sp>
        <p:nvSpPr>
          <p:cNvPr id="18" name="Text 15"/>
          <p:cNvSpPr/>
          <p:nvPr/>
        </p:nvSpPr>
        <p:spPr>
          <a:xfrm>
            <a:off x="5532120" y="4114800"/>
            <a:ext cx="1554480" cy="347472"/>
          </a:xfrm>
          <a:prstGeom prst="rect">
            <a:avLst/>
          </a:prstGeom>
          <a:noFill/>
          <a:ln/>
        </p:spPr>
        <p:txBody>
          <a:bodyPr wrap="square" lIns="0" tIns="0" rIns="0" bIns="0" rtlCol="0" anchor="ctr"/>
          <a:lstStyle/>
          <a:p>
            <a:pPr algn="ctr" indent="0" marL="0">
              <a:buNone/>
            </a:pPr>
            <a:r>
              <a:rPr lang="en-US" sz="1000" b="1" dirty="0">
                <a:solidFill>
                  <a:srgbClr val="FFD166"/>
                </a:solidFill>
              </a:rPr>
              <a:t>WFE Budget</a:t>
            </a:r>
            <a:endParaRPr lang="en-US" sz="1000" dirty="0"/>
          </a:p>
        </p:txBody>
      </p:sp>
      <p:sp>
        <p:nvSpPr>
          <p:cNvPr id="19" name="Shape 16"/>
          <p:cNvSpPr/>
          <p:nvPr/>
        </p:nvSpPr>
        <p:spPr>
          <a:xfrm>
            <a:off x="7223760" y="4114800"/>
            <a:ext cx="1554480" cy="347472"/>
          </a:xfrm>
          <a:prstGeom prst="roundRect">
            <a:avLst>
              <a:gd name="adj" fmla="val 18421"/>
            </a:avLst>
          </a:prstGeom>
          <a:solidFill>
            <a:srgbClr val="FF6B6B">
              <a:alpha val="20000"/>
            </a:srgbClr>
          </a:solidFill>
          <a:ln w="6350">
            <a:solidFill>
              <a:srgbClr val="FF6B6B">
                <a:alpha val="60000"/>
              </a:srgbClr>
            </a:solidFill>
            <a:prstDash val="solid"/>
          </a:ln>
        </p:spPr>
      </p:sp>
      <p:sp>
        <p:nvSpPr>
          <p:cNvPr id="20" name="Text 17"/>
          <p:cNvSpPr/>
          <p:nvPr/>
        </p:nvSpPr>
        <p:spPr>
          <a:xfrm>
            <a:off x="7223760" y="4114800"/>
            <a:ext cx="1554480" cy="347472"/>
          </a:xfrm>
          <a:prstGeom prst="rect">
            <a:avLst/>
          </a:prstGeom>
          <a:noFill/>
          <a:ln/>
        </p:spPr>
        <p:txBody>
          <a:bodyPr wrap="square" lIns="0" tIns="0" rIns="0" bIns="0" rtlCol="0" anchor="ctr"/>
          <a:lstStyle/>
          <a:p>
            <a:pPr algn="ctr" indent="0" marL="0">
              <a:buNone/>
            </a:pPr>
            <a:r>
              <a:rPr lang="en-US" sz="1000" b="1" dirty="0">
                <a:solidFill>
                  <a:srgbClr val="FF6B6B"/>
                </a:solidFill>
              </a:rPr>
              <a:t>CubeSat OISL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F2C"/>
        </a:solidFill>
      </p:bgPr>
    </p:bg>
    <p:spTree>
      <p:nvGrpSpPr>
        <p:cNvPr id="1" name=""/>
        <p:cNvGrpSpPr/>
        <p:nvPr/>
      </p:nvGrpSpPr>
      <p:grpSpPr>
        <a:xfrm>
          <a:off x="0" y="0"/>
          <a:ext cx="0" cy="0"/>
          <a:chOff x="0" y="0"/>
          <a:chExt cx="0" cy="0"/>
        </a:xfrm>
      </p:grpSpPr>
      <p:sp>
        <p:nvSpPr>
          <p:cNvPr id="2" name="Shape 0"/>
          <p:cNvSpPr/>
          <p:nvPr/>
        </p:nvSpPr>
        <p:spPr>
          <a:xfrm>
            <a:off x="7772400" y="-457200"/>
            <a:ext cx="3657600" cy="3657600"/>
          </a:xfrm>
          <a:prstGeom prst="ellipse">
            <a:avLst/>
          </a:prstGeom>
          <a:solidFill>
            <a:srgbClr val="7B5EF8">
              <a:alpha val="10000"/>
            </a:srgbClr>
          </a:solidFill>
          <a:ln w="6350">
            <a:solidFill>
              <a:srgbClr val="7B5EF8">
                <a:alpha val="20000"/>
              </a:srgbClr>
            </a:solidFill>
            <a:prstDash val="solid"/>
          </a:ln>
        </p:spPr>
      </p:sp>
      <p:sp>
        <p:nvSpPr>
          <p:cNvPr id="3" name="Text 1"/>
          <p:cNvSpPr/>
          <p:nvPr/>
        </p:nvSpPr>
        <p:spPr>
          <a:xfrm>
            <a:off x="457200" y="274320"/>
            <a:ext cx="2286000" cy="320040"/>
          </a:xfrm>
          <a:prstGeom prst="rect">
            <a:avLst/>
          </a:prstGeom>
          <a:noFill/>
          <a:ln/>
        </p:spPr>
        <p:txBody>
          <a:bodyPr wrap="square" rtlCol="0" anchor="ctr"/>
          <a:lstStyle/>
          <a:p>
            <a:pPr indent="0" marL="0">
              <a:buNone/>
            </a:pPr>
            <a:r>
              <a:rPr lang="en-US" sz="1000" b="1" spc="400" kern="0" dirty="0">
                <a:solidFill>
                  <a:srgbClr val="00C8FF"/>
                </a:solidFill>
                <a:latin typeface="Calibri" pitchFamily="34" charset="0"/>
                <a:ea typeface="Calibri" pitchFamily="34" charset="-122"/>
                <a:cs typeface="Calibri" pitchFamily="34" charset="-120"/>
              </a:rPr>
              <a:t>AGENDA</a:t>
            </a:r>
            <a:endParaRPr lang="en-US" sz="1000" dirty="0"/>
          </a:p>
        </p:txBody>
      </p:sp>
      <p:sp>
        <p:nvSpPr>
          <p:cNvPr id="4" name="Text 2"/>
          <p:cNvSpPr/>
          <p:nvPr/>
        </p:nvSpPr>
        <p:spPr>
          <a:xfrm>
            <a:off x="457200" y="594360"/>
            <a:ext cx="73152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We Will Cover</a:t>
            </a:r>
            <a:endParaRPr lang="en-US" sz="3200" dirty="0"/>
          </a:p>
        </p:txBody>
      </p:sp>
      <p:sp>
        <p:nvSpPr>
          <p:cNvPr id="5" name="Shape 3"/>
          <p:cNvSpPr/>
          <p:nvPr/>
        </p:nvSpPr>
        <p:spPr>
          <a:xfrm>
            <a:off x="457200" y="1417320"/>
            <a:ext cx="2606040" cy="1417320"/>
          </a:xfrm>
          <a:prstGeom prst="roundRect">
            <a:avLst>
              <a:gd name="adj" fmla="val 7742"/>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6" name="Text 4"/>
          <p:cNvSpPr/>
          <p:nvPr/>
        </p:nvSpPr>
        <p:spPr>
          <a:xfrm>
            <a:off x="621792" y="1545336"/>
            <a:ext cx="502920" cy="502920"/>
          </a:xfrm>
          <a:prstGeom prst="rect">
            <a:avLst/>
          </a:prstGeom>
          <a:noFill/>
          <a:ln/>
        </p:spPr>
        <p:txBody>
          <a:bodyPr wrap="square" rtlCol="0" anchor="ctr"/>
          <a:lstStyle/>
          <a:p>
            <a:pPr indent="0" marL="0">
              <a:buNone/>
            </a:pPr>
            <a:r>
              <a:rPr lang="en-US" sz="2000" b="1" dirty="0">
                <a:solidFill>
                  <a:srgbClr val="00C8FF"/>
                </a:solidFill>
                <a:latin typeface="Cambria" pitchFamily="34" charset="0"/>
                <a:ea typeface="Cambria" pitchFamily="34" charset="-122"/>
                <a:cs typeface="Cambria" pitchFamily="34" charset="-120"/>
              </a:rPr>
              <a:t>01</a:t>
            </a:r>
            <a:endParaRPr lang="en-US" sz="2000" dirty="0"/>
          </a:p>
        </p:txBody>
      </p:sp>
      <p:sp>
        <p:nvSpPr>
          <p:cNvPr id="7" name="Text 5"/>
          <p:cNvSpPr/>
          <p:nvPr/>
        </p:nvSpPr>
        <p:spPr>
          <a:xfrm>
            <a:off x="621792" y="2039112"/>
            <a:ext cx="2286000"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Why Optical ISL?</a:t>
            </a:r>
            <a:endParaRPr lang="en-US" sz="1300" dirty="0"/>
          </a:p>
        </p:txBody>
      </p:sp>
      <p:sp>
        <p:nvSpPr>
          <p:cNvPr id="8" name="Text 6"/>
          <p:cNvSpPr/>
          <p:nvPr/>
        </p:nvSpPr>
        <p:spPr>
          <a:xfrm>
            <a:off x="621792" y="2313432"/>
            <a:ext cx="2286000" cy="420624"/>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Motivation &amp; advantages over RF links</a:t>
            </a:r>
            <a:endParaRPr lang="en-US" sz="1000" dirty="0"/>
          </a:p>
        </p:txBody>
      </p:sp>
      <p:sp>
        <p:nvSpPr>
          <p:cNvPr id="9" name="Shape 7"/>
          <p:cNvSpPr/>
          <p:nvPr/>
        </p:nvSpPr>
        <p:spPr>
          <a:xfrm>
            <a:off x="3291840" y="1417320"/>
            <a:ext cx="2606040" cy="1417320"/>
          </a:xfrm>
          <a:prstGeom prst="roundRect">
            <a:avLst>
              <a:gd name="adj" fmla="val 7742"/>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10" name="Text 8"/>
          <p:cNvSpPr/>
          <p:nvPr/>
        </p:nvSpPr>
        <p:spPr>
          <a:xfrm>
            <a:off x="3456432" y="1545336"/>
            <a:ext cx="502920" cy="502920"/>
          </a:xfrm>
          <a:prstGeom prst="rect">
            <a:avLst/>
          </a:prstGeom>
          <a:noFill/>
          <a:ln/>
        </p:spPr>
        <p:txBody>
          <a:bodyPr wrap="square" rtlCol="0" anchor="ctr"/>
          <a:lstStyle/>
          <a:p>
            <a:pPr indent="0" marL="0">
              <a:buNone/>
            </a:pPr>
            <a:r>
              <a:rPr lang="en-US" sz="2000" b="1" dirty="0">
                <a:solidFill>
                  <a:srgbClr val="7B5EF8"/>
                </a:solidFill>
                <a:latin typeface="Cambria" pitchFamily="34" charset="0"/>
                <a:ea typeface="Cambria" pitchFamily="34" charset="-122"/>
                <a:cs typeface="Cambria" pitchFamily="34" charset="-120"/>
              </a:rPr>
              <a:t>02</a:t>
            </a:r>
            <a:endParaRPr lang="en-US" sz="2000" dirty="0"/>
          </a:p>
        </p:txBody>
      </p:sp>
      <p:sp>
        <p:nvSpPr>
          <p:cNvPr id="11" name="Text 9"/>
          <p:cNvSpPr/>
          <p:nvPr/>
        </p:nvSpPr>
        <p:spPr>
          <a:xfrm>
            <a:off x="3456432" y="2039112"/>
            <a:ext cx="2286000"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System Architecture</a:t>
            </a:r>
            <a:endParaRPr lang="en-US" sz="1300" dirty="0"/>
          </a:p>
        </p:txBody>
      </p:sp>
      <p:sp>
        <p:nvSpPr>
          <p:cNvPr id="12" name="Text 10"/>
          <p:cNvSpPr/>
          <p:nvPr/>
        </p:nvSpPr>
        <p:spPr>
          <a:xfrm>
            <a:off x="3456432" y="2313432"/>
            <a:ext cx="2286000" cy="420624"/>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Terminal overview: TX chain, RX chain, PAT</a:t>
            </a:r>
            <a:endParaRPr lang="en-US" sz="1000" dirty="0"/>
          </a:p>
        </p:txBody>
      </p:sp>
      <p:sp>
        <p:nvSpPr>
          <p:cNvPr id="13" name="Shape 11"/>
          <p:cNvSpPr/>
          <p:nvPr/>
        </p:nvSpPr>
        <p:spPr>
          <a:xfrm>
            <a:off x="6126480" y="1417320"/>
            <a:ext cx="2606040" cy="1417320"/>
          </a:xfrm>
          <a:prstGeom prst="roundRect">
            <a:avLst>
              <a:gd name="adj" fmla="val 7742"/>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14" name="Text 12"/>
          <p:cNvSpPr/>
          <p:nvPr/>
        </p:nvSpPr>
        <p:spPr>
          <a:xfrm>
            <a:off x="6291072" y="1545336"/>
            <a:ext cx="502920" cy="502920"/>
          </a:xfrm>
          <a:prstGeom prst="rect">
            <a:avLst/>
          </a:prstGeom>
          <a:noFill/>
          <a:ln/>
        </p:spPr>
        <p:txBody>
          <a:bodyPr wrap="square" rtlCol="0" anchor="ctr"/>
          <a:lstStyle/>
          <a:p>
            <a:pPr indent="0" marL="0">
              <a:buNone/>
            </a:pPr>
            <a:r>
              <a:rPr lang="en-US" sz="2000" b="1" dirty="0">
                <a:solidFill>
                  <a:srgbClr val="00E5C0"/>
                </a:solidFill>
                <a:latin typeface="Cambria" pitchFamily="34" charset="0"/>
                <a:ea typeface="Cambria" pitchFamily="34" charset="-122"/>
                <a:cs typeface="Cambria" pitchFamily="34" charset="-120"/>
              </a:rPr>
              <a:t>03</a:t>
            </a:r>
            <a:endParaRPr lang="en-US" sz="2000" dirty="0"/>
          </a:p>
        </p:txBody>
      </p:sp>
      <p:sp>
        <p:nvSpPr>
          <p:cNvPr id="15" name="Text 13"/>
          <p:cNvSpPr/>
          <p:nvPr/>
        </p:nvSpPr>
        <p:spPr>
          <a:xfrm>
            <a:off x="6291072" y="2039112"/>
            <a:ext cx="2286000"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Optical Components</a:t>
            </a:r>
            <a:endParaRPr lang="en-US" sz="1300" dirty="0"/>
          </a:p>
        </p:txBody>
      </p:sp>
      <p:sp>
        <p:nvSpPr>
          <p:cNvPr id="16" name="Text 14"/>
          <p:cNvSpPr/>
          <p:nvPr/>
        </p:nvSpPr>
        <p:spPr>
          <a:xfrm>
            <a:off x="6291072" y="2313432"/>
            <a:ext cx="2286000" cy="420624"/>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Laser, modulator, telescope, FSM, detector</a:t>
            </a:r>
            <a:endParaRPr lang="en-US" sz="1000" dirty="0"/>
          </a:p>
        </p:txBody>
      </p:sp>
      <p:sp>
        <p:nvSpPr>
          <p:cNvPr id="17" name="Shape 15"/>
          <p:cNvSpPr/>
          <p:nvPr/>
        </p:nvSpPr>
        <p:spPr>
          <a:xfrm>
            <a:off x="457200" y="3044952"/>
            <a:ext cx="2606040" cy="1417320"/>
          </a:xfrm>
          <a:prstGeom prst="roundRect">
            <a:avLst>
              <a:gd name="adj" fmla="val 7742"/>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18" name="Text 16"/>
          <p:cNvSpPr/>
          <p:nvPr/>
        </p:nvSpPr>
        <p:spPr>
          <a:xfrm>
            <a:off x="621792" y="3172968"/>
            <a:ext cx="502920" cy="502920"/>
          </a:xfrm>
          <a:prstGeom prst="rect">
            <a:avLst/>
          </a:prstGeom>
          <a:noFill/>
          <a:ln/>
        </p:spPr>
        <p:txBody>
          <a:bodyPr wrap="square" rtlCol="0" anchor="ctr"/>
          <a:lstStyle/>
          <a:p>
            <a:pPr indent="0" marL="0">
              <a:buNone/>
            </a:pPr>
            <a:r>
              <a:rPr lang="en-US" sz="2000" b="1" dirty="0">
                <a:solidFill>
                  <a:srgbClr val="FFD166"/>
                </a:solidFill>
                <a:latin typeface="Cambria" pitchFamily="34" charset="0"/>
                <a:ea typeface="Cambria" pitchFamily="34" charset="-122"/>
                <a:cs typeface="Cambria" pitchFamily="34" charset="-120"/>
              </a:rPr>
              <a:t>04</a:t>
            </a:r>
            <a:endParaRPr lang="en-US" sz="2000" dirty="0"/>
          </a:p>
        </p:txBody>
      </p:sp>
      <p:sp>
        <p:nvSpPr>
          <p:cNvPr id="19" name="Text 17"/>
          <p:cNvSpPr/>
          <p:nvPr/>
        </p:nvSpPr>
        <p:spPr>
          <a:xfrm>
            <a:off x="621792" y="3666744"/>
            <a:ext cx="2286000"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WFE Budget</a:t>
            </a:r>
            <a:endParaRPr lang="en-US" sz="1300" dirty="0"/>
          </a:p>
        </p:txBody>
      </p:sp>
      <p:sp>
        <p:nvSpPr>
          <p:cNvPr id="20" name="Text 18"/>
          <p:cNvSpPr/>
          <p:nvPr/>
        </p:nvSpPr>
        <p:spPr>
          <a:xfrm>
            <a:off x="621792" y="3941064"/>
            <a:ext cx="2286000" cy="420624"/>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Fabrication → thermal → dynamic contributors</a:t>
            </a:r>
            <a:endParaRPr lang="en-US" sz="1000" dirty="0"/>
          </a:p>
        </p:txBody>
      </p:sp>
      <p:sp>
        <p:nvSpPr>
          <p:cNvPr id="21" name="Shape 19"/>
          <p:cNvSpPr/>
          <p:nvPr/>
        </p:nvSpPr>
        <p:spPr>
          <a:xfrm>
            <a:off x="3291840" y="3044952"/>
            <a:ext cx="2606040" cy="1417320"/>
          </a:xfrm>
          <a:prstGeom prst="roundRect">
            <a:avLst>
              <a:gd name="adj" fmla="val 7742"/>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22" name="Text 20"/>
          <p:cNvSpPr/>
          <p:nvPr/>
        </p:nvSpPr>
        <p:spPr>
          <a:xfrm>
            <a:off x="3456432" y="3172968"/>
            <a:ext cx="502920" cy="502920"/>
          </a:xfrm>
          <a:prstGeom prst="rect">
            <a:avLst/>
          </a:prstGeom>
          <a:noFill/>
          <a:ln/>
        </p:spPr>
        <p:txBody>
          <a:bodyPr wrap="square" rtlCol="0" anchor="ctr"/>
          <a:lstStyle/>
          <a:p>
            <a:pPr indent="0" marL="0">
              <a:buNone/>
            </a:pPr>
            <a:r>
              <a:rPr lang="en-US" sz="2000" b="1" dirty="0">
                <a:solidFill>
                  <a:srgbClr val="FF6B6B"/>
                </a:solidFill>
                <a:latin typeface="Cambria" pitchFamily="34" charset="0"/>
                <a:ea typeface="Cambria" pitchFamily="34" charset="-122"/>
                <a:cs typeface="Cambria" pitchFamily="34" charset="-120"/>
              </a:rPr>
              <a:t>05</a:t>
            </a:r>
            <a:endParaRPr lang="en-US" sz="2000" dirty="0"/>
          </a:p>
        </p:txBody>
      </p:sp>
      <p:sp>
        <p:nvSpPr>
          <p:cNvPr id="23" name="Text 21"/>
          <p:cNvSpPr/>
          <p:nvPr/>
        </p:nvSpPr>
        <p:spPr>
          <a:xfrm>
            <a:off x="3456432" y="3666744"/>
            <a:ext cx="2286000"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PAT Control System</a:t>
            </a:r>
            <a:endParaRPr lang="en-US" sz="1300" dirty="0"/>
          </a:p>
        </p:txBody>
      </p:sp>
      <p:sp>
        <p:nvSpPr>
          <p:cNvPr id="24" name="Text 22"/>
          <p:cNvSpPr/>
          <p:nvPr/>
        </p:nvSpPr>
        <p:spPr>
          <a:xfrm>
            <a:off x="3456432" y="3941064"/>
            <a:ext cx="2286000" cy="420624"/>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FSM tracking loop, Kalman filter, bandwidth</a:t>
            </a:r>
            <a:endParaRPr lang="en-US" sz="1000" dirty="0"/>
          </a:p>
        </p:txBody>
      </p:sp>
      <p:sp>
        <p:nvSpPr>
          <p:cNvPr id="25" name="Shape 23"/>
          <p:cNvSpPr/>
          <p:nvPr/>
        </p:nvSpPr>
        <p:spPr>
          <a:xfrm>
            <a:off x="6126480" y="3044952"/>
            <a:ext cx="2606040" cy="1417320"/>
          </a:xfrm>
          <a:prstGeom prst="roundRect">
            <a:avLst>
              <a:gd name="adj" fmla="val 7742"/>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26" name="Text 24"/>
          <p:cNvSpPr/>
          <p:nvPr/>
        </p:nvSpPr>
        <p:spPr>
          <a:xfrm>
            <a:off x="6291072" y="3172968"/>
            <a:ext cx="502920" cy="502920"/>
          </a:xfrm>
          <a:prstGeom prst="rect">
            <a:avLst/>
          </a:prstGeom>
          <a:noFill/>
          <a:ln/>
        </p:spPr>
        <p:txBody>
          <a:bodyPr wrap="square" rtlCol="0" anchor="ctr"/>
          <a:lstStyle/>
          <a:p>
            <a:pPr indent="0" marL="0">
              <a:buNone/>
            </a:pPr>
            <a:r>
              <a:rPr lang="en-US" sz="2000" b="1" dirty="0">
                <a:solidFill>
                  <a:srgbClr val="C68BFF"/>
                </a:solidFill>
                <a:latin typeface="Cambria" pitchFamily="34" charset="0"/>
                <a:ea typeface="Cambria" pitchFamily="34" charset="-122"/>
                <a:cs typeface="Cambria" pitchFamily="34" charset="-120"/>
              </a:rPr>
              <a:t>06</a:t>
            </a:r>
            <a:endParaRPr lang="en-US" sz="2000" dirty="0"/>
          </a:p>
        </p:txBody>
      </p:sp>
      <p:sp>
        <p:nvSpPr>
          <p:cNvPr id="27" name="Text 25"/>
          <p:cNvSpPr/>
          <p:nvPr/>
        </p:nvSpPr>
        <p:spPr>
          <a:xfrm>
            <a:off x="6291072" y="3666744"/>
            <a:ext cx="2286000"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CubeSat Link Budget</a:t>
            </a:r>
            <a:endParaRPr lang="en-US" sz="1300" dirty="0"/>
          </a:p>
        </p:txBody>
      </p:sp>
      <p:sp>
        <p:nvSpPr>
          <p:cNvPr id="28" name="Text 26"/>
          <p:cNvSpPr/>
          <p:nvPr/>
        </p:nvSpPr>
        <p:spPr>
          <a:xfrm>
            <a:off x="6291072" y="3941064"/>
            <a:ext cx="2286000" cy="420624"/>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Trade-space: aperture, range, data rate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F2C"/>
        </a:solidFill>
      </p:bgPr>
    </p:bg>
    <p:spTree>
      <p:nvGrpSpPr>
        <p:cNvPr id="1" name=""/>
        <p:cNvGrpSpPr/>
        <p:nvPr/>
      </p:nvGrpSpPr>
      <p:grpSpPr>
        <a:xfrm>
          <a:off x="0" y="0"/>
          <a:ext cx="0" cy="0"/>
          <a:chOff x="0" y="0"/>
          <a:chExt cx="0" cy="0"/>
        </a:xfrm>
      </p:grpSpPr>
      <p:sp>
        <p:nvSpPr>
          <p:cNvPr id="2" name="Shape 0"/>
          <p:cNvSpPr/>
          <p:nvPr/>
        </p:nvSpPr>
        <p:spPr>
          <a:xfrm>
            <a:off x="6858000" y="2926080"/>
            <a:ext cx="3200400" cy="3200400"/>
          </a:xfrm>
          <a:prstGeom prst="ellipse">
            <a:avLst/>
          </a:prstGeom>
          <a:solidFill>
            <a:srgbClr val="00E5C0">
              <a:alpha val="10000"/>
            </a:srgbClr>
          </a:solidFill>
          <a:ln w="6350">
            <a:solidFill>
              <a:srgbClr val="00E5C0">
                <a:alpha val="20000"/>
              </a:srgbClr>
            </a:solidFill>
            <a:prstDash val="solid"/>
          </a:ln>
        </p:spPr>
      </p:sp>
      <p:sp>
        <p:nvSpPr>
          <p:cNvPr id="3" name="Text 1"/>
          <p:cNvSpPr/>
          <p:nvPr/>
        </p:nvSpPr>
        <p:spPr>
          <a:xfrm>
            <a:off x="457200" y="256032"/>
            <a:ext cx="2560320" cy="274320"/>
          </a:xfrm>
          <a:prstGeom prst="rect">
            <a:avLst/>
          </a:prstGeom>
          <a:noFill/>
          <a:ln/>
        </p:spPr>
        <p:txBody>
          <a:bodyPr wrap="square" rtlCol="0" anchor="ctr"/>
          <a:lstStyle/>
          <a:p>
            <a:pPr indent="0" marL="0">
              <a:buNone/>
            </a:pPr>
            <a:r>
              <a:rPr lang="en-US" sz="900" b="1" spc="400" kern="0" dirty="0">
                <a:solidFill>
                  <a:srgbClr val="00C8FF"/>
                </a:solidFill>
              </a:rPr>
              <a:t>MOTIVATION</a:t>
            </a:r>
            <a:endParaRPr lang="en-US" sz="900" dirty="0"/>
          </a:p>
        </p:txBody>
      </p:sp>
      <p:sp>
        <p:nvSpPr>
          <p:cNvPr id="4" name="Text 2"/>
          <p:cNvSpPr/>
          <p:nvPr/>
        </p:nvSpPr>
        <p:spPr>
          <a:xfrm>
            <a:off x="457200" y="530352"/>
            <a:ext cx="6400800" cy="5943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Why Optical ISL?</a:t>
            </a:r>
            <a:endParaRPr lang="en-US" sz="3200" dirty="0"/>
          </a:p>
        </p:txBody>
      </p:sp>
      <p:sp>
        <p:nvSpPr>
          <p:cNvPr id="5" name="Shape 3"/>
          <p:cNvSpPr/>
          <p:nvPr/>
        </p:nvSpPr>
        <p:spPr>
          <a:xfrm>
            <a:off x="457200" y="1261872"/>
            <a:ext cx="1920240" cy="1417320"/>
          </a:xfrm>
          <a:prstGeom prst="roundRect">
            <a:avLst>
              <a:gd name="adj" fmla="val 7742"/>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6" name="Text 4"/>
          <p:cNvSpPr/>
          <p:nvPr/>
        </p:nvSpPr>
        <p:spPr>
          <a:xfrm>
            <a:off x="548640" y="1316736"/>
            <a:ext cx="1737360" cy="594360"/>
          </a:xfrm>
          <a:prstGeom prst="rect">
            <a:avLst/>
          </a:prstGeom>
          <a:noFill/>
          <a:ln/>
        </p:spPr>
        <p:txBody>
          <a:bodyPr wrap="square" rtlCol="0" anchor="ctr"/>
          <a:lstStyle/>
          <a:p>
            <a:pPr algn="ctr" indent="0" marL="0">
              <a:buNone/>
            </a:pPr>
            <a:r>
              <a:rPr lang="en-US" sz="2400" b="1" dirty="0">
                <a:solidFill>
                  <a:srgbClr val="00C8FF"/>
                </a:solidFill>
                <a:latin typeface="Cambria" pitchFamily="34" charset="0"/>
                <a:ea typeface="Cambria" pitchFamily="34" charset="-122"/>
                <a:cs typeface="Cambria" pitchFamily="34" charset="-120"/>
              </a:rPr>
              <a:t>10–100×</a:t>
            </a:r>
            <a:endParaRPr lang="en-US" sz="2400" dirty="0"/>
          </a:p>
        </p:txBody>
      </p:sp>
      <p:sp>
        <p:nvSpPr>
          <p:cNvPr id="7" name="Text 5"/>
          <p:cNvSpPr/>
          <p:nvPr/>
        </p:nvSpPr>
        <p:spPr>
          <a:xfrm>
            <a:off x="548640" y="1901952"/>
            <a:ext cx="1737360" cy="640080"/>
          </a:xfrm>
          <a:prstGeom prst="rect">
            <a:avLst/>
          </a:prstGeom>
          <a:noFill/>
          <a:ln/>
        </p:spPr>
        <p:txBody>
          <a:bodyPr wrap="square" rtlCol="0" anchor="ctr"/>
          <a:lstStyle/>
          <a:p>
            <a:pPr algn="ctr" indent="0" marL="0">
              <a:buNone/>
            </a:pPr>
            <a:r>
              <a:rPr lang="en-US" sz="1100" dirty="0">
                <a:solidFill>
                  <a:srgbClr val="A8B8D8"/>
                </a:solidFill>
                <a:latin typeface="Calibri" pitchFamily="34" charset="0"/>
                <a:ea typeface="Calibri" pitchFamily="34" charset="-122"/>
                <a:cs typeface="Calibri" pitchFamily="34" charset="-120"/>
              </a:rPr>
              <a:t>Higher data rate</a:t>
            </a:r>
            <a:endParaRPr lang="en-US" sz="1100" dirty="0"/>
          </a:p>
          <a:p>
            <a:pPr algn="ctr" indent="0" marL="0">
              <a:buNone/>
            </a:pPr>
            <a:r>
              <a:rPr lang="en-US" sz="1100" dirty="0">
                <a:solidFill>
                  <a:srgbClr val="A8B8D8"/>
                </a:solidFill>
                <a:latin typeface="Calibri" pitchFamily="34" charset="0"/>
                <a:ea typeface="Calibri" pitchFamily="34" charset="-122"/>
                <a:cs typeface="Calibri" pitchFamily="34" charset="-120"/>
              </a:rPr>
              <a:t>vs. Ka-band RF</a:t>
            </a:r>
            <a:endParaRPr lang="en-US" sz="1100" dirty="0"/>
          </a:p>
        </p:txBody>
      </p:sp>
      <p:sp>
        <p:nvSpPr>
          <p:cNvPr id="8" name="Shape 6"/>
          <p:cNvSpPr/>
          <p:nvPr/>
        </p:nvSpPr>
        <p:spPr>
          <a:xfrm>
            <a:off x="2606040" y="1261872"/>
            <a:ext cx="1920240" cy="1417320"/>
          </a:xfrm>
          <a:prstGeom prst="roundRect">
            <a:avLst>
              <a:gd name="adj" fmla="val 7742"/>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9" name="Text 7"/>
          <p:cNvSpPr/>
          <p:nvPr/>
        </p:nvSpPr>
        <p:spPr>
          <a:xfrm>
            <a:off x="2697480" y="1316736"/>
            <a:ext cx="1737360" cy="594360"/>
          </a:xfrm>
          <a:prstGeom prst="rect">
            <a:avLst/>
          </a:prstGeom>
          <a:noFill/>
          <a:ln/>
        </p:spPr>
        <p:txBody>
          <a:bodyPr wrap="square" rtlCol="0" anchor="ctr"/>
          <a:lstStyle/>
          <a:p>
            <a:pPr algn="ctr" indent="0" marL="0">
              <a:buNone/>
            </a:pPr>
            <a:r>
              <a:rPr lang="en-US" sz="2400" b="1" dirty="0">
                <a:solidFill>
                  <a:srgbClr val="00E5C0"/>
                </a:solidFill>
                <a:latin typeface="Cambria" pitchFamily="34" charset="0"/>
                <a:ea typeface="Cambria" pitchFamily="34" charset="-122"/>
                <a:cs typeface="Cambria" pitchFamily="34" charset="-120"/>
              </a:rPr>
              <a:t>~10 μrad</a:t>
            </a:r>
            <a:endParaRPr lang="en-US" sz="2400" dirty="0"/>
          </a:p>
        </p:txBody>
      </p:sp>
      <p:sp>
        <p:nvSpPr>
          <p:cNvPr id="10" name="Text 8"/>
          <p:cNvSpPr/>
          <p:nvPr/>
        </p:nvSpPr>
        <p:spPr>
          <a:xfrm>
            <a:off x="2697480" y="1901952"/>
            <a:ext cx="1737360" cy="640080"/>
          </a:xfrm>
          <a:prstGeom prst="rect">
            <a:avLst/>
          </a:prstGeom>
          <a:noFill/>
          <a:ln/>
        </p:spPr>
        <p:txBody>
          <a:bodyPr wrap="square" rtlCol="0" anchor="ctr"/>
          <a:lstStyle/>
          <a:p>
            <a:pPr algn="ctr" indent="0" marL="0">
              <a:buNone/>
            </a:pPr>
            <a:r>
              <a:rPr lang="en-US" sz="1100" dirty="0">
                <a:solidFill>
                  <a:srgbClr val="A8B8D8"/>
                </a:solidFill>
                <a:latin typeface="Calibri" pitchFamily="34" charset="0"/>
                <a:ea typeface="Calibri" pitchFamily="34" charset="-122"/>
                <a:cs typeface="Calibri" pitchFamily="34" charset="-120"/>
              </a:rPr>
              <a:t>Beam divergence</a:t>
            </a:r>
            <a:endParaRPr lang="en-US" sz="1100" dirty="0"/>
          </a:p>
          <a:p>
            <a:pPr algn="ctr" indent="0" marL="0">
              <a:buNone/>
            </a:pPr>
            <a:r>
              <a:rPr lang="en-US" sz="1100" dirty="0">
                <a:solidFill>
                  <a:srgbClr val="A8B8D8"/>
                </a:solidFill>
                <a:latin typeface="Calibri" pitchFamily="34" charset="0"/>
                <a:ea typeface="Calibri" pitchFamily="34" charset="-122"/>
                <a:cs typeface="Calibri" pitchFamily="34" charset="-120"/>
              </a:rPr>
              <a:t>(vs. ~1° for RF)</a:t>
            </a:r>
            <a:endParaRPr lang="en-US" sz="1100" dirty="0"/>
          </a:p>
        </p:txBody>
      </p:sp>
      <p:sp>
        <p:nvSpPr>
          <p:cNvPr id="11" name="Shape 9"/>
          <p:cNvSpPr/>
          <p:nvPr/>
        </p:nvSpPr>
        <p:spPr>
          <a:xfrm>
            <a:off x="4754880" y="1261872"/>
            <a:ext cx="1920240" cy="1417320"/>
          </a:xfrm>
          <a:prstGeom prst="roundRect">
            <a:avLst>
              <a:gd name="adj" fmla="val 7742"/>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12" name="Text 10"/>
          <p:cNvSpPr/>
          <p:nvPr/>
        </p:nvSpPr>
        <p:spPr>
          <a:xfrm>
            <a:off x="4846320" y="1316736"/>
            <a:ext cx="1737360" cy="594360"/>
          </a:xfrm>
          <a:prstGeom prst="rect">
            <a:avLst/>
          </a:prstGeom>
          <a:noFill/>
          <a:ln/>
        </p:spPr>
        <p:txBody>
          <a:bodyPr wrap="square" rtlCol="0" anchor="ctr"/>
          <a:lstStyle/>
          <a:p>
            <a:pPr algn="ctr" indent="0" marL="0">
              <a:buNone/>
            </a:pPr>
            <a:r>
              <a:rPr lang="en-US" sz="2400" b="1" dirty="0">
                <a:solidFill>
                  <a:srgbClr val="FFD166"/>
                </a:solidFill>
                <a:latin typeface="Cambria" pitchFamily="34" charset="0"/>
                <a:ea typeface="Cambria" pitchFamily="34" charset="-122"/>
                <a:cs typeface="Cambria" pitchFamily="34" charset="-120"/>
              </a:rPr>
              <a:t>No ITU</a:t>
            </a:r>
            <a:endParaRPr lang="en-US" sz="2400" dirty="0"/>
          </a:p>
        </p:txBody>
      </p:sp>
      <p:sp>
        <p:nvSpPr>
          <p:cNvPr id="13" name="Text 11"/>
          <p:cNvSpPr/>
          <p:nvPr/>
        </p:nvSpPr>
        <p:spPr>
          <a:xfrm>
            <a:off x="4846320" y="1901952"/>
            <a:ext cx="1737360" cy="640080"/>
          </a:xfrm>
          <a:prstGeom prst="rect">
            <a:avLst/>
          </a:prstGeom>
          <a:noFill/>
          <a:ln/>
        </p:spPr>
        <p:txBody>
          <a:bodyPr wrap="square" rtlCol="0" anchor="ctr"/>
          <a:lstStyle/>
          <a:p>
            <a:pPr algn="ctr" indent="0" marL="0">
              <a:buNone/>
            </a:pPr>
            <a:r>
              <a:rPr lang="en-US" sz="1100" dirty="0">
                <a:solidFill>
                  <a:srgbClr val="A8B8D8"/>
                </a:solidFill>
                <a:latin typeface="Calibri" pitchFamily="34" charset="0"/>
                <a:ea typeface="Calibri" pitchFamily="34" charset="-122"/>
                <a:cs typeface="Calibri" pitchFamily="34" charset="-120"/>
              </a:rPr>
              <a:t>Frequency</a:t>
            </a:r>
            <a:endParaRPr lang="en-US" sz="1100" dirty="0"/>
          </a:p>
          <a:p>
            <a:pPr algn="ctr" indent="0" marL="0">
              <a:buNone/>
            </a:pPr>
            <a:r>
              <a:rPr lang="en-US" sz="1100" dirty="0">
                <a:solidFill>
                  <a:srgbClr val="A8B8D8"/>
                </a:solidFill>
                <a:latin typeface="Calibri" pitchFamily="34" charset="0"/>
                <a:ea typeface="Calibri" pitchFamily="34" charset="-122"/>
                <a:cs typeface="Calibri" pitchFamily="34" charset="-120"/>
              </a:rPr>
              <a:t>licensing needed</a:t>
            </a:r>
            <a:endParaRPr lang="en-US" sz="1100" dirty="0"/>
          </a:p>
        </p:txBody>
      </p:sp>
      <p:sp>
        <p:nvSpPr>
          <p:cNvPr id="14" name="Shape 12"/>
          <p:cNvSpPr/>
          <p:nvPr/>
        </p:nvSpPr>
        <p:spPr>
          <a:xfrm>
            <a:off x="6903720" y="1261872"/>
            <a:ext cx="1920240" cy="1417320"/>
          </a:xfrm>
          <a:prstGeom prst="roundRect">
            <a:avLst>
              <a:gd name="adj" fmla="val 7742"/>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15" name="Text 13"/>
          <p:cNvSpPr/>
          <p:nvPr/>
        </p:nvSpPr>
        <p:spPr>
          <a:xfrm>
            <a:off x="6995160" y="1316736"/>
            <a:ext cx="1737360" cy="594360"/>
          </a:xfrm>
          <a:prstGeom prst="rect">
            <a:avLst/>
          </a:prstGeom>
          <a:noFill/>
          <a:ln/>
        </p:spPr>
        <p:txBody>
          <a:bodyPr wrap="square" rtlCol="0" anchor="ctr"/>
          <a:lstStyle/>
          <a:p>
            <a:pPr algn="ctr" indent="0" marL="0">
              <a:buNone/>
            </a:pPr>
            <a:r>
              <a:rPr lang="en-US" sz="2400" b="1" dirty="0">
                <a:solidFill>
                  <a:srgbClr val="7B5EF8"/>
                </a:solidFill>
                <a:latin typeface="Cambria" pitchFamily="34" charset="0"/>
                <a:ea typeface="Cambria" pitchFamily="34" charset="-122"/>
                <a:cs typeface="Cambria" pitchFamily="34" charset="-120"/>
              </a:rPr>
              <a:t>&lt; 50%</a:t>
            </a:r>
            <a:endParaRPr lang="en-US" sz="2400" dirty="0"/>
          </a:p>
        </p:txBody>
      </p:sp>
      <p:sp>
        <p:nvSpPr>
          <p:cNvPr id="16" name="Text 14"/>
          <p:cNvSpPr/>
          <p:nvPr/>
        </p:nvSpPr>
        <p:spPr>
          <a:xfrm>
            <a:off x="6995160" y="1901952"/>
            <a:ext cx="1737360" cy="640080"/>
          </a:xfrm>
          <a:prstGeom prst="rect">
            <a:avLst/>
          </a:prstGeom>
          <a:noFill/>
          <a:ln/>
        </p:spPr>
        <p:txBody>
          <a:bodyPr wrap="square" rtlCol="0" anchor="ctr"/>
          <a:lstStyle/>
          <a:p>
            <a:pPr algn="ctr" indent="0" marL="0">
              <a:buNone/>
            </a:pPr>
            <a:r>
              <a:rPr lang="en-US" sz="1100" dirty="0">
                <a:solidFill>
                  <a:srgbClr val="A8B8D8"/>
                </a:solidFill>
                <a:latin typeface="Calibri" pitchFamily="34" charset="0"/>
                <a:ea typeface="Calibri" pitchFamily="34" charset="-122"/>
                <a:cs typeface="Calibri" pitchFamily="34" charset="-120"/>
              </a:rPr>
              <a:t>Mass &amp; aperture</a:t>
            </a:r>
            <a:endParaRPr lang="en-US" sz="1100" dirty="0"/>
          </a:p>
          <a:p>
            <a:pPr algn="ctr" indent="0" marL="0">
              <a:buNone/>
            </a:pPr>
            <a:r>
              <a:rPr lang="en-US" sz="1100" dirty="0">
                <a:solidFill>
                  <a:srgbClr val="A8B8D8"/>
                </a:solidFill>
                <a:latin typeface="Calibri" pitchFamily="34" charset="0"/>
                <a:ea typeface="Calibri" pitchFamily="34" charset="-122"/>
                <a:cs typeface="Calibri" pitchFamily="34" charset="-120"/>
              </a:rPr>
              <a:t>vs. equivalent RF</a:t>
            </a:r>
            <a:endParaRPr lang="en-US" sz="1100" dirty="0"/>
          </a:p>
        </p:txBody>
      </p:sp>
      <p:sp>
        <p:nvSpPr>
          <p:cNvPr id="17" name="Text 15"/>
          <p:cNvSpPr/>
          <p:nvPr/>
        </p:nvSpPr>
        <p:spPr>
          <a:xfrm>
            <a:off x="457200" y="2834640"/>
            <a:ext cx="3840480" cy="228600"/>
          </a:xfrm>
          <a:prstGeom prst="rect">
            <a:avLst/>
          </a:prstGeom>
          <a:noFill/>
          <a:ln/>
        </p:spPr>
        <p:txBody>
          <a:bodyPr wrap="square" rtlCol="0" anchor="ctr"/>
          <a:lstStyle/>
          <a:p>
            <a:pPr indent="0" marL="0">
              <a:buNone/>
            </a:pPr>
            <a:r>
              <a:rPr lang="en-US" sz="1200" b="1" dirty="0">
                <a:solidFill>
                  <a:srgbClr val="00C8FF"/>
                </a:solidFill>
                <a:latin typeface="Calibri" pitchFamily="34" charset="0"/>
                <a:ea typeface="Calibri" pitchFamily="34" charset="-122"/>
                <a:cs typeface="Calibri" pitchFamily="34" charset="-120"/>
              </a:rPr>
              <a:t>RF limitations today</a:t>
            </a:r>
            <a:endParaRPr lang="en-US" sz="1200" dirty="0"/>
          </a:p>
        </p:txBody>
      </p:sp>
      <p:sp>
        <p:nvSpPr>
          <p:cNvPr id="18" name="Text 16"/>
          <p:cNvSpPr/>
          <p:nvPr/>
        </p:nvSpPr>
        <p:spPr>
          <a:xfrm>
            <a:off x="457200" y="3063240"/>
            <a:ext cx="3840480" cy="384048"/>
          </a:xfrm>
          <a:prstGeom prst="rect">
            <a:avLst/>
          </a:prstGeom>
          <a:noFill/>
          <a:ln/>
        </p:spPr>
        <p:txBody>
          <a:bodyPr wrap="square" rtlCol="0" anchor="ctr"/>
          <a:lstStyle/>
          <a:p>
            <a:pPr indent="0" marL="0">
              <a:buNone/>
            </a:pPr>
            <a:r>
              <a:rPr lang="en-US" sz="1100" dirty="0">
                <a:solidFill>
                  <a:srgbClr val="A8B8D8"/>
                </a:solidFill>
                <a:latin typeface="Calibri" pitchFamily="34" charset="0"/>
                <a:ea typeface="Calibri" pitchFamily="34" charset="-122"/>
                <a:cs typeface="Calibri" pitchFamily="34" charset="-120"/>
              </a:rPr>
              <a:t>Ka-band ISLs: 100–600 Mbps, spectrum congested, large antennas, interference susceptible</a:t>
            </a:r>
            <a:endParaRPr lang="en-US" sz="1100" dirty="0"/>
          </a:p>
        </p:txBody>
      </p:sp>
      <p:sp>
        <p:nvSpPr>
          <p:cNvPr id="19" name="Text 17"/>
          <p:cNvSpPr/>
          <p:nvPr/>
        </p:nvSpPr>
        <p:spPr>
          <a:xfrm>
            <a:off x="457200" y="3520440"/>
            <a:ext cx="3840480" cy="228600"/>
          </a:xfrm>
          <a:prstGeom prst="rect">
            <a:avLst/>
          </a:prstGeom>
          <a:noFill/>
          <a:ln/>
        </p:spPr>
        <p:txBody>
          <a:bodyPr wrap="square" rtlCol="0" anchor="ctr"/>
          <a:lstStyle/>
          <a:p>
            <a:pPr indent="0" marL="0">
              <a:buNone/>
            </a:pPr>
            <a:r>
              <a:rPr lang="en-US" sz="1200" b="1" dirty="0">
                <a:solidFill>
                  <a:srgbClr val="00C8FF"/>
                </a:solidFill>
                <a:latin typeface="Calibri" pitchFamily="34" charset="0"/>
                <a:ea typeface="Calibri" pitchFamily="34" charset="-122"/>
                <a:cs typeface="Calibri" pitchFamily="34" charset="-120"/>
              </a:rPr>
              <a:t>Optical advantage</a:t>
            </a:r>
            <a:endParaRPr lang="en-US" sz="1200" dirty="0"/>
          </a:p>
        </p:txBody>
      </p:sp>
      <p:sp>
        <p:nvSpPr>
          <p:cNvPr id="20" name="Text 18"/>
          <p:cNvSpPr/>
          <p:nvPr/>
        </p:nvSpPr>
        <p:spPr>
          <a:xfrm>
            <a:off x="457200" y="3749040"/>
            <a:ext cx="3840480" cy="384048"/>
          </a:xfrm>
          <a:prstGeom prst="rect">
            <a:avLst/>
          </a:prstGeom>
          <a:noFill/>
          <a:ln/>
        </p:spPr>
        <p:txBody>
          <a:bodyPr wrap="square" rtlCol="0" anchor="ctr"/>
          <a:lstStyle/>
          <a:p>
            <a:pPr indent="0" marL="0">
              <a:buNone/>
            </a:pPr>
            <a:r>
              <a:rPr lang="en-US" sz="1100" dirty="0">
                <a:solidFill>
                  <a:srgbClr val="A8B8D8"/>
                </a:solidFill>
                <a:latin typeface="Calibri" pitchFamily="34" charset="0"/>
                <a:ea typeface="Calibri" pitchFamily="34" charset="-122"/>
                <a:cs typeface="Calibri" pitchFamily="34" charset="-120"/>
              </a:rPr>
              <a:t>1550 nm laser: Tbps theoretical ceiling, diffraction-limited beam, inherent LPI/LPD for defense</a:t>
            </a:r>
            <a:endParaRPr lang="en-US" sz="1100" dirty="0"/>
          </a:p>
        </p:txBody>
      </p:sp>
      <p:sp>
        <p:nvSpPr>
          <p:cNvPr id="21" name="Text 19"/>
          <p:cNvSpPr/>
          <p:nvPr/>
        </p:nvSpPr>
        <p:spPr>
          <a:xfrm>
            <a:off x="457200" y="4206240"/>
            <a:ext cx="3840480" cy="228600"/>
          </a:xfrm>
          <a:prstGeom prst="rect">
            <a:avLst/>
          </a:prstGeom>
          <a:noFill/>
          <a:ln/>
        </p:spPr>
        <p:txBody>
          <a:bodyPr wrap="square" rtlCol="0" anchor="ctr"/>
          <a:lstStyle/>
          <a:p>
            <a:pPr indent="0" marL="0">
              <a:buNone/>
            </a:pPr>
            <a:r>
              <a:rPr lang="en-US" sz="1200" b="1" dirty="0">
                <a:solidFill>
                  <a:srgbClr val="00C8FF"/>
                </a:solidFill>
                <a:latin typeface="Calibri" pitchFamily="34" charset="0"/>
                <a:ea typeface="Calibri" pitchFamily="34" charset="-122"/>
                <a:cs typeface="Calibri" pitchFamily="34" charset="-120"/>
              </a:rPr>
              <a:t>CubeSat relevance</a:t>
            </a:r>
            <a:endParaRPr lang="en-US" sz="1200" dirty="0"/>
          </a:p>
        </p:txBody>
      </p:sp>
      <p:sp>
        <p:nvSpPr>
          <p:cNvPr id="22" name="Text 20"/>
          <p:cNvSpPr/>
          <p:nvPr/>
        </p:nvSpPr>
        <p:spPr>
          <a:xfrm>
            <a:off x="457200" y="4434840"/>
            <a:ext cx="3840480" cy="384048"/>
          </a:xfrm>
          <a:prstGeom prst="rect">
            <a:avLst/>
          </a:prstGeom>
          <a:noFill/>
          <a:ln/>
        </p:spPr>
        <p:txBody>
          <a:bodyPr wrap="square" rtlCol="0" anchor="ctr"/>
          <a:lstStyle/>
          <a:p>
            <a:pPr indent="0" marL="0">
              <a:buNone/>
            </a:pPr>
            <a:r>
              <a:rPr lang="en-US" sz="1100" dirty="0">
                <a:solidFill>
                  <a:srgbClr val="A8B8D8"/>
                </a:solidFill>
                <a:latin typeface="Calibri" pitchFamily="34" charset="0"/>
                <a:ea typeface="Calibri" pitchFamily="34" charset="-122"/>
                <a:cs typeface="Calibri" pitchFamily="34" charset="-120"/>
              </a:rPr>
              <a:t>50 mm aperture OISL achieves Gbps at 500 km in a 0.5U volume — impossible with RF</a:t>
            </a:r>
            <a:endParaRPr lang="en-US" sz="1100" dirty="0"/>
          </a:p>
        </p:txBody>
      </p:sp>
      <p:sp>
        <p:nvSpPr>
          <p:cNvPr id="23" name="Shape 21"/>
          <p:cNvSpPr/>
          <p:nvPr/>
        </p:nvSpPr>
        <p:spPr>
          <a:xfrm>
            <a:off x="4663440" y="2788920"/>
            <a:ext cx="4206240" cy="2103120"/>
          </a:xfrm>
          <a:prstGeom prst="roundRect">
            <a:avLst>
              <a:gd name="adj" fmla="val 5217"/>
            </a:avLst>
          </a:prstGeom>
          <a:solidFill>
            <a:srgbClr val="152050"/>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800600" y="2907792"/>
          <a:ext cx="3931920" cy="1901952"/>
        </p:xfrm>
        <a:graphic>
          <a:graphicData uri="http://schemas.openxmlformats.org/drawingml/2006/table">
            <a:tbl>
              <a:tblPr/>
              <a:tblGrid>
                <a:gridCol w="1280160"/>
                <a:gridCol w="1280160"/>
                <a:gridCol w="1371600"/>
              </a:tblGrid>
              <a:tr h="316992">
                <a:tc>
                  <a:txBody>
                    <a:bodyPr/>
                    <a:lstStyle/>
                    <a:p>
                      <a:pPr indent="0" marL="0">
                        <a:buNone/>
                      </a:pPr>
                      <a:r>
                        <a:rPr lang="en-US" sz="1100" b="1" dirty="0">
                          <a:solidFill>
                            <a:srgbClr val="00C8FF"/>
                          </a:solidFill>
                          <a:latin typeface="Calibri" pitchFamily="34" charset="0"/>
                          <a:ea typeface="Calibri" pitchFamily="34" charset="-122"/>
                          <a:cs typeface="Calibri" pitchFamily="34" charset="-120"/>
                        </a:rPr>
                        <a:t>Parameter</a:t>
                      </a:r>
                      <a:endParaRPr lang="en-US" sz="1100" dirty="0">
                        <a:latin typeface="Calibri" charset="0"/>
                        <a:ea typeface="Calibri" charset="0"/>
                        <a:cs typeface="Calibri" charset="0"/>
                      </a:endParaRPr>
                    </a:p>
                  </a:txBody>
                  <a:tcPr marL="91440" marR="91440" marT="45720" marB="45720">
                    <a:lnL w="6350" cap="flat" cmpd="sng" algn="ctr">
                      <a:solidFill>
                        <a:srgbClr val="1E3068"/>
                      </a:solidFill>
                      <a:prstDash val="solid"/>
                      <a:round/>
                      <a:headEnd type="none" w="med" len="med"/>
                      <a:tailEnd type="none" w="med" len="med"/>
                    </a:lnL>
                    <a:lnR w="6350" cap="flat" cmpd="sng" algn="ctr">
                      <a:solidFill>
                        <a:srgbClr val="1E3068"/>
                      </a:solidFill>
                      <a:prstDash val="solid"/>
                      <a:round/>
                      <a:headEnd type="none" w="med" len="med"/>
                      <a:tailEnd type="none" w="med" len="med"/>
                    </a:lnR>
                    <a:lnT w="6350" cap="flat" cmpd="sng" algn="ctr">
                      <a:solidFill>
                        <a:srgbClr val="1E3068"/>
                      </a:solidFill>
                      <a:prstDash val="solid"/>
                      <a:round/>
                      <a:headEnd type="none" w="med" len="med"/>
                      <a:tailEnd type="none" w="med" len="med"/>
                    </a:lnT>
                    <a:lnB w="6350" cap="flat" cmpd="sng" algn="ctr">
                      <a:solidFill>
                        <a:srgbClr val="1E3068"/>
                      </a:solidFill>
                      <a:prstDash val="solid"/>
                      <a:round/>
                      <a:headEnd type="none" w="med" len="med"/>
                      <a:tailEnd type="none" w="med" len="med"/>
                    </a:lnB>
                    <a:solidFill>
                      <a:srgbClr val="152050"/>
                    </a:solidFill>
                  </a:tcPr>
                </a:tc>
                <a:tc>
                  <a:txBody>
                    <a:bodyPr/>
                    <a:lstStyle/>
                    <a:p>
                      <a:pPr indent="0" marL="0">
                        <a:buNone/>
                      </a:pPr>
                      <a:r>
                        <a:rPr lang="en-US" sz="1100" b="1" dirty="0">
                          <a:solidFill>
                            <a:srgbClr val="A8B8D8"/>
                          </a:solidFill>
                          <a:latin typeface="Calibri" pitchFamily="34" charset="0"/>
                          <a:ea typeface="Calibri" pitchFamily="34" charset="-122"/>
                          <a:cs typeface="Calibri" pitchFamily="34" charset="-120"/>
                        </a:rPr>
                        <a:t>Ka-band RF</a:t>
                      </a:r>
                      <a:endParaRPr lang="en-US" sz="1100" dirty="0">
                        <a:latin typeface="Calibri" charset="0"/>
                        <a:ea typeface="Calibri" charset="0"/>
                        <a:cs typeface="Calibri" charset="0"/>
                      </a:endParaRPr>
                    </a:p>
                  </a:txBody>
                  <a:tcPr marL="91440" marR="91440" marT="45720" marB="45720">
                    <a:lnL w="6350" cap="flat" cmpd="sng" algn="ctr">
                      <a:solidFill>
                        <a:srgbClr val="1E3068"/>
                      </a:solidFill>
                      <a:prstDash val="solid"/>
                      <a:round/>
                      <a:headEnd type="none" w="med" len="med"/>
                      <a:tailEnd type="none" w="med" len="med"/>
                    </a:lnL>
                    <a:lnR w="6350" cap="flat" cmpd="sng" algn="ctr">
                      <a:solidFill>
                        <a:srgbClr val="1E3068"/>
                      </a:solidFill>
                      <a:prstDash val="solid"/>
                      <a:round/>
                      <a:headEnd type="none" w="med" len="med"/>
                      <a:tailEnd type="none" w="med" len="med"/>
                    </a:lnR>
                    <a:lnT w="6350" cap="flat" cmpd="sng" algn="ctr">
                      <a:solidFill>
                        <a:srgbClr val="1E3068"/>
                      </a:solidFill>
                      <a:prstDash val="solid"/>
                      <a:round/>
                      <a:headEnd type="none" w="med" len="med"/>
                      <a:tailEnd type="none" w="med" len="med"/>
                    </a:lnT>
                    <a:lnB w="6350" cap="flat" cmpd="sng" algn="ctr">
                      <a:solidFill>
                        <a:srgbClr val="1E3068"/>
                      </a:solidFill>
                      <a:prstDash val="solid"/>
                      <a:round/>
                      <a:headEnd type="none" w="med" len="med"/>
                      <a:tailEnd type="none" w="med" len="med"/>
                    </a:lnB>
                    <a:solidFill>
                      <a:srgbClr val="152050"/>
                    </a:solidFill>
                  </a:tcPr>
                </a:tc>
                <a:tc>
                  <a:txBody>
                    <a:bodyPr/>
                    <a:lstStyle/>
                    <a:p>
                      <a:pPr indent="0" marL="0">
                        <a:buNone/>
                      </a:pPr>
                      <a:r>
                        <a:rPr lang="en-US" sz="1100" b="1" dirty="0">
                          <a:solidFill>
                            <a:srgbClr val="00E5C0"/>
                          </a:solidFill>
                          <a:latin typeface="Calibri" pitchFamily="34" charset="0"/>
                          <a:ea typeface="Calibri" pitchFamily="34" charset="-122"/>
                          <a:cs typeface="Calibri" pitchFamily="34" charset="-120"/>
                        </a:rPr>
                        <a:t>OISL 1550 nm</a:t>
                      </a:r>
                      <a:endParaRPr lang="en-US" sz="1100" dirty="0">
                        <a:latin typeface="Calibri" charset="0"/>
                        <a:ea typeface="Calibri" charset="0"/>
                        <a:cs typeface="Calibri" charset="0"/>
                      </a:endParaRPr>
                    </a:p>
                  </a:txBody>
                  <a:tcPr marL="91440" marR="91440" marT="45720" marB="45720">
                    <a:lnL w="6350" cap="flat" cmpd="sng" algn="ctr">
                      <a:solidFill>
                        <a:srgbClr val="1E3068"/>
                      </a:solidFill>
                      <a:prstDash val="solid"/>
                      <a:round/>
                      <a:headEnd type="none" w="med" len="med"/>
                      <a:tailEnd type="none" w="med" len="med"/>
                    </a:lnL>
                    <a:lnR w="6350" cap="flat" cmpd="sng" algn="ctr">
                      <a:solidFill>
                        <a:srgbClr val="1E3068"/>
                      </a:solidFill>
                      <a:prstDash val="solid"/>
                      <a:round/>
                      <a:headEnd type="none" w="med" len="med"/>
                      <a:tailEnd type="none" w="med" len="med"/>
                    </a:lnR>
                    <a:lnT w="6350" cap="flat" cmpd="sng" algn="ctr">
                      <a:solidFill>
                        <a:srgbClr val="1E3068"/>
                      </a:solidFill>
                      <a:prstDash val="solid"/>
                      <a:round/>
                      <a:headEnd type="none" w="med" len="med"/>
                      <a:tailEnd type="none" w="med" len="med"/>
                    </a:lnT>
                    <a:lnB w="6350" cap="flat" cmpd="sng" algn="ctr">
                      <a:solidFill>
                        <a:srgbClr val="1E3068"/>
                      </a:solidFill>
                      <a:prstDash val="solid"/>
                      <a:round/>
                      <a:headEnd type="none" w="med" len="med"/>
                      <a:tailEnd type="none" w="med" len="med"/>
                    </a:lnB>
                    <a:solidFill>
                      <a:srgbClr val="152050"/>
                    </a:solidFill>
                  </a:tcPr>
                </a:tc>
              </a:tr>
              <a:tr h="316992">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Data rate</a:t>
                      </a:r>
                      <a:endParaRPr lang="en-US" sz="1000" dirty="0">
                        <a:latin typeface="Calibri" charset="0"/>
                        <a:ea typeface="Calibri" charset="0"/>
                        <a:cs typeface="Calibri" charset="0"/>
                      </a:endParaRPr>
                    </a:p>
                  </a:txBody>
                  <a:tcPr marL="91440" marR="91440" marT="45720" marB="45720">
                    <a:lnL w="6350" cap="flat" cmpd="sng" algn="ctr">
                      <a:solidFill>
                        <a:srgbClr val="1E3068"/>
                      </a:solidFill>
                      <a:prstDash val="solid"/>
                      <a:round/>
                      <a:headEnd type="none" w="med" len="med"/>
                      <a:tailEnd type="none" w="med" len="med"/>
                    </a:lnL>
                    <a:lnR w="6350" cap="flat" cmpd="sng" algn="ctr">
                      <a:solidFill>
                        <a:srgbClr val="1E3068"/>
                      </a:solidFill>
                      <a:prstDash val="solid"/>
                      <a:round/>
                      <a:headEnd type="none" w="med" len="med"/>
                      <a:tailEnd type="none" w="med" len="med"/>
                    </a:lnR>
                    <a:lnT w="6350" cap="flat" cmpd="sng" algn="ctr">
                      <a:solidFill>
                        <a:srgbClr val="1E3068"/>
                      </a:solidFill>
                      <a:prstDash val="solid"/>
                      <a:round/>
                      <a:headEnd type="none" w="med" len="med"/>
                      <a:tailEnd type="none" w="med" len="med"/>
                    </a:lnT>
                    <a:lnB w="6350" cap="flat" cmpd="sng" algn="ctr">
                      <a:solidFill>
                        <a:srgbClr val="1E3068"/>
                      </a:solidFill>
                      <a:prstDash val="solid"/>
                      <a:round/>
                      <a:headEnd type="none" w="med" len="med"/>
                      <a:tailEnd type="none" w="med" len="med"/>
                    </a:lnB>
                    <a:solidFill>
                      <a:srgbClr val="152050"/>
                    </a:solidFill>
                  </a:tcPr>
                </a:tc>
                <a:tc>
                  <a:txBody>
                    <a:bodyPr/>
                    <a:lstStyle/>
                    <a:p>
                      <a:pPr indent="0" marL="0">
                        <a:buNone/>
                      </a:pPr>
                      <a:r>
                        <a:rPr lang="en-US" sz="1000" dirty="0">
                          <a:solidFill>
                            <a:srgbClr val="A8B8D8"/>
                          </a:solidFill>
                          <a:latin typeface="Calibri" pitchFamily="34" charset="0"/>
                          <a:ea typeface="Calibri" pitchFamily="34" charset="-122"/>
                          <a:cs typeface="Calibri" pitchFamily="34" charset="-120"/>
                        </a:rPr>
                        <a:t>100–600 Mbps</a:t>
                      </a:r>
                      <a:endParaRPr lang="en-US" sz="1000" dirty="0">
                        <a:latin typeface="Calibri" charset="0"/>
                        <a:ea typeface="Calibri" charset="0"/>
                        <a:cs typeface="Calibri" charset="0"/>
                      </a:endParaRPr>
                    </a:p>
                  </a:txBody>
                  <a:tcPr marL="91440" marR="91440" marT="45720" marB="45720">
                    <a:lnL w="6350" cap="flat" cmpd="sng" algn="ctr">
                      <a:solidFill>
                        <a:srgbClr val="1E3068"/>
                      </a:solidFill>
                      <a:prstDash val="solid"/>
                      <a:round/>
                      <a:headEnd type="none" w="med" len="med"/>
                      <a:tailEnd type="none" w="med" len="med"/>
                    </a:lnL>
                    <a:lnR w="6350" cap="flat" cmpd="sng" algn="ctr">
                      <a:solidFill>
                        <a:srgbClr val="1E3068"/>
                      </a:solidFill>
                      <a:prstDash val="solid"/>
                      <a:round/>
                      <a:headEnd type="none" w="med" len="med"/>
                      <a:tailEnd type="none" w="med" len="med"/>
                    </a:lnR>
                    <a:lnT w="6350" cap="flat" cmpd="sng" algn="ctr">
                      <a:solidFill>
                        <a:srgbClr val="1E3068"/>
                      </a:solidFill>
                      <a:prstDash val="solid"/>
                      <a:round/>
                      <a:headEnd type="none" w="med" len="med"/>
                      <a:tailEnd type="none" w="med" len="med"/>
                    </a:lnT>
                    <a:lnB w="6350" cap="flat" cmpd="sng" algn="ctr">
                      <a:solidFill>
                        <a:srgbClr val="1E3068"/>
                      </a:solidFill>
                      <a:prstDash val="solid"/>
                      <a:round/>
                      <a:headEnd type="none" w="med" len="med"/>
                      <a:tailEnd type="none" w="med" len="med"/>
                    </a:lnB>
                    <a:solidFill>
                      <a:srgbClr val="152050"/>
                    </a:solidFill>
                  </a:tcPr>
                </a:tc>
                <a:tc>
                  <a:txBody>
                    <a:bodyPr/>
                    <a:lstStyle/>
                    <a:p>
                      <a:pPr indent="0" marL="0">
                        <a:buNone/>
                      </a:pPr>
                      <a:r>
                        <a:rPr lang="en-US" sz="1000" dirty="0">
                          <a:solidFill>
                            <a:srgbClr val="00E5C0"/>
                          </a:solidFill>
                          <a:latin typeface="Calibri" pitchFamily="34" charset="0"/>
                          <a:ea typeface="Calibri" pitchFamily="34" charset="-122"/>
                          <a:cs typeface="Calibri" pitchFamily="34" charset="-120"/>
                        </a:rPr>
                        <a:t>1–100 Gbps</a:t>
                      </a:r>
                      <a:endParaRPr lang="en-US" sz="1000" dirty="0">
                        <a:latin typeface="Calibri" charset="0"/>
                        <a:ea typeface="Calibri" charset="0"/>
                        <a:cs typeface="Calibri" charset="0"/>
                      </a:endParaRPr>
                    </a:p>
                  </a:txBody>
                  <a:tcPr marL="91440" marR="91440" marT="45720" marB="45720">
                    <a:lnL w="6350" cap="flat" cmpd="sng" algn="ctr">
                      <a:solidFill>
                        <a:srgbClr val="1E3068"/>
                      </a:solidFill>
                      <a:prstDash val="solid"/>
                      <a:round/>
                      <a:headEnd type="none" w="med" len="med"/>
                      <a:tailEnd type="none" w="med" len="med"/>
                    </a:lnL>
                    <a:lnR w="6350" cap="flat" cmpd="sng" algn="ctr">
                      <a:solidFill>
                        <a:srgbClr val="1E3068"/>
                      </a:solidFill>
                      <a:prstDash val="solid"/>
                      <a:round/>
                      <a:headEnd type="none" w="med" len="med"/>
                      <a:tailEnd type="none" w="med" len="med"/>
                    </a:lnR>
                    <a:lnT w="6350" cap="flat" cmpd="sng" algn="ctr">
                      <a:solidFill>
                        <a:srgbClr val="1E3068"/>
                      </a:solidFill>
                      <a:prstDash val="solid"/>
                      <a:round/>
                      <a:headEnd type="none" w="med" len="med"/>
                      <a:tailEnd type="none" w="med" len="med"/>
                    </a:lnT>
                    <a:lnB w="6350" cap="flat" cmpd="sng" algn="ctr">
                      <a:solidFill>
                        <a:srgbClr val="1E3068"/>
                      </a:solidFill>
                      <a:prstDash val="solid"/>
                      <a:round/>
                      <a:headEnd type="none" w="med" len="med"/>
                      <a:tailEnd type="none" w="med" len="med"/>
                    </a:lnB>
                    <a:solidFill>
                      <a:srgbClr val="152050"/>
                    </a:solidFill>
                  </a:tcPr>
                </a:tc>
              </a:tr>
              <a:tr h="316992">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Wavelength</a:t>
                      </a:r>
                      <a:endParaRPr lang="en-US" sz="1000" dirty="0">
                        <a:latin typeface="Calibri" charset="0"/>
                        <a:ea typeface="Calibri" charset="0"/>
                        <a:cs typeface="Calibri" charset="0"/>
                      </a:endParaRPr>
                    </a:p>
                  </a:txBody>
                  <a:tcPr marL="91440" marR="91440" marT="45720" marB="45720">
                    <a:lnL w="6350" cap="flat" cmpd="sng" algn="ctr">
                      <a:solidFill>
                        <a:srgbClr val="1E3068"/>
                      </a:solidFill>
                      <a:prstDash val="solid"/>
                      <a:round/>
                      <a:headEnd type="none" w="med" len="med"/>
                      <a:tailEnd type="none" w="med" len="med"/>
                    </a:lnL>
                    <a:lnR w="6350" cap="flat" cmpd="sng" algn="ctr">
                      <a:solidFill>
                        <a:srgbClr val="1E3068"/>
                      </a:solidFill>
                      <a:prstDash val="solid"/>
                      <a:round/>
                      <a:headEnd type="none" w="med" len="med"/>
                      <a:tailEnd type="none" w="med" len="med"/>
                    </a:lnR>
                    <a:lnT w="6350" cap="flat" cmpd="sng" algn="ctr">
                      <a:solidFill>
                        <a:srgbClr val="1E3068"/>
                      </a:solidFill>
                      <a:prstDash val="solid"/>
                      <a:round/>
                      <a:headEnd type="none" w="med" len="med"/>
                      <a:tailEnd type="none" w="med" len="med"/>
                    </a:lnT>
                    <a:lnB w="6350" cap="flat" cmpd="sng" algn="ctr">
                      <a:solidFill>
                        <a:srgbClr val="1E3068"/>
                      </a:solidFill>
                      <a:prstDash val="solid"/>
                      <a:round/>
                      <a:headEnd type="none" w="med" len="med"/>
                      <a:tailEnd type="none" w="med" len="med"/>
                    </a:lnB>
                    <a:solidFill>
                      <a:srgbClr val="152050"/>
                    </a:solidFill>
                  </a:tcPr>
                </a:tc>
                <a:tc>
                  <a:txBody>
                    <a:bodyPr/>
                    <a:lstStyle/>
                    <a:p>
                      <a:pPr indent="0" marL="0">
                        <a:buNone/>
                      </a:pPr>
                      <a:r>
                        <a:rPr lang="en-US" sz="1000" dirty="0">
                          <a:solidFill>
                            <a:srgbClr val="A8B8D8"/>
                          </a:solidFill>
                          <a:latin typeface="Calibri" pitchFamily="34" charset="0"/>
                          <a:ea typeface="Calibri" pitchFamily="34" charset="-122"/>
                          <a:cs typeface="Calibri" pitchFamily="34" charset="-120"/>
                        </a:rPr>
                        <a:t>26–40 GHz</a:t>
                      </a:r>
                      <a:endParaRPr lang="en-US" sz="1000" dirty="0">
                        <a:latin typeface="Calibri" charset="0"/>
                        <a:ea typeface="Calibri" charset="0"/>
                        <a:cs typeface="Calibri" charset="0"/>
                      </a:endParaRPr>
                    </a:p>
                  </a:txBody>
                  <a:tcPr marL="91440" marR="91440" marT="45720" marB="45720">
                    <a:lnL w="6350" cap="flat" cmpd="sng" algn="ctr">
                      <a:solidFill>
                        <a:srgbClr val="1E3068"/>
                      </a:solidFill>
                      <a:prstDash val="solid"/>
                      <a:round/>
                      <a:headEnd type="none" w="med" len="med"/>
                      <a:tailEnd type="none" w="med" len="med"/>
                    </a:lnL>
                    <a:lnR w="6350" cap="flat" cmpd="sng" algn="ctr">
                      <a:solidFill>
                        <a:srgbClr val="1E3068"/>
                      </a:solidFill>
                      <a:prstDash val="solid"/>
                      <a:round/>
                      <a:headEnd type="none" w="med" len="med"/>
                      <a:tailEnd type="none" w="med" len="med"/>
                    </a:lnR>
                    <a:lnT w="6350" cap="flat" cmpd="sng" algn="ctr">
                      <a:solidFill>
                        <a:srgbClr val="1E3068"/>
                      </a:solidFill>
                      <a:prstDash val="solid"/>
                      <a:round/>
                      <a:headEnd type="none" w="med" len="med"/>
                      <a:tailEnd type="none" w="med" len="med"/>
                    </a:lnT>
                    <a:lnB w="6350" cap="flat" cmpd="sng" algn="ctr">
                      <a:solidFill>
                        <a:srgbClr val="1E3068"/>
                      </a:solidFill>
                      <a:prstDash val="solid"/>
                      <a:round/>
                      <a:headEnd type="none" w="med" len="med"/>
                      <a:tailEnd type="none" w="med" len="med"/>
                    </a:lnB>
                    <a:solidFill>
                      <a:srgbClr val="152050"/>
                    </a:solidFill>
                  </a:tcPr>
                </a:tc>
                <a:tc>
                  <a:txBody>
                    <a:bodyPr/>
                    <a:lstStyle/>
                    <a:p>
                      <a:pPr indent="0" marL="0">
                        <a:buNone/>
                      </a:pPr>
                      <a:r>
                        <a:rPr lang="en-US" sz="1000" dirty="0">
                          <a:solidFill>
                            <a:srgbClr val="00E5C0"/>
                          </a:solidFill>
                          <a:latin typeface="Calibri" pitchFamily="34" charset="0"/>
                          <a:ea typeface="Calibri" pitchFamily="34" charset="-122"/>
                          <a:cs typeface="Calibri" pitchFamily="34" charset="-120"/>
                        </a:rPr>
                        <a:t>1550 nm</a:t>
                      </a:r>
                      <a:endParaRPr lang="en-US" sz="1000" dirty="0">
                        <a:latin typeface="Calibri" charset="0"/>
                        <a:ea typeface="Calibri" charset="0"/>
                        <a:cs typeface="Calibri" charset="0"/>
                      </a:endParaRPr>
                    </a:p>
                  </a:txBody>
                  <a:tcPr marL="91440" marR="91440" marT="45720" marB="45720">
                    <a:lnL w="6350" cap="flat" cmpd="sng" algn="ctr">
                      <a:solidFill>
                        <a:srgbClr val="1E3068"/>
                      </a:solidFill>
                      <a:prstDash val="solid"/>
                      <a:round/>
                      <a:headEnd type="none" w="med" len="med"/>
                      <a:tailEnd type="none" w="med" len="med"/>
                    </a:lnL>
                    <a:lnR w="6350" cap="flat" cmpd="sng" algn="ctr">
                      <a:solidFill>
                        <a:srgbClr val="1E3068"/>
                      </a:solidFill>
                      <a:prstDash val="solid"/>
                      <a:round/>
                      <a:headEnd type="none" w="med" len="med"/>
                      <a:tailEnd type="none" w="med" len="med"/>
                    </a:lnR>
                    <a:lnT w="6350" cap="flat" cmpd="sng" algn="ctr">
                      <a:solidFill>
                        <a:srgbClr val="1E3068"/>
                      </a:solidFill>
                      <a:prstDash val="solid"/>
                      <a:round/>
                      <a:headEnd type="none" w="med" len="med"/>
                      <a:tailEnd type="none" w="med" len="med"/>
                    </a:lnT>
                    <a:lnB w="6350" cap="flat" cmpd="sng" algn="ctr">
                      <a:solidFill>
                        <a:srgbClr val="1E3068"/>
                      </a:solidFill>
                      <a:prstDash val="solid"/>
                      <a:round/>
                      <a:headEnd type="none" w="med" len="med"/>
                      <a:tailEnd type="none" w="med" len="med"/>
                    </a:lnB>
                    <a:solidFill>
                      <a:srgbClr val="152050"/>
                    </a:solidFill>
                  </a:tcPr>
                </a:tc>
              </a:tr>
              <a:tr h="316992">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Beam diverg.</a:t>
                      </a:r>
                      <a:endParaRPr lang="en-US" sz="1000" dirty="0">
                        <a:latin typeface="Calibri" charset="0"/>
                        <a:ea typeface="Calibri" charset="0"/>
                        <a:cs typeface="Calibri" charset="0"/>
                      </a:endParaRPr>
                    </a:p>
                  </a:txBody>
                  <a:tcPr marL="91440" marR="91440" marT="45720" marB="45720">
                    <a:lnL w="6350" cap="flat" cmpd="sng" algn="ctr">
                      <a:solidFill>
                        <a:srgbClr val="1E3068"/>
                      </a:solidFill>
                      <a:prstDash val="solid"/>
                      <a:round/>
                      <a:headEnd type="none" w="med" len="med"/>
                      <a:tailEnd type="none" w="med" len="med"/>
                    </a:lnL>
                    <a:lnR w="6350" cap="flat" cmpd="sng" algn="ctr">
                      <a:solidFill>
                        <a:srgbClr val="1E3068"/>
                      </a:solidFill>
                      <a:prstDash val="solid"/>
                      <a:round/>
                      <a:headEnd type="none" w="med" len="med"/>
                      <a:tailEnd type="none" w="med" len="med"/>
                    </a:lnR>
                    <a:lnT w="6350" cap="flat" cmpd="sng" algn="ctr">
                      <a:solidFill>
                        <a:srgbClr val="1E3068"/>
                      </a:solidFill>
                      <a:prstDash val="solid"/>
                      <a:round/>
                      <a:headEnd type="none" w="med" len="med"/>
                      <a:tailEnd type="none" w="med" len="med"/>
                    </a:lnT>
                    <a:lnB w="6350" cap="flat" cmpd="sng" algn="ctr">
                      <a:solidFill>
                        <a:srgbClr val="1E3068"/>
                      </a:solidFill>
                      <a:prstDash val="solid"/>
                      <a:round/>
                      <a:headEnd type="none" w="med" len="med"/>
                      <a:tailEnd type="none" w="med" len="med"/>
                    </a:lnB>
                    <a:solidFill>
                      <a:srgbClr val="152050"/>
                    </a:solidFill>
                  </a:tcPr>
                </a:tc>
                <a:tc>
                  <a:txBody>
                    <a:bodyPr/>
                    <a:lstStyle/>
                    <a:p>
                      <a:pPr indent="0" marL="0">
                        <a:buNone/>
                      </a:pPr>
                      <a:r>
                        <a:rPr lang="en-US" sz="1000" dirty="0">
                          <a:solidFill>
                            <a:srgbClr val="A8B8D8"/>
                          </a:solidFill>
                          <a:latin typeface="Calibri" pitchFamily="34" charset="0"/>
                          <a:ea typeface="Calibri" pitchFamily="34" charset="-122"/>
                          <a:cs typeface="Calibri" pitchFamily="34" charset="-120"/>
                        </a:rPr>
                        <a:t>~0.5–2°</a:t>
                      </a:r>
                      <a:endParaRPr lang="en-US" sz="1000" dirty="0">
                        <a:latin typeface="Calibri" charset="0"/>
                        <a:ea typeface="Calibri" charset="0"/>
                        <a:cs typeface="Calibri" charset="0"/>
                      </a:endParaRPr>
                    </a:p>
                  </a:txBody>
                  <a:tcPr marL="91440" marR="91440" marT="45720" marB="45720">
                    <a:lnL w="6350" cap="flat" cmpd="sng" algn="ctr">
                      <a:solidFill>
                        <a:srgbClr val="1E3068"/>
                      </a:solidFill>
                      <a:prstDash val="solid"/>
                      <a:round/>
                      <a:headEnd type="none" w="med" len="med"/>
                      <a:tailEnd type="none" w="med" len="med"/>
                    </a:lnL>
                    <a:lnR w="6350" cap="flat" cmpd="sng" algn="ctr">
                      <a:solidFill>
                        <a:srgbClr val="1E3068"/>
                      </a:solidFill>
                      <a:prstDash val="solid"/>
                      <a:round/>
                      <a:headEnd type="none" w="med" len="med"/>
                      <a:tailEnd type="none" w="med" len="med"/>
                    </a:lnR>
                    <a:lnT w="6350" cap="flat" cmpd="sng" algn="ctr">
                      <a:solidFill>
                        <a:srgbClr val="1E3068"/>
                      </a:solidFill>
                      <a:prstDash val="solid"/>
                      <a:round/>
                      <a:headEnd type="none" w="med" len="med"/>
                      <a:tailEnd type="none" w="med" len="med"/>
                    </a:lnT>
                    <a:lnB w="6350" cap="flat" cmpd="sng" algn="ctr">
                      <a:solidFill>
                        <a:srgbClr val="1E3068"/>
                      </a:solidFill>
                      <a:prstDash val="solid"/>
                      <a:round/>
                      <a:headEnd type="none" w="med" len="med"/>
                      <a:tailEnd type="none" w="med" len="med"/>
                    </a:lnB>
                    <a:solidFill>
                      <a:srgbClr val="152050"/>
                    </a:solidFill>
                  </a:tcPr>
                </a:tc>
                <a:tc>
                  <a:txBody>
                    <a:bodyPr/>
                    <a:lstStyle/>
                    <a:p>
                      <a:pPr indent="0" marL="0">
                        <a:buNone/>
                      </a:pPr>
                      <a:r>
                        <a:rPr lang="en-US" sz="1000" dirty="0">
                          <a:solidFill>
                            <a:srgbClr val="00E5C0"/>
                          </a:solidFill>
                          <a:latin typeface="Calibri" pitchFamily="34" charset="0"/>
                          <a:ea typeface="Calibri" pitchFamily="34" charset="-122"/>
                          <a:cs typeface="Calibri" pitchFamily="34" charset="-120"/>
                        </a:rPr>
                        <a:t>~10–100 μrad</a:t>
                      </a:r>
                      <a:endParaRPr lang="en-US" sz="1000" dirty="0">
                        <a:latin typeface="Calibri" charset="0"/>
                        <a:ea typeface="Calibri" charset="0"/>
                        <a:cs typeface="Calibri" charset="0"/>
                      </a:endParaRPr>
                    </a:p>
                  </a:txBody>
                  <a:tcPr marL="91440" marR="91440" marT="45720" marB="45720">
                    <a:lnL w="6350" cap="flat" cmpd="sng" algn="ctr">
                      <a:solidFill>
                        <a:srgbClr val="1E3068"/>
                      </a:solidFill>
                      <a:prstDash val="solid"/>
                      <a:round/>
                      <a:headEnd type="none" w="med" len="med"/>
                      <a:tailEnd type="none" w="med" len="med"/>
                    </a:lnL>
                    <a:lnR w="6350" cap="flat" cmpd="sng" algn="ctr">
                      <a:solidFill>
                        <a:srgbClr val="1E3068"/>
                      </a:solidFill>
                      <a:prstDash val="solid"/>
                      <a:round/>
                      <a:headEnd type="none" w="med" len="med"/>
                      <a:tailEnd type="none" w="med" len="med"/>
                    </a:lnR>
                    <a:lnT w="6350" cap="flat" cmpd="sng" algn="ctr">
                      <a:solidFill>
                        <a:srgbClr val="1E3068"/>
                      </a:solidFill>
                      <a:prstDash val="solid"/>
                      <a:round/>
                      <a:headEnd type="none" w="med" len="med"/>
                      <a:tailEnd type="none" w="med" len="med"/>
                    </a:lnT>
                    <a:lnB w="6350" cap="flat" cmpd="sng" algn="ctr">
                      <a:solidFill>
                        <a:srgbClr val="1E3068"/>
                      </a:solidFill>
                      <a:prstDash val="solid"/>
                      <a:round/>
                      <a:headEnd type="none" w="med" len="med"/>
                      <a:tailEnd type="none" w="med" len="med"/>
                    </a:lnB>
                    <a:solidFill>
                      <a:srgbClr val="152050"/>
                    </a:solidFill>
                  </a:tcPr>
                </a:tc>
              </a:tr>
              <a:tr h="316992">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Aperture</a:t>
                      </a:r>
                      <a:endParaRPr lang="en-US" sz="1000" dirty="0">
                        <a:latin typeface="Calibri" charset="0"/>
                        <a:ea typeface="Calibri" charset="0"/>
                        <a:cs typeface="Calibri" charset="0"/>
                      </a:endParaRPr>
                    </a:p>
                  </a:txBody>
                  <a:tcPr marL="91440" marR="91440" marT="45720" marB="45720">
                    <a:lnL w="6350" cap="flat" cmpd="sng" algn="ctr">
                      <a:solidFill>
                        <a:srgbClr val="1E3068"/>
                      </a:solidFill>
                      <a:prstDash val="solid"/>
                      <a:round/>
                      <a:headEnd type="none" w="med" len="med"/>
                      <a:tailEnd type="none" w="med" len="med"/>
                    </a:lnL>
                    <a:lnR w="6350" cap="flat" cmpd="sng" algn="ctr">
                      <a:solidFill>
                        <a:srgbClr val="1E3068"/>
                      </a:solidFill>
                      <a:prstDash val="solid"/>
                      <a:round/>
                      <a:headEnd type="none" w="med" len="med"/>
                      <a:tailEnd type="none" w="med" len="med"/>
                    </a:lnR>
                    <a:lnT w="6350" cap="flat" cmpd="sng" algn="ctr">
                      <a:solidFill>
                        <a:srgbClr val="1E3068"/>
                      </a:solidFill>
                      <a:prstDash val="solid"/>
                      <a:round/>
                      <a:headEnd type="none" w="med" len="med"/>
                      <a:tailEnd type="none" w="med" len="med"/>
                    </a:lnT>
                    <a:lnB w="6350" cap="flat" cmpd="sng" algn="ctr">
                      <a:solidFill>
                        <a:srgbClr val="1E3068"/>
                      </a:solidFill>
                      <a:prstDash val="solid"/>
                      <a:round/>
                      <a:headEnd type="none" w="med" len="med"/>
                      <a:tailEnd type="none" w="med" len="med"/>
                    </a:lnB>
                    <a:solidFill>
                      <a:srgbClr val="152050"/>
                    </a:solidFill>
                  </a:tcPr>
                </a:tc>
                <a:tc>
                  <a:txBody>
                    <a:bodyPr/>
                    <a:lstStyle/>
                    <a:p>
                      <a:pPr indent="0" marL="0">
                        <a:buNone/>
                      </a:pPr>
                      <a:r>
                        <a:rPr lang="en-US" sz="1000" dirty="0">
                          <a:solidFill>
                            <a:srgbClr val="A8B8D8"/>
                          </a:solidFill>
                          <a:latin typeface="Calibri" pitchFamily="34" charset="0"/>
                          <a:ea typeface="Calibri" pitchFamily="34" charset="-122"/>
                          <a:cs typeface="Calibri" pitchFamily="34" charset="-120"/>
                        </a:rPr>
                        <a:t>200–600 mm</a:t>
                      </a:r>
                      <a:endParaRPr lang="en-US" sz="1000" dirty="0">
                        <a:latin typeface="Calibri" charset="0"/>
                        <a:ea typeface="Calibri" charset="0"/>
                        <a:cs typeface="Calibri" charset="0"/>
                      </a:endParaRPr>
                    </a:p>
                  </a:txBody>
                  <a:tcPr marL="91440" marR="91440" marT="45720" marB="45720">
                    <a:lnL w="6350" cap="flat" cmpd="sng" algn="ctr">
                      <a:solidFill>
                        <a:srgbClr val="1E3068"/>
                      </a:solidFill>
                      <a:prstDash val="solid"/>
                      <a:round/>
                      <a:headEnd type="none" w="med" len="med"/>
                      <a:tailEnd type="none" w="med" len="med"/>
                    </a:lnL>
                    <a:lnR w="6350" cap="flat" cmpd="sng" algn="ctr">
                      <a:solidFill>
                        <a:srgbClr val="1E3068"/>
                      </a:solidFill>
                      <a:prstDash val="solid"/>
                      <a:round/>
                      <a:headEnd type="none" w="med" len="med"/>
                      <a:tailEnd type="none" w="med" len="med"/>
                    </a:lnR>
                    <a:lnT w="6350" cap="flat" cmpd="sng" algn="ctr">
                      <a:solidFill>
                        <a:srgbClr val="1E3068"/>
                      </a:solidFill>
                      <a:prstDash val="solid"/>
                      <a:round/>
                      <a:headEnd type="none" w="med" len="med"/>
                      <a:tailEnd type="none" w="med" len="med"/>
                    </a:lnT>
                    <a:lnB w="6350" cap="flat" cmpd="sng" algn="ctr">
                      <a:solidFill>
                        <a:srgbClr val="1E3068"/>
                      </a:solidFill>
                      <a:prstDash val="solid"/>
                      <a:round/>
                      <a:headEnd type="none" w="med" len="med"/>
                      <a:tailEnd type="none" w="med" len="med"/>
                    </a:lnB>
                    <a:solidFill>
                      <a:srgbClr val="152050"/>
                    </a:solidFill>
                  </a:tcPr>
                </a:tc>
                <a:tc>
                  <a:txBody>
                    <a:bodyPr/>
                    <a:lstStyle/>
                    <a:p>
                      <a:pPr indent="0" marL="0">
                        <a:buNone/>
                      </a:pPr>
                      <a:r>
                        <a:rPr lang="en-US" sz="1000" dirty="0">
                          <a:solidFill>
                            <a:srgbClr val="00E5C0"/>
                          </a:solidFill>
                          <a:latin typeface="Calibri" pitchFamily="34" charset="0"/>
                          <a:ea typeface="Calibri" pitchFamily="34" charset="-122"/>
                          <a:cs typeface="Calibri" pitchFamily="34" charset="-120"/>
                        </a:rPr>
                        <a:t>30–100 mm</a:t>
                      </a:r>
                      <a:endParaRPr lang="en-US" sz="1000" dirty="0">
                        <a:latin typeface="Calibri" charset="0"/>
                        <a:ea typeface="Calibri" charset="0"/>
                        <a:cs typeface="Calibri" charset="0"/>
                      </a:endParaRPr>
                    </a:p>
                  </a:txBody>
                  <a:tcPr marL="91440" marR="91440" marT="45720" marB="45720">
                    <a:lnL w="6350" cap="flat" cmpd="sng" algn="ctr">
                      <a:solidFill>
                        <a:srgbClr val="1E3068"/>
                      </a:solidFill>
                      <a:prstDash val="solid"/>
                      <a:round/>
                      <a:headEnd type="none" w="med" len="med"/>
                      <a:tailEnd type="none" w="med" len="med"/>
                    </a:lnL>
                    <a:lnR w="6350" cap="flat" cmpd="sng" algn="ctr">
                      <a:solidFill>
                        <a:srgbClr val="1E3068"/>
                      </a:solidFill>
                      <a:prstDash val="solid"/>
                      <a:round/>
                      <a:headEnd type="none" w="med" len="med"/>
                      <a:tailEnd type="none" w="med" len="med"/>
                    </a:lnR>
                    <a:lnT w="6350" cap="flat" cmpd="sng" algn="ctr">
                      <a:solidFill>
                        <a:srgbClr val="1E3068"/>
                      </a:solidFill>
                      <a:prstDash val="solid"/>
                      <a:round/>
                      <a:headEnd type="none" w="med" len="med"/>
                      <a:tailEnd type="none" w="med" len="med"/>
                    </a:lnT>
                    <a:lnB w="6350" cap="flat" cmpd="sng" algn="ctr">
                      <a:solidFill>
                        <a:srgbClr val="1E3068"/>
                      </a:solidFill>
                      <a:prstDash val="solid"/>
                      <a:round/>
                      <a:headEnd type="none" w="med" len="med"/>
                      <a:tailEnd type="none" w="med" len="med"/>
                    </a:lnB>
                    <a:solidFill>
                      <a:srgbClr val="152050"/>
                    </a:solidFill>
                  </a:tcPr>
                </a:tc>
              </a:tr>
              <a:tr h="316992">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Licensing</a:t>
                      </a:r>
                      <a:endParaRPr lang="en-US" sz="1000" dirty="0">
                        <a:latin typeface="Calibri" charset="0"/>
                        <a:ea typeface="Calibri" charset="0"/>
                        <a:cs typeface="Calibri" charset="0"/>
                      </a:endParaRPr>
                    </a:p>
                  </a:txBody>
                  <a:tcPr marL="91440" marR="91440" marT="45720" marB="45720">
                    <a:lnL w="6350" cap="flat" cmpd="sng" algn="ctr">
                      <a:solidFill>
                        <a:srgbClr val="1E3068"/>
                      </a:solidFill>
                      <a:prstDash val="solid"/>
                      <a:round/>
                      <a:headEnd type="none" w="med" len="med"/>
                      <a:tailEnd type="none" w="med" len="med"/>
                    </a:lnL>
                    <a:lnR w="6350" cap="flat" cmpd="sng" algn="ctr">
                      <a:solidFill>
                        <a:srgbClr val="1E3068"/>
                      </a:solidFill>
                      <a:prstDash val="solid"/>
                      <a:round/>
                      <a:headEnd type="none" w="med" len="med"/>
                      <a:tailEnd type="none" w="med" len="med"/>
                    </a:lnR>
                    <a:lnT w="6350" cap="flat" cmpd="sng" algn="ctr">
                      <a:solidFill>
                        <a:srgbClr val="1E3068"/>
                      </a:solidFill>
                      <a:prstDash val="solid"/>
                      <a:round/>
                      <a:headEnd type="none" w="med" len="med"/>
                      <a:tailEnd type="none" w="med" len="med"/>
                    </a:lnT>
                    <a:lnB w="6350" cap="flat" cmpd="sng" algn="ctr">
                      <a:solidFill>
                        <a:srgbClr val="1E3068"/>
                      </a:solidFill>
                      <a:prstDash val="solid"/>
                      <a:round/>
                      <a:headEnd type="none" w="med" len="med"/>
                      <a:tailEnd type="none" w="med" len="med"/>
                    </a:lnB>
                    <a:solidFill>
                      <a:srgbClr val="152050"/>
                    </a:solidFill>
                  </a:tcPr>
                </a:tc>
                <a:tc>
                  <a:txBody>
                    <a:bodyPr/>
                    <a:lstStyle/>
                    <a:p>
                      <a:pPr indent="0" marL="0">
                        <a:buNone/>
                      </a:pPr>
                      <a:r>
                        <a:rPr lang="en-US" sz="1000" dirty="0">
                          <a:solidFill>
                            <a:srgbClr val="FF6B6B"/>
                          </a:solidFill>
                          <a:latin typeface="Calibri" pitchFamily="34" charset="0"/>
                          <a:ea typeface="Calibri" pitchFamily="34" charset="-122"/>
                          <a:cs typeface="Calibri" pitchFamily="34" charset="-120"/>
                        </a:rPr>
                        <a:t>Required</a:t>
                      </a:r>
                      <a:endParaRPr lang="en-US" sz="1000" dirty="0">
                        <a:latin typeface="Calibri" charset="0"/>
                        <a:ea typeface="Calibri" charset="0"/>
                        <a:cs typeface="Calibri" charset="0"/>
                      </a:endParaRPr>
                    </a:p>
                  </a:txBody>
                  <a:tcPr marL="91440" marR="91440" marT="45720" marB="45720">
                    <a:lnL w="6350" cap="flat" cmpd="sng" algn="ctr">
                      <a:solidFill>
                        <a:srgbClr val="1E3068"/>
                      </a:solidFill>
                      <a:prstDash val="solid"/>
                      <a:round/>
                      <a:headEnd type="none" w="med" len="med"/>
                      <a:tailEnd type="none" w="med" len="med"/>
                    </a:lnL>
                    <a:lnR w="6350" cap="flat" cmpd="sng" algn="ctr">
                      <a:solidFill>
                        <a:srgbClr val="1E3068"/>
                      </a:solidFill>
                      <a:prstDash val="solid"/>
                      <a:round/>
                      <a:headEnd type="none" w="med" len="med"/>
                      <a:tailEnd type="none" w="med" len="med"/>
                    </a:lnR>
                    <a:lnT w="6350" cap="flat" cmpd="sng" algn="ctr">
                      <a:solidFill>
                        <a:srgbClr val="1E3068"/>
                      </a:solidFill>
                      <a:prstDash val="solid"/>
                      <a:round/>
                      <a:headEnd type="none" w="med" len="med"/>
                      <a:tailEnd type="none" w="med" len="med"/>
                    </a:lnT>
                    <a:lnB w="6350" cap="flat" cmpd="sng" algn="ctr">
                      <a:solidFill>
                        <a:srgbClr val="1E3068"/>
                      </a:solidFill>
                      <a:prstDash val="solid"/>
                      <a:round/>
                      <a:headEnd type="none" w="med" len="med"/>
                      <a:tailEnd type="none" w="med" len="med"/>
                    </a:lnB>
                    <a:solidFill>
                      <a:srgbClr val="152050"/>
                    </a:solidFill>
                  </a:tcPr>
                </a:tc>
                <a:tc>
                  <a:txBody>
                    <a:bodyPr/>
                    <a:lstStyle/>
                    <a:p>
                      <a:pPr indent="0" marL="0">
                        <a:buNone/>
                      </a:pPr>
                      <a:r>
                        <a:rPr lang="en-US" sz="1000" dirty="0">
                          <a:solidFill>
                            <a:srgbClr val="00E5C0"/>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91440" marR="91440" marT="45720" marB="45720">
                    <a:lnL w="6350" cap="flat" cmpd="sng" algn="ctr">
                      <a:solidFill>
                        <a:srgbClr val="1E3068"/>
                      </a:solidFill>
                      <a:prstDash val="solid"/>
                      <a:round/>
                      <a:headEnd type="none" w="med" len="med"/>
                      <a:tailEnd type="none" w="med" len="med"/>
                    </a:lnL>
                    <a:lnR w="6350" cap="flat" cmpd="sng" algn="ctr">
                      <a:solidFill>
                        <a:srgbClr val="1E3068"/>
                      </a:solidFill>
                      <a:prstDash val="solid"/>
                      <a:round/>
                      <a:headEnd type="none" w="med" len="med"/>
                      <a:tailEnd type="none" w="med" len="med"/>
                    </a:lnR>
                    <a:lnT w="6350" cap="flat" cmpd="sng" algn="ctr">
                      <a:solidFill>
                        <a:srgbClr val="1E3068"/>
                      </a:solidFill>
                      <a:prstDash val="solid"/>
                      <a:round/>
                      <a:headEnd type="none" w="med" len="med"/>
                      <a:tailEnd type="none" w="med" len="med"/>
                    </a:lnT>
                    <a:lnB w="6350" cap="flat" cmpd="sng" algn="ctr">
                      <a:solidFill>
                        <a:srgbClr val="1E3068"/>
                      </a:solidFill>
                      <a:prstDash val="solid"/>
                      <a:round/>
                      <a:headEnd type="none" w="med" len="med"/>
                      <a:tailEnd type="none" w="med" len="med"/>
                    </a:lnB>
                    <a:solidFill>
                      <a:srgbClr val="152050"/>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F2C"/>
        </a:solidFill>
      </p:bgPr>
    </p:bg>
    <p:spTree>
      <p:nvGrpSpPr>
        <p:cNvPr id="1" name=""/>
        <p:cNvGrpSpPr/>
        <p:nvPr/>
      </p:nvGrpSpPr>
      <p:grpSpPr>
        <a:xfrm>
          <a:off x="0" y="0"/>
          <a:ext cx="0" cy="0"/>
          <a:chOff x="0" y="0"/>
          <a:chExt cx="0" cy="0"/>
        </a:xfrm>
      </p:grpSpPr>
      <p:sp>
        <p:nvSpPr>
          <p:cNvPr id="2" name="Text 0"/>
          <p:cNvSpPr/>
          <p:nvPr/>
        </p:nvSpPr>
        <p:spPr>
          <a:xfrm>
            <a:off x="457200" y="256032"/>
            <a:ext cx="2743200" cy="274320"/>
          </a:xfrm>
          <a:prstGeom prst="rect">
            <a:avLst/>
          </a:prstGeom>
          <a:noFill/>
          <a:ln/>
        </p:spPr>
        <p:txBody>
          <a:bodyPr wrap="square" rtlCol="0" anchor="ctr"/>
          <a:lstStyle/>
          <a:p>
            <a:pPr indent="0" marL="0">
              <a:buNone/>
            </a:pPr>
            <a:r>
              <a:rPr lang="en-US" sz="900" b="1" spc="400" kern="0" dirty="0">
                <a:solidFill>
                  <a:srgbClr val="00C8FF"/>
                </a:solidFill>
              </a:rPr>
              <a:t>SYSTEM OVERVIEW</a:t>
            </a:r>
            <a:endParaRPr lang="en-US" sz="900" dirty="0"/>
          </a:p>
        </p:txBody>
      </p:sp>
      <p:sp>
        <p:nvSpPr>
          <p:cNvPr id="3" name="Text 1"/>
          <p:cNvSpPr/>
          <p:nvPr/>
        </p:nvSpPr>
        <p:spPr>
          <a:xfrm>
            <a:off x="457200" y="530352"/>
            <a:ext cx="7315200" cy="5943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Terminal Architecture</a:t>
            </a:r>
            <a:endParaRPr lang="en-US" sz="3200" dirty="0"/>
          </a:p>
        </p:txBody>
      </p:sp>
      <p:sp>
        <p:nvSpPr>
          <p:cNvPr id="4" name="Shape 2"/>
          <p:cNvSpPr/>
          <p:nvPr/>
        </p:nvSpPr>
        <p:spPr>
          <a:xfrm>
            <a:off x="411480" y="1280160"/>
            <a:ext cx="2743200" cy="3566160"/>
          </a:xfrm>
          <a:prstGeom prst="roundRect">
            <a:avLst>
              <a:gd name="adj" fmla="val 4000"/>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5" name="Shape 3"/>
          <p:cNvSpPr/>
          <p:nvPr/>
        </p:nvSpPr>
        <p:spPr>
          <a:xfrm>
            <a:off x="411480" y="1280160"/>
            <a:ext cx="2743200" cy="502920"/>
          </a:xfrm>
          <a:prstGeom prst="roundRect">
            <a:avLst>
              <a:gd name="adj" fmla="val 21818"/>
            </a:avLst>
          </a:prstGeom>
          <a:solidFill>
            <a:srgbClr val="7B5EF8">
              <a:alpha val="80000"/>
            </a:srgbClr>
          </a:solidFill>
          <a:ln w="12700">
            <a:solidFill>
              <a:srgbClr val="7B5EF8"/>
            </a:solidFill>
            <a:prstDash val="solid"/>
          </a:ln>
        </p:spPr>
      </p:sp>
      <p:sp>
        <p:nvSpPr>
          <p:cNvPr id="6" name="Text 4"/>
          <p:cNvSpPr/>
          <p:nvPr/>
        </p:nvSpPr>
        <p:spPr>
          <a:xfrm>
            <a:off x="411480" y="1280160"/>
            <a:ext cx="2743200" cy="502920"/>
          </a:xfrm>
          <a:prstGeom prst="rect">
            <a:avLst/>
          </a:prstGeom>
          <a:noFill/>
          <a:ln/>
        </p:spPr>
        <p:txBody>
          <a:bodyPr wrap="square" lIns="0" tIns="0" rIns="0" bIns="0" rtlCol="0" anchor="ctr"/>
          <a:lstStyle/>
          <a:p>
            <a:pPr algn="ctr" indent="0" marL="0">
              <a:buNone/>
            </a:pPr>
            <a:r>
              <a:rPr lang="en-US" sz="1400" b="1" dirty="0">
                <a:solidFill>
                  <a:srgbClr val="0A0F2C"/>
                </a:solidFill>
              </a:rPr>
              <a:t>TX Chain</a:t>
            </a:r>
            <a:endParaRPr lang="en-US" sz="1400" dirty="0"/>
          </a:p>
        </p:txBody>
      </p:sp>
      <p:sp>
        <p:nvSpPr>
          <p:cNvPr id="7" name="Shape 5"/>
          <p:cNvSpPr/>
          <p:nvPr/>
        </p:nvSpPr>
        <p:spPr>
          <a:xfrm>
            <a:off x="612648" y="1965960"/>
            <a:ext cx="128016" cy="128016"/>
          </a:xfrm>
          <a:prstGeom prst="ellipse">
            <a:avLst/>
          </a:prstGeom>
          <a:solidFill>
            <a:srgbClr val="7B5EF8"/>
          </a:solidFill>
          <a:ln w="12700">
            <a:solidFill>
              <a:srgbClr val="7B5EF8"/>
            </a:solidFill>
            <a:prstDash val="solid"/>
          </a:ln>
        </p:spPr>
      </p:sp>
      <p:sp>
        <p:nvSpPr>
          <p:cNvPr id="8" name="Text 6"/>
          <p:cNvSpPr/>
          <p:nvPr/>
        </p:nvSpPr>
        <p:spPr>
          <a:xfrm>
            <a:off x="813816" y="1901952"/>
            <a:ext cx="2176272" cy="45720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DFB seed laser (1550 nm, &lt;100 kHz linewidth)</a:t>
            </a:r>
            <a:endParaRPr lang="en-US" sz="1050" dirty="0"/>
          </a:p>
        </p:txBody>
      </p:sp>
      <p:sp>
        <p:nvSpPr>
          <p:cNvPr id="9" name="Shape 7"/>
          <p:cNvSpPr/>
          <p:nvPr/>
        </p:nvSpPr>
        <p:spPr>
          <a:xfrm>
            <a:off x="612648" y="2496312"/>
            <a:ext cx="128016" cy="128016"/>
          </a:xfrm>
          <a:prstGeom prst="ellipse">
            <a:avLst/>
          </a:prstGeom>
          <a:solidFill>
            <a:srgbClr val="7B5EF8"/>
          </a:solidFill>
          <a:ln w="12700">
            <a:solidFill>
              <a:srgbClr val="7B5EF8"/>
            </a:solidFill>
            <a:prstDash val="solid"/>
          </a:ln>
        </p:spPr>
      </p:sp>
      <p:sp>
        <p:nvSpPr>
          <p:cNvPr id="10" name="Text 8"/>
          <p:cNvSpPr/>
          <p:nvPr/>
        </p:nvSpPr>
        <p:spPr>
          <a:xfrm>
            <a:off x="813816" y="2432304"/>
            <a:ext cx="2176272" cy="45720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IQ / OOK / DPSK modulator</a:t>
            </a:r>
            <a:endParaRPr lang="en-US" sz="1050" dirty="0"/>
          </a:p>
        </p:txBody>
      </p:sp>
      <p:sp>
        <p:nvSpPr>
          <p:cNvPr id="11" name="Shape 9"/>
          <p:cNvSpPr/>
          <p:nvPr/>
        </p:nvSpPr>
        <p:spPr>
          <a:xfrm>
            <a:off x="612648" y="3026664"/>
            <a:ext cx="128016" cy="128016"/>
          </a:xfrm>
          <a:prstGeom prst="ellipse">
            <a:avLst/>
          </a:prstGeom>
          <a:solidFill>
            <a:srgbClr val="7B5EF8"/>
          </a:solidFill>
          <a:ln w="12700">
            <a:solidFill>
              <a:srgbClr val="7B5EF8"/>
            </a:solidFill>
            <a:prstDash val="solid"/>
          </a:ln>
        </p:spPr>
      </p:sp>
      <p:sp>
        <p:nvSpPr>
          <p:cNvPr id="12" name="Text 10"/>
          <p:cNvSpPr/>
          <p:nvPr/>
        </p:nvSpPr>
        <p:spPr>
          <a:xfrm>
            <a:off x="813816" y="2962656"/>
            <a:ext cx="2176272" cy="45720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EDFA fiber amplifier (0.5–2 W)</a:t>
            </a:r>
            <a:endParaRPr lang="en-US" sz="1050" dirty="0"/>
          </a:p>
        </p:txBody>
      </p:sp>
      <p:sp>
        <p:nvSpPr>
          <p:cNvPr id="13" name="Shape 11"/>
          <p:cNvSpPr/>
          <p:nvPr/>
        </p:nvSpPr>
        <p:spPr>
          <a:xfrm>
            <a:off x="612648" y="3557016"/>
            <a:ext cx="128016" cy="128016"/>
          </a:xfrm>
          <a:prstGeom prst="ellipse">
            <a:avLst/>
          </a:prstGeom>
          <a:solidFill>
            <a:srgbClr val="7B5EF8"/>
          </a:solidFill>
          <a:ln w="12700">
            <a:solidFill>
              <a:srgbClr val="7B5EF8"/>
            </a:solidFill>
            <a:prstDash val="solid"/>
          </a:ln>
        </p:spPr>
      </p:sp>
      <p:sp>
        <p:nvSpPr>
          <p:cNvPr id="14" name="Text 12"/>
          <p:cNvSpPr/>
          <p:nvPr/>
        </p:nvSpPr>
        <p:spPr>
          <a:xfrm>
            <a:off x="813816" y="3493008"/>
            <a:ext cx="2176272" cy="45720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Beam expander — Galilean afocal</a:t>
            </a:r>
            <a:endParaRPr lang="en-US" sz="1050" dirty="0"/>
          </a:p>
        </p:txBody>
      </p:sp>
      <p:sp>
        <p:nvSpPr>
          <p:cNvPr id="15" name="Shape 13"/>
          <p:cNvSpPr/>
          <p:nvPr/>
        </p:nvSpPr>
        <p:spPr>
          <a:xfrm>
            <a:off x="612648" y="4087368"/>
            <a:ext cx="128016" cy="128016"/>
          </a:xfrm>
          <a:prstGeom prst="ellipse">
            <a:avLst/>
          </a:prstGeom>
          <a:solidFill>
            <a:srgbClr val="7B5EF8"/>
          </a:solidFill>
          <a:ln w="12700">
            <a:solidFill>
              <a:srgbClr val="7B5EF8"/>
            </a:solidFill>
            <a:prstDash val="solid"/>
          </a:ln>
        </p:spPr>
      </p:sp>
      <p:sp>
        <p:nvSpPr>
          <p:cNvPr id="16" name="Text 14"/>
          <p:cNvSpPr/>
          <p:nvPr/>
        </p:nvSpPr>
        <p:spPr>
          <a:xfrm>
            <a:off x="813816" y="4023360"/>
            <a:ext cx="2176272" cy="45720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Fine steering mirror (FSM)</a:t>
            </a:r>
            <a:endParaRPr lang="en-US" sz="1050" dirty="0"/>
          </a:p>
        </p:txBody>
      </p:sp>
      <p:sp>
        <p:nvSpPr>
          <p:cNvPr id="17" name="Shape 15"/>
          <p:cNvSpPr/>
          <p:nvPr/>
        </p:nvSpPr>
        <p:spPr>
          <a:xfrm>
            <a:off x="3337560" y="1280160"/>
            <a:ext cx="2743200" cy="3566160"/>
          </a:xfrm>
          <a:prstGeom prst="roundRect">
            <a:avLst>
              <a:gd name="adj" fmla="val 4000"/>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18" name="Shape 16"/>
          <p:cNvSpPr/>
          <p:nvPr/>
        </p:nvSpPr>
        <p:spPr>
          <a:xfrm>
            <a:off x="3337560" y="1280160"/>
            <a:ext cx="2743200" cy="502920"/>
          </a:xfrm>
          <a:prstGeom prst="roundRect">
            <a:avLst>
              <a:gd name="adj" fmla="val 21818"/>
            </a:avLst>
          </a:prstGeom>
          <a:solidFill>
            <a:srgbClr val="00C8FF">
              <a:alpha val="80000"/>
            </a:srgbClr>
          </a:solidFill>
          <a:ln w="12700">
            <a:solidFill>
              <a:srgbClr val="00C8FF"/>
            </a:solidFill>
            <a:prstDash val="solid"/>
          </a:ln>
        </p:spPr>
      </p:sp>
      <p:sp>
        <p:nvSpPr>
          <p:cNvPr id="19" name="Text 17"/>
          <p:cNvSpPr/>
          <p:nvPr/>
        </p:nvSpPr>
        <p:spPr>
          <a:xfrm>
            <a:off x="3337560" y="1280160"/>
            <a:ext cx="2743200" cy="502920"/>
          </a:xfrm>
          <a:prstGeom prst="rect">
            <a:avLst/>
          </a:prstGeom>
          <a:noFill/>
          <a:ln/>
        </p:spPr>
        <p:txBody>
          <a:bodyPr wrap="square" lIns="0" tIns="0" rIns="0" bIns="0" rtlCol="0" anchor="ctr"/>
          <a:lstStyle/>
          <a:p>
            <a:pPr algn="ctr" indent="0" marL="0">
              <a:buNone/>
            </a:pPr>
            <a:r>
              <a:rPr lang="en-US" sz="1400" b="1" dirty="0">
                <a:solidFill>
                  <a:srgbClr val="0A0F2C"/>
                </a:solidFill>
              </a:rPr>
              <a:t>RX Chain</a:t>
            </a:r>
            <a:endParaRPr lang="en-US" sz="1400" dirty="0"/>
          </a:p>
        </p:txBody>
      </p:sp>
      <p:sp>
        <p:nvSpPr>
          <p:cNvPr id="20" name="Shape 18"/>
          <p:cNvSpPr/>
          <p:nvPr/>
        </p:nvSpPr>
        <p:spPr>
          <a:xfrm>
            <a:off x="3538728" y="1965960"/>
            <a:ext cx="128016" cy="128016"/>
          </a:xfrm>
          <a:prstGeom prst="ellipse">
            <a:avLst/>
          </a:prstGeom>
          <a:solidFill>
            <a:srgbClr val="00C8FF"/>
          </a:solidFill>
          <a:ln w="12700">
            <a:solidFill>
              <a:srgbClr val="00C8FF"/>
            </a:solidFill>
            <a:prstDash val="solid"/>
          </a:ln>
        </p:spPr>
      </p:sp>
      <p:sp>
        <p:nvSpPr>
          <p:cNvPr id="21" name="Text 19"/>
          <p:cNvSpPr/>
          <p:nvPr/>
        </p:nvSpPr>
        <p:spPr>
          <a:xfrm>
            <a:off x="3739896" y="1901952"/>
            <a:ext cx="2176272" cy="45720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Cassegrain or Dall-Kirkham telescope</a:t>
            </a:r>
            <a:endParaRPr lang="en-US" sz="1050" dirty="0"/>
          </a:p>
        </p:txBody>
      </p:sp>
      <p:sp>
        <p:nvSpPr>
          <p:cNvPr id="22" name="Shape 20"/>
          <p:cNvSpPr/>
          <p:nvPr/>
        </p:nvSpPr>
        <p:spPr>
          <a:xfrm>
            <a:off x="3538728" y="2496312"/>
            <a:ext cx="128016" cy="128016"/>
          </a:xfrm>
          <a:prstGeom prst="ellipse">
            <a:avLst/>
          </a:prstGeom>
          <a:solidFill>
            <a:srgbClr val="00C8FF"/>
          </a:solidFill>
          <a:ln w="12700">
            <a:solidFill>
              <a:srgbClr val="00C8FF"/>
            </a:solidFill>
            <a:prstDash val="solid"/>
          </a:ln>
        </p:spPr>
      </p:sp>
      <p:sp>
        <p:nvSpPr>
          <p:cNvPr id="23" name="Text 21"/>
          <p:cNvSpPr/>
          <p:nvPr/>
        </p:nvSpPr>
        <p:spPr>
          <a:xfrm>
            <a:off x="3739896" y="2432304"/>
            <a:ext cx="2176272" cy="45720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Narrowband bandpass filter (0.3–1 nm)</a:t>
            </a:r>
            <a:endParaRPr lang="en-US" sz="1050" dirty="0"/>
          </a:p>
        </p:txBody>
      </p:sp>
      <p:sp>
        <p:nvSpPr>
          <p:cNvPr id="24" name="Shape 22"/>
          <p:cNvSpPr/>
          <p:nvPr/>
        </p:nvSpPr>
        <p:spPr>
          <a:xfrm>
            <a:off x="3538728" y="3026664"/>
            <a:ext cx="128016" cy="128016"/>
          </a:xfrm>
          <a:prstGeom prst="ellipse">
            <a:avLst/>
          </a:prstGeom>
          <a:solidFill>
            <a:srgbClr val="00C8FF"/>
          </a:solidFill>
          <a:ln w="12700">
            <a:solidFill>
              <a:srgbClr val="00C8FF"/>
            </a:solidFill>
            <a:prstDash val="solid"/>
          </a:ln>
        </p:spPr>
      </p:sp>
      <p:sp>
        <p:nvSpPr>
          <p:cNvPr id="25" name="Text 23"/>
          <p:cNvSpPr/>
          <p:nvPr/>
        </p:nvSpPr>
        <p:spPr>
          <a:xfrm>
            <a:off x="3739896" y="2962656"/>
            <a:ext cx="2176272" cy="45720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InGaAs APD or SNSPD detector</a:t>
            </a:r>
            <a:endParaRPr lang="en-US" sz="1050" dirty="0"/>
          </a:p>
        </p:txBody>
      </p:sp>
      <p:sp>
        <p:nvSpPr>
          <p:cNvPr id="26" name="Shape 24"/>
          <p:cNvSpPr/>
          <p:nvPr/>
        </p:nvSpPr>
        <p:spPr>
          <a:xfrm>
            <a:off x="3538728" y="3557016"/>
            <a:ext cx="128016" cy="128016"/>
          </a:xfrm>
          <a:prstGeom prst="ellipse">
            <a:avLst/>
          </a:prstGeom>
          <a:solidFill>
            <a:srgbClr val="00C8FF"/>
          </a:solidFill>
          <a:ln w="12700">
            <a:solidFill>
              <a:srgbClr val="00C8FF"/>
            </a:solidFill>
            <a:prstDash val="solid"/>
          </a:ln>
        </p:spPr>
      </p:sp>
      <p:sp>
        <p:nvSpPr>
          <p:cNvPr id="27" name="Text 25"/>
          <p:cNvSpPr/>
          <p:nvPr/>
        </p:nvSpPr>
        <p:spPr>
          <a:xfrm>
            <a:off x="3739896" y="3493008"/>
            <a:ext cx="2176272" cy="45720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Transimpedance amplifier (TIA)</a:t>
            </a:r>
            <a:endParaRPr lang="en-US" sz="1050" dirty="0"/>
          </a:p>
        </p:txBody>
      </p:sp>
      <p:sp>
        <p:nvSpPr>
          <p:cNvPr id="28" name="Shape 26"/>
          <p:cNvSpPr/>
          <p:nvPr/>
        </p:nvSpPr>
        <p:spPr>
          <a:xfrm>
            <a:off x="3538728" y="4087368"/>
            <a:ext cx="128016" cy="128016"/>
          </a:xfrm>
          <a:prstGeom prst="ellipse">
            <a:avLst/>
          </a:prstGeom>
          <a:solidFill>
            <a:srgbClr val="00C8FF"/>
          </a:solidFill>
          <a:ln w="12700">
            <a:solidFill>
              <a:srgbClr val="00C8FF"/>
            </a:solidFill>
            <a:prstDash val="solid"/>
          </a:ln>
        </p:spPr>
      </p:sp>
      <p:sp>
        <p:nvSpPr>
          <p:cNvPr id="29" name="Text 27"/>
          <p:cNvSpPr/>
          <p:nvPr/>
        </p:nvSpPr>
        <p:spPr>
          <a:xfrm>
            <a:off x="3739896" y="4023360"/>
            <a:ext cx="2176272" cy="45720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DSP demodulator + FEC decoder</a:t>
            </a:r>
            <a:endParaRPr lang="en-US" sz="1050" dirty="0"/>
          </a:p>
        </p:txBody>
      </p:sp>
      <p:sp>
        <p:nvSpPr>
          <p:cNvPr id="30" name="Shape 28"/>
          <p:cNvSpPr/>
          <p:nvPr/>
        </p:nvSpPr>
        <p:spPr>
          <a:xfrm>
            <a:off x="6263640" y="1280160"/>
            <a:ext cx="2743200" cy="3566160"/>
          </a:xfrm>
          <a:prstGeom prst="roundRect">
            <a:avLst>
              <a:gd name="adj" fmla="val 4000"/>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31" name="Shape 29"/>
          <p:cNvSpPr/>
          <p:nvPr/>
        </p:nvSpPr>
        <p:spPr>
          <a:xfrm>
            <a:off x="6263640" y="1280160"/>
            <a:ext cx="2743200" cy="502920"/>
          </a:xfrm>
          <a:prstGeom prst="roundRect">
            <a:avLst>
              <a:gd name="adj" fmla="val 21818"/>
            </a:avLst>
          </a:prstGeom>
          <a:solidFill>
            <a:srgbClr val="00E5C0">
              <a:alpha val="80000"/>
            </a:srgbClr>
          </a:solidFill>
          <a:ln w="12700">
            <a:solidFill>
              <a:srgbClr val="00E5C0"/>
            </a:solidFill>
            <a:prstDash val="solid"/>
          </a:ln>
        </p:spPr>
      </p:sp>
      <p:sp>
        <p:nvSpPr>
          <p:cNvPr id="32" name="Text 30"/>
          <p:cNvSpPr/>
          <p:nvPr/>
        </p:nvSpPr>
        <p:spPr>
          <a:xfrm>
            <a:off x="6263640" y="1280160"/>
            <a:ext cx="2743200" cy="502920"/>
          </a:xfrm>
          <a:prstGeom prst="rect">
            <a:avLst/>
          </a:prstGeom>
          <a:noFill/>
          <a:ln/>
        </p:spPr>
        <p:txBody>
          <a:bodyPr wrap="square" lIns="0" tIns="0" rIns="0" bIns="0" rtlCol="0" anchor="ctr"/>
          <a:lstStyle/>
          <a:p>
            <a:pPr algn="ctr" indent="0" marL="0">
              <a:buNone/>
            </a:pPr>
            <a:r>
              <a:rPr lang="en-US" sz="1400" b="1" dirty="0">
                <a:solidFill>
                  <a:srgbClr val="0A0F2C"/>
                </a:solidFill>
              </a:rPr>
              <a:t>PAT Subsystem</a:t>
            </a:r>
            <a:endParaRPr lang="en-US" sz="1400" dirty="0"/>
          </a:p>
        </p:txBody>
      </p:sp>
      <p:sp>
        <p:nvSpPr>
          <p:cNvPr id="33" name="Shape 31"/>
          <p:cNvSpPr/>
          <p:nvPr/>
        </p:nvSpPr>
        <p:spPr>
          <a:xfrm>
            <a:off x="6464808" y="1965960"/>
            <a:ext cx="128016" cy="128016"/>
          </a:xfrm>
          <a:prstGeom prst="ellipse">
            <a:avLst/>
          </a:prstGeom>
          <a:solidFill>
            <a:srgbClr val="00E5C0"/>
          </a:solidFill>
          <a:ln w="12700">
            <a:solidFill>
              <a:srgbClr val="00E5C0"/>
            </a:solidFill>
            <a:prstDash val="solid"/>
          </a:ln>
        </p:spPr>
      </p:sp>
      <p:sp>
        <p:nvSpPr>
          <p:cNvPr id="34" name="Text 32"/>
          <p:cNvSpPr/>
          <p:nvPr/>
        </p:nvSpPr>
        <p:spPr>
          <a:xfrm>
            <a:off x="6665976" y="1901952"/>
            <a:ext cx="2176272" cy="45720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2-axis coarse gimbal (±20–60°)</a:t>
            </a:r>
            <a:endParaRPr lang="en-US" sz="1050" dirty="0"/>
          </a:p>
        </p:txBody>
      </p:sp>
      <p:sp>
        <p:nvSpPr>
          <p:cNvPr id="35" name="Shape 33"/>
          <p:cNvSpPr/>
          <p:nvPr/>
        </p:nvSpPr>
        <p:spPr>
          <a:xfrm>
            <a:off x="6464808" y="2496312"/>
            <a:ext cx="128016" cy="128016"/>
          </a:xfrm>
          <a:prstGeom prst="ellipse">
            <a:avLst/>
          </a:prstGeom>
          <a:solidFill>
            <a:srgbClr val="00E5C0"/>
          </a:solidFill>
          <a:ln w="12700">
            <a:solidFill>
              <a:srgbClr val="00E5C0"/>
            </a:solidFill>
            <a:prstDash val="solid"/>
          </a:ln>
        </p:spPr>
      </p:sp>
      <p:sp>
        <p:nvSpPr>
          <p:cNvPr id="36" name="Text 34"/>
          <p:cNvSpPr/>
          <p:nvPr/>
        </p:nvSpPr>
        <p:spPr>
          <a:xfrm>
            <a:off x="6665976" y="2432304"/>
            <a:ext cx="2176272" cy="45720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4-QD / CMOS beacon detector</a:t>
            </a:r>
            <a:endParaRPr lang="en-US" sz="1050" dirty="0"/>
          </a:p>
        </p:txBody>
      </p:sp>
      <p:sp>
        <p:nvSpPr>
          <p:cNvPr id="37" name="Shape 35"/>
          <p:cNvSpPr/>
          <p:nvPr/>
        </p:nvSpPr>
        <p:spPr>
          <a:xfrm>
            <a:off x="6464808" y="3026664"/>
            <a:ext cx="128016" cy="128016"/>
          </a:xfrm>
          <a:prstGeom prst="ellipse">
            <a:avLst/>
          </a:prstGeom>
          <a:solidFill>
            <a:srgbClr val="00E5C0"/>
          </a:solidFill>
          <a:ln w="12700">
            <a:solidFill>
              <a:srgbClr val="00E5C0"/>
            </a:solidFill>
            <a:prstDash val="solid"/>
          </a:ln>
        </p:spPr>
      </p:sp>
      <p:sp>
        <p:nvSpPr>
          <p:cNvPr id="38" name="Text 36"/>
          <p:cNvSpPr/>
          <p:nvPr/>
        </p:nvSpPr>
        <p:spPr>
          <a:xfrm>
            <a:off x="6665976" y="2962656"/>
            <a:ext cx="2176272" cy="45720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FSM controller — PID + notch</a:t>
            </a:r>
            <a:endParaRPr lang="en-US" sz="1050" dirty="0"/>
          </a:p>
        </p:txBody>
      </p:sp>
      <p:sp>
        <p:nvSpPr>
          <p:cNvPr id="39" name="Shape 37"/>
          <p:cNvSpPr/>
          <p:nvPr/>
        </p:nvSpPr>
        <p:spPr>
          <a:xfrm>
            <a:off x="6464808" y="3557016"/>
            <a:ext cx="128016" cy="128016"/>
          </a:xfrm>
          <a:prstGeom prst="ellipse">
            <a:avLst/>
          </a:prstGeom>
          <a:solidFill>
            <a:srgbClr val="00E5C0"/>
          </a:solidFill>
          <a:ln w="12700">
            <a:solidFill>
              <a:srgbClr val="00E5C0"/>
            </a:solidFill>
            <a:prstDash val="solid"/>
          </a:ln>
        </p:spPr>
      </p:sp>
      <p:sp>
        <p:nvSpPr>
          <p:cNvPr id="40" name="Text 38"/>
          <p:cNvSpPr/>
          <p:nvPr/>
        </p:nvSpPr>
        <p:spPr>
          <a:xfrm>
            <a:off x="6665976" y="3493008"/>
            <a:ext cx="2176272" cy="45720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Kalman state estimator</a:t>
            </a:r>
            <a:endParaRPr lang="en-US" sz="1050" dirty="0"/>
          </a:p>
        </p:txBody>
      </p:sp>
      <p:sp>
        <p:nvSpPr>
          <p:cNvPr id="41" name="Shape 39"/>
          <p:cNvSpPr/>
          <p:nvPr/>
        </p:nvSpPr>
        <p:spPr>
          <a:xfrm>
            <a:off x="6464808" y="4087368"/>
            <a:ext cx="128016" cy="128016"/>
          </a:xfrm>
          <a:prstGeom prst="ellipse">
            <a:avLst/>
          </a:prstGeom>
          <a:solidFill>
            <a:srgbClr val="00E5C0"/>
          </a:solidFill>
          <a:ln w="12700">
            <a:solidFill>
              <a:srgbClr val="00E5C0"/>
            </a:solidFill>
            <a:prstDash val="solid"/>
          </a:ln>
        </p:spPr>
      </p:sp>
      <p:sp>
        <p:nvSpPr>
          <p:cNvPr id="42" name="Text 40"/>
          <p:cNvSpPr/>
          <p:nvPr/>
        </p:nvSpPr>
        <p:spPr>
          <a:xfrm>
            <a:off x="6665976" y="4023360"/>
            <a:ext cx="2176272" cy="45720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Acquisition scan algorithm</a:t>
            </a:r>
            <a:endParaRPr lang="en-US" sz="1050" dirty="0"/>
          </a:p>
        </p:txBody>
      </p:sp>
      <p:sp>
        <p:nvSpPr>
          <p:cNvPr id="43" name="Text 41"/>
          <p:cNvSpPr/>
          <p:nvPr/>
        </p:nvSpPr>
        <p:spPr>
          <a:xfrm>
            <a:off x="457200" y="4709160"/>
            <a:ext cx="8229600" cy="347472"/>
          </a:xfrm>
          <a:prstGeom prst="rect">
            <a:avLst/>
          </a:prstGeom>
          <a:noFill/>
          <a:ln/>
        </p:spPr>
        <p:txBody>
          <a:bodyPr wrap="square" rtlCol="0" anchor="ctr"/>
          <a:lstStyle/>
          <a:p>
            <a:pPr algn="ctr" indent="0" marL="0">
              <a:buNone/>
            </a:pPr>
            <a:r>
              <a:rPr lang="en-US" sz="1100" i="1" dirty="0">
                <a:solidFill>
                  <a:srgbClr val="A8B8D8"/>
                </a:solidFill>
                <a:latin typeface="Calibri" pitchFamily="34" charset="0"/>
                <a:ea typeface="Calibri" pitchFamily="34" charset="-122"/>
                <a:cs typeface="Calibri" pitchFamily="34" charset="-120"/>
              </a:rPr>
              <a:t>FSM is shared between TX pointing and PAT tracking loop — the actuator that steers the beam also closes the error correction feedback.</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F2C"/>
        </a:solidFill>
      </p:bgPr>
    </p:bg>
    <p:spTree>
      <p:nvGrpSpPr>
        <p:cNvPr id="1" name=""/>
        <p:cNvGrpSpPr/>
        <p:nvPr/>
      </p:nvGrpSpPr>
      <p:grpSpPr>
        <a:xfrm>
          <a:off x="0" y="0"/>
          <a:ext cx="0" cy="0"/>
          <a:chOff x="0" y="0"/>
          <a:chExt cx="0" cy="0"/>
        </a:xfrm>
      </p:grpSpPr>
      <p:sp>
        <p:nvSpPr>
          <p:cNvPr id="2" name="Shape 0"/>
          <p:cNvSpPr/>
          <p:nvPr/>
        </p:nvSpPr>
        <p:spPr>
          <a:xfrm>
            <a:off x="7315200" y="3200400"/>
            <a:ext cx="3200400" cy="3200400"/>
          </a:xfrm>
          <a:prstGeom prst="ellipse">
            <a:avLst/>
          </a:prstGeom>
          <a:solidFill>
            <a:srgbClr val="7B5EF8">
              <a:alpha val="10000"/>
            </a:srgbClr>
          </a:solidFill>
          <a:ln w="6350">
            <a:solidFill>
              <a:srgbClr val="7B5EF8">
                <a:alpha val="20000"/>
              </a:srgbClr>
            </a:solidFill>
            <a:prstDash val="solid"/>
          </a:ln>
        </p:spPr>
      </p:sp>
      <p:sp>
        <p:nvSpPr>
          <p:cNvPr id="3" name="Text 1"/>
          <p:cNvSpPr/>
          <p:nvPr/>
        </p:nvSpPr>
        <p:spPr>
          <a:xfrm>
            <a:off x="457200" y="256032"/>
            <a:ext cx="3657600" cy="274320"/>
          </a:xfrm>
          <a:prstGeom prst="rect">
            <a:avLst/>
          </a:prstGeom>
          <a:noFill/>
          <a:ln/>
        </p:spPr>
        <p:txBody>
          <a:bodyPr wrap="square" rtlCol="0" anchor="ctr"/>
          <a:lstStyle/>
          <a:p>
            <a:pPr indent="0" marL="0">
              <a:buNone/>
            </a:pPr>
            <a:r>
              <a:rPr lang="en-US" sz="900" b="1" spc="300" kern="0" dirty="0">
                <a:solidFill>
                  <a:srgbClr val="00C8FF"/>
                </a:solidFill>
              </a:rPr>
              <a:t>OPTICAL COMPONENTS — I</a:t>
            </a:r>
            <a:endParaRPr lang="en-US" sz="900" dirty="0"/>
          </a:p>
        </p:txBody>
      </p:sp>
      <p:sp>
        <p:nvSpPr>
          <p:cNvPr id="4" name="Text 2"/>
          <p:cNvSpPr/>
          <p:nvPr/>
        </p:nvSpPr>
        <p:spPr>
          <a:xfrm>
            <a:off x="457200" y="530352"/>
            <a:ext cx="7772400" cy="5943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Laser Source &amp; Modulator</a:t>
            </a:r>
            <a:endParaRPr lang="en-US" sz="3200" dirty="0"/>
          </a:p>
        </p:txBody>
      </p:sp>
      <p:sp>
        <p:nvSpPr>
          <p:cNvPr id="5" name="Shape 3"/>
          <p:cNvSpPr/>
          <p:nvPr/>
        </p:nvSpPr>
        <p:spPr>
          <a:xfrm>
            <a:off x="457200" y="1280160"/>
            <a:ext cx="3977640" cy="3520440"/>
          </a:xfrm>
          <a:prstGeom prst="roundRect">
            <a:avLst>
              <a:gd name="adj" fmla="val 3117"/>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6" name="Text 4"/>
          <p:cNvSpPr/>
          <p:nvPr/>
        </p:nvSpPr>
        <p:spPr>
          <a:xfrm>
            <a:off x="594360" y="1389888"/>
            <a:ext cx="3657600" cy="347472"/>
          </a:xfrm>
          <a:prstGeom prst="rect">
            <a:avLst/>
          </a:prstGeom>
          <a:noFill/>
          <a:ln/>
        </p:spPr>
        <p:txBody>
          <a:bodyPr wrap="square" rtlCol="0" anchor="ctr"/>
          <a:lstStyle/>
          <a:p>
            <a:pPr indent="0" marL="0">
              <a:buNone/>
            </a:pPr>
            <a:r>
              <a:rPr lang="en-US" sz="1300" b="1" dirty="0">
                <a:solidFill>
                  <a:srgbClr val="00C8FF"/>
                </a:solidFill>
                <a:latin typeface="Calibri" pitchFamily="34" charset="0"/>
                <a:ea typeface="Calibri" pitchFamily="34" charset="-122"/>
                <a:cs typeface="Calibri" pitchFamily="34" charset="-120"/>
              </a:rPr>
              <a:t>Laser Source — MOPA Architecture</a:t>
            </a:r>
            <a:endParaRPr lang="en-US" sz="1300" dirty="0"/>
          </a:p>
        </p:txBody>
      </p:sp>
      <p:sp>
        <p:nvSpPr>
          <p:cNvPr id="7" name="Text 5"/>
          <p:cNvSpPr/>
          <p:nvPr/>
        </p:nvSpPr>
        <p:spPr>
          <a:xfrm>
            <a:off x="594360" y="1847088"/>
            <a:ext cx="1417320" cy="365760"/>
          </a:xfrm>
          <a:prstGeom prst="rect">
            <a:avLst/>
          </a:prstGeom>
          <a:noFill/>
          <a:ln/>
        </p:spPr>
        <p:txBody>
          <a:bodyPr wrap="square" rtlCol="0" anchor="ctr"/>
          <a:lstStyle/>
          <a:p>
            <a:pPr indent="0" marL="0">
              <a:buNone/>
            </a:pPr>
            <a:r>
              <a:rPr lang="en-US" sz="1050" b="1" dirty="0">
                <a:solidFill>
                  <a:srgbClr val="A8B8D8"/>
                </a:solidFill>
                <a:latin typeface="Calibri" pitchFamily="34" charset="0"/>
                <a:ea typeface="Calibri" pitchFamily="34" charset="-122"/>
                <a:cs typeface="Calibri" pitchFamily="34" charset="-120"/>
              </a:rPr>
              <a:t>Wavelength</a:t>
            </a:r>
            <a:endParaRPr lang="en-US" sz="1050" dirty="0"/>
          </a:p>
        </p:txBody>
      </p:sp>
      <p:sp>
        <p:nvSpPr>
          <p:cNvPr id="8" name="Text 6"/>
          <p:cNvSpPr/>
          <p:nvPr/>
        </p:nvSpPr>
        <p:spPr>
          <a:xfrm>
            <a:off x="2029968" y="1847088"/>
            <a:ext cx="2240280" cy="3657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1550 nm (eye-safe, EDFA band)</a:t>
            </a:r>
            <a:endParaRPr lang="en-US" sz="1050" dirty="0"/>
          </a:p>
        </p:txBody>
      </p:sp>
      <p:sp>
        <p:nvSpPr>
          <p:cNvPr id="9" name="Text 7"/>
          <p:cNvSpPr/>
          <p:nvPr/>
        </p:nvSpPr>
        <p:spPr>
          <a:xfrm>
            <a:off x="594360" y="2267712"/>
            <a:ext cx="1417320" cy="365760"/>
          </a:xfrm>
          <a:prstGeom prst="rect">
            <a:avLst/>
          </a:prstGeom>
          <a:noFill/>
          <a:ln/>
        </p:spPr>
        <p:txBody>
          <a:bodyPr wrap="square" rtlCol="0" anchor="ctr"/>
          <a:lstStyle/>
          <a:p>
            <a:pPr indent="0" marL="0">
              <a:buNone/>
            </a:pPr>
            <a:r>
              <a:rPr lang="en-US" sz="1050" b="1" dirty="0">
                <a:solidFill>
                  <a:srgbClr val="A8B8D8"/>
                </a:solidFill>
                <a:latin typeface="Calibri" pitchFamily="34" charset="0"/>
                <a:ea typeface="Calibri" pitchFamily="34" charset="-122"/>
                <a:cs typeface="Calibri" pitchFamily="34" charset="-120"/>
              </a:rPr>
              <a:t>Seed laser</a:t>
            </a:r>
            <a:endParaRPr lang="en-US" sz="1050" dirty="0"/>
          </a:p>
        </p:txBody>
      </p:sp>
      <p:sp>
        <p:nvSpPr>
          <p:cNvPr id="10" name="Text 8"/>
          <p:cNvSpPr/>
          <p:nvPr/>
        </p:nvSpPr>
        <p:spPr>
          <a:xfrm>
            <a:off x="2029968" y="2267712"/>
            <a:ext cx="2240280" cy="3657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DFB — linewidth &lt; 100 kHz</a:t>
            </a:r>
            <a:endParaRPr lang="en-US" sz="1050" dirty="0"/>
          </a:p>
        </p:txBody>
      </p:sp>
      <p:sp>
        <p:nvSpPr>
          <p:cNvPr id="11" name="Text 9"/>
          <p:cNvSpPr/>
          <p:nvPr/>
        </p:nvSpPr>
        <p:spPr>
          <a:xfrm>
            <a:off x="594360" y="2688336"/>
            <a:ext cx="1417320" cy="365760"/>
          </a:xfrm>
          <a:prstGeom prst="rect">
            <a:avLst/>
          </a:prstGeom>
          <a:noFill/>
          <a:ln/>
        </p:spPr>
        <p:txBody>
          <a:bodyPr wrap="square" rtlCol="0" anchor="ctr"/>
          <a:lstStyle/>
          <a:p>
            <a:pPr indent="0" marL="0">
              <a:buNone/>
            </a:pPr>
            <a:r>
              <a:rPr lang="en-US" sz="1050" b="1" dirty="0">
                <a:solidFill>
                  <a:srgbClr val="A8B8D8"/>
                </a:solidFill>
                <a:latin typeface="Calibri" pitchFamily="34" charset="0"/>
                <a:ea typeface="Calibri" pitchFamily="34" charset="-122"/>
                <a:cs typeface="Calibri" pitchFamily="34" charset="-120"/>
              </a:rPr>
              <a:t>Output power</a:t>
            </a:r>
            <a:endParaRPr lang="en-US" sz="1050" dirty="0"/>
          </a:p>
        </p:txBody>
      </p:sp>
      <p:sp>
        <p:nvSpPr>
          <p:cNvPr id="12" name="Text 10"/>
          <p:cNvSpPr/>
          <p:nvPr/>
        </p:nvSpPr>
        <p:spPr>
          <a:xfrm>
            <a:off x="2029968" y="2688336"/>
            <a:ext cx="2240280" cy="3657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10–40 mW seed → 0.5–5 W via EDFA</a:t>
            </a:r>
            <a:endParaRPr lang="en-US" sz="1050" dirty="0"/>
          </a:p>
        </p:txBody>
      </p:sp>
      <p:sp>
        <p:nvSpPr>
          <p:cNvPr id="13" name="Text 11"/>
          <p:cNvSpPr/>
          <p:nvPr/>
        </p:nvSpPr>
        <p:spPr>
          <a:xfrm>
            <a:off x="594360" y="3108960"/>
            <a:ext cx="1417320" cy="365760"/>
          </a:xfrm>
          <a:prstGeom prst="rect">
            <a:avLst/>
          </a:prstGeom>
          <a:noFill/>
          <a:ln/>
        </p:spPr>
        <p:txBody>
          <a:bodyPr wrap="square" rtlCol="0" anchor="ctr"/>
          <a:lstStyle/>
          <a:p>
            <a:pPr indent="0" marL="0">
              <a:buNone/>
            </a:pPr>
            <a:r>
              <a:rPr lang="en-US" sz="1050" b="1" dirty="0">
                <a:solidFill>
                  <a:srgbClr val="A8B8D8"/>
                </a:solidFill>
                <a:latin typeface="Calibri" pitchFamily="34" charset="0"/>
                <a:ea typeface="Calibri" pitchFamily="34" charset="-122"/>
                <a:cs typeface="Calibri" pitchFamily="34" charset="-120"/>
              </a:rPr>
              <a:t>Coherence</a:t>
            </a:r>
            <a:endParaRPr lang="en-US" sz="1050" dirty="0"/>
          </a:p>
        </p:txBody>
      </p:sp>
      <p:sp>
        <p:nvSpPr>
          <p:cNvPr id="14" name="Text 12"/>
          <p:cNvSpPr/>
          <p:nvPr/>
        </p:nvSpPr>
        <p:spPr>
          <a:xfrm>
            <a:off x="2029968" y="3108960"/>
            <a:ext cx="2240280" cy="3657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Long coherence length for coherent Rx</a:t>
            </a:r>
            <a:endParaRPr lang="en-US" sz="1050" dirty="0"/>
          </a:p>
        </p:txBody>
      </p:sp>
      <p:sp>
        <p:nvSpPr>
          <p:cNvPr id="15" name="Text 13"/>
          <p:cNvSpPr/>
          <p:nvPr/>
        </p:nvSpPr>
        <p:spPr>
          <a:xfrm>
            <a:off x="594360" y="3529584"/>
            <a:ext cx="1417320" cy="365760"/>
          </a:xfrm>
          <a:prstGeom prst="rect">
            <a:avLst/>
          </a:prstGeom>
          <a:noFill/>
          <a:ln/>
        </p:spPr>
        <p:txBody>
          <a:bodyPr wrap="square" rtlCol="0" anchor="ctr"/>
          <a:lstStyle/>
          <a:p>
            <a:pPr indent="0" marL="0">
              <a:buNone/>
            </a:pPr>
            <a:r>
              <a:rPr lang="en-US" sz="1050" b="1" dirty="0">
                <a:solidFill>
                  <a:srgbClr val="A8B8D8"/>
                </a:solidFill>
                <a:latin typeface="Calibri" pitchFamily="34" charset="0"/>
                <a:ea typeface="Calibri" pitchFamily="34" charset="-122"/>
                <a:cs typeface="Calibri" pitchFamily="34" charset="-120"/>
              </a:rPr>
              <a:t>Polarization</a:t>
            </a:r>
            <a:endParaRPr lang="en-US" sz="1050" dirty="0"/>
          </a:p>
        </p:txBody>
      </p:sp>
      <p:sp>
        <p:nvSpPr>
          <p:cNvPr id="16" name="Text 14"/>
          <p:cNvSpPr/>
          <p:nvPr/>
        </p:nvSpPr>
        <p:spPr>
          <a:xfrm>
            <a:off x="2029968" y="3529584"/>
            <a:ext cx="2240280" cy="3657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Linear — required for MZM modulator</a:t>
            </a:r>
            <a:endParaRPr lang="en-US" sz="1050" dirty="0"/>
          </a:p>
        </p:txBody>
      </p:sp>
      <p:sp>
        <p:nvSpPr>
          <p:cNvPr id="17" name="Text 15"/>
          <p:cNvSpPr/>
          <p:nvPr/>
        </p:nvSpPr>
        <p:spPr>
          <a:xfrm>
            <a:off x="594360" y="3950208"/>
            <a:ext cx="1417320" cy="365760"/>
          </a:xfrm>
          <a:prstGeom prst="rect">
            <a:avLst/>
          </a:prstGeom>
          <a:noFill/>
          <a:ln/>
        </p:spPr>
        <p:txBody>
          <a:bodyPr wrap="square" rtlCol="0" anchor="ctr"/>
          <a:lstStyle/>
          <a:p>
            <a:pPr indent="0" marL="0">
              <a:buNone/>
            </a:pPr>
            <a:r>
              <a:rPr lang="en-US" sz="1050" b="1" dirty="0">
                <a:solidFill>
                  <a:srgbClr val="A8B8D8"/>
                </a:solidFill>
                <a:latin typeface="Calibri" pitchFamily="34" charset="0"/>
                <a:ea typeface="Calibri" pitchFamily="34" charset="-122"/>
                <a:cs typeface="Calibri" pitchFamily="34" charset="-120"/>
              </a:rPr>
              <a:t>RIN spec</a:t>
            </a:r>
            <a:endParaRPr lang="en-US" sz="1050" dirty="0"/>
          </a:p>
        </p:txBody>
      </p:sp>
      <p:sp>
        <p:nvSpPr>
          <p:cNvPr id="18" name="Text 16"/>
          <p:cNvSpPr/>
          <p:nvPr/>
        </p:nvSpPr>
        <p:spPr>
          <a:xfrm>
            <a:off x="2029968" y="3950208"/>
            <a:ext cx="2240280" cy="3657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&lt; −150 dB/Hz for high-SNR links</a:t>
            </a:r>
            <a:endParaRPr lang="en-US" sz="1050" dirty="0"/>
          </a:p>
        </p:txBody>
      </p:sp>
      <p:sp>
        <p:nvSpPr>
          <p:cNvPr id="19" name="Text 17"/>
          <p:cNvSpPr/>
          <p:nvPr/>
        </p:nvSpPr>
        <p:spPr>
          <a:xfrm>
            <a:off x="594360" y="4370832"/>
            <a:ext cx="1417320" cy="365760"/>
          </a:xfrm>
          <a:prstGeom prst="rect">
            <a:avLst/>
          </a:prstGeom>
          <a:noFill/>
          <a:ln/>
        </p:spPr>
        <p:txBody>
          <a:bodyPr wrap="square" rtlCol="0" anchor="ctr"/>
          <a:lstStyle/>
          <a:p>
            <a:pPr indent="0" marL="0">
              <a:buNone/>
            </a:pPr>
            <a:r>
              <a:rPr lang="en-US" sz="1050" b="1" dirty="0">
                <a:solidFill>
                  <a:srgbClr val="A8B8D8"/>
                </a:solidFill>
                <a:latin typeface="Calibri" pitchFamily="34" charset="0"/>
                <a:ea typeface="Calibri" pitchFamily="34" charset="-122"/>
                <a:cs typeface="Calibri" pitchFamily="34" charset="-120"/>
              </a:rPr>
              <a:t>Space qual.</a:t>
            </a:r>
            <a:endParaRPr lang="en-US" sz="1050" dirty="0"/>
          </a:p>
        </p:txBody>
      </p:sp>
      <p:sp>
        <p:nvSpPr>
          <p:cNvPr id="20" name="Text 18"/>
          <p:cNvSpPr/>
          <p:nvPr/>
        </p:nvSpPr>
        <p:spPr>
          <a:xfrm>
            <a:off x="2029968" y="4370832"/>
            <a:ext cx="2240280" cy="3657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Radiation-hardened Er-doped fiber</a:t>
            </a:r>
            <a:endParaRPr lang="en-US" sz="1050" dirty="0"/>
          </a:p>
        </p:txBody>
      </p:sp>
      <p:sp>
        <p:nvSpPr>
          <p:cNvPr id="21" name="Shape 19"/>
          <p:cNvSpPr/>
          <p:nvPr/>
        </p:nvSpPr>
        <p:spPr>
          <a:xfrm>
            <a:off x="4709160" y="1280160"/>
            <a:ext cx="3977640" cy="3520440"/>
          </a:xfrm>
          <a:prstGeom prst="roundRect">
            <a:avLst>
              <a:gd name="adj" fmla="val 3117"/>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22" name="Text 20"/>
          <p:cNvSpPr/>
          <p:nvPr/>
        </p:nvSpPr>
        <p:spPr>
          <a:xfrm>
            <a:off x="4846320" y="1389888"/>
            <a:ext cx="3657600" cy="347472"/>
          </a:xfrm>
          <a:prstGeom prst="rect">
            <a:avLst/>
          </a:prstGeom>
          <a:noFill/>
          <a:ln/>
        </p:spPr>
        <p:txBody>
          <a:bodyPr wrap="square" rtlCol="0" anchor="ctr"/>
          <a:lstStyle/>
          <a:p>
            <a:pPr indent="0" marL="0">
              <a:buNone/>
            </a:pPr>
            <a:r>
              <a:rPr lang="en-US" sz="1300" b="1" dirty="0">
                <a:solidFill>
                  <a:srgbClr val="00E5C0"/>
                </a:solidFill>
                <a:latin typeface="Calibri" pitchFamily="34" charset="0"/>
                <a:ea typeface="Calibri" pitchFamily="34" charset="-122"/>
                <a:cs typeface="Calibri" pitchFamily="34" charset="-120"/>
              </a:rPr>
              <a:t>Modulation Formats</a:t>
            </a:r>
            <a:endParaRPr lang="en-US" sz="1300" dirty="0"/>
          </a:p>
        </p:txBody>
      </p:sp>
      <p:sp>
        <p:nvSpPr>
          <p:cNvPr id="23" name="Shape 21"/>
          <p:cNvSpPr/>
          <p:nvPr/>
        </p:nvSpPr>
        <p:spPr>
          <a:xfrm>
            <a:off x="4846320" y="1874520"/>
            <a:ext cx="3657600" cy="868680"/>
          </a:xfrm>
          <a:prstGeom prst="roundRect">
            <a:avLst>
              <a:gd name="adj" fmla="val 8421"/>
            </a:avLst>
          </a:prstGeom>
          <a:solidFill>
            <a:srgbClr val="152050"/>
          </a:solidFill>
          <a:ln w="6350">
            <a:solidFill>
              <a:srgbClr val="A8B8D8">
                <a:alpha val="60000"/>
              </a:srgbClr>
            </a:solidFill>
            <a:prstDash val="solid"/>
          </a:ln>
        </p:spPr>
      </p:sp>
      <p:sp>
        <p:nvSpPr>
          <p:cNvPr id="24" name="Text 22"/>
          <p:cNvSpPr/>
          <p:nvPr/>
        </p:nvSpPr>
        <p:spPr>
          <a:xfrm>
            <a:off x="4956048" y="1920240"/>
            <a:ext cx="640080" cy="365760"/>
          </a:xfrm>
          <a:prstGeom prst="rect">
            <a:avLst/>
          </a:prstGeom>
          <a:noFill/>
          <a:ln/>
        </p:spPr>
        <p:txBody>
          <a:bodyPr wrap="square" rtlCol="0" anchor="ctr"/>
          <a:lstStyle/>
          <a:p>
            <a:pPr indent="0" marL="0">
              <a:buNone/>
            </a:pPr>
            <a:r>
              <a:rPr lang="en-US" sz="1600" b="1" dirty="0">
                <a:solidFill>
                  <a:srgbClr val="A8B8D8"/>
                </a:solidFill>
                <a:latin typeface="Cambria" pitchFamily="34" charset="0"/>
                <a:ea typeface="Cambria" pitchFamily="34" charset="-122"/>
                <a:cs typeface="Cambria" pitchFamily="34" charset="-120"/>
              </a:rPr>
              <a:t>OOK</a:t>
            </a:r>
            <a:endParaRPr lang="en-US" sz="1600" dirty="0"/>
          </a:p>
        </p:txBody>
      </p:sp>
      <p:sp>
        <p:nvSpPr>
          <p:cNvPr id="25" name="Text 23"/>
          <p:cNvSpPr/>
          <p:nvPr/>
        </p:nvSpPr>
        <p:spPr>
          <a:xfrm>
            <a:off x="4956048" y="2304288"/>
            <a:ext cx="1645920" cy="310896"/>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On-Off Keying</a:t>
            </a:r>
            <a:endParaRPr lang="en-US" sz="1000" dirty="0"/>
          </a:p>
        </p:txBody>
      </p:sp>
      <p:sp>
        <p:nvSpPr>
          <p:cNvPr id="26" name="Text 24"/>
          <p:cNvSpPr/>
          <p:nvPr/>
        </p:nvSpPr>
        <p:spPr>
          <a:xfrm>
            <a:off x="6583680" y="1947672"/>
            <a:ext cx="1828800" cy="310896"/>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Simple, robust</a:t>
            </a:r>
            <a:endParaRPr lang="en-US" sz="1000" dirty="0"/>
          </a:p>
        </p:txBody>
      </p:sp>
      <p:sp>
        <p:nvSpPr>
          <p:cNvPr id="27" name="Text 25"/>
          <p:cNvSpPr/>
          <p:nvPr/>
        </p:nvSpPr>
        <p:spPr>
          <a:xfrm>
            <a:off x="6583680" y="2304288"/>
            <a:ext cx="1828800" cy="310896"/>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Sensitivity: ~−28 dBm @ 10G</a:t>
            </a:r>
            <a:endParaRPr lang="en-US" sz="1000" dirty="0"/>
          </a:p>
        </p:txBody>
      </p:sp>
      <p:sp>
        <p:nvSpPr>
          <p:cNvPr id="28" name="Shape 26"/>
          <p:cNvSpPr/>
          <p:nvPr/>
        </p:nvSpPr>
        <p:spPr>
          <a:xfrm>
            <a:off x="4846320" y="2862072"/>
            <a:ext cx="3657600" cy="868680"/>
          </a:xfrm>
          <a:prstGeom prst="roundRect">
            <a:avLst>
              <a:gd name="adj" fmla="val 8421"/>
            </a:avLst>
          </a:prstGeom>
          <a:solidFill>
            <a:srgbClr val="152050"/>
          </a:solidFill>
          <a:ln w="6350">
            <a:solidFill>
              <a:srgbClr val="00E5C0">
                <a:alpha val="60000"/>
              </a:srgbClr>
            </a:solidFill>
            <a:prstDash val="solid"/>
          </a:ln>
        </p:spPr>
      </p:sp>
      <p:sp>
        <p:nvSpPr>
          <p:cNvPr id="29" name="Text 27"/>
          <p:cNvSpPr/>
          <p:nvPr/>
        </p:nvSpPr>
        <p:spPr>
          <a:xfrm>
            <a:off x="4956048" y="2907792"/>
            <a:ext cx="640080" cy="365760"/>
          </a:xfrm>
          <a:prstGeom prst="rect">
            <a:avLst/>
          </a:prstGeom>
          <a:noFill/>
          <a:ln/>
        </p:spPr>
        <p:txBody>
          <a:bodyPr wrap="square" rtlCol="0" anchor="ctr"/>
          <a:lstStyle/>
          <a:p>
            <a:pPr indent="0" marL="0">
              <a:buNone/>
            </a:pPr>
            <a:r>
              <a:rPr lang="en-US" sz="1600" b="1" dirty="0">
                <a:solidFill>
                  <a:srgbClr val="00E5C0"/>
                </a:solidFill>
                <a:latin typeface="Cambria" pitchFamily="34" charset="0"/>
                <a:ea typeface="Cambria" pitchFamily="34" charset="-122"/>
                <a:cs typeface="Cambria" pitchFamily="34" charset="-120"/>
              </a:rPr>
              <a:t>DPSK</a:t>
            </a:r>
            <a:endParaRPr lang="en-US" sz="1600" dirty="0"/>
          </a:p>
        </p:txBody>
      </p:sp>
      <p:sp>
        <p:nvSpPr>
          <p:cNvPr id="30" name="Text 28"/>
          <p:cNvSpPr/>
          <p:nvPr/>
        </p:nvSpPr>
        <p:spPr>
          <a:xfrm>
            <a:off x="4956048" y="3291840"/>
            <a:ext cx="1645920" cy="310896"/>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Diff. Phase Shift Keying</a:t>
            </a:r>
            <a:endParaRPr lang="en-US" sz="1000" dirty="0"/>
          </a:p>
        </p:txBody>
      </p:sp>
      <p:sp>
        <p:nvSpPr>
          <p:cNvPr id="31" name="Text 29"/>
          <p:cNvSpPr/>
          <p:nvPr/>
        </p:nvSpPr>
        <p:spPr>
          <a:xfrm>
            <a:off x="6583680" y="2935224"/>
            <a:ext cx="1828800" cy="310896"/>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+3 dB vs OOK</a:t>
            </a:r>
            <a:endParaRPr lang="en-US" sz="1000" dirty="0"/>
          </a:p>
        </p:txBody>
      </p:sp>
      <p:sp>
        <p:nvSpPr>
          <p:cNvPr id="32" name="Text 30"/>
          <p:cNvSpPr/>
          <p:nvPr/>
        </p:nvSpPr>
        <p:spPr>
          <a:xfrm>
            <a:off x="6583680" y="3291840"/>
            <a:ext cx="1828800" cy="310896"/>
          </a:xfrm>
          <a:prstGeom prst="rect">
            <a:avLst/>
          </a:prstGeom>
          <a:noFill/>
          <a:ln/>
        </p:spPr>
        <p:txBody>
          <a:bodyPr wrap="square" rtlCol="0" anchor="ctr"/>
          <a:lstStyle/>
          <a:p>
            <a:pPr indent="0" marL="0">
              <a:buNone/>
            </a:pPr>
            <a:r>
              <a:rPr lang="en-US" sz="1000" dirty="0">
                <a:solidFill>
                  <a:srgbClr val="00E5C0"/>
                </a:solidFill>
                <a:latin typeface="Calibri" pitchFamily="34" charset="0"/>
                <a:ea typeface="Calibri" pitchFamily="34" charset="-122"/>
                <a:cs typeface="Calibri" pitchFamily="34" charset="-120"/>
              </a:rPr>
              <a:t>Sensitivity: ~−31 dBm @ 10G</a:t>
            </a:r>
            <a:endParaRPr lang="en-US" sz="1000" dirty="0"/>
          </a:p>
        </p:txBody>
      </p:sp>
      <p:sp>
        <p:nvSpPr>
          <p:cNvPr id="33" name="Shape 31"/>
          <p:cNvSpPr/>
          <p:nvPr/>
        </p:nvSpPr>
        <p:spPr>
          <a:xfrm>
            <a:off x="4846320" y="3849624"/>
            <a:ext cx="3657600" cy="868680"/>
          </a:xfrm>
          <a:prstGeom prst="roundRect">
            <a:avLst>
              <a:gd name="adj" fmla="val 8421"/>
            </a:avLst>
          </a:prstGeom>
          <a:solidFill>
            <a:srgbClr val="152050"/>
          </a:solidFill>
          <a:ln w="6350">
            <a:solidFill>
              <a:srgbClr val="00C8FF">
                <a:alpha val="60000"/>
              </a:srgbClr>
            </a:solidFill>
            <a:prstDash val="solid"/>
          </a:ln>
        </p:spPr>
      </p:sp>
      <p:sp>
        <p:nvSpPr>
          <p:cNvPr id="34" name="Text 32"/>
          <p:cNvSpPr/>
          <p:nvPr/>
        </p:nvSpPr>
        <p:spPr>
          <a:xfrm>
            <a:off x="4956048" y="3895344"/>
            <a:ext cx="640080" cy="365760"/>
          </a:xfrm>
          <a:prstGeom prst="rect">
            <a:avLst/>
          </a:prstGeom>
          <a:noFill/>
          <a:ln/>
        </p:spPr>
        <p:txBody>
          <a:bodyPr wrap="square" rtlCol="0" anchor="ctr"/>
          <a:lstStyle/>
          <a:p>
            <a:pPr indent="0" marL="0">
              <a:buNone/>
            </a:pPr>
            <a:r>
              <a:rPr lang="en-US" sz="1600" b="1" dirty="0">
                <a:solidFill>
                  <a:srgbClr val="00C8FF"/>
                </a:solidFill>
                <a:latin typeface="Cambria" pitchFamily="34" charset="0"/>
                <a:ea typeface="Cambria" pitchFamily="34" charset="-122"/>
                <a:cs typeface="Cambria" pitchFamily="34" charset="-120"/>
              </a:rPr>
              <a:t>QPSK</a:t>
            </a:r>
            <a:endParaRPr lang="en-US" sz="1600" dirty="0"/>
          </a:p>
        </p:txBody>
      </p:sp>
      <p:sp>
        <p:nvSpPr>
          <p:cNvPr id="35" name="Text 33"/>
          <p:cNvSpPr/>
          <p:nvPr/>
        </p:nvSpPr>
        <p:spPr>
          <a:xfrm>
            <a:off x="4956048" y="4279392"/>
            <a:ext cx="1645920" cy="310896"/>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Quad Phase Shift Keying</a:t>
            </a:r>
            <a:endParaRPr lang="en-US" sz="1000" dirty="0"/>
          </a:p>
        </p:txBody>
      </p:sp>
      <p:sp>
        <p:nvSpPr>
          <p:cNvPr id="36" name="Text 34"/>
          <p:cNvSpPr/>
          <p:nvPr/>
        </p:nvSpPr>
        <p:spPr>
          <a:xfrm>
            <a:off x="6583680" y="3922776"/>
            <a:ext cx="1828800" cy="310896"/>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Coherent Rx needed</a:t>
            </a:r>
            <a:endParaRPr lang="en-US" sz="1000" dirty="0"/>
          </a:p>
        </p:txBody>
      </p:sp>
      <p:sp>
        <p:nvSpPr>
          <p:cNvPr id="37" name="Text 35"/>
          <p:cNvSpPr/>
          <p:nvPr/>
        </p:nvSpPr>
        <p:spPr>
          <a:xfrm>
            <a:off x="6583680" y="4279392"/>
            <a:ext cx="1828800" cy="310896"/>
          </a:xfrm>
          <a:prstGeom prst="rect">
            <a:avLst/>
          </a:prstGeom>
          <a:noFill/>
          <a:ln/>
        </p:spPr>
        <p:txBody>
          <a:bodyPr wrap="square" rtlCol="0" anchor="ctr"/>
          <a:lstStyle/>
          <a:p>
            <a:pPr indent="0" marL="0">
              <a:buNone/>
            </a:pPr>
            <a:r>
              <a:rPr lang="en-US" sz="1000" dirty="0">
                <a:solidFill>
                  <a:srgbClr val="00C8FF"/>
                </a:solidFill>
                <a:latin typeface="Calibri" pitchFamily="34" charset="0"/>
                <a:ea typeface="Calibri" pitchFamily="34" charset="-122"/>
                <a:cs typeface="Calibri" pitchFamily="34" charset="-120"/>
              </a:rPr>
              <a:t>Sensitivity: ~−35 dBm @ 10G</a:t>
            </a:r>
            <a:endParaRPr lang="en-US" sz="1000" dirty="0"/>
          </a:p>
        </p:txBody>
      </p:sp>
      <p:sp>
        <p:nvSpPr>
          <p:cNvPr id="38" name="Text 36"/>
          <p:cNvSpPr/>
          <p:nvPr/>
        </p:nvSpPr>
        <p:spPr>
          <a:xfrm>
            <a:off x="4846320" y="4617720"/>
            <a:ext cx="3657600" cy="502920"/>
          </a:xfrm>
          <a:prstGeom prst="rect">
            <a:avLst/>
          </a:prstGeom>
          <a:noFill/>
          <a:ln/>
        </p:spPr>
        <p:txBody>
          <a:bodyPr wrap="square" rtlCol="0" anchor="ctr"/>
          <a:lstStyle/>
          <a:p>
            <a:pPr indent="0" marL="0">
              <a:buNone/>
            </a:pPr>
            <a:r>
              <a:rPr lang="en-US" sz="1000" i="1" dirty="0">
                <a:solidFill>
                  <a:srgbClr val="FFD166"/>
                </a:solidFill>
                <a:latin typeface="Calibri" pitchFamily="34" charset="0"/>
                <a:ea typeface="Calibri" pitchFamily="34" charset="-122"/>
                <a:cs typeface="Calibri" pitchFamily="34" charset="-120"/>
              </a:rPr>
              <a:t>Doppler challenge @ 1550 nm: two LEO satellites at 7.5 km/s → ~5 GHz Doppler shift → requires optical pre-compensation in the PAT loop.</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F2C"/>
        </a:solidFill>
      </p:bgPr>
    </p:bg>
    <p:spTree>
      <p:nvGrpSpPr>
        <p:cNvPr id="1" name=""/>
        <p:cNvGrpSpPr/>
        <p:nvPr/>
      </p:nvGrpSpPr>
      <p:grpSpPr>
        <a:xfrm>
          <a:off x="0" y="0"/>
          <a:ext cx="0" cy="0"/>
          <a:chOff x="0" y="0"/>
          <a:chExt cx="0" cy="0"/>
        </a:xfrm>
      </p:grpSpPr>
      <p:sp>
        <p:nvSpPr>
          <p:cNvPr id="2" name="Text 0"/>
          <p:cNvSpPr/>
          <p:nvPr/>
        </p:nvSpPr>
        <p:spPr>
          <a:xfrm>
            <a:off x="457200" y="256032"/>
            <a:ext cx="3657600" cy="274320"/>
          </a:xfrm>
          <a:prstGeom prst="rect">
            <a:avLst/>
          </a:prstGeom>
          <a:noFill/>
          <a:ln/>
        </p:spPr>
        <p:txBody>
          <a:bodyPr wrap="square" rtlCol="0" anchor="ctr"/>
          <a:lstStyle/>
          <a:p>
            <a:pPr indent="0" marL="0">
              <a:buNone/>
            </a:pPr>
            <a:r>
              <a:rPr lang="en-US" sz="900" b="1" spc="300" kern="0" dirty="0">
                <a:solidFill>
                  <a:srgbClr val="00C8FF"/>
                </a:solidFill>
              </a:rPr>
              <a:t>OPTICAL COMPONENTS — II</a:t>
            </a:r>
            <a:endParaRPr lang="en-US" sz="900" dirty="0"/>
          </a:p>
        </p:txBody>
      </p:sp>
      <p:sp>
        <p:nvSpPr>
          <p:cNvPr id="3" name="Text 1"/>
          <p:cNvSpPr/>
          <p:nvPr/>
        </p:nvSpPr>
        <p:spPr>
          <a:xfrm>
            <a:off x="457200" y="530352"/>
            <a:ext cx="8229600" cy="5943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Beam Expander &amp; Fine Steering Mirror</a:t>
            </a:r>
            <a:endParaRPr lang="en-US" sz="3000" dirty="0"/>
          </a:p>
        </p:txBody>
      </p:sp>
      <p:sp>
        <p:nvSpPr>
          <p:cNvPr id="4" name="Shape 2"/>
          <p:cNvSpPr/>
          <p:nvPr/>
        </p:nvSpPr>
        <p:spPr>
          <a:xfrm>
            <a:off x="457200" y="1261872"/>
            <a:ext cx="4160520" cy="3611880"/>
          </a:xfrm>
          <a:prstGeom prst="roundRect">
            <a:avLst>
              <a:gd name="adj" fmla="val 3038"/>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5" name="Text 3"/>
          <p:cNvSpPr/>
          <p:nvPr/>
        </p:nvSpPr>
        <p:spPr>
          <a:xfrm>
            <a:off x="594360" y="1371600"/>
            <a:ext cx="3840480" cy="347472"/>
          </a:xfrm>
          <a:prstGeom prst="rect">
            <a:avLst/>
          </a:prstGeom>
          <a:noFill/>
          <a:ln/>
        </p:spPr>
        <p:txBody>
          <a:bodyPr wrap="square" rtlCol="0" anchor="ctr"/>
          <a:lstStyle/>
          <a:p>
            <a:pPr indent="0" marL="0">
              <a:buNone/>
            </a:pPr>
            <a:r>
              <a:rPr lang="en-US" sz="1200" b="1" dirty="0">
                <a:solidFill>
                  <a:srgbClr val="00C8FF"/>
                </a:solidFill>
                <a:latin typeface="Calibri" pitchFamily="34" charset="0"/>
                <a:ea typeface="Calibri" pitchFamily="34" charset="-122"/>
                <a:cs typeface="Calibri" pitchFamily="34" charset="-120"/>
              </a:rPr>
              <a:t>Beam Expander (Transmit Telescope)</a:t>
            </a:r>
            <a:endParaRPr lang="en-US" sz="1200" dirty="0"/>
          </a:p>
        </p:txBody>
      </p:sp>
      <p:sp>
        <p:nvSpPr>
          <p:cNvPr id="6" name="Text 4"/>
          <p:cNvSpPr/>
          <p:nvPr/>
        </p:nvSpPr>
        <p:spPr>
          <a:xfrm>
            <a:off x="594360" y="1828800"/>
            <a:ext cx="1371600" cy="384048"/>
          </a:xfrm>
          <a:prstGeom prst="rect">
            <a:avLst/>
          </a:prstGeom>
          <a:noFill/>
          <a:ln/>
        </p:spPr>
        <p:txBody>
          <a:bodyPr wrap="square" rtlCol="0" anchor="ctr"/>
          <a:lstStyle/>
          <a:p>
            <a:pPr indent="0" marL="0">
              <a:buNone/>
            </a:pPr>
            <a:r>
              <a:rPr lang="en-US" sz="1000" b="1" dirty="0">
                <a:solidFill>
                  <a:srgbClr val="A8B8D8"/>
                </a:solidFill>
                <a:latin typeface="Calibri" pitchFamily="34" charset="0"/>
                <a:ea typeface="Calibri" pitchFamily="34" charset="-122"/>
                <a:cs typeface="Calibri" pitchFamily="34" charset="-120"/>
              </a:rPr>
              <a:t>Type:</a:t>
            </a:r>
            <a:endParaRPr lang="en-US" sz="1000" dirty="0"/>
          </a:p>
        </p:txBody>
      </p:sp>
      <p:sp>
        <p:nvSpPr>
          <p:cNvPr id="7" name="Text 5"/>
          <p:cNvSpPr/>
          <p:nvPr/>
        </p:nvSpPr>
        <p:spPr>
          <a:xfrm>
            <a:off x="1984248" y="1828800"/>
            <a:ext cx="2487168" cy="384048"/>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Galilean afocal (no focal point — no air breakdown at high power)</a:t>
            </a:r>
            <a:endParaRPr lang="en-US" sz="1000" dirty="0"/>
          </a:p>
        </p:txBody>
      </p:sp>
      <p:sp>
        <p:nvSpPr>
          <p:cNvPr id="8" name="Text 6"/>
          <p:cNvSpPr/>
          <p:nvPr/>
        </p:nvSpPr>
        <p:spPr>
          <a:xfrm>
            <a:off x="594360" y="2258568"/>
            <a:ext cx="1371600" cy="384048"/>
          </a:xfrm>
          <a:prstGeom prst="rect">
            <a:avLst/>
          </a:prstGeom>
          <a:noFill/>
          <a:ln/>
        </p:spPr>
        <p:txBody>
          <a:bodyPr wrap="square" rtlCol="0" anchor="ctr"/>
          <a:lstStyle/>
          <a:p>
            <a:pPr indent="0" marL="0">
              <a:buNone/>
            </a:pPr>
            <a:r>
              <a:rPr lang="en-US" sz="1000" b="1" dirty="0">
                <a:solidFill>
                  <a:srgbClr val="A8B8D8"/>
                </a:solidFill>
                <a:latin typeface="Calibri" pitchFamily="34" charset="0"/>
                <a:ea typeface="Calibri" pitchFamily="34" charset="-122"/>
                <a:cs typeface="Calibri" pitchFamily="34" charset="-120"/>
              </a:rPr>
              <a:t>Aperture D:</a:t>
            </a:r>
            <a:endParaRPr lang="en-US" sz="1000" dirty="0"/>
          </a:p>
        </p:txBody>
      </p:sp>
      <p:sp>
        <p:nvSpPr>
          <p:cNvPr id="9" name="Text 7"/>
          <p:cNvSpPr/>
          <p:nvPr/>
        </p:nvSpPr>
        <p:spPr>
          <a:xfrm>
            <a:off x="1984248" y="2258568"/>
            <a:ext cx="2487168" cy="384048"/>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30–80 mm, CubeSat constrained to ~50 mm</a:t>
            </a:r>
            <a:endParaRPr lang="en-US" sz="1000" dirty="0"/>
          </a:p>
        </p:txBody>
      </p:sp>
      <p:sp>
        <p:nvSpPr>
          <p:cNvPr id="10" name="Text 8"/>
          <p:cNvSpPr/>
          <p:nvPr/>
        </p:nvSpPr>
        <p:spPr>
          <a:xfrm>
            <a:off x="594360" y="2688336"/>
            <a:ext cx="1371600" cy="384048"/>
          </a:xfrm>
          <a:prstGeom prst="rect">
            <a:avLst/>
          </a:prstGeom>
          <a:noFill/>
          <a:ln/>
        </p:spPr>
        <p:txBody>
          <a:bodyPr wrap="square" rtlCol="0" anchor="ctr"/>
          <a:lstStyle/>
          <a:p>
            <a:pPr indent="0" marL="0">
              <a:buNone/>
            </a:pPr>
            <a:r>
              <a:rPr lang="en-US" sz="1000" b="1" dirty="0">
                <a:solidFill>
                  <a:srgbClr val="A8B8D8"/>
                </a:solidFill>
                <a:latin typeface="Calibri" pitchFamily="34" charset="0"/>
                <a:ea typeface="Calibri" pitchFamily="34" charset="-122"/>
                <a:cs typeface="Calibri" pitchFamily="34" charset="-120"/>
              </a:rPr>
              <a:t>Divergence:</a:t>
            </a:r>
            <a:endParaRPr lang="en-US" sz="1000" dirty="0"/>
          </a:p>
        </p:txBody>
      </p:sp>
      <p:sp>
        <p:nvSpPr>
          <p:cNvPr id="11" name="Text 9"/>
          <p:cNvSpPr/>
          <p:nvPr/>
        </p:nvSpPr>
        <p:spPr>
          <a:xfrm>
            <a:off x="1984248" y="2688336"/>
            <a:ext cx="2487168" cy="384048"/>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θ ≈ λ/(π·w₀) → ~40 μrad for 50 mm @ 1550 nm</a:t>
            </a:r>
            <a:endParaRPr lang="en-US" sz="1000" dirty="0"/>
          </a:p>
        </p:txBody>
      </p:sp>
      <p:sp>
        <p:nvSpPr>
          <p:cNvPr id="12" name="Text 10"/>
          <p:cNvSpPr/>
          <p:nvPr/>
        </p:nvSpPr>
        <p:spPr>
          <a:xfrm>
            <a:off x="594360" y="3118104"/>
            <a:ext cx="1371600" cy="384048"/>
          </a:xfrm>
          <a:prstGeom prst="rect">
            <a:avLst/>
          </a:prstGeom>
          <a:noFill/>
          <a:ln/>
        </p:spPr>
        <p:txBody>
          <a:bodyPr wrap="square" rtlCol="0" anchor="ctr"/>
          <a:lstStyle/>
          <a:p>
            <a:pPr indent="0" marL="0">
              <a:buNone/>
            </a:pPr>
            <a:r>
              <a:rPr lang="en-US" sz="1000" b="1" dirty="0">
                <a:solidFill>
                  <a:srgbClr val="A8B8D8"/>
                </a:solidFill>
                <a:latin typeface="Calibri" pitchFamily="34" charset="0"/>
                <a:ea typeface="Calibri" pitchFamily="34" charset="-122"/>
                <a:cs typeface="Calibri" pitchFamily="34" charset="-120"/>
              </a:rPr>
              <a:t>Footprint @ 500 km:</a:t>
            </a:r>
            <a:endParaRPr lang="en-US" sz="1000" dirty="0"/>
          </a:p>
        </p:txBody>
      </p:sp>
      <p:sp>
        <p:nvSpPr>
          <p:cNvPr id="13" name="Text 11"/>
          <p:cNvSpPr/>
          <p:nvPr/>
        </p:nvSpPr>
        <p:spPr>
          <a:xfrm>
            <a:off x="1984248" y="3118104"/>
            <a:ext cx="2487168" cy="384048"/>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~20 m beam diameter (vs. 4 km for Ka)</a:t>
            </a:r>
            <a:endParaRPr lang="en-US" sz="1000" dirty="0"/>
          </a:p>
        </p:txBody>
      </p:sp>
      <p:sp>
        <p:nvSpPr>
          <p:cNvPr id="14" name="Text 12"/>
          <p:cNvSpPr/>
          <p:nvPr/>
        </p:nvSpPr>
        <p:spPr>
          <a:xfrm>
            <a:off x="594360" y="3547872"/>
            <a:ext cx="1371600" cy="384048"/>
          </a:xfrm>
          <a:prstGeom prst="rect">
            <a:avLst/>
          </a:prstGeom>
          <a:noFill/>
          <a:ln/>
        </p:spPr>
        <p:txBody>
          <a:bodyPr wrap="square" rtlCol="0" anchor="ctr"/>
          <a:lstStyle/>
          <a:p>
            <a:pPr indent="0" marL="0">
              <a:buNone/>
            </a:pPr>
            <a:r>
              <a:rPr lang="en-US" sz="1000" b="1" dirty="0">
                <a:solidFill>
                  <a:srgbClr val="A8B8D8"/>
                </a:solidFill>
                <a:latin typeface="Calibri" pitchFamily="34" charset="0"/>
                <a:ea typeface="Calibri" pitchFamily="34" charset="-122"/>
                <a:cs typeface="Calibri" pitchFamily="34" charset="-120"/>
              </a:rPr>
              <a:t>Wavefront req.:</a:t>
            </a:r>
            <a:endParaRPr lang="en-US" sz="1000" dirty="0"/>
          </a:p>
        </p:txBody>
      </p:sp>
      <p:sp>
        <p:nvSpPr>
          <p:cNvPr id="15" name="Text 13"/>
          <p:cNvSpPr/>
          <p:nvPr/>
        </p:nvSpPr>
        <p:spPr>
          <a:xfrm>
            <a:off x="1984248" y="3547872"/>
            <a:ext cx="2487168" cy="384048"/>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Strehl &gt; 0.8 → WFE &lt; λ/14 = 111 nm RMS</a:t>
            </a:r>
            <a:endParaRPr lang="en-US" sz="1000" dirty="0"/>
          </a:p>
        </p:txBody>
      </p:sp>
      <p:sp>
        <p:nvSpPr>
          <p:cNvPr id="16" name="Text 14"/>
          <p:cNvSpPr/>
          <p:nvPr/>
        </p:nvSpPr>
        <p:spPr>
          <a:xfrm>
            <a:off x="594360" y="3977640"/>
            <a:ext cx="1371600" cy="384048"/>
          </a:xfrm>
          <a:prstGeom prst="rect">
            <a:avLst/>
          </a:prstGeom>
          <a:noFill/>
          <a:ln/>
        </p:spPr>
        <p:txBody>
          <a:bodyPr wrap="square" rtlCol="0" anchor="ctr"/>
          <a:lstStyle/>
          <a:p>
            <a:pPr indent="0" marL="0">
              <a:buNone/>
            </a:pPr>
            <a:r>
              <a:rPr lang="en-US" sz="1000" b="1" dirty="0">
                <a:solidFill>
                  <a:srgbClr val="A8B8D8"/>
                </a:solidFill>
                <a:latin typeface="Calibri" pitchFamily="34" charset="0"/>
                <a:ea typeface="Calibri" pitchFamily="34" charset="-122"/>
                <a:cs typeface="Calibri" pitchFamily="34" charset="-120"/>
              </a:rPr>
              <a:t>Thermal design:</a:t>
            </a:r>
            <a:endParaRPr lang="en-US" sz="1000" dirty="0"/>
          </a:p>
        </p:txBody>
      </p:sp>
      <p:sp>
        <p:nvSpPr>
          <p:cNvPr id="17" name="Text 15"/>
          <p:cNvSpPr/>
          <p:nvPr/>
        </p:nvSpPr>
        <p:spPr>
          <a:xfrm>
            <a:off x="1984248" y="3977640"/>
            <a:ext cx="2487168" cy="384048"/>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Zerodur/fused silica; bipod flexure mounts for athermal</a:t>
            </a:r>
            <a:endParaRPr lang="en-US" sz="1000" dirty="0"/>
          </a:p>
        </p:txBody>
      </p:sp>
      <p:sp>
        <p:nvSpPr>
          <p:cNvPr id="18" name="Text 16"/>
          <p:cNvSpPr/>
          <p:nvPr/>
        </p:nvSpPr>
        <p:spPr>
          <a:xfrm>
            <a:off x="594360" y="4407408"/>
            <a:ext cx="1371600" cy="384048"/>
          </a:xfrm>
          <a:prstGeom prst="rect">
            <a:avLst/>
          </a:prstGeom>
          <a:noFill/>
          <a:ln/>
        </p:spPr>
        <p:txBody>
          <a:bodyPr wrap="square" rtlCol="0" anchor="ctr"/>
          <a:lstStyle/>
          <a:p>
            <a:pPr indent="0" marL="0">
              <a:buNone/>
            </a:pPr>
            <a:r>
              <a:rPr lang="en-US" sz="1000" b="1" dirty="0">
                <a:solidFill>
                  <a:srgbClr val="A8B8D8"/>
                </a:solidFill>
                <a:latin typeface="Calibri" pitchFamily="34" charset="0"/>
                <a:ea typeface="Calibri" pitchFamily="34" charset="-122"/>
                <a:cs typeface="Calibri" pitchFamily="34" charset="-120"/>
              </a:rPr>
              <a:t>AR coatings:</a:t>
            </a:r>
            <a:endParaRPr lang="en-US" sz="1000" dirty="0"/>
          </a:p>
        </p:txBody>
      </p:sp>
      <p:sp>
        <p:nvSpPr>
          <p:cNvPr id="19" name="Text 17"/>
          <p:cNvSpPr/>
          <p:nvPr/>
        </p:nvSpPr>
        <p:spPr>
          <a:xfrm>
            <a:off x="1984248" y="4407408"/>
            <a:ext cx="2487168" cy="384048"/>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&lt; 0.25% reflectance; no back-reflection to EDFA</a:t>
            </a:r>
            <a:endParaRPr lang="en-US" sz="1000" dirty="0"/>
          </a:p>
        </p:txBody>
      </p:sp>
      <p:sp>
        <p:nvSpPr>
          <p:cNvPr id="20" name="Shape 18"/>
          <p:cNvSpPr/>
          <p:nvPr/>
        </p:nvSpPr>
        <p:spPr>
          <a:xfrm>
            <a:off x="4892040" y="1261872"/>
            <a:ext cx="3886200" cy="3611880"/>
          </a:xfrm>
          <a:prstGeom prst="roundRect">
            <a:avLst>
              <a:gd name="adj" fmla="val 3038"/>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21" name="Text 19"/>
          <p:cNvSpPr/>
          <p:nvPr/>
        </p:nvSpPr>
        <p:spPr>
          <a:xfrm>
            <a:off x="5029200" y="1371600"/>
            <a:ext cx="3566160" cy="347472"/>
          </a:xfrm>
          <a:prstGeom prst="rect">
            <a:avLst/>
          </a:prstGeom>
          <a:noFill/>
          <a:ln/>
        </p:spPr>
        <p:txBody>
          <a:bodyPr wrap="square" rtlCol="0" anchor="ctr"/>
          <a:lstStyle/>
          <a:p>
            <a:pPr indent="0" marL="0">
              <a:buNone/>
            </a:pPr>
            <a:r>
              <a:rPr lang="en-US" sz="1200" b="1" dirty="0">
                <a:solidFill>
                  <a:srgbClr val="00E5C0"/>
                </a:solidFill>
                <a:latin typeface="Calibri" pitchFamily="34" charset="0"/>
                <a:ea typeface="Calibri" pitchFamily="34" charset="-122"/>
                <a:cs typeface="Calibri" pitchFamily="34" charset="-120"/>
              </a:rPr>
              <a:t>Fine Steering Mirror (FSM)</a:t>
            </a:r>
            <a:endParaRPr lang="en-US" sz="1200" dirty="0"/>
          </a:p>
        </p:txBody>
      </p:sp>
      <p:sp>
        <p:nvSpPr>
          <p:cNvPr id="22" name="Text 20"/>
          <p:cNvSpPr/>
          <p:nvPr/>
        </p:nvSpPr>
        <p:spPr>
          <a:xfrm>
            <a:off x="5029200" y="1828800"/>
            <a:ext cx="1325880" cy="384048"/>
          </a:xfrm>
          <a:prstGeom prst="rect">
            <a:avLst/>
          </a:prstGeom>
          <a:noFill/>
          <a:ln/>
        </p:spPr>
        <p:txBody>
          <a:bodyPr wrap="square" rtlCol="0" anchor="ctr"/>
          <a:lstStyle/>
          <a:p>
            <a:pPr indent="0" marL="0">
              <a:buNone/>
            </a:pPr>
            <a:r>
              <a:rPr lang="en-US" sz="1000" b="1" dirty="0">
                <a:solidFill>
                  <a:srgbClr val="A8B8D8"/>
                </a:solidFill>
                <a:latin typeface="Calibri" pitchFamily="34" charset="0"/>
                <a:ea typeface="Calibri" pitchFamily="34" charset="-122"/>
                <a:cs typeface="Calibri" pitchFamily="34" charset="-120"/>
              </a:rPr>
              <a:t>Aperture:</a:t>
            </a:r>
            <a:endParaRPr lang="en-US" sz="1000" dirty="0"/>
          </a:p>
        </p:txBody>
      </p:sp>
      <p:sp>
        <p:nvSpPr>
          <p:cNvPr id="23" name="Text 21"/>
          <p:cNvSpPr/>
          <p:nvPr/>
        </p:nvSpPr>
        <p:spPr>
          <a:xfrm>
            <a:off x="6373368" y="1828800"/>
            <a:ext cx="2240280" cy="384048"/>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15–30 mm clear aperture</a:t>
            </a:r>
            <a:endParaRPr lang="en-US" sz="1000" dirty="0"/>
          </a:p>
        </p:txBody>
      </p:sp>
      <p:sp>
        <p:nvSpPr>
          <p:cNvPr id="24" name="Text 22"/>
          <p:cNvSpPr/>
          <p:nvPr/>
        </p:nvSpPr>
        <p:spPr>
          <a:xfrm>
            <a:off x="5029200" y="2258568"/>
            <a:ext cx="1325880" cy="384048"/>
          </a:xfrm>
          <a:prstGeom prst="rect">
            <a:avLst/>
          </a:prstGeom>
          <a:noFill/>
          <a:ln/>
        </p:spPr>
        <p:txBody>
          <a:bodyPr wrap="square" rtlCol="0" anchor="ctr"/>
          <a:lstStyle/>
          <a:p>
            <a:pPr indent="0" marL="0">
              <a:buNone/>
            </a:pPr>
            <a:r>
              <a:rPr lang="en-US" sz="1000" b="1" dirty="0">
                <a:solidFill>
                  <a:srgbClr val="A8B8D8"/>
                </a:solidFill>
                <a:latin typeface="Calibri" pitchFamily="34" charset="0"/>
                <a:ea typeface="Calibri" pitchFamily="34" charset="-122"/>
                <a:cs typeface="Calibri" pitchFamily="34" charset="-120"/>
              </a:rPr>
              <a:t>Actuation:</a:t>
            </a:r>
            <a:endParaRPr lang="en-US" sz="1000" dirty="0"/>
          </a:p>
        </p:txBody>
      </p:sp>
      <p:sp>
        <p:nvSpPr>
          <p:cNvPr id="25" name="Text 23"/>
          <p:cNvSpPr/>
          <p:nvPr/>
        </p:nvSpPr>
        <p:spPr>
          <a:xfrm>
            <a:off x="6373368" y="2258568"/>
            <a:ext cx="2240280" cy="384048"/>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PZT stacks (high BW) or VCA (large stroke)</a:t>
            </a:r>
            <a:endParaRPr lang="en-US" sz="1000" dirty="0"/>
          </a:p>
        </p:txBody>
      </p:sp>
      <p:sp>
        <p:nvSpPr>
          <p:cNvPr id="26" name="Text 24"/>
          <p:cNvSpPr/>
          <p:nvPr/>
        </p:nvSpPr>
        <p:spPr>
          <a:xfrm>
            <a:off x="5029200" y="2688336"/>
            <a:ext cx="1325880" cy="384048"/>
          </a:xfrm>
          <a:prstGeom prst="rect">
            <a:avLst/>
          </a:prstGeom>
          <a:noFill/>
          <a:ln/>
        </p:spPr>
        <p:txBody>
          <a:bodyPr wrap="square" rtlCol="0" anchor="ctr"/>
          <a:lstStyle/>
          <a:p>
            <a:pPr indent="0" marL="0">
              <a:buNone/>
            </a:pPr>
            <a:r>
              <a:rPr lang="en-US" sz="1000" b="1" dirty="0">
                <a:solidFill>
                  <a:srgbClr val="A8B8D8"/>
                </a:solidFill>
                <a:latin typeface="Calibri" pitchFamily="34" charset="0"/>
                <a:ea typeface="Calibri" pitchFamily="34" charset="-122"/>
                <a:cs typeface="Calibri" pitchFamily="34" charset="-120"/>
              </a:rPr>
              <a:t>Range:</a:t>
            </a:r>
            <a:endParaRPr lang="en-US" sz="1000" dirty="0"/>
          </a:p>
        </p:txBody>
      </p:sp>
      <p:sp>
        <p:nvSpPr>
          <p:cNvPr id="27" name="Text 25"/>
          <p:cNvSpPr/>
          <p:nvPr/>
        </p:nvSpPr>
        <p:spPr>
          <a:xfrm>
            <a:off x="6373368" y="2688336"/>
            <a:ext cx="2240280" cy="384048"/>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±1–5 mrad, covers residual post-gimbal error</a:t>
            </a:r>
            <a:endParaRPr lang="en-US" sz="1000" dirty="0"/>
          </a:p>
        </p:txBody>
      </p:sp>
      <p:sp>
        <p:nvSpPr>
          <p:cNvPr id="28" name="Text 26"/>
          <p:cNvSpPr/>
          <p:nvPr/>
        </p:nvSpPr>
        <p:spPr>
          <a:xfrm>
            <a:off x="5029200" y="3118104"/>
            <a:ext cx="1325880" cy="384048"/>
          </a:xfrm>
          <a:prstGeom prst="rect">
            <a:avLst/>
          </a:prstGeom>
          <a:noFill/>
          <a:ln/>
        </p:spPr>
        <p:txBody>
          <a:bodyPr wrap="square" rtlCol="0" anchor="ctr"/>
          <a:lstStyle/>
          <a:p>
            <a:pPr indent="0" marL="0">
              <a:buNone/>
            </a:pPr>
            <a:r>
              <a:rPr lang="en-US" sz="1000" b="1" dirty="0">
                <a:solidFill>
                  <a:srgbClr val="A8B8D8"/>
                </a:solidFill>
                <a:latin typeface="Calibri" pitchFamily="34" charset="0"/>
                <a:ea typeface="Calibri" pitchFamily="34" charset="-122"/>
                <a:cs typeface="Calibri" pitchFamily="34" charset="-120"/>
              </a:rPr>
              <a:t>Resolution:</a:t>
            </a:r>
            <a:endParaRPr lang="en-US" sz="1000" dirty="0"/>
          </a:p>
        </p:txBody>
      </p:sp>
      <p:sp>
        <p:nvSpPr>
          <p:cNvPr id="29" name="Text 27"/>
          <p:cNvSpPr/>
          <p:nvPr/>
        </p:nvSpPr>
        <p:spPr>
          <a:xfrm>
            <a:off x="6373368" y="3118104"/>
            <a:ext cx="2240280" cy="384048"/>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&lt; 1 μrad per step (PZT charge-mode drive)</a:t>
            </a:r>
            <a:endParaRPr lang="en-US" sz="1000" dirty="0"/>
          </a:p>
        </p:txBody>
      </p:sp>
      <p:sp>
        <p:nvSpPr>
          <p:cNvPr id="30" name="Text 28"/>
          <p:cNvSpPr/>
          <p:nvPr/>
        </p:nvSpPr>
        <p:spPr>
          <a:xfrm>
            <a:off x="5029200" y="3547872"/>
            <a:ext cx="1325880" cy="384048"/>
          </a:xfrm>
          <a:prstGeom prst="rect">
            <a:avLst/>
          </a:prstGeom>
          <a:noFill/>
          <a:ln/>
        </p:spPr>
        <p:txBody>
          <a:bodyPr wrap="square" rtlCol="0" anchor="ctr"/>
          <a:lstStyle/>
          <a:p>
            <a:pPr indent="0" marL="0">
              <a:buNone/>
            </a:pPr>
            <a:r>
              <a:rPr lang="en-US" sz="1000" b="1" dirty="0">
                <a:solidFill>
                  <a:srgbClr val="A8B8D8"/>
                </a:solidFill>
                <a:latin typeface="Calibri" pitchFamily="34" charset="0"/>
                <a:ea typeface="Calibri" pitchFamily="34" charset="-122"/>
                <a:cs typeface="Calibri" pitchFamily="34" charset="-120"/>
              </a:rPr>
              <a:t>Bandwidth:</a:t>
            </a:r>
            <a:endParaRPr lang="en-US" sz="1000" dirty="0"/>
          </a:p>
        </p:txBody>
      </p:sp>
      <p:sp>
        <p:nvSpPr>
          <p:cNvPr id="31" name="Text 29"/>
          <p:cNvSpPr/>
          <p:nvPr/>
        </p:nvSpPr>
        <p:spPr>
          <a:xfrm>
            <a:off x="6373368" y="3547872"/>
            <a:ext cx="2240280" cy="384048"/>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&gt; 500 Hz to reject RW harmonics</a:t>
            </a:r>
            <a:endParaRPr lang="en-US" sz="1000" dirty="0"/>
          </a:p>
        </p:txBody>
      </p:sp>
      <p:sp>
        <p:nvSpPr>
          <p:cNvPr id="32" name="Text 30"/>
          <p:cNvSpPr/>
          <p:nvPr/>
        </p:nvSpPr>
        <p:spPr>
          <a:xfrm>
            <a:off x="5029200" y="3977640"/>
            <a:ext cx="1325880" cy="384048"/>
          </a:xfrm>
          <a:prstGeom prst="rect">
            <a:avLst/>
          </a:prstGeom>
          <a:noFill/>
          <a:ln/>
        </p:spPr>
        <p:txBody>
          <a:bodyPr wrap="square" rtlCol="0" anchor="ctr"/>
          <a:lstStyle/>
          <a:p>
            <a:pPr indent="0" marL="0">
              <a:buNone/>
            </a:pPr>
            <a:r>
              <a:rPr lang="en-US" sz="1000" b="1" dirty="0">
                <a:solidFill>
                  <a:srgbClr val="A8B8D8"/>
                </a:solidFill>
                <a:latin typeface="Calibri" pitchFamily="34" charset="0"/>
                <a:ea typeface="Calibri" pitchFamily="34" charset="-122"/>
                <a:cs typeface="Calibri" pitchFamily="34" charset="-120"/>
              </a:rPr>
              <a:t>Hysteresis:</a:t>
            </a:r>
            <a:endParaRPr lang="en-US" sz="1000" dirty="0"/>
          </a:p>
        </p:txBody>
      </p:sp>
      <p:sp>
        <p:nvSpPr>
          <p:cNvPr id="33" name="Text 31"/>
          <p:cNvSpPr/>
          <p:nvPr/>
        </p:nvSpPr>
        <p:spPr>
          <a:xfrm>
            <a:off x="6373368" y="3977640"/>
            <a:ext cx="2240280" cy="384048"/>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15% (voltage mode) → &lt; 1% (charge mode)</a:t>
            </a:r>
            <a:endParaRPr lang="en-US" sz="1000" dirty="0"/>
          </a:p>
        </p:txBody>
      </p:sp>
      <p:sp>
        <p:nvSpPr>
          <p:cNvPr id="34" name="Text 32"/>
          <p:cNvSpPr/>
          <p:nvPr/>
        </p:nvSpPr>
        <p:spPr>
          <a:xfrm>
            <a:off x="5029200" y="4407408"/>
            <a:ext cx="1325880" cy="384048"/>
          </a:xfrm>
          <a:prstGeom prst="rect">
            <a:avLst/>
          </a:prstGeom>
          <a:noFill/>
          <a:ln/>
        </p:spPr>
        <p:txBody>
          <a:bodyPr wrap="square" rtlCol="0" anchor="ctr"/>
          <a:lstStyle/>
          <a:p>
            <a:pPr indent="0" marL="0">
              <a:buNone/>
            </a:pPr>
            <a:r>
              <a:rPr lang="en-US" sz="1000" b="1" dirty="0">
                <a:solidFill>
                  <a:srgbClr val="A8B8D8"/>
                </a:solidFill>
                <a:latin typeface="Calibri" pitchFamily="34" charset="0"/>
                <a:ea typeface="Calibri" pitchFamily="34" charset="-122"/>
                <a:cs typeface="Calibri" pitchFamily="34" charset="-120"/>
              </a:rPr>
              <a:t>Function:</a:t>
            </a:r>
            <a:endParaRPr lang="en-US" sz="1000" dirty="0"/>
          </a:p>
        </p:txBody>
      </p:sp>
      <p:sp>
        <p:nvSpPr>
          <p:cNvPr id="35" name="Text 33"/>
          <p:cNvSpPr/>
          <p:nvPr/>
        </p:nvSpPr>
        <p:spPr>
          <a:xfrm>
            <a:off x="6373368" y="4407408"/>
            <a:ext cx="2240280" cy="384048"/>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TX beam steering + PAT error correction (same actuator)</a:t>
            </a:r>
            <a:endParaRPr lang="en-US" sz="1000" dirty="0"/>
          </a:p>
        </p:txBody>
      </p:sp>
      <p:sp>
        <p:nvSpPr>
          <p:cNvPr id="36" name="Text 34"/>
          <p:cNvSpPr/>
          <p:nvPr/>
        </p:nvSpPr>
        <p:spPr>
          <a:xfrm>
            <a:off x="457200" y="4754880"/>
            <a:ext cx="8321040" cy="292608"/>
          </a:xfrm>
          <a:prstGeom prst="rect">
            <a:avLst/>
          </a:prstGeom>
          <a:noFill/>
          <a:ln/>
        </p:spPr>
        <p:txBody>
          <a:bodyPr wrap="square" rtlCol="0" anchor="ctr"/>
          <a:lstStyle/>
          <a:p>
            <a:pPr algn="ctr" indent="0" marL="0">
              <a:buNone/>
            </a:pPr>
            <a:r>
              <a:rPr lang="en-US" sz="1050" i="1" dirty="0">
                <a:solidFill>
                  <a:srgbClr val="FFD166"/>
                </a:solidFill>
                <a:latin typeface="Calibri" pitchFamily="34" charset="0"/>
                <a:ea typeface="Calibri" pitchFamily="34" charset="-122"/>
                <a:cs typeface="Calibri" pitchFamily="34" charset="-120"/>
              </a:rPr>
              <a:t>Key coupling: divergence θ ∝ λ/D  →  larger aperture = narrower beam = higher gain = tighter pointing requirement.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F2C"/>
        </a:solidFill>
      </p:bgPr>
    </p:bg>
    <p:spTree>
      <p:nvGrpSpPr>
        <p:cNvPr id="1" name=""/>
        <p:cNvGrpSpPr/>
        <p:nvPr/>
      </p:nvGrpSpPr>
      <p:grpSpPr>
        <a:xfrm>
          <a:off x="0" y="0"/>
          <a:ext cx="0" cy="0"/>
          <a:chOff x="0" y="0"/>
          <a:chExt cx="0" cy="0"/>
        </a:xfrm>
      </p:grpSpPr>
      <p:sp>
        <p:nvSpPr>
          <p:cNvPr id="2" name="Shape 0"/>
          <p:cNvSpPr/>
          <p:nvPr/>
        </p:nvSpPr>
        <p:spPr>
          <a:xfrm>
            <a:off x="-914400" y="3200400"/>
            <a:ext cx="3200400" cy="3200400"/>
          </a:xfrm>
          <a:prstGeom prst="ellipse">
            <a:avLst/>
          </a:prstGeom>
          <a:solidFill>
            <a:srgbClr val="00C8FF">
              <a:alpha val="8000"/>
            </a:srgbClr>
          </a:solidFill>
          <a:ln w="6350">
            <a:solidFill>
              <a:srgbClr val="00C8FF">
                <a:alpha val="20000"/>
              </a:srgbClr>
            </a:solidFill>
            <a:prstDash val="solid"/>
          </a:ln>
        </p:spPr>
      </p:sp>
      <p:sp>
        <p:nvSpPr>
          <p:cNvPr id="3" name="Text 1"/>
          <p:cNvSpPr/>
          <p:nvPr/>
        </p:nvSpPr>
        <p:spPr>
          <a:xfrm>
            <a:off x="457200" y="256032"/>
            <a:ext cx="4114800" cy="274320"/>
          </a:xfrm>
          <a:prstGeom prst="rect">
            <a:avLst/>
          </a:prstGeom>
          <a:noFill/>
          <a:ln/>
        </p:spPr>
        <p:txBody>
          <a:bodyPr wrap="square" rtlCol="0" anchor="ctr"/>
          <a:lstStyle/>
          <a:p>
            <a:pPr indent="0" marL="0">
              <a:buNone/>
            </a:pPr>
            <a:r>
              <a:rPr lang="en-US" sz="900" b="1" spc="300" kern="0" dirty="0">
                <a:solidFill>
                  <a:srgbClr val="00C8FF"/>
                </a:solidFill>
              </a:rPr>
              <a:t>OPTICAL COMPONENTS — III</a:t>
            </a:r>
            <a:endParaRPr lang="en-US" sz="900" dirty="0"/>
          </a:p>
        </p:txBody>
      </p:sp>
      <p:sp>
        <p:nvSpPr>
          <p:cNvPr id="4" name="Text 2"/>
          <p:cNvSpPr/>
          <p:nvPr/>
        </p:nvSpPr>
        <p:spPr>
          <a:xfrm>
            <a:off x="457200" y="530352"/>
            <a:ext cx="7772400" cy="5943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Receive Telescope &amp; Photodetector</a:t>
            </a:r>
            <a:endParaRPr lang="en-US" sz="3000" dirty="0"/>
          </a:p>
        </p:txBody>
      </p:sp>
      <p:sp>
        <p:nvSpPr>
          <p:cNvPr id="5" name="Shape 3"/>
          <p:cNvSpPr/>
          <p:nvPr/>
        </p:nvSpPr>
        <p:spPr>
          <a:xfrm>
            <a:off x="457200" y="1234440"/>
            <a:ext cx="4160520" cy="2331720"/>
          </a:xfrm>
          <a:prstGeom prst="roundRect">
            <a:avLst>
              <a:gd name="adj" fmla="val 4706"/>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6" name="Shape 4"/>
          <p:cNvSpPr/>
          <p:nvPr/>
        </p:nvSpPr>
        <p:spPr>
          <a:xfrm>
            <a:off x="457200" y="1234440"/>
            <a:ext cx="4160520" cy="457200"/>
          </a:xfrm>
          <a:prstGeom prst="roundRect">
            <a:avLst>
              <a:gd name="adj" fmla="val 24000"/>
            </a:avLst>
          </a:prstGeom>
          <a:solidFill>
            <a:srgbClr val="00C8FF">
              <a:alpha val="85000"/>
            </a:srgbClr>
          </a:solidFill>
          <a:ln w="12700">
            <a:solidFill>
              <a:srgbClr val="00C8FF"/>
            </a:solidFill>
            <a:prstDash val="solid"/>
          </a:ln>
        </p:spPr>
      </p:sp>
      <p:sp>
        <p:nvSpPr>
          <p:cNvPr id="7" name="Text 5"/>
          <p:cNvSpPr/>
          <p:nvPr/>
        </p:nvSpPr>
        <p:spPr>
          <a:xfrm>
            <a:off x="594360" y="1252728"/>
            <a:ext cx="2286000" cy="420624"/>
          </a:xfrm>
          <a:prstGeom prst="rect">
            <a:avLst/>
          </a:prstGeom>
          <a:noFill/>
          <a:ln/>
        </p:spPr>
        <p:txBody>
          <a:bodyPr wrap="square" rtlCol="0" anchor="ctr"/>
          <a:lstStyle/>
          <a:p>
            <a:pPr indent="0" marL="0">
              <a:buNone/>
            </a:pPr>
            <a:r>
              <a:rPr lang="en-US" sz="1400" b="1" dirty="0">
                <a:solidFill>
                  <a:srgbClr val="0A0F2C"/>
                </a:solidFill>
              </a:rPr>
              <a:t>InGaAs APD</a:t>
            </a:r>
            <a:endParaRPr lang="en-US" sz="1400" dirty="0"/>
          </a:p>
        </p:txBody>
      </p:sp>
      <p:sp>
        <p:nvSpPr>
          <p:cNvPr id="8" name="Text 6"/>
          <p:cNvSpPr/>
          <p:nvPr/>
        </p:nvSpPr>
        <p:spPr>
          <a:xfrm>
            <a:off x="2834640" y="1252728"/>
            <a:ext cx="1645920" cy="420624"/>
          </a:xfrm>
          <a:prstGeom prst="rect">
            <a:avLst/>
          </a:prstGeom>
          <a:noFill/>
          <a:ln/>
        </p:spPr>
        <p:txBody>
          <a:bodyPr wrap="square" rtlCol="0" anchor="ctr"/>
          <a:lstStyle/>
          <a:p>
            <a:pPr indent="0" marL="0">
              <a:buNone/>
            </a:pPr>
            <a:r>
              <a:rPr lang="en-US" sz="1000" i="1" dirty="0">
                <a:solidFill>
                  <a:srgbClr val="0A0F2C"/>
                </a:solidFill>
              </a:rPr>
              <a:t>Workhorse for LEO-LEO OISL</a:t>
            </a:r>
            <a:endParaRPr lang="en-US" sz="1000" dirty="0"/>
          </a:p>
        </p:txBody>
      </p:sp>
      <p:sp>
        <p:nvSpPr>
          <p:cNvPr id="9" name="Shape 7"/>
          <p:cNvSpPr/>
          <p:nvPr/>
        </p:nvSpPr>
        <p:spPr>
          <a:xfrm>
            <a:off x="640080" y="1929384"/>
            <a:ext cx="109728" cy="109728"/>
          </a:xfrm>
          <a:prstGeom prst="ellipse">
            <a:avLst/>
          </a:prstGeom>
          <a:solidFill>
            <a:srgbClr val="00C8FF"/>
          </a:solidFill>
          <a:ln w="12700">
            <a:solidFill>
              <a:srgbClr val="00C8FF"/>
            </a:solidFill>
            <a:prstDash val="solid"/>
          </a:ln>
        </p:spPr>
      </p:sp>
      <p:sp>
        <p:nvSpPr>
          <p:cNvPr id="10" name="Text 8"/>
          <p:cNvSpPr/>
          <p:nvPr/>
        </p:nvSpPr>
        <p:spPr>
          <a:xfrm>
            <a:off x="804672" y="1847088"/>
            <a:ext cx="3657600" cy="329184"/>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Internal gain M = 5–20×</a:t>
            </a:r>
            <a:endParaRPr lang="en-US" sz="1000" dirty="0"/>
          </a:p>
        </p:txBody>
      </p:sp>
      <p:sp>
        <p:nvSpPr>
          <p:cNvPr id="11" name="Shape 9"/>
          <p:cNvSpPr/>
          <p:nvPr/>
        </p:nvSpPr>
        <p:spPr>
          <a:xfrm>
            <a:off x="640080" y="2276856"/>
            <a:ext cx="109728" cy="109728"/>
          </a:xfrm>
          <a:prstGeom prst="ellipse">
            <a:avLst/>
          </a:prstGeom>
          <a:solidFill>
            <a:srgbClr val="00C8FF"/>
          </a:solidFill>
          <a:ln w="12700">
            <a:solidFill>
              <a:srgbClr val="00C8FF"/>
            </a:solidFill>
            <a:prstDash val="solid"/>
          </a:ln>
        </p:spPr>
      </p:sp>
      <p:sp>
        <p:nvSpPr>
          <p:cNvPr id="12" name="Text 10"/>
          <p:cNvSpPr/>
          <p:nvPr/>
        </p:nvSpPr>
        <p:spPr>
          <a:xfrm>
            <a:off x="804672" y="2194560"/>
            <a:ext cx="3657600" cy="329184"/>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Sensitivity: −30 to −35 dBm @ 10G</a:t>
            </a:r>
            <a:endParaRPr lang="en-US" sz="1000" dirty="0"/>
          </a:p>
        </p:txBody>
      </p:sp>
      <p:sp>
        <p:nvSpPr>
          <p:cNvPr id="13" name="Shape 11"/>
          <p:cNvSpPr/>
          <p:nvPr/>
        </p:nvSpPr>
        <p:spPr>
          <a:xfrm>
            <a:off x="640080" y="2624328"/>
            <a:ext cx="109728" cy="109728"/>
          </a:xfrm>
          <a:prstGeom prst="ellipse">
            <a:avLst/>
          </a:prstGeom>
          <a:solidFill>
            <a:srgbClr val="00C8FF"/>
          </a:solidFill>
          <a:ln w="12700">
            <a:solidFill>
              <a:srgbClr val="00C8FF"/>
            </a:solidFill>
            <a:prstDash val="solid"/>
          </a:ln>
        </p:spPr>
      </p:sp>
      <p:sp>
        <p:nvSpPr>
          <p:cNvPr id="14" name="Text 12"/>
          <p:cNvSpPr/>
          <p:nvPr/>
        </p:nvSpPr>
        <p:spPr>
          <a:xfrm>
            <a:off x="804672" y="2542032"/>
            <a:ext cx="3657600" cy="329184"/>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Operates at room temperature</a:t>
            </a:r>
            <a:endParaRPr lang="en-US" sz="1000" dirty="0"/>
          </a:p>
        </p:txBody>
      </p:sp>
      <p:sp>
        <p:nvSpPr>
          <p:cNvPr id="15" name="Shape 13"/>
          <p:cNvSpPr/>
          <p:nvPr/>
        </p:nvSpPr>
        <p:spPr>
          <a:xfrm>
            <a:off x="640080" y="2971800"/>
            <a:ext cx="109728" cy="109728"/>
          </a:xfrm>
          <a:prstGeom prst="ellipse">
            <a:avLst/>
          </a:prstGeom>
          <a:solidFill>
            <a:srgbClr val="00C8FF"/>
          </a:solidFill>
          <a:ln w="12700">
            <a:solidFill>
              <a:srgbClr val="00C8FF"/>
            </a:solidFill>
            <a:prstDash val="solid"/>
          </a:ln>
        </p:spPr>
      </p:sp>
      <p:sp>
        <p:nvSpPr>
          <p:cNvPr id="16" name="Text 14"/>
          <p:cNvSpPr/>
          <p:nvPr/>
        </p:nvSpPr>
        <p:spPr>
          <a:xfrm>
            <a:off x="804672" y="2889504"/>
            <a:ext cx="3657600" cy="329184"/>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InGaAs sensitive 900–1650 nm</a:t>
            </a:r>
            <a:endParaRPr lang="en-US" sz="1000" dirty="0"/>
          </a:p>
        </p:txBody>
      </p:sp>
      <p:sp>
        <p:nvSpPr>
          <p:cNvPr id="17" name="Shape 15"/>
          <p:cNvSpPr/>
          <p:nvPr/>
        </p:nvSpPr>
        <p:spPr>
          <a:xfrm>
            <a:off x="4892040" y="1234440"/>
            <a:ext cx="4160520" cy="2331720"/>
          </a:xfrm>
          <a:prstGeom prst="roundRect">
            <a:avLst>
              <a:gd name="adj" fmla="val 4706"/>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18" name="Shape 16"/>
          <p:cNvSpPr/>
          <p:nvPr/>
        </p:nvSpPr>
        <p:spPr>
          <a:xfrm>
            <a:off x="4892040" y="1234440"/>
            <a:ext cx="4160520" cy="457200"/>
          </a:xfrm>
          <a:prstGeom prst="roundRect">
            <a:avLst>
              <a:gd name="adj" fmla="val 24000"/>
            </a:avLst>
          </a:prstGeom>
          <a:solidFill>
            <a:srgbClr val="7B5EF8">
              <a:alpha val="85000"/>
            </a:srgbClr>
          </a:solidFill>
          <a:ln w="12700">
            <a:solidFill>
              <a:srgbClr val="7B5EF8"/>
            </a:solidFill>
            <a:prstDash val="solid"/>
          </a:ln>
        </p:spPr>
      </p:sp>
      <p:sp>
        <p:nvSpPr>
          <p:cNvPr id="19" name="Text 17"/>
          <p:cNvSpPr/>
          <p:nvPr/>
        </p:nvSpPr>
        <p:spPr>
          <a:xfrm>
            <a:off x="5029200" y="1252728"/>
            <a:ext cx="2286000" cy="420624"/>
          </a:xfrm>
          <a:prstGeom prst="rect">
            <a:avLst/>
          </a:prstGeom>
          <a:noFill/>
          <a:ln/>
        </p:spPr>
        <p:txBody>
          <a:bodyPr wrap="square" rtlCol="0" anchor="ctr"/>
          <a:lstStyle/>
          <a:p>
            <a:pPr indent="0" marL="0">
              <a:buNone/>
            </a:pPr>
            <a:r>
              <a:rPr lang="en-US" sz="1400" b="1" dirty="0">
                <a:solidFill>
                  <a:srgbClr val="0A0F2C"/>
                </a:solidFill>
              </a:rPr>
              <a:t>SNSPD</a:t>
            </a:r>
            <a:endParaRPr lang="en-US" sz="1400" dirty="0"/>
          </a:p>
        </p:txBody>
      </p:sp>
      <p:sp>
        <p:nvSpPr>
          <p:cNvPr id="20" name="Text 18"/>
          <p:cNvSpPr/>
          <p:nvPr/>
        </p:nvSpPr>
        <p:spPr>
          <a:xfrm>
            <a:off x="7269480" y="1252728"/>
            <a:ext cx="1645920" cy="420624"/>
          </a:xfrm>
          <a:prstGeom prst="rect">
            <a:avLst/>
          </a:prstGeom>
          <a:noFill/>
          <a:ln/>
        </p:spPr>
        <p:txBody>
          <a:bodyPr wrap="square" rtlCol="0" anchor="ctr"/>
          <a:lstStyle/>
          <a:p>
            <a:pPr indent="0" marL="0">
              <a:buNone/>
            </a:pPr>
            <a:r>
              <a:rPr lang="en-US" sz="1000" i="1" dirty="0">
                <a:solidFill>
                  <a:srgbClr val="0A0F2C"/>
                </a:solidFill>
              </a:rPr>
              <a:t>Deep-space / photon-starved links</a:t>
            </a:r>
            <a:endParaRPr lang="en-US" sz="1000" dirty="0"/>
          </a:p>
        </p:txBody>
      </p:sp>
      <p:sp>
        <p:nvSpPr>
          <p:cNvPr id="21" name="Shape 19"/>
          <p:cNvSpPr/>
          <p:nvPr/>
        </p:nvSpPr>
        <p:spPr>
          <a:xfrm>
            <a:off x="5074920" y="1929384"/>
            <a:ext cx="109728" cy="109728"/>
          </a:xfrm>
          <a:prstGeom prst="ellipse">
            <a:avLst/>
          </a:prstGeom>
          <a:solidFill>
            <a:srgbClr val="7B5EF8"/>
          </a:solidFill>
          <a:ln w="12700">
            <a:solidFill>
              <a:srgbClr val="7B5EF8"/>
            </a:solidFill>
            <a:prstDash val="solid"/>
          </a:ln>
        </p:spPr>
      </p:sp>
      <p:sp>
        <p:nvSpPr>
          <p:cNvPr id="22" name="Text 20"/>
          <p:cNvSpPr/>
          <p:nvPr/>
        </p:nvSpPr>
        <p:spPr>
          <a:xfrm>
            <a:off x="5239512" y="1847088"/>
            <a:ext cx="3657600" cy="329184"/>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Single-photon sensitivity, &gt;90% efficiency</a:t>
            </a:r>
            <a:endParaRPr lang="en-US" sz="1000" dirty="0"/>
          </a:p>
        </p:txBody>
      </p:sp>
      <p:sp>
        <p:nvSpPr>
          <p:cNvPr id="23" name="Shape 21"/>
          <p:cNvSpPr/>
          <p:nvPr/>
        </p:nvSpPr>
        <p:spPr>
          <a:xfrm>
            <a:off x="5074920" y="2276856"/>
            <a:ext cx="109728" cy="109728"/>
          </a:xfrm>
          <a:prstGeom prst="ellipse">
            <a:avLst/>
          </a:prstGeom>
          <a:solidFill>
            <a:srgbClr val="7B5EF8"/>
          </a:solidFill>
          <a:ln w="12700">
            <a:solidFill>
              <a:srgbClr val="7B5EF8"/>
            </a:solidFill>
            <a:prstDash val="solid"/>
          </a:ln>
        </p:spPr>
      </p:sp>
      <p:sp>
        <p:nvSpPr>
          <p:cNvPr id="24" name="Text 22"/>
          <p:cNvSpPr/>
          <p:nvPr/>
        </p:nvSpPr>
        <p:spPr>
          <a:xfrm>
            <a:off x="5239512" y="2194560"/>
            <a:ext cx="3657600" cy="329184"/>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Timing jitter &lt; 50 ps</a:t>
            </a:r>
            <a:endParaRPr lang="en-US" sz="1000" dirty="0"/>
          </a:p>
        </p:txBody>
      </p:sp>
      <p:sp>
        <p:nvSpPr>
          <p:cNvPr id="25" name="Shape 23"/>
          <p:cNvSpPr/>
          <p:nvPr/>
        </p:nvSpPr>
        <p:spPr>
          <a:xfrm>
            <a:off x="5074920" y="2624328"/>
            <a:ext cx="109728" cy="109728"/>
          </a:xfrm>
          <a:prstGeom prst="ellipse">
            <a:avLst/>
          </a:prstGeom>
          <a:solidFill>
            <a:srgbClr val="7B5EF8"/>
          </a:solidFill>
          <a:ln w="12700">
            <a:solidFill>
              <a:srgbClr val="7B5EF8"/>
            </a:solidFill>
            <a:prstDash val="solid"/>
          </a:ln>
        </p:spPr>
      </p:sp>
      <p:sp>
        <p:nvSpPr>
          <p:cNvPr id="26" name="Text 24"/>
          <p:cNvSpPr/>
          <p:nvPr/>
        </p:nvSpPr>
        <p:spPr>
          <a:xfrm>
            <a:off x="5239512" y="2542032"/>
            <a:ext cx="3657600" cy="329184"/>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Used in NASA LLCD (lunar demo)</a:t>
            </a:r>
            <a:endParaRPr lang="en-US" sz="1000" dirty="0"/>
          </a:p>
        </p:txBody>
      </p:sp>
      <p:sp>
        <p:nvSpPr>
          <p:cNvPr id="27" name="Text 25"/>
          <p:cNvSpPr/>
          <p:nvPr/>
        </p:nvSpPr>
        <p:spPr>
          <a:xfrm>
            <a:off x="457200" y="3703320"/>
            <a:ext cx="4572000" cy="274320"/>
          </a:xfrm>
          <a:prstGeom prst="rect">
            <a:avLst/>
          </a:prstGeom>
          <a:noFill/>
          <a:ln/>
        </p:spPr>
        <p:txBody>
          <a:bodyPr wrap="square" rtlCol="0" anchor="ctr"/>
          <a:lstStyle/>
          <a:p>
            <a:pPr indent="0" marL="0">
              <a:buNone/>
            </a:pPr>
            <a:r>
              <a:rPr lang="en-US" sz="1200" b="1" dirty="0">
                <a:solidFill>
                  <a:srgbClr val="00E5C0"/>
                </a:solidFill>
                <a:latin typeface="Calibri" pitchFamily="34" charset="0"/>
                <a:ea typeface="Calibri" pitchFamily="34" charset="-122"/>
                <a:cs typeface="Calibri" pitchFamily="34" charset="-120"/>
              </a:rPr>
              <a:t>Complete Receive Chain</a:t>
            </a:r>
            <a:endParaRPr lang="en-US" sz="1200" dirty="0"/>
          </a:p>
        </p:txBody>
      </p:sp>
      <p:sp>
        <p:nvSpPr>
          <p:cNvPr id="28" name="Shape 26"/>
          <p:cNvSpPr/>
          <p:nvPr/>
        </p:nvSpPr>
        <p:spPr>
          <a:xfrm>
            <a:off x="365760" y="4041648"/>
            <a:ext cx="1417320" cy="896112"/>
          </a:xfrm>
          <a:prstGeom prst="roundRect">
            <a:avLst>
              <a:gd name="adj" fmla="val 12245"/>
            </a:avLst>
          </a:prstGeom>
          <a:solidFill>
            <a:srgbClr val="152050"/>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29" name="Text 27"/>
          <p:cNvSpPr/>
          <p:nvPr/>
        </p:nvSpPr>
        <p:spPr>
          <a:xfrm>
            <a:off x="438912" y="4078224"/>
            <a:ext cx="1261872"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Cassegrain</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Telescope</a:t>
            </a:r>
            <a:endParaRPr lang="en-US" sz="1000" dirty="0"/>
          </a:p>
        </p:txBody>
      </p:sp>
      <p:sp>
        <p:nvSpPr>
          <p:cNvPr id="30" name="Text 28"/>
          <p:cNvSpPr/>
          <p:nvPr/>
        </p:nvSpPr>
        <p:spPr>
          <a:xfrm>
            <a:off x="438912" y="4407408"/>
            <a:ext cx="1261872" cy="457200"/>
          </a:xfrm>
          <a:prstGeom prst="rect">
            <a:avLst/>
          </a:prstGeom>
          <a:noFill/>
          <a:ln/>
        </p:spPr>
        <p:txBody>
          <a:bodyPr wrap="square" rtlCol="0" anchor="ctr"/>
          <a:lstStyle/>
          <a:p>
            <a:pPr algn="ctr" indent="0" marL="0">
              <a:buNone/>
            </a:pPr>
            <a:r>
              <a:rPr lang="en-US" sz="900" dirty="0">
                <a:solidFill>
                  <a:srgbClr val="A8B8D8"/>
                </a:solidFill>
                <a:latin typeface="Calibri" pitchFamily="34" charset="0"/>
                <a:ea typeface="Calibri" pitchFamily="34" charset="-122"/>
                <a:cs typeface="Calibri" pitchFamily="34" charset="-120"/>
              </a:rPr>
              <a:t>50–100 mm</a:t>
            </a:r>
            <a:endParaRPr lang="en-US" sz="900" dirty="0"/>
          </a:p>
          <a:p>
            <a:pPr algn="ctr" indent="0" marL="0">
              <a:buNone/>
            </a:pPr>
            <a:r>
              <a:rPr lang="en-US" sz="900" dirty="0">
                <a:solidFill>
                  <a:srgbClr val="A8B8D8"/>
                </a:solidFill>
                <a:latin typeface="Calibri" pitchFamily="34" charset="0"/>
                <a:ea typeface="Calibri" pitchFamily="34" charset="-122"/>
                <a:cs typeface="Calibri" pitchFamily="34" charset="-120"/>
              </a:rPr>
              <a:t>D_rx aperture</a:t>
            </a:r>
            <a:endParaRPr lang="en-US" sz="900" dirty="0"/>
          </a:p>
        </p:txBody>
      </p:sp>
      <p:pic>
        <p:nvPicPr>
          <p:cNvPr id="31" name="Image 0" descr="preencoded.png">    </p:cNvPr>
          <p:cNvPicPr>
            <a:picLocks noChangeAspect="1"/>
          </p:cNvPicPr>
          <p:nvPr/>
        </p:nvPicPr>
        <p:blipFill>
          <a:blip r:embed="rId1"/>
          <a:stretch>
            <a:fillRect/>
          </a:stretch>
        </p:blipFill>
        <p:spPr>
          <a:xfrm>
            <a:off x="1810512" y="4352544"/>
            <a:ext cx="228600" cy="228600"/>
          </a:xfrm>
          <a:prstGeom prst="rect">
            <a:avLst/>
          </a:prstGeom>
        </p:spPr>
      </p:pic>
      <p:sp>
        <p:nvSpPr>
          <p:cNvPr id="32" name="Shape 29"/>
          <p:cNvSpPr/>
          <p:nvPr/>
        </p:nvSpPr>
        <p:spPr>
          <a:xfrm>
            <a:off x="2084832" y="4041648"/>
            <a:ext cx="1417320" cy="896112"/>
          </a:xfrm>
          <a:prstGeom prst="roundRect">
            <a:avLst>
              <a:gd name="adj" fmla="val 12245"/>
            </a:avLst>
          </a:prstGeom>
          <a:solidFill>
            <a:srgbClr val="152050"/>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33" name="Text 30"/>
          <p:cNvSpPr/>
          <p:nvPr/>
        </p:nvSpPr>
        <p:spPr>
          <a:xfrm>
            <a:off x="2157984" y="4078224"/>
            <a:ext cx="1261872"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Bandpass</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Filter</a:t>
            </a:r>
            <a:endParaRPr lang="en-US" sz="1000" dirty="0"/>
          </a:p>
        </p:txBody>
      </p:sp>
      <p:sp>
        <p:nvSpPr>
          <p:cNvPr id="34" name="Text 31"/>
          <p:cNvSpPr/>
          <p:nvPr/>
        </p:nvSpPr>
        <p:spPr>
          <a:xfrm>
            <a:off x="2157984" y="4407408"/>
            <a:ext cx="1261872" cy="457200"/>
          </a:xfrm>
          <a:prstGeom prst="rect">
            <a:avLst/>
          </a:prstGeom>
          <a:noFill/>
          <a:ln/>
        </p:spPr>
        <p:txBody>
          <a:bodyPr wrap="square" rtlCol="0" anchor="ctr"/>
          <a:lstStyle/>
          <a:p>
            <a:pPr algn="ctr" indent="0" marL="0">
              <a:buNone/>
            </a:pPr>
            <a:r>
              <a:rPr lang="en-US" sz="900" dirty="0">
                <a:solidFill>
                  <a:srgbClr val="A8B8D8"/>
                </a:solidFill>
                <a:latin typeface="Calibri" pitchFamily="34" charset="0"/>
                <a:ea typeface="Calibri" pitchFamily="34" charset="-122"/>
                <a:cs typeface="Calibri" pitchFamily="34" charset="-120"/>
              </a:rPr>
              <a:t>0.3–1 nm</a:t>
            </a:r>
            <a:endParaRPr lang="en-US" sz="900" dirty="0"/>
          </a:p>
          <a:p>
            <a:pPr algn="ctr" indent="0" marL="0">
              <a:buNone/>
            </a:pPr>
            <a:r>
              <a:rPr lang="en-US" sz="900" dirty="0">
                <a:solidFill>
                  <a:srgbClr val="A8B8D8"/>
                </a:solidFill>
                <a:latin typeface="Calibri" pitchFamily="34" charset="0"/>
                <a:ea typeface="Calibri" pitchFamily="34" charset="-122"/>
                <a:cs typeface="Calibri" pitchFamily="34" charset="-120"/>
              </a:rPr>
              <a:t>passband</a:t>
            </a:r>
            <a:endParaRPr lang="en-US" sz="900" dirty="0"/>
          </a:p>
        </p:txBody>
      </p:sp>
      <p:pic>
        <p:nvPicPr>
          <p:cNvPr id="35" name="Image 1" descr="preencoded.png">    </p:cNvPr>
          <p:cNvPicPr>
            <a:picLocks noChangeAspect="1"/>
          </p:cNvPicPr>
          <p:nvPr/>
        </p:nvPicPr>
        <p:blipFill>
          <a:blip r:embed="rId2"/>
          <a:stretch>
            <a:fillRect/>
          </a:stretch>
        </p:blipFill>
        <p:spPr>
          <a:xfrm>
            <a:off x="3529584" y="4352544"/>
            <a:ext cx="228600" cy="228600"/>
          </a:xfrm>
          <a:prstGeom prst="rect">
            <a:avLst/>
          </a:prstGeom>
        </p:spPr>
      </p:pic>
      <p:sp>
        <p:nvSpPr>
          <p:cNvPr id="36" name="Shape 32"/>
          <p:cNvSpPr/>
          <p:nvPr/>
        </p:nvSpPr>
        <p:spPr>
          <a:xfrm>
            <a:off x="3803904" y="4041648"/>
            <a:ext cx="1417320" cy="896112"/>
          </a:xfrm>
          <a:prstGeom prst="roundRect">
            <a:avLst>
              <a:gd name="adj" fmla="val 12245"/>
            </a:avLst>
          </a:prstGeom>
          <a:solidFill>
            <a:srgbClr val="152050"/>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37" name="Text 33"/>
          <p:cNvSpPr/>
          <p:nvPr/>
        </p:nvSpPr>
        <p:spPr>
          <a:xfrm>
            <a:off x="3877056" y="4078224"/>
            <a:ext cx="1261872"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Focus</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Optics</a:t>
            </a:r>
            <a:endParaRPr lang="en-US" sz="1000" dirty="0"/>
          </a:p>
        </p:txBody>
      </p:sp>
      <p:sp>
        <p:nvSpPr>
          <p:cNvPr id="38" name="Text 34"/>
          <p:cNvSpPr/>
          <p:nvPr/>
        </p:nvSpPr>
        <p:spPr>
          <a:xfrm>
            <a:off x="3877056" y="4407408"/>
            <a:ext cx="1261872" cy="457200"/>
          </a:xfrm>
          <a:prstGeom prst="rect">
            <a:avLst/>
          </a:prstGeom>
          <a:noFill/>
          <a:ln/>
        </p:spPr>
        <p:txBody>
          <a:bodyPr wrap="square" rtlCol="0" anchor="ctr"/>
          <a:lstStyle/>
          <a:p>
            <a:pPr algn="ctr" indent="0" marL="0">
              <a:buNone/>
            </a:pPr>
            <a:r>
              <a:rPr lang="en-US" sz="900" dirty="0">
                <a:solidFill>
                  <a:srgbClr val="A8B8D8"/>
                </a:solidFill>
                <a:latin typeface="Calibri" pitchFamily="34" charset="0"/>
                <a:ea typeface="Calibri" pitchFamily="34" charset="-122"/>
                <a:cs typeface="Calibri" pitchFamily="34" charset="-120"/>
              </a:rPr>
              <a:t>f/4–f/8</a:t>
            </a:r>
            <a:endParaRPr lang="en-US" sz="900" dirty="0"/>
          </a:p>
          <a:p>
            <a:pPr algn="ctr" indent="0" marL="0">
              <a:buNone/>
            </a:pPr>
            <a:r>
              <a:rPr lang="en-US" sz="900" dirty="0">
                <a:solidFill>
                  <a:srgbClr val="A8B8D8"/>
                </a:solidFill>
                <a:latin typeface="Calibri" pitchFamily="34" charset="0"/>
                <a:ea typeface="Calibri" pitchFamily="34" charset="-122"/>
                <a:cs typeface="Calibri" pitchFamily="34" charset="-120"/>
              </a:rPr>
              <a:t>focal ratio</a:t>
            </a:r>
            <a:endParaRPr lang="en-US" sz="900" dirty="0"/>
          </a:p>
        </p:txBody>
      </p:sp>
      <p:pic>
        <p:nvPicPr>
          <p:cNvPr id="39" name="Image 2" descr="preencoded.png">    </p:cNvPr>
          <p:cNvPicPr>
            <a:picLocks noChangeAspect="1"/>
          </p:cNvPicPr>
          <p:nvPr/>
        </p:nvPicPr>
        <p:blipFill>
          <a:blip r:embed="rId3"/>
          <a:stretch>
            <a:fillRect/>
          </a:stretch>
        </p:blipFill>
        <p:spPr>
          <a:xfrm>
            <a:off x="5248656" y="4352544"/>
            <a:ext cx="228600" cy="228600"/>
          </a:xfrm>
          <a:prstGeom prst="rect">
            <a:avLst/>
          </a:prstGeom>
        </p:spPr>
      </p:pic>
      <p:sp>
        <p:nvSpPr>
          <p:cNvPr id="40" name="Shape 35"/>
          <p:cNvSpPr/>
          <p:nvPr/>
        </p:nvSpPr>
        <p:spPr>
          <a:xfrm>
            <a:off x="5522976" y="4041648"/>
            <a:ext cx="1417320" cy="896112"/>
          </a:xfrm>
          <a:prstGeom prst="roundRect">
            <a:avLst>
              <a:gd name="adj" fmla="val 12245"/>
            </a:avLst>
          </a:prstGeom>
          <a:solidFill>
            <a:srgbClr val="152050"/>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41" name="Text 36"/>
          <p:cNvSpPr/>
          <p:nvPr/>
        </p:nvSpPr>
        <p:spPr>
          <a:xfrm>
            <a:off x="5596128" y="4078224"/>
            <a:ext cx="1261872"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APD</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Detector</a:t>
            </a:r>
            <a:endParaRPr lang="en-US" sz="1000" dirty="0"/>
          </a:p>
        </p:txBody>
      </p:sp>
      <p:sp>
        <p:nvSpPr>
          <p:cNvPr id="42" name="Text 37"/>
          <p:cNvSpPr/>
          <p:nvPr/>
        </p:nvSpPr>
        <p:spPr>
          <a:xfrm>
            <a:off x="5596128" y="4407408"/>
            <a:ext cx="1261872" cy="457200"/>
          </a:xfrm>
          <a:prstGeom prst="rect">
            <a:avLst/>
          </a:prstGeom>
          <a:noFill/>
          <a:ln/>
        </p:spPr>
        <p:txBody>
          <a:bodyPr wrap="square" rtlCol="0" anchor="ctr"/>
          <a:lstStyle/>
          <a:p>
            <a:pPr algn="ctr" indent="0" marL="0">
              <a:buNone/>
            </a:pPr>
            <a:r>
              <a:rPr lang="en-US" sz="900" dirty="0">
                <a:solidFill>
                  <a:srgbClr val="A8B8D8"/>
                </a:solidFill>
                <a:latin typeface="Calibri" pitchFamily="34" charset="0"/>
                <a:ea typeface="Calibri" pitchFamily="34" charset="-122"/>
                <a:cs typeface="Calibri" pitchFamily="34" charset="-120"/>
              </a:rPr>
              <a:t>InGaAs</a:t>
            </a:r>
            <a:endParaRPr lang="en-US" sz="900" dirty="0"/>
          </a:p>
          <a:p>
            <a:pPr algn="ctr" indent="0" marL="0">
              <a:buNone/>
            </a:pPr>
            <a:r>
              <a:rPr lang="en-US" sz="900" dirty="0">
                <a:solidFill>
                  <a:srgbClr val="A8B8D8"/>
                </a:solidFill>
                <a:latin typeface="Calibri" pitchFamily="34" charset="0"/>
                <a:ea typeface="Calibri" pitchFamily="34" charset="-122"/>
                <a:cs typeface="Calibri" pitchFamily="34" charset="-120"/>
              </a:rPr>
              <a:t>M = 10–15</a:t>
            </a:r>
            <a:endParaRPr lang="en-US" sz="900" dirty="0"/>
          </a:p>
        </p:txBody>
      </p:sp>
      <p:pic>
        <p:nvPicPr>
          <p:cNvPr id="43" name="Image 3" descr="preencoded.png">    </p:cNvPr>
          <p:cNvPicPr>
            <a:picLocks noChangeAspect="1"/>
          </p:cNvPicPr>
          <p:nvPr/>
        </p:nvPicPr>
        <p:blipFill>
          <a:blip r:embed="rId4"/>
          <a:stretch>
            <a:fillRect/>
          </a:stretch>
        </p:blipFill>
        <p:spPr>
          <a:xfrm>
            <a:off x="6967728" y="4352544"/>
            <a:ext cx="228600" cy="228600"/>
          </a:xfrm>
          <a:prstGeom prst="rect">
            <a:avLst/>
          </a:prstGeom>
        </p:spPr>
      </p:pic>
      <p:sp>
        <p:nvSpPr>
          <p:cNvPr id="44" name="Shape 38"/>
          <p:cNvSpPr/>
          <p:nvPr/>
        </p:nvSpPr>
        <p:spPr>
          <a:xfrm>
            <a:off x="7242048" y="4041648"/>
            <a:ext cx="1417320" cy="896112"/>
          </a:xfrm>
          <a:prstGeom prst="roundRect">
            <a:avLst>
              <a:gd name="adj" fmla="val 12245"/>
            </a:avLst>
          </a:prstGeom>
          <a:solidFill>
            <a:srgbClr val="152050"/>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45" name="Text 39"/>
          <p:cNvSpPr/>
          <p:nvPr/>
        </p:nvSpPr>
        <p:spPr>
          <a:xfrm>
            <a:off x="7315200" y="4078224"/>
            <a:ext cx="1261872"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TIA + DSP</a:t>
            </a:r>
            <a:endParaRPr lang="en-US" sz="1000" dirty="0"/>
          </a:p>
        </p:txBody>
      </p:sp>
      <p:sp>
        <p:nvSpPr>
          <p:cNvPr id="46" name="Text 40"/>
          <p:cNvSpPr/>
          <p:nvPr/>
        </p:nvSpPr>
        <p:spPr>
          <a:xfrm>
            <a:off x="7315200" y="4407408"/>
            <a:ext cx="1261872" cy="457200"/>
          </a:xfrm>
          <a:prstGeom prst="rect">
            <a:avLst/>
          </a:prstGeom>
          <a:noFill/>
          <a:ln/>
        </p:spPr>
        <p:txBody>
          <a:bodyPr wrap="square" rtlCol="0" anchor="ctr"/>
          <a:lstStyle/>
          <a:p>
            <a:pPr algn="ctr" indent="0" marL="0">
              <a:buNone/>
            </a:pPr>
            <a:r>
              <a:rPr lang="en-US" sz="900" dirty="0">
                <a:solidFill>
                  <a:srgbClr val="A8B8D8"/>
                </a:solidFill>
                <a:latin typeface="Calibri" pitchFamily="34" charset="0"/>
                <a:ea typeface="Calibri" pitchFamily="34" charset="-122"/>
                <a:cs typeface="Calibri" pitchFamily="34" charset="-120"/>
              </a:rPr>
              <a:t>Demod +</a:t>
            </a:r>
            <a:endParaRPr lang="en-US" sz="900" dirty="0"/>
          </a:p>
          <a:p>
            <a:pPr algn="ctr" indent="0" marL="0">
              <a:buNone/>
            </a:pPr>
            <a:r>
              <a:rPr lang="en-US" sz="900" dirty="0">
                <a:solidFill>
                  <a:srgbClr val="A8B8D8"/>
                </a:solidFill>
                <a:latin typeface="Calibri" pitchFamily="34" charset="0"/>
                <a:ea typeface="Calibri" pitchFamily="34" charset="-122"/>
                <a:cs typeface="Calibri" pitchFamily="34" charset="-120"/>
              </a:rPr>
              <a:t>FEC</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F2C"/>
        </a:solidFill>
      </p:bgPr>
    </p:bg>
    <p:spTree>
      <p:nvGrpSpPr>
        <p:cNvPr id="1" name=""/>
        <p:cNvGrpSpPr/>
        <p:nvPr/>
      </p:nvGrpSpPr>
      <p:grpSpPr>
        <a:xfrm>
          <a:off x="0" y="0"/>
          <a:ext cx="0" cy="0"/>
          <a:chOff x="0" y="0"/>
          <a:chExt cx="0" cy="0"/>
        </a:xfrm>
      </p:grpSpPr>
      <p:sp>
        <p:nvSpPr>
          <p:cNvPr id="2" name="Text 0"/>
          <p:cNvSpPr/>
          <p:nvPr/>
        </p:nvSpPr>
        <p:spPr>
          <a:xfrm>
            <a:off x="457200" y="256032"/>
            <a:ext cx="4114800" cy="274320"/>
          </a:xfrm>
          <a:prstGeom prst="rect">
            <a:avLst/>
          </a:prstGeom>
          <a:noFill/>
          <a:ln/>
        </p:spPr>
        <p:txBody>
          <a:bodyPr wrap="square" rtlCol="0" anchor="ctr"/>
          <a:lstStyle/>
          <a:p>
            <a:pPr indent="0" marL="0">
              <a:buNone/>
            </a:pPr>
            <a:r>
              <a:rPr lang="en-US" sz="900" b="1" spc="300" kern="0" dirty="0">
                <a:solidFill>
                  <a:srgbClr val="FFD166"/>
                </a:solidFill>
              </a:rPr>
              <a:t>WAVEFRONT ERROR BUDGET</a:t>
            </a:r>
            <a:endParaRPr lang="en-US" sz="900" dirty="0"/>
          </a:p>
        </p:txBody>
      </p:sp>
      <p:sp>
        <p:nvSpPr>
          <p:cNvPr id="3" name="Text 1"/>
          <p:cNvSpPr/>
          <p:nvPr/>
        </p:nvSpPr>
        <p:spPr>
          <a:xfrm>
            <a:off x="457200" y="530352"/>
            <a:ext cx="6400800" cy="5943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From Surface to Strehl</a:t>
            </a:r>
            <a:endParaRPr lang="en-US" sz="3200" dirty="0"/>
          </a:p>
        </p:txBody>
      </p:sp>
      <p:sp>
        <p:nvSpPr>
          <p:cNvPr id="4" name="Shape 2"/>
          <p:cNvSpPr/>
          <p:nvPr/>
        </p:nvSpPr>
        <p:spPr>
          <a:xfrm>
            <a:off x="5943600" y="502920"/>
            <a:ext cx="2834640" cy="868680"/>
          </a:xfrm>
          <a:prstGeom prst="roundRect">
            <a:avLst>
              <a:gd name="adj" fmla="val 12632"/>
            </a:avLst>
          </a:prstGeom>
          <a:solidFill>
            <a:srgbClr val="152050"/>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5" name="Text 3"/>
          <p:cNvSpPr/>
          <p:nvPr/>
        </p:nvSpPr>
        <p:spPr>
          <a:xfrm>
            <a:off x="6053328" y="566928"/>
            <a:ext cx="2606040" cy="256032"/>
          </a:xfrm>
          <a:prstGeom prst="rect">
            <a:avLst/>
          </a:prstGeom>
          <a:noFill/>
          <a:ln/>
        </p:spPr>
        <p:txBody>
          <a:bodyPr wrap="square" rtlCol="0" anchor="ctr"/>
          <a:lstStyle/>
          <a:p>
            <a:pPr indent="0" marL="0">
              <a:buNone/>
            </a:pPr>
            <a:r>
              <a:rPr lang="en-US" sz="1000" b="1" dirty="0">
                <a:solidFill>
                  <a:srgbClr val="FFD166"/>
                </a:solidFill>
                <a:latin typeface="Calibri" pitchFamily="34" charset="0"/>
                <a:ea typeface="Calibri" pitchFamily="34" charset="-122"/>
                <a:cs typeface="Calibri" pitchFamily="34" charset="-120"/>
              </a:rPr>
              <a:t>Maréchal Approximation</a:t>
            </a:r>
            <a:endParaRPr lang="en-US" sz="1000" dirty="0"/>
          </a:p>
        </p:txBody>
      </p:sp>
      <p:sp>
        <p:nvSpPr>
          <p:cNvPr id="6" name="Text 4"/>
          <p:cNvSpPr/>
          <p:nvPr/>
        </p:nvSpPr>
        <p:spPr>
          <a:xfrm>
            <a:off x="6053328" y="804672"/>
            <a:ext cx="260604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 ≈ exp[−(2π·σ/λ)²]</a:t>
            </a:r>
            <a:endParaRPr lang="en-US" sz="1600" dirty="0"/>
          </a:p>
        </p:txBody>
      </p:sp>
      <p:sp>
        <p:nvSpPr>
          <p:cNvPr id="7" name="Text 5"/>
          <p:cNvSpPr/>
          <p:nvPr/>
        </p:nvSpPr>
        <p:spPr>
          <a:xfrm>
            <a:off x="457200" y="1280160"/>
            <a:ext cx="3090672" cy="347472"/>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Primary mirror surface figure</a:t>
            </a:r>
            <a:endParaRPr lang="en-US" sz="1000" dirty="0"/>
          </a:p>
        </p:txBody>
      </p:sp>
      <p:sp>
        <p:nvSpPr>
          <p:cNvPr id="8" name="Shape 6"/>
          <p:cNvSpPr/>
          <p:nvPr/>
        </p:nvSpPr>
        <p:spPr>
          <a:xfrm>
            <a:off x="3657600" y="1316736"/>
            <a:ext cx="3429000" cy="246888"/>
          </a:xfrm>
          <a:prstGeom prst="roundRect">
            <a:avLst>
              <a:gd name="adj" fmla="val 11111"/>
            </a:avLst>
          </a:prstGeom>
          <a:solidFill>
            <a:srgbClr val="7B5EF8">
              <a:alpha val="25000"/>
            </a:srgbClr>
          </a:solidFill>
          <a:ln w="12700">
            <a:solidFill>
              <a:srgbClr val="7B5EF8"/>
            </a:solidFill>
            <a:prstDash val="solid"/>
          </a:ln>
        </p:spPr>
      </p:sp>
      <p:sp>
        <p:nvSpPr>
          <p:cNvPr id="9" name="Shape 7"/>
          <p:cNvSpPr/>
          <p:nvPr/>
        </p:nvSpPr>
        <p:spPr>
          <a:xfrm>
            <a:off x="3657600" y="1316736"/>
            <a:ext cx="2514600" cy="246888"/>
          </a:xfrm>
          <a:prstGeom prst="roundRect">
            <a:avLst>
              <a:gd name="adj" fmla="val 11111"/>
            </a:avLst>
          </a:prstGeom>
          <a:solidFill>
            <a:srgbClr val="7B5EF8">
              <a:alpha val="90000"/>
            </a:srgbClr>
          </a:solidFill>
          <a:ln w="12700">
            <a:solidFill>
              <a:srgbClr val="7B5EF8"/>
            </a:solidFill>
            <a:prstDash val="solid"/>
          </a:ln>
        </p:spPr>
      </p:sp>
      <p:sp>
        <p:nvSpPr>
          <p:cNvPr id="10" name="Text 8"/>
          <p:cNvSpPr/>
          <p:nvPr/>
        </p:nvSpPr>
        <p:spPr>
          <a:xfrm>
            <a:off x="6245352" y="1298448"/>
            <a:ext cx="640080" cy="274320"/>
          </a:xfrm>
          <a:prstGeom prst="rect">
            <a:avLst/>
          </a:prstGeom>
          <a:noFill/>
          <a:ln/>
        </p:spPr>
        <p:txBody>
          <a:bodyPr wrap="square" rtlCol="0" anchor="ctr"/>
          <a:lstStyle/>
          <a:p>
            <a:pPr indent="0" marL="0">
              <a:buNone/>
            </a:pPr>
            <a:r>
              <a:rPr lang="en-US" sz="950" b="1" dirty="0">
                <a:solidFill>
                  <a:srgbClr val="7B5EF8"/>
                </a:solidFill>
                <a:latin typeface="Calibri" pitchFamily="34" charset="0"/>
                <a:ea typeface="Calibri" pitchFamily="34" charset="-122"/>
                <a:cs typeface="Calibri" pitchFamily="34" charset="-120"/>
              </a:rPr>
              <a:t>11 nm</a:t>
            </a:r>
            <a:endParaRPr lang="en-US" sz="950" dirty="0"/>
          </a:p>
        </p:txBody>
      </p:sp>
      <p:sp>
        <p:nvSpPr>
          <p:cNvPr id="11" name="Text 9"/>
          <p:cNvSpPr/>
          <p:nvPr/>
        </p:nvSpPr>
        <p:spPr>
          <a:xfrm>
            <a:off x="457200" y="1655064"/>
            <a:ext cx="3090672" cy="347472"/>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Secondary mirror figure</a:t>
            </a:r>
            <a:endParaRPr lang="en-US" sz="1000" dirty="0"/>
          </a:p>
        </p:txBody>
      </p:sp>
      <p:sp>
        <p:nvSpPr>
          <p:cNvPr id="12" name="Shape 10"/>
          <p:cNvSpPr/>
          <p:nvPr/>
        </p:nvSpPr>
        <p:spPr>
          <a:xfrm>
            <a:off x="3657600" y="1691640"/>
            <a:ext cx="2286000" cy="246888"/>
          </a:xfrm>
          <a:prstGeom prst="roundRect">
            <a:avLst>
              <a:gd name="adj" fmla="val 11111"/>
            </a:avLst>
          </a:prstGeom>
          <a:solidFill>
            <a:srgbClr val="7B5EF8">
              <a:alpha val="25000"/>
            </a:srgbClr>
          </a:solidFill>
          <a:ln w="12700">
            <a:solidFill>
              <a:srgbClr val="7B5EF8"/>
            </a:solidFill>
            <a:prstDash val="solid"/>
          </a:ln>
        </p:spPr>
      </p:sp>
      <p:sp>
        <p:nvSpPr>
          <p:cNvPr id="13" name="Shape 11"/>
          <p:cNvSpPr/>
          <p:nvPr/>
        </p:nvSpPr>
        <p:spPr>
          <a:xfrm>
            <a:off x="3657600" y="1691640"/>
            <a:ext cx="1828800" cy="246888"/>
          </a:xfrm>
          <a:prstGeom prst="roundRect">
            <a:avLst>
              <a:gd name="adj" fmla="val 11111"/>
            </a:avLst>
          </a:prstGeom>
          <a:solidFill>
            <a:srgbClr val="7B5EF8">
              <a:alpha val="90000"/>
            </a:srgbClr>
          </a:solidFill>
          <a:ln w="12700">
            <a:solidFill>
              <a:srgbClr val="7B5EF8"/>
            </a:solidFill>
            <a:prstDash val="solid"/>
          </a:ln>
        </p:spPr>
      </p:sp>
      <p:sp>
        <p:nvSpPr>
          <p:cNvPr id="14" name="Text 12"/>
          <p:cNvSpPr/>
          <p:nvPr/>
        </p:nvSpPr>
        <p:spPr>
          <a:xfrm>
            <a:off x="5559552" y="1673352"/>
            <a:ext cx="640080" cy="274320"/>
          </a:xfrm>
          <a:prstGeom prst="rect">
            <a:avLst/>
          </a:prstGeom>
          <a:noFill/>
          <a:ln/>
        </p:spPr>
        <p:txBody>
          <a:bodyPr wrap="square" rtlCol="0" anchor="ctr"/>
          <a:lstStyle/>
          <a:p>
            <a:pPr indent="0" marL="0">
              <a:buNone/>
            </a:pPr>
            <a:r>
              <a:rPr lang="en-US" sz="950" b="1" dirty="0">
                <a:solidFill>
                  <a:srgbClr val="7B5EF8"/>
                </a:solidFill>
                <a:latin typeface="Calibri" pitchFamily="34" charset="0"/>
                <a:ea typeface="Calibri" pitchFamily="34" charset="-122"/>
                <a:cs typeface="Calibri" pitchFamily="34" charset="-120"/>
              </a:rPr>
              <a:t>8 nm</a:t>
            </a:r>
            <a:endParaRPr lang="en-US" sz="950" dirty="0"/>
          </a:p>
        </p:txBody>
      </p:sp>
      <p:sp>
        <p:nvSpPr>
          <p:cNvPr id="15" name="Text 13"/>
          <p:cNvSpPr/>
          <p:nvPr/>
        </p:nvSpPr>
        <p:spPr>
          <a:xfrm>
            <a:off x="457200" y="2029968"/>
            <a:ext cx="3090672" cy="347472"/>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Relay lens transmitted WFE</a:t>
            </a:r>
            <a:endParaRPr lang="en-US" sz="1000" dirty="0"/>
          </a:p>
        </p:txBody>
      </p:sp>
      <p:sp>
        <p:nvSpPr>
          <p:cNvPr id="16" name="Shape 14"/>
          <p:cNvSpPr/>
          <p:nvPr/>
        </p:nvSpPr>
        <p:spPr>
          <a:xfrm>
            <a:off x="3657600" y="2066544"/>
            <a:ext cx="2286000" cy="246888"/>
          </a:xfrm>
          <a:prstGeom prst="roundRect">
            <a:avLst>
              <a:gd name="adj" fmla="val 11111"/>
            </a:avLst>
          </a:prstGeom>
          <a:solidFill>
            <a:srgbClr val="7B5EF8">
              <a:alpha val="25000"/>
            </a:srgbClr>
          </a:solidFill>
          <a:ln w="12700">
            <a:solidFill>
              <a:srgbClr val="7B5EF8"/>
            </a:solidFill>
            <a:prstDash val="solid"/>
          </a:ln>
        </p:spPr>
      </p:sp>
      <p:sp>
        <p:nvSpPr>
          <p:cNvPr id="17" name="Shape 15"/>
          <p:cNvSpPr/>
          <p:nvPr/>
        </p:nvSpPr>
        <p:spPr>
          <a:xfrm>
            <a:off x="3657600" y="2066544"/>
            <a:ext cx="1371600" cy="246888"/>
          </a:xfrm>
          <a:prstGeom prst="roundRect">
            <a:avLst>
              <a:gd name="adj" fmla="val 11111"/>
            </a:avLst>
          </a:prstGeom>
          <a:solidFill>
            <a:srgbClr val="7B5EF8">
              <a:alpha val="90000"/>
            </a:srgbClr>
          </a:solidFill>
          <a:ln w="12700">
            <a:solidFill>
              <a:srgbClr val="7B5EF8"/>
            </a:solidFill>
            <a:prstDash val="solid"/>
          </a:ln>
        </p:spPr>
      </p:sp>
      <p:sp>
        <p:nvSpPr>
          <p:cNvPr id="18" name="Text 16"/>
          <p:cNvSpPr/>
          <p:nvPr/>
        </p:nvSpPr>
        <p:spPr>
          <a:xfrm>
            <a:off x="5102352" y="2048256"/>
            <a:ext cx="640080" cy="274320"/>
          </a:xfrm>
          <a:prstGeom prst="rect">
            <a:avLst/>
          </a:prstGeom>
          <a:noFill/>
          <a:ln/>
        </p:spPr>
        <p:txBody>
          <a:bodyPr wrap="square" rtlCol="0" anchor="ctr"/>
          <a:lstStyle/>
          <a:p>
            <a:pPr indent="0" marL="0">
              <a:buNone/>
            </a:pPr>
            <a:r>
              <a:rPr lang="en-US" sz="950" b="1" dirty="0">
                <a:solidFill>
                  <a:srgbClr val="7B5EF8"/>
                </a:solidFill>
                <a:latin typeface="Calibri" pitchFamily="34" charset="0"/>
                <a:ea typeface="Calibri" pitchFamily="34" charset="-122"/>
                <a:cs typeface="Calibri" pitchFamily="34" charset="-120"/>
              </a:rPr>
              <a:t>6 nm</a:t>
            </a:r>
            <a:endParaRPr lang="en-US" sz="950" dirty="0"/>
          </a:p>
        </p:txBody>
      </p:sp>
      <p:sp>
        <p:nvSpPr>
          <p:cNvPr id="19" name="Text 17"/>
          <p:cNvSpPr/>
          <p:nvPr/>
        </p:nvSpPr>
        <p:spPr>
          <a:xfrm>
            <a:off x="457200" y="2404872"/>
            <a:ext cx="3090672" cy="347472"/>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AR/HR coating micro-roughness</a:t>
            </a:r>
            <a:endParaRPr lang="en-US" sz="1000" dirty="0"/>
          </a:p>
        </p:txBody>
      </p:sp>
      <p:sp>
        <p:nvSpPr>
          <p:cNvPr id="20" name="Shape 18"/>
          <p:cNvSpPr/>
          <p:nvPr/>
        </p:nvSpPr>
        <p:spPr>
          <a:xfrm>
            <a:off x="3657600" y="2441448"/>
            <a:ext cx="1143000" cy="246888"/>
          </a:xfrm>
          <a:prstGeom prst="roundRect">
            <a:avLst>
              <a:gd name="adj" fmla="val 11111"/>
            </a:avLst>
          </a:prstGeom>
          <a:solidFill>
            <a:srgbClr val="7B5EF8">
              <a:alpha val="25000"/>
            </a:srgbClr>
          </a:solidFill>
          <a:ln w="12700">
            <a:solidFill>
              <a:srgbClr val="7B5EF8"/>
            </a:solidFill>
            <a:prstDash val="solid"/>
          </a:ln>
        </p:spPr>
      </p:sp>
      <p:sp>
        <p:nvSpPr>
          <p:cNvPr id="21" name="Shape 19"/>
          <p:cNvSpPr/>
          <p:nvPr/>
        </p:nvSpPr>
        <p:spPr>
          <a:xfrm>
            <a:off x="3657600" y="2441448"/>
            <a:ext cx="914400" cy="246888"/>
          </a:xfrm>
          <a:prstGeom prst="roundRect">
            <a:avLst>
              <a:gd name="adj" fmla="val 11111"/>
            </a:avLst>
          </a:prstGeom>
          <a:solidFill>
            <a:srgbClr val="7B5EF8">
              <a:alpha val="90000"/>
            </a:srgbClr>
          </a:solidFill>
          <a:ln w="12700">
            <a:solidFill>
              <a:srgbClr val="7B5EF8"/>
            </a:solidFill>
            <a:prstDash val="solid"/>
          </a:ln>
        </p:spPr>
      </p:sp>
      <p:sp>
        <p:nvSpPr>
          <p:cNvPr id="22" name="Text 20"/>
          <p:cNvSpPr/>
          <p:nvPr/>
        </p:nvSpPr>
        <p:spPr>
          <a:xfrm>
            <a:off x="4645152" y="2423160"/>
            <a:ext cx="640080" cy="274320"/>
          </a:xfrm>
          <a:prstGeom prst="rect">
            <a:avLst/>
          </a:prstGeom>
          <a:noFill/>
          <a:ln/>
        </p:spPr>
        <p:txBody>
          <a:bodyPr wrap="square" rtlCol="0" anchor="ctr"/>
          <a:lstStyle/>
          <a:p>
            <a:pPr indent="0" marL="0">
              <a:buNone/>
            </a:pPr>
            <a:r>
              <a:rPr lang="en-US" sz="950" b="1" dirty="0">
                <a:solidFill>
                  <a:srgbClr val="7B5EF8"/>
                </a:solidFill>
                <a:latin typeface="Calibri" pitchFamily="34" charset="0"/>
                <a:ea typeface="Calibri" pitchFamily="34" charset="-122"/>
                <a:cs typeface="Calibri" pitchFamily="34" charset="-120"/>
              </a:rPr>
              <a:t>4 nm</a:t>
            </a:r>
            <a:endParaRPr lang="en-US" sz="950" dirty="0"/>
          </a:p>
        </p:txBody>
      </p:sp>
      <p:sp>
        <p:nvSpPr>
          <p:cNvPr id="23" name="Text 21"/>
          <p:cNvSpPr/>
          <p:nvPr/>
        </p:nvSpPr>
        <p:spPr>
          <a:xfrm>
            <a:off x="457200" y="2779776"/>
            <a:ext cx="3090672" cy="347472"/>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Mirror decenter (assembly)</a:t>
            </a:r>
            <a:endParaRPr lang="en-US" sz="1000" dirty="0"/>
          </a:p>
        </p:txBody>
      </p:sp>
      <p:sp>
        <p:nvSpPr>
          <p:cNvPr id="24" name="Shape 22"/>
          <p:cNvSpPr/>
          <p:nvPr/>
        </p:nvSpPr>
        <p:spPr>
          <a:xfrm>
            <a:off x="3657600" y="2816352"/>
            <a:ext cx="2743200" cy="246888"/>
          </a:xfrm>
          <a:prstGeom prst="roundRect">
            <a:avLst>
              <a:gd name="adj" fmla="val 11111"/>
            </a:avLst>
          </a:prstGeom>
          <a:solidFill>
            <a:srgbClr val="00C8FF">
              <a:alpha val="25000"/>
            </a:srgbClr>
          </a:solidFill>
          <a:ln w="12700">
            <a:solidFill>
              <a:srgbClr val="00C8FF"/>
            </a:solidFill>
            <a:prstDash val="solid"/>
          </a:ln>
        </p:spPr>
      </p:sp>
      <p:sp>
        <p:nvSpPr>
          <p:cNvPr id="25" name="Shape 23"/>
          <p:cNvSpPr/>
          <p:nvPr/>
        </p:nvSpPr>
        <p:spPr>
          <a:xfrm>
            <a:off x="3657600" y="2816352"/>
            <a:ext cx="2057400" cy="246888"/>
          </a:xfrm>
          <a:prstGeom prst="roundRect">
            <a:avLst>
              <a:gd name="adj" fmla="val 11111"/>
            </a:avLst>
          </a:prstGeom>
          <a:solidFill>
            <a:srgbClr val="00C8FF">
              <a:alpha val="90000"/>
            </a:srgbClr>
          </a:solidFill>
          <a:ln w="12700">
            <a:solidFill>
              <a:srgbClr val="00C8FF"/>
            </a:solidFill>
            <a:prstDash val="solid"/>
          </a:ln>
        </p:spPr>
      </p:sp>
      <p:sp>
        <p:nvSpPr>
          <p:cNvPr id="26" name="Text 24"/>
          <p:cNvSpPr/>
          <p:nvPr/>
        </p:nvSpPr>
        <p:spPr>
          <a:xfrm>
            <a:off x="5788152" y="2798064"/>
            <a:ext cx="640080" cy="274320"/>
          </a:xfrm>
          <a:prstGeom prst="rect">
            <a:avLst/>
          </a:prstGeom>
          <a:noFill/>
          <a:ln/>
        </p:spPr>
        <p:txBody>
          <a:bodyPr wrap="square" rtlCol="0" anchor="ctr"/>
          <a:lstStyle/>
          <a:p>
            <a:pPr indent="0" marL="0">
              <a:buNone/>
            </a:pPr>
            <a:r>
              <a:rPr lang="en-US" sz="950" b="1" dirty="0">
                <a:solidFill>
                  <a:srgbClr val="00C8FF"/>
                </a:solidFill>
                <a:latin typeface="Calibri" pitchFamily="34" charset="0"/>
                <a:ea typeface="Calibri" pitchFamily="34" charset="-122"/>
                <a:cs typeface="Calibri" pitchFamily="34" charset="-120"/>
              </a:rPr>
              <a:t>9 nm</a:t>
            </a:r>
            <a:endParaRPr lang="en-US" sz="950" dirty="0"/>
          </a:p>
        </p:txBody>
      </p:sp>
      <p:sp>
        <p:nvSpPr>
          <p:cNvPr id="27" name="Text 25"/>
          <p:cNvSpPr/>
          <p:nvPr/>
        </p:nvSpPr>
        <p:spPr>
          <a:xfrm>
            <a:off x="457200" y="3154680"/>
            <a:ext cx="3090672" cy="347472"/>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Axial despace / focus error</a:t>
            </a:r>
            <a:endParaRPr lang="en-US" sz="1000" dirty="0"/>
          </a:p>
        </p:txBody>
      </p:sp>
      <p:sp>
        <p:nvSpPr>
          <p:cNvPr id="28" name="Shape 26"/>
          <p:cNvSpPr/>
          <p:nvPr/>
        </p:nvSpPr>
        <p:spPr>
          <a:xfrm>
            <a:off x="3657600" y="3191256"/>
            <a:ext cx="2286000" cy="246888"/>
          </a:xfrm>
          <a:prstGeom prst="roundRect">
            <a:avLst>
              <a:gd name="adj" fmla="val 11111"/>
            </a:avLst>
          </a:prstGeom>
          <a:solidFill>
            <a:srgbClr val="00C8FF">
              <a:alpha val="25000"/>
            </a:srgbClr>
          </a:solidFill>
          <a:ln w="12700">
            <a:solidFill>
              <a:srgbClr val="00C8FF"/>
            </a:solidFill>
            <a:prstDash val="solid"/>
          </a:ln>
        </p:spPr>
      </p:sp>
      <p:sp>
        <p:nvSpPr>
          <p:cNvPr id="29" name="Shape 27"/>
          <p:cNvSpPr/>
          <p:nvPr/>
        </p:nvSpPr>
        <p:spPr>
          <a:xfrm>
            <a:off x="3657600" y="3191256"/>
            <a:ext cx="1600200" cy="246888"/>
          </a:xfrm>
          <a:prstGeom prst="roundRect">
            <a:avLst>
              <a:gd name="adj" fmla="val 11111"/>
            </a:avLst>
          </a:prstGeom>
          <a:solidFill>
            <a:srgbClr val="00C8FF">
              <a:alpha val="90000"/>
            </a:srgbClr>
          </a:solidFill>
          <a:ln w="12700">
            <a:solidFill>
              <a:srgbClr val="00C8FF"/>
            </a:solidFill>
            <a:prstDash val="solid"/>
          </a:ln>
        </p:spPr>
      </p:sp>
      <p:sp>
        <p:nvSpPr>
          <p:cNvPr id="30" name="Text 28"/>
          <p:cNvSpPr/>
          <p:nvPr/>
        </p:nvSpPr>
        <p:spPr>
          <a:xfrm>
            <a:off x="5330952" y="3172968"/>
            <a:ext cx="640080" cy="274320"/>
          </a:xfrm>
          <a:prstGeom prst="rect">
            <a:avLst/>
          </a:prstGeom>
          <a:noFill/>
          <a:ln/>
        </p:spPr>
        <p:txBody>
          <a:bodyPr wrap="square" rtlCol="0" anchor="ctr"/>
          <a:lstStyle/>
          <a:p>
            <a:pPr indent="0" marL="0">
              <a:buNone/>
            </a:pPr>
            <a:r>
              <a:rPr lang="en-US" sz="950" b="1" dirty="0">
                <a:solidFill>
                  <a:srgbClr val="00C8FF"/>
                </a:solidFill>
                <a:latin typeface="Calibri" pitchFamily="34" charset="0"/>
                <a:ea typeface="Calibri" pitchFamily="34" charset="-122"/>
                <a:cs typeface="Calibri" pitchFamily="34" charset="-120"/>
              </a:rPr>
              <a:t>7 nm</a:t>
            </a:r>
            <a:endParaRPr lang="en-US" sz="950" dirty="0"/>
          </a:p>
        </p:txBody>
      </p:sp>
      <p:sp>
        <p:nvSpPr>
          <p:cNvPr id="31" name="Text 29"/>
          <p:cNvSpPr/>
          <p:nvPr/>
        </p:nvSpPr>
        <p:spPr>
          <a:xfrm>
            <a:off x="457200" y="3529584"/>
            <a:ext cx="3090672" cy="347472"/>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Thermal gradient — mirror deformation</a:t>
            </a:r>
            <a:endParaRPr lang="en-US" sz="1000" dirty="0"/>
          </a:p>
        </p:txBody>
      </p:sp>
      <p:sp>
        <p:nvSpPr>
          <p:cNvPr id="32" name="Shape 30"/>
          <p:cNvSpPr/>
          <p:nvPr/>
        </p:nvSpPr>
        <p:spPr>
          <a:xfrm>
            <a:off x="3657600" y="3566160"/>
            <a:ext cx="3429000" cy="246888"/>
          </a:xfrm>
          <a:prstGeom prst="roundRect">
            <a:avLst>
              <a:gd name="adj" fmla="val 11111"/>
            </a:avLst>
          </a:prstGeom>
          <a:solidFill>
            <a:srgbClr val="FFD166">
              <a:alpha val="25000"/>
            </a:srgbClr>
          </a:solidFill>
          <a:ln w="12700">
            <a:solidFill>
              <a:srgbClr val="FFD166"/>
            </a:solidFill>
            <a:prstDash val="solid"/>
          </a:ln>
        </p:spPr>
      </p:sp>
      <p:sp>
        <p:nvSpPr>
          <p:cNvPr id="33" name="Shape 31"/>
          <p:cNvSpPr/>
          <p:nvPr/>
        </p:nvSpPr>
        <p:spPr>
          <a:xfrm>
            <a:off x="3657600" y="3566160"/>
            <a:ext cx="2743200" cy="246888"/>
          </a:xfrm>
          <a:prstGeom prst="roundRect">
            <a:avLst>
              <a:gd name="adj" fmla="val 11111"/>
            </a:avLst>
          </a:prstGeom>
          <a:solidFill>
            <a:srgbClr val="FFD166">
              <a:alpha val="90000"/>
            </a:srgbClr>
          </a:solidFill>
          <a:ln w="12700">
            <a:solidFill>
              <a:srgbClr val="FFD166"/>
            </a:solidFill>
            <a:prstDash val="solid"/>
          </a:ln>
        </p:spPr>
      </p:sp>
      <p:sp>
        <p:nvSpPr>
          <p:cNvPr id="34" name="Text 32"/>
          <p:cNvSpPr/>
          <p:nvPr/>
        </p:nvSpPr>
        <p:spPr>
          <a:xfrm>
            <a:off x="6473952" y="3547872"/>
            <a:ext cx="640080" cy="274320"/>
          </a:xfrm>
          <a:prstGeom prst="rect">
            <a:avLst/>
          </a:prstGeom>
          <a:noFill/>
          <a:ln/>
        </p:spPr>
        <p:txBody>
          <a:bodyPr wrap="square" rtlCol="0" anchor="ctr"/>
          <a:lstStyle/>
          <a:p>
            <a:pPr indent="0" marL="0">
              <a:buNone/>
            </a:pPr>
            <a:r>
              <a:rPr lang="en-US" sz="950" b="1" dirty="0">
                <a:solidFill>
                  <a:srgbClr val="FFD166"/>
                </a:solidFill>
                <a:latin typeface="Calibri" pitchFamily="34" charset="0"/>
                <a:ea typeface="Calibri" pitchFamily="34" charset="-122"/>
                <a:cs typeface="Calibri" pitchFamily="34" charset="-120"/>
              </a:rPr>
              <a:t>12 nm</a:t>
            </a:r>
            <a:endParaRPr lang="en-US" sz="950" dirty="0"/>
          </a:p>
        </p:txBody>
      </p:sp>
      <p:sp>
        <p:nvSpPr>
          <p:cNvPr id="35" name="Text 33"/>
          <p:cNvSpPr/>
          <p:nvPr/>
        </p:nvSpPr>
        <p:spPr>
          <a:xfrm>
            <a:off x="457200" y="3904488"/>
            <a:ext cx="3090672" cy="347472"/>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Mounting stress (flexures)</a:t>
            </a:r>
            <a:endParaRPr lang="en-US" sz="1000" dirty="0"/>
          </a:p>
        </p:txBody>
      </p:sp>
      <p:sp>
        <p:nvSpPr>
          <p:cNvPr id="36" name="Shape 34"/>
          <p:cNvSpPr/>
          <p:nvPr/>
        </p:nvSpPr>
        <p:spPr>
          <a:xfrm>
            <a:off x="3657600" y="3941064"/>
            <a:ext cx="1828800" cy="246888"/>
          </a:xfrm>
          <a:prstGeom prst="roundRect">
            <a:avLst>
              <a:gd name="adj" fmla="val 11111"/>
            </a:avLst>
          </a:prstGeom>
          <a:solidFill>
            <a:srgbClr val="FFD166">
              <a:alpha val="25000"/>
            </a:srgbClr>
          </a:solidFill>
          <a:ln w="12700">
            <a:solidFill>
              <a:srgbClr val="FFD166"/>
            </a:solidFill>
            <a:prstDash val="solid"/>
          </a:ln>
        </p:spPr>
      </p:sp>
      <p:sp>
        <p:nvSpPr>
          <p:cNvPr id="37" name="Shape 35"/>
          <p:cNvSpPr/>
          <p:nvPr/>
        </p:nvSpPr>
        <p:spPr>
          <a:xfrm>
            <a:off x="3657600" y="3941064"/>
            <a:ext cx="1371600" cy="246888"/>
          </a:xfrm>
          <a:prstGeom prst="roundRect">
            <a:avLst>
              <a:gd name="adj" fmla="val 11111"/>
            </a:avLst>
          </a:prstGeom>
          <a:solidFill>
            <a:srgbClr val="FFD166">
              <a:alpha val="90000"/>
            </a:srgbClr>
          </a:solidFill>
          <a:ln w="12700">
            <a:solidFill>
              <a:srgbClr val="FFD166"/>
            </a:solidFill>
            <a:prstDash val="solid"/>
          </a:ln>
        </p:spPr>
      </p:sp>
      <p:sp>
        <p:nvSpPr>
          <p:cNvPr id="38" name="Text 36"/>
          <p:cNvSpPr/>
          <p:nvPr/>
        </p:nvSpPr>
        <p:spPr>
          <a:xfrm>
            <a:off x="5102352" y="3922776"/>
            <a:ext cx="640080" cy="274320"/>
          </a:xfrm>
          <a:prstGeom prst="rect">
            <a:avLst/>
          </a:prstGeom>
          <a:noFill/>
          <a:ln/>
        </p:spPr>
        <p:txBody>
          <a:bodyPr wrap="square" rtlCol="0" anchor="ctr"/>
          <a:lstStyle/>
          <a:p>
            <a:pPr indent="0" marL="0">
              <a:buNone/>
            </a:pPr>
            <a:r>
              <a:rPr lang="en-US" sz="950" b="1" dirty="0">
                <a:solidFill>
                  <a:srgbClr val="FFD166"/>
                </a:solidFill>
                <a:latin typeface="Calibri" pitchFamily="34" charset="0"/>
                <a:ea typeface="Calibri" pitchFamily="34" charset="-122"/>
                <a:cs typeface="Calibri" pitchFamily="34" charset="-120"/>
              </a:rPr>
              <a:t>6 nm</a:t>
            </a:r>
            <a:endParaRPr lang="en-US" sz="950" dirty="0"/>
          </a:p>
        </p:txBody>
      </p:sp>
      <p:sp>
        <p:nvSpPr>
          <p:cNvPr id="39" name="Text 37"/>
          <p:cNvSpPr/>
          <p:nvPr/>
        </p:nvSpPr>
        <p:spPr>
          <a:xfrm>
            <a:off x="457200" y="4279392"/>
            <a:ext cx="3090672" cy="347472"/>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Residual vibration post-FSM</a:t>
            </a:r>
            <a:endParaRPr lang="en-US" sz="1000" dirty="0"/>
          </a:p>
        </p:txBody>
      </p:sp>
      <p:sp>
        <p:nvSpPr>
          <p:cNvPr id="40" name="Shape 38"/>
          <p:cNvSpPr/>
          <p:nvPr/>
        </p:nvSpPr>
        <p:spPr>
          <a:xfrm>
            <a:off x="3657600" y="4315968"/>
            <a:ext cx="1371600" cy="246888"/>
          </a:xfrm>
          <a:prstGeom prst="roundRect">
            <a:avLst>
              <a:gd name="adj" fmla="val 11111"/>
            </a:avLst>
          </a:prstGeom>
          <a:solidFill>
            <a:srgbClr val="00E5C0">
              <a:alpha val="25000"/>
            </a:srgbClr>
          </a:solidFill>
          <a:ln w="12700">
            <a:solidFill>
              <a:srgbClr val="00E5C0"/>
            </a:solidFill>
            <a:prstDash val="solid"/>
          </a:ln>
        </p:spPr>
      </p:sp>
      <p:sp>
        <p:nvSpPr>
          <p:cNvPr id="41" name="Shape 39"/>
          <p:cNvSpPr/>
          <p:nvPr/>
        </p:nvSpPr>
        <p:spPr>
          <a:xfrm>
            <a:off x="3657600" y="4315968"/>
            <a:ext cx="914400" cy="246888"/>
          </a:xfrm>
          <a:prstGeom prst="roundRect">
            <a:avLst>
              <a:gd name="adj" fmla="val 11111"/>
            </a:avLst>
          </a:prstGeom>
          <a:solidFill>
            <a:srgbClr val="00E5C0">
              <a:alpha val="90000"/>
            </a:srgbClr>
          </a:solidFill>
          <a:ln w="12700">
            <a:solidFill>
              <a:srgbClr val="00E5C0"/>
            </a:solidFill>
            <a:prstDash val="solid"/>
          </a:ln>
        </p:spPr>
      </p:sp>
      <p:sp>
        <p:nvSpPr>
          <p:cNvPr id="42" name="Text 40"/>
          <p:cNvSpPr/>
          <p:nvPr/>
        </p:nvSpPr>
        <p:spPr>
          <a:xfrm>
            <a:off x="4645152" y="4297680"/>
            <a:ext cx="640080" cy="274320"/>
          </a:xfrm>
          <a:prstGeom prst="rect">
            <a:avLst/>
          </a:prstGeom>
          <a:noFill/>
          <a:ln/>
        </p:spPr>
        <p:txBody>
          <a:bodyPr wrap="square" rtlCol="0" anchor="ctr"/>
          <a:lstStyle/>
          <a:p>
            <a:pPr indent="0" marL="0">
              <a:buNone/>
            </a:pPr>
            <a:r>
              <a:rPr lang="en-US" sz="950" b="1" dirty="0">
                <a:solidFill>
                  <a:srgbClr val="00E5C0"/>
                </a:solidFill>
                <a:latin typeface="Calibri" pitchFamily="34" charset="0"/>
                <a:ea typeface="Calibri" pitchFamily="34" charset="-122"/>
                <a:cs typeface="Calibri" pitchFamily="34" charset="-120"/>
              </a:rPr>
              <a:t>4 nm</a:t>
            </a:r>
            <a:endParaRPr lang="en-US" sz="950" dirty="0"/>
          </a:p>
        </p:txBody>
      </p:sp>
      <p:sp>
        <p:nvSpPr>
          <p:cNvPr id="43" name="Shape 41"/>
          <p:cNvSpPr/>
          <p:nvPr/>
        </p:nvSpPr>
        <p:spPr>
          <a:xfrm>
            <a:off x="3657600" y="4663440"/>
            <a:ext cx="4572000" cy="0"/>
          </a:xfrm>
          <a:prstGeom prst="line">
            <a:avLst/>
          </a:prstGeom>
          <a:noFill/>
          <a:ln w="6350">
            <a:solidFill>
              <a:srgbClr val="A8B8D8"/>
            </a:solidFill>
            <a:prstDash val="solid"/>
          </a:ln>
        </p:spPr>
      </p:sp>
      <p:sp>
        <p:nvSpPr>
          <p:cNvPr id="44" name="Text 42"/>
          <p:cNvSpPr/>
          <p:nvPr/>
        </p:nvSpPr>
        <p:spPr>
          <a:xfrm>
            <a:off x="3474720" y="4681728"/>
            <a:ext cx="365760" cy="164592"/>
          </a:xfrm>
          <a:prstGeom prst="rect">
            <a:avLst/>
          </a:prstGeom>
          <a:noFill/>
          <a:ln/>
        </p:spPr>
        <p:txBody>
          <a:bodyPr wrap="square" rtlCol="0" anchor="ctr"/>
          <a:lstStyle/>
          <a:p>
            <a:pPr algn="ctr" indent="0" marL="0">
              <a:buNone/>
            </a:pPr>
            <a:r>
              <a:rPr lang="en-US" sz="800" dirty="0">
                <a:solidFill>
                  <a:srgbClr val="A8B8D8"/>
                </a:solidFill>
              </a:rPr>
              <a:t>0</a:t>
            </a:r>
            <a:endParaRPr lang="en-US" sz="800" dirty="0"/>
          </a:p>
        </p:txBody>
      </p:sp>
      <p:sp>
        <p:nvSpPr>
          <p:cNvPr id="45" name="Text 43"/>
          <p:cNvSpPr/>
          <p:nvPr/>
        </p:nvSpPr>
        <p:spPr>
          <a:xfrm>
            <a:off x="4617720" y="4681728"/>
            <a:ext cx="365760" cy="164592"/>
          </a:xfrm>
          <a:prstGeom prst="rect">
            <a:avLst/>
          </a:prstGeom>
          <a:noFill/>
          <a:ln/>
        </p:spPr>
        <p:txBody>
          <a:bodyPr wrap="square" rtlCol="0" anchor="ctr"/>
          <a:lstStyle/>
          <a:p>
            <a:pPr algn="ctr" indent="0" marL="0">
              <a:buNone/>
            </a:pPr>
            <a:r>
              <a:rPr lang="en-US" sz="800" dirty="0">
                <a:solidFill>
                  <a:srgbClr val="A8B8D8"/>
                </a:solidFill>
              </a:rPr>
              <a:t>5</a:t>
            </a:r>
            <a:endParaRPr lang="en-US" sz="800" dirty="0"/>
          </a:p>
        </p:txBody>
      </p:sp>
      <p:sp>
        <p:nvSpPr>
          <p:cNvPr id="46" name="Text 44"/>
          <p:cNvSpPr/>
          <p:nvPr/>
        </p:nvSpPr>
        <p:spPr>
          <a:xfrm>
            <a:off x="5760720" y="4681728"/>
            <a:ext cx="365760" cy="164592"/>
          </a:xfrm>
          <a:prstGeom prst="rect">
            <a:avLst/>
          </a:prstGeom>
          <a:noFill/>
          <a:ln/>
        </p:spPr>
        <p:txBody>
          <a:bodyPr wrap="square" rtlCol="0" anchor="ctr"/>
          <a:lstStyle/>
          <a:p>
            <a:pPr algn="ctr" indent="0" marL="0">
              <a:buNone/>
            </a:pPr>
            <a:r>
              <a:rPr lang="en-US" sz="800" dirty="0">
                <a:solidFill>
                  <a:srgbClr val="A8B8D8"/>
                </a:solidFill>
              </a:rPr>
              <a:t>10</a:t>
            </a:r>
            <a:endParaRPr lang="en-US" sz="800" dirty="0"/>
          </a:p>
        </p:txBody>
      </p:sp>
      <p:sp>
        <p:nvSpPr>
          <p:cNvPr id="47" name="Text 45"/>
          <p:cNvSpPr/>
          <p:nvPr/>
        </p:nvSpPr>
        <p:spPr>
          <a:xfrm>
            <a:off x="6903720" y="4681728"/>
            <a:ext cx="365760" cy="164592"/>
          </a:xfrm>
          <a:prstGeom prst="rect">
            <a:avLst/>
          </a:prstGeom>
          <a:noFill/>
          <a:ln/>
        </p:spPr>
        <p:txBody>
          <a:bodyPr wrap="square" rtlCol="0" anchor="ctr"/>
          <a:lstStyle/>
          <a:p>
            <a:pPr algn="ctr" indent="0" marL="0">
              <a:buNone/>
            </a:pPr>
            <a:r>
              <a:rPr lang="en-US" sz="800" dirty="0">
                <a:solidFill>
                  <a:srgbClr val="A8B8D8"/>
                </a:solidFill>
              </a:rPr>
              <a:t>15</a:t>
            </a:r>
            <a:endParaRPr lang="en-US" sz="800" dirty="0"/>
          </a:p>
        </p:txBody>
      </p:sp>
      <p:sp>
        <p:nvSpPr>
          <p:cNvPr id="48" name="Text 46"/>
          <p:cNvSpPr/>
          <p:nvPr/>
        </p:nvSpPr>
        <p:spPr>
          <a:xfrm>
            <a:off x="8046720" y="4681728"/>
            <a:ext cx="365760" cy="164592"/>
          </a:xfrm>
          <a:prstGeom prst="rect">
            <a:avLst/>
          </a:prstGeom>
          <a:noFill/>
          <a:ln/>
        </p:spPr>
        <p:txBody>
          <a:bodyPr wrap="square" rtlCol="0" anchor="ctr"/>
          <a:lstStyle/>
          <a:p>
            <a:pPr algn="ctr" indent="0" marL="0">
              <a:buNone/>
            </a:pPr>
            <a:r>
              <a:rPr lang="en-US" sz="800" dirty="0">
                <a:solidFill>
                  <a:srgbClr val="A8B8D8"/>
                </a:solidFill>
              </a:rPr>
              <a:t>20</a:t>
            </a:r>
            <a:endParaRPr lang="en-US" sz="800" dirty="0"/>
          </a:p>
        </p:txBody>
      </p:sp>
      <p:sp>
        <p:nvSpPr>
          <p:cNvPr id="49" name="Text 47"/>
          <p:cNvSpPr/>
          <p:nvPr/>
        </p:nvSpPr>
        <p:spPr>
          <a:xfrm>
            <a:off x="7863840" y="4690872"/>
            <a:ext cx="457200" cy="137160"/>
          </a:xfrm>
          <a:prstGeom prst="rect">
            <a:avLst/>
          </a:prstGeom>
          <a:noFill/>
          <a:ln/>
        </p:spPr>
        <p:txBody>
          <a:bodyPr wrap="square" rtlCol="0" anchor="ctr"/>
          <a:lstStyle/>
          <a:p>
            <a:pPr indent="0" marL="0">
              <a:buNone/>
            </a:pPr>
            <a:r>
              <a:rPr lang="en-US" sz="700" dirty="0">
                <a:solidFill>
                  <a:srgbClr val="A8B8D8"/>
                </a:solidFill>
              </a:rPr>
              <a:t>nm RMS</a:t>
            </a:r>
            <a:endParaRPr lang="en-US" sz="700" dirty="0"/>
          </a:p>
        </p:txBody>
      </p:sp>
      <p:sp>
        <p:nvSpPr>
          <p:cNvPr id="50" name="Shape 48"/>
          <p:cNvSpPr/>
          <p:nvPr/>
        </p:nvSpPr>
        <p:spPr>
          <a:xfrm>
            <a:off x="457200" y="4828032"/>
            <a:ext cx="5029200" cy="292608"/>
          </a:xfrm>
          <a:prstGeom prst="roundRect">
            <a:avLst>
              <a:gd name="adj" fmla="val 37500"/>
            </a:avLst>
          </a:prstGeom>
          <a:solidFill>
            <a:srgbClr val="152050"/>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51" name="Text 49"/>
          <p:cNvSpPr/>
          <p:nvPr/>
        </p:nvSpPr>
        <p:spPr>
          <a:xfrm>
            <a:off x="594360" y="4864608"/>
            <a:ext cx="2286000" cy="256032"/>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RSS Total WFE: 23.7 nm</a:t>
            </a:r>
            <a:endParaRPr lang="en-US" sz="1300" dirty="0"/>
          </a:p>
        </p:txBody>
      </p:sp>
      <p:sp>
        <p:nvSpPr>
          <p:cNvPr id="52" name="Text 50"/>
          <p:cNvSpPr/>
          <p:nvPr/>
        </p:nvSpPr>
        <p:spPr>
          <a:xfrm>
            <a:off x="2880360" y="4864608"/>
            <a:ext cx="2468880" cy="256032"/>
          </a:xfrm>
          <a:prstGeom prst="rect">
            <a:avLst/>
          </a:prstGeom>
          <a:noFill/>
          <a:ln/>
        </p:spPr>
        <p:txBody>
          <a:bodyPr wrap="square" rtlCol="0" anchor="ctr"/>
          <a:lstStyle/>
          <a:p>
            <a:pPr indent="0" marL="0">
              <a:buNone/>
            </a:pPr>
            <a:r>
              <a:rPr lang="en-US" sz="1100" b="1" dirty="0">
                <a:solidFill>
                  <a:srgbClr val="00E5C0"/>
                </a:solidFill>
                <a:latin typeface="Calibri" pitchFamily="34" charset="0"/>
                <a:ea typeface="Calibri" pitchFamily="34" charset="-122"/>
                <a:cs typeface="Calibri" pitchFamily="34" charset="-120"/>
              </a:rPr>
              <a:t>Strehl S ≈ 0.91  →  Diffraction-limited  (S &gt; 0.8 criterion)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F2C"/>
        </a:solidFill>
      </p:bgPr>
    </p:bg>
    <p:spTree>
      <p:nvGrpSpPr>
        <p:cNvPr id="1" name=""/>
        <p:cNvGrpSpPr/>
        <p:nvPr/>
      </p:nvGrpSpPr>
      <p:grpSpPr>
        <a:xfrm>
          <a:off x="0" y="0"/>
          <a:ext cx="0" cy="0"/>
          <a:chOff x="0" y="0"/>
          <a:chExt cx="0" cy="0"/>
        </a:xfrm>
      </p:grpSpPr>
      <p:sp>
        <p:nvSpPr>
          <p:cNvPr id="2" name="Shape 0"/>
          <p:cNvSpPr/>
          <p:nvPr/>
        </p:nvSpPr>
        <p:spPr>
          <a:xfrm>
            <a:off x="7498080" y="-457200"/>
            <a:ext cx="3200400" cy="3200400"/>
          </a:xfrm>
          <a:prstGeom prst="ellipse">
            <a:avLst/>
          </a:prstGeom>
          <a:solidFill>
            <a:srgbClr val="FFD166">
              <a:alpha val="8000"/>
            </a:srgbClr>
          </a:solidFill>
          <a:ln w="6350">
            <a:solidFill>
              <a:srgbClr val="FFD166">
                <a:alpha val="20000"/>
              </a:srgbClr>
            </a:solidFill>
            <a:prstDash val="solid"/>
          </a:ln>
        </p:spPr>
      </p:sp>
      <p:sp>
        <p:nvSpPr>
          <p:cNvPr id="3" name="Text 1"/>
          <p:cNvSpPr/>
          <p:nvPr/>
        </p:nvSpPr>
        <p:spPr>
          <a:xfrm>
            <a:off x="457200" y="256032"/>
            <a:ext cx="3657600" cy="274320"/>
          </a:xfrm>
          <a:prstGeom prst="rect">
            <a:avLst/>
          </a:prstGeom>
          <a:noFill/>
          <a:ln/>
        </p:spPr>
        <p:txBody>
          <a:bodyPr wrap="square" rtlCol="0" anchor="ctr"/>
          <a:lstStyle/>
          <a:p>
            <a:pPr indent="0" marL="0">
              <a:buNone/>
            </a:pPr>
            <a:r>
              <a:rPr lang="en-US" sz="900" b="1" spc="300" kern="0" dirty="0">
                <a:solidFill>
                  <a:srgbClr val="FFD166"/>
                </a:solidFill>
              </a:rPr>
              <a:t>WFE DESIGN PROCESS</a:t>
            </a:r>
            <a:endParaRPr lang="en-US" sz="900" dirty="0"/>
          </a:p>
        </p:txBody>
      </p:sp>
      <p:sp>
        <p:nvSpPr>
          <p:cNvPr id="4" name="Text 2"/>
          <p:cNvSpPr/>
          <p:nvPr/>
        </p:nvSpPr>
        <p:spPr>
          <a:xfrm>
            <a:off x="457200" y="530352"/>
            <a:ext cx="7315200" cy="5943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From Requirement to Hardware</a:t>
            </a:r>
            <a:endParaRPr lang="en-US" sz="3200" dirty="0"/>
          </a:p>
        </p:txBody>
      </p:sp>
      <p:sp>
        <p:nvSpPr>
          <p:cNvPr id="5" name="Shape 3"/>
          <p:cNvSpPr/>
          <p:nvPr/>
        </p:nvSpPr>
        <p:spPr>
          <a:xfrm>
            <a:off x="411480" y="1298448"/>
            <a:ext cx="4160520" cy="1133856"/>
          </a:xfrm>
          <a:prstGeom prst="roundRect">
            <a:avLst>
              <a:gd name="adj" fmla="val 9677"/>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6" name="Shape 4"/>
          <p:cNvSpPr/>
          <p:nvPr/>
        </p:nvSpPr>
        <p:spPr>
          <a:xfrm>
            <a:off x="594360" y="1463040"/>
            <a:ext cx="457200" cy="457200"/>
          </a:xfrm>
          <a:prstGeom prst="ellipse">
            <a:avLst/>
          </a:prstGeom>
          <a:solidFill>
            <a:srgbClr val="00C8FF">
              <a:alpha val="80000"/>
            </a:srgbClr>
          </a:solidFill>
          <a:ln w="6350">
            <a:solidFill>
              <a:srgbClr val="00C8FF"/>
            </a:solidFill>
            <a:prstDash val="solid"/>
          </a:ln>
        </p:spPr>
      </p:sp>
      <p:sp>
        <p:nvSpPr>
          <p:cNvPr id="7" name="Text 5"/>
          <p:cNvSpPr/>
          <p:nvPr/>
        </p:nvSpPr>
        <p:spPr>
          <a:xfrm>
            <a:off x="594360" y="1463040"/>
            <a:ext cx="457200" cy="457200"/>
          </a:xfrm>
          <a:prstGeom prst="rect">
            <a:avLst/>
          </a:prstGeom>
          <a:noFill/>
          <a:ln/>
        </p:spPr>
        <p:txBody>
          <a:bodyPr wrap="square" lIns="0" tIns="0" rIns="0" bIns="0" rtlCol="0" anchor="ctr"/>
          <a:lstStyle/>
          <a:p>
            <a:pPr algn="ctr" indent="0" marL="0">
              <a:buNone/>
            </a:pPr>
            <a:r>
              <a:rPr lang="en-US" sz="1400" b="1" dirty="0">
                <a:solidFill>
                  <a:srgbClr val="00C8FF"/>
                </a:solidFill>
              </a:rPr>
              <a:t>1</a:t>
            </a:r>
            <a:endParaRPr lang="en-US" sz="1400" dirty="0"/>
          </a:p>
        </p:txBody>
      </p:sp>
      <p:sp>
        <p:nvSpPr>
          <p:cNvPr id="8" name="Text 6"/>
          <p:cNvSpPr/>
          <p:nvPr/>
        </p:nvSpPr>
        <p:spPr>
          <a:xfrm>
            <a:off x="1161288" y="1408176"/>
            <a:ext cx="3246120" cy="31089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System Strehl requirement</a:t>
            </a:r>
            <a:endParaRPr lang="en-US" sz="1100" dirty="0"/>
          </a:p>
        </p:txBody>
      </p:sp>
      <p:sp>
        <p:nvSpPr>
          <p:cNvPr id="9" name="Text 7"/>
          <p:cNvSpPr/>
          <p:nvPr/>
        </p:nvSpPr>
        <p:spPr>
          <a:xfrm>
            <a:off x="1161288" y="1719072"/>
            <a:ext cx="3246120" cy="594360"/>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Derive from link budget: max allowable coupling loss → min Strehl → max RSS WFE. Set target to 70% of limit for margin.</a:t>
            </a:r>
            <a:endParaRPr lang="en-US" sz="1000" dirty="0"/>
          </a:p>
        </p:txBody>
      </p:sp>
      <p:sp>
        <p:nvSpPr>
          <p:cNvPr id="10" name="Shape 8"/>
          <p:cNvSpPr/>
          <p:nvPr/>
        </p:nvSpPr>
        <p:spPr>
          <a:xfrm>
            <a:off x="4800600" y="1298448"/>
            <a:ext cx="4160520" cy="1133856"/>
          </a:xfrm>
          <a:prstGeom prst="roundRect">
            <a:avLst>
              <a:gd name="adj" fmla="val 9677"/>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11" name="Shape 9"/>
          <p:cNvSpPr/>
          <p:nvPr/>
        </p:nvSpPr>
        <p:spPr>
          <a:xfrm>
            <a:off x="4983480" y="1463040"/>
            <a:ext cx="457200" cy="457200"/>
          </a:xfrm>
          <a:prstGeom prst="ellipse">
            <a:avLst/>
          </a:prstGeom>
          <a:solidFill>
            <a:srgbClr val="00E5C0">
              <a:alpha val="80000"/>
            </a:srgbClr>
          </a:solidFill>
          <a:ln w="6350">
            <a:solidFill>
              <a:srgbClr val="00E5C0"/>
            </a:solidFill>
            <a:prstDash val="solid"/>
          </a:ln>
        </p:spPr>
      </p:sp>
      <p:sp>
        <p:nvSpPr>
          <p:cNvPr id="12" name="Text 10"/>
          <p:cNvSpPr/>
          <p:nvPr/>
        </p:nvSpPr>
        <p:spPr>
          <a:xfrm>
            <a:off x="4983480" y="1463040"/>
            <a:ext cx="457200" cy="457200"/>
          </a:xfrm>
          <a:prstGeom prst="rect">
            <a:avLst/>
          </a:prstGeom>
          <a:noFill/>
          <a:ln/>
        </p:spPr>
        <p:txBody>
          <a:bodyPr wrap="square" lIns="0" tIns="0" rIns="0" bIns="0" rtlCol="0" anchor="ctr"/>
          <a:lstStyle/>
          <a:p>
            <a:pPr algn="ctr" indent="0" marL="0">
              <a:buNone/>
            </a:pPr>
            <a:r>
              <a:rPr lang="en-US" sz="1400" b="1" dirty="0">
                <a:solidFill>
                  <a:srgbClr val="00E5C0"/>
                </a:solidFill>
              </a:rPr>
              <a:t>2</a:t>
            </a:r>
            <a:endParaRPr lang="en-US" sz="1400" dirty="0"/>
          </a:p>
        </p:txBody>
      </p:sp>
      <p:sp>
        <p:nvSpPr>
          <p:cNvPr id="13" name="Text 11"/>
          <p:cNvSpPr/>
          <p:nvPr/>
        </p:nvSpPr>
        <p:spPr>
          <a:xfrm>
            <a:off x="5550408" y="1408176"/>
            <a:ext cx="3246120" cy="31089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Zemax sensitivity analysis</a:t>
            </a:r>
            <a:endParaRPr lang="en-US" sz="1100" dirty="0"/>
          </a:p>
        </p:txBody>
      </p:sp>
      <p:sp>
        <p:nvSpPr>
          <p:cNvPr id="14" name="Text 12"/>
          <p:cNvSpPr/>
          <p:nvPr/>
        </p:nvSpPr>
        <p:spPr>
          <a:xfrm>
            <a:off x="5550408" y="1719072"/>
            <a:ext cx="3246120" cy="594360"/>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Perturb each element in 6 DOF. Compute S_ij = ∂WFE_i/∂DOF_j matrix. Identifies dominant sensitivity (e.g., secondary decenter → coma).</a:t>
            </a:r>
            <a:endParaRPr lang="en-US" sz="1000" dirty="0"/>
          </a:p>
        </p:txBody>
      </p:sp>
      <p:sp>
        <p:nvSpPr>
          <p:cNvPr id="15" name="Shape 13"/>
          <p:cNvSpPr/>
          <p:nvPr/>
        </p:nvSpPr>
        <p:spPr>
          <a:xfrm>
            <a:off x="411480" y="2560320"/>
            <a:ext cx="4160520" cy="1133856"/>
          </a:xfrm>
          <a:prstGeom prst="roundRect">
            <a:avLst>
              <a:gd name="adj" fmla="val 9677"/>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16" name="Shape 14"/>
          <p:cNvSpPr/>
          <p:nvPr/>
        </p:nvSpPr>
        <p:spPr>
          <a:xfrm>
            <a:off x="594360" y="2724912"/>
            <a:ext cx="457200" cy="457200"/>
          </a:xfrm>
          <a:prstGeom prst="ellipse">
            <a:avLst/>
          </a:prstGeom>
          <a:solidFill>
            <a:srgbClr val="FFD166">
              <a:alpha val="80000"/>
            </a:srgbClr>
          </a:solidFill>
          <a:ln w="6350">
            <a:solidFill>
              <a:srgbClr val="FFD166"/>
            </a:solidFill>
            <a:prstDash val="solid"/>
          </a:ln>
        </p:spPr>
      </p:sp>
      <p:sp>
        <p:nvSpPr>
          <p:cNvPr id="17" name="Text 15"/>
          <p:cNvSpPr/>
          <p:nvPr/>
        </p:nvSpPr>
        <p:spPr>
          <a:xfrm>
            <a:off x="594360" y="2724912"/>
            <a:ext cx="457200" cy="457200"/>
          </a:xfrm>
          <a:prstGeom prst="rect">
            <a:avLst/>
          </a:prstGeom>
          <a:noFill/>
          <a:ln/>
        </p:spPr>
        <p:txBody>
          <a:bodyPr wrap="square" lIns="0" tIns="0" rIns="0" bIns="0" rtlCol="0" anchor="ctr"/>
          <a:lstStyle/>
          <a:p>
            <a:pPr algn="ctr" indent="0" marL="0">
              <a:buNone/>
            </a:pPr>
            <a:r>
              <a:rPr lang="en-US" sz="1400" b="1" dirty="0">
                <a:solidFill>
                  <a:srgbClr val="FFD166"/>
                </a:solidFill>
              </a:rPr>
              <a:t>3</a:t>
            </a:r>
            <a:endParaRPr lang="en-US" sz="1400" dirty="0"/>
          </a:p>
        </p:txBody>
      </p:sp>
      <p:sp>
        <p:nvSpPr>
          <p:cNvPr id="18" name="Text 16"/>
          <p:cNvSpPr/>
          <p:nvPr/>
        </p:nvSpPr>
        <p:spPr>
          <a:xfrm>
            <a:off x="1161288" y="2670048"/>
            <a:ext cx="3246120" cy="31089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WFE allocation</a:t>
            </a:r>
            <a:endParaRPr lang="en-US" sz="1100" dirty="0"/>
          </a:p>
        </p:txBody>
      </p:sp>
      <p:sp>
        <p:nvSpPr>
          <p:cNvPr id="19" name="Text 17"/>
          <p:cNvSpPr/>
          <p:nvPr/>
        </p:nvSpPr>
        <p:spPr>
          <a:xfrm>
            <a:off x="1161288" y="2980944"/>
            <a:ext cx="3246120" cy="594360"/>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Invert sensitivities: δ_j = σ_i / S_ij gives mechanical tolerance per DOF. Iterate until tolerances are achievable with available mechanisms.</a:t>
            </a:r>
            <a:endParaRPr lang="en-US" sz="1000" dirty="0"/>
          </a:p>
        </p:txBody>
      </p:sp>
      <p:sp>
        <p:nvSpPr>
          <p:cNvPr id="20" name="Shape 18"/>
          <p:cNvSpPr/>
          <p:nvPr/>
        </p:nvSpPr>
        <p:spPr>
          <a:xfrm>
            <a:off x="4800600" y="2560320"/>
            <a:ext cx="4160520" cy="1133856"/>
          </a:xfrm>
          <a:prstGeom prst="roundRect">
            <a:avLst>
              <a:gd name="adj" fmla="val 9677"/>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21" name="Shape 19"/>
          <p:cNvSpPr/>
          <p:nvPr/>
        </p:nvSpPr>
        <p:spPr>
          <a:xfrm>
            <a:off x="4983480" y="2724912"/>
            <a:ext cx="457200" cy="457200"/>
          </a:xfrm>
          <a:prstGeom prst="ellipse">
            <a:avLst/>
          </a:prstGeom>
          <a:solidFill>
            <a:srgbClr val="7B5EF8">
              <a:alpha val="80000"/>
            </a:srgbClr>
          </a:solidFill>
          <a:ln w="6350">
            <a:solidFill>
              <a:srgbClr val="7B5EF8"/>
            </a:solidFill>
            <a:prstDash val="solid"/>
          </a:ln>
        </p:spPr>
      </p:sp>
      <p:sp>
        <p:nvSpPr>
          <p:cNvPr id="22" name="Text 20"/>
          <p:cNvSpPr/>
          <p:nvPr/>
        </p:nvSpPr>
        <p:spPr>
          <a:xfrm>
            <a:off x="4983480" y="2724912"/>
            <a:ext cx="457200" cy="457200"/>
          </a:xfrm>
          <a:prstGeom prst="rect">
            <a:avLst/>
          </a:prstGeom>
          <a:noFill/>
          <a:ln/>
        </p:spPr>
        <p:txBody>
          <a:bodyPr wrap="square" lIns="0" tIns="0" rIns="0" bIns="0" rtlCol="0" anchor="ctr"/>
          <a:lstStyle/>
          <a:p>
            <a:pPr algn="ctr" indent="0" marL="0">
              <a:buNone/>
            </a:pPr>
            <a:r>
              <a:rPr lang="en-US" sz="1400" b="1" dirty="0">
                <a:solidFill>
                  <a:srgbClr val="7B5EF8"/>
                </a:solidFill>
              </a:rPr>
              <a:t>4</a:t>
            </a:r>
            <a:endParaRPr lang="en-US" sz="1400" dirty="0"/>
          </a:p>
        </p:txBody>
      </p:sp>
      <p:sp>
        <p:nvSpPr>
          <p:cNvPr id="23" name="Text 21"/>
          <p:cNvSpPr/>
          <p:nvPr/>
        </p:nvSpPr>
        <p:spPr>
          <a:xfrm>
            <a:off x="5550408" y="2670048"/>
            <a:ext cx="3246120" cy="31089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Manufacture &amp; metrology</a:t>
            </a:r>
            <a:endParaRPr lang="en-US" sz="1100" dirty="0"/>
          </a:p>
        </p:txBody>
      </p:sp>
      <p:sp>
        <p:nvSpPr>
          <p:cNvPr id="24" name="Text 22"/>
          <p:cNvSpPr/>
          <p:nvPr/>
        </p:nvSpPr>
        <p:spPr>
          <a:xfrm>
            <a:off x="5550408" y="2980944"/>
            <a:ext cx="3246120" cy="594360"/>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Fizeau interferometry measures surface figure (λ/50 figure = ~10 nm RMS). Ion-beam polishing for final correction. Zygo/4D Technology instruments.</a:t>
            </a:r>
            <a:endParaRPr lang="en-US" sz="1000" dirty="0"/>
          </a:p>
        </p:txBody>
      </p:sp>
      <p:sp>
        <p:nvSpPr>
          <p:cNvPr id="25" name="Shape 23"/>
          <p:cNvSpPr/>
          <p:nvPr/>
        </p:nvSpPr>
        <p:spPr>
          <a:xfrm>
            <a:off x="411480" y="3822192"/>
            <a:ext cx="4160520" cy="1133856"/>
          </a:xfrm>
          <a:prstGeom prst="roundRect">
            <a:avLst>
              <a:gd name="adj" fmla="val 9677"/>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26" name="Shape 24"/>
          <p:cNvSpPr/>
          <p:nvPr/>
        </p:nvSpPr>
        <p:spPr>
          <a:xfrm>
            <a:off x="594360" y="3986784"/>
            <a:ext cx="457200" cy="457200"/>
          </a:xfrm>
          <a:prstGeom prst="ellipse">
            <a:avLst/>
          </a:prstGeom>
          <a:solidFill>
            <a:srgbClr val="FF6B6B">
              <a:alpha val="80000"/>
            </a:srgbClr>
          </a:solidFill>
          <a:ln w="6350">
            <a:solidFill>
              <a:srgbClr val="FF6B6B"/>
            </a:solidFill>
            <a:prstDash val="solid"/>
          </a:ln>
        </p:spPr>
      </p:sp>
      <p:sp>
        <p:nvSpPr>
          <p:cNvPr id="27" name="Text 25"/>
          <p:cNvSpPr/>
          <p:nvPr/>
        </p:nvSpPr>
        <p:spPr>
          <a:xfrm>
            <a:off x="594360" y="3986784"/>
            <a:ext cx="457200" cy="457200"/>
          </a:xfrm>
          <a:prstGeom prst="rect">
            <a:avLst/>
          </a:prstGeom>
          <a:noFill/>
          <a:ln/>
        </p:spPr>
        <p:txBody>
          <a:bodyPr wrap="square" lIns="0" tIns="0" rIns="0" bIns="0" rtlCol="0" anchor="ctr"/>
          <a:lstStyle/>
          <a:p>
            <a:pPr algn="ctr" indent="0" marL="0">
              <a:buNone/>
            </a:pPr>
            <a:r>
              <a:rPr lang="en-US" sz="1400" b="1" dirty="0">
                <a:solidFill>
                  <a:srgbClr val="FF6B6B"/>
                </a:solidFill>
              </a:rPr>
              <a:t>5</a:t>
            </a:r>
            <a:endParaRPr lang="en-US" sz="1400" dirty="0"/>
          </a:p>
        </p:txBody>
      </p:sp>
      <p:sp>
        <p:nvSpPr>
          <p:cNvPr id="28" name="Text 26"/>
          <p:cNvSpPr/>
          <p:nvPr/>
        </p:nvSpPr>
        <p:spPr>
          <a:xfrm>
            <a:off x="1161288" y="3931920"/>
            <a:ext cx="3246120" cy="31089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Space qualification</a:t>
            </a:r>
            <a:endParaRPr lang="en-US" sz="1100" dirty="0"/>
          </a:p>
        </p:txBody>
      </p:sp>
      <p:sp>
        <p:nvSpPr>
          <p:cNvPr id="29" name="Text 27"/>
          <p:cNvSpPr/>
          <p:nvPr/>
        </p:nvSpPr>
        <p:spPr>
          <a:xfrm>
            <a:off x="1161288" y="4242816"/>
            <a:ext cx="3246120" cy="594360"/>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Thermal vacuum cycling (−40°C to +70°C), random vibration, shock, TID radiation. EDFA/DFB aging tests for mission life.</a:t>
            </a:r>
            <a:endParaRPr lang="en-US" sz="1000" dirty="0"/>
          </a:p>
        </p:txBody>
      </p:sp>
      <p:sp>
        <p:nvSpPr>
          <p:cNvPr id="30" name="Shape 28"/>
          <p:cNvSpPr/>
          <p:nvPr/>
        </p:nvSpPr>
        <p:spPr>
          <a:xfrm>
            <a:off x="4800600" y="3822192"/>
            <a:ext cx="4160520" cy="1133856"/>
          </a:xfrm>
          <a:prstGeom prst="roundRect">
            <a:avLst>
              <a:gd name="adj" fmla="val 9677"/>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31" name="Shape 29"/>
          <p:cNvSpPr/>
          <p:nvPr/>
        </p:nvSpPr>
        <p:spPr>
          <a:xfrm>
            <a:off x="4983480" y="3986784"/>
            <a:ext cx="457200" cy="457200"/>
          </a:xfrm>
          <a:prstGeom prst="ellipse">
            <a:avLst/>
          </a:prstGeom>
          <a:solidFill>
            <a:srgbClr val="C68BFF">
              <a:alpha val="80000"/>
            </a:srgbClr>
          </a:solidFill>
          <a:ln w="6350">
            <a:solidFill>
              <a:srgbClr val="C68BFF"/>
            </a:solidFill>
            <a:prstDash val="solid"/>
          </a:ln>
        </p:spPr>
      </p:sp>
      <p:sp>
        <p:nvSpPr>
          <p:cNvPr id="32" name="Text 30"/>
          <p:cNvSpPr/>
          <p:nvPr/>
        </p:nvSpPr>
        <p:spPr>
          <a:xfrm>
            <a:off x="4983480" y="3986784"/>
            <a:ext cx="457200" cy="457200"/>
          </a:xfrm>
          <a:prstGeom prst="rect">
            <a:avLst/>
          </a:prstGeom>
          <a:noFill/>
          <a:ln/>
        </p:spPr>
        <p:txBody>
          <a:bodyPr wrap="square" lIns="0" tIns="0" rIns="0" bIns="0" rtlCol="0" anchor="ctr"/>
          <a:lstStyle/>
          <a:p>
            <a:pPr algn="ctr" indent="0" marL="0">
              <a:buNone/>
            </a:pPr>
            <a:r>
              <a:rPr lang="en-US" sz="1400" b="1" dirty="0">
                <a:solidFill>
                  <a:srgbClr val="C68BFF"/>
                </a:solidFill>
              </a:rPr>
              <a:t>6</a:t>
            </a:r>
            <a:endParaRPr lang="en-US" sz="1400" dirty="0"/>
          </a:p>
        </p:txBody>
      </p:sp>
      <p:sp>
        <p:nvSpPr>
          <p:cNvPr id="33" name="Text 31"/>
          <p:cNvSpPr/>
          <p:nvPr/>
        </p:nvSpPr>
        <p:spPr>
          <a:xfrm>
            <a:off x="5550408" y="3931920"/>
            <a:ext cx="3246120" cy="31089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End-to-end link test</a:t>
            </a:r>
            <a:endParaRPr lang="en-US" sz="1100" dirty="0"/>
          </a:p>
        </p:txBody>
      </p:sp>
      <p:sp>
        <p:nvSpPr>
          <p:cNvPr id="34" name="Text 32"/>
          <p:cNvSpPr/>
          <p:nvPr/>
        </p:nvSpPr>
        <p:spPr>
          <a:xfrm>
            <a:off x="5550408" y="4242816"/>
            <a:ext cx="3246120" cy="594360"/>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Hardware-in-the-loop with turbulence emulator, range-equivalent attenuation. Validates integrated performance before spacecraft integration.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F2C"/>
        </a:solidFill>
      </p:bgPr>
    </p:bg>
    <p:spTree>
      <p:nvGrpSpPr>
        <p:cNvPr id="1" name=""/>
        <p:cNvGrpSpPr/>
        <p:nvPr/>
      </p:nvGrpSpPr>
      <p:grpSpPr>
        <a:xfrm>
          <a:off x="0" y="0"/>
          <a:ext cx="0" cy="0"/>
          <a:chOff x="0" y="0"/>
          <a:chExt cx="0" cy="0"/>
        </a:xfrm>
      </p:grpSpPr>
      <p:sp>
        <p:nvSpPr>
          <p:cNvPr id="2" name="Text 0"/>
          <p:cNvSpPr/>
          <p:nvPr/>
        </p:nvSpPr>
        <p:spPr>
          <a:xfrm>
            <a:off x="457200" y="256032"/>
            <a:ext cx="3657600" cy="274320"/>
          </a:xfrm>
          <a:prstGeom prst="rect">
            <a:avLst/>
          </a:prstGeom>
          <a:noFill/>
          <a:ln/>
        </p:spPr>
        <p:txBody>
          <a:bodyPr wrap="square" rtlCol="0" anchor="ctr"/>
          <a:lstStyle/>
          <a:p>
            <a:pPr indent="0" marL="0">
              <a:buNone/>
            </a:pPr>
            <a:r>
              <a:rPr lang="en-US" sz="900" b="1" spc="300" kern="0" dirty="0">
                <a:solidFill>
                  <a:srgbClr val="FF6B6B"/>
                </a:solidFill>
              </a:rPr>
              <a:t>PAT CONTROL SYSTEM</a:t>
            </a:r>
            <a:endParaRPr lang="en-US" sz="900" dirty="0"/>
          </a:p>
        </p:txBody>
      </p:sp>
      <p:sp>
        <p:nvSpPr>
          <p:cNvPr id="3" name="Text 1"/>
          <p:cNvSpPr/>
          <p:nvPr/>
        </p:nvSpPr>
        <p:spPr>
          <a:xfrm>
            <a:off x="457200" y="530352"/>
            <a:ext cx="6858000" cy="5943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FSM Tracking Loop Design</a:t>
            </a:r>
            <a:endParaRPr lang="en-US" sz="3200" dirty="0"/>
          </a:p>
        </p:txBody>
      </p:sp>
      <p:sp>
        <p:nvSpPr>
          <p:cNvPr id="4" name="Shape 2"/>
          <p:cNvSpPr/>
          <p:nvPr/>
        </p:nvSpPr>
        <p:spPr>
          <a:xfrm>
            <a:off x="457200" y="1261872"/>
            <a:ext cx="4069080" cy="1417320"/>
          </a:xfrm>
          <a:prstGeom prst="roundRect">
            <a:avLst>
              <a:gd name="adj" fmla="val 7742"/>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5" name="Text 3"/>
          <p:cNvSpPr/>
          <p:nvPr/>
        </p:nvSpPr>
        <p:spPr>
          <a:xfrm>
            <a:off x="594360" y="1353312"/>
            <a:ext cx="3749040" cy="292608"/>
          </a:xfrm>
          <a:prstGeom prst="rect">
            <a:avLst/>
          </a:prstGeom>
          <a:noFill/>
          <a:ln/>
        </p:spPr>
        <p:txBody>
          <a:bodyPr wrap="square" rtlCol="0" anchor="ctr"/>
          <a:lstStyle/>
          <a:p>
            <a:pPr indent="0" marL="0">
              <a:buNone/>
            </a:pPr>
            <a:r>
              <a:rPr lang="en-US" sz="1200" b="1" dirty="0">
                <a:solidFill>
                  <a:srgbClr val="FF6B6B"/>
                </a:solidFill>
                <a:latin typeface="Calibri" pitchFamily="34" charset="0"/>
                <a:ea typeface="Calibri" pitchFamily="34" charset="-122"/>
                <a:cs typeface="Calibri" pitchFamily="34" charset="-120"/>
              </a:rPr>
              <a:t>FSM Plant Model P(s)</a:t>
            </a:r>
            <a:endParaRPr lang="en-US" sz="1200" dirty="0"/>
          </a:p>
        </p:txBody>
      </p:sp>
      <p:sp>
        <p:nvSpPr>
          <p:cNvPr id="6" name="Text 4"/>
          <p:cNvSpPr/>
          <p:nvPr/>
        </p:nvSpPr>
        <p:spPr>
          <a:xfrm>
            <a:off x="594360" y="1664208"/>
            <a:ext cx="3749040" cy="36576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P(s)  =  K_act · ω_n²  /  (s² + 2ζω_n·s + ω_n²)</a:t>
            </a:r>
            <a:endParaRPr lang="en-US" sz="1300" dirty="0"/>
          </a:p>
        </p:txBody>
      </p:sp>
      <p:sp>
        <p:nvSpPr>
          <p:cNvPr id="7" name="Text 5"/>
          <p:cNvSpPr/>
          <p:nvPr/>
        </p:nvSpPr>
        <p:spPr>
          <a:xfrm>
            <a:off x="594360" y="2048256"/>
            <a:ext cx="3749040" cy="347472"/>
          </a:xfrm>
          <a:prstGeom prst="rect">
            <a:avLst/>
          </a:prstGeom>
          <a:noFill/>
          <a:ln/>
        </p:spPr>
        <p:txBody>
          <a:bodyPr wrap="square" rtlCol="0" anchor="ctr"/>
          <a:lstStyle/>
          <a:p>
            <a:pPr algn="ctr" indent="0" marL="0">
              <a:buNone/>
            </a:pPr>
            <a:r>
              <a:rPr lang="en-US" sz="950" dirty="0">
                <a:solidFill>
                  <a:srgbClr val="A8B8D8"/>
                </a:solidFill>
                <a:latin typeface="Calibri" pitchFamily="34" charset="0"/>
                <a:ea typeface="Calibri" pitchFamily="34" charset="-122"/>
                <a:cs typeface="Calibri" pitchFamily="34" charset="-120"/>
              </a:rPr>
              <a:t>ω_n = 2π×500–2000 rad/s  |  ζ = 0.01–0.05 (lightly damped)  |  K_act = 10–50 μrad/V</a:t>
            </a:r>
            <a:endParaRPr lang="en-US" sz="950" dirty="0"/>
          </a:p>
        </p:txBody>
      </p:sp>
      <p:sp>
        <p:nvSpPr>
          <p:cNvPr id="8" name="Shape 6"/>
          <p:cNvSpPr/>
          <p:nvPr/>
        </p:nvSpPr>
        <p:spPr>
          <a:xfrm>
            <a:off x="4800600" y="1261872"/>
            <a:ext cx="3977640" cy="1417320"/>
          </a:xfrm>
          <a:prstGeom prst="roundRect">
            <a:avLst>
              <a:gd name="adj" fmla="val 7742"/>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9" name="Text 7"/>
          <p:cNvSpPr/>
          <p:nvPr/>
        </p:nvSpPr>
        <p:spPr>
          <a:xfrm>
            <a:off x="4937760" y="1353312"/>
            <a:ext cx="3657600" cy="292608"/>
          </a:xfrm>
          <a:prstGeom prst="rect">
            <a:avLst/>
          </a:prstGeom>
          <a:noFill/>
          <a:ln/>
        </p:spPr>
        <p:txBody>
          <a:bodyPr wrap="square" rtlCol="0" anchor="ctr"/>
          <a:lstStyle/>
          <a:p>
            <a:pPr indent="0" marL="0">
              <a:buNone/>
            </a:pPr>
            <a:r>
              <a:rPr lang="en-US" sz="1200" b="1" dirty="0">
                <a:solidFill>
                  <a:srgbClr val="00C8FF"/>
                </a:solidFill>
                <a:latin typeface="Calibri" pitchFamily="34" charset="0"/>
                <a:ea typeface="Calibri" pitchFamily="34" charset="-122"/>
                <a:cs typeface="Calibri" pitchFamily="34" charset="-120"/>
              </a:rPr>
              <a:t>Controller  C(s)  =  PID × Notches</a:t>
            </a:r>
            <a:endParaRPr lang="en-US" sz="1200" dirty="0"/>
          </a:p>
        </p:txBody>
      </p:sp>
      <p:sp>
        <p:nvSpPr>
          <p:cNvPr id="10" name="Text 8"/>
          <p:cNvSpPr/>
          <p:nvPr/>
        </p:nvSpPr>
        <p:spPr>
          <a:xfrm>
            <a:off x="4937760" y="1664208"/>
            <a:ext cx="3657600" cy="365760"/>
          </a:xfrm>
          <a:prstGeom prst="rect">
            <a:avLst/>
          </a:prstGeom>
          <a:noFill/>
          <a:ln/>
        </p:spPr>
        <p:txBody>
          <a:bodyPr wrap="square"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C(s) = K_p (1 + 1/T_i·s + T_d·s/τ) · N_res(s) · N_RW(s)</a:t>
            </a:r>
            <a:endParaRPr lang="en-US" sz="1150" dirty="0"/>
          </a:p>
        </p:txBody>
      </p:sp>
      <p:sp>
        <p:nvSpPr>
          <p:cNvPr id="11" name="Text 9"/>
          <p:cNvSpPr/>
          <p:nvPr/>
        </p:nvSpPr>
        <p:spPr>
          <a:xfrm>
            <a:off x="4937760" y="2048256"/>
            <a:ext cx="3657600" cy="347472"/>
          </a:xfrm>
          <a:prstGeom prst="rect">
            <a:avLst/>
          </a:prstGeom>
          <a:noFill/>
          <a:ln/>
        </p:spPr>
        <p:txBody>
          <a:bodyPr wrap="square" rtlCol="0" anchor="ctr"/>
          <a:lstStyle/>
          <a:p>
            <a:pPr algn="ctr" indent="0" marL="0">
              <a:buNone/>
            </a:pPr>
            <a:r>
              <a:rPr lang="en-US" sz="950" dirty="0">
                <a:solidFill>
                  <a:srgbClr val="A8B8D8"/>
                </a:solidFill>
                <a:latin typeface="Calibri" pitchFamily="34" charset="0"/>
                <a:ea typeface="Calibri" pitchFamily="34" charset="-122"/>
                <a:cs typeface="Calibri" pitchFamily="34" charset="-120"/>
              </a:rPr>
              <a:t>Loop crossover f_c ≈ 300 Hz  |  Phase margin ≥ 45°  |  Gain margin ≥ 6 dB</a:t>
            </a:r>
            <a:endParaRPr lang="en-US" sz="950" dirty="0"/>
          </a:p>
        </p:txBody>
      </p:sp>
      <p:sp>
        <p:nvSpPr>
          <p:cNvPr id="12" name="Shape 10"/>
          <p:cNvSpPr/>
          <p:nvPr/>
        </p:nvSpPr>
        <p:spPr>
          <a:xfrm>
            <a:off x="457200" y="2816352"/>
            <a:ext cx="2743200" cy="1536192"/>
          </a:xfrm>
          <a:prstGeom prst="roundRect">
            <a:avLst>
              <a:gd name="adj" fmla="val 7143"/>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13" name="Text 11"/>
          <p:cNvSpPr/>
          <p:nvPr/>
        </p:nvSpPr>
        <p:spPr>
          <a:xfrm>
            <a:off x="594360" y="2889504"/>
            <a:ext cx="2468880" cy="310896"/>
          </a:xfrm>
          <a:prstGeom prst="rect">
            <a:avLst/>
          </a:prstGeom>
          <a:noFill/>
          <a:ln/>
        </p:spPr>
        <p:txBody>
          <a:bodyPr wrap="square" rtlCol="0" anchor="ctr"/>
          <a:lstStyle/>
          <a:p>
            <a:pPr indent="0" marL="0">
              <a:buNone/>
            </a:pPr>
            <a:r>
              <a:rPr lang="en-US" sz="1100" b="1" dirty="0">
                <a:solidFill>
                  <a:srgbClr val="00E5C0"/>
                </a:solidFill>
                <a:latin typeface="Calibri" pitchFamily="34" charset="0"/>
                <a:ea typeface="Calibri" pitchFamily="34" charset="-122"/>
                <a:cs typeface="Calibri" pitchFamily="34" charset="-120"/>
              </a:rPr>
              <a:t>4-Quadrant Detector</a:t>
            </a:r>
            <a:endParaRPr lang="en-US" sz="1100" dirty="0"/>
          </a:p>
        </p:txBody>
      </p:sp>
      <p:sp>
        <p:nvSpPr>
          <p:cNvPr id="14" name="Text 12"/>
          <p:cNvSpPr/>
          <p:nvPr/>
        </p:nvSpPr>
        <p:spPr>
          <a:xfrm>
            <a:off x="594360" y="3218688"/>
            <a:ext cx="2468880" cy="100584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Bandwidth: up to 100 kHz</a:t>
            </a:r>
            <a:endParaRPr lang="en-US" sz="1050" dirty="0"/>
          </a:p>
          <a:p>
            <a:pPr indent="0" marL="0">
              <a:buNone/>
            </a:pPr>
            <a:r>
              <a:rPr lang="en-US" sz="1050" dirty="0">
                <a:solidFill>
                  <a:srgbClr val="A8B8D8"/>
                </a:solidFill>
                <a:latin typeface="Calibri" pitchFamily="34" charset="0"/>
                <a:ea typeface="Calibri" pitchFamily="34" charset="-122"/>
                <a:cs typeface="Calibri" pitchFamily="34" charset="-120"/>
              </a:rPr>
              <a:t>Linear range: ±20% spot diameter</a:t>
            </a:r>
            <a:endParaRPr lang="en-US" sz="1050" dirty="0"/>
          </a:p>
          <a:p>
            <a:pPr indent="0" marL="0">
              <a:buNone/>
            </a:pPr>
            <a:r>
              <a:rPr lang="en-US" sz="1050" dirty="0">
                <a:solidFill>
                  <a:srgbClr val="A8B8D8"/>
                </a:solidFill>
                <a:latin typeface="Calibri" pitchFamily="34" charset="0"/>
                <a:ea typeface="Calibri" pitchFamily="34" charset="-122"/>
                <a:cs typeface="Calibri" pitchFamily="34" charset="-120"/>
              </a:rPr>
              <a:t>Ideal for fine-tracking phase</a:t>
            </a:r>
            <a:endParaRPr lang="en-US" sz="1050" dirty="0"/>
          </a:p>
        </p:txBody>
      </p:sp>
      <p:sp>
        <p:nvSpPr>
          <p:cNvPr id="15" name="Shape 13"/>
          <p:cNvSpPr/>
          <p:nvPr/>
        </p:nvSpPr>
        <p:spPr>
          <a:xfrm>
            <a:off x="3364992" y="2816352"/>
            <a:ext cx="2743200" cy="1536192"/>
          </a:xfrm>
          <a:prstGeom prst="roundRect">
            <a:avLst>
              <a:gd name="adj" fmla="val 7143"/>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16" name="Text 14"/>
          <p:cNvSpPr/>
          <p:nvPr/>
        </p:nvSpPr>
        <p:spPr>
          <a:xfrm>
            <a:off x="3502152" y="2889504"/>
            <a:ext cx="2468880" cy="310896"/>
          </a:xfrm>
          <a:prstGeom prst="rect">
            <a:avLst/>
          </a:prstGeom>
          <a:noFill/>
          <a:ln/>
        </p:spPr>
        <p:txBody>
          <a:bodyPr wrap="square" rtlCol="0" anchor="ctr"/>
          <a:lstStyle/>
          <a:p>
            <a:pPr indent="0" marL="0">
              <a:buNone/>
            </a:pPr>
            <a:r>
              <a:rPr lang="en-US" sz="1100" b="1" dirty="0">
                <a:solidFill>
                  <a:srgbClr val="00C8FF"/>
                </a:solidFill>
                <a:latin typeface="Calibri" pitchFamily="34" charset="0"/>
                <a:ea typeface="Calibri" pitchFamily="34" charset="-122"/>
                <a:cs typeface="Calibri" pitchFamily="34" charset="-120"/>
              </a:rPr>
              <a:t>CMOS Focal Array</a:t>
            </a:r>
            <a:endParaRPr lang="en-US" sz="1100" dirty="0"/>
          </a:p>
        </p:txBody>
      </p:sp>
      <p:sp>
        <p:nvSpPr>
          <p:cNvPr id="17" name="Text 15"/>
          <p:cNvSpPr/>
          <p:nvPr/>
        </p:nvSpPr>
        <p:spPr>
          <a:xfrm>
            <a:off x="3502152" y="3218688"/>
            <a:ext cx="2468880" cy="100584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Wide linear FOV</a:t>
            </a:r>
            <a:endParaRPr lang="en-US" sz="1050" dirty="0"/>
          </a:p>
          <a:p>
            <a:pPr indent="0" marL="0">
              <a:buNone/>
            </a:pPr>
            <a:r>
              <a:rPr lang="en-US" sz="1050" dirty="0">
                <a:solidFill>
                  <a:srgbClr val="A8B8D8"/>
                </a:solidFill>
                <a:latin typeface="Calibri" pitchFamily="34" charset="0"/>
                <a:ea typeface="Calibri" pitchFamily="34" charset="-122"/>
                <a:cs typeface="Calibri" pitchFamily="34" charset="-120"/>
              </a:rPr>
              <a:t>Latency = 1 frame period</a:t>
            </a:r>
            <a:endParaRPr lang="en-US" sz="1050" dirty="0"/>
          </a:p>
          <a:p>
            <a:pPr indent="0" marL="0">
              <a:buNone/>
            </a:pPr>
            <a:r>
              <a:rPr lang="en-US" sz="1050" dirty="0">
                <a:solidFill>
                  <a:srgbClr val="A8B8D8"/>
                </a:solidFill>
                <a:latin typeface="Calibri" pitchFamily="34" charset="0"/>
                <a:ea typeface="Calibri" pitchFamily="34" charset="-122"/>
                <a:cs typeface="Calibri" pitchFamily="34" charset="-120"/>
              </a:rPr>
              <a:t>Phase lag: 360°·f_c/f_frame</a:t>
            </a:r>
            <a:endParaRPr lang="en-US" sz="1050" dirty="0"/>
          </a:p>
        </p:txBody>
      </p:sp>
      <p:sp>
        <p:nvSpPr>
          <p:cNvPr id="18" name="Shape 16"/>
          <p:cNvSpPr/>
          <p:nvPr/>
        </p:nvSpPr>
        <p:spPr>
          <a:xfrm>
            <a:off x="6272784" y="2816352"/>
            <a:ext cx="2743200" cy="1536192"/>
          </a:xfrm>
          <a:prstGeom prst="roundRect">
            <a:avLst>
              <a:gd name="adj" fmla="val 7143"/>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19" name="Text 17"/>
          <p:cNvSpPr/>
          <p:nvPr/>
        </p:nvSpPr>
        <p:spPr>
          <a:xfrm>
            <a:off x="6409944" y="2889504"/>
            <a:ext cx="2468880" cy="310896"/>
          </a:xfrm>
          <a:prstGeom prst="rect">
            <a:avLst/>
          </a:prstGeom>
          <a:noFill/>
          <a:ln/>
        </p:spPr>
        <p:txBody>
          <a:bodyPr wrap="square" rtlCol="0" anchor="ctr"/>
          <a:lstStyle/>
          <a:p>
            <a:pPr indent="0" marL="0">
              <a:buNone/>
            </a:pPr>
            <a:r>
              <a:rPr lang="en-US" sz="1100" b="1" dirty="0">
                <a:solidFill>
                  <a:srgbClr val="7B5EF8"/>
                </a:solidFill>
                <a:latin typeface="Calibri" pitchFamily="34" charset="0"/>
                <a:ea typeface="Calibri" pitchFamily="34" charset="-122"/>
                <a:cs typeface="Calibri" pitchFamily="34" charset="-120"/>
              </a:rPr>
              <a:t>Kalman Estimator</a:t>
            </a:r>
            <a:endParaRPr lang="en-US" sz="1100" dirty="0"/>
          </a:p>
        </p:txBody>
      </p:sp>
      <p:sp>
        <p:nvSpPr>
          <p:cNvPr id="20" name="Text 18"/>
          <p:cNvSpPr/>
          <p:nvPr/>
        </p:nvSpPr>
        <p:spPr>
          <a:xfrm>
            <a:off x="6409944" y="3218688"/>
            <a:ext cx="2468880" cy="100584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Estimates jitter state</a:t>
            </a:r>
            <a:endParaRPr lang="en-US" sz="1050" dirty="0"/>
          </a:p>
          <a:p>
            <a:pPr indent="0" marL="0">
              <a:buNone/>
            </a:pPr>
            <a:r>
              <a:rPr lang="en-US" sz="1050" dirty="0">
                <a:solidFill>
                  <a:srgbClr val="A8B8D8"/>
                </a:solidFill>
                <a:latin typeface="Calibri" pitchFamily="34" charset="0"/>
                <a:ea typeface="Calibri" pitchFamily="34" charset="-122"/>
                <a:cs typeface="Calibri" pitchFamily="34" charset="-120"/>
              </a:rPr>
              <a:t>Disturbance feed-forward</a:t>
            </a:r>
            <a:endParaRPr lang="en-US" sz="1050" dirty="0"/>
          </a:p>
          <a:p>
            <a:pPr indent="0" marL="0">
              <a:buNone/>
            </a:pPr>
            <a:r>
              <a:rPr lang="en-US" sz="1050" dirty="0">
                <a:solidFill>
                  <a:srgbClr val="A8B8D8"/>
                </a:solidFill>
                <a:latin typeface="Calibri" pitchFamily="34" charset="0"/>
                <a:ea typeface="Calibri" pitchFamily="34" charset="-122"/>
                <a:cs typeface="Calibri" pitchFamily="34" charset="-120"/>
              </a:rPr>
              <a:t>Cancels RW harmonics predictively</a:t>
            </a:r>
            <a:endParaRPr lang="en-US" sz="1050" dirty="0"/>
          </a:p>
        </p:txBody>
      </p:sp>
      <p:sp>
        <p:nvSpPr>
          <p:cNvPr id="21" name="Shape 19"/>
          <p:cNvSpPr/>
          <p:nvPr/>
        </p:nvSpPr>
        <p:spPr>
          <a:xfrm>
            <a:off x="457200" y="4462272"/>
            <a:ext cx="8321040" cy="530352"/>
          </a:xfrm>
          <a:prstGeom prst="roundRect">
            <a:avLst>
              <a:gd name="adj" fmla="val 20690"/>
            </a:avLst>
          </a:prstGeom>
          <a:solidFill>
            <a:srgbClr val="152050"/>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22" name="Text 20"/>
          <p:cNvSpPr/>
          <p:nvPr/>
        </p:nvSpPr>
        <p:spPr>
          <a:xfrm>
            <a:off x="594360" y="4526280"/>
            <a:ext cx="914400" cy="347472"/>
          </a:xfrm>
          <a:prstGeom prst="rect">
            <a:avLst/>
          </a:prstGeom>
          <a:noFill/>
          <a:ln/>
        </p:spPr>
        <p:txBody>
          <a:bodyPr wrap="square" rtlCol="0" anchor="ctr"/>
          <a:lstStyle/>
          <a:p>
            <a:pPr indent="0" marL="0">
              <a:buNone/>
            </a:pPr>
            <a:r>
              <a:rPr lang="en-US" sz="1100" b="1" dirty="0">
                <a:solidFill>
                  <a:srgbClr val="FFD166"/>
                </a:solidFill>
                <a:latin typeface="Calibri" pitchFamily="34" charset="0"/>
                <a:ea typeface="Calibri" pitchFamily="34" charset="-122"/>
                <a:cs typeface="Calibri" pitchFamily="34" charset="-120"/>
              </a:rPr>
              <a:t>Notch Filter:</a:t>
            </a:r>
            <a:endParaRPr lang="en-US" sz="1100" dirty="0"/>
          </a:p>
        </p:txBody>
      </p:sp>
      <p:sp>
        <p:nvSpPr>
          <p:cNvPr id="23" name="Text 21"/>
          <p:cNvSpPr/>
          <p:nvPr/>
        </p:nvSpPr>
        <p:spPr>
          <a:xfrm>
            <a:off x="1536192" y="4526280"/>
            <a:ext cx="7086600" cy="36576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N(s) = (s² + 2ζ_z·ω_n·s + ω_n²) / (s² + 2ζ_p·ω_n·s + ω_n²)  with ζ_z = 0.001 (deep null at mechanical resonance), ζ_p = 0.3–0.5 (wide denominator to restore phase)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F2C"/>
        </a:solidFill>
      </p:bgPr>
    </p:bg>
    <p:spTree>
      <p:nvGrpSpPr>
        <p:cNvPr id="1" name=""/>
        <p:cNvGrpSpPr/>
        <p:nvPr/>
      </p:nvGrpSpPr>
      <p:grpSpPr>
        <a:xfrm>
          <a:off x="0" y="0"/>
          <a:ext cx="0" cy="0"/>
          <a:chOff x="0" y="0"/>
          <a:chExt cx="0" cy="0"/>
        </a:xfrm>
      </p:grpSpPr>
      <p:sp>
        <p:nvSpPr>
          <p:cNvPr id="2" name="Shape 0"/>
          <p:cNvSpPr/>
          <p:nvPr/>
        </p:nvSpPr>
        <p:spPr>
          <a:xfrm>
            <a:off x="7132320" y="2743200"/>
            <a:ext cx="3657600" cy="3657600"/>
          </a:xfrm>
          <a:prstGeom prst="ellipse">
            <a:avLst/>
          </a:prstGeom>
          <a:solidFill>
            <a:srgbClr val="00C8FF">
              <a:alpha val="10000"/>
            </a:srgbClr>
          </a:solidFill>
          <a:ln w="6350">
            <a:solidFill>
              <a:srgbClr val="00C8FF">
                <a:alpha val="20000"/>
              </a:srgbClr>
            </a:solidFill>
            <a:prstDash val="solid"/>
          </a:ln>
        </p:spPr>
      </p:sp>
      <p:sp>
        <p:nvSpPr>
          <p:cNvPr id="3" name="Text 1"/>
          <p:cNvSpPr/>
          <p:nvPr/>
        </p:nvSpPr>
        <p:spPr>
          <a:xfrm>
            <a:off x="457200" y="256032"/>
            <a:ext cx="2743200" cy="274320"/>
          </a:xfrm>
          <a:prstGeom prst="rect">
            <a:avLst/>
          </a:prstGeom>
          <a:noFill/>
          <a:ln/>
        </p:spPr>
        <p:txBody>
          <a:bodyPr wrap="square" rtlCol="0" anchor="ctr"/>
          <a:lstStyle/>
          <a:p>
            <a:pPr indent="0" marL="0">
              <a:buNone/>
            </a:pPr>
            <a:r>
              <a:rPr lang="en-US" sz="900" b="1" spc="300" kern="0" dirty="0">
                <a:solidFill>
                  <a:srgbClr val="00E5C0"/>
                </a:solidFill>
              </a:rPr>
              <a:t>LINK BUDGET</a:t>
            </a:r>
            <a:endParaRPr lang="en-US" sz="900" dirty="0"/>
          </a:p>
        </p:txBody>
      </p:sp>
      <p:sp>
        <p:nvSpPr>
          <p:cNvPr id="4" name="Text 2"/>
          <p:cNvSpPr/>
          <p:nvPr/>
        </p:nvSpPr>
        <p:spPr>
          <a:xfrm>
            <a:off x="457200" y="530352"/>
            <a:ext cx="6858000" cy="5943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CubeSat OISL Trade-Space</a:t>
            </a:r>
            <a:endParaRPr lang="en-US" sz="3200" dirty="0"/>
          </a:p>
        </p:txBody>
      </p:sp>
      <p:sp>
        <p:nvSpPr>
          <p:cNvPr id="5" name="Shape 3"/>
          <p:cNvSpPr/>
          <p:nvPr/>
        </p:nvSpPr>
        <p:spPr>
          <a:xfrm>
            <a:off x="457200" y="1234440"/>
            <a:ext cx="8321040" cy="658368"/>
          </a:xfrm>
          <a:prstGeom prst="roundRect">
            <a:avLst>
              <a:gd name="adj" fmla="val 16667"/>
            </a:avLst>
          </a:prstGeom>
          <a:solidFill>
            <a:srgbClr val="152050"/>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6" name="Text 4"/>
          <p:cNvSpPr/>
          <p:nvPr/>
        </p:nvSpPr>
        <p:spPr>
          <a:xfrm>
            <a:off x="594360" y="1325880"/>
            <a:ext cx="8046720" cy="438912"/>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P_rx  =  P_tx · η_tx · (π D_tx² / 4λ²) · (π D_rx² / 4R²) · η_rx · L_point</a:t>
            </a:r>
            <a:endParaRPr lang="en-US" sz="1400" dirty="0"/>
          </a:p>
        </p:txBody>
      </p:sp>
      <p:sp>
        <p:nvSpPr>
          <p:cNvPr id="7" name="Shape 5"/>
          <p:cNvSpPr/>
          <p:nvPr/>
        </p:nvSpPr>
        <p:spPr>
          <a:xfrm>
            <a:off x="457200" y="2011680"/>
            <a:ext cx="8321040" cy="320040"/>
          </a:xfrm>
          <a:prstGeom prst="rect">
            <a:avLst/>
          </a:prstGeom>
          <a:solidFill>
            <a:srgbClr val="111D45"/>
          </a:solidFill>
          <a:ln w="12700">
            <a:solidFill>
              <a:srgbClr val="111D45"/>
            </a:solidFill>
            <a:prstDash val="solid"/>
          </a:ln>
        </p:spPr>
      </p:sp>
      <p:sp>
        <p:nvSpPr>
          <p:cNvPr id="8" name="Text 6"/>
          <p:cNvSpPr/>
          <p:nvPr/>
        </p:nvSpPr>
        <p:spPr>
          <a:xfrm>
            <a:off x="548640" y="2029968"/>
            <a:ext cx="4114800" cy="27432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TX power at aperture</a:t>
            </a:r>
            <a:endParaRPr lang="en-US" sz="1050" dirty="0"/>
          </a:p>
        </p:txBody>
      </p:sp>
      <p:sp>
        <p:nvSpPr>
          <p:cNvPr id="9" name="Text 7"/>
          <p:cNvSpPr/>
          <p:nvPr/>
        </p:nvSpPr>
        <p:spPr>
          <a:xfrm>
            <a:off x="4663440" y="2029968"/>
            <a:ext cx="1371600" cy="27432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0.5 W</a:t>
            </a:r>
            <a:endParaRPr lang="en-US" sz="1050" dirty="0"/>
          </a:p>
        </p:txBody>
      </p:sp>
      <p:sp>
        <p:nvSpPr>
          <p:cNvPr id="10" name="Text 8"/>
          <p:cNvSpPr/>
          <p:nvPr/>
        </p:nvSpPr>
        <p:spPr>
          <a:xfrm>
            <a:off x="6080760" y="2029968"/>
            <a:ext cx="2560320" cy="274320"/>
          </a:xfrm>
          <a:prstGeom prst="rect">
            <a:avLst/>
          </a:prstGeom>
          <a:noFill/>
          <a:ln/>
        </p:spPr>
        <p:txBody>
          <a:bodyPr wrap="square" rtlCol="0" anchor="ctr"/>
          <a:lstStyle/>
          <a:p>
            <a:pPr indent="0" marL="0">
              <a:buNone/>
            </a:pPr>
            <a:r>
              <a:rPr lang="en-US" sz="1050" b="1" dirty="0">
                <a:solidFill>
                  <a:srgbClr val="00E5C0"/>
                </a:solidFill>
                <a:latin typeface="Calibri" pitchFamily="34" charset="0"/>
                <a:ea typeface="Calibri" pitchFamily="34" charset="-122"/>
                <a:cs typeface="Calibri" pitchFamily="34" charset="-120"/>
              </a:rPr>
              <a:t>+27.0 dBm</a:t>
            </a:r>
            <a:endParaRPr lang="en-US" sz="1050" dirty="0"/>
          </a:p>
        </p:txBody>
      </p:sp>
      <p:sp>
        <p:nvSpPr>
          <p:cNvPr id="11" name="Shape 9"/>
          <p:cNvSpPr/>
          <p:nvPr/>
        </p:nvSpPr>
        <p:spPr>
          <a:xfrm>
            <a:off x="457200" y="2350008"/>
            <a:ext cx="8321040" cy="320040"/>
          </a:xfrm>
          <a:prstGeom prst="rect">
            <a:avLst/>
          </a:prstGeom>
          <a:solidFill>
            <a:srgbClr val="0D1638"/>
          </a:solidFill>
          <a:ln w="12700">
            <a:solidFill>
              <a:srgbClr val="0D1638"/>
            </a:solidFill>
            <a:prstDash val="solid"/>
          </a:ln>
        </p:spPr>
      </p:sp>
      <p:sp>
        <p:nvSpPr>
          <p:cNvPr id="12" name="Text 10"/>
          <p:cNvSpPr/>
          <p:nvPr/>
        </p:nvSpPr>
        <p:spPr>
          <a:xfrm>
            <a:off x="548640" y="2368296"/>
            <a:ext cx="4114800" cy="27432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TX optical efficiency η_tx</a:t>
            </a:r>
            <a:endParaRPr lang="en-US" sz="1050" dirty="0"/>
          </a:p>
        </p:txBody>
      </p:sp>
      <p:sp>
        <p:nvSpPr>
          <p:cNvPr id="13" name="Text 11"/>
          <p:cNvSpPr/>
          <p:nvPr/>
        </p:nvSpPr>
        <p:spPr>
          <a:xfrm>
            <a:off x="4663440" y="2368296"/>
            <a:ext cx="1371600" cy="27432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0.75</a:t>
            </a:r>
            <a:endParaRPr lang="en-US" sz="1050" dirty="0"/>
          </a:p>
        </p:txBody>
      </p:sp>
      <p:sp>
        <p:nvSpPr>
          <p:cNvPr id="14" name="Text 12"/>
          <p:cNvSpPr/>
          <p:nvPr/>
        </p:nvSpPr>
        <p:spPr>
          <a:xfrm>
            <a:off x="6080760" y="2368296"/>
            <a:ext cx="2560320" cy="274320"/>
          </a:xfrm>
          <a:prstGeom prst="rect">
            <a:avLst/>
          </a:prstGeom>
          <a:noFill/>
          <a:ln/>
        </p:spPr>
        <p:txBody>
          <a:bodyPr wrap="square" rtlCol="0" anchor="ctr"/>
          <a:lstStyle/>
          <a:p>
            <a:pPr indent="0" marL="0">
              <a:buNone/>
            </a:pPr>
            <a:r>
              <a:rPr lang="en-US" sz="1050" b="1" dirty="0">
                <a:solidFill>
                  <a:srgbClr val="A8B8D8"/>
                </a:solidFill>
                <a:latin typeface="Calibri" pitchFamily="34" charset="0"/>
                <a:ea typeface="Calibri" pitchFamily="34" charset="-122"/>
                <a:cs typeface="Calibri" pitchFamily="34" charset="-120"/>
              </a:rPr>
              <a:t>−1.2 dB</a:t>
            </a:r>
            <a:endParaRPr lang="en-US" sz="1050" dirty="0"/>
          </a:p>
        </p:txBody>
      </p:sp>
      <p:sp>
        <p:nvSpPr>
          <p:cNvPr id="15" name="Shape 13"/>
          <p:cNvSpPr/>
          <p:nvPr/>
        </p:nvSpPr>
        <p:spPr>
          <a:xfrm>
            <a:off x="457200" y="2688336"/>
            <a:ext cx="8321040" cy="320040"/>
          </a:xfrm>
          <a:prstGeom prst="rect">
            <a:avLst/>
          </a:prstGeom>
          <a:solidFill>
            <a:srgbClr val="111D45"/>
          </a:solidFill>
          <a:ln w="12700">
            <a:solidFill>
              <a:srgbClr val="111D45"/>
            </a:solidFill>
            <a:prstDash val="solid"/>
          </a:ln>
        </p:spPr>
      </p:sp>
      <p:sp>
        <p:nvSpPr>
          <p:cNvPr id="16" name="Text 14"/>
          <p:cNvSpPr/>
          <p:nvPr/>
        </p:nvSpPr>
        <p:spPr>
          <a:xfrm>
            <a:off x="548640" y="2706624"/>
            <a:ext cx="4114800" cy="27432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TX aperture gain G_tx</a:t>
            </a:r>
            <a:endParaRPr lang="en-US" sz="1050" dirty="0"/>
          </a:p>
        </p:txBody>
      </p:sp>
      <p:sp>
        <p:nvSpPr>
          <p:cNvPr id="17" name="Text 15"/>
          <p:cNvSpPr/>
          <p:nvPr/>
        </p:nvSpPr>
        <p:spPr>
          <a:xfrm>
            <a:off x="4663440" y="2706624"/>
            <a:ext cx="1371600" cy="27432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D=40mm</a:t>
            </a:r>
            <a:endParaRPr lang="en-US" sz="1050" dirty="0"/>
          </a:p>
        </p:txBody>
      </p:sp>
      <p:sp>
        <p:nvSpPr>
          <p:cNvPr id="18" name="Text 16"/>
          <p:cNvSpPr/>
          <p:nvPr/>
        </p:nvSpPr>
        <p:spPr>
          <a:xfrm>
            <a:off x="6080760" y="2706624"/>
            <a:ext cx="2560320" cy="274320"/>
          </a:xfrm>
          <a:prstGeom prst="rect">
            <a:avLst/>
          </a:prstGeom>
          <a:noFill/>
          <a:ln/>
        </p:spPr>
        <p:txBody>
          <a:bodyPr wrap="square" rtlCol="0" anchor="ctr"/>
          <a:lstStyle/>
          <a:p>
            <a:pPr indent="0" marL="0">
              <a:buNone/>
            </a:pPr>
            <a:r>
              <a:rPr lang="en-US" sz="1050" b="1" dirty="0">
                <a:solidFill>
                  <a:srgbClr val="00E5C0"/>
                </a:solidFill>
                <a:latin typeface="Calibri" pitchFamily="34" charset="0"/>
                <a:ea typeface="Calibri" pitchFamily="34" charset="-122"/>
                <a:cs typeface="Calibri" pitchFamily="34" charset="-120"/>
              </a:rPr>
              <a:t>+76.8 dB</a:t>
            </a:r>
            <a:endParaRPr lang="en-US" sz="1050" dirty="0"/>
          </a:p>
        </p:txBody>
      </p:sp>
      <p:sp>
        <p:nvSpPr>
          <p:cNvPr id="19" name="Shape 17"/>
          <p:cNvSpPr/>
          <p:nvPr/>
        </p:nvSpPr>
        <p:spPr>
          <a:xfrm>
            <a:off x="457200" y="3026664"/>
            <a:ext cx="8321040" cy="320040"/>
          </a:xfrm>
          <a:prstGeom prst="rect">
            <a:avLst/>
          </a:prstGeom>
          <a:solidFill>
            <a:srgbClr val="0D1638"/>
          </a:solidFill>
          <a:ln w="12700">
            <a:solidFill>
              <a:srgbClr val="0D1638"/>
            </a:solidFill>
            <a:prstDash val="solid"/>
          </a:ln>
        </p:spPr>
      </p:sp>
      <p:sp>
        <p:nvSpPr>
          <p:cNvPr id="20" name="Text 18"/>
          <p:cNvSpPr/>
          <p:nvPr/>
        </p:nvSpPr>
        <p:spPr>
          <a:xfrm>
            <a:off x="548640" y="3044952"/>
            <a:ext cx="4114800" cy="27432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Free-space path loss</a:t>
            </a:r>
            <a:endParaRPr lang="en-US" sz="1050" dirty="0"/>
          </a:p>
        </p:txBody>
      </p:sp>
      <p:sp>
        <p:nvSpPr>
          <p:cNvPr id="21" name="Text 19"/>
          <p:cNvSpPr/>
          <p:nvPr/>
        </p:nvSpPr>
        <p:spPr>
          <a:xfrm>
            <a:off x="4663440" y="3044952"/>
            <a:ext cx="1371600" cy="27432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500 km</a:t>
            </a:r>
            <a:endParaRPr lang="en-US" sz="1050" dirty="0"/>
          </a:p>
        </p:txBody>
      </p:sp>
      <p:sp>
        <p:nvSpPr>
          <p:cNvPr id="22" name="Text 20"/>
          <p:cNvSpPr/>
          <p:nvPr/>
        </p:nvSpPr>
        <p:spPr>
          <a:xfrm>
            <a:off x="6080760" y="3044952"/>
            <a:ext cx="2560320" cy="274320"/>
          </a:xfrm>
          <a:prstGeom prst="rect">
            <a:avLst/>
          </a:prstGeom>
          <a:noFill/>
          <a:ln/>
        </p:spPr>
        <p:txBody>
          <a:bodyPr wrap="square" rtlCol="0" anchor="ctr"/>
          <a:lstStyle/>
          <a:p>
            <a:pPr indent="0" marL="0">
              <a:buNone/>
            </a:pPr>
            <a:r>
              <a:rPr lang="en-US" sz="1050" b="1" dirty="0">
                <a:solidFill>
                  <a:srgbClr val="FF6B6B"/>
                </a:solidFill>
                <a:latin typeface="Calibri" pitchFamily="34" charset="0"/>
                <a:ea typeface="Calibri" pitchFamily="34" charset="-122"/>
                <a:cs typeface="Calibri" pitchFamily="34" charset="-120"/>
              </a:rPr>
              <a:t>−278.2 dB</a:t>
            </a:r>
            <a:endParaRPr lang="en-US" sz="1050" dirty="0"/>
          </a:p>
        </p:txBody>
      </p:sp>
      <p:sp>
        <p:nvSpPr>
          <p:cNvPr id="23" name="Shape 21"/>
          <p:cNvSpPr/>
          <p:nvPr/>
        </p:nvSpPr>
        <p:spPr>
          <a:xfrm>
            <a:off x="457200" y="3364992"/>
            <a:ext cx="8321040" cy="320040"/>
          </a:xfrm>
          <a:prstGeom prst="rect">
            <a:avLst/>
          </a:prstGeom>
          <a:solidFill>
            <a:srgbClr val="111D45"/>
          </a:solidFill>
          <a:ln w="12700">
            <a:solidFill>
              <a:srgbClr val="111D45"/>
            </a:solidFill>
            <a:prstDash val="solid"/>
          </a:ln>
        </p:spPr>
      </p:sp>
      <p:sp>
        <p:nvSpPr>
          <p:cNvPr id="24" name="Text 22"/>
          <p:cNvSpPr/>
          <p:nvPr/>
        </p:nvSpPr>
        <p:spPr>
          <a:xfrm>
            <a:off x="548640" y="3383280"/>
            <a:ext cx="4114800" cy="27432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RX aperture effective area</a:t>
            </a:r>
            <a:endParaRPr lang="en-US" sz="1050" dirty="0"/>
          </a:p>
        </p:txBody>
      </p:sp>
      <p:sp>
        <p:nvSpPr>
          <p:cNvPr id="25" name="Text 23"/>
          <p:cNvSpPr/>
          <p:nvPr/>
        </p:nvSpPr>
        <p:spPr>
          <a:xfrm>
            <a:off x="4663440" y="3383280"/>
            <a:ext cx="1371600" cy="27432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40mm</a:t>
            </a:r>
            <a:endParaRPr lang="en-US" sz="1050" dirty="0"/>
          </a:p>
        </p:txBody>
      </p:sp>
      <p:sp>
        <p:nvSpPr>
          <p:cNvPr id="26" name="Text 24"/>
          <p:cNvSpPr/>
          <p:nvPr/>
        </p:nvSpPr>
        <p:spPr>
          <a:xfrm>
            <a:off x="6080760" y="3383280"/>
            <a:ext cx="2560320" cy="274320"/>
          </a:xfrm>
          <a:prstGeom prst="rect">
            <a:avLst/>
          </a:prstGeom>
          <a:noFill/>
          <a:ln/>
        </p:spPr>
        <p:txBody>
          <a:bodyPr wrap="square" rtlCol="0" anchor="ctr"/>
          <a:lstStyle/>
          <a:p>
            <a:pPr indent="0" marL="0">
              <a:buNone/>
            </a:pPr>
            <a:r>
              <a:rPr lang="en-US" sz="1050" b="1" dirty="0">
                <a:solidFill>
                  <a:srgbClr val="00E5C0"/>
                </a:solidFill>
                <a:latin typeface="Calibri" pitchFamily="34" charset="0"/>
                <a:ea typeface="Calibri" pitchFamily="34" charset="-122"/>
                <a:cs typeface="Calibri" pitchFamily="34" charset="-120"/>
              </a:rPr>
              <a:t>+67.2 dB</a:t>
            </a:r>
            <a:endParaRPr lang="en-US" sz="1050" dirty="0"/>
          </a:p>
        </p:txBody>
      </p:sp>
      <p:sp>
        <p:nvSpPr>
          <p:cNvPr id="27" name="Shape 25"/>
          <p:cNvSpPr/>
          <p:nvPr/>
        </p:nvSpPr>
        <p:spPr>
          <a:xfrm>
            <a:off x="457200" y="3703320"/>
            <a:ext cx="8321040" cy="320040"/>
          </a:xfrm>
          <a:prstGeom prst="rect">
            <a:avLst/>
          </a:prstGeom>
          <a:solidFill>
            <a:srgbClr val="0D1638"/>
          </a:solidFill>
          <a:ln w="12700">
            <a:solidFill>
              <a:srgbClr val="0D1638"/>
            </a:solidFill>
            <a:prstDash val="solid"/>
          </a:ln>
        </p:spPr>
      </p:sp>
      <p:sp>
        <p:nvSpPr>
          <p:cNvPr id="28" name="Text 26"/>
          <p:cNvSpPr/>
          <p:nvPr/>
        </p:nvSpPr>
        <p:spPr>
          <a:xfrm>
            <a:off x="548640" y="3721608"/>
            <a:ext cx="4114800" cy="27432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RX optical efficiency η_rx</a:t>
            </a:r>
            <a:endParaRPr lang="en-US" sz="1050" dirty="0"/>
          </a:p>
        </p:txBody>
      </p:sp>
      <p:sp>
        <p:nvSpPr>
          <p:cNvPr id="29" name="Text 27"/>
          <p:cNvSpPr/>
          <p:nvPr/>
        </p:nvSpPr>
        <p:spPr>
          <a:xfrm>
            <a:off x="4663440" y="3721608"/>
            <a:ext cx="1371600" cy="27432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0.60</a:t>
            </a:r>
            <a:endParaRPr lang="en-US" sz="1050" dirty="0"/>
          </a:p>
        </p:txBody>
      </p:sp>
      <p:sp>
        <p:nvSpPr>
          <p:cNvPr id="30" name="Text 28"/>
          <p:cNvSpPr/>
          <p:nvPr/>
        </p:nvSpPr>
        <p:spPr>
          <a:xfrm>
            <a:off x="6080760" y="3721608"/>
            <a:ext cx="2560320" cy="274320"/>
          </a:xfrm>
          <a:prstGeom prst="rect">
            <a:avLst/>
          </a:prstGeom>
          <a:noFill/>
          <a:ln/>
        </p:spPr>
        <p:txBody>
          <a:bodyPr wrap="square" rtlCol="0" anchor="ctr"/>
          <a:lstStyle/>
          <a:p>
            <a:pPr indent="0" marL="0">
              <a:buNone/>
            </a:pPr>
            <a:r>
              <a:rPr lang="en-US" sz="1050" b="1" dirty="0">
                <a:solidFill>
                  <a:srgbClr val="A8B8D8"/>
                </a:solidFill>
                <a:latin typeface="Calibri" pitchFamily="34" charset="0"/>
                <a:ea typeface="Calibri" pitchFamily="34" charset="-122"/>
                <a:cs typeface="Calibri" pitchFamily="34" charset="-120"/>
              </a:rPr>
              <a:t>−2.2 dB</a:t>
            </a:r>
            <a:endParaRPr lang="en-US" sz="1050" dirty="0"/>
          </a:p>
        </p:txBody>
      </p:sp>
      <p:sp>
        <p:nvSpPr>
          <p:cNvPr id="31" name="Shape 29"/>
          <p:cNvSpPr/>
          <p:nvPr/>
        </p:nvSpPr>
        <p:spPr>
          <a:xfrm>
            <a:off x="457200" y="4041648"/>
            <a:ext cx="8321040" cy="320040"/>
          </a:xfrm>
          <a:prstGeom prst="rect">
            <a:avLst/>
          </a:prstGeom>
          <a:solidFill>
            <a:srgbClr val="111D45"/>
          </a:solidFill>
          <a:ln w="12700">
            <a:solidFill>
              <a:srgbClr val="111D45"/>
            </a:solidFill>
            <a:prstDash val="solid"/>
          </a:ln>
        </p:spPr>
      </p:sp>
      <p:sp>
        <p:nvSpPr>
          <p:cNvPr id="32" name="Text 30"/>
          <p:cNvSpPr/>
          <p:nvPr/>
        </p:nvSpPr>
        <p:spPr>
          <a:xfrm>
            <a:off x="548640" y="4059936"/>
            <a:ext cx="4114800" cy="27432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Pointing loss</a:t>
            </a:r>
            <a:endParaRPr lang="en-US" sz="1050" dirty="0"/>
          </a:p>
        </p:txBody>
      </p:sp>
      <p:sp>
        <p:nvSpPr>
          <p:cNvPr id="33" name="Text 31"/>
          <p:cNvSpPr/>
          <p:nvPr/>
        </p:nvSpPr>
        <p:spPr>
          <a:xfrm>
            <a:off x="4663440" y="4059936"/>
            <a:ext cx="1371600" cy="274320"/>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2 dB est</a:t>
            </a:r>
            <a:endParaRPr lang="en-US" sz="1050" dirty="0"/>
          </a:p>
        </p:txBody>
      </p:sp>
      <p:sp>
        <p:nvSpPr>
          <p:cNvPr id="34" name="Text 32"/>
          <p:cNvSpPr/>
          <p:nvPr/>
        </p:nvSpPr>
        <p:spPr>
          <a:xfrm>
            <a:off x="6080760" y="4059936"/>
            <a:ext cx="2560320" cy="274320"/>
          </a:xfrm>
          <a:prstGeom prst="rect">
            <a:avLst/>
          </a:prstGeom>
          <a:noFill/>
          <a:ln/>
        </p:spPr>
        <p:txBody>
          <a:bodyPr wrap="square" rtlCol="0" anchor="ctr"/>
          <a:lstStyle/>
          <a:p>
            <a:pPr indent="0" marL="0">
              <a:buNone/>
            </a:pPr>
            <a:r>
              <a:rPr lang="en-US" sz="1050" b="1" dirty="0">
                <a:solidFill>
                  <a:srgbClr val="FFD166"/>
                </a:solidFill>
                <a:latin typeface="Calibri" pitchFamily="34" charset="0"/>
                <a:ea typeface="Calibri" pitchFamily="34" charset="-122"/>
                <a:cs typeface="Calibri" pitchFamily="34" charset="-120"/>
              </a:rPr>
              <a:t>−2.0 dB</a:t>
            </a:r>
            <a:endParaRPr lang="en-US" sz="1050" dirty="0"/>
          </a:p>
        </p:txBody>
      </p:sp>
      <p:sp>
        <p:nvSpPr>
          <p:cNvPr id="35" name="Shape 33"/>
          <p:cNvSpPr/>
          <p:nvPr/>
        </p:nvSpPr>
        <p:spPr>
          <a:xfrm>
            <a:off x="457200" y="4379976"/>
            <a:ext cx="8321040" cy="320040"/>
          </a:xfrm>
          <a:prstGeom prst="rect">
            <a:avLst/>
          </a:prstGeom>
          <a:solidFill>
            <a:srgbClr val="152050"/>
          </a:solidFill>
          <a:ln w="12700">
            <a:solidFill>
              <a:srgbClr val="152050"/>
            </a:solidFill>
            <a:prstDash val="solid"/>
          </a:ln>
        </p:spPr>
      </p:sp>
      <p:sp>
        <p:nvSpPr>
          <p:cNvPr id="36" name="Text 34"/>
          <p:cNvSpPr/>
          <p:nvPr/>
        </p:nvSpPr>
        <p:spPr>
          <a:xfrm>
            <a:off x="548640" y="4398264"/>
            <a:ext cx="4114800" cy="27432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Received power</a:t>
            </a:r>
            <a:endParaRPr lang="en-US" sz="1050" dirty="0"/>
          </a:p>
        </p:txBody>
      </p:sp>
      <p:sp>
        <p:nvSpPr>
          <p:cNvPr id="37" name="Text 35"/>
          <p:cNvSpPr/>
          <p:nvPr/>
        </p:nvSpPr>
        <p:spPr>
          <a:xfrm>
            <a:off x="4663440" y="4398264"/>
            <a:ext cx="1371600" cy="274320"/>
          </a:xfrm>
          <a:prstGeom prst="rect">
            <a:avLst/>
          </a:prstGeom>
          <a:noFill/>
          <a:ln/>
        </p:spPr>
        <p:txBody>
          <a:bodyPr wrap="square" rtlCol="0" anchor="ctr"/>
          <a:lstStyle/>
          <a:p>
            <a:pPr indent="0" marL="0">
              <a:buNone/>
            </a:pPr>
            <a:endParaRPr lang="en-US" sz="1050" dirty="0"/>
          </a:p>
        </p:txBody>
      </p:sp>
      <p:sp>
        <p:nvSpPr>
          <p:cNvPr id="38" name="Text 36"/>
          <p:cNvSpPr/>
          <p:nvPr/>
        </p:nvSpPr>
        <p:spPr>
          <a:xfrm>
            <a:off x="6080760" y="4398264"/>
            <a:ext cx="2560320" cy="274320"/>
          </a:xfrm>
          <a:prstGeom prst="rect">
            <a:avLst/>
          </a:prstGeom>
          <a:noFill/>
          <a:ln/>
        </p:spPr>
        <p:txBody>
          <a:bodyPr wrap="square" rtlCol="0" anchor="ctr"/>
          <a:lstStyle/>
          <a:p>
            <a:pPr indent="0" marL="0">
              <a:buNone/>
            </a:pPr>
            <a:r>
              <a:rPr lang="en-US" sz="1050" b="1" dirty="0">
                <a:solidFill>
                  <a:srgbClr val="00C8FF"/>
                </a:solidFill>
                <a:latin typeface="Calibri" pitchFamily="34" charset="0"/>
                <a:ea typeface="Calibri" pitchFamily="34" charset="-122"/>
                <a:cs typeface="Calibri" pitchFamily="34" charset="-120"/>
              </a:rPr>
              <a:t>−112.6 dBm</a:t>
            </a:r>
            <a:endParaRPr lang="en-US" sz="1050" dirty="0"/>
          </a:p>
        </p:txBody>
      </p:sp>
      <p:sp>
        <p:nvSpPr>
          <p:cNvPr id="39" name="Shape 37"/>
          <p:cNvSpPr/>
          <p:nvPr/>
        </p:nvSpPr>
        <p:spPr>
          <a:xfrm>
            <a:off x="457200" y="4681728"/>
            <a:ext cx="2606040" cy="384048"/>
          </a:xfrm>
          <a:prstGeom prst="roundRect">
            <a:avLst>
              <a:gd name="adj" fmla="val 28571"/>
            </a:avLst>
          </a:prstGeom>
          <a:solidFill>
            <a:srgbClr val="152050"/>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40" name="Text 38"/>
          <p:cNvSpPr/>
          <p:nvPr/>
        </p:nvSpPr>
        <p:spPr>
          <a:xfrm>
            <a:off x="566928" y="4700016"/>
            <a:ext cx="1005840" cy="347472"/>
          </a:xfrm>
          <a:prstGeom prst="rect">
            <a:avLst/>
          </a:prstGeom>
          <a:noFill/>
          <a:ln/>
        </p:spPr>
        <p:txBody>
          <a:bodyPr wrap="square" rtlCol="0" anchor="ctr"/>
          <a:lstStyle/>
          <a:p>
            <a:pPr indent="0" marL="0">
              <a:buNone/>
            </a:pPr>
            <a:r>
              <a:rPr lang="en-US" sz="1600" b="1" dirty="0">
                <a:solidFill>
                  <a:srgbClr val="00C8FF"/>
                </a:solidFill>
                <a:latin typeface="Cambria" pitchFamily="34" charset="0"/>
                <a:ea typeface="Cambria" pitchFamily="34" charset="-122"/>
                <a:cs typeface="Cambria" pitchFamily="34" charset="-120"/>
              </a:rPr>
              <a:t>−41 dBm</a:t>
            </a:r>
            <a:endParaRPr lang="en-US" sz="1600" dirty="0"/>
          </a:p>
        </p:txBody>
      </p:sp>
      <p:sp>
        <p:nvSpPr>
          <p:cNvPr id="41" name="Text 39"/>
          <p:cNvSpPr/>
          <p:nvPr/>
        </p:nvSpPr>
        <p:spPr>
          <a:xfrm>
            <a:off x="1600200" y="4700016"/>
            <a:ext cx="1371600" cy="347472"/>
          </a:xfrm>
          <a:prstGeom prst="rect">
            <a:avLst/>
          </a:prstGeom>
          <a:noFill/>
          <a:ln/>
        </p:spPr>
        <p:txBody>
          <a:bodyPr wrap="square" rtlCol="0" anchor="ctr"/>
          <a:lstStyle/>
          <a:p>
            <a:pPr indent="0" marL="0">
              <a:buNone/>
            </a:pPr>
            <a:r>
              <a:rPr lang="en-US" sz="950" dirty="0">
                <a:solidFill>
                  <a:srgbClr val="A8B8D8"/>
                </a:solidFill>
                <a:latin typeface="Calibri" pitchFamily="34" charset="0"/>
                <a:ea typeface="Calibri" pitchFamily="34" charset="-122"/>
                <a:cs typeface="Calibri" pitchFamily="34" charset="-120"/>
              </a:rPr>
              <a:t>APD sensitivity</a:t>
            </a:r>
            <a:endParaRPr lang="en-US" sz="950" dirty="0"/>
          </a:p>
          <a:p>
            <a:pPr indent="0" marL="0">
              <a:buNone/>
            </a:pPr>
            <a:r>
              <a:rPr lang="en-US" sz="950" dirty="0">
                <a:solidFill>
                  <a:srgbClr val="A8B8D8"/>
                </a:solidFill>
                <a:latin typeface="Calibri" pitchFamily="34" charset="0"/>
                <a:ea typeface="Calibri" pitchFamily="34" charset="-122"/>
                <a:cs typeface="Calibri" pitchFamily="34" charset="-120"/>
              </a:rPr>
              <a:t>@ 1 Gbps</a:t>
            </a:r>
            <a:endParaRPr lang="en-US" sz="950" dirty="0"/>
          </a:p>
        </p:txBody>
      </p:sp>
      <p:sp>
        <p:nvSpPr>
          <p:cNvPr id="42" name="Shape 40"/>
          <p:cNvSpPr/>
          <p:nvPr/>
        </p:nvSpPr>
        <p:spPr>
          <a:xfrm>
            <a:off x="3246120" y="4681728"/>
            <a:ext cx="2606040" cy="384048"/>
          </a:xfrm>
          <a:prstGeom prst="roundRect">
            <a:avLst>
              <a:gd name="adj" fmla="val 28571"/>
            </a:avLst>
          </a:prstGeom>
          <a:solidFill>
            <a:srgbClr val="152050"/>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43" name="Text 41"/>
          <p:cNvSpPr/>
          <p:nvPr/>
        </p:nvSpPr>
        <p:spPr>
          <a:xfrm>
            <a:off x="3355848" y="4700016"/>
            <a:ext cx="1005840" cy="347472"/>
          </a:xfrm>
          <a:prstGeom prst="rect">
            <a:avLst/>
          </a:prstGeom>
          <a:noFill/>
          <a:ln/>
        </p:spPr>
        <p:txBody>
          <a:bodyPr wrap="square" rtlCol="0" anchor="ctr"/>
          <a:lstStyle/>
          <a:p>
            <a:pPr indent="0" marL="0">
              <a:buNone/>
            </a:pPr>
            <a:r>
              <a:rPr lang="en-US" sz="1600" b="1" dirty="0">
                <a:solidFill>
                  <a:srgbClr val="00E5C0"/>
                </a:solidFill>
                <a:latin typeface="Cambria" pitchFamily="34" charset="0"/>
                <a:ea typeface="Cambria" pitchFamily="34" charset="-122"/>
                <a:cs typeface="Cambria" pitchFamily="34" charset="-120"/>
              </a:rPr>
              <a:t>+28 dB</a:t>
            </a:r>
            <a:endParaRPr lang="en-US" sz="1600" dirty="0"/>
          </a:p>
        </p:txBody>
      </p:sp>
      <p:sp>
        <p:nvSpPr>
          <p:cNvPr id="44" name="Text 42"/>
          <p:cNvSpPr/>
          <p:nvPr/>
        </p:nvSpPr>
        <p:spPr>
          <a:xfrm>
            <a:off x="4389120" y="4700016"/>
            <a:ext cx="1371600" cy="347472"/>
          </a:xfrm>
          <a:prstGeom prst="rect">
            <a:avLst/>
          </a:prstGeom>
          <a:noFill/>
          <a:ln/>
        </p:spPr>
        <p:txBody>
          <a:bodyPr wrap="square" rtlCol="0" anchor="ctr"/>
          <a:lstStyle/>
          <a:p>
            <a:pPr indent="0" marL="0">
              <a:buNone/>
            </a:pPr>
            <a:r>
              <a:rPr lang="en-US" sz="950" dirty="0">
                <a:solidFill>
                  <a:srgbClr val="A8B8D8"/>
                </a:solidFill>
                <a:latin typeface="Calibri" pitchFamily="34" charset="0"/>
                <a:ea typeface="Calibri" pitchFamily="34" charset="-122"/>
                <a:cs typeface="Calibri" pitchFamily="34" charset="-120"/>
              </a:rPr>
              <a:t>Link margin</a:t>
            </a:r>
            <a:endParaRPr lang="en-US" sz="950" dirty="0"/>
          </a:p>
          <a:p>
            <a:pPr indent="0" marL="0">
              <a:buNone/>
            </a:pPr>
            <a:r>
              <a:rPr lang="en-US" sz="950" dirty="0">
                <a:solidFill>
                  <a:srgbClr val="A8B8D8"/>
                </a:solidFill>
                <a:latin typeface="Calibri" pitchFamily="34" charset="0"/>
                <a:ea typeface="Calibri" pitchFamily="34" charset="-122"/>
                <a:cs typeface="Calibri" pitchFamily="34" charset="-120"/>
              </a:rPr>
              <a:t>(above Gbps threshold)</a:t>
            </a:r>
            <a:endParaRPr lang="en-US" sz="950" dirty="0"/>
          </a:p>
        </p:txBody>
      </p:sp>
      <p:sp>
        <p:nvSpPr>
          <p:cNvPr id="45" name="Shape 43"/>
          <p:cNvSpPr/>
          <p:nvPr/>
        </p:nvSpPr>
        <p:spPr>
          <a:xfrm>
            <a:off x="6035040" y="4681728"/>
            <a:ext cx="2606040" cy="384048"/>
          </a:xfrm>
          <a:prstGeom prst="roundRect">
            <a:avLst>
              <a:gd name="adj" fmla="val 28571"/>
            </a:avLst>
          </a:prstGeom>
          <a:solidFill>
            <a:srgbClr val="152050"/>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46" name="Text 44"/>
          <p:cNvSpPr/>
          <p:nvPr/>
        </p:nvSpPr>
        <p:spPr>
          <a:xfrm>
            <a:off x="6144768" y="4700016"/>
            <a:ext cx="1005840" cy="347472"/>
          </a:xfrm>
          <a:prstGeom prst="rect">
            <a:avLst/>
          </a:prstGeom>
          <a:noFill/>
          <a:ln/>
        </p:spPr>
        <p:txBody>
          <a:bodyPr wrap="square" rtlCol="0" anchor="ctr"/>
          <a:lstStyle/>
          <a:p>
            <a:pPr indent="0" marL="0">
              <a:buNone/>
            </a:pPr>
            <a:r>
              <a:rPr lang="en-US" sz="1600" b="1" dirty="0">
                <a:solidFill>
                  <a:srgbClr val="FFD166"/>
                </a:solidFill>
                <a:latin typeface="Cambria" pitchFamily="34" charset="0"/>
                <a:ea typeface="Cambria" pitchFamily="34" charset="-122"/>
                <a:cs typeface="Cambria" pitchFamily="34" charset="-120"/>
              </a:rPr>
              <a:t>~3 Gbps</a:t>
            </a:r>
            <a:endParaRPr lang="en-US" sz="1600" dirty="0"/>
          </a:p>
        </p:txBody>
      </p:sp>
      <p:sp>
        <p:nvSpPr>
          <p:cNvPr id="47" name="Text 45"/>
          <p:cNvSpPr/>
          <p:nvPr/>
        </p:nvSpPr>
        <p:spPr>
          <a:xfrm>
            <a:off x="7178040" y="4700016"/>
            <a:ext cx="1371600" cy="347472"/>
          </a:xfrm>
          <a:prstGeom prst="rect">
            <a:avLst/>
          </a:prstGeom>
          <a:noFill/>
          <a:ln/>
        </p:spPr>
        <p:txBody>
          <a:bodyPr wrap="square" rtlCol="0" anchor="ctr"/>
          <a:lstStyle/>
          <a:p>
            <a:pPr indent="0" marL="0">
              <a:buNone/>
            </a:pPr>
            <a:r>
              <a:rPr lang="en-US" sz="950" dirty="0">
                <a:solidFill>
                  <a:srgbClr val="A8B8D8"/>
                </a:solidFill>
                <a:latin typeface="Calibri" pitchFamily="34" charset="0"/>
                <a:ea typeface="Calibri" pitchFamily="34" charset="-122"/>
                <a:cs typeface="Calibri" pitchFamily="34" charset="-120"/>
              </a:rPr>
              <a:t>Max data rate</a:t>
            </a:r>
            <a:endParaRPr lang="en-US" sz="950" dirty="0"/>
          </a:p>
          <a:p>
            <a:pPr indent="0" marL="0">
              <a:buNone/>
            </a:pPr>
            <a:r>
              <a:rPr lang="en-US" sz="950" dirty="0">
                <a:solidFill>
                  <a:srgbClr val="A8B8D8"/>
                </a:solidFill>
                <a:latin typeface="Calibri" pitchFamily="34" charset="0"/>
                <a:ea typeface="Calibri" pitchFamily="34" charset="-122"/>
                <a:cs typeface="Calibri" pitchFamily="34" charset="-120"/>
              </a:rPr>
              <a:t>at these params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F2C"/>
        </a:solidFill>
      </p:bgPr>
    </p:bg>
    <p:spTree>
      <p:nvGrpSpPr>
        <p:cNvPr id="1" name=""/>
        <p:cNvGrpSpPr/>
        <p:nvPr/>
      </p:nvGrpSpPr>
      <p:grpSpPr>
        <a:xfrm>
          <a:off x="0" y="0"/>
          <a:ext cx="0" cy="0"/>
          <a:chOff x="0" y="0"/>
          <a:chExt cx="0" cy="0"/>
        </a:xfrm>
      </p:grpSpPr>
      <p:sp>
        <p:nvSpPr>
          <p:cNvPr id="2" name="Text 0"/>
          <p:cNvSpPr/>
          <p:nvPr/>
        </p:nvSpPr>
        <p:spPr>
          <a:xfrm>
            <a:off x="457200" y="256032"/>
            <a:ext cx="3657600" cy="274320"/>
          </a:xfrm>
          <a:prstGeom prst="rect">
            <a:avLst/>
          </a:prstGeom>
          <a:noFill/>
          <a:ln/>
        </p:spPr>
        <p:txBody>
          <a:bodyPr wrap="square" rtlCol="0" anchor="ctr"/>
          <a:lstStyle/>
          <a:p>
            <a:pPr indent="0" marL="0">
              <a:buNone/>
            </a:pPr>
            <a:r>
              <a:rPr lang="en-US" sz="900" b="1" spc="300" kern="0" dirty="0">
                <a:solidFill>
                  <a:srgbClr val="00E5C0"/>
                </a:solidFill>
              </a:rPr>
              <a:t>TRADE-SPACE ANALYSIS</a:t>
            </a:r>
            <a:endParaRPr lang="en-US" sz="900" dirty="0"/>
          </a:p>
        </p:txBody>
      </p:sp>
      <p:sp>
        <p:nvSpPr>
          <p:cNvPr id="3" name="Text 1"/>
          <p:cNvSpPr/>
          <p:nvPr/>
        </p:nvSpPr>
        <p:spPr>
          <a:xfrm>
            <a:off x="457200" y="530352"/>
            <a:ext cx="6858000" cy="5943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Aperture × Range × Data Rate</a:t>
            </a:r>
            <a:endParaRPr lang="en-US" sz="3200" dirty="0"/>
          </a:p>
        </p:txBody>
      </p:sp>
      <p:graphicFrame>
        <p:nvGraphicFramePr>
          <p:cNvPr id="4" name="Chart 0" descr=""/>
          <p:cNvGraphicFramePr/>
          <p:nvPr/>
        </p:nvGraphicFramePr>
        <p:xfrm>
          <a:off x="457200" y="1298448"/>
          <a:ext cx="5303520" cy="3337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989320" y="1298448"/>
            <a:ext cx="2788920" cy="804672"/>
          </a:xfrm>
          <a:prstGeom prst="roundRect">
            <a:avLst>
              <a:gd name="adj" fmla="val 13636"/>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6" name="Text 3"/>
          <p:cNvSpPr/>
          <p:nvPr/>
        </p:nvSpPr>
        <p:spPr>
          <a:xfrm>
            <a:off x="6126480" y="1371600"/>
            <a:ext cx="2514600" cy="274320"/>
          </a:xfrm>
          <a:prstGeom prst="rect">
            <a:avLst/>
          </a:prstGeom>
          <a:noFill/>
          <a:ln/>
        </p:spPr>
        <p:txBody>
          <a:bodyPr wrap="square" rtlCol="0" anchor="ctr"/>
          <a:lstStyle/>
          <a:p>
            <a:pPr indent="0" marL="0">
              <a:buNone/>
            </a:pPr>
            <a:r>
              <a:rPr lang="en-US" sz="1200" b="1" dirty="0">
                <a:solidFill>
                  <a:srgbClr val="00C8FF"/>
                </a:solidFill>
                <a:latin typeface="Cambria" pitchFamily="34" charset="0"/>
                <a:ea typeface="Cambria" pitchFamily="34" charset="-122"/>
                <a:cs typeface="Cambria" pitchFamily="34" charset="-120"/>
              </a:rPr>
              <a:t>P_rx ∝ D⁴</a:t>
            </a:r>
            <a:endParaRPr lang="en-US" sz="1200" dirty="0"/>
          </a:p>
        </p:txBody>
      </p:sp>
      <p:sp>
        <p:nvSpPr>
          <p:cNvPr id="7" name="Text 4"/>
          <p:cNvSpPr/>
          <p:nvPr/>
        </p:nvSpPr>
        <p:spPr>
          <a:xfrm>
            <a:off x="6126480" y="1645920"/>
            <a:ext cx="2514600" cy="402336"/>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Both TX and RX aperture scale the received power — doubling aperture on both sides = 12 dB gain (×16 in power).</a:t>
            </a:r>
            <a:endParaRPr lang="en-US" sz="1000" dirty="0"/>
          </a:p>
        </p:txBody>
      </p:sp>
      <p:sp>
        <p:nvSpPr>
          <p:cNvPr id="8" name="Shape 5"/>
          <p:cNvSpPr/>
          <p:nvPr/>
        </p:nvSpPr>
        <p:spPr>
          <a:xfrm>
            <a:off x="5989320" y="2194560"/>
            <a:ext cx="2788920" cy="804672"/>
          </a:xfrm>
          <a:prstGeom prst="roundRect">
            <a:avLst>
              <a:gd name="adj" fmla="val 13636"/>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9" name="Text 6"/>
          <p:cNvSpPr/>
          <p:nvPr/>
        </p:nvSpPr>
        <p:spPr>
          <a:xfrm>
            <a:off x="6126480" y="2267712"/>
            <a:ext cx="2514600" cy="274320"/>
          </a:xfrm>
          <a:prstGeom prst="rect">
            <a:avLst/>
          </a:prstGeom>
          <a:noFill/>
          <a:ln/>
        </p:spPr>
        <p:txBody>
          <a:bodyPr wrap="square" rtlCol="0" anchor="ctr"/>
          <a:lstStyle/>
          <a:p>
            <a:pPr indent="0" marL="0">
              <a:buNone/>
            </a:pPr>
            <a:r>
              <a:rPr lang="en-US" sz="1200" b="1" dirty="0">
                <a:solidFill>
                  <a:srgbClr val="00E5C0"/>
                </a:solidFill>
                <a:latin typeface="Cambria" pitchFamily="34" charset="0"/>
                <a:ea typeface="Cambria" pitchFamily="34" charset="-122"/>
                <a:cs typeface="Cambria" pitchFamily="34" charset="-120"/>
              </a:rPr>
              <a:t>P_rx ∝ 1/R²</a:t>
            </a:r>
            <a:endParaRPr lang="en-US" sz="1200" dirty="0"/>
          </a:p>
        </p:txBody>
      </p:sp>
      <p:sp>
        <p:nvSpPr>
          <p:cNvPr id="10" name="Text 7"/>
          <p:cNvSpPr/>
          <p:nvPr/>
        </p:nvSpPr>
        <p:spPr>
          <a:xfrm>
            <a:off x="6126480" y="2542032"/>
            <a:ext cx="2514600" cy="402336"/>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Classic free-space spreading — doubling range costs 6 dB. At 1000 km, margin drops 6 dB vs. 500 km.</a:t>
            </a:r>
            <a:endParaRPr lang="en-US" sz="1000" dirty="0"/>
          </a:p>
        </p:txBody>
      </p:sp>
      <p:sp>
        <p:nvSpPr>
          <p:cNvPr id="11" name="Shape 8"/>
          <p:cNvSpPr/>
          <p:nvPr/>
        </p:nvSpPr>
        <p:spPr>
          <a:xfrm>
            <a:off x="5989320" y="3090672"/>
            <a:ext cx="2788920" cy="804672"/>
          </a:xfrm>
          <a:prstGeom prst="roundRect">
            <a:avLst>
              <a:gd name="adj" fmla="val 13636"/>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12" name="Text 9"/>
          <p:cNvSpPr/>
          <p:nvPr/>
        </p:nvSpPr>
        <p:spPr>
          <a:xfrm>
            <a:off x="6126480" y="3163824"/>
            <a:ext cx="2514600" cy="274320"/>
          </a:xfrm>
          <a:prstGeom prst="rect">
            <a:avLst/>
          </a:prstGeom>
          <a:noFill/>
          <a:ln/>
        </p:spPr>
        <p:txBody>
          <a:bodyPr wrap="square" rtlCol="0" anchor="ctr"/>
          <a:lstStyle/>
          <a:p>
            <a:pPr indent="0" marL="0">
              <a:buNone/>
            </a:pPr>
            <a:r>
              <a:rPr lang="en-US" sz="1200" b="1" dirty="0">
                <a:solidFill>
                  <a:srgbClr val="FFD166"/>
                </a:solidFill>
                <a:latin typeface="Cambria" pitchFamily="34" charset="0"/>
                <a:ea typeface="Cambria" pitchFamily="34" charset="-122"/>
                <a:cs typeface="Cambria" pitchFamily="34" charset="-120"/>
              </a:rPr>
              <a:t>CubeSat limit</a:t>
            </a:r>
            <a:endParaRPr lang="en-US" sz="1200" dirty="0"/>
          </a:p>
        </p:txBody>
      </p:sp>
      <p:sp>
        <p:nvSpPr>
          <p:cNvPr id="13" name="Text 10"/>
          <p:cNvSpPr/>
          <p:nvPr/>
        </p:nvSpPr>
        <p:spPr>
          <a:xfrm>
            <a:off x="6126480" y="3438144"/>
            <a:ext cx="2514600" cy="402336"/>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1U constrains aperture to ~40–50 mm. This limits practical Gbps+ links to &lt; 800 km range with 0.5W TX.</a:t>
            </a:r>
            <a:endParaRPr lang="en-US" sz="1000" dirty="0"/>
          </a:p>
        </p:txBody>
      </p:sp>
      <p:sp>
        <p:nvSpPr>
          <p:cNvPr id="14" name="Shape 11"/>
          <p:cNvSpPr/>
          <p:nvPr/>
        </p:nvSpPr>
        <p:spPr>
          <a:xfrm>
            <a:off x="5989320" y="3986784"/>
            <a:ext cx="2788920" cy="804672"/>
          </a:xfrm>
          <a:prstGeom prst="roundRect">
            <a:avLst>
              <a:gd name="adj" fmla="val 13636"/>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15" name="Text 12"/>
          <p:cNvSpPr/>
          <p:nvPr/>
        </p:nvSpPr>
        <p:spPr>
          <a:xfrm>
            <a:off x="6126480" y="4059936"/>
            <a:ext cx="2514600" cy="274320"/>
          </a:xfrm>
          <a:prstGeom prst="rect">
            <a:avLst/>
          </a:prstGeom>
          <a:noFill/>
          <a:ln/>
        </p:spPr>
        <p:txBody>
          <a:bodyPr wrap="square" rtlCol="0" anchor="ctr"/>
          <a:lstStyle/>
          <a:p>
            <a:pPr indent="0" marL="0">
              <a:buNone/>
            </a:pPr>
            <a:r>
              <a:rPr lang="en-US" sz="1200" b="1" dirty="0">
                <a:solidFill>
                  <a:srgbClr val="FF6B6B"/>
                </a:solidFill>
                <a:latin typeface="Cambria" pitchFamily="34" charset="0"/>
                <a:ea typeface="Cambria" pitchFamily="34" charset="-122"/>
                <a:cs typeface="Cambria" pitchFamily="34" charset="-120"/>
              </a:rPr>
              <a:t>Power tradeoff</a:t>
            </a:r>
            <a:endParaRPr lang="en-US" sz="1200" dirty="0"/>
          </a:p>
        </p:txBody>
      </p:sp>
      <p:sp>
        <p:nvSpPr>
          <p:cNvPr id="16" name="Text 13"/>
          <p:cNvSpPr/>
          <p:nvPr/>
        </p:nvSpPr>
        <p:spPr>
          <a:xfrm>
            <a:off x="6126480" y="4334256"/>
            <a:ext cx="2514600" cy="402336"/>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EDFA at 1W output consumes ~5–8W DC power — 50–80% of a 10W CubeSat budget. Dominant system constraint.</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F2C"/>
        </a:solidFill>
      </p:bgPr>
    </p:bg>
    <p:spTree>
      <p:nvGrpSpPr>
        <p:cNvPr id="1" name=""/>
        <p:cNvGrpSpPr/>
        <p:nvPr/>
      </p:nvGrpSpPr>
      <p:grpSpPr>
        <a:xfrm>
          <a:off x="0" y="0"/>
          <a:ext cx="0" cy="0"/>
          <a:chOff x="0" y="0"/>
          <a:chExt cx="0" cy="0"/>
        </a:xfrm>
      </p:grpSpPr>
      <p:sp>
        <p:nvSpPr>
          <p:cNvPr id="2" name="Shape 0"/>
          <p:cNvSpPr/>
          <p:nvPr/>
        </p:nvSpPr>
        <p:spPr>
          <a:xfrm>
            <a:off x="7315200" y="-457200"/>
            <a:ext cx="3657600" cy="3657600"/>
          </a:xfrm>
          <a:prstGeom prst="ellipse">
            <a:avLst/>
          </a:prstGeom>
          <a:solidFill>
            <a:srgbClr val="00E5C0">
              <a:alpha val="10000"/>
            </a:srgbClr>
          </a:solidFill>
          <a:ln w="6350">
            <a:solidFill>
              <a:srgbClr val="00E5C0">
                <a:alpha val="20000"/>
              </a:srgbClr>
            </a:solidFill>
            <a:prstDash val="solid"/>
          </a:ln>
        </p:spPr>
      </p:sp>
      <p:sp>
        <p:nvSpPr>
          <p:cNvPr id="3" name="Text 1"/>
          <p:cNvSpPr/>
          <p:nvPr/>
        </p:nvSpPr>
        <p:spPr>
          <a:xfrm>
            <a:off x="457200" y="256032"/>
            <a:ext cx="3657600" cy="274320"/>
          </a:xfrm>
          <a:prstGeom prst="rect">
            <a:avLst/>
          </a:prstGeom>
          <a:noFill/>
          <a:ln/>
        </p:spPr>
        <p:txBody>
          <a:bodyPr wrap="square" rtlCol="0" anchor="ctr"/>
          <a:lstStyle/>
          <a:p>
            <a:pPr indent="0" marL="0">
              <a:buNone/>
            </a:pPr>
            <a:r>
              <a:rPr lang="en-US" sz="900" b="1" spc="300" kern="0" dirty="0">
                <a:solidFill>
                  <a:srgbClr val="00E5C0"/>
                </a:solidFill>
              </a:rPr>
              <a:t>PAT — ACQUISITION</a:t>
            </a:r>
            <a:endParaRPr lang="en-US" sz="900" dirty="0"/>
          </a:p>
        </p:txBody>
      </p:sp>
      <p:sp>
        <p:nvSpPr>
          <p:cNvPr id="4" name="Text 2"/>
          <p:cNvSpPr/>
          <p:nvPr/>
        </p:nvSpPr>
        <p:spPr>
          <a:xfrm>
            <a:off x="457200" y="530352"/>
            <a:ext cx="7315200" cy="5943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From Blind to Locked: 3-Stage PAT</a:t>
            </a:r>
            <a:endParaRPr lang="en-US" sz="3200" dirty="0"/>
          </a:p>
        </p:txBody>
      </p:sp>
      <p:sp>
        <p:nvSpPr>
          <p:cNvPr id="5" name="Shape 3"/>
          <p:cNvSpPr/>
          <p:nvPr/>
        </p:nvSpPr>
        <p:spPr>
          <a:xfrm>
            <a:off x="411480" y="1261872"/>
            <a:ext cx="2788920" cy="3639312"/>
          </a:xfrm>
          <a:prstGeom prst="roundRect">
            <a:avLst>
              <a:gd name="adj" fmla="val 3934"/>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6" name="Shape 4"/>
          <p:cNvSpPr/>
          <p:nvPr/>
        </p:nvSpPr>
        <p:spPr>
          <a:xfrm>
            <a:off x="411480" y="1261872"/>
            <a:ext cx="2788920" cy="411480"/>
          </a:xfrm>
          <a:prstGeom prst="roundRect">
            <a:avLst>
              <a:gd name="adj" fmla="val 26667"/>
            </a:avLst>
          </a:prstGeom>
          <a:solidFill>
            <a:srgbClr val="7B5EF8">
              <a:alpha val="85000"/>
            </a:srgbClr>
          </a:solidFill>
          <a:ln w="12700">
            <a:solidFill>
              <a:srgbClr val="7B5EF8"/>
            </a:solidFill>
            <a:prstDash val="solid"/>
          </a:ln>
        </p:spPr>
      </p:sp>
      <p:sp>
        <p:nvSpPr>
          <p:cNvPr id="7" name="Text 5"/>
          <p:cNvSpPr/>
          <p:nvPr/>
        </p:nvSpPr>
        <p:spPr>
          <a:xfrm>
            <a:off x="502920" y="1261872"/>
            <a:ext cx="2606040" cy="411480"/>
          </a:xfrm>
          <a:prstGeom prst="rect">
            <a:avLst/>
          </a:prstGeom>
          <a:noFill/>
          <a:ln/>
        </p:spPr>
        <p:txBody>
          <a:bodyPr wrap="square" lIns="0" tIns="0" rIns="0" bIns="0" rtlCol="0" anchor="ctr"/>
          <a:lstStyle/>
          <a:p>
            <a:pPr indent="0" marL="0">
              <a:buNone/>
            </a:pPr>
            <a:r>
              <a:rPr lang="en-US" sz="1200" b="1" dirty="0">
                <a:solidFill>
                  <a:srgbClr val="0A0F2C"/>
                </a:solidFill>
              </a:rPr>
              <a:t>Stage 1:  Coarse Acquisition</a:t>
            </a:r>
            <a:endParaRPr lang="en-US" sz="1200" dirty="0"/>
          </a:p>
        </p:txBody>
      </p:sp>
      <p:sp>
        <p:nvSpPr>
          <p:cNvPr id="8" name="Text 6"/>
          <p:cNvSpPr/>
          <p:nvPr/>
        </p:nvSpPr>
        <p:spPr>
          <a:xfrm>
            <a:off x="548640" y="1737360"/>
            <a:ext cx="2514600" cy="475488"/>
          </a:xfrm>
          <a:prstGeom prst="rect">
            <a:avLst/>
          </a:prstGeom>
          <a:noFill/>
          <a:ln/>
        </p:spPr>
        <p:txBody>
          <a:bodyPr wrap="square" rtlCol="0" anchor="ctr"/>
          <a:lstStyle/>
          <a:p>
            <a:pPr indent="0" marL="0">
              <a:buNone/>
            </a:pPr>
            <a:r>
              <a:rPr lang="en-US" sz="1000" b="1" i="1" dirty="0">
                <a:solidFill>
                  <a:srgbClr val="7B5EF8"/>
                </a:solidFill>
                <a:latin typeface="Calibri" pitchFamily="34" charset="0"/>
                <a:ea typeface="Calibri" pitchFamily="34" charset="-122"/>
                <a:cs typeface="Calibri" pitchFamily="34" charset="-120"/>
              </a:rPr>
              <a:t>Uncertainty: ±0.05–0.5°</a:t>
            </a:r>
            <a:endParaRPr lang="en-US" sz="1000" dirty="0"/>
          </a:p>
          <a:p>
            <a:pPr indent="0" marL="0">
              <a:buNone/>
            </a:pPr>
            <a:r>
              <a:rPr lang="en-US" sz="1000" b="1" i="1" dirty="0">
                <a:solidFill>
                  <a:srgbClr val="7B5EF8"/>
                </a:solidFill>
                <a:latin typeface="Calibri" pitchFamily="34" charset="0"/>
                <a:ea typeface="Calibri" pitchFamily="34" charset="-122"/>
                <a:cs typeface="Calibri" pitchFamily="34" charset="-120"/>
              </a:rPr>
              <a:t>(from star tracker ephemeris)</a:t>
            </a:r>
            <a:endParaRPr lang="en-US" sz="1000" dirty="0"/>
          </a:p>
        </p:txBody>
      </p:sp>
      <p:sp>
        <p:nvSpPr>
          <p:cNvPr id="9" name="Text 7"/>
          <p:cNvSpPr/>
          <p:nvPr/>
        </p:nvSpPr>
        <p:spPr>
          <a:xfrm>
            <a:off x="548640" y="2240280"/>
            <a:ext cx="2514600" cy="1645920"/>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Wide-divergence beacon laser (980 nm, 5–10° half-angle) transmitted from both terminals. CMOS wide-FOV detector (1–10°) scans angular uncertainty cone. Ephemeris-based pointing prediction narrows cone. Time: 1–30 sec.</a:t>
            </a:r>
            <a:endParaRPr lang="en-US" sz="1000" dirty="0"/>
          </a:p>
        </p:txBody>
      </p:sp>
      <p:sp>
        <p:nvSpPr>
          <p:cNvPr id="10" name="Shape 8"/>
          <p:cNvSpPr/>
          <p:nvPr/>
        </p:nvSpPr>
        <p:spPr>
          <a:xfrm>
            <a:off x="502920" y="4553712"/>
            <a:ext cx="2606040" cy="256032"/>
          </a:xfrm>
          <a:prstGeom prst="roundRect">
            <a:avLst>
              <a:gd name="adj" fmla="val 17857"/>
            </a:avLst>
          </a:prstGeom>
          <a:solidFill>
            <a:srgbClr val="7B5EF8">
              <a:alpha val="25000"/>
            </a:srgbClr>
          </a:solidFill>
          <a:ln w="12700">
            <a:solidFill>
              <a:srgbClr val="7B5EF8"/>
            </a:solidFill>
            <a:prstDash val="solid"/>
          </a:ln>
        </p:spPr>
      </p:sp>
      <p:sp>
        <p:nvSpPr>
          <p:cNvPr id="11" name="Text 9"/>
          <p:cNvSpPr/>
          <p:nvPr/>
        </p:nvSpPr>
        <p:spPr>
          <a:xfrm>
            <a:off x="502920" y="4562856"/>
            <a:ext cx="2606040" cy="246888"/>
          </a:xfrm>
          <a:prstGeom prst="rect">
            <a:avLst/>
          </a:prstGeom>
          <a:noFill/>
          <a:ln/>
        </p:spPr>
        <p:txBody>
          <a:bodyPr wrap="square" lIns="0" tIns="0" rIns="0" bIns="0" rtlCol="0" anchor="ctr"/>
          <a:lstStyle/>
          <a:p>
            <a:pPr algn="ctr" indent="0" marL="0">
              <a:buNone/>
            </a:pPr>
            <a:r>
              <a:rPr lang="en-US" sz="850" dirty="0">
                <a:solidFill>
                  <a:srgbClr val="7B5EF8"/>
                </a:solidFill>
                <a:latin typeface="Calibri" pitchFamily="34" charset="0"/>
                <a:ea typeface="Calibri" pitchFamily="34" charset="-122"/>
                <a:cs typeface="Calibri" pitchFamily="34" charset="-120"/>
              </a:rPr>
              <a:t>After: error reduced from ~500 mrad to &lt; 5 mrad</a:t>
            </a:r>
            <a:endParaRPr lang="en-US" sz="850" dirty="0"/>
          </a:p>
        </p:txBody>
      </p:sp>
      <p:sp>
        <p:nvSpPr>
          <p:cNvPr id="12" name="Shape 10"/>
          <p:cNvSpPr/>
          <p:nvPr/>
        </p:nvSpPr>
        <p:spPr>
          <a:xfrm>
            <a:off x="3337560" y="1261872"/>
            <a:ext cx="2788920" cy="3639312"/>
          </a:xfrm>
          <a:prstGeom prst="roundRect">
            <a:avLst>
              <a:gd name="adj" fmla="val 3934"/>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13" name="Shape 11"/>
          <p:cNvSpPr/>
          <p:nvPr/>
        </p:nvSpPr>
        <p:spPr>
          <a:xfrm>
            <a:off x="3337560" y="1261872"/>
            <a:ext cx="2788920" cy="411480"/>
          </a:xfrm>
          <a:prstGeom prst="roundRect">
            <a:avLst>
              <a:gd name="adj" fmla="val 26667"/>
            </a:avLst>
          </a:prstGeom>
          <a:solidFill>
            <a:srgbClr val="00C8FF">
              <a:alpha val="85000"/>
            </a:srgbClr>
          </a:solidFill>
          <a:ln w="12700">
            <a:solidFill>
              <a:srgbClr val="00C8FF"/>
            </a:solidFill>
            <a:prstDash val="solid"/>
          </a:ln>
        </p:spPr>
      </p:sp>
      <p:sp>
        <p:nvSpPr>
          <p:cNvPr id="14" name="Text 12"/>
          <p:cNvSpPr/>
          <p:nvPr/>
        </p:nvSpPr>
        <p:spPr>
          <a:xfrm>
            <a:off x="3429000" y="1261872"/>
            <a:ext cx="2606040" cy="411480"/>
          </a:xfrm>
          <a:prstGeom prst="rect">
            <a:avLst/>
          </a:prstGeom>
          <a:noFill/>
          <a:ln/>
        </p:spPr>
        <p:txBody>
          <a:bodyPr wrap="square" lIns="0" tIns="0" rIns="0" bIns="0" rtlCol="0" anchor="ctr"/>
          <a:lstStyle/>
          <a:p>
            <a:pPr indent="0" marL="0">
              <a:buNone/>
            </a:pPr>
            <a:r>
              <a:rPr lang="en-US" sz="1200" b="1" dirty="0">
                <a:solidFill>
                  <a:srgbClr val="0A0F2C"/>
                </a:solidFill>
              </a:rPr>
              <a:t>Stage 2:  Intermediate Lock</a:t>
            </a:r>
            <a:endParaRPr lang="en-US" sz="1200" dirty="0"/>
          </a:p>
        </p:txBody>
      </p:sp>
      <p:sp>
        <p:nvSpPr>
          <p:cNvPr id="15" name="Text 13"/>
          <p:cNvSpPr/>
          <p:nvPr/>
        </p:nvSpPr>
        <p:spPr>
          <a:xfrm>
            <a:off x="3474720" y="1737360"/>
            <a:ext cx="2514600" cy="475488"/>
          </a:xfrm>
          <a:prstGeom prst="rect">
            <a:avLst/>
          </a:prstGeom>
          <a:noFill/>
          <a:ln/>
        </p:spPr>
        <p:txBody>
          <a:bodyPr wrap="square" rtlCol="0" anchor="ctr"/>
          <a:lstStyle/>
          <a:p>
            <a:pPr indent="0" marL="0">
              <a:buNone/>
            </a:pPr>
            <a:r>
              <a:rPr lang="en-US" sz="1000" b="1" i="1" dirty="0">
                <a:solidFill>
                  <a:srgbClr val="00C8FF"/>
                </a:solidFill>
                <a:latin typeface="Calibri" pitchFamily="34" charset="0"/>
                <a:ea typeface="Calibri" pitchFamily="34" charset="-122"/>
                <a:cs typeface="Calibri" pitchFamily="34" charset="-120"/>
              </a:rPr>
              <a:t>Uncertainty: ±1–5 mrad</a:t>
            </a:r>
            <a:endParaRPr lang="en-US" sz="1000" dirty="0"/>
          </a:p>
          <a:p>
            <a:pPr indent="0" marL="0">
              <a:buNone/>
            </a:pPr>
            <a:r>
              <a:rPr lang="en-US" sz="1000" b="1" i="1" dirty="0">
                <a:solidFill>
                  <a:srgbClr val="00C8FF"/>
                </a:solidFill>
                <a:latin typeface="Calibri" pitchFamily="34" charset="0"/>
                <a:ea typeface="Calibri" pitchFamily="34" charset="-122"/>
                <a:cs typeface="Calibri" pitchFamily="34" charset="-120"/>
              </a:rPr>
              <a:t>(post gimbal settle)</a:t>
            </a:r>
            <a:endParaRPr lang="en-US" sz="1000" dirty="0"/>
          </a:p>
        </p:txBody>
      </p:sp>
      <p:sp>
        <p:nvSpPr>
          <p:cNvPr id="16" name="Text 14"/>
          <p:cNvSpPr/>
          <p:nvPr/>
        </p:nvSpPr>
        <p:spPr>
          <a:xfrm>
            <a:off x="3474720" y="2240280"/>
            <a:ext cx="2514600" cy="1645920"/>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Coarse gimbal steers bore-sight to place partner's beacon on fine tracking detector. 2-axis motorized mechanism with ±20–60° travel and ~1 mrad resolution. Closed-loop gimbal controller reduces error. Time: 0.1–2 sec.</a:t>
            </a:r>
            <a:endParaRPr lang="en-US" sz="1000" dirty="0"/>
          </a:p>
        </p:txBody>
      </p:sp>
      <p:sp>
        <p:nvSpPr>
          <p:cNvPr id="17" name="Shape 15"/>
          <p:cNvSpPr/>
          <p:nvPr/>
        </p:nvSpPr>
        <p:spPr>
          <a:xfrm>
            <a:off x="3429000" y="4553712"/>
            <a:ext cx="2606040" cy="256032"/>
          </a:xfrm>
          <a:prstGeom prst="roundRect">
            <a:avLst>
              <a:gd name="adj" fmla="val 17857"/>
            </a:avLst>
          </a:prstGeom>
          <a:solidFill>
            <a:srgbClr val="00C8FF">
              <a:alpha val="25000"/>
            </a:srgbClr>
          </a:solidFill>
          <a:ln w="12700">
            <a:solidFill>
              <a:srgbClr val="00C8FF"/>
            </a:solidFill>
            <a:prstDash val="solid"/>
          </a:ln>
        </p:spPr>
      </p:sp>
      <p:sp>
        <p:nvSpPr>
          <p:cNvPr id="18" name="Text 16"/>
          <p:cNvSpPr/>
          <p:nvPr/>
        </p:nvSpPr>
        <p:spPr>
          <a:xfrm>
            <a:off x="3429000" y="4562856"/>
            <a:ext cx="2606040" cy="246888"/>
          </a:xfrm>
          <a:prstGeom prst="rect">
            <a:avLst/>
          </a:prstGeom>
          <a:noFill/>
          <a:ln/>
        </p:spPr>
        <p:txBody>
          <a:bodyPr wrap="square" lIns="0" tIns="0" rIns="0" bIns="0" rtlCol="0" anchor="ctr"/>
          <a:lstStyle/>
          <a:p>
            <a:pPr algn="ctr" indent="0" marL="0">
              <a:buNone/>
            </a:pPr>
            <a:r>
              <a:rPr lang="en-US" sz="850" dirty="0">
                <a:solidFill>
                  <a:srgbClr val="00C8FF"/>
                </a:solidFill>
                <a:latin typeface="Calibri" pitchFamily="34" charset="0"/>
                <a:ea typeface="Calibri" pitchFamily="34" charset="-122"/>
                <a:cs typeface="Calibri" pitchFamily="34" charset="-120"/>
              </a:rPr>
              <a:t>After: error reduced to &lt; 500 μrad (FSM range)</a:t>
            </a:r>
            <a:endParaRPr lang="en-US" sz="850" dirty="0"/>
          </a:p>
        </p:txBody>
      </p:sp>
      <p:sp>
        <p:nvSpPr>
          <p:cNvPr id="19" name="Shape 17"/>
          <p:cNvSpPr/>
          <p:nvPr/>
        </p:nvSpPr>
        <p:spPr>
          <a:xfrm>
            <a:off x="6263640" y="1261872"/>
            <a:ext cx="2788920" cy="3639312"/>
          </a:xfrm>
          <a:prstGeom prst="roundRect">
            <a:avLst>
              <a:gd name="adj" fmla="val 3934"/>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20" name="Shape 18"/>
          <p:cNvSpPr/>
          <p:nvPr/>
        </p:nvSpPr>
        <p:spPr>
          <a:xfrm>
            <a:off x="6263640" y="1261872"/>
            <a:ext cx="2788920" cy="411480"/>
          </a:xfrm>
          <a:prstGeom prst="roundRect">
            <a:avLst>
              <a:gd name="adj" fmla="val 26667"/>
            </a:avLst>
          </a:prstGeom>
          <a:solidFill>
            <a:srgbClr val="00E5C0">
              <a:alpha val="85000"/>
            </a:srgbClr>
          </a:solidFill>
          <a:ln w="12700">
            <a:solidFill>
              <a:srgbClr val="00E5C0"/>
            </a:solidFill>
            <a:prstDash val="solid"/>
          </a:ln>
        </p:spPr>
      </p:sp>
      <p:sp>
        <p:nvSpPr>
          <p:cNvPr id="21" name="Text 19"/>
          <p:cNvSpPr/>
          <p:nvPr/>
        </p:nvSpPr>
        <p:spPr>
          <a:xfrm>
            <a:off x="6355080" y="1261872"/>
            <a:ext cx="2606040" cy="411480"/>
          </a:xfrm>
          <a:prstGeom prst="rect">
            <a:avLst/>
          </a:prstGeom>
          <a:noFill/>
          <a:ln/>
        </p:spPr>
        <p:txBody>
          <a:bodyPr wrap="square" lIns="0" tIns="0" rIns="0" bIns="0" rtlCol="0" anchor="ctr"/>
          <a:lstStyle/>
          <a:p>
            <a:pPr indent="0" marL="0">
              <a:buNone/>
            </a:pPr>
            <a:r>
              <a:rPr lang="en-US" sz="1200" b="1" dirty="0">
                <a:solidFill>
                  <a:srgbClr val="0A0F2C"/>
                </a:solidFill>
              </a:rPr>
              <a:t>Stage 3:  Fine Tracking Lock</a:t>
            </a:r>
            <a:endParaRPr lang="en-US" sz="1200" dirty="0"/>
          </a:p>
        </p:txBody>
      </p:sp>
      <p:sp>
        <p:nvSpPr>
          <p:cNvPr id="22" name="Text 20"/>
          <p:cNvSpPr/>
          <p:nvPr/>
        </p:nvSpPr>
        <p:spPr>
          <a:xfrm>
            <a:off x="6400800" y="1737360"/>
            <a:ext cx="2514600" cy="475488"/>
          </a:xfrm>
          <a:prstGeom prst="rect">
            <a:avLst/>
          </a:prstGeom>
          <a:noFill/>
          <a:ln/>
        </p:spPr>
        <p:txBody>
          <a:bodyPr wrap="square" rtlCol="0" anchor="ctr"/>
          <a:lstStyle/>
          <a:p>
            <a:pPr indent="0" marL="0">
              <a:buNone/>
            </a:pPr>
            <a:r>
              <a:rPr lang="en-US" sz="1000" b="1" i="1" dirty="0">
                <a:solidFill>
                  <a:srgbClr val="00E5C0"/>
                </a:solidFill>
                <a:latin typeface="Calibri" pitchFamily="34" charset="0"/>
                <a:ea typeface="Calibri" pitchFamily="34" charset="-122"/>
                <a:cs typeface="Calibri" pitchFamily="34" charset="-120"/>
              </a:rPr>
              <a:t>Uncertainty: &lt; 500 μrad</a:t>
            </a:r>
            <a:endParaRPr lang="en-US" sz="1000" dirty="0"/>
          </a:p>
          <a:p>
            <a:pPr indent="0" marL="0">
              <a:buNone/>
            </a:pPr>
            <a:r>
              <a:rPr lang="en-US" sz="1000" b="1" i="1" dirty="0">
                <a:solidFill>
                  <a:srgbClr val="00E5C0"/>
                </a:solidFill>
                <a:latin typeface="Calibri" pitchFamily="34" charset="0"/>
                <a:ea typeface="Calibri" pitchFamily="34" charset="-122"/>
                <a:cs typeface="Calibri" pitchFamily="34" charset="-120"/>
              </a:rPr>
              <a:t>(FSM handles)</a:t>
            </a:r>
            <a:endParaRPr lang="en-US" sz="1000" dirty="0"/>
          </a:p>
        </p:txBody>
      </p:sp>
      <p:sp>
        <p:nvSpPr>
          <p:cNvPr id="23" name="Text 21"/>
          <p:cNvSpPr/>
          <p:nvPr/>
        </p:nvSpPr>
        <p:spPr>
          <a:xfrm>
            <a:off x="6400800" y="2240280"/>
            <a:ext cx="2514600" cy="1645920"/>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FSM takes over: 4-QD or CMOS beacon detector feeds pointing error to PID+Kalman loop. FSM nulls error to &lt; 5 μrad RMS. Data channel opens. Link active. Time: &lt; 100 ms.</a:t>
            </a:r>
            <a:endParaRPr lang="en-US" sz="1000" dirty="0"/>
          </a:p>
        </p:txBody>
      </p:sp>
      <p:sp>
        <p:nvSpPr>
          <p:cNvPr id="24" name="Shape 22"/>
          <p:cNvSpPr/>
          <p:nvPr/>
        </p:nvSpPr>
        <p:spPr>
          <a:xfrm>
            <a:off x="6355080" y="4553712"/>
            <a:ext cx="2606040" cy="256032"/>
          </a:xfrm>
          <a:prstGeom prst="roundRect">
            <a:avLst>
              <a:gd name="adj" fmla="val 17857"/>
            </a:avLst>
          </a:prstGeom>
          <a:solidFill>
            <a:srgbClr val="00E5C0">
              <a:alpha val="25000"/>
            </a:srgbClr>
          </a:solidFill>
          <a:ln w="12700">
            <a:solidFill>
              <a:srgbClr val="00E5C0"/>
            </a:solidFill>
            <a:prstDash val="solid"/>
          </a:ln>
        </p:spPr>
      </p:sp>
      <p:sp>
        <p:nvSpPr>
          <p:cNvPr id="25" name="Text 23"/>
          <p:cNvSpPr/>
          <p:nvPr/>
        </p:nvSpPr>
        <p:spPr>
          <a:xfrm>
            <a:off x="6355080" y="4562856"/>
            <a:ext cx="2606040" cy="246888"/>
          </a:xfrm>
          <a:prstGeom prst="rect">
            <a:avLst/>
          </a:prstGeom>
          <a:noFill/>
          <a:ln/>
        </p:spPr>
        <p:txBody>
          <a:bodyPr wrap="square" lIns="0" tIns="0" rIns="0" bIns="0" rtlCol="0" anchor="ctr"/>
          <a:lstStyle/>
          <a:p>
            <a:pPr algn="ctr" indent="0" marL="0">
              <a:buNone/>
            </a:pPr>
            <a:r>
              <a:rPr lang="en-US" sz="850" dirty="0">
                <a:solidFill>
                  <a:srgbClr val="00E5C0"/>
                </a:solidFill>
                <a:latin typeface="Calibri" pitchFamily="34" charset="0"/>
                <a:ea typeface="Calibri" pitchFamily="34" charset="-122"/>
                <a:cs typeface="Calibri" pitchFamily="34" charset="-120"/>
              </a:rPr>
              <a:t>After: pointing error &lt; 5 μrad → data link open</a:t>
            </a:r>
            <a:endParaRPr lang="en-US" sz="850" dirty="0"/>
          </a:p>
        </p:txBody>
      </p:sp>
      <p:sp>
        <p:nvSpPr>
          <p:cNvPr id="26" name="Shape 24"/>
          <p:cNvSpPr/>
          <p:nvPr/>
        </p:nvSpPr>
        <p:spPr>
          <a:xfrm>
            <a:off x="3172968" y="2852928"/>
            <a:ext cx="320040" cy="320040"/>
          </a:xfrm>
          <a:prstGeom prst="ellipse">
            <a:avLst/>
          </a:prstGeom>
          <a:solidFill>
            <a:srgbClr val="A8B8D8">
              <a:alpha val="60000"/>
            </a:srgbClr>
          </a:solidFill>
          <a:ln w="12700">
            <a:solidFill>
              <a:srgbClr val="A8B8D8"/>
            </a:solidFill>
            <a:prstDash val="solid"/>
          </a:ln>
        </p:spPr>
      </p:sp>
      <p:sp>
        <p:nvSpPr>
          <p:cNvPr id="27" name="Text 25"/>
          <p:cNvSpPr/>
          <p:nvPr/>
        </p:nvSpPr>
        <p:spPr>
          <a:xfrm>
            <a:off x="3172968" y="2852928"/>
            <a:ext cx="320040" cy="320040"/>
          </a:xfrm>
          <a:prstGeom prst="rect">
            <a:avLst/>
          </a:prstGeom>
          <a:noFill/>
          <a:ln/>
        </p:spPr>
        <p:txBody>
          <a:bodyPr wrap="square" lIns="0" tIns="0" rIns="0" bIns="0" rtlCol="0" anchor="ctr"/>
          <a:lstStyle/>
          <a:p>
            <a:pPr algn="ctr" indent="0" marL="0">
              <a:buNone/>
            </a:pPr>
            <a:r>
              <a:rPr lang="en-US" sz="1400" dirty="0">
                <a:solidFill>
                  <a:srgbClr val="FFFFFF"/>
                </a:solidFill>
              </a:rPr>
              <a:t>→</a:t>
            </a:r>
            <a:endParaRPr lang="en-US" sz="1400" dirty="0"/>
          </a:p>
        </p:txBody>
      </p:sp>
      <p:sp>
        <p:nvSpPr>
          <p:cNvPr id="28" name="Shape 26"/>
          <p:cNvSpPr/>
          <p:nvPr/>
        </p:nvSpPr>
        <p:spPr>
          <a:xfrm>
            <a:off x="6099048" y="2852928"/>
            <a:ext cx="320040" cy="320040"/>
          </a:xfrm>
          <a:prstGeom prst="ellipse">
            <a:avLst/>
          </a:prstGeom>
          <a:solidFill>
            <a:srgbClr val="A8B8D8">
              <a:alpha val="60000"/>
            </a:srgbClr>
          </a:solidFill>
          <a:ln w="12700">
            <a:solidFill>
              <a:srgbClr val="A8B8D8"/>
            </a:solidFill>
            <a:prstDash val="solid"/>
          </a:ln>
        </p:spPr>
      </p:sp>
      <p:sp>
        <p:nvSpPr>
          <p:cNvPr id="29" name="Text 27"/>
          <p:cNvSpPr/>
          <p:nvPr/>
        </p:nvSpPr>
        <p:spPr>
          <a:xfrm>
            <a:off x="6099048" y="2852928"/>
            <a:ext cx="320040" cy="320040"/>
          </a:xfrm>
          <a:prstGeom prst="rect">
            <a:avLst/>
          </a:prstGeom>
          <a:noFill/>
          <a:ln/>
        </p:spPr>
        <p:txBody>
          <a:bodyPr wrap="square" lIns="0" tIns="0" rIns="0" bIns="0" rtlCol="0" anchor="ctr"/>
          <a:lstStyle/>
          <a:p>
            <a:pPr algn="ctr" indent="0" marL="0">
              <a:buNone/>
            </a:pPr>
            <a:r>
              <a:rPr lang="en-US" sz="1400" dirty="0">
                <a:solidFill>
                  <a:srgbClr val="FFFFFF"/>
                </a:solidFill>
              </a:rPr>
              <a: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F2C"/>
        </a:solidFill>
      </p:bgPr>
    </p:bg>
    <p:spTree>
      <p:nvGrpSpPr>
        <p:cNvPr id="1" name=""/>
        <p:cNvGrpSpPr/>
        <p:nvPr/>
      </p:nvGrpSpPr>
      <p:grpSpPr>
        <a:xfrm>
          <a:off x="0" y="0"/>
          <a:ext cx="0" cy="0"/>
          <a:chOff x="0" y="0"/>
          <a:chExt cx="0" cy="0"/>
        </a:xfrm>
      </p:grpSpPr>
      <p:sp>
        <p:nvSpPr>
          <p:cNvPr id="2" name="Text 0"/>
          <p:cNvSpPr/>
          <p:nvPr/>
        </p:nvSpPr>
        <p:spPr>
          <a:xfrm>
            <a:off x="457200" y="256032"/>
            <a:ext cx="6400800" cy="274320"/>
          </a:xfrm>
          <a:prstGeom prst="rect">
            <a:avLst/>
          </a:prstGeom>
          <a:noFill/>
          <a:ln/>
        </p:spPr>
        <p:txBody>
          <a:bodyPr wrap="square" rtlCol="0" anchor="ctr"/>
          <a:lstStyle/>
          <a:p>
            <a:pPr indent="0" marL="0">
              <a:buNone/>
            </a:pPr>
            <a:r>
              <a:rPr lang="en-US" sz="900" b="1" spc="200" kern="0" dirty="0">
                <a:solidFill>
                  <a:srgbClr val="7B5EF8"/>
                </a:solidFill>
              </a:rPr>
              <a:t>CUBESAT OISL — CONSTRAINTS &amp; FRONTIERS</a:t>
            </a:r>
            <a:endParaRPr lang="en-US" sz="900" dirty="0"/>
          </a:p>
        </p:txBody>
      </p:sp>
      <p:sp>
        <p:nvSpPr>
          <p:cNvPr id="3" name="Text 1"/>
          <p:cNvSpPr/>
          <p:nvPr/>
        </p:nvSpPr>
        <p:spPr>
          <a:xfrm>
            <a:off x="457200" y="530352"/>
            <a:ext cx="7772400" cy="5943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Engineering Tensions &amp; Research Directions</a:t>
            </a:r>
            <a:endParaRPr lang="en-US" sz="3000" dirty="0"/>
          </a:p>
        </p:txBody>
      </p:sp>
      <p:sp>
        <p:nvSpPr>
          <p:cNvPr id="4" name="Shape 2"/>
          <p:cNvSpPr/>
          <p:nvPr/>
        </p:nvSpPr>
        <p:spPr>
          <a:xfrm>
            <a:off x="457200" y="1298448"/>
            <a:ext cx="3931920" cy="758952"/>
          </a:xfrm>
          <a:prstGeom prst="roundRect">
            <a:avLst>
              <a:gd name="adj" fmla="val 14458"/>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5" name="Text 3"/>
          <p:cNvSpPr/>
          <p:nvPr/>
        </p:nvSpPr>
        <p:spPr>
          <a:xfrm>
            <a:off x="594360" y="1389888"/>
            <a:ext cx="1005840" cy="292608"/>
          </a:xfrm>
          <a:prstGeom prst="rect">
            <a:avLst/>
          </a:prstGeom>
          <a:noFill/>
          <a:ln/>
        </p:spPr>
        <p:txBody>
          <a:bodyPr wrap="square" rtlCol="0" anchor="ctr"/>
          <a:lstStyle/>
          <a:p>
            <a:pPr indent="0" marL="0">
              <a:buNone/>
            </a:pPr>
            <a:r>
              <a:rPr lang="en-US" sz="1300" b="1" dirty="0">
                <a:solidFill>
                  <a:srgbClr val="FF6B6B"/>
                </a:solidFill>
                <a:latin typeface="Cambria" pitchFamily="34" charset="0"/>
                <a:ea typeface="Cambria" pitchFamily="34" charset="-122"/>
                <a:cs typeface="Cambria" pitchFamily="34" charset="-120"/>
              </a:rPr>
              <a:t>Volume</a:t>
            </a:r>
            <a:endParaRPr lang="en-US" sz="1300" dirty="0"/>
          </a:p>
        </p:txBody>
      </p:sp>
      <p:sp>
        <p:nvSpPr>
          <p:cNvPr id="6" name="Text 4"/>
          <p:cNvSpPr/>
          <p:nvPr/>
        </p:nvSpPr>
        <p:spPr>
          <a:xfrm>
            <a:off x="1645920" y="1389888"/>
            <a:ext cx="2633472" cy="566928"/>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50 mm aperture Cassegrain: 150–400 g, ~0.5U volume. Every mm of aperture is contested.</a:t>
            </a:r>
            <a:endParaRPr lang="en-US" sz="1050" dirty="0"/>
          </a:p>
        </p:txBody>
      </p:sp>
      <p:sp>
        <p:nvSpPr>
          <p:cNvPr id="7" name="Shape 5"/>
          <p:cNvSpPr/>
          <p:nvPr/>
        </p:nvSpPr>
        <p:spPr>
          <a:xfrm>
            <a:off x="457200" y="2185416"/>
            <a:ext cx="3931920" cy="758952"/>
          </a:xfrm>
          <a:prstGeom prst="roundRect">
            <a:avLst>
              <a:gd name="adj" fmla="val 14458"/>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8" name="Text 6"/>
          <p:cNvSpPr/>
          <p:nvPr/>
        </p:nvSpPr>
        <p:spPr>
          <a:xfrm>
            <a:off x="594360" y="2276856"/>
            <a:ext cx="1005840" cy="292608"/>
          </a:xfrm>
          <a:prstGeom prst="rect">
            <a:avLst/>
          </a:prstGeom>
          <a:noFill/>
          <a:ln/>
        </p:spPr>
        <p:txBody>
          <a:bodyPr wrap="square" rtlCol="0" anchor="ctr"/>
          <a:lstStyle/>
          <a:p>
            <a:pPr indent="0" marL="0">
              <a:buNone/>
            </a:pPr>
            <a:r>
              <a:rPr lang="en-US" sz="1300" b="1" dirty="0">
                <a:solidFill>
                  <a:srgbClr val="FFD166"/>
                </a:solidFill>
                <a:latin typeface="Cambria" pitchFamily="34" charset="0"/>
                <a:ea typeface="Cambria" pitchFamily="34" charset="-122"/>
                <a:cs typeface="Cambria" pitchFamily="34" charset="-120"/>
              </a:rPr>
              <a:t>Power</a:t>
            </a:r>
            <a:endParaRPr lang="en-US" sz="1300" dirty="0"/>
          </a:p>
        </p:txBody>
      </p:sp>
      <p:sp>
        <p:nvSpPr>
          <p:cNvPr id="9" name="Text 7"/>
          <p:cNvSpPr/>
          <p:nvPr/>
        </p:nvSpPr>
        <p:spPr>
          <a:xfrm>
            <a:off x="1645920" y="2276856"/>
            <a:ext cx="2633472" cy="566928"/>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EDFA @ 1W optical output = 5–10W DC. This is 50–80% of a 10W CubeSat power budget.</a:t>
            </a:r>
            <a:endParaRPr lang="en-US" sz="1050" dirty="0"/>
          </a:p>
        </p:txBody>
      </p:sp>
      <p:sp>
        <p:nvSpPr>
          <p:cNvPr id="10" name="Shape 8"/>
          <p:cNvSpPr/>
          <p:nvPr/>
        </p:nvSpPr>
        <p:spPr>
          <a:xfrm>
            <a:off x="457200" y="3072384"/>
            <a:ext cx="3931920" cy="758952"/>
          </a:xfrm>
          <a:prstGeom prst="roundRect">
            <a:avLst>
              <a:gd name="adj" fmla="val 14458"/>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11" name="Text 9"/>
          <p:cNvSpPr/>
          <p:nvPr/>
        </p:nvSpPr>
        <p:spPr>
          <a:xfrm>
            <a:off x="594360" y="3163824"/>
            <a:ext cx="1005840" cy="292608"/>
          </a:xfrm>
          <a:prstGeom prst="rect">
            <a:avLst/>
          </a:prstGeom>
          <a:noFill/>
          <a:ln/>
        </p:spPr>
        <p:txBody>
          <a:bodyPr wrap="square" rtlCol="0" anchor="ctr"/>
          <a:lstStyle/>
          <a:p>
            <a:pPr indent="0" marL="0">
              <a:buNone/>
            </a:pPr>
            <a:r>
              <a:rPr lang="en-US" sz="1300" b="1" dirty="0">
                <a:solidFill>
                  <a:srgbClr val="7B5EF8"/>
                </a:solidFill>
                <a:latin typeface="Cambria" pitchFamily="34" charset="0"/>
                <a:ea typeface="Cambria" pitchFamily="34" charset="-122"/>
                <a:cs typeface="Cambria" pitchFamily="34" charset="-120"/>
              </a:rPr>
              <a:t>Mass</a:t>
            </a:r>
            <a:endParaRPr lang="en-US" sz="1300" dirty="0"/>
          </a:p>
        </p:txBody>
      </p:sp>
      <p:sp>
        <p:nvSpPr>
          <p:cNvPr id="12" name="Text 10"/>
          <p:cNvSpPr/>
          <p:nvPr/>
        </p:nvSpPr>
        <p:spPr>
          <a:xfrm>
            <a:off x="1645920" y="3163824"/>
            <a:ext cx="2633472" cy="566928"/>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Gimbal mechanism 100–300 g. Primary mass driver after telescope. Drives to MEMS solutions.</a:t>
            </a:r>
            <a:endParaRPr lang="en-US" sz="1050" dirty="0"/>
          </a:p>
        </p:txBody>
      </p:sp>
      <p:sp>
        <p:nvSpPr>
          <p:cNvPr id="13" name="Shape 11"/>
          <p:cNvSpPr/>
          <p:nvPr/>
        </p:nvSpPr>
        <p:spPr>
          <a:xfrm>
            <a:off x="457200" y="3959352"/>
            <a:ext cx="3931920" cy="758952"/>
          </a:xfrm>
          <a:prstGeom prst="roundRect">
            <a:avLst>
              <a:gd name="adj" fmla="val 14458"/>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14" name="Text 12"/>
          <p:cNvSpPr/>
          <p:nvPr/>
        </p:nvSpPr>
        <p:spPr>
          <a:xfrm>
            <a:off x="594360" y="4050792"/>
            <a:ext cx="1005840" cy="292608"/>
          </a:xfrm>
          <a:prstGeom prst="rect">
            <a:avLst/>
          </a:prstGeom>
          <a:noFill/>
          <a:ln/>
        </p:spPr>
        <p:txBody>
          <a:bodyPr wrap="square" rtlCol="0" anchor="ctr"/>
          <a:lstStyle/>
          <a:p>
            <a:pPr indent="0" marL="0">
              <a:buNone/>
            </a:pPr>
            <a:r>
              <a:rPr lang="en-US" sz="1300" b="1" dirty="0">
                <a:solidFill>
                  <a:srgbClr val="00C8FF"/>
                </a:solidFill>
                <a:latin typeface="Cambria" pitchFamily="34" charset="0"/>
                <a:ea typeface="Cambria" pitchFamily="34" charset="-122"/>
                <a:cs typeface="Cambria" pitchFamily="34" charset="-120"/>
              </a:rPr>
              <a:t>Thermal</a:t>
            </a:r>
            <a:endParaRPr lang="en-US" sz="1300" dirty="0"/>
          </a:p>
        </p:txBody>
      </p:sp>
      <p:sp>
        <p:nvSpPr>
          <p:cNvPr id="15" name="Text 13"/>
          <p:cNvSpPr/>
          <p:nvPr/>
        </p:nvSpPr>
        <p:spPr>
          <a:xfrm>
            <a:off x="1645920" y="4050792"/>
            <a:ext cx="2633472" cy="566928"/>
          </a:xfrm>
          <a:prstGeom prst="rect">
            <a:avLst/>
          </a:prstGeom>
          <a:noFill/>
          <a:ln/>
        </p:spPr>
        <p:txBody>
          <a:bodyPr wrap="square" rtlCol="0" anchor="ctr"/>
          <a:lstStyle/>
          <a:p>
            <a:pPr indent="0" marL="0">
              <a:buNone/>
            </a:pPr>
            <a:r>
              <a:rPr lang="en-US" sz="1050" dirty="0">
                <a:solidFill>
                  <a:srgbClr val="A8B8D8"/>
                </a:solidFill>
                <a:latin typeface="Calibri" pitchFamily="34" charset="0"/>
                <a:ea typeface="Calibri" pitchFamily="34" charset="-122"/>
                <a:cs typeface="Calibri" pitchFamily="34" charset="-120"/>
              </a:rPr>
              <a:t>Orbit ΔT ±50°C. Athermal design mandatory. Zerodur or titanium-mounted fused silica.</a:t>
            </a:r>
            <a:endParaRPr lang="en-US" sz="1050" dirty="0"/>
          </a:p>
        </p:txBody>
      </p:sp>
      <p:sp>
        <p:nvSpPr>
          <p:cNvPr id="16" name="Text 14"/>
          <p:cNvSpPr/>
          <p:nvPr/>
        </p:nvSpPr>
        <p:spPr>
          <a:xfrm>
            <a:off x="4709160" y="1261872"/>
            <a:ext cx="4023360" cy="292608"/>
          </a:xfrm>
          <a:prstGeom prst="rect">
            <a:avLst/>
          </a:prstGeom>
          <a:noFill/>
          <a:ln/>
        </p:spPr>
        <p:txBody>
          <a:bodyPr wrap="square" rtlCol="0" anchor="ctr"/>
          <a:lstStyle/>
          <a:p>
            <a:pPr indent="0" marL="0">
              <a:buNone/>
            </a:pPr>
            <a:r>
              <a:rPr lang="en-US" sz="1300" b="1" dirty="0">
                <a:solidFill>
                  <a:srgbClr val="00E5C0"/>
                </a:solidFill>
                <a:latin typeface="Calibri" pitchFamily="34" charset="0"/>
                <a:ea typeface="Calibri" pitchFamily="34" charset="-122"/>
                <a:cs typeface="Calibri" pitchFamily="34" charset="-120"/>
              </a:rPr>
              <a:t>Active Research Frontiers</a:t>
            </a:r>
            <a:endParaRPr lang="en-US" sz="1300" dirty="0"/>
          </a:p>
        </p:txBody>
      </p:sp>
      <p:sp>
        <p:nvSpPr>
          <p:cNvPr id="17" name="Shape 15"/>
          <p:cNvSpPr/>
          <p:nvPr/>
        </p:nvSpPr>
        <p:spPr>
          <a:xfrm>
            <a:off x="4709160" y="1673352"/>
            <a:ext cx="4023360" cy="749808"/>
          </a:xfrm>
          <a:prstGeom prst="roundRect">
            <a:avLst>
              <a:gd name="adj" fmla="val 14634"/>
            </a:avLst>
          </a:prstGeom>
          <a:solidFill>
            <a:srgbClr val="152050"/>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18" name="Shape 16"/>
          <p:cNvSpPr/>
          <p:nvPr/>
        </p:nvSpPr>
        <p:spPr>
          <a:xfrm>
            <a:off x="4846320" y="1837944"/>
            <a:ext cx="411480" cy="411480"/>
          </a:xfrm>
          <a:prstGeom prst="ellipse">
            <a:avLst/>
          </a:prstGeom>
          <a:solidFill>
            <a:srgbClr val="00E5C0">
              <a:alpha val="75000"/>
            </a:srgbClr>
          </a:solidFill>
          <a:ln w="12700">
            <a:solidFill>
              <a:srgbClr val="00E5C0"/>
            </a:solidFill>
            <a:prstDash val="solid"/>
          </a:ln>
        </p:spPr>
      </p:sp>
      <p:sp>
        <p:nvSpPr>
          <p:cNvPr id="19" name="Text 17"/>
          <p:cNvSpPr/>
          <p:nvPr/>
        </p:nvSpPr>
        <p:spPr>
          <a:xfrm>
            <a:off x="4846320" y="1837944"/>
            <a:ext cx="411480" cy="411480"/>
          </a:xfrm>
          <a:prstGeom prst="rect">
            <a:avLst/>
          </a:prstGeom>
          <a:noFill/>
          <a:ln/>
        </p:spPr>
        <p:txBody>
          <a:bodyPr wrap="square" lIns="0" tIns="0" rIns="0" bIns="0" rtlCol="0" anchor="ctr"/>
          <a:lstStyle/>
          <a:p>
            <a:pPr algn="ctr" indent="0" marL="0">
              <a:buNone/>
            </a:pPr>
            <a:r>
              <a:rPr lang="en-US" sz="900" b="1" dirty="0">
                <a:solidFill>
                  <a:srgbClr val="0A0F2C"/>
                </a:solidFill>
              </a:rPr>
              <a:t>MEMS FSM</a:t>
            </a:r>
            <a:endParaRPr lang="en-US" sz="900" dirty="0"/>
          </a:p>
        </p:txBody>
      </p:sp>
      <p:sp>
        <p:nvSpPr>
          <p:cNvPr id="20" name="Text 18"/>
          <p:cNvSpPr/>
          <p:nvPr/>
        </p:nvSpPr>
        <p:spPr>
          <a:xfrm>
            <a:off x="5376672" y="1764792"/>
            <a:ext cx="1371600" cy="256032"/>
          </a:xfrm>
          <a:prstGeom prst="rect">
            <a:avLst/>
          </a:prstGeom>
          <a:noFill/>
          <a:ln/>
        </p:spPr>
        <p:txBody>
          <a:bodyPr wrap="square" rtlCol="0" anchor="ctr"/>
          <a:lstStyle/>
          <a:p>
            <a:pPr indent="0" marL="0">
              <a:buNone/>
            </a:pPr>
            <a:r>
              <a:rPr lang="en-US" sz="1100" b="1" dirty="0">
                <a:solidFill>
                  <a:srgbClr val="00E5C0"/>
                </a:solidFill>
                <a:latin typeface="Calibri" pitchFamily="34" charset="0"/>
                <a:ea typeface="Calibri" pitchFamily="34" charset="-122"/>
                <a:cs typeface="Calibri" pitchFamily="34" charset="-120"/>
              </a:rPr>
              <a:t>MEMS FSM:</a:t>
            </a:r>
            <a:endParaRPr lang="en-US" sz="1100" dirty="0"/>
          </a:p>
        </p:txBody>
      </p:sp>
      <p:sp>
        <p:nvSpPr>
          <p:cNvPr id="21" name="Text 19"/>
          <p:cNvSpPr/>
          <p:nvPr/>
        </p:nvSpPr>
        <p:spPr>
          <a:xfrm>
            <a:off x="5376672" y="2020824"/>
            <a:ext cx="3200400" cy="384048"/>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Micro-electromechanical steering mirrors: sub-gram, &lt; 1 cm², 10 kHz bandwidth. Replace macroscopic PZT mechanisms entirely.</a:t>
            </a:r>
            <a:endParaRPr lang="en-US" sz="1000" dirty="0"/>
          </a:p>
        </p:txBody>
      </p:sp>
      <p:sp>
        <p:nvSpPr>
          <p:cNvPr id="22" name="Shape 20"/>
          <p:cNvSpPr/>
          <p:nvPr/>
        </p:nvSpPr>
        <p:spPr>
          <a:xfrm>
            <a:off x="4709160" y="2542032"/>
            <a:ext cx="4023360" cy="749808"/>
          </a:xfrm>
          <a:prstGeom prst="roundRect">
            <a:avLst>
              <a:gd name="adj" fmla="val 14634"/>
            </a:avLst>
          </a:prstGeom>
          <a:solidFill>
            <a:srgbClr val="152050"/>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23" name="Shape 21"/>
          <p:cNvSpPr/>
          <p:nvPr/>
        </p:nvSpPr>
        <p:spPr>
          <a:xfrm>
            <a:off x="4846320" y="2706624"/>
            <a:ext cx="411480" cy="411480"/>
          </a:xfrm>
          <a:prstGeom prst="ellipse">
            <a:avLst/>
          </a:prstGeom>
          <a:solidFill>
            <a:srgbClr val="00C8FF">
              <a:alpha val="75000"/>
            </a:srgbClr>
          </a:solidFill>
          <a:ln w="12700">
            <a:solidFill>
              <a:srgbClr val="00C8FF"/>
            </a:solidFill>
            <a:prstDash val="solid"/>
          </a:ln>
        </p:spPr>
      </p:sp>
      <p:sp>
        <p:nvSpPr>
          <p:cNvPr id="24" name="Text 22"/>
          <p:cNvSpPr/>
          <p:nvPr/>
        </p:nvSpPr>
        <p:spPr>
          <a:xfrm>
            <a:off x="4846320" y="2706624"/>
            <a:ext cx="411480" cy="411480"/>
          </a:xfrm>
          <a:prstGeom prst="rect">
            <a:avLst/>
          </a:prstGeom>
          <a:noFill/>
          <a:ln/>
        </p:spPr>
        <p:txBody>
          <a:bodyPr wrap="square" lIns="0" tIns="0" rIns="0" bIns="0" rtlCol="0" anchor="ctr"/>
          <a:lstStyle/>
          <a:p>
            <a:pPr algn="ctr" indent="0" marL="0">
              <a:buNone/>
            </a:pPr>
            <a:r>
              <a:rPr lang="en-US" sz="900" b="1" dirty="0">
                <a:solidFill>
                  <a:srgbClr val="0A0F2C"/>
                </a:solidFill>
              </a:rPr>
              <a:t>Photonic ICs</a:t>
            </a:r>
            <a:endParaRPr lang="en-US" sz="900" dirty="0"/>
          </a:p>
        </p:txBody>
      </p:sp>
      <p:sp>
        <p:nvSpPr>
          <p:cNvPr id="25" name="Text 23"/>
          <p:cNvSpPr/>
          <p:nvPr/>
        </p:nvSpPr>
        <p:spPr>
          <a:xfrm>
            <a:off x="5376672" y="2633472"/>
            <a:ext cx="1371600" cy="256032"/>
          </a:xfrm>
          <a:prstGeom prst="rect">
            <a:avLst/>
          </a:prstGeom>
          <a:noFill/>
          <a:ln/>
        </p:spPr>
        <p:txBody>
          <a:bodyPr wrap="square" rtlCol="0" anchor="ctr"/>
          <a:lstStyle/>
          <a:p>
            <a:pPr indent="0" marL="0">
              <a:buNone/>
            </a:pPr>
            <a:r>
              <a:rPr lang="en-US" sz="1100" b="1" dirty="0">
                <a:solidFill>
                  <a:srgbClr val="00C8FF"/>
                </a:solidFill>
                <a:latin typeface="Calibri" pitchFamily="34" charset="0"/>
                <a:ea typeface="Calibri" pitchFamily="34" charset="-122"/>
                <a:cs typeface="Calibri" pitchFamily="34" charset="-120"/>
              </a:rPr>
              <a:t>Photonic ICs:</a:t>
            </a:r>
            <a:endParaRPr lang="en-US" sz="1100" dirty="0"/>
          </a:p>
        </p:txBody>
      </p:sp>
      <p:sp>
        <p:nvSpPr>
          <p:cNvPr id="26" name="Text 24"/>
          <p:cNvSpPr/>
          <p:nvPr/>
        </p:nvSpPr>
        <p:spPr>
          <a:xfrm>
            <a:off x="5376672" y="2889504"/>
            <a:ext cx="3200400" cy="384048"/>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InP/Si PIC transceivers integrate laser + modulator + APD on a single chip. Enables &lt; 5 cm³ transmit chain.</a:t>
            </a:r>
            <a:endParaRPr lang="en-US" sz="1000" dirty="0"/>
          </a:p>
        </p:txBody>
      </p:sp>
      <p:sp>
        <p:nvSpPr>
          <p:cNvPr id="27" name="Shape 25"/>
          <p:cNvSpPr/>
          <p:nvPr/>
        </p:nvSpPr>
        <p:spPr>
          <a:xfrm>
            <a:off x="4709160" y="3410712"/>
            <a:ext cx="4023360" cy="749808"/>
          </a:xfrm>
          <a:prstGeom prst="roundRect">
            <a:avLst>
              <a:gd name="adj" fmla="val 14634"/>
            </a:avLst>
          </a:prstGeom>
          <a:solidFill>
            <a:srgbClr val="152050"/>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28" name="Shape 26"/>
          <p:cNvSpPr/>
          <p:nvPr/>
        </p:nvSpPr>
        <p:spPr>
          <a:xfrm>
            <a:off x="4846320" y="3575304"/>
            <a:ext cx="411480" cy="411480"/>
          </a:xfrm>
          <a:prstGeom prst="ellipse">
            <a:avLst/>
          </a:prstGeom>
          <a:solidFill>
            <a:srgbClr val="7B5EF8">
              <a:alpha val="75000"/>
            </a:srgbClr>
          </a:solidFill>
          <a:ln w="12700">
            <a:solidFill>
              <a:srgbClr val="7B5EF8"/>
            </a:solidFill>
            <a:prstDash val="solid"/>
          </a:ln>
        </p:spPr>
      </p:sp>
      <p:sp>
        <p:nvSpPr>
          <p:cNvPr id="29" name="Text 27"/>
          <p:cNvSpPr/>
          <p:nvPr/>
        </p:nvSpPr>
        <p:spPr>
          <a:xfrm>
            <a:off x="4846320" y="3575304"/>
            <a:ext cx="411480" cy="411480"/>
          </a:xfrm>
          <a:prstGeom prst="rect">
            <a:avLst/>
          </a:prstGeom>
          <a:noFill/>
          <a:ln/>
        </p:spPr>
        <p:txBody>
          <a:bodyPr wrap="square" lIns="0" tIns="0" rIns="0" bIns="0" rtlCol="0" anchor="ctr"/>
          <a:lstStyle/>
          <a:p>
            <a:pPr algn="ctr" indent="0" marL="0">
              <a:buNone/>
            </a:pPr>
            <a:r>
              <a:rPr lang="en-US" sz="900" b="1" dirty="0">
                <a:solidFill>
                  <a:srgbClr val="0A0F2C"/>
                </a:solidFill>
              </a:rPr>
              <a:t>Diffractive optics</a:t>
            </a:r>
            <a:endParaRPr lang="en-US" sz="900" dirty="0"/>
          </a:p>
        </p:txBody>
      </p:sp>
      <p:sp>
        <p:nvSpPr>
          <p:cNvPr id="30" name="Text 28"/>
          <p:cNvSpPr/>
          <p:nvPr/>
        </p:nvSpPr>
        <p:spPr>
          <a:xfrm>
            <a:off x="5376672" y="3502152"/>
            <a:ext cx="1371600" cy="256032"/>
          </a:xfrm>
          <a:prstGeom prst="rect">
            <a:avLst/>
          </a:prstGeom>
          <a:noFill/>
          <a:ln/>
        </p:spPr>
        <p:txBody>
          <a:bodyPr wrap="square" rtlCol="0" anchor="ctr"/>
          <a:lstStyle/>
          <a:p>
            <a:pPr indent="0" marL="0">
              <a:buNone/>
            </a:pPr>
            <a:r>
              <a:rPr lang="en-US" sz="1100" b="1" dirty="0">
                <a:solidFill>
                  <a:srgbClr val="7B5EF8"/>
                </a:solidFill>
                <a:latin typeface="Calibri" pitchFamily="34" charset="0"/>
                <a:ea typeface="Calibri" pitchFamily="34" charset="-122"/>
                <a:cs typeface="Calibri" pitchFamily="34" charset="-120"/>
              </a:rPr>
              <a:t>Diffractive optics:</a:t>
            </a:r>
            <a:endParaRPr lang="en-US" sz="1100" dirty="0"/>
          </a:p>
        </p:txBody>
      </p:sp>
      <p:sp>
        <p:nvSpPr>
          <p:cNvPr id="31" name="Text 29"/>
          <p:cNvSpPr/>
          <p:nvPr/>
        </p:nvSpPr>
        <p:spPr>
          <a:xfrm>
            <a:off x="5376672" y="3758184"/>
            <a:ext cx="3200400" cy="384048"/>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Diffractive beam expanders and gratings reduce element count, mass, and volume vs. refractive or reflective systems.</a:t>
            </a:r>
            <a:endParaRPr lang="en-US" sz="1000" dirty="0"/>
          </a:p>
        </p:txBody>
      </p:sp>
      <p:sp>
        <p:nvSpPr>
          <p:cNvPr id="32" name="Shape 30"/>
          <p:cNvSpPr/>
          <p:nvPr/>
        </p:nvSpPr>
        <p:spPr>
          <a:xfrm>
            <a:off x="4709160" y="4279392"/>
            <a:ext cx="4023360" cy="749808"/>
          </a:xfrm>
          <a:prstGeom prst="roundRect">
            <a:avLst>
              <a:gd name="adj" fmla="val 14634"/>
            </a:avLst>
          </a:prstGeom>
          <a:solidFill>
            <a:srgbClr val="152050"/>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33" name="Shape 31"/>
          <p:cNvSpPr/>
          <p:nvPr/>
        </p:nvSpPr>
        <p:spPr>
          <a:xfrm>
            <a:off x="4846320" y="4443984"/>
            <a:ext cx="411480" cy="411480"/>
          </a:xfrm>
          <a:prstGeom prst="ellipse">
            <a:avLst/>
          </a:prstGeom>
          <a:solidFill>
            <a:srgbClr val="FFD166">
              <a:alpha val="75000"/>
            </a:srgbClr>
          </a:solidFill>
          <a:ln w="12700">
            <a:solidFill>
              <a:srgbClr val="FFD166"/>
            </a:solidFill>
            <a:prstDash val="solid"/>
          </a:ln>
        </p:spPr>
      </p:sp>
      <p:sp>
        <p:nvSpPr>
          <p:cNvPr id="34" name="Text 32"/>
          <p:cNvSpPr/>
          <p:nvPr/>
        </p:nvSpPr>
        <p:spPr>
          <a:xfrm>
            <a:off x="4846320" y="4443984"/>
            <a:ext cx="411480" cy="411480"/>
          </a:xfrm>
          <a:prstGeom prst="rect">
            <a:avLst/>
          </a:prstGeom>
          <a:noFill/>
          <a:ln/>
        </p:spPr>
        <p:txBody>
          <a:bodyPr wrap="square" lIns="0" tIns="0" rIns="0" bIns="0" rtlCol="0" anchor="ctr"/>
          <a:lstStyle/>
          <a:p>
            <a:pPr algn="ctr" indent="0" marL="0">
              <a:buNone/>
            </a:pPr>
            <a:r>
              <a:rPr lang="en-US" sz="900" b="1" dirty="0">
                <a:solidFill>
                  <a:srgbClr val="0A0F2C"/>
                </a:solidFill>
              </a:rPr>
              <a:t>Coherent QPSK</a:t>
            </a:r>
            <a:endParaRPr lang="en-US" sz="900" dirty="0"/>
          </a:p>
        </p:txBody>
      </p:sp>
      <p:sp>
        <p:nvSpPr>
          <p:cNvPr id="35" name="Text 33"/>
          <p:cNvSpPr/>
          <p:nvPr/>
        </p:nvSpPr>
        <p:spPr>
          <a:xfrm>
            <a:off x="5376672" y="4370832"/>
            <a:ext cx="1371600" cy="256032"/>
          </a:xfrm>
          <a:prstGeom prst="rect">
            <a:avLst/>
          </a:prstGeom>
          <a:noFill/>
          <a:ln/>
        </p:spPr>
        <p:txBody>
          <a:bodyPr wrap="square" rtlCol="0" anchor="ctr"/>
          <a:lstStyle/>
          <a:p>
            <a:pPr indent="0" marL="0">
              <a:buNone/>
            </a:pPr>
            <a:r>
              <a:rPr lang="en-US" sz="1100" b="1" dirty="0">
                <a:solidFill>
                  <a:srgbClr val="FFD166"/>
                </a:solidFill>
                <a:latin typeface="Calibri" pitchFamily="34" charset="0"/>
                <a:ea typeface="Calibri" pitchFamily="34" charset="-122"/>
                <a:cs typeface="Calibri" pitchFamily="34" charset="-120"/>
              </a:rPr>
              <a:t>Coherent QPSK:</a:t>
            </a:r>
            <a:endParaRPr lang="en-US" sz="1100" dirty="0"/>
          </a:p>
        </p:txBody>
      </p:sp>
      <p:sp>
        <p:nvSpPr>
          <p:cNvPr id="36" name="Text 34"/>
          <p:cNvSpPr/>
          <p:nvPr/>
        </p:nvSpPr>
        <p:spPr>
          <a:xfrm>
            <a:off x="5376672" y="4626864"/>
            <a:ext cx="3200400" cy="384048"/>
          </a:xfrm>
          <a:prstGeom prst="rect">
            <a:avLst/>
          </a:prstGeom>
          <a:noFill/>
          <a:ln/>
        </p:spPr>
        <p:txBody>
          <a:bodyPr wrap="square" rtlCol="0" anchor="ctr"/>
          <a:lstStyle/>
          <a:p>
            <a:pPr indent="0" marL="0">
              <a:buNone/>
            </a:pPr>
            <a:r>
              <a:rPr lang="en-US" sz="1000" dirty="0">
                <a:solidFill>
                  <a:srgbClr val="A8B8D8"/>
                </a:solidFill>
                <a:latin typeface="Calibri" pitchFamily="34" charset="0"/>
                <a:ea typeface="Calibri" pitchFamily="34" charset="-122"/>
                <a:cs typeface="Calibri" pitchFamily="34" charset="-120"/>
              </a:rPr>
              <a:t>Higher spectral efficiency enables Gbps+ at longer range or smaller aperture. Requires DSP Doppler compensation.</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F2C"/>
        </a:solidFill>
      </p:bgPr>
    </p:bg>
    <p:spTree>
      <p:nvGrpSpPr>
        <p:cNvPr id="1" name=""/>
        <p:cNvGrpSpPr/>
        <p:nvPr/>
      </p:nvGrpSpPr>
      <p:grpSpPr>
        <a:xfrm>
          <a:off x="0" y="0"/>
          <a:ext cx="0" cy="0"/>
          <a:chOff x="0" y="0"/>
          <a:chExt cx="0" cy="0"/>
        </a:xfrm>
      </p:grpSpPr>
      <p:sp>
        <p:nvSpPr>
          <p:cNvPr id="2" name="Shape 0"/>
          <p:cNvSpPr/>
          <p:nvPr/>
        </p:nvSpPr>
        <p:spPr>
          <a:xfrm>
            <a:off x="5943600" y="-914400"/>
            <a:ext cx="5943600" cy="5943600"/>
          </a:xfrm>
          <a:prstGeom prst="ellipse">
            <a:avLst/>
          </a:prstGeom>
          <a:solidFill>
            <a:srgbClr val="7B5EF8">
              <a:alpha val="15000"/>
            </a:srgbClr>
          </a:solidFill>
          <a:ln w="6350">
            <a:solidFill>
              <a:srgbClr val="7B5EF8">
                <a:alpha val="30000"/>
              </a:srgbClr>
            </a:solidFill>
            <a:prstDash val="solid"/>
          </a:ln>
        </p:spPr>
      </p:sp>
      <p:sp>
        <p:nvSpPr>
          <p:cNvPr id="3" name="Shape 1"/>
          <p:cNvSpPr/>
          <p:nvPr/>
        </p:nvSpPr>
        <p:spPr>
          <a:xfrm>
            <a:off x="-1828800" y="3200400"/>
            <a:ext cx="4114800" cy="4114800"/>
          </a:xfrm>
          <a:prstGeom prst="ellipse">
            <a:avLst/>
          </a:prstGeom>
          <a:solidFill>
            <a:srgbClr val="00C8FF">
              <a:alpha val="10000"/>
            </a:srgbClr>
          </a:solidFill>
          <a:ln w="6350">
            <a:solidFill>
              <a:srgbClr val="00C8FF">
                <a:alpha val="20000"/>
              </a:srgbClr>
            </a:solidFill>
            <a:prstDash val="solid"/>
          </a:ln>
        </p:spPr>
      </p:sp>
      <p:sp>
        <p:nvSpPr>
          <p:cNvPr id="4" name="Text 2"/>
          <p:cNvSpPr/>
          <p:nvPr/>
        </p:nvSpPr>
        <p:spPr>
          <a:xfrm>
            <a:off x="457200" y="292608"/>
            <a:ext cx="2286000" cy="274320"/>
          </a:xfrm>
          <a:prstGeom prst="rect">
            <a:avLst/>
          </a:prstGeom>
          <a:noFill/>
          <a:ln/>
        </p:spPr>
        <p:txBody>
          <a:bodyPr wrap="square" rtlCol="0" anchor="ctr"/>
          <a:lstStyle/>
          <a:p>
            <a:pPr indent="0" marL="0">
              <a:buNone/>
            </a:pPr>
            <a:r>
              <a:rPr lang="en-US" sz="900" b="1" spc="400" kern="0" dirty="0">
                <a:solidFill>
                  <a:srgbClr val="00C8FF"/>
                </a:solidFill>
              </a:rPr>
              <a:t>CONCLUSION</a:t>
            </a:r>
            <a:endParaRPr lang="en-US" sz="900" dirty="0"/>
          </a:p>
        </p:txBody>
      </p:sp>
      <p:sp>
        <p:nvSpPr>
          <p:cNvPr id="5" name="Text 3"/>
          <p:cNvSpPr/>
          <p:nvPr/>
        </p:nvSpPr>
        <p:spPr>
          <a:xfrm>
            <a:off x="457200" y="566928"/>
            <a:ext cx="6400800" cy="59436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Key Takeaways</a:t>
            </a:r>
            <a:endParaRPr lang="en-US" sz="3600" dirty="0"/>
          </a:p>
        </p:txBody>
      </p:sp>
      <p:sp>
        <p:nvSpPr>
          <p:cNvPr id="6" name="Shape 4"/>
          <p:cNvSpPr/>
          <p:nvPr/>
        </p:nvSpPr>
        <p:spPr>
          <a:xfrm>
            <a:off x="457200" y="1298448"/>
            <a:ext cx="8321040" cy="621792"/>
          </a:xfrm>
          <a:prstGeom prst="roundRect">
            <a:avLst>
              <a:gd name="adj" fmla="val 17647"/>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7" name="Text 5"/>
          <p:cNvSpPr/>
          <p:nvPr/>
        </p:nvSpPr>
        <p:spPr>
          <a:xfrm>
            <a:off x="594360" y="1371600"/>
            <a:ext cx="502920" cy="457200"/>
          </a:xfrm>
          <a:prstGeom prst="rect">
            <a:avLst/>
          </a:prstGeom>
          <a:noFill/>
          <a:ln/>
        </p:spPr>
        <p:txBody>
          <a:bodyPr wrap="square" rtlCol="0" anchor="ctr"/>
          <a:lstStyle/>
          <a:p>
            <a:pPr indent="0" marL="0">
              <a:buNone/>
            </a:pPr>
            <a:r>
              <a:rPr lang="en-US" sz="1800" b="1" dirty="0">
                <a:solidFill>
                  <a:srgbClr val="00C8FF"/>
                </a:solidFill>
                <a:latin typeface="Cambria" pitchFamily="34" charset="0"/>
                <a:ea typeface="Cambria" pitchFamily="34" charset="-122"/>
                <a:cs typeface="Cambria" pitchFamily="34" charset="-120"/>
              </a:rPr>
              <a:t>01</a:t>
            </a:r>
            <a:endParaRPr lang="en-US" sz="1800" dirty="0"/>
          </a:p>
        </p:txBody>
      </p:sp>
      <p:sp>
        <p:nvSpPr>
          <p:cNvPr id="8" name="Text 6"/>
          <p:cNvSpPr/>
          <p:nvPr/>
        </p:nvSpPr>
        <p:spPr>
          <a:xfrm>
            <a:off x="1170432" y="1371600"/>
            <a:ext cx="7452360" cy="475488"/>
          </a:xfrm>
          <a:prstGeom prst="rect">
            <a:avLst/>
          </a:prstGeom>
          <a:noFill/>
          <a:ln/>
        </p:spPr>
        <p:txBody>
          <a:bodyPr wrap="square" rtlCol="0" anchor="ctr"/>
          <a:lstStyle/>
          <a:p>
            <a:pPr indent="0" marL="0">
              <a:buNone/>
            </a:pPr>
            <a:r>
              <a:rPr lang="en-US" sz="1100" dirty="0">
                <a:solidFill>
                  <a:srgbClr val="A8B8D8"/>
                </a:solidFill>
                <a:latin typeface="Calibri" pitchFamily="34" charset="0"/>
                <a:ea typeface="Calibri" pitchFamily="34" charset="-122"/>
                <a:cs typeface="Calibri" pitchFamily="34" charset="-120"/>
              </a:rPr>
              <a:t>OISL achieves 10–100× higher data rate than Ka-band RF with smaller apertures — enabled by the λ = 1550 nm coherent beam physics.</a:t>
            </a:r>
            <a:endParaRPr lang="en-US" sz="1100" dirty="0"/>
          </a:p>
        </p:txBody>
      </p:sp>
      <p:sp>
        <p:nvSpPr>
          <p:cNvPr id="9" name="Shape 7"/>
          <p:cNvSpPr/>
          <p:nvPr/>
        </p:nvSpPr>
        <p:spPr>
          <a:xfrm>
            <a:off x="457200" y="2029968"/>
            <a:ext cx="8321040" cy="621792"/>
          </a:xfrm>
          <a:prstGeom prst="roundRect">
            <a:avLst>
              <a:gd name="adj" fmla="val 17647"/>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10" name="Text 8"/>
          <p:cNvSpPr/>
          <p:nvPr/>
        </p:nvSpPr>
        <p:spPr>
          <a:xfrm>
            <a:off x="594360" y="2103120"/>
            <a:ext cx="502920" cy="457200"/>
          </a:xfrm>
          <a:prstGeom prst="rect">
            <a:avLst/>
          </a:prstGeom>
          <a:noFill/>
          <a:ln/>
        </p:spPr>
        <p:txBody>
          <a:bodyPr wrap="square" rtlCol="0" anchor="ctr"/>
          <a:lstStyle/>
          <a:p>
            <a:pPr indent="0" marL="0">
              <a:buNone/>
            </a:pPr>
            <a:r>
              <a:rPr lang="en-US" sz="1800" b="1" dirty="0">
                <a:solidFill>
                  <a:srgbClr val="00E5C0"/>
                </a:solidFill>
                <a:latin typeface="Cambria" pitchFamily="34" charset="0"/>
                <a:ea typeface="Cambria" pitchFamily="34" charset="-122"/>
                <a:cs typeface="Cambria" pitchFamily="34" charset="-120"/>
              </a:rPr>
              <a:t>02</a:t>
            </a:r>
            <a:endParaRPr lang="en-US" sz="1800" dirty="0"/>
          </a:p>
        </p:txBody>
      </p:sp>
      <p:sp>
        <p:nvSpPr>
          <p:cNvPr id="11" name="Text 9"/>
          <p:cNvSpPr/>
          <p:nvPr/>
        </p:nvSpPr>
        <p:spPr>
          <a:xfrm>
            <a:off x="1170432" y="2103120"/>
            <a:ext cx="7452360" cy="475488"/>
          </a:xfrm>
          <a:prstGeom prst="rect">
            <a:avLst/>
          </a:prstGeom>
          <a:noFill/>
          <a:ln/>
        </p:spPr>
        <p:txBody>
          <a:bodyPr wrap="square" rtlCol="0" anchor="ctr"/>
          <a:lstStyle/>
          <a:p>
            <a:pPr indent="0" marL="0">
              <a:buNone/>
            </a:pPr>
            <a:r>
              <a:rPr lang="en-US" sz="1100" dirty="0">
                <a:solidFill>
                  <a:srgbClr val="A8B8D8"/>
                </a:solidFill>
                <a:latin typeface="Calibri" pitchFamily="34" charset="0"/>
                <a:ea typeface="Calibri" pitchFamily="34" charset="-122"/>
                <a:cs typeface="Calibri" pitchFamily="34" charset="-120"/>
              </a:rPr>
              <a:t>The link budget governs everything: P_rx ∝ D⁴ means aperture is the highest-leverage design variable. Every mm counts in CubeSat form factor.</a:t>
            </a:r>
            <a:endParaRPr lang="en-US" sz="1100" dirty="0"/>
          </a:p>
        </p:txBody>
      </p:sp>
      <p:sp>
        <p:nvSpPr>
          <p:cNvPr id="12" name="Shape 10"/>
          <p:cNvSpPr/>
          <p:nvPr/>
        </p:nvSpPr>
        <p:spPr>
          <a:xfrm>
            <a:off x="457200" y="2761488"/>
            <a:ext cx="8321040" cy="621792"/>
          </a:xfrm>
          <a:prstGeom prst="roundRect">
            <a:avLst>
              <a:gd name="adj" fmla="val 17647"/>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13" name="Text 11"/>
          <p:cNvSpPr/>
          <p:nvPr/>
        </p:nvSpPr>
        <p:spPr>
          <a:xfrm>
            <a:off x="594360" y="2834640"/>
            <a:ext cx="502920" cy="457200"/>
          </a:xfrm>
          <a:prstGeom prst="rect">
            <a:avLst/>
          </a:prstGeom>
          <a:noFill/>
          <a:ln/>
        </p:spPr>
        <p:txBody>
          <a:bodyPr wrap="square" rtlCol="0" anchor="ctr"/>
          <a:lstStyle/>
          <a:p>
            <a:pPr indent="0" marL="0">
              <a:buNone/>
            </a:pPr>
            <a:r>
              <a:rPr lang="en-US" sz="1800" b="1" dirty="0">
                <a:solidFill>
                  <a:srgbClr val="FFD166"/>
                </a:solidFill>
                <a:latin typeface="Cambria" pitchFamily="34" charset="0"/>
                <a:ea typeface="Cambria" pitchFamily="34" charset="-122"/>
                <a:cs typeface="Cambria" pitchFamily="34" charset="-120"/>
              </a:rPr>
              <a:t>03</a:t>
            </a:r>
            <a:endParaRPr lang="en-US" sz="1800" dirty="0"/>
          </a:p>
        </p:txBody>
      </p:sp>
      <p:sp>
        <p:nvSpPr>
          <p:cNvPr id="14" name="Text 12"/>
          <p:cNvSpPr/>
          <p:nvPr/>
        </p:nvSpPr>
        <p:spPr>
          <a:xfrm>
            <a:off x="1170432" y="2834640"/>
            <a:ext cx="7452360" cy="475488"/>
          </a:xfrm>
          <a:prstGeom prst="rect">
            <a:avLst/>
          </a:prstGeom>
          <a:noFill/>
          <a:ln/>
        </p:spPr>
        <p:txBody>
          <a:bodyPr wrap="square" rtlCol="0" anchor="ctr"/>
          <a:lstStyle/>
          <a:p>
            <a:pPr indent="0" marL="0">
              <a:buNone/>
            </a:pPr>
            <a:r>
              <a:rPr lang="en-US" sz="1100" dirty="0">
                <a:solidFill>
                  <a:srgbClr val="A8B8D8"/>
                </a:solidFill>
                <a:latin typeface="Calibri" pitchFamily="34" charset="0"/>
                <a:ea typeface="Calibri" pitchFamily="34" charset="-122"/>
                <a:cs typeface="Calibri" pitchFamily="34" charset="-120"/>
              </a:rPr>
              <a:t>WFE budget builds from λ/50 polished optics through assembly tolerances and thermal deformation to achieve Strehl &gt; 0.8 (S ≈ 0.91 in our design).</a:t>
            </a:r>
            <a:endParaRPr lang="en-US" sz="1100" dirty="0"/>
          </a:p>
        </p:txBody>
      </p:sp>
      <p:sp>
        <p:nvSpPr>
          <p:cNvPr id="15" name="Shape 13"/>
          <p:cNvSpPr/>
          <p:nvPr/>
        </p:nvSpPr>
        <p:spPr>
          <a:xfrm>
            <a:off x="457200" y="3493008"/>
            <a:ext cx="8321040" cy="621792"/>
          </a:xfrm>
          <a:prstGeom prst="roundRect">
            <a:avLst>
              <a:gd name="adj" fmla="val 17647"/>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16" name="Text 14"/>
          <p:cNvSpPr/>
          <p:nvPr/>
        </p:nvSpPr>
        <p:spPr>
          <a:xfrm>
            <a:off x="594360" y="3566160"/>
            <a:ext cx="502920" cy="457200"/>
          </a:xfrm>
          <a:prstGeom prst="rect">
            <a:avLst/>
          </a:prstGeom>
          <a:noFill/>
          <a:ln/>
        </p:spPr>
        <p:txBody>
          <a:bodyPr wrap="square" rtlCol="0" anchor="ctr"/>
          <a:lstStyle/>
          <a:p>
            <a:pPr indent="0" marL="0">
              <a:buNone/>
            </a:pPr>
            <a:r>
              <a:rPr lang="en-US" sz="1800" b="1" dirty="0">
                <a:solidFill>
                  <a:srgbClr val="FF6B6B"/>
                </a:solidFill>
                <a:latin typeface="Cambria" pitchFamily="34" charset="0"/>
                <a:ea typeface="Cambria" pitchFamily="34" charset="-122"/>
                <a:cs typeface="Cambria" pitchFamily="34" charset="-120"/>
              </a:rPr>
              <a:t>04</a:t>
            </a:r>
            <a:endParaRPr lang="en-US" sz="1800" dirty="0"/>
          </a:p>
        </p:txBody>
      </p:sp>
      <p:sp>
        <p:nvSpPr>
          <p:cNvPr id="17" name="Text 15"/>
          <p:cNvSpPr/>
          <p:nvPr/>
        </p:nvSpPr>
        <p:spPr>
          <a:xfrm>
            <a:off x="1170432" y="3566160"/>
            <a:ext cx="7452360" cy="475488"/>
          </a:xfrm>
          <a:prstGeom prst="rect">
            <a:avLst/>
          </a:prstGeom>
          <a:noFill/>
          <a:ln/>
        </p:spPr>
        <p:txBody>
          <a:bodyPr wrap="square" rtlCol="0" anchor="ctr"/>
          <a:lstStyle/>
          <a:p>
            <a:pPr indent="0" marL="0">
              <a:buNone/>
            </a:pPr>
            <a:r>
              <a:rPr lang="en-US" sz="1100" dirty="0">
                <a:solidFill>
                  <a:srgbClr val="A8B8D8"/>
                </a:solidFill>
                <a:latin typeface="Calibri" pitchFamily="34" charset="0"/>
                <a:ea typeface="Calibri" pitchFamily="34" charset="-122"/>
                <a:cs typeface="Calibri" pitchFamily="34" charset="-120"/>
              </a:rPr>
              <a:t>The FSM tracking loop (PID + notch filters, &gt; 500 Hz bandwidth, Kalman estimator) is the critical control subsystem — PAT is the dominant engineering challenge.</a:t>
            </a:r>
            <a:endParaRPr lang="en-US" sz="1100" dirty="0"/>
          </a:p>
        </p:txBody>
      </p:sp>
      <p:sp>
        <p:nvSpPr>
          <p:cNvPr id="18" name="Shape 16"/>
          <p:cNvSpPr/>
          <p:nvPr/>
        </p:nvSpPr>
        <p:spPr>
          <a:xfrm>
            <a:off x="457200" y="4224528"/>
            <a:ext cx="8321040" cy="621792"/>
          </a:xfrm>
          <a:prstGeom prst="roundRect">
            <a:avLst>
              <a:gd name="adj" fmla="val 17647"/>
            </a:avLst>
          </a:prstGeom>
          <a:solidFill>
            <a:srgbClr val="111D45"/>
          </a:solidFill>
          <a:ln w="3810">
            <a:solidFill>
              <a:srgbClr val="FFFFFF">
                <a:alpha val="12000"/>
              </a:srgbClr>
            </a:solidFill>
            <a:prstDash val="solid"/>
          </a:ln>
          <a:effectLst>
            <a:outerShdw sx="100000" sy="100000" kx="0" ky="0" algn="bl" rotWithShape="0" blurRad="101600" dist="38100" dir="2700000">
              <a:srgbClr val="000000">
                <a:alpha val="20000"/>
              </a:srgbClr>
            </a:outerShdw>
          </a:effectLst>
        </p:spPr>
      </p:sp>
      <p:sp>
        <p:nvSpPr>
          <p:cNvPr id="19" name="Text 17"/>
          <p:cNvSpPr/>
          <p:nvPr/>
        </p:nvSpPr>
        <p:spPr>
          <a:xfrm>
            <a:off x="594360" y="4297680"/>
            <a:ext cx="502920" cy="457200"/>
          </a:xfrm>
          <a:prstGeom prst="rect">
            <a:avLst/>
          </a:prstGeom>
          <a:noFill/>
          <a:ln/>
        </p:spPr>
        <p:txBody>
          <a:bodyPr wrap="square" rtlCol="0" anchor="ctr"/>
          <a:lstStyle/>
          <a:p>
            <a:pPr indent="0" marL="0">
              <a:buNone/>
            </a:pPr>
            <a:r>
              <a:rPr lang="en-US" sz="1800" b="1" dirty="0">
                <a:solidFill>
                  <a:srgbClr val="7B5EF8"/>
                </a:solidFill>
                <a:latin typeface="Cambria" pitchFamily="34" charset="0"/>
                <a:ea typeface="Cambria" pitchFamily="34" charset="-122"/>
                <a:cs typeface="Cambria" pitchFamily="34" charset="-120"/>
              </a:rPr>
              <a:t>05</a:t>
            </a:r>
            <a:endParaRPr lang="en-US" sz="1800" dirty="0"/>
          </a:p>
        </p:txBody>
      </p:sp>
      <p:sp>
        <p:nvSpPr>
          <p:cNvPr id="20" name="Text 18"/>
          <p:cNvSpPr/>
          <p:nvPr/>
        </p:nvSpPr>
        <p:spPr>
          <a:xfrm>
            <a:off x="1170432" y="4297680"/>
            <a:ext cx="7452360" cy="475488"/>
          </a:xfrm>
          <a:prstGeom prst="rect">
            <a:avLst/>
          </a:prstGeom>
          <a:noFill/>
          <a:ln/>
        </p:spPr>
        <p:txBody>
          <a:bodyPr wrap="square" rtlCol="0" anchor="ctr"/>
          <a:lstStyle/>
          <a:p>
            <a:pPr indent="0" marL="0">
              <a:buNone/>
            </a:pPr>
            <a:r>
              <a:rPr lang="en-US" sz="1100" dirty="0">
                <a:solidFill>
                  <a:srgbClr val="A8B8D8"/>
                </a:solidFill>
                <a:latin typeface="Calibri" pitchFamily="34" charset="0"/>
                <a:ea typeface="Calibri" pitchFamily="34" charset="-122"/>
                <a:cs typeface="Calibri" pitchFamily="34" charset="-120"/>
              </a:rPr>
              <a:t>CubeSat-scale OISL (&lt; 50 mm aperture, &lt; 1W TX, 1U volume) enables Gbps+ links at &lt; 800 km — feasible today. Frontier work: MEMS FSM, PIC transceivers.</a:t>
            </a:r>
            <a:endParaRPr lang="en-US" sz="1100" dirty="0"/>
          </a:p>
        </p:txBody>
      </p:sp>
      <p:sp>
        <p:nvSpPr>
          <p:cNvPr id="21" name="Text 19"/>
          <p:cNvSpPr/>
          <p:nvPr/>
        </p:nvSpPr>
        <p:spPr>
          <a:xfrm>
            <a:off x="457200" y="4892040"/>
            <a:ext cx="8321040" cy="228600"/>
          </a:xfrm>
          <a:prstGeom prst="rect">
            <a:avLst/>
          </a:prstGeom>
          <a:noFill/>
          <a:ln/>
        </p:spPr>
        <p:txBody>
          <a:bodyPr wrap="square" rtlCol="0" anchor="ctr"/>
          <a:lstStyle/>
          <a:p>
            <a:pPr algn="ctr" indent="0" marL="0">
              <a:buNone/>
            </a:pPr>
            <a:r>
              <a:rPr lang="en-US" sz="1000" i="1" dirty="0">
                <a:solidFill>
                  <a:srgbClr val="A8B8D8"/>
                </a:solidFill>
                <a:latin typeface="Calibri" pitchFamily="34" charset="0"/>
                <a:ea typeface="Calibri" pitchFamily="34" charset="-122"/>
                <a:cs typeface="Calibri" pitchFamily="34" charset="-120"/>
              </a:rPr>
              <a:t>KAIST  ·  Dept. of Aerospace Engineering  ·  PhD Research Seminar  ·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Inter-Satellite Laser Communication: Optical Component Design</dc:title>
  <dc:subject>PptxGenJS Presentation</dc:subject>
  <dc:creator>Dina | KAIST Aerospace Engineering</dc:creator>
  <cp:lastModifiedBy>Dina | KAIST Aerospace Engineering</cp:lastModifiedBy>
  <cp:revision>1</cp:revision>
  <dcterms:created xsi:type="dcterms:W3CDTF">2026-06-10T11:21:19Z</dcterms:created>
  <dcterms:modified xsi:type="dcterms:W3CDTF">2026-06-10T11:21:19Z</dcterms:modified>
</cp:coreProperties>
</file>