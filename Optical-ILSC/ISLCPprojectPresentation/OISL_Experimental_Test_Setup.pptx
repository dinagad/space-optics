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deck covers the complete experimental test setup for verifying OISL optical components, from hardware bench equipment through signal chain to the software analysis stack. Matches the component-level design topics from the previous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Testing follows a V-model hierarchy: component → subsystem → system → environmental. Each level has specific instruments, setups, and pass/fail criteria linked back to the link budget and WFE budget from the design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optical table is the single most important piece of infrastructure — without sub-Hz vibration isolation you cannot achieve μrad-level alignment stability. The Shack-Hartmann WFS is the real-time WFE monitor; the Fizeau gives higher-accuracy static measurements.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TLS replaces the DFB during characterization to allow wavelength scanning and known linewidth testing. The OSA is essential for verifying OSNR — the EDFA adds amplified spontaneous emission (ASE) noise that must be within the link budget.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BER waterfall curve is the key receiver figure of merit. The sensitivity at BER=10E-12 is compared against the link budget's receiver sensitivity requirement. Eye diagram closure (Q-factor) reveals if degradation is from noise or inter-symbol interference.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jitter emulator is critical — it injects realistic reaction wheel spectral content so the PAT loop can be tuned against real disturbance signatures. The cRIO runs the deterministic control loop; non-deterministic tasks (logging, UI) run on a separate host PC.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PXI backplane is the backbone — all instruments share a common 10 MHz reference and trigger bus so every capture is time-correlated. The FPGA closes the control loop deterministically; the host PC does logging and analysis asynchronously.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layered architecture is critical for maintainability. Layer 1-2 are hardware-specific and rarely change. Layer 3-4 contain the test logic. Layer 5 is purely post-processing. Different engineers can work on different layers without stepping on each other.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velocity-form PID is critical to prevent integrator windup — if the FSM saturates at its travel limit, a standard PID would wind up the integrator and cause a step response on recovery. Velocity form automatically handles this.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Gardner TED clock recovery is a standard telecom algorithm that works well for DPSK and OOK but needs extension for QPSK. The Viterbi-Viterbi phase estimator requires the laser linewidth × symbol period product to be &lt; 10E-3 — this is why we specified &lt; 100 kHz linewidth.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the centerpiece — the complete integrated chain. Emphasize the three horizontal layers: TX chain (gold), RX chain (cyan), and PAT loop (teal), all operating simultaneously during an end-to-end link test. The fiber delay line emulates the free-space range.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three procedures — WFE/Strehl, FSM loop closure, and BER waterfall — are the three most critical measurements that directly verify the design against the link budget and WFE budget requirements. Everything else is supporting characterization.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TVAC and vibration testing are often the most schedule-critical part of a space hardware campaign. Plan for 6–8 weeks for a full qualification campaign. The in-situ WFE measurement through the viewport is the key differentiator — most programs only do before/after, but continuous monitoring catches transient misalignment events.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HDF5 is the ideal format for large test datasets because it supports hierarchical data, metadata, and partial reads — you don't need to load 200 GB into RAM to extract one channel. The Grafana real-time dashboard pays dividends during long thermal cycling tests where you need to catch anomalies immediately.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checklist maps directly to the six hardware/software categories covered in the deck. Use this as the procurement and lab readiness checklist. Each item should be confirmed calibrated and within its calibration interval before a test campaign begins.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image" Target="../media/image-11-11.png"/><Relationship Id="rId12" Type="http://schemas.openxmlformats.org/officeDocument/2006/relationships/image" Target="../media/image-11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731520"/>
            <a:ext cx="5486400" cy="5486400"/>
          </a:xfrm>
          <a:prstGeom prst="ellipse">
            <a:avLst/>
          </a:prstGeom>
          <a:solidFill>
            <a:srgbClr val="7B5EF8">
              <a:alpha val="14000"/>
            </a:srgbClr>
          </a:solidFill>
          <a:ln w="6350">
            <a:solidFill>
              <a:srgbClr val="7B5EF8">
                <a:alpha val="19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2926080"/>
            <a:ext cx="3657600" cy="3657600"/>
          </a:xfrm>
          <a:prstGeom prst="ellipse">
            <a:avLst/>
          </a:prstGeom>
          <a:solidFill>
            <a:srgbClr val="00C8FF">
              <a:alpha val="10000"/>
            </a:srgbClr>
          </a:solidFill>
          <a:ln w="6350">
            <a:solidFill>
              <a:srgbClr val="00C8FF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3474720"/>
            <a:ext cx="2286000" cy="2286000"/>
          </a:xfrm>
          <a:prstGeom prst="ellipse">
            <a:avLst/>
          </a:prstGeom>
          <a:solidFill>
            <a:srgbClr val="00E5C0">
              <a:alpha val="12000"/>
            </a:srgbClr>
          </a:solidFill>
          <a:ln w="6350">
            <a:solidFill>
              <a:srgbClr val="00E5C0">
                <a:alpha val="1700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0" y="457200"/>
            <a:ext cx="1097280" cy="10972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566928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OISL — Experimental Test Setup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457200" y="137160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E5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 &amp; Software Chain Design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457200" y="2084832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Inter-Satellite Laser Communication · Optical Component Verification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7200" y="2606040"/>
            <a:ext cx="3657600" cy="27432"/>
          </a:xfrm>
          <a:prstGeom prst="rect">
            <a:avLst/>
          </a:prstGeom>
          <a:solidFill>
            <a:srgbClr val="00E5C0"/>
          </a:solidFill>
          <a:ln w="12700">
            <a:solidFill>
              <a:srgbClr val="00E5C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2743200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Dina  |  </a:t>
            </a:r>
            <a:pPr indent="0" marL="0">
              <a:buNone/>
            </a:pPr>
            <a:r>
              <a:rPr lang="en-US" sz="120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KAIST – Aerospace Engineering  |  </a:t>
            </a:r>
            <a:pPr indent="0" marL="0">
              <a:buNone/>
            </a:pPr>
            <a:r>
              <a:rPr lang="en-US" sz="120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 Research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4069080"/>
            <a:ext cx="1572768" cy="347472"/>
          </a:xfrm>
          <a:prstGeom prst="roundRect">
            <a:avLst>
              <a:gd name="adj" fmla="val 18421"/>
            </a:avLst>
          </a:prstGeom>
          <a:solidFill>
            <a:srgbClr val="FF6B6B">
              <a:alpha val="20000"/>
            </a:srgbClr>
          </a:solidFill>
          <a:ln w="6350">
            <a:solidFill>
              <a:srgbClr val="FF6B6B">
                <a:alpha val="6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406908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6B6B"/>
                </a:solidFill>
              </a:rPr>
              <a:t>Optical Bench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2194560" y="4069080"/>
            <a:ext cx="1572768" cy="347472"/>
          </a:xfrm>
          <a:prstGeom prst="roundRect">
            <a:avLst>
              <a:gd name="adj" fmla="val 18421"/>
            </a:avLst>
          </a:prstGeom>
          <a:solidFill>
            <a:srgbClr val="FFD166">
              <a:alpha val="20000"/>
            </a:srgbClr>
          </a:solidFill>
          <a:ln w="6350">
            <a:solidFill>
              <a:srgbClr val="FFD166">
                <a:alpha val="6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194560" y="406908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D166"/>
                </a:solidFill>
              </a:rPr>
              <a:t>RF &amp; Elec. Instruments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3931920" y="4069080"/>
            <a:ext cx="1572768" cy="347472"/>
          </a:xfrm>
          <a:prstGeom prst="roundRect">
            <a:avLst>
              <a:gd name="adj" fmla="val 18421"/>
            </a:avLst>
          </a:prstGeom>
          <a:solidFill>
            <a:srgbClr val="FFD166">
              <a:alpha val="20000"/>
            </a:srgbClr>
          </a:solidFill>
          <a:ln w="6350">
            <a:solidFill>
              <a:srgbClr val="FFD166">
                <a:alpha val="60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931920" y="406908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D166"/>
                </a:solidFill>
              </a:rPr>
              <a:t>Signal Chain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669280" y="4069080"/>
            <a:ext cx="1572768" cy="347472"/>
          </a:xfrm>
          <a:prstGeom prst="roundRect">
            <a:avLst>
              <a:gd name="adj" fmla="val 18421"/>
            </a:avLst>
          </a:prstGeom>
          <a:solidFill>
            <a:srgbClr val="00E5C0">
              <a:alpha val="20000"/>
            </a:srgbClr>
          </a:solidFill>
          <a:ln w="6350">
            <a:solidFill>
              <a:srgbClr val="00E5C0">
                <a:alpha val="60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669280" y="406908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E5C0"/>
                </a:solidFill>
              </a:rPr>
              <a:t>DAQ &amp; FPGA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7406640" y="4069080"/>
            <a:ext cx="1572768" cy="347472"/>
          </a:xfrm>
          <a:prstGeom prst="roundRect">
            <a:avLst>
              <a:gd name="adj" fmla="val 18421"/>
            </a:avLst>
          </a:prstGeom>
          <a:solidFill>
            <a:srgbClr val="00C8FF">
              <a:alpha val="20000"/>
            </a:srgbClr>
          </a:solidFill>
          <a:ln w="6350">
            <a:solidFill>
              <a:srgbClr val="00C8FF">
                <a:alpha val="60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406640" y="406908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C8FF"/>
                </a:solidFill>
              </a:rPr>
              <a:t>Software Stack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457200"/>
            <a:ext cx="3657600" cy="3657600"/>
          </a:xfrm>
          <a:prstGeom prst="ellipse">
            <a:avLst/>
          </a:prstGeom>
          <a:solidFill>
            <a:srgbClr val="7B5EF8">
              <a:alpha val="10000"/>
            </a:srgbClr>
          </a:solidFill>
          <a:ln w="6350">
            <a:solidFill>
              <a:srgbClr val="7B5EF8">
                <a:alpha val="1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B5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PHILOSOPHY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Experimental Strategy &amp; Test Hierarchy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1993392" cy="1298448"/>
          </a:xfrm>
          <a:prstGeom prst="roundRect">
            <a:avLst>
              <a:gd name="adj" fmla="val 8451"/>
            </a:avLst>
          </a:prstGeom>
          <a:solidFill>
            <a:srgbClr val="111D45"/>
          </a:solidFill>
          <a:ln w="381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61872"/>
            <a:ext cx="1993392" cy="384048"/>
          </a:xfrm>
          <a:prstGeom prst="roundRect">
            <a:avLst>
              <a:gd name="adj" fmla="val 28571"/>
            </a:avLst>
          </a:prstGeom>
          <a:solidFill>
            <a:srgbClr val="FF6B6B">
              <a:alpha val="82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61872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F2C"/>
                </a:solidFill>
              </a:rPr>
              <a:t>Component-level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181051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Characterize each optical element individually (laser, FSM, detector, telescope). Isolate variables.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33472" y="1261872"/>
            <a:ext cx="1993392" cy="1298448"/>
          </a:xfrm>
          <a:prstGeom prst="roundRect">
            <a:avLst>
              <a:gd name="adj" fmla="val 8451"/>
            </a:avLst>
          </a:prstGeom>
          <a:solidFill>
            <a:srgbClr val="111D45"/>
          </a:solidFill>
          <a:ln w="381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633472" y="1261872"/>
            <a:ext cx="1993392" cy="384048"/>
          </a:xfrm>
          <a:prstGeom prst="roundRect">
            <a:avLst>
              <a:gd name="adj" fmla="val 28571"/>
            </a:avLst>
          </a:prstGeom>
          <a:solidFill>
            <a:srgbClr val="FFD166">
              <a:alpha val="82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33472" y="1261872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F2C"/>
                </a:solidFill>
              </a:rPr>
              <a:t>Subsystem-level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724912" y="1691640"/>
            <a:ext cx="181051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TX chain, RX chain, and PAT loop independently before integration.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09744" y="1261872"/>
            <a:ext cx="1993392" cy="1298448"/>
          </a:xfrm>
          <a:prstGeom prst="roundRect">
            <a:avLst>
              <a:gd name="adj" fmla="val 8451"/>
            </a:avLst>
          </a:prstGeom>
          <a:solidFill>
            <a:srgbClr val="111D45"/>
          </a:solidFill>
          <a:ln w="381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09744" y="1261872"/>
            <a:ext cx="1993392" cy="384048"/>
          </a:xfrm>
          <a:prstGeom prst="roundRect">
            <a:avLst>
              <a:gd name="adj" fmla="val 28571"/>
            </a:avLst>
          </a:prstGeom>
          <a:solidFill>
            <a:srgbClr val="00E5C0">
              <a:alpha val="82000"/>
            </a:srgbClr>
          </a:solidFill>
          <a:ln w="12700">
            <a:solidFill>
              <a:srgbClr val="00E5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9744" y="1261872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F2C"/>
                </a:solidFill>
              </a:rPr>
              <a:t>System-level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01184" y="1691640"/>
            <a:ext cx="181051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link test with range-equivalent path loss. Full PAT acquisition and data transmission.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986016" y="1261872"/>
            <a:ext cx="1993392" cy="1298448"/>
          </a:xfrm>
          <a:prstGeom prst="roundRect">
            <a:avLst>
              <a:gd name="adj" fmla="val 8451"/>
            </a:avLst>
          </a:prstGeom>
          <a:solidFill>
            <a:srgbClr val="111D45"/>
          </a:solidFill>
          <a:ln w="381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986016" y="1261872"/>
            <a:ext cx="1993392" cy="384048"/>
          </a:xfrm>
          <a:prstGeom prst="roundRect">
            <a:avLst>
              <a:gd name="adj" fmla="val 28571"/>
            </a:avLst>
          </a:prstGeom>
          <a:solidFill>
            <a:srgbClr val="7B5EF8">
              <a:alpha val="82000"/>
            </a:srgbClr>
          </a:solidFill>
          <a:ln w="12700">
            <a:solidFill>
              <a:srgbClr val="7B5E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86016" y="1261872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F2C"/>
                </a:solidFill>
              </a:rPr>
              <a:t>Environmental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077456" y="1691640"/>
            <a:ext cx="181051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vacuum, vibration, and radiation qualification per ECSS / NASA standards.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2697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Test Chain Flow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84048" y="3035808"/>
            <a:ext cx="1298448" cy="914400"/>
          </a:xfrm>
          <a:prstGeom prst="roundRect">
            <a:avLst>
              <a:gd name="adj" fmla="val 12000"/>
            </a:avLst>
          </a:prstGeom>
          <a:solidFill>
            <a:srgbClr val="152050"/>
          </a:solidFill>
          <a:ln w="381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29768" y="3090672"/>
            <a:ext cx="120700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050" dirty="0"/>
          </a:p>
        </p:txBody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0784" y="3429000"/>
            <a:ext cx="128016" cy="128016"/>
          </a:xfrm>
          <a:prstGeom prst="rect">
            <a:avLst/>
          </a:prstGeom>
        </p:spPr>
      </p:pic>
      <p:sp>
        <p:nvSpPr>
          <p:cNvPr id="25" name="Shape 22"/>
          <p:cNvSpPr/>
          <p:nvPr/>
        </p:nvSpPr>
        <p:spPr>
          <a:xfrm>
            <a:off x="1847088" y="3035808"/>
            <a:ext cx="1298448" cy="914400"/>
          </a:xfrm>
          <a:prstGeom prst="roundRect">
            <a:avLst>
              <a:gd name="adj" fmla="val 12000"/>
            </a:avLst>
          </a:prstGeom>
          <a:solidFill>
            <a:srgbClr val="152050"/>
          </a:solidFill>
          <a:ln w="381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1892808" y="3090672"/>
            <a:ext cx="120700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Stimulus</a:t>
            </a:r>
            <a:endParaRPr lang="en-US" sz="1050" dirty="0"/>
          </a:p>
        </p:txBody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3824" y="3429000"/>
            <a:ext cx="128016" cy="128016"/>
          </a:xfrm>
          <a:prstGeom prst="rect">
            <a:avLst/>
          </a:prstGeom>
        </p:spPr>
      </p:pic>
      <p:sp>
        <p:nvSpPr>
          <p:cNvPr id="28" name="Shape 24"/>
          <p:cNvSpPr/>
          <p:nvPr/>
        </p:nvSpPr>
        <p:spPr>
          <a:xfrm>
            <a:off x="3310128" y="3035808"/>
            <a:ext cx="1298448" cy="914400"/>
          </a:xfrm>
          <a:prstGeom prst="roundRect">
            <a:avLst>
              <a:gd name="adj" fmla="val 12000"/>
            </a:avLst>
          </a:prstGeom>
          <a:solidFill>
            <a:srgbClr val="152050"/>
          </a:solidFill>
          <a:ln w="381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29" name="Text 25"/>
          <p:cNvSpPr/>
          <p:nvPr/>
        </p:nvSpPr>
        <p:spPr>
          <a:xfrm>
            <a:off x="3355848" y="3090672"/>
            <a:ext cx="120700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E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Optical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0E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</a:t>
            </a:r>
            <a:endParaRPr lang="en-US" sz="1050" dirty="0"/>
          </a:p>
        </p:txBody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6864" y="3429000"/>
            <a:ext cx="128016" cy="128016"/>
          </a:xfrm>
          <a:prstGeom prst="rect">
            <a:avLst/>
          </a:prstGeom>
        </p:spPr>
      </p:pic>
      <p:sp>
        <p:nvSpPr>
          <p:cNvPr id="31" name="Shape 26"/>
          <p:cNvSpPr/>
          <p:nvPr/>
        </p:nvSpPr>
        <p:spPr>
          <a:xfrm>
            <a:off x="4773168" y="3035808"/>
            <a:ext cx="1298448" cy="914400"/>
          </a:xfrm>
          <a:prstGeom prst="roundRect">
            <a:avLst>
              <a:gd name="adj" fmla="val 12000"/>
            </a:avLst>
          </a:prstGeom>
          <a:solidFill>
            <a:srgbClr val="152050"/>
          </a:solidFill>
          <a:ln w="381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32" name="Text 27"/>
          <p:cNvSpPr/>
          <p:nvPr/>
        </p:nvSpPr>
        <p:spPr>
          <a:xfrm>
            <a:off x="4818888" y="3090672"/>
            <a:ext cx="120700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E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0E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DAQ</a:t>
            </a:r>
            <a:endParaRPr lang="en-US" sz="1050" dirty="0"/>
          </a:p>
        </p:txBody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9904" y="3429000"/>
            <a:ext cx="128016" cy="128016"/>
          </a:xfrm>
          <a:prstGeom prst="rect">
            <a:avLst/>
          </a:prstGeom>
        </p:spPr>
      </p:pic>
      <p:sp>
        <p:nvSpPr>
          <p:cNvPr id="34" name="Shape 28"/>
          <p:cNvSpPr/>
          <p:nvPr/>
        </p:nvSpPr>
        <p:spPr>
          <a:xfrm>
            <a:off x="6236208" y="3035808"/>
            <a:ext cx="1298448" cy="914400"/>
          </a:xfrm>
          <a:prstGeom prst="roundRect">
            <a:avLst>
              <a:gd name="adj" fmla="val 12000"/>
            </a:avLst>
          </a:prstGeom>
          <a:solidFill>
            <a:srgbClr val="152050"/>
          </a:solidFill>
          <a:ln w="381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35" name="Text 29"/>
          <p:cNvSpPr/>
          <p:nvPr/>
        </p:nvSpPr>
        <p:spPr>
          <a:xfrm>
            <a:off x="6281928" y="3090672"/>
            <a:ext cx="120700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050" dirty="0"/>
          </a:p>
        </p:txBody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52944" y="3429000"/>
            <a:ext cx="128016" cy="128016"/>
          </a:xfrm>
          <a:prstGeom prst="rect">
            <a:avLst/>
          </a:prstGeom>
        </p:spPr>
      </p:pic>
      <p:sp>
        <p:nvSpPr>
          <p:cNvPr id="37" name="Shape 30"/>
          <p:cNvSpPr/>
          <p:nvPr/>
        </p:nvSpPr>
        <p:spPr>
          <a:xfrm>
            <a:off x="7699248" y="3035808"/>
            <a:ext cx="1298448" cy="914400"/>
          </a:xfrm>
          <a:prstGeom prst="roundRect">
            <a:avLst>
              <a:gd name="adj" fmla="val 12000"/>
            </a:avLst>
          </a:prstGeom>
          <a:solidFill>
            <a:srgbClr val="152050"/>
          </a:solidFill>
          <a:ln w="381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38" name="Text 31"/>
          <p:cNvSpPr/>
          <p:nvPr/>
        </p:nvSpPr>
        <p:spPr>
          <a:xfrm>
            <a:off x="7744968" y="3090672"/>
            <a:ext cx="120700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B5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Pass/Fail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7B5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1050" dirty="0"/>
          </a:p>
        </p:txBody>
      </p:sp>
      <p:sp>
        <p:nvSpPr>
          <p:cNvPr id="39" name="Shape 32"/>
          <p:cNvSpPr/>
          <p:nvPr/>
        </p:nvSpPr>
        <p:spPr>
          <a:xfrm>
            <a:off x="457200" y="4315968"/>
            <a:ext cx="128016" cy="128016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40" name="Text 33"/>
          <p:cNvSpPr/>
          <p:nvPr/>
        </p:nvSpPr>
        <p:spPr>
          <a:xfrm>
            <a:off x="640080" y="4279392"/>
            <a:ext cx="1508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/ DUT</a:t>
            </a:r>
            <a:endParaRPr lang="en-US" sz="950" dirty="0"/>
          </a:p>
        </p:txBody>
      </p:sp>
      <p:sp>
        <p:nvSpPr>
          <p:cNvPr id="41" name="Shape 34"/>
          <p:cNvSpPr/>
          <p:nvPr/>
        </p:nvSpPr>
        <p:spPr>
          <a:xfrm>
            <a:off x="2194560" y="4315968"/>
            <a:ext cx="128016" cy="128016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2" name="Text 35"/>
          <p:cNvSpPr/>
          <p:nvPr/>
        </p:nvSpPr>
        <p:spPr>
          <a:xfrm>
            <a:off x="2377440" y="4279392"/>
            <a:ext cx="1508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&amp; Elec. Instruments</a:t>
            </a:r>
            <a:endParaRPr lang="en-US" sz="950" dirty="0"/>
          </a:p>
        </p:txBody>
      </p:sp>
      <p:sp>
        <p:nvSpPr>
          <p:cNvPr id="43" name="Shape 36"/>
          <p:cNvSpPr/>
          <p:nvPr/>
        </p:nvSpPr>
        <p:spPr>
          <a:xfrm>
            <a:off x="3931920" y="4315968"/>
            <a:ext cx="128016" cy="128016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4" name="Text 37"/>
          <p:cNvSpPr/>
          <p:nvPr/>
        </p:nvSpPr>
        <p:spPr>
          <a:xfrm>
            <a:off x="4114800" y="4279392"/>
            <a:ext cx="1508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Optical path elements</a:t>
            </a:r>
            <a:endParaRPr lang="en-US" sz="950" dirty="0"/>
          </a:p>
        </p:txBody>
      </p:sp>
      <p:sp>
        <p:nvSpPr>
          <p:cNvPr id="45" name="Shape 38"/>
          <p:cNvSpPr/>
          <p:nvPr/>
        </p:nvSpPr>
        <p:spPr>
          <a:xfrm>
            <a:off x="5669280" y="4315968"/>
            <a:ext cx="128016" cy="128016"/>
          </a:xfrm>
          <a:prstGeom prst="ellipse">
            <a:avLst/>
          </a:prstGeom>
          <a:solidFill>
            <a:srgbClr val="00E5C0"/>
          </a:solidFill>
          <a:ln w="12700">
            <a:solidFill>
              <a:srgbClr val="00E5C0"/>
            </a:solidFill>
            <a:prstDash val="solid"/>
          </a:ln>
        </p:spPr>
      </p:sp>
      <p:sp>
        <p:nvSpPr>
          <p:cNvPr id="46" name="Text 39"/>
          <p:cNvSpPr/>
          <p:nvPr/>
        </p:nvSpPr>
        <p:spPr>
          <a:xfrm>
            <a:off x="5852160" y="4279392"/>
            <a:ext cx="1508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E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DAQ / FPGA / digitizer</a:t>
            </a:r>
            <a:endParaRPr lang="en-US" sz="950" dirty="0"/>
          </a:p>
        </p:txBody>
      </p:sp>
      <p:sp>
        <p:nvSpPr>
          <p:cNvPr id="47" name="Shape 40"/>
          <p:cNvSpPr/>
          <p:nvPr/>
        </p:nvSpPr>
        <p:spPr>
          <a:xfrm>
            <a:off x="7406640" y="4315968"/>
            <a:ext cx="128016" cy="128016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48" name="Text 41"/>
          <p:cNvSpPr/>
          <p:nvPr/>
        </p:nvSpPr>
        <p:spPr>
          <a:xfrm>
            <a:off x="7589520" y="4279392"/>
            <a:ext cx="1508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stack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3200400"/>
            <a:ext cx="3200400" cy="3200400"/>
          </a:xfrm>
          <a:prstGeom prst="ellipse">
            <a:avLst/>
          </a:prstGeom>
          <a:solidFill>
            <a:srgbClr val="FF6B6B">
              <a:alpha val="10000"/>
            </a:srgbClr>
          </a:solidFill>
          <a:ln w="6350">
            <a:solidFill>
              <a:srgbClr val="FF6B6B">
                <a:alpha val="1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— OPTICAL BENCH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Optical Bench &amp; Beam Path Equipment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38912" y="1261872"/>
            <a:ext cx="4572000" cy="566928"/>
          </a:xfrm>
          <a:prstGeom prst="roundRect">
            <a:avLst>
              <a:gd name="adj" fmla="val 12903"/>
            </a:avLst>
          </a:prstGeom>
          <a:solidFill>
            <a:srgbClr val="111D45"/>
          </a:solidFill>
          <a:ln w="5080">
            <a:solidFill>
              <a:srgbClr val="FF6B6B">
                <a:alpha val="5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490472"/>
            <a:ext cx="109728" cy="109728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316736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table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49808" y="153619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Newport RS2000 / TMC optical table, 4′×8′, active pneumatic isolation. Cuts &gt; 10 Hz floor vibration. Essential for μrad-level alignment.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38912" y="1901952"/>
            <a:ext cx="4572000" cy="566928"/>
          </a:xfrm>
          <a:prstGeom prst="roundRect">
            <a:avLst>
              <a:gd name="adj" fmla="val 12903"/>
            </a:avLst>
          </a:prstGeom>
          <a:solidFill>
            <a:srgbClr val="111D45"/>
          </a:solidFill>
          <a:ln w="5080">
            <a:solidFill>
              <a:srgbClr val="FF6B6B">
                <a:alpha val="5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928" y="2130552"/>
            <a:ext cx="109728" cy="109728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1956816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mounts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49808" y="217627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6-DOF kinematic mounts (Thorlabs Polaris, Newport 562), sub-μrad tip-tilt, 50 nm positional resolution. Holds telescope, FSM, detector.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38912" y="2542032"/>
            <a:ext cx="4572000" cy="566928"/>
          </a:xfrm>
          <a:prstGeom prst="roundRect">
            <a:avLst>
              <a:gd name="adj" fmla="val 12903"/>
            </a:avLst>
          </a:prstGeom>
          <a:solidFill>
            <a:srgbClr val="111D45"/>
          </a:solidFill>
          <a:ln w="5080">
            <a:solidFill>
              <a:srgbClr val="FF6B6B">
                <a:alpha val="5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6928" y="2770632"/>
            <a:ext cx="109728" cy="109728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2596896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Beam steering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49808" y="281635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2-axis piezo mirror mount (Physik Instrumente S-330 or Newport AG-M100N). Emulates satellite jitter. Drive: ±1 mrad, 1 kHz BW.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38912" y="3182112"/>
            <a:ext cx="4572000" cy="566928"/>
          </a:xfrm>
          <a:prstGeom prst="roundRect">
            <a:avLst>
              <a:gd name="adj" fmla="val 12903"/>
            </a:avLst>
          </a:prstGeom>
          <a:solidFill>
            <a:srgbClr val="111D45"/>
          </a:solidFill>
          <a:ln w="5080">
            <a:solidFill>
              <a:srgbClr val="FF6B6B">
                <a:alpha val="5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6928" y="3410712"/>
            <a:ext cx="109728" cy="109728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3236976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Beam expander / collimator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49808" y="345643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Galilean expander (Thorlabs BE10M or custom). Verified with Shack-Hartmann WFS. Expansion ratio 5–20× depending on DUT aperture.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38912" y="3822192"/>
            <a:ext cx="4572000" cy="566928"/>
          </a:xfrm>
          <a:prstGeom prst="roundRect">
            <a:avLst>
              <a:gd name="adj" fmla="val 12903"/>
            </a:avLst>
          </a:prstGeom>
          <a:solidFill>
            <a:srgbClr val="111D45"/>
          </a:solidFill>
          <a:ln w="5080">
            <a:solidFill>
              <a:srgbClr val="FF6B6B">
                <a:alpha val="5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6928" y="4050792"/>
            <a:ext cx="109728" cy="109728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9808" y="3877056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Polarization optics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49808" y="409651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PBS cube + λ/2 + λ/4 waveplates (Thorlabs WPQ / WPH achromatic). Set and monitor polarization state. Critical for MZM input.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38912" y="4462272"/>
            <a:ext cx="4572000" cy="566928"/>
          </a:xfrm>
          <a:prstGeom prst="roundRect">
            <a:avLst>
              <a:gd name="adj" fmla="val 12903"/>
            </a:avLst>
          </a:prstGeom>
          <a:solidFill>
            <a:srgbClr val="111D45"/>
          </a:solidFill>
          <a:ln w="5080">
            <a:solidFill>
              <a:srgbClr val="FF6B6B">
                <a:alpha val="5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66928" y="4690872"/>
            <a:ext cx="109728" cy="109728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9808" y="4517136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 density filters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49808" y="473659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ND filter set (OD 0.3–6.0) for attenuating transmit power to safe detector level. Also simulates link path loss.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257800" y="1261872"/>
            <a:ext cx="3520440" cy="3858768"/>
          </a:xfrm>
          <a:prstGeom prst="roundRect">
            <a:avLst>
              <a:gd name="adj" fmla="val 3117"/>
            </a:avLst>
          </a:prstGeom>
          <a:solidFill>
            <a:srgbClr val="152050"/>
          </a:solidFill>
          <a:ln w="381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394960" y="1353312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Specialty Optical Elements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394960" y="1737360"/>
            <a:ext cx="3246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B5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Fizeau interferometer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394960" y="1975104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Zygo GPI or 4D PhaseCam. Measures surface figure of mirrors/lenses in-situ. λ/100 measurement accuracy. Used before + after vibration test.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394960" y="2395728"/>
            <a:ext cx="3246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B5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Shack-Hartmann WFS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394960" y="2633472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Thorlabs WFS300-14AR. 150-lenslet array, 1550 nm. Measures transmitted wavefront error of full beam path. Real-time Zernike modal decomposition.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394960" y="3054096"/>
            <a:ext cx="3246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B5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Beam profiler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394960" y="3291840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Spiricon M2-200 or DataRay WinCamD. Measures beam quality M², 1/e² radius, centroid position. Verify Gaussian profile at aperture exit.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394960" y="3712464"/>
            <a:ext cx="3246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B5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meter + integrating sphere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394960" y="3950208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Thorlabs PM100D + S145C InGaAs head. Calibrated ±3% absolute. Measures η_tx, η_rx, and insertion loss of each element.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394960" y="4370832"/>
            <a:ext cx="3246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E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Delay-line emulator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394960" y="4608576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Fiber spool (SMF-28) of calibrated length to add time-of-flight delay equivalent to target range. Typically 1–10 km fiber = 5–50 μs delay.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457200"/>
            <a:ext cx="3657600" cy="3657600"/>
          </a:xfrm>
          <a:prstGeom prst="ellipse">
            <a:avLst/>
          </a:prstGeom>
          <a:solidFill>
            <a:srgbClr val="FFD166">
              <a:alpha val="10000"/>
            </a:srgbClr>
          </a:solidFill>
          <a:ln w="6350">
            <a:solidFill>
              <a:srgbClr val="FFD166">
                <a:alpha val="1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— TX CHAIN INSTRUMENTS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Laser Source, Modulator &amp; Amplifier Test Equipment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38912" y="1261872"/>
            <a:ext cx="4069080" cy="2514600"/>
          </a:xfrm>
          <a:prstGeom prst="roundRect">
            <a:avLst>
              <a:gd name="adj" fmla="val 4364"/>
            </a:avLst>
          </a:prstGeom>
          <a:solidFill>
            <a:srgbClr val="111D45"/>
          </a:solidFill>
          <a:ln w="381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76072" y="1353312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Tunable Laser Source (TLS)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76072" y="173736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Make/model: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792224" y="1737360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Keysight 81600B or Santec TSL-710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76072" y="2121408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 range: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792224" y="2121408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1480–1640 nm (covers 1550 nm ISL band)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76072" y="2505456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Linewidth: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92224" y="2505456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100 kHz — matches DFB seed spec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76072" y="2889504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power: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792224" y="288950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+13 dBm (20 mW) — seed level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76072" y="3273552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792224" y="3273552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DFB seed for characterization; known linewidth reference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1261872"/>
            <a:ext cx="4069080" cy="2514600"/>
          </a:xfrm>
          <a:prstGeom prst="roundRect">
            <a:avLst>
              <a:gd name="adj" fmla="val 4364"/>
            </a:avLst>
          </a:prstGeom>
          <a:solidFill>
            <a:srgbClr val="111D45"/>
          </a:solidFill>
          <a:ln w="381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00600" y="1353312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Optical Spectrum Analyzer (OSA)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00600" y="173736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Make/model: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016752" y="1737360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Yokogawa AQ6370D or ANDO AQ6317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00600" y="2121408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Wavelength range: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016752" y="2121408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600–1700 nm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00600" y="2505456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Resolution: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016752" y="2505456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0.02 nm — resolves EDFA ASE noise floor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00600" y="2889504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range: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016752" y="288950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70 dB — measures OSNR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00600" y="3273552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016752" y="3273552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EDFA gain flatness, ASE noise, OSNR of modulated signal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38912" y="3913632"/>
            <a:ext cx="2724912" cy="1115568"/>
          </a:xfrm>
          <a:prstGeom prst="roundRect">
            <a:avLst>
              <a:gd name="adj" fmla="val 9836"/>
            </a:avLst>
          </a:prstGeom>
          <a:solidFill>
            <a:srgbClr val="152050"/>
          </a:solidFill>
          <a:ln w="381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48640" y="3986784"/>
            <a:ext cx="2505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Network Analyzer (VNA)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76072" y="4407408"/>
            <a:ext cx="109728" cy="109728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1520" y="4352544"/>
            <a:ext cx="2331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Keysight E5063A or R&amp;S ZVL13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76072" y="4672584"/>
            <a:ext cx="109728" cy="109728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1520" y="4617720"/>
            <a:ext cx="2331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S-parameter measurement of modulator electro-optic BW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76072" y="4937760"/>
            <a:ext cx="109728" cy="109728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1520" y="4882896"/>
            <a:ext cx="2331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EO bandwidth of MZM (target &gt; 40 GHz)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76072" y="5202936"/>
            <a:ext cx="109728" cy="109728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31520" y="5148072"/>
            <a:ext cx="2331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Also: FSM PZT electromechanical frequency response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346704" y="3913632"/>
            <a:ext cx="2724912" cy="1115568"/>
          </a:xfrm>
          <a:prstGeom prst="roundRect">
            <a:avLst>
              <a:gd name="adj" fmla="val 9836"/>
            </a:avLst>
          </a:prstGeom>
          <a:solidFill>
            <a:srgbClr val="152050"/>
          </a:solidFill>
          <a:ln w="381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3456432" y="3986784"/>
            <a:ext cx="2505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B5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Arbitrary Waveform Generator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3483864" y="4407408"/>
            <a:ext cx="109728" cy="109728"/>
          </a:xfrm>
          <a:prstGeom prst="ellipse">
            <a:avLst/>
          </a:prstGeom>
          <a:solidFill>
            <a:srgbClr val="7B5EF8"/>
          </a:solidFill>
          <a:ln w="12700">
            <a:solidFill>
              <a:srgbClr val="7B5EF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39312" y="4352544"/>
            <a:ext cx="2331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Keysight M8195A or Tektronix AWG70000A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3483864" y="4672584"/>
            <a:ext cx="109728" cy="109728"/>
          </a:xfrm>
          <a:prstGeom prst="ellipse">
            <a:avLst/>
          </a:prstGeom>
          <a:solidFill>
            <a:srgbClr val="7B5EF8"/>
          </a:solidFill>
          <a:ln w="12700">
            <a:solidFill>
              <a:srgbClr val="7B5EF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39312" y="4617720"/>
            <a:ext cx="2331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PRBS data pattern (PRBS-31)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3483864" y="4937760"/>
            <a:ext cx="109728" cy="109728"/>
          </a:xfrm>
          <a:prstGeom prst="ellipse">
            <a:avLst/>
          </a:prstGeom>
          <a:solidFill>
            <a:srgbClr val="7B5EF8"/>
          </a:solidFill>
          <a:ln w="12700">
            <a:solidFill>
              <a:srgbClr val="7B5EF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39312" y="4882896"/>
            <a:ext cx="2331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QPSK/DPSK IQ baseband drive for MZM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3483864" y="5202936"/>
            <a:ext cx="109728" cy="109728"/>
          </a:xfrm>
          <a:prstGeom prst="ellipse">
            <a:avLst/>
          </a:prstGeom>
          <a:solidFill>
            <a:srgbClr val="7B5EF8"/>
          </a:solidFill>
          <a:ln w="12700">
            <a:solidFill>
              <a:srgbClr val="7B5EF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639312" y="5148072"/>
            <a:ext cx="2331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symbol rate 1–40 Gbaud, calibrated amplitude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254496" y="3913632"/>
            <a:ext cx="2724912" cy="1115568"/>
          </a:xfrm>
          <a:prstGeom prst="roundRect">
            <a:avLst>
              <a:gd name="adj" fmla="val 9836"/>
            </a:avLst>
          </a:prstGeom>
          <a:solidFill>
            <a:srgbClr val="152050"/>
          </a:solidFill>
          <a:ln w="381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6364224" y="3986784"/>
            <a:ext cx="2505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E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EDFA Characterization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6391656" y="4407408"/>
            <a:ext cx="109728" cy="109728"/>
          </a:xfrm>
          <a:prstGeom prst="ellipse">
            <a:avLst/>
          </a:prstGeom>
          <a:solidFill>
            <a:srgbClr val="00E5C0"/>
          </a:solidFill>
          <a:ln w="12700">
            <a:solidFill>
              <a:srgbClr val="00E5C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547104" y="4352544"/>
            <a:ext cx="2331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EDFA test: OSA + calibrated attenuator + power meter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6391656" y="4672584"/>
            <a:ext cx="109728" cy="109728"/>
          </a:xfrm>
          <a:prstGeom prst="ellipse">
            <a:avLst/>
          </a:prstGeom>
          <a:solidFill>
            <a:srgbClr val="00E5C0"/>
          </a:solidFill>
          <a:ln w="12700">
            <a:solidFill>
              <a:srgbClr val="00E5C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547104" y="4617720"/>
            <a:ext cx="2331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vs. input power curve (saturation characterization)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6391656" y="4937760"/>
            <a:ext cx="109728" cy="109728"/>
          </a:xfrm>
          <a:prstGeom prst="ellipse">
            <a:avLst/>
          </a:prstGeom>
          <a:solidFill>
            <a:srgbClr val="00E5C0"/>
          </a:solidFill>
          <a:ln w="12700">
            <a:solidFill>
              <a:srgbClr val="00E5C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547104" y="4882896"/>
            <a:ext cx="2331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figure measurement (NF) via optical noise loading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6391656" y="5202936"/>
            <a:ext cx="109728" cy="109728"/>
          </a:xfrm>
          <a:prstGeom prst="ellipse">
            <a:avLst/>
          </a:prstGeom>
          <a:solidFill>
            <a:srgbClr val="00E5C0"/>
          </a:solidFill>
          <a:ln w="12700">
            <a:solidFill>
              <a:srgbClr val="00E5C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547104" y="5148072"/>
            <a:ext cx="2331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NF &lt; 5 dB, gain &gt; 20 dB over 1530–1565 nm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200400"/>
            <a:ext cx="3200400" cy="3200400"/>
          </a:xfrm>
          <a:prstGeom prst="ellipse">
            <a:avLst/>
          </a:prstGeom>
          <a:solidFill>
            <a:srgbClr val="00C8FF">
              <a:alpha val="10000"/>
            </a:srgbClr>
          </a:solidFill>
          <a:ln w="6350">
            <a:solidFill>
              <a:srgbClr val="00C8FF">
                <a:alpha val="1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— RX CHAIN INSTRUMENTS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Detector, Receiver &amp; BER Test Equipment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38912" y="1261872"/>
            <a:ext cx="4069080" cy="2286000"/>
          </a:xfrm>
          <a:prstGeom prst="roundRect">
            <a:avLst>
              <a:gd name="adj" fmla="val 4800"/>
            </a:avLst>
          </a:prstGeom>
          <a:solidFill>
            <a:srgbClr val="111D45"/>
          </a:solidFill>
          <a:ln w="381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76072" y="1353312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APD Detector Characterization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66928" y="1810512"/>
            <a:ext cx="109728" cy="109728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737360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supply: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847088" y="1737360"/>
            <a:ext cx="2514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Keithley 2400 SMU — sweep reverse bias 0→−70V, measure dark current vs. APD multiplication M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66928" y="2167128"/>
            <a:ext cx="109728" cy="109728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093976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Responsivity: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847088" y="2093976"/>
            <a:ext cx="2514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power meter (Thorlabs S148C) + TLS sweep → A/W responsivity curve vs. wavelength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66928" y="2523744"/>
            <a:ext cx="109728" cy="109728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245059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Bandwidth: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847088" y="2450592"/>
            <a:ext cx="2514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ESA (Keysight N9010B) + modulated laser source → measure −3 dB electrical bandwidth vs. bias voltage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66928" y="2880360"/>
            <a:ext cx="109728" cy="109728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2807208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NEP: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847088" y="2807208"/>
            <a:ext cx="2514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Low-noise TIA (FEMTO DHPCA-100) + lock-in amplifier (SR830) → noise-equivalent power floor measurement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66928" y="3236976"/>
            <a:ext cx="109728" cy="109728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3163824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Linearity: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847088" y="3163824"/>
            <a:ext cx="2514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Attenuator sweep + power meter → confirm linear range bounds (avoid saturation regime)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663440" y="1261872"/>
            <a:ext cx="4114800" cy="2286000"/>
          </a:xfrm>
          <a:prstGeom prst="roundRect">
            <a:avLst>
              <a:gd name="adj" fmla="val 4800"/>
            </a:avLst>
          </a:prstGeom>
          <a:solidFill>
            <a:srgbClr val="111D45"/>
          </a:solidFill>
          <a:ln w="381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00600" y="1353312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 &amp; Sensitivity Measurement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82312" y="1810512"/>
            <a:ext cx="109728" cy="109728"/>
          </a:xfrm>
          <a:prstGeom prst="ellipse">
            <a:avLst/>
          </a:prstGeom>
          <a:solidFill>
            <a:srgbClr val="00E5C0"/>
          </a:solidFill>
          <a:ln w="12700">
            <a:solidFill>
              <a:srgbClr val="00E5C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1737360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BERT: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961888" y="1737360"/>
            <a:ext cx="26700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Anritsu MP1800A or Ixia XGEM — pattern generator + error detector. Generates PRBS-31, counts bit errors in real time.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782312" y="2167128"/>
            <a:ext cx="109728" cy="109728"/>
          </a:xfrm>
          <a:prstGeom prst="ellipse">
            <a:avLst/>
          </a:prstGeom>
          <a:solidFill>
            <a:srgbClr val="00E5C0"/>
          </a:solidFill>
          <a:ln w="12700">
            <a:solidFill>
              <a:srgbClr val="00E5C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0" y="2093976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Attenuator: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961888" y="2093976"/>
            <a:ext cx="26700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JDS Uniphase / Agilent 81576A variable optical attenuator (VOA). Sweeps RX input power from −25 to −55 dBm.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82312" y="2523744"/>
            <a:ext cx="109728" cy="109728"/>
          </a:xfrm>
          <a:prstGeom prst="ellipse">
            <a:avLst/>
          </a:prstGeom>
          <a:solidFill>
            <a:srgbClr val="00E5C0"/>
          </a:solidFill>
          <a:ln w="12700">
            <a:solidFill>
              <a:srgbClr val="00E5C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37760" y="2450592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 recovery: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961888" y="2450592"/>
            <a:ext cx="26700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Tektronix CKRX80G or integrated CDR in BERT. Recovers data clock from received waveform.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782312" y="2880360"/>
            <a:ext cx="109728" cy="109728"/>
          </a:xfrm>
          <a:prstGeom prst="ellipse">
            <a:avLst/>
          </a:prstGeom>
          <a:solidFill>
            <a:srgbClr val="00E5C0"/>
          </a:solidFill>
          <a:ln w="12700">
            <a:solidFill>
              <a:srgbClr val="00E5C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37760" y="2807208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Oscilloscope: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961888" y="2807208"/>
            <a:ext cx="26700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Keysight DSA-X 86100D sampling scope — eye diagram, Q-factor, jitter decomposition. Bandwidth: 80 GHz.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782312" y="3236976"/>
            <a:ext cx="109728" cy="109728"/>
          </a:xfrm>
          <a:prstGeom prst="ellipse">
            <a:avLst/>
          </a:prstGeom>
          <a:solidFill>
            <a:srgbClr val="00E5C0"/>
          </a:solidFill>
          <a:ln w="12700">
            <a:solidFill>
              <a:srgbClr val="00E5C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37760" y="3163824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 vs. P_rx: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961888" y="3163824"/>
            <a:ext cx="26700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Sweep VOA: record BER at each power level. Plot waterfall curve. Read sensitivity at BER = 10⁻¹²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38912" y="3675888"/>
            <a:ext cx="2724912" cy="1371600"/>
          </a:xfrm>
          <a:prstGeom prst="roundRect">
            <a:avLst>
              <a:gd name="adj" fmla="val 8000"/>
            </a:avLst>
          </a:prstGeom>
          <a:solidFill>
            <a:srgbClr val="152050"/>
          </a:solidFill>
          <a:ln w="381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548640" y="3749040"/>
            <a:ext cx="2505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B5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Electrical Spectrum Analyzer (ESA)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48640" y="4041648"/>
            <a:ext cx="2505456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Keysight N9010B EXA, 10 Hz–26.5 GHz. Measures RIN of laser, phase noise of clock, and spurious tones in demodulated signal.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3346704" y="3675888"/>
            <a:ext cx="2724912" cy="1371600"/>
          </a:xfrm>
          <a:prstGeom prst="roundRect">
            <a:avLst>
              <a:gd name="adj" fmla="val 8000"/>
            </a:avLst>
          </a:prstGeom>
          <a:solidFill>
            <a:srgbClr val="152050"/>
          </a:solidFill>
          <a:ln w="381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3456432" y="3749040"/>
            <a:ext cx="2505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Optical Power Meter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456432" y="4041648"/>
            <a:ext cx="2505456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Thorlabs PM100D + InGaAs head (S148C). Absolute calibration traceable to NIST. Logs time-series power during link test. ±3% accuracy.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254496" y="3675888"/>
            <a:ext cx="2724912" cy="1371600"/>
          </a:xfrm>
          <a:prstGeom prst="roundRect">
            <a:avLst>
              <a:gd name="adj" fmla="val 8000"/>
            </a:avLst>
          </a:prstGeom>
          <a:solidFill>
            <a:srgbClr val="152050"/>
          </a:solidFill>
          <a:ln w="381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6364224" y="3749040"/>
            <a:ext cx="2505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 Oscilloscope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364224" y="4041648"/>
            <a:ext cx="2505456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Tektronix DPO77002SX, 70 GHz analog BW. Eye diagram, jitter analysis, rise/fall time. Connected post-TIA to verify waveform integrity.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2743200"/>
            <a:ext cx="3200400" cy="3200400"/>
          </a:xfrm>
          <a:prstGeom prst="ellipse">
            <a:avLst/>
          </a:prstGeom>
          <a:solidFill>
            <a:srgbClr val="00E5C0">
              <a:alpha val="10000"/>
            </a:srgbClr>
          </a:solidFill>
          <a:ln w="6350">
            <a:solidFill>
              <a:srgbClr val="00E5C0">
                <a:alpha val="1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E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— PAT TEST SETUP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Pointing, Acquisition &amp; Tracking Test Hardware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38912" y="1261872"/>
            <a:ext cx="2724912" cy="1664208"/>
          </a:xfrm>
          <a:prstGeom prst="roundRect">
            <a:avLst>
              <a:gd name="adj" fmla="val 6593"/>
            </a:avLst>
          </a:prstGeom>
          <a:solidFill>
            <a:srgbClr val="111D45"/>
          </a:solidFill>
          <a:ln w="381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38912" y="1261872"/>
            <a:ext cx="2724912" cy="384048"/>
          </a:xfrm>
          <a:prstGeom prst="roundRect">
            <a:avLst>
              <a:gd name="adj" fmla="val 28571"/>
            </a:avLst>
          </a:prstGeom>
          <a:solidFill>
            <a:srgbClr val="FF6B6B">
              <a:alpha val="80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261872"/>
            <a:ext cx="2542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0F2C"/>
                </a:solidFill>
              </a:rPr>
              <a:t>Jitter &amp; Disturbance Emulator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30352" y="1700784"/>
            <a:ext cx="2542032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2-axis piezo mirror (Physik Instrumente S-330.2SL) driven by arbitrary waveform generator. Injects controlled angular jitter to emulate satellite reaction wheel disturbances. Amplitude: 0–2 mrad, Freq: 1–1000 Hz.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346704" y="1261872"/>
            <a:ext cx="2724912" cy="1664208"/>
          </a:xfrm>
          <a:prstGeom prst="roundRect">
            <a:avLst>
              <a:gd name="adj" fmla="val 6593"/>
            </a:avLst>
          </a:prstGeom>
          <a:solidFill>
            <a:srgbClr val="111D45"/>
          </a:solidFill>
          <a:ln w="381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46704" y="1261872"/>
            <a:ext cx="2724912" cy="384048"/>
          </a:xfrm>
          <a:prstGeom prst="roundRect">
            <a:avLst>
              <a:gd name="adj" fmla="val 28571"/>
            </a:avLst>
          </a:prstGeom>
          <a:solidFill>
            <a:srgbClr val="00E5C0">
              <a:alpha val="80000"/>
            </a:srgbClr>
          </a:solidFill>
          <a:ln w="12700">
            <a:solidFill>
              <a:srgbClr val="00E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38144" y="1261872"/>
            <a:ext cx="2542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0F2C"/>
                </a:solidFill>
              </a:rPr>
              <a:t>4-Quadrant Detector (4-QD)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438144" y="1700784"/>
            <a:ext cx="2542032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Hamamatsu G6849-01 or OSI QP50-6SD InGaAs 4-QD. Bandwidth: &gt; 100 kHz. Measures beacon spot centroid as differential photocurrent. Connected to analog summing/differencing circuit.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254496" y="1261872"/>
            <a:ext cx="2724912" cy="1664208"/>
          </a:xfrm>
          <a:prstGeom prst="roundRect">
            <a:avLst>
              <a:gd name="adj" fmla="val 6593"/>
            </a:avLst>
          </a:prstGeom>
          <a:solidFill>
            <a:srgbClr val="111D45"/>
          </a:solidFill>
          <a:ln w="381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54496" y="1261872"/>
            <a:ext cx="2724912" cy="384048"/>
          </a:xfrm>
          <a:prstGeom prst="roundRect">
            <a:avLst>
              <a:gd name="adj" fmla="val 28571"/>
            </a:avLst>
          </a:prstGeom>
          <a:solidFill>
            <a:srgbClr val="00C8FF">
              <a:alpha val="80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45936" y="1261872"/>
            <a:ext cx="2542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0F2C"/>
                </a:solidFill>
              </a:rPr>
              <a:t>High-speed CMOS Camera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345936" y="1700784"/>
            <a:ext cx="2542032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Xenics Bobcat-1.7-320 or Allied Vision Goldeye G-032. 320×256 InGaAs pixels, 400+ fps at full frame. Used for wide-field beacon acquisition phase. FOV: 5°×5° with 25 mm FL lens.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38912" y="3090672"/>
            <a:ext cx="2724912" cy="1664208"/>
          </a:xfrm>
          <a:prstGeom prst="roundRect">
            <a:avLst>
              <a:gd name="adj" fmla="val 6593"/>
            </a:avLst>
          </a:prstGeom>
          <a:solidFill>
            <a:srgbClr val="111D45"/>
          </a:solidFill>
          <a:ln w="381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38912" y="3090672"/>
            <a:ext cx="2724912" cy="384048"/>
          </a:xfrm>
          <a:prstGeom prst="roundRect">
            <a:avLst>
              <a:gd name="adj" fmla="val 28571"/>
            </a:avLst>
          </a:prstGeom>
          <a:solidFill>
            <a:srgbClr val="FFD166">
              <a:alpha val="80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" y="3090672"/>
            <a:ext cx="2542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0F2C"/>
                </a:solidFill>
              </a:rPr>
              <a:t>FSM + High-Voltage Driver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30352" y="3529584"/>
            <a:ext cx="2542032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 S-330 FSM + E-727 piezo controller. Analog input ±10V → ±5 mrad. Controller provides closed-loop capacitive sensor feedback. Position resolution &lt; 0.1 μrad. BW: &gt; 1 kHz.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346704" y="3090672"/>
            <a:ext cx="2724912" cy="1664208"/>
          </a:xfrm>
          <a:prstGeom prst="roundRect">
            <a:avLst>
              <a:gd name="adj" fmla="val 6593"/>
            </a:avLst>
          </a:prstGeom>
          <a:solidFill>
            <a:srgbClr val="111D45"/>
          </a:solidFill>
          <a:ln w="381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346704" y="3090672"/>
            <a:ext cx="2724912" cy="384048"/>
          </a:xfrm>
          <a:prstGeom prst="roundRect">
            <a:avLst>
              <a:gd name="adj" fmla="val 28571"/>
            </a:avLst>
          </a:prstGeom>
          <a:solidFill>
            <a:srgbClr val="7B5EF8">
              <a:alpha val="80000"/>
            </a:srgbClr>
          </a:solidFill>
          <a:ln w="12700">
            <a:solidFill>
              <a:srgbClr val="7B5E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38144" y="3090672"/>
            <a:ext cx="2542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0F2C"/>
                </a:solidFill>
              </a:rPr>
              <a:t>Coarse Gimbal (2-axis)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438144" y="3529584"/>
            <a:ext cx="2542032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Physik Instrumente U-651 motorized rotation stage or Newport RV240CC. ±180° range, 0.001° resolution. Driven by motion controller (Newport XPS or PI C-884). Emulates satellite coarse pointing.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254496" y="3090672"/>
            <a:ext cx="2724912" cy="1664208"/>
          </a:xfrm>
          <a:prstGeom prst="roundRect">
            <a:avLst>
              <a:gd name="adj" fmla="val 6593"/>
            </a:avLst>
          </a:prstGeom>
          <a:solidFill>
            <a:srgbClr val="111D45"/>
          </a:solidFill>
          <a:ln w="381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54496" y="3090672"/>
            <a:ext cx="2724912" cy="384048"/>
          </a:xfrm>
          <a:prstGeom prst="roundRect">
            <a:avLst>
              <a:gd name="adj" fmla="val 28571"/>
            </a:avLst>
          </a:prstGeom>
          <a:solidFill>
            <a:srgbClr val="00E5C0">
              <a:alpha val="80000"/>
            </a:srgbClr>
          </a:solidFill>
          <a:ln w="12700">
            <a:solidFill>
              <a:srgbClr val="00E5C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45936" y="3090672"/>
            <a:ext cx="2542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0F2C"/>
                </a:solidFill>
              </a:rPr>
              <a:t>Real-Time Controller (RTC)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345936" y="3529584"/>
            <a:ext cx="2542032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Instruments cRIO-9049 with FPGA + LabVIEW RT. Runs PAT control loop at 50–100 kHz update rate. Implements PID + notch filters + Kalman estimator in deterministic FPGA fabric.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4114800" cy="4114800"/>
          </a:xfrm>
          <a:prstGeom prst="ellipse">
            <a:avLst/>
          </a:prstGeom>
          <a:solidFill>
            <a:srgbClr val="00E5C0">
              <a:alpha val="10000"/>
            </a:srgbClr>
          </a:solidFill>
          <a:ln w="6350">
            <a:solidFill>
              <a:srgbClr val="00E5C0">
                <a:alpha val="1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E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— DAQ, FPGA &amp; DIGITIZERS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Acquisition &amp; Real-Time Processing Hardware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38912" y="1261872"/>
            <a:ext cx="8339328" cy="1417320"/>
          </a:xfrm>
          <a:prstGeom prst="roundRect">
            <a:avLst>
              <a:gd name="adj" fmla="val 7742"/>
            </a:avLst>
          </a:prstGeom>
          <a:solidFill>
            <a:srgbClr val="152050"/>
          </a:solidFill>
          <a:ln w="381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76072" y="1353312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Real-Time Platform: NI cRIO / Xilinx FPGA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719072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 fabric: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709928" y="1719072"/>
            <a:ext cx="2834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Xilinx Kintex-7 325T (cRIO-9049) or Virtex-7 690T for heavy DSP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709160" y="1719072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rate: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824728" y="1719072"/>
            <a:ext cx="2834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loop: 100 kHz deterministic; DAQ streaming: up to 250 MSa/s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2066544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I/O: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09928" y="2066544"/>
            <a:ext cx="2834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±10V analog I/O (NI 9220 + 9264), 32-bit DIO, counter/timers for encoder readout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09160" y="2066544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DRAM buffer: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824728" y="2066544"/>
            <a:ext cx="2834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GB DDR4 on RIO board for burst capture during acquisition transients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38912" y="2816352"/>
            <a:ext cx="1993392" cy="2267712"/>
          </a:xfrm>
          <a:prstGeom prst="roundRect">
            <a:avLst>
              <a:gd name="adj" fmla="val 5505"/>
            </a:avLst>
          </a:prstGeom>
          <a:solidFill>
            <a:srgbClr val="111D45"/>
          </a:solidFill>
          <a:ln w="381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30352" y="2880360"/>
            <a:ext cx="1810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High-Speed Digitizer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76072" y="3328416"/>
            <a:ext cx="109728" cy="109728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3273552"/>
            <a:ext cx="16093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 PXIe-5186 or Keysight U5303A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76072" y="3666744"/>
            <a:ext cx="109728" cy="109728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3611880"/>
            <a:ext cx="16093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12-bit, 3 GSa/s, 2 ch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76072" y="4005072"/>
            <a:ext cx="109728" cy="109728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3950208"/>
            <a:ext cx="16093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TIA output waveforms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76072" y="4343400"/>
            <a:ext cx="109728" cy="109728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288536"/>
            <a:ext cx="16093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FFT noise floor analysis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76072" y="4681728"/>
            <a:ext cx="109728" cy="109728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4626864"/>
            <a:ext cx="16093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Synchronized to AWG trigger via PXI backplane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615184" y="2816352"/>
            <a:ext cx="1993392" cy="2267712"/>
          </a:xfrm>
          <a:prstGeom prst="roundRect">
            <a:avLst>
              <a:gd name="adj" fmla="val 5505"/>
            </a:avLst>
          </a:prstGeom>
          <a:solidFill>
            <a:srgbClr val="111D45"/>
          </a:solidFill>
          <a:ln w="381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2706624" y="2880360"/>
            <a:ext cx="1810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Lock-in Amplifier / PSD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752344" y="3328416"/>
            <a:ext cx="109728" cy="109728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907792" y="3273552"/>
            <a:ext cx="16093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Stanford Research SR860 DSP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752344" y="3666744"/>
            <a:ext cx="109728" cy="109728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907792" y="3611880"/>
            <a:ext cx="16093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MHz BW, 24-bit ADC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752344" y="4005072"/>
            <a:ext cx="109728" cy="109728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907792" y="3950208"/>
            <a:ext cx="16093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signal at modulation freq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752344" y="4343400"/>
            <a:ext cx="109728" cy="109728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907792" y="4288536"/>
            <a:ext cx="16093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NEP floor characterization of APD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752344" y="4681728"/>
            <a:ext cx="109728" cy="109728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907792" y="4626864"/>
            <a:ext cx="16093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Phase-sensitive WFE measurement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791456" y="2816352"/>
            <a:ext cx="1993392" cy="2267712"/>
          </a:xfrm>
          <a:prstGeom prst="roundRect">
            <a:avLst>
              <a:gd name="adj" fmla="val 5505"/>
            </a:avLst>
          </a:prstGeom>
          <a:solidFill>
            <a:srgbClr val="111D45"/>
          </a:solidFill>
          <a:ln w="381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4882896" y="2880360"/>
            <a:ext cx="1810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E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 &amp; Synchronization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928616" y="3328416"/>
            <a:ext cx="109728" cy="109728"/>
          </a:xfrm>
          <a:prstGeom prst="ellipse">
            <a:avLst/>
          </a:prstGeom>
          <a:solidFill>
            <a:srgbClr val="00E5C0"/>
          </a:solidFill>
          <a:ln w="12700">
            <a:solidFill>
              <a:srgbClr val="00E5C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84064" y="3273552"/>
            <a:ext cx="16093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Keysight 53230A universal counter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928616" y="3666744"/>
            <a:ext cx="109728" cy="109728"/>
          </a:xfrm>
          <a:prstGeom prst="ellipse">
            <a:avLst/>
          </a:prstGeom>
          <a:solidFill>
            <a:srgbClr val="00E5C0"/>
          </a:solidFill>
          <a:ln w="12700">
            <a:solidFill>
              <a:srgbClr val="00E5C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84064" y="3611880"/>
            <a:ext cx="16093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12-digit freq resolution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928616" y="4005072"/>
            <a:ext cx="109728" cy="109728"/>
          </a:xfrm>
          <a:prstGeom prst="ellipse">
            <a:avLst/>
          </a:prstGeom>
          <a:solidFill>
            <a:srgbClr val="00E5C0"/>
          </a:solidFill>
          <a:ln w="12700">
            <a:solidFill>
              <a:srgbClr val="00E5C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084064" y="3950208"/>
            <a:ext cx="16093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Time-interval measurements (PAT timing)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928616" y="4343400"/>
            <a:ext cx="109728" cy="109728"/>
          </a:xfrm>
          <a:prstGeom prst="ellipse">
            <a:avLst/>
          </a:prstGeom>
          <a:solidFill>
            <a:srgbClr val="00E5C0"/>
          </a:solidFill>
          <a:ln w="12700">
            <a:solidFill>
              <a:srgbClr val="00E5C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084064" y="4288536"/>
            <a:ext cx="16093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GPS-disciplined 10 MHz reference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928616" y="4681728"/>
            <a:ext cx="109728" cy="109728"/>
          </a:xfrm>
          <a:prstGeom prst="ellipse">
            <a:avLst/>
          </a:prstGeom>
          <a:solidFill>
            <a:srgbClr val="00E5C0"/>
          </a:solidFill>
          <a:ln w="12700">
            <a:solidFill>
              <a:srgbClr val="00E5C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084064" y="4626864"/>
            <a:ext cx="16093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Phase-locks AWG, OSC, cRIO to common timebase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6967728" y="2816352"/>
            <a:ext cx="1993392" cy="2267712"/>
          </a:xfrm>
          <a:prstGeom prst="roundRect">
            <a:avLst>
              <a:gd name="adj" fmla="val 5505"/>
            </a:avLst>
          </a:prstGeom>
          <a:solidFill>
            <a:srgbClr val="111D45"/>
          </a:solidFill>
          <a:ln w="381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7059168" y="2880360"/>
            <a:ext cx="1810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Monitoring DAQ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7104888" y="3328416"/>
            <a:ext cx="109728" cy="109728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260336" y="3273552"/>
            <a:ext cx="16093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 9213 thermocouple module (16 ch)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7104888" y="3666744"/>
            <a:ext cx="109728" cy="109728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260336" y="3611880"/>
            <a:ext cx="16093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Type-K TCs on optics, EDFA, detector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7104888" y="4005072"/>
            <a:ext cx="109728" cy="109728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260336" y="3950208"/>
            <a:ext cx="16093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thermal drift vs. WFE correlation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7104888" y="4343400"/>
            <a:ext cx="109728" cy="109728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260336" y="4288536"/>
            <a:ext cx="16093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thermal control loop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7104888" y="4681728"/>
            <a:ext cx="109728" cy="109728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260336" y="4626864"/>
            <a:ext cx="16093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ECSS-compliant telemetry archive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731520"/>
            <a:ext cx="4572000" cy="4572000"/>
          </a:xfrm>
          <a:prstGeom prst="ellipse">
            <a:avLst/>
          </a:prstGeom>
          <a:solidFill>
            <a:srgbClr val="00C8FF">
              <a:alpha val="12000"/>
            </a:srgbClr>
          </a:solidFill>
          <a:ln w="6350">
            <a:solidFill>
              <a:srgbClr val="00C8FF">
                <a:alpha val="17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STACK — OVERVIEW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Layers: From FPGA to Analysis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38912" y="1261872"/>
            <a:ext cx="8339328" cy="658368"/>
          </a:xfrm>
          <a:prstGeom prst="roundRect">
            <a:avLst>
              <a:gd name="adj" fmla="val 13889"/>
            </a:avLst>
          </a:prstGeom>
          <a:solidFill>
            <a:srgbClr val="00C8FF">
              <a:alpha val="20000"/>
            </a:srgbClr>
          </a:solidFill>
          <a:ln w="7620">
            <a:solidFill>
              <a:srgbClr val="00C8FF">
                <a:alpha val="8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" y="1298448"/>
            <a:ext cx="8065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5 — Analysis &amp; Publication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76072" y="1591056"/>
            <a:ext cx="80650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/ MATLAB / Julia  ·  NumPy, SciPy, matplotlib, pandas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21792" y="1993392"/>
            <a:ext cx="7973568" cy="658368"/>
          </a:xfrm>
          <a:prstGeom prst="roundRect">
            <a:avLst>
              <a:gd name="adj" fmla="val 13889"/>
            </a:avLst>
          </a:prstGeom>
          <a:solidFill>
            <a:srgbClr val="7B5EF8">
              <a:alpha val="20000"/>
            </a:srgbClr>
          </a:solidFill>
          <a:ln w="7620">
            <a:solidFill>
              <a:srgbClr val="7B5EF8">
                <a:alpha val="8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8952" y="2029968"/>
            <a:ext cx="7699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5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 — Test Automation &amp; Orchestration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58952" y="2322576"/>
            <a:ext cx="76992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LabVIEW TestStand / Python pytest  ·  SCPI instrument drivers  ·  CI pipeline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804672" y="2724912"/>
            <a:ext cx="7607808" cy="658368"/>
          </a:xfrm>
          <a:prstGeom prst="roundRect">
            <a:avLst>
              <a:gd name="adj" fmla="val 13889"/>
            </a:avLst>
          </a:prstGeom>
          <a:solidFill>
            <a:srgbClr val="00E5C0">
              <a:alpha val="20000"/>
            </a:srgbClr>
          </a:solidFill>
          <a:ln w="7620">
            <a:solidFill>
              <a:srgbClr val="00E5C0">
                <a:alpha val="8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41832" y="2761488"/>
            <a:ext cx="73334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 — Real-Time Control (Host PC)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41832" y="3054096"/>
            <a:ext cx="73334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LabVIEW RT / MATLAB Simulink RT  ·  PAT state machine  ·  Kalman filter SW model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987552" y="3456432"/>
            <a:ext cx="7242048" cy="658368"/>
          </a:xfrm>
          <a:prstGeom prst="roundRect">
            <a:avLst>
              <a:gd name="adj" fmla="val 13889"/>
            </a:avLst>
          </a:prstGeom>
          <a:solidFill>
            <a:srgbClr val="FFD166">
              <a:alpha val="20000"/>
            </a:srgbClr>
          </a:solidFill>
          <a:ln w="7620">
            <a:solidFill>
              <a:srgbClr val="FFD166">
                <a:alpha val="8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24712" y="3493008"/>
            <a:ext cx="6967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— FPGA Deterministic Loop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24712" y="3785616"/>
            <a:ext cx="69677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LabVIEW FPGA / VHDL / Vivado  ·  PID + notch filters  ·  100 kHz control cycle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170432" y="4187952"/>
            <a:ext cx="6876288" cy="658368"/>
          </a:xfrm>
          <a:prstGeom prst="roundRect">
            <a:avLst>
              <a:gd name="adj" fmla="val 13889"/>
            </a:avLst>
          </a:prstGeom>
          <a:solidFill>
            <a:srgbClr val="FF6B6B">
              <a:alpha val="20000"/>
            </a:srgbClr>
          </a:solidFill>
          <a:ln w="7620">
            <a:solidFill>
              <a:srgbClr val="FF6B6B">
                <a:alpha val="8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07592" y="4224528"/>
            <a:ext cx="6601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 — Hardware Abstraction &amp; Drivers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307592" y="4517136"/>
            <a:ext cx="6601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NI-VISA / NI-DAQmx / IVI-C drivers  ·  SCPI over GPIB/USB/LAN  ·  custom FPGA IP cores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38912" y="4956048"/>
            <a:ext cx="3977640" cy="457200"/>
          </a:xfrm>
          <a:prstGeom prst="roundRect">
            <a:avLst>
              <a:gd name="adj" fmla="val 24000"/>
            </a:avLst>
          </a:prstGeom>
          <a:solidFill>
            <a:srgbClr val="152050"/>
          </a:solidFill>
          <a:ln w="381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66928" y="5138928"/>
            <a:ext cx="109728" cy="109728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501091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 code (Layer 2) is compiled with Vivado synthesis — not interpreted. Control loop timing is deterministic to ±10 ns.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36592" y="4956048"/>
            <a:ext cx="3977640" cy="457200"/>
          </a:xfrm>
          <a:prstGeom prst="roundRect">
            <a:avLst>
              <a:gd name="adj" fmla="val 24000"/>
            </a:avLst>
          </a:prstGeom>
          <a:solidFill>
            <a:srgbClr val="152050"/>
          </a:solidFill>
          <a:ln w="381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64608" y="5138928"/>
            <a:ext cx="109728" cy="109728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0" y="501091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orchestration layer communicates via SCPI over LAN to all instruments simultaneously — parallel instrument sweeps reduce test time 3–5×.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200400"/>
            <a:ext cx="3200400" cy="3200400"/>
          </a:xfrm>
          <a:prstGeom prst="ellipse">
            <a:avLst/>
          </a:prstGeom>
          <a:solidFill>
            <a:srgbClr val="FFD166">
              <a:alpha val="10000"/>
            </a:srgbClr>
          </a:solidFill>
          <a:ln w="6350">
            <a:solidFill>
              <a:srgbClr val="FFD166">
                <a:alpha val="1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— FPGA &amp; REAL-TIME CONTROL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FPGA Control Loop &amp; Real-Time Software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38912" y="1261872"/>
            <a:ext cx="4160520" cy="3584448"/>
          </a:xfrm>
          <a:prstGeom prst="roundRect">
            <a:avLst>
              <a:gd name="adj" fmla="val 3061"/>
            </a:avLst>
          </a:prstGeom>
          <a:solidFill>
            <a:srgbClr val="111D45"/>
          </a:solidFill>
          <a:ln w="381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76072" y="1353312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 Control Loop (100 kHz)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30352" y="1719072"/>
            <a:ext cx="777240" cy="237744"/>
          </a:xfrm>
          <a:prstGeom prst="roundRect">
            <a:avLst>
              <a:gd name="adj" fmla="val 23077"/>
            </a:avLst>
          </a:prstGeom>
          <a:solidFill>
            <a:srgbClr val="FFD166">
              <a:alpha val="30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719072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F2C"/>
                </a:solidFill>
              </a:rPr>
              <a:t>1. ADC read (10 μs)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353312" y="1719072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4-QD differential photocurrent (X,Y) from NI 9220 ADC at 100 kHz. Compute centroid error: ε_x = (A+B−C−D)/(A+B+C+D).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30352" y="2231136"/>
            <a:ext cx="777240" cy="237744"/>
          </a:xfrm>
          <a:prstGeom prst="roundRect">
            <a:avLst>
              <a:gd name="adj" fmla="val 23077"/>
            </a:avLst>
          </a:prstGeom>
          <a:solidFill>
            <a:srgbClr val="FFD166">
              <a:alpha val="30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2231136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F2C"/>
                </a:solidFill>
              </a:rPr>
              <a:t>2. Error filter (1 μs)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353312" y="2231136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digital bandpass (100–800 Hz) to separate tracking signal from DC offset and high-frequency noise. IIR second-order Butterworth.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30352" y="2743200"/>
            <a:ext cx="777240" cy="237744"/>
          </a:xfrm>
          <a:prstGeom prst="roundRect">
            <a:avLst>
              <a:gd name="adj" fmla="val 23077"/>
            </a:avLst>
          </a:prstGeom>
          <a:solidFill>
            <a:srgbClr val="FFD166">
              <a:alpha val="30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2743200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F2C"/>
                </a:solidFill>
              </a:rPr>
              <a:t>3. PID compute (2 μs)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353312" y="27432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K_p·ε + K_i·∫ε·dt + K_d·dε/dt. Implemented as velocity-form PID to avoid integrator windup on actuator saturation.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30352" y="3255264"/>
            <a:ext cx="777240" cy="237744"/>
          </a:xfrm>
          <a:prstGeom prst="roundRect">
            <a:avLst>
              <a:gd name="adj" fmla="val 23077"/>
            </a:avLst>
          </a:prstGeom>
          <a:solidFill>
            <a:srgbClr val="FFD166">
              <a:alpha val="30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3255264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F2C"/>
                </a:solidFill>
              </a:rPr>
              <a:t>4. Notch filters (2 μs)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353312" y="3255264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of 2nd-order IIR notch sections. Frequencies: plant resonance (ω_n), RW fundamental (f_RW), 2nd harmonic (2f_RW), 3rd (3f_RW).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30352" y="3767328"/>
            <a:ext cx="777240" cy="237744"/>
          </a:xfrm>
          <a:prstGeom prst="roundRect">
            <a:avLst>
              <a:gd name="adj" fmla="val 23077"/>
            </a:avLst>
          </a:prstGeom>
          <a:solidFill>
            <a:srgbClr val="FFD166">
              <a:alpha val="30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" y="3767328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F2C"/>
                </a:solidFill>
              </a:rPr>
              <a:t>5. Kalman predict (3 μs)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353312" y="376732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State: [θ, θ̇, d_dist]. Predict step: x̂_k|k−1 = F·x̂_k−1. Disturbance feed-forward: u_ff = −K_ff·d̂_dist.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30352" y="4279392"/>
            <a:ext cx="777240" cy="237744"/>
          </a:xfrm>
          <a:prstGeom prst="roundRect">
            <a:avLst>
              <a:gd name="adj" fmla="val 23077"/>
            </a:avLst>
          </a:prstGeom>
          <a:solidFill>
            <a:srgbClr val="FFD166">
              <a:alpha val="30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" y="4279392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F2C"/>
                </a:solidFill>
              </a:rPr>
              <a:t>6. DAC write (2 μs)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353312" y="4279392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FSM drive voltage to PI E-727 controller via NI 9264 DAC. Saturation limit: ±9.5V (prevents actuator overtravel).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54880" y="1261872"/>
            <a:ext cx="4023360" cy="3584448"/>
          </a:xfrm>
          <a:prstGeom prst="roundRect">
            <a:avLst>
              <a:gd name="adj" fmla="val 3061"/>
            </a:avLst>
          </a:prstGeom>
          <a:solidFill>
            <a:srgbClr val="111D45"/>
          </a:solidFill>
          <a:ln w="381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892040" y="135331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5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Kalman Filter — State Space Model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92040" y="1737360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B5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vector x: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92040" y="1975104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[θ, θ̇, d_dist]ᵀ  —  mirror angle, angular velocity, disturbance force estimate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892040" y="2249424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B5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transition F: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92040" y="2487168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Discretized at T_s = 10 μs. F = expm(A·Ts), A from plant model P(s) state-space realization.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892040" y="2761488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B5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noise Q: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92040" y="2999232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 knob: models unmodeled dynamics. High Q → tracks fast disturbances, more noise. Set via empirical Allan variance of jitter signal.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892040" y="3273552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B5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 noise R: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92040" y="3511296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σ²_4QD. Estimated from static (no jitter) 4-QD noise floor measurement. Typically R ≈ (0.5 μrad)².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892040" y="3785616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B5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step: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92040" y="4023360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K_k = P_pred·Hᵀ·(H·P_pred·Hᵀ+R)⁻¹. x̂_k = x̂_pred + K_k·(z_k − H·x̂_pred). ³×³ matrix ops in FPGA fixed-point arithmetic.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892040" y="4297680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B5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Feed-forward cancel: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892040" y="4535424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u_ff(k) = −K_ff·d̂_k injected before FSM DAC. Reduces RW harmonic disturbance by 15–25 dB vs. PID alone.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3200400"/>
            <a:ext cx="3200400" cy="3200400"/>
          </a:xfrm>
          <a:prstGeom prst="ellipse">
            <a:avLst/>
          </a:prstGeom>
          <a:solidFill>
            <a:srgbClr val="00C8FF">
              <a:alpha val="10000"/>
            </a:srgbClr>
          </a:solidFill>
          <a:ln w="6350">
            <a:solidFill>
              <a:srgbClr val="00C8FF">
                <a:alpha val="1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— DSP &amp; ANALYSIS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Signal Processing &amp; Data Analysis Software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26187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Signal Processing Chain (Python / MATLAB)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38912" y="1600200"/>
            <a:ext cx="1572768" cy="1828800"/>
          </a:xfrm>
          <a:prstGeom prst="roundRect">
            <a:avLst>
              <a:gd name="adj" fmla="val 6977"/>
            </a:avLst>
          </a:prstGeom>
          <a:solidFill>
            <a:srgbClr val="111D45"/>
          </a:solidFill>
          <a:ln w="381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38912" y="1600200"/>
            <a:ext cx="1572768" cy="347472"/>
          </a:xfrm>
          <a:prstGeom prst="roundRect">
            <a:avLst>
              <a:gd name="adj" fmla="val 31579"/>
            </a:avLst>
          </a:prstGeom>
          <a:solidFill>
            <a:srgbClr val="FF6B6B">
              <a:alpha val="80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60020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F2C"/>
                </a:solidFill>
              </a:rPr>
              <a:t>Raw capture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12064" y="1993392"/>
            <a:ext cx="1426464" cy="1353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12-bit digitizer streams I/Q or direct-detection waveform to PC via PCIe DMA. Typical burst: 10⁸ samples at 3 GSa/s = 33 ms record.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176272" y="1600200"/>
            <a:ext cx="1572768" cy="1828800"/>
          </a:xfrm>
          <a:prstGeom prst="roundRect">
            <a:avLst>
              <a:gd name="adj" fmla="val 6977"/>
            </a:avLst>
          </a:prstGeom>
          <a:solidFill>
            <a:srgbClr val="111D45"/>
          </a:solidFill>
          <a:ln w="381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176272" y="1600200"/>
            <a:ext cx="1572768" cy="347472"/>
          </a:xfrm>
          <a:prstGeom prst="roundRect">
            <a:avLst>
              <a:gd name="adj" fmla="val 31579"/>
            </a:avLst>
          </a:prstGeom>
          <a:solidFill>
            <a:srgbClr val="FFD166">
              <a:alpha val="80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76272" y="160020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F2C"/>
                </a:solidFill>
              </a:rPr>
              <a:t>Clock recovery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249424" y="1993392"/>
            <a:ext cx="1426464" cy="1353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Gardner TED (timing error detector) implemented in NumPy. Estimates sample clock offset and corrects by interpolation (poly-phase filter bank).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913632" y="1600200"/>
            <a:ext cx="1572768" cy="1828800"/>
          </a:xfrm>
          <a:prstGeom prst="roundRect">
            <a:avLst>
              <a:gd name="adj" fmla="val 6977"/>
            </a:avLst>
          </a:prstGeom>
          <a:solidFill>
            <a:srgbClr val="111D45"/>
          </a:solidFill>
          <a:ln w="381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913632" y="1600200"/>
            <a:ext cx="1572768" cy="347472"/>
          </a:xfrm>
          <a:prstGeom prst="roundRect">
            <a:avLst>
              <a:gd name="adj" fmla="val 31579"/>
            </a:avLst>
          </a:prstGeom>
          <a:solidFill>
            <a:srgbClr val="00C8FF">
              <a:alpha val="80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13632" y="160020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F2C"/>
                </a:solidFill>
              </a:rPr>
              <a:t>Carrier phase recovery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986784" y="1993392"/>
            <a:ext cx="1426464" cy="1353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Viterbi-Viterbi 4th-power algorithm for QPSK; differential decode for DPSK. Compensates laser phase noise and Doppler shift.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650992" y="1600200"/>
            <a:ext cx="1572768" cy="1828800"/>
          </a:xfrm>
          <a:prstGeom prst="roundRect">
            <a:avLst>
              <a:gd name="adj" fmla="val 6977"/>
            </a:avLst>
          </a:prstGeom>
          <a:solidFill>
            <a:srgbClr val="111D45"/>
          </a:solidFill>
          <a:ln w="381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650992" y="1600200"/>
            <a:ext cx="1572768" cy="347472"/>
          </a:xfrm>
          <a:prstGeom prst="roundRect">
            <a:avLst>
              <a:gd name="adj" fmla="val 31579"/>
            </a:avLst>
          </a:prstGeom>
          <a:solidFill>
            <a:srgbClr val="00E5C0">
              <a:alpha val="80000"/>
            </a:srgbClr>
          </a:solidFill>
          <a:ln w="12700">
            <a:solidFill>
              <a:srgbClr val="00E5C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50992" y="160020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F2C"/>
                </a:solidFill>
              </a:rPr>
              <a:t>Chromatic dispersion comp.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724144" y="1993392"/>
            <a:ext cx="1426464" cy="1353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Frequency-domain equalization: H_CD(f) = exp(j·β₂·L·(2πf)²/2). Correct for fiber delay-line dispersion in fiber-emulated link.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388352" y="1600200"/>
            <a:ext cx="1572768" cy="1828800"/>
          </a:xfrm>
          <a:prstGeom prst="roundRect">
            <a:avLst>
              <a:gd name="adj" fmla="val 6977"/>
            </a:avLst>
          </a:prstGeom>
          <a:solidFill>
            <a:srgbClr val="111D45"/>
          </a:solidFill>
          <a:ln w="381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388352" y="1600200"/>
            <a:ext cx="1572768" cy="347472"/>
          </a:xfrm>
          <a:prstGeom prst="roundRect">
            <a:avLst>
              <a:gd name="adj" fmla="val 31579"/>
            </a:avLst>
          </a:prstGeom>
          <a:solidFill>
            <a:srgbClr val="7B5EF8">
              <a:alpha val="80000"/>
            </a:srgbClr>
          </a:solidFill>
          <a:ln w="12700">
            <a:solidFill>
              <a:srgbClr val="7B5E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88352" y="160020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F2C"/>
                </a:solidFill>
              </a:rPr>
              <a:t>BER counting / FEC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461504" y="1993392"/>
            <a:ext cx="1426464" cy="1353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counting vs. known PRBS-31 pattern. FEC overhead: G.975.1 (7% overhead LDPC). Pre-FEC and post-FEC BER computed separately.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57200" y="354787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Optical Design &amp; Simulation Software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38912" y="3858768"/>
            <a:ext cx="1993392" cy="1170432"/>
          </a:xfrm>
          <a:prstGeom prst="roundRect">
            <a:avLst>
              <a:gd name="adj" fmla="val 9375"/>
            </a:avLst>
          </a:prstGeom>
          <a:solidFill>
            <a:srgbClr val="152050"/>
          </a:solidFill>
          <a:ln w="381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30352" y="3931920"/>
            <a:ext cx="18105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E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Zemax OpticStudio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30352" y="4206240"/>
            <a:ext cx="181051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ray-tracing + physical optics. Sensitivity matrix generation. WFE budget construction. Export Zernike coefficients to Python.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615184" y="3858768"/>
            <a:ext cx="1993392" cy="1170432"/>
          </a:xfrm>
          <a:prstGeom prst="roundRect">
            <a:avLst>
              <a:gd name="adj" fmla="val 9375"/>
            </a:avLst>
          </a:prstGeom>
          <a:solidFill>
            <a:srgbClr val="152050"/>
          </a:solidFill>
          <a:ln w="381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2706624" y="3931920"/>
            <a:ext cx="18105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COMSOL / ANSYS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2706624" y="4206240"/>
            <a:ext cx="181051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 thermo-elastic analysis. Predicts mirror surface deformation under orbit ΔT. Feeds thermal WFE budget contributor.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791456" y="3858768"/>
            <a:ext cx="1993392" cy="1170432"/>
          </a:xfrm>
          <a:prstGeom prst="roundRect">
            <a:avLst>
              <a:gd name="adj" fmla="val 9375"/>
            </a:avLst>
          </a:prstGeom>
          <a:solidFill>
            <a:srgbClr val="152050"/>
          </a:solidFill>
          <a:ln w="381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882896" y="3931920"/>
            <a:ext cx="18105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MATLAB Control TB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882896" y="4206240"/>
            <a:ext cx="181051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shaping, Bode plot, root locus. Notch filter design. Monte Carlo closed-loop stability analysis over plant uncertainty.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967728" y="3858768"/>
            <a:ext cx="1993392" cy="1170432"/>
          </a:xfrm>
          <a:prstGeom prst="roundRect">
            <a:avLst>
              <a:gd name="adj" fmla="val 9375"/>
            </a:avLst>
          </a:prstGeom>
          <a:solidFill>
            <a:srgbClr val="152050"/>
          </a:solidFill>
          <a:ln w="381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7059168" y="3931920"/>
            <a:ext cx="18105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/ SciPy stack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7059168" y="4206240"/>
            <a:ext cx="181051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scipy.signal (filter design, Welch PSD), scipy.optimize (controller tuning), astropy (orbit geometry), pandas (telemetry logging).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F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TEST CHAIN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 Hardware + Software Test Chain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207008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Transmit side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38912" y="1481328"/>
            <a:ext cx="1554480" cy="914400"/>
          </a:xfrm>
          <a:prstGeom prst="roundRect">
            <a:avLst>
              <a:gd name="adj" fmla="val 12000"/>
            </a:avLst>
          </a:prstGeom>
          <a:solidFill>
            <a:srgbClr val="111D45"/>
          </a:solidFill>
          <a:ln w="381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93776" y="1517904"/>
            <a:ext cx="14447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(Keysight)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93776" y="1920240"/>
            <a:ext cx="14447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PRBS / IQ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9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0" y="1883664"/>
            <a:ext cx="128016" cy="12801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157984" y="1481328"/>
            <a:ext cx="1554480" cy="914400"/>
          </a:xfrm>
          <a:prstGeom prst="roundRect">
            <a:avLst>
              <a:gd name="adj" fmla="val 12000"/>
            </a:avLst>
          </a:prstGeom>
          <a:solidFill>
            <a:srgbClr val="111D45"/>
          </a:solidFill>
          <a:ln w="381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2212848" y="1517904"/>
            <a:ext cx="14447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MZM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Modulator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2212848" y="1920240"/>
            <a:ext cx="14447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OOK / DPSK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QPSK</a:t>
            </a:r>
            <a:endParaRPr lang="en-US" sz="9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0752" y="1883664"/>
            <a:ext cx="128016" cy="128016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3877056" y="1481328"/>
            <a:ext cx="1554480" cy="914400"/>
          </a:xfrm>
          <a:prstGeom prst="roundRect">
            <a:avLst>
              <a:gd name="adj" fmla="val 12000"/>
            </a:avLst>
          </a:prstGeom>
          <a:solidFill>
            <a:srgbClr val="111D45"/>
          </a:solidFill>
          <a:ln w="381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3931920" y="1517904"/>
            <a:ext cx="14447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EDFA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Amplifier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3931920" y="1920240"/>
            <a:ext cx="14447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0.5–2 W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9824" y="1883664"/>
            <a:ext cx="128016" cy="128016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5596128" y="1481328"/>
            <a:ext cx="1554480" cy="914400"/>
          </a:xfrm>
          <a:prstGeom prst="roundRect">
            <a:avLst>
              <a:gd name="adj" fmla="val 12000"/>
            </a:avLst>
          </a:prstGeom>
          <a:solidFill>
            <a:srgbClr val="111D45"/>
          </a:solidFill>
          <a:ln w="381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8" name="Text 13"/>
          <p:cNvSpPr/>
          <p:nvPr/>
        </p:nvSpPr>
        <p:spPr>
          <a:xfrm>
            <a:off x="5650992" y="1517904"/>
            <a:ext cx="14447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Expander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5650992" y="1920240"/>
            <a:ext cx="14447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Galilean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40–80 mm</a:t>
            </a:r>
            <a:endParaRPr lang="en-US" sz="9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8896" y="1883664"/>
            <a:ext cx="128016" cy="128016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7315200" y="1481328"/>
            <a:ext cx="1554480" cy="914400"/>
          </a:xfrm>
          <a:prstGeom prst="roundRect">
            <a:avLst>
              <a:gd name="adj" fmla="val 12000"/>
            </a:avLst>
          </a:prstGeom>
          <a:solidFill>
            <a:srgbClr val="111D45"/>
          </a:solidFill>
          <a:ln w="381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22" name="Text 16"/>
          <p:cNvSpPr/>
          <p:nvPr/>
        </p:nvSpPr>
        <p:spPr>
          <a:xfrm>
            <a:off x="7370064" y="1517904"/>
            <a:ext cx="14447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(PI S-330)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7370064" y="1920240"/>
            <a:ext cx="14447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 beam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steering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438912" y="2487168"/>
            <a:ext cx="8339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0E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Free-space path / fiber delay-line emulator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438912" y="2633472"/>
            <a:ext cx="8339328" cy="0"/>
          </a:xfrm>
          <a:prstGeom prst="line">
            <a:avLst/>
          </a:prstGeom>
          <a:noFill/>
          <a:ln w="12700">
            <a:solidFill>
              <a:srgbClr val="00E5C0"/>
            </a:solidFill>
            <a:prstDash val="sysDash"/>
          </a:ln>
        </p:spPr>
      </p:sp>
      <p:sp>
        <p:nvSpPr>
          <p:cNvPr id="26" name="Text 20"/>
          <p:cNvSpPr/>
          <p:nvPr/>
        </p:nvSpPr>
        <p:spPr>
          <a:xfrm>
            <a:off x="438912" y="2651760"/>
            <a:ext cx="83393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 attenuators + SMF-28 fiber spool (emulated range loss) + beam steering jitter injection</a:t>
            </a:r>
            <a:endParaRPr lang="en-US" sz="950" dirty="0"/>
          </a:p>
        </p:txBody>
      </p:sp>
      <p:sp>
        <p:nvSpPr>
          <p:cNvPr id="27" name="Text 21"/>
          <p:cNvSpPr/>
          <p:nvPr/>
        </p:nvSpPr>
        <p:spPr>
          <a:xfrm>
            <a:off x="6858000" y="288036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side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438912" y="3154680"/>
            <a:ext cx="1554480" cy="914400"/>
          </a:xfrm>
          <a:prstGeom prst="roundRect">
            <a:avLst>
              <a:gd name="adj" fmla="val 12000"/>
            </a:avLst>
          </a:prstGeom>
          <a:solidFill>
            <a:srgbClr val="111D45"/>
          </a:solidFill>
          <a:ln w="381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29" name="Text 23"/>
          <p:cNvSpPr/>
          <p:nvPr/>
        </p:nvSpPr>
        <p:spPr>
          <a:xfrm>
            <a:off x="493776" y="3191256"/>
            <a:ext cx="14447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Cassegrain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Telescope</a:t>
            </a:r>
            <a:endParaRPr lang="en-US" sz="1000" dirty="0"/>
          </a:p>
        </p:txBody>
      </p:sp>
      <p:sp>
        <p:nvSpPr>
          <p:cNvPr id="30" name="Text 24"/>
          <p:cNvSpPr/>
          <p:nvPr/>
        </p:nvSpPr>
        <p:spPr>
          <a:xfrm>
            <a:off x="493776" y="3593592"/>
            <a:ext cx="14447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mm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aperture</a:t>
            </a:r>
            <a:endParaRPr lang="en-US" sz="900" dirty="0"/>
          </a:p>
        </p:txBody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11680" y="3557016"/>
            <a:ext cx="128016" cy="128016"/>
          </a:xfrm>
          <a:prstGeom prst="rect">
            <a:avLst/>
          </a:prstGeom>
        </p:spPr>
      </p:pic>
      <p:sp>
        <p:nvSpPr>
          <p:cNvPr id="32" name="Shape 25"/>
          <p:cNvSpPr/>
          <p:nvPr/>
        </p:nvSpPr>
        <p:spPr>
          <a:xfrm>
            <a:off x="2157984" y="3154680"/>
            <a:ext cx="1554480" cy="914400"/>
          </a:xfrm>
          <a:prstGeom prst="roundRect">
            <a:avLst>
              <a:gd name="adj" fmla="val 12000"/>
            </a:avLst>
          </a:prstGeom>
          <a:solidFill>
            <a:srgbClr val="111D45"/>
          </a:solidFill>
          <a:ln w="381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33" name="Text 26"/>
          <p:cNvSpPr/>
          <p:nvPr/>
        </p:nvSpPr>
        <p:spPr>
          <a:xfrm>
            <a:off x="2212848" y="3191256"/>
            <a:ext cx="14447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BPF +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Focuser</a:t>
            </a:r>
            <a:endParaRPr lang="en-US" sz="1000" dirty="0"/>
          </a:p>
        </p:txBody>
      </p:sp>
      <p:sp>
        <p:nvSpPr>
          <p:cNvPr id="34" name="Text 27"/>
          <p:cNvSpPr/>
          <p:nvPr/>
        </p:nvSpPr>
        <p:spPr>
          <a:xfrm>
            <a:off x="2212848" y="3593592"/>
            <a:ext cx="14447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 nm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passband</a:t>
            </a:r>
            <a:endParaRPr lang="en-US" sz="900" dirty="0"/>
          </a:p>
        </p:txBody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30752" y="3557016"/>
            <a:ext cx="128016" cy="128016"/>
          </a:xfrm>
          <a:prstGeom prst="rect">
            <a:avLst/>
          </a:prstGeom>
        </p:spPr>
      </p:pic>
      <p:sp>
        <p:nvSpPr>
          <p:cNvPr id="36" name="Shape 28"/>
          <p:cNvSpPr/>
          <p:nvPr/>
        </p:nvSpPr>
        <p:spPr>
          <a:xfrm>
            <a:off x="3877056" y="3154680"/>
            <a:ext cx="1554480" cy="914400"/>
          </a:xfrm>
          <a:prstGeom prst="roundRect">
            <a:avLst>
              <a:gd name="adj" fmla="val 12000"/>
            </a:avLst>
          </a:prstGeom>
          <a:solidFill>
            <a:srgbClr val="111D45"/>
          </a:solidFill>
          <a:ln w="381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37" name="Text 29"/>
          <p:cNvSpPr/>
          <p:nvPr/>
        </p:nvSpPr>
        <p:spPr>
          <a:xfrm>
            <a:off x="3931920" y="3191256"/>
            <a:ext cx="14447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InGaAs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APD</a:t>
            </a:r>
            <a:endParaRPr lang="en-US" sz="1000" dirty="0"/>
          </a:p>
        </p:txBody>
      </p:sp>
      <p:sp>
        <p:nvSpPr>
          <p:cNvPr id="38" name="Text 30"/>
          <p:cNvSpPr/>
          <p:nvPr/>
        </p:nvSpPr>
        <p:spPr>
          <a:xfrm>
            <a:off x="3931920" y="3593592"/>
            <a:ext cx="14447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M=12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−35 dBm sens.</a:t>
            </a:r>
            <a:endParaRPr lang="en-US" sz="900" dirty="0"/>
          </a:p>
        </p:txBody>
      </p:sp>
      <p:pic>
        <p:nvPicPr>
          <p:cNvPr id="3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49824" y="3557016"/>
            <a:ext cx="128016" cy="128016"/>
          </a:xfrm>
          <a:prstGeom prst="rect">
            <a:avLst/>
          </a:prstGeom>
        </p:spPr>
      </p:pic>
      <p:sp>
        <p:nvSpPr>
          <p:cNvPr id="40" name="Shape 31"/>
          <p:cNvSpPr/>
          <p:nvPr/>
        </p:nvSpPr>
        <p:spPr>
          <a:xfrm>
            <a:off x="5596128" y="3154680"/>
            <a:ext cx="1554480" cy="914400"/>
          </a:xfrm>
          <a:prstGeom prst="roundRect">
            <a:avLst>
              <a:gd name="adj" fmla="val 12000"/>
            </a:avLst>
          </a:prstGeom>
          <a:solidFill>
            <a:srgbClr val="111D45"/>
          </a:solidFill>
          <a:ln w="381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41" name="Text 32"/>
          <p:cNvSpPr/>
          <p:nvPr/>
        </p:nvSpPr>
        <p:spPr>
          <a:xfrm>
            <a:off x="5650992" y="3191256"/>
            <a:ext cx="14447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TIA +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DSP</a:t>
            </a:r>
            <a:endParaRPr lang="en-US" sz="1000" dirty="0"/>
          </a:p>
        </p:txBody>
      </p:sp>
      <p:sp>
        <p:nvSpPr>
          <p:cNvPr id="42" name="Text 33"/>
          <p:cNvSpPr/>
          <p:nvPr/>
        </p:nvSpPr>
        <p:spPr>
          <a:xfrm>
            <a:off x="5650992" y="3593592"/>
            <a:ext cx="14447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Demod +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</a:t>
            </a:r>
            <a:endParaRPr lang="en-US" sz="900" dirty="0"/>
          </a:p>
        </p:txBody>
      </p:sp>
      <p:pic>
        <p:nvPicPr>
          <p:cNvPr id="4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68896" y="3557016"/>
            <a:ext cx="128016" cy="128016"/>
          </a:xfrm>
          <a:prstGeom prst="rect">
            <a:avLst/>
          </a:prstGeom>
        </p:spPr>
      </p:pic>
      <p:sp>
        <p:nvSpPr>
          <p:cNvPr id="44" name="Shape 34"/>
          <p:cNvSpPr/>
          <p:nvPr/>
        </p:nvSpPr>
        <p:spPr>
          <a:xfrm>
            <a:off x="7315200" y="3154680"/>
            <a:ext cx="1554480" cy="914400"/>
          </a:xfrm>
          <a:prstGeom prst="roundRect">
            <a:avLst>
              <a:gd name="adj" fmla="val 12000"/>
            </a:avLst>
          </a:prstGeom>
          <a:solidFill>
            <a:srgbClr val="111D45"/>
          </a:solidFill>
          <a:ln w="381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45" name="Text 35"/>
          <p:cNvSpPr/>
          <p:nvPr/>
        </p:nvSpPr>
        <p:spPr>
          <a:xfrm>
            <a:off x="7370064" y="3191256"/>
            <a:ext cx="14447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B5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/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7B5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Oscilloscope</a:t>
            </a:r>
            <a:endParaRPr lang="en-US" sz="1000" dirty="0"/>
          </a:p>
        </p:txBody>
      </p:sp>
      <p:sp>
        <p:nvSpPr>
          <p:cNvPr id="46" name="Text 36"/>
          <p:cNvSpPr/>
          <p:nvPr/>
        </p:nvSpPr>
        <p:spPr>
          <a:xfrm>
            <a:off x="7370064" y="3593592"/>
            <a:ext cx="14447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 +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 diagram</a:t>
            </a:r>
            <a:endParaRPr lang="en-US" sz="900" dirty="0"/>
          </a:p>
        </p:txBody>
      </p:sp>
      <p:sp>
        <p:nvSpPr>
          <p:cNvPr id="47" name="Text 37"/>
          <p:cNvSpPr/>
          <p:nvPr/>
        </p:nvSpPr>
        <p:spPr>
          <a:xfrm>
            <a:off x="457200" y="4133088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E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 tracking loop (closed)</a:t>
            </a:r>
            <a:endParaRPr lang="en-US" sz="950" dirty="0"/>
          </a:p>
        </p:txBody>
      </p:sp>
      <p:sp>
        <p:nvSpPr>
          <p:cNvPr id="48" name="Shape 38"/>
          <p:cNvSpPr/>
          <p:nvPr/>
        </p:nvSpPr>
        <p:spPr>
          <a:xfrm>
            <a:off x="438912" y="4389120"/>
            <a:ext cx="1554480" cy="713232"/>
          </a:xfrm>
          <a:prstGeom prst="roundRect">
            <a:avLst>
              <a:gd name="adj" fmla="val 15385"/>
            </a:avLst>
          </a:prstGeom>
          <a:solidFill>
            <a:srgbClr val="152050"/>
          </a:solidFill>
          <a:ln w="381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49" name="Text 39"/>
          <p:cNvSpPr/>
          <p:nvPr/>
        </p:nvSpPr>
        <p:spPr>
          <a:xfrm>
            <a:off x="493776" y="4425696"/>
            <a:ext cx="14447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E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4-QD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0E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Detector</a:t>
            </a:r>
            <a:endParaRPr lang="en-US" sz="950" dirty="0"/>
          </a:p>
        </p:txBody>
      </p:sp>
      <p:sp>
        <p:nvSpPr>
          <p:cNvPr id="50" name="Text 40"/>
          <p:cNvSpPr/>
          <p:nvPr/>
        </p:nvSpPr>
        <p:spPr>
          <a:xfrm>
            <a:off x="493776" y="4736592"/>
            <a:ext cx="14447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Hamamatsu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G6849</a:t>
            </a:r>
            <a:endParaRPr lang="en-US" sz="900" dirty="0"/>
          </a:p>
        </p:txBody>
      </p:sp>
      <p:pic>
        <p:nvPicPr>
          <p:cNvPr id="5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11680" y="4599432"/>
            <a:ext cx="109728" cy="109728"/>
          </a:xfrm>
          <a:prstGeom prst="rect">
            <a:avLst/>
          </a:prstGeom>
        </p:spPr>
      </p:pic>
      <p:sp>
        <p:nvSpPr>
          <p:cNvPr id="52" name="Shape 41"/>
          <p:cNvSpPr/>
          <p:nvPr/>
        </p:nvSpPr>
        <p:spPr>
          <a:xfrm>
            <a:off x="2157984" y="4389120"/>
            <a:ext cx="1554480" cy="713232"/>
          </a:xfrm>
          <a:prstGeom prst="roundRect">
            <a:avLst>
              <a:gd name="adj" fmla="val 15385"/>
            </a:avLst>
          </a:prstGeom>
          <a:solidFill>
            <a:srgbClr val="152050"/>
          </a:solidFill>
          <a:ln w="381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53" name="Text 42"/>
          <p:cNvSpPr/>
          <p:nvPr/>
        </p:nvSpPr>
        <p:spPr>
          <a:xfrm>
            <a:off x="2212848" y="4425696"/>
            <a:ext cx="14447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E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ADC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0E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 9220</a:t>
            </a:r>
            <a:endParaRPr lang="en-US" sz="950" dirty="0"/>
          </a:p>
        </p:txBody>
      </p:sp>
      <p:sp>
        <p:nvSpPr>
          <p:cNvPr id="54" name="Text 43"/>
          <p:cNvSpPr/>
          <p:nvPr/>
        </p:nvSpPr>
        <p:spPr>
          <a:xfrm>
            <a:off x="2212848" y="4736592"/>
            <a:ext cx="14447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kHz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±10V</a:t>
            </a:r>
            <a:endParaRPr lang="en-US" sz="900" dirty="0"/>
          </a:p>
        </p:txBody>
      </p:sp>
      <p:pic>
        <p:nvPicPr>
          <p:cNvPr id="5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30752" y="4599432"/>
            <a:ext cx="109728" cy="109728"/>
          </a:xfrm>
          <a:prstGeom prst="rect">
            <a:avLst/>
          </a:prstGeom>
        </p:spPr>
      </p:pic>
      <p:sp>
        <p:nvSpPr>
          <p:cNvPr id="56" name="Shape 44"/>
          <p:cNvSpPr/>
          <p:nvPr/>
        </p:nvSpPr>
        <p:spPr>
          <a:xfrm>
            <a:off x="3877056" y="4389120"/>
            <a:ext cx="1554480" cy="713232"/>
          </a:xfrm>
          <a:prstGeom prst="roundRect">
            <a:avLst>
              <a:gd name="adj" fmla="val 15385"/>
            </a:avLst>
          </a:prstGeom>
          <a:solidFill>
            <a:srgbClr val="152050"/>
          </a:solidFill>
          <a:ln w="381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57" name="Text 45"/>
          <p:cNvSpPr/>
          <p:nvPr/>
        </p:nvSpPr>
        <p:spPr>
          <a:xfrm>
            <a:off x="3931920" y="4425696"/>
            <a:ext cx="14447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E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0E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cRIO</a:t>
            </a:r>
            <a:endParaRPr lang="en-US" sz="950" dirty="0"/>
          </a:p>
        </p:txBody>
      </p:sp>
      <p:sp>
        <p:nvSpPr>
          <p:cNvPr id="58" name="Text 46"/>
          <p:cNvSpPr/>
          <p:nvPr/>
        </p:nvSpPr>
        <p:spPr>
          <a:xfrm>
            <a:off x="3931920" y="4736592"/>
            <a:ext cx="14447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PID+Kalman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kHz loop</a:t>
            </a:r>
            <a:endParaRPr lang="en-US" sz="900" dirty="0"/>
          </a:p>
        </p:txBody>
      </p:sp>
      <p:pic>
        <p:nvPicPr>
          <p:cNvPr id="59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49824" y="4599432"/>
            <a:ext cx="109728" cy="109728"/>
          </a:xfrm>
          <a:prstGeom prst="rect">
            <a:avLst/>
          </a:prstGeom>
        </p:spPr>
      </p:pic>
      <p:sp>
        <p:nvSpPr>
          <p:cNvPr id="60" name="Shape 47"/>
          <p:cNvSpPr/>
          <p:nvPr/>
        </p:nvSpPr>
        <p:spPr>
          <a:xfrm>
            <a:off x="5596128" y="4389120"/>
            <a:ext cx="1554480" cy="713232"/>
          </a:xfrm>
          <a:prstGeom prst="roundRect">
            <a:avLst>
              <a:gd name="adj" fmla="val 15385"/>
            </a:avLst>
          </a:prstGeom>
          <a:solidFill>
            <a:srgbClr val="152050"/>
          </a:solidFill>
          <a:ln w="381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61" name="Text 48"/>
          <p:cNvSpPr/>
          <p:nvPr/>
        </p:nvSpPr>
        <p:spPr>
          <a:xfrm>
            <a:off x="5650992" y="4425696"/>
            <a:ext cx="14447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E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DAC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0E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 9264</a:t>
            </a:r>
            <a:endParaRPr lang="en-US" sz="950" dirty="0"/>
          </a:p>
        </p:txBody>
      </p:sp>
      <p:sp>
        <p:nvSpPr>
          <p:cNvPr id="62" name="Text 49"/>
          <p:cNvSpPr/>
          <p:nvPr/>
        </p:nvSpPr>
        <p:spPr>
          <a:xfrm>
            <a:off x="5650992" y="4736592"/>
            <a:ext cx="14447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FSM drive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±10V</a:t>
            </a:r>
            <a:endParaRPr lang="en-US" sz="900" dirty="0"/>
          </a:p>
        </p:txBody>
      </p:sp>
      <p:pic>
        <p:nvPicPr>
          <p:cNvPr id="6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168896" y="4599432"/>
            <a:ext cx="109728" cy="109728"/>
          </a:xfrm>
          <a:prstGeom prst="rect">
            <a:avLst/>
          </a:prstGeom>
        </p:spPr>
      </p:pic>
      <p:sp>
        <p:nvSpPr>
          <p:cNvPr id="64" name="Shape 50"/>
          <p:cNvSpPr/>
          <p:nvPr/>
        </p:nvSpPr>
        <p:spPr>
          <a:xfrm>
            <a:off x="7315200" y="4389120"/>
            <a:ext cx="1554480" cy="713232"/>
          </a:xfrm>
          <a:prstGeom prst="roundRect">
            <a:avLst>
              <a:gd name="adj" fmla="val 15385"/>
            </a:avLst>
          </a:prstGeom>
          <a:solidFill>
            <a:srgbClr val="152050"/>
          </a:solidFill>
          <a:ln w="381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65" name="Text 51"/>
          <p:cNvSpPr/>
          <p:nvPr/>
        </p:nvSpPr>
        <p:spPr>
          <a:xfrm>
            <a:off x="7370064" y="4425696"/>
            <a:ext cx="14447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E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FSM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0E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 S-330</a:t>
            </a:r>
            <a:endParaRPr lang="en-US" sz="950" dirty="0"/>
          </a:p>
        </p:txBody>
      </p:sp>
      <p:sp>
        <p:nvSpPr>
          <p:cNvPr id="66" name="Text 52"/>
          <p:cNvSpPr/>
          <p:nvPr/>
        </p:nvSpPr>
        <p:spPr>
          <a:xfrm>
            <a:off x="7370064" y="4736592"/>
            <a:ext cx="14447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 μrad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pointing err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F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2286000"/>
            <a:ext cx="3657600" cy="3657600"/>
          </a:xfrm>
          <a:prstGeom prst="ellipse">
            <a:avLst/>
          </a:prstGeom>
          <a:solidFill>
            <a:srgbClr val="7B5EF8">
              <a:alpha val="10000"/>
            </a:srgbClr>
          </a:solidFill>
          <a:ln w="6350">
            <a:solidFill>
              <a:srgbClr val="7B5EF8">
                <a:alpha val="1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B5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 PROCEDURES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Measurement Sequences &amp; Acceptance Criteria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38912" y="1261872"/>
            <a:ext cx="2724912" cy="3520440"/>
          </a:xfrm>
          <a:prstGeom prst="roundRect">
            <a:avLst>
              <a:gd name="adj" fmla="val 4027"/>
            </a:avLst>
          </a:prstGeom>
          <a:solidFill>
            <a:srgbClr val="111D45"/>
          </a:solidFill>
          <a:ln w="381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38912" y="1261872"/>
            <a:ext cx="2724912" cy="384048"/>
          </a:xfrm>
          <a:prstGeom prst="roundRect">
            <a:avLst>
              <a:gd name="adj" fmla="val 28571"/>
            </a:avLst>
          </a:prstGeom>
          <a:solidFill>
            <a:srgbClr val="7B5EF8">
              <a:alpha val="82000"/>
            </a:srgbClr>
          </a:solidFill>
          <a:ln w="12700">
            <a:solidFill>
              <a:srgbClr val="7B5E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261872"/>
            <a:ext cx="2542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F2C"/>
                </a:solidFill>
              </a:rPr>
              <a:t>WFE &amp; Strehl Measurement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85216" y="1792224"/>
            <a:ext cx="228600" cy="228600"/>
          </a:xfrm>
          <a:prstGeom prst="ellipse">
            <a:avLst/>
          </a:prstGeom>
          <a:solidFill>
            <a:srgbClr val="7B5EF8">
              <a:alpha val="75000"/>
            </a:srgbClr>
          </a:solidFill>
          <a:ln w="12700">
            <a:solidFill>
              <a:srgbClr val="7B5E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5216" y="179222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F2C"/>
                </a:solidFill>
              </a:rPr>
              <a:t>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59536" y="1719072"/>
            <a:ext cx="22128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 optic on 6-DOF stage; inject collimated 1550 nm beam from TLS through system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85216" y="2441448"/>
            <a:ext cx="228600" cy="228600"/>
          </a:xfrm>
          <a:prstGeom prst="ellipse">
            <a:avLst/>
          </a:prstGeom>
          <a:solidFill>
            <a:srgbClr val="7B5EF8">
              <a:alpha val="75000"/>
            </a:srgbClr>
          </a:solidFill>
          <a:ln w="12700">
            <a:solidFill>
              <a:srgbClr val="7B5E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5216" y="244144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F2C"/>
                </a:solidFill>
              </a:rPr>
              <a:t>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59536" y="2368296"/>
            <a:ext cx="22128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Shack-Hartmann WFS data: 150-lenslet array, 100 frames averaged, Zernike decomposition via modal fitting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85216" y="3090672"/>
            <a:ext cx="228600" cy="228600"/>
          </a:xfrm>
          <a:prstGeom prst="ellipse">
            <a:avLst/>
          </a:prstGeom>
          <a:solidFill>
            <a:srgbClr val="7B5EF8">
              <a:alpha val="75000"/>
            </a:srgbClr>
          </a:solidFill>
          <a:ln w="12700">
            <a:solidFill>
              <a:srgbClr val="7B5E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5216" y="309067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F2C"/>
                </a:solidFill>
              </a:rPr>
              <a:t>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59536" y="3017520"/>
            <a:ext cx="22128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RMS WFE from Z4–Z37 Zernike terms. Verify RSS total &lt; 30 nm. Compute Strehl via Maréchal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85216" y="3739896"/>
            <a:ext cx="228600" cy="228600"/>
          </a:xfrm>
          <a:prstGeom prst="ellipse">
            <a:avLst/>
          </a:prstGeom>
          <a:solidFill>
            <a:srgbClr val="7B5EF8">
              <a:alpha val="75000"/>
            </a:srgbClr>
          </a:solidFill>
          <a:ln w="12700">
            <a:solidFill>
              <a:srgbClr val="7B5E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5216" y="373989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F2C"/>
                </a:solidFill>
              </a:rPr>
              <a:t>4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59536" y="3666744"/>
            <a:ext cx="22128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Acceptance: S &gt; 0.80. Flag contributors &gt; allocation. Iterate polish / alignment until pass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30352" y="4663440"/>
            <a:ext cx="2542032" cy="256032"/>
          </a:xfrm>
          <a:prstGeom prst="roundRect">
            <a:avLst>
              <a:gd name="adj" fmla="val 21429"/>
            </a:avLst>
          </a:prstGeom>
          <a:solidFill>
            <a:srgbClr val="7B5EF8">
              <a:alpha val="25000"/>
            </a:srgbClr>
          </a:solidFill>
          <a:ln w="12700">
            <a:solidFill>
              <a:srgbClr val="7B5E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681728"/>
            <a:ext cx="2505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B5EF8"/>
                </a:solidFill>
              </a:rPr>
              <a:t>✓ RSS WFE &lt; 30 nm  |  Strehl S &gt; 0.80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346704" y="1261872"/>
            <a:ext cx="2724912" cy="3520440"/>
          </a:xfrm>
          <a:prstGeom prst="roundRect">
            <a:avLst>
              <a:gd name="adj" fmla="val 4027"/>
            </a:avLst>
          </a:prstGeom>
          <a:solidFill>
            <a:srgbClr val="111D45"/>
          </a:solidFill>
          <a:ln w="381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346704" y="1261872"/>
            <a:ext cx="2724912" cy="384048"/>
          </a:xfrm>
          <a:prstGeom prst="roundRect">
            <a:avLst>
              <a:gd name="adj" fmla="val 28571"/>
            </a:avLst>
          </a:prstGeom>
          <a:solidFill>
            <a:srgbClr val="00E5C0">
              <a:alpha val="82000"/>
            </a:srgbClr>
          </a:solidFill>
          <a:ln w="12700">
            <a:solidFill>
              <a:srgbClr val="00E5C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38144" y="1261872"/>
            <a:ext cx="2542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F2C"/>
                </a:solidFill>
              </a:rPr>
              <a:t>FSM Frequency Response &amp; Loop Closure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493008" y="1792224"/>
            <a:ext cx="228600" cy="228600"/>
          </a:xfrm>
          <a:prstGeom prst="ellipse">
            <a:avLst/>
          </a:prstGeom>
          <a:solidFill>
            <a:srgbClr val="00E5C0">
              <a:alpha val="75000"/>
            </a:srgbClr>
          </a:solidFill>
          <a:ln w="12700">
            <a:solidFill>
              <a:srgbClr val="00E5C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93008" y="179222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F2C"/>
                </a:solidFill>
              </a:rPr>
              <a:t>1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767328" y="1719072"/>
            <a:ext cx="22128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 swept-sine ±0.5 mrad from AWG into FSM. Measure 4-QD output. Compute open-loop transfer function H(f) = Output/Input via FFT ratio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493008" y="2441448"/>
            <a:ext cx="228600" cy="228600"/>
          </a:xfrm>
          <a:prstGeom prst="ellipse">
            <a:avLst/>
          </a:prstGeom>
          <a:solidFill>
            <a:srgbClr val="00E5C0">
              <a:alpha val="75000"/>
            </a:srgbClr>
          </a:solidFill>
          <a:ln w="12700">
            <a:solidFill>
              <a:srgbClr val="00E5C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93008" y="244144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F2C"/>
                </a:solidFill>
              </a:rPr>
              <a:t>2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767328" y="2368296"/>
            <a:ext cx="22128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second-order model P(s) to identify ω_n, ζ, K_act. Extract all mechanical resonance frequencies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493008" y="3090672"/>
            <a:ext cx="228600" cy="228600"/>
          </a:xfrm>
          <a:prstGeom prst="ellipse">
            <a:avLst/>
          </a:prstGeom>
          <a:solidFill>
            <a:srgbClr val="00E5C0">
              <a:alpha val="75000"/>
            </a:srgbClr>
          </a:solidFill>
          <a:ln w="12700">
            <a:solidFill>
              <a:srgbClr val="00E5C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93008" y="309067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F2C"/>
                </a:solidFill>
              </a:rPr>
              <a:t>3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67328" y="3017520"/>
            <a:ext cx="22128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PID + notch in MATLAB using loop shaping. Target crossover f_c ≈ 300 Hz, PM &gt; 45°. Simulate closed-loop step response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493008" y="3739896"/>
            <a:ext cx="228600" cy="228600"/>
          </a:xfrm>
          <a:prstGeom prst="ellipse">
            <a:avLst/>
          </a:prstGeom>
          <a:solidFill>
            <a:srgbClr val="00E5C0">
              <a:alpha val="75000"/>
            </a:srgbClr>
          </a:solidFill>
          <a:ln w="12700">
            <a:solidFill>
              <a:srgbClr val="00E5C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93008" y="373989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F2C"/>
                </a:solidFill>
              </a:rPr>
              <a:t>4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767328" y="3666744"/>
            <a:ext cx="22128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loop on cRIO FPGA. Inject RW harmonic disturbance (60/120/180 Hz). Measure closed-loop error PSD. Verify RMS &lt; 5 μrad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438144" y="4663440"/>
            <a:ext cx="2542032" cy="256032"/>
          </a:xfrm>
          <a:prstGeom prst="roundRect">
            <a:avLst>
              <a:gd name="adj" fmla="val 21429"/>
            </a:avLst>
          </a:prstGeom>
          <a:solidFill>
            <a:srgbClr val="00E5C0">
              <a:alpha val="25000"/>
            </a:srgbClr>
          </a:solidFill>
          <a:ln w="12700">
            <a:solidFill>
              <a:srgbClr val="00E5C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56432" y="4681728"/>
            <a:ext cx="2505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C0"/>
                </a:solidFill>
              </a:rPr>
              <a:t>✓ Pointing error RMS &lt; 5 μrad  |  BW &gt; 500 Hz  |  Stable (no oscillation)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254496" y="1261872"/>
            <a:ext cx="2724912" cy="3520440"/>
          </a:xfrm>
          <a:prstGeom prst="roundRect">
            <a:avLst>
              <a:gd name="adj" fmla="val 4027"/>
            </a:avLst>
          </a:prstGeom>
          <a:solidFill>
            <a:srgbClr val="111D45"/>
          </a:solidFill>
          <a:ln w="381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254496" y="1261872"/>
            <a:ext cx="2724912" cy="384048"/>
          </a:xfrm>
          <a:prstGeom prst="roundRect">
            <a:avLst>
              <a:gd name="adj" fmla="val 28571"/>
            </a:avLst>
          </a:prstGeom>
          <a:solidFill>
            <a:srgbClr val="00C8FF">
              <a:alpha val="82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45936" y="1261872"/>
            <a:ext cx="2542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F2C"/>
                </a:solidFill>
              </a:rPr>
              <a:t>BER vs. Received Power (Waterfall Curve)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400800" y="1792224"/>
            <a:ext cx="228600" cy="228600"/>
          </a:xfrm>
          <a:prstGeom prst="ellipse">
            <a:avLst/>
          </a:prstGeom>
          <a:solidFill>
            <a:srgbClr val="00C8FF">
              <a:alpha val="75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00800" y="179222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F2C"/>
                </a:solidFill>
              </a:rPr>
              <a:t>1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675120" y="1719072"/>
            <a:ext cx="22128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Setup: AWG → MZM → EDFA → VOA → APD → TIA → BERT. Fix data rate (10 Gbps PRBS-31)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400800" y="2441448"/>
            <a:ext cx="228600" cy="228600"/>
          </a:xfrm>
          <a:prstGeom prst="ellipse">
            <a:avLst/>
          </a:prstGeom>
          <a:solidFill>
            <a:srgbClr val="00C8FF">
              <a:alpha val="75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00800" y="244144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F2C"/>
                </a:solidFill>
              </a:rPr>
              <a:t>2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675120" y="2368296"/>
            <a:ext cx="22128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Sweep VOA attenuation from 0 dB to −35 dB in 0.5 dB steps. At each step, record BER from BERT over 60-second integration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400800" y="3090672"/>
            <a:ext cx="228600" cy="228600"/>
          </a:xfrm>
          <a:prstGeom prst="ellipse">
            <a:avLst/>
          </a:prstGeom>
          <a:solidFill>
            <a:srgbClr val="00C8FF">
              <a:alpha val="75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00800" y="309067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F2C"/>
                </a:solidFill>
              </a:rPr>
              <a:t>3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675120" y="3017520"/>
            <a:ext cx="22128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BER vs. P_rx (waterfall curve). Fit to theoretical Q-function model: BER = 0.5·erfc(Q/√2)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400800" y="3739896"/>
            <a:ext cx="228600" cy="228600"/>
          </a:xfrm>
          <a:prstGeom prst="ellipse">
            <a:avLst/>
          </a:prstGeom>
          <a:solidFill>
            <a:srgbClr val="00C8FF">
              <a:alpha val="75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00800" y="373989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F2C"/>
                </a:solidFill>
              </a:rPr>
              <a:t>4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675120" y="3666744"/>
            <a:ext cx="22128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sensitivity at BER = 10⁻¹². Compare to link budget requirement. Verify margin ≥ 3 dB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345936" y="4663440"/>
            <a:ext cx="2542032" cy="256032"/>
          </a:xfrm>
          <a:prstGeom prst="roundRect">
            <a:avLst>
              <a:gd name="adj" fmla="val 21429"/>
            </a:avLst>
          </a:prstGeom>
          <a:solidFill>
            <a:srgbClr val="00C8FF">
              <a:alpha val="25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364224" y="4681728"/>
            <a:ext cx="2505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C8FF"/>
                </a:solidFill>
              </a:rPr>
              <a:t>✓ Sensitivity ≤ −35 dBm @ 10 Gbps, BER = 10⁻¹²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F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457200"/>
            <a:ext cx="3657600" cy="3657600"/>
          </a:xfrm>
          <a:prstGeom prst="ellipse">
            <a:avLst/>
          </a:prstGeom>
          <a:solidFill>
            <a:srgbClr val="FF6B6B">
              <a:alpha val="10000"/>
            </a:srgbClr>
          </a:solidFill>
          <a:ln w="6350">
            <a:solidFill>
              <a:srgbClr val="FF6B6B">
                <a:alpha val="1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QUALIFICATION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Thermal Vacuum &amp; Vibration Test Setup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38912" y="1261872"/>
            <a:ext cx="4160520" cy="3584448"/>
          </a:xfrm>
          <a:prstGeom prst="roundRect">
            <a:avLst>
              <a:gd name="adj" fmla="val 3061"/>
            </a:avLst>
          </a:prstGeom>
          <a:solidFill>
            <a:srgbClr val="111D45"/>
          </a:solidFill>
          <a:ln w="381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76072" y="1353312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Vacuum (TVAC) Test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76072" y="1719072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Chamber: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76072" y="1938528"/>
            <a:ext cx="3886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1m³ stainless steel TVAC chamber. Base pressure &lt; 10⁻⁶ mbar (turbomolecular pump). Temperature range: −100°C to +150°C (LN₂ shroud + heater elements).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76072" y="2304288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cycling: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76072" y="2523744"/>
            <a:ext cx="3886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complete cycles per ECSS-Q-ST-70-04: cold soak at −40°C for 2h, hot soak at +70°C for 2h. Ramp rate: 2°C/min. Monitor WFE vs. temperature continuously.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76072" y="2889504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In-situ WFE monitoring: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76072" y="3108960"/>
            <a:ext cx="3886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Fiber-pigtailed TLS + Shack-Hartmann WFS coupled through TVAC optical viewport (fused silica window). Records Zernike coefficients vs. temperature in real time.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76072" y="3474720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control: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76072" y="3694176"/>
            <a:ext cx="3886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MLI blankets + thermoelectric coolers (TEC) on critical optics. Temperature telemetry: 16-ch NI-9213 TC module. Log ΔT gradient across aperture.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76072" y="4059936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criteria: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76072" y="4279392"/>
            <a:ext cx="3886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WFE RSS &lt; 35 nm at all temperatures; Strehl S &gt; 0.78 at thermal extremes; no optical element de-bonds or misaligns by &gt; 10 μm.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54880" y="1261872"/>
            <a:ext cx="4023360" cy="3584448"/>
          </a:xfrm>
          <a:prstGeom prst="roundRect">
            <a:avLst>
              <a:gd name="adj" fmla="val 3061"/>
            </a:avLst>
          </a:prstGeom>
          <a:solidFill>
            <a:srgbClr val="111D45"/>
          </a:solidFill>
          <a:ln w="381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92040" y="135331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Vibration &amp; Shock Test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92040" y="1719072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Shaker system: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92040" y="1938528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LDS V830 or IMV F-series electrodynamic shaker. Force: 18 kN. Frequency: 5–3000 Hz. 3-axis sequential testing (X, Y, Z).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892040" y="2304288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vibration: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92040" y="2523744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Spectrum per GEVS-7000A Table 2.4.1 (CubeSat level): 0.04 g²/Hz from 20–50 Hz, −6 dB/oct roll-off. Overall: 14.1 g_rms. Duration: 60 sec/axis.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892040" y="2889504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Sine sweep: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92040" y="3108960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5–100 Hz at 4 oct/min, 1.5g. Identifies resonant frequencies. Re-run post-random to check for frequency shift (&gt; 5% = structural failure indicator).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892040" y="3474720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Shock test: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92040" y="3694176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Pyrotechnic shock: half-sine pulse 3000g, 0.5 ms. Simulates separation event. Post-shock: re-measure WFE and re-run BER test.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892040" y="4059936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 suite: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92040" y="4279392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Accelerometers (PCB 353B15) on optical bench, telescope mount, and FSM. Data logger: LMS SCADAS. Post-processing: LMS Test.Lab or MATLAB.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38912" y="4919472"/>
            <a:ext cx="8339328" cy="411480"/>
          </a:xfrm>
          <a:prstGeom prst="roundRect">
            <a:avLst>
              <a:gd name="adj" fmla="val 26667"/>
            </a:avLst>
          </a:prstGeom>
          <a:solidFill>
            <a:srgbClr val="152050"/>
          </a:solidFill>
          <a:ln w="381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76072" y="4974336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B5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Radiation: 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298448" y="4974336"/>
            <a:ext cx="7269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EDFA Er-fiber and InGaAs APD irradiated to mission TID (10–50 krad Si) using Co-60 source. Monitor gain, NF, dark current vs. dose. Pre-anneal fiber at 100°C for 72h to establish stable degradation baseline.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F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457200"/>
            <a:ext cx="3657600" cy="3657600"/>
          </a:xfrm>
          <a:prstGeom prst="ellipse">
            <a:avLst/>
          </a:prstGeom>
          <a:solidFill>
            <a:srgbClr val="00C8FF">
              <a:alpha val="12000"/>
            </a:srgbClr>
          </a:solidFill>
          <a:ln w="6350">
            <a:solidFill>
              <a:srgbClr val="00C8FF">
                <a:alpha val="17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— DATA PIPELINE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Data Flow, Storage &amp; Analysis Pipeline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38912" y="1261872"/>
            <a:ext cx="8339328" cy="658368"/>
          </a:xfrm>
          <a:prstGeom prst="roundRect">
            <a:avLst>
              <a:gd name="adj" fmla="val 16667"/>
            </a:avLst>
          </a:prstGeom>
          <a:solidFill>
            <a:srgbClr val="111D45"/>
          </a:solidFill>
          <a:ln w="381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6928" y="1389888"/>
            <a:ext cx="402336" cy="402336"/>
          </a:xfrm>
          <a:prstGeom prst="ellipse">
            <a:avLst/>
          </a:prstGeom>
          <a:solidFill>
            <a:srgbClr val="FF6B6B">
              <a:alpha val="80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3898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F2C"/>
                </a:solidFill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78992" y="133502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 acquisition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78992" y="1609344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instruments write to shared HDF5 file via NI-DAQmx streaming + custom Python SCPI logger. Time-stamped to GPS 1PPS reference. Typical dataset: 50–200 GB per full test day.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8912" y="1993392"/>
            <a:ext cx="8339328" cy="658368"/>
          </a:xfrm>
          <a:prstGeom prst="roundRect">
            <a:avLst>
              <a:gd name="adj" fmla="val 16667"/>
            </a:avLst>
          </a:prstGeom>
          <a:solidFill>
            <a:srgbClr val="111D45"/>
          </a:solidFill>
          <a:ln w="381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66928" y="2121408"/>
            <a:ext cx="402336" cy="402336"/>
          </a:xfrm>
          <a:prstGeom prst="ellipse">
            <a:avLst/>
          </a:prstGeom>
          <a:solidFill>
            <a:srgbClr val="FFD166">
              <a:alpha val="80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1214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F2C"/>
                </a:solidFill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78992" y="206654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QA dashboard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78992" y="2340864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+ InfluxDB stack. Instruments publish telemetry via MQTT. Dashboard shows BER, WFE, pointing error, thermal map in real time. Alerts on out-of-spec events.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38912" y="2724912"/>
            <a:ext cx="8339328" cy="658368"/>
          </a:xfrm>
          <a:prstGeom prst="roundRect">
            <a:avLst>
              <a:gd name="adj" fmla="val 16667"/>
            </a:avLst>
          </a:prstGeom>
          <a:solidFill>
            <a:srgbClr val="111D45"/>
          </a:solidFill>
          <a:ln w="381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66928" y="2852928"/>
            <a:ext cx="402336" cy="402336"/>
          </a:xfrm>
          <a:prstGeom prst="ellipse">
            <a:avLst/>
          </a:prstGeom>
          <a:solidFill>
            <a:srgbClr val="00C8FF">
              <a:alpha val="80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28529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F2C"/>
                </a:solidFill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78992" y="279806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Post-processing pipeline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78992" y="3072384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pipeline (pytest-based): load HDF5 → run signal processing modules → compute KPIs (BER, Strehl, pointing RMS, link margin) → compare vs. acceptance criteria → flag failures.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38912" y="3456432"/>
            <a:ext cx="8339328" cy="658368"/>
          </a:xfrm>
          <a:prstGeom prst="roundRect">
            <a:avLst>
              <a:gd name="adj" fmla="val 16667"/>
            </a:avLst>
          </a:prstGeom>
          <a:solidFill>
            <a:srgbClr val="111D45"/>
          </a:solidFill>
          <a:ln w="381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66928" y="3584448"/>
            <a:ext cx="402336" cy="402336"/>
          </a:xfrm>
          <a:prstGeom prst="ellipse">
            <a:avLst/>
          </a:prstGeom>
          <a:solidFill>
            <a:srgbClr val="7B5EF8">
              <a:alpha val="80000"/>
            </a:srgbClr>
          </a:solidFill>
          <a:ln w="12700">
            <a:solidFill>
              <a:srgbClr val="7B5E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35844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F2C"/>
                </a:solidFill>
              </a:rPr>
              <a:t>04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78992" y="352958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5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analysis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78992" y="3803904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 over N=1000 test runs: compute yield (% of assemblies passing all criteria). Allan deviation of pointing error. Welch PSD of jitter. PDF fitting of WFE contributors.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38912" y="4187952"/>
            <a:ext cx="8339328" cy="658368"/>
          </a:xfrm>
          <a:prstGeom prst="roundRect">
            <a:avLst>
              <a:gd name="adj" fmla="val 16667"/>
            </a:avLst>
          </a:prstGeom>
          <a:solidFill>
            <a:srgbClr val="111D45"/>
          </a:solidFill>
          <a:ln w="381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66928" y="4315968"/>
            <a:ext cx="402336" cy="402336"/>
          </a:xfrm>
          <a:prstGeom prst="ellipse">
            <a:avLst/>
          </a:prstGeom>
          <a:solidFill>
            <a:srgbClr val="00E5C0">
              <a:alpha val="80000"/>
            </a:srgbClr>
          </a:solidFill>
          <a:ln w="12700">
            <a:solidFill>
              <a:srgbClr val="00E5C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43159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F2C"/>
                </a:solidFill>
              </a:rPr>
              <a:t>05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78992" y="426110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generation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78992" y="4535424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Jupyter-to-PDF report: plots, tables, pass/fail matrix. Version-controlled in Git. Links each measured KPI back to design requirement. Traceable to link budget.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4956048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Python packages: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194560" y="4956048"/>
            <a:ext cx="749808" cy="219456"/>
          </a:xfrm>
          <a:prstGeom prst="roundRect">
            <a:avLst>
              <a:gd name="adj" fmla="val 25000"/>
            </a:avLst>
          </a:prstGeom>
          <a:solidFill>
            <a:srgbClr val="00C8FF">
              <a:alpha val="20000"/>
            </a:srgbClr>
          </a:solidFill>
          <a:ln w="5080">
            <a:solidFill>
              <a:srgbClr val="00C8FF">
                <a:alpha val="7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194560" y="4956048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C8FF"/>
                </a:solidFill>
              </a:rPr>
              <a:t>numpy / scipy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017520" y="4956048"/>
            <a:ext cx="749808" cy="219456"/>
          </a:xfrm>
          <a:prstGeom prst="roundRect">
            <a:avLst>
              <a:gd name="adj" fmla="val 25000"/>
            </a:avLst>
          </a:prstGeom>
          <a:solidFill>
            <a:srgbClr val="00C8FF">
              <a:alpha val="20000"/>
            </a:srgbClr>
          </a:solidFill>
          <a:ln w="5080">
            <a:solidFill>
              <a:srgbClr val="00C8FF">
                <a:alpha val="7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017520" y="4956048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C8FF"/>
                </a:solidFill>
              </a:rPr>
              <a:t>matplotlib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840480" y="4956048"/>
            <a:ext cx="749808" cy="219456"/>
          </a:xfrm>
          <a:prstGeom prst="roundRect">
            <a:avLst>
              <a:gd name="adj" fmla="val 25000"/>
            </a:avLst>
          </a:prstGeom>
          <a:solidFill>
            <a:srgbClr val="00C8FF">
              <a:alpha val="20000"/>
            </a:srgbClr>
          </a:solidFill>
          <a:ln w="5080">
            <a:solidFill>
              <a:srgbClr val="00C8FF">
                <a:alpha val="7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840480" y="4956048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C8FF"/>
                </a:solidFill>
              </a:rPr>
              <a:t>h5py (HDF5)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663440" y="4956048"/>
            <a:ext cx="749808" cy="219456"/>
          </a:xfrm>
          <a:prstGeom prst="roundRect">
            <a:avLst>
              <a:gd name="adj" fmla="val 25000"/>
            </a:avLst>
          </a:prstGeom>
          <a:solidFill>
            <a:srgbClr val="00C8FF">
              <a:alpha val="20000"/>
            </a:srgbClr>
          </a:solidFill>
          <a:ln w="5080">
            <a:solidFill>
              <a:srgbClr val="00C8FF">
                <a:alpha val="7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63440" y="4956048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C8FF"/>
                </a:solidFill>
              </a:rPr>
              <a:t>pyvisa (SCPI)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486400" y="4956048"/>
            <a:ext cx="749808" cy="219456"/>
          </a:xfrm>
          <a:prstGeom prst="roundRect">
            <a:avLst>
              <a:gd name="adj" fmla="val 25000"/>
            </a:avLst>
          </a:prstGeom>
          <a:solidFill>
            <a:srgbClr val="00C8FF">
              <a:alpha val="20000"/>
            </a:srgbClr>
          </a:solidFill>
          <a:ln w="5080">
            <a:solidFill>
              <a:srgbClr val="00C8FF">
                <a:alpha val="7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86400" y="4956048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C8FF"/>
                </a:solidFill>
              </a:rPr>
              <a:t>control (Bode/root locus)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6309360" y="4956048"/>
            <a:ext cx="749808" cy="219456"/>
          </a:xfrm>
          <a:prstGeom prst="roundRect">
            <a:avLst>
              <a:gd name="adj" fmla="val 25000"/>
            </a:avLst>
          </a:prstGeom>
          <a:solidFill>
            <a:srgbClr val="00C8FF">
              <a:alpha val="20000"/>
            </a:srgbClr>
          </a:solidFill>
          <a:ln w="5080">
            <a:solidFill>
              <a:srgbClr val="00C8FF">
                <a:alpha val="70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09360" y="4956048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C8FF"/>
                </a:solidFill>
              </a:rPr>
              <a:t>astropy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7132320" y="4956048"/>
            <a:ext cx="749808" cy="219456"/>
          </a:xfrm>
          <a:prstGeom prst="roundRect">
            <a:avLst>
              <a:gd name="adj" fmla="val 25000"/>
            </a:avLst>
          </a:prstGeom>
          <a:solidFill>
            <a:srgbClr val="00C8FF">
              <a:alpha val="20000"/>
            </a:srgbClr>
          </a:solidFill>
          <a:ln w="5080">
            <a:solidFill>
              <a:srgbClr val="00C8FF">
                <a:alpha val="70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132320" y="4956048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C8FF"/>
                </a:solidFill>
              </a:rPr>
              <a:t>pytest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7955280" y="4956048"/>
            <a:ext cx="749808" cy="219456"/>
          </a:xfrm>
          <a:prstGeom prst="roundRect">
            <a:avLst>
              <a:gd name="adj" fmla="val 25000"/>
            </a:avLst>
          </a:prstGeom>
          <a:solidFill>
            <a:srgbClr val="00C8FF">
              <a:alpha val="20000"/>
            </a:srgbClr>
          </a:solidFill>
          <a:ln w="5080">
            <a:solidFill>
              <a:srgbClr val="00C8FF">
                <a:alpha val="70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955280" y="4956048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C8FF"/>
                </a:solidFill>
              </a:rPr>
              <a:t>jupyter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F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731520"/>
            <a:ext cx="5486400" cy="5486400"/>
          </a:xfrm>
          <a:prstGeom prst="ellipse">
            <a:avLst/>
          </a:prstGeom>
          <a:solidFill>
            <a:srgbClr val="7B5EF8">
              <a:alpha val="14000"/>
            </a:srgbClr>
          </a:solidFill>
          <a:ln w="6350">
            <a:solidFill>
              <a:srgbClr val="7B5EF8">
                <a:alpha val="19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00E5C0">
              <a:alpha val="10000"/>
            </a:srgbClr>
          </a:solidFill>
          <a:ln w="6350">
            <a:solidFill>
              <a:srgbClr val="00E5C0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E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30352"/>
            <a:ext cx="7772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Setup Summary &amp;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6400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0E5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Readiness Checklist</a:t>
            </a:r>
            <a:endParaRPr lang="en-US" sz="3300" dirty="0"/>
          </a:p>
        </p:txBody>
      </p:sp>
      <p:sp>
        <p:nvSpPr>
          <p:cNvPr id="7" name="Shape 5"/>
          <p:cNvSpPr/>
          <p:nvPr/>
        </p:nvSpPr>
        <p:spPr>
          <a:xfrm>
            <a:off x="438912" y="1783080"/>
            <a:ext cx="2724912" cy="1444752"/>
          </a:xfrm>
          <a:prstGeom prst="roundRect">
            <a:avLst>
              <a:gd name="adj" fmla="val 7595"/>
            </a:avLst>
          </a:prstGeom>
          <a:solidFill>
            <a:srgbClr val="111D45"/>
          </a:solidFill>
          <a:ln w="381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38912" y="1783080"/>
            <a:ext cx="2724912" cy="347472"/>
          </a:xfrm>
          <a:prstGeom prst="roundRect">
            <a:avLst>
              <a:gd name="adj" fmla="val 31579"/>
            </a:avLst>
          </a:prstGeom>
          <a:solidFill>
            <a:srgbClr val="FF6B6B">
              <a:alpha val="82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1783080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F2C"/>
                </a:solidFill>
              </a:rPr>
              <a:t>Optical Bench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3504" y="2304288"/>
            <a:ext cx="109728" cy="109728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8952" y="2258568"/>
            <a:ext cx="23225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table (pneumatic active)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03504" y="2514600"/>
            <a:ext cx="109728" cy="109728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8952" y="2468880"/>
            <a:ext cx="23225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6-DOF kinematic mounts for all optics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03504" y="2724912"/>
            <a:ext cx="109728" cy="109728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8952" y="2679192"/>
            <a:ext cx="23225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Beam expander + polarization optics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03504" y="2935224"/>
            <a:ext cx="109728" cy="109728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2889504"/>
            <a:ext cx="23225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Fizeau interferometer + Shack-Hartmann WFS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03504" y="3145536"/>
            <a:ext cx="109728" cy="109728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8952" y="3099816"/>
            <a:ext cx="23225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ND filter set + power meter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346704" y="1783080"/>
            <a:ext cx="2724912" cy="1444752"/>
          </a:xfrm>
          <a:prstGeom prst="roundRect">
            <a:avLst>
              <a:gd name="adj" fmla="val 7595"/>
            </a:avLst>
          </a:prstGeom>
          <a:solidFill>
            <a:srgbClr val="111D45"/>
          </a:solidFill>
          <a:ln w="381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346704" y="1783080"/>
            <a:ext cx="2724912" cy="347472"/>
          </a:xfrm>
          <a:prstGeom prst="roundRect">
            <a:avLst>
              <a:gd name="adj" fmla="val 31579"/>
            </a:avLst>
          </a:prstGeom>
          <a:solidFill>
            <a:srgbClr val="FFD166">
              <a:alpha val="82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38144" y="1783080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F2C"/>
                </a:solidFill>
              </a:rPr>
              <a:t>TX Chain Instruments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511296" y="2304288"/>
            <a:ext cx="109728" cy="109728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66744" y="2258568"/>
            <a:ext cx="23225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Tunable laser source (Keysight 81600B)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511296" y="2514600"/>
            <a:ext cx="109728" cy="109728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66744" y="2468880"/>
            <a:ext cx="23225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Optical spectrum analyzer (Yokogawa AQ6370D)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511296" y="2724912"/>
            <a:ext cx="109728" cy="109728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66744" y="2679192"/>
            <a:ext cx="23225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Arbitrary waveform generator (Keysight M8195A)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511296" y="2935224"/>
            <a:ext cx="109728" cy="109728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66744" y="2889504"/>
            <a:ext cx="23225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VNA for EO bandwidth (Keysight E5063A)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511296" y="3145536"/>
            <a:ext cx="109728" cy="109728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66744" y="3099816"/>
            <a:ext cx="23225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EDFA gain + NF characterization setup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254496" y="1783080"/>
            <a:ext cx="2724912" cy="1444752"/>
          </a:xfrm>
          <a:prstGeom prst="roundRect">
            <a:avLst>
              <a:gd name="adj" fmla="val 7595"/>
            </a:avLst>
          </a:prstGeom>
          <a:solidFill>
            <a:srgbClr val="111D45"/>
          </a:solidFill>
          <a:ln w="381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254496" y="1783080"/>
            <a:ext cx="2724912" cy="347472"/>
          </a:xfrm>
          <a:prstGeom prst="roundRect">
            <a:avLst>
              <a:gd name="adj" fmla="val 31579"/>
            </a:avLst>
          </a:prstGeom>
          <a:solidFill>
            <a:srgbClr val="00C8FF">
              <a:alpha val="82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45936" y="1783080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F2C"/>
                </a:solidFill>
              </a:rPr>
              <a:t>RX Chain &amp; BER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419088" y="2304288"/>
            <a:ext cx="109728" cy="109728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74536" y="2258568"/>
            <a:ext cx="23225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InGaAs APD bias + characterization (Keithley SMU)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419088" y="2514600"/>
            <a:ext cx="109728" cy="109728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74536" y="2468880"/>
            <a:ext cx="23225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(Anritsu MP1800A)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419088" y="2724912"/>
            <a:ext cx="109728" cy="109728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74536" y="2679192"/>
            <a:ext cx="23225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optical attenuator sweep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419088" y="2935224"/>
            <a:ext cx="109728" cy="109728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74536" y="2889504"/>
            <a:ext cx="23225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 oscilloscope (Keysight 86100D)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419088" y="3145536"/>
            <a:ext cx="109728" cy="109728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74536" y="3099816"/>
            <a:ext cx="23225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 spectrum analyzer (Keysight N9010B)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38912" y="3355848"/>
            <a:ext cx="2724912" cy="1444752"/>
          </a:xfrm>
          <a:prstGeom prst="roundRect">
            <a:avLst>
              <a:gd name="adj" fmla="val 7595"/>
            </a:avLst>
          </a:prstGeom>
          <a:solidFill>
            <a:srgbClr val="111D45"/>
          </a:solidFill>
          <a:ln w="381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38912" y="3355848"/>
            <a:ext cx="2724912" cy="347472"/>
          </a:xfrm>
          <a:prstGeom prst="roundRect">
            <a:avLst>
              <a:gd name="adj" fmla="val 31579"/>
            </a:avLst>
          </a:prstGeom>
          <a:solidFill>
            <a:srgbClr val="00E5C0">
              <a:alpha val="82000"/>
            </a:srgbClr>
          </a:solidFill>
          <a:ln w="12700">
            <a:solidFill>
              <a:srgbClr val="00E5C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30352" y="3355848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F2C"/>
                </a:solidFill>
              </a:rPr>
              <a:t>PAT System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03504" y="3877056"/>
            <a:ext cx="109728" cy="109728"/>
          </a:xfrm>
          <a:prstGeom prst="ellipse">
            <a:avLst/>
          </a:prstGeom>
          <a:solidFill>
            <a:srgbClr val="00E5C0"/>
          </a:solidFill>
          <a:ln w="12700">
            <a:solidFill>
              <a:srgbClr val="00E5C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58952" y="3831336"/>
            <a:ext cx="23225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Jitter emulator (PI S-330 + AWG drive)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03504" y="4087368"/>
            <a:ext cx="109728" cy="109728"/>
          </a:xfrm>
          <a:prstGeom prst="ellipse">
            <a:avLst/>
          </a:prstGeom>
          <a:solidFill>
            <a:srgbClr val="00E5C0"/>
          </a:solidFill>
          <a:ln w="12700">
            <a:solidFill>
              <a:srgbClr val="00E5C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58952" y="4041648"/>
            <a:ext cx="23225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4-QD detector (Hamamatsu G6849)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03504" y="4297680"/>
            <a:ext cx="109728" cy="109728"/>
          </a:xfrm>
          <a:prstGeom prst="ellipse">
            <a:avLst/>
          </a:prstGeom>
          <a:solidFill>
            <a:srgbClr val="00E5C0"/>
          </a:solidFill>
          <a:ln w="12700">
            <a:solidFill>
              <a:srgbClr val="00E5C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58952" y="4251960"/>
            <a:ext cx="23225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 cRIO-9049 FPGA controller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603504" y="4507992"/>
            <a:ext cx="109728" cy="109728"/>
          </a:xfrm>
          <a:prstGeom prst="ellipse">
            <a:avLst/>
          </a:prstGeom>
          <a:solidFill>
            <a:srgbClr val="00E5C0"/>
          </a:solidFill>
          <a:ln w="12700">
            <a:solidFill>
              <a:srgbClr val="00E5C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58952" y="4462272"/>
            <a:ext cx="23225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 E-727 high-voltage FSM driver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603504" y="4718304"/>
            <a:ext cx="109728" cy="109728"/>
          </a:xfrm>
          <a:prstGeom prst="ellipse">
            <a:avLst/>
          </a:prstGeom>
          <a:solidFill>
            <a:srgbClr val="00E5C0"/>
          </a:solidFill>
          <a:ln w="12700">
            <a:solidFill>
              <a:srgbClr val="00E5C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58952" y="4672584"/>
            <a:ext cx="23225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CMOS InGaAs camera (acquisition phase)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3346704" y="3355848"/>
            <a:ext cx="2724912" cy="1444752"/>
          </a:xfrm>
          <a:prstGeom prst="roundRect">
            <a:avLst>
              <a:gd name="adj" fmla="val 7595"/>
            </a:avLst>
          </a:prstGeom>
          <a:solidFill>
            <a:srgbClr val="111D45"/>
          </a:solidFill>
          <a:ln w="381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3346704" y="3355848"/>
            <a:ext cx="2724912" cy="347472"/>
          </a:xfrm>
          <a:prstGeom prst="roundRect">
            <a:avLst>
              <a:gd name="adj" fmla="val 31579"/>
            </a:avLst>
          </a:prstGeom>
          <a:solidFill>
            <a:srgbClr val="00C8FF">
              <a:alpha val="82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438144" y="3355848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F2C"/>
                </a:solidFill>
              </a:rPr>
              <a:t>DAQ &amp; Software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3511296" y="3877056"/>
            <a:ext cx="109728" cy="109728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666744" y="3831336"/>
            <a:ext cx="23225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PXI digitizer (NI PXIe-5186, 3 GSa/s)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3511296" y="4087368"/>
            <a:ext cx="109728" cy="109728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666744" y="4041648"/>
            <a:ext cx="23225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GPS-disciplined 10 MHz reference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3511296" y="4297680"/>
            <a:ext cx="109728" cy="109728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666744" y="4251960"/>
            <a:ext cx="23225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SCPI pipeline + HDF5 logging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3511296" y="4507992"/>
            <a:ext cx="109728" cy="109728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666744" y="4462272"/>
            <a:ext cx="23225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Grafana/InfluxDB real-time dashboard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3511296" y="4718304"/>
            <a:ext cx="109728" cy="109728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666744" y="4672584"/>
            <a:ext cx="23225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pytest analysis pipeline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6254496" y="3355848"/>
            <a:ext cx="2724912" cy="1444752"/>
          </a:xfrm>
          <a:prstGeom prst="roundRect">
            <a:avLst>
              <a:gd name="adj" fmla="val 7595"/>
            </a:avLst>
          </a:prstGeom>
          <a:solidFill>
            <a:srgbClr val="111D45"/>
          </a:solidFill>
          <a:ln w="381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73" name="Shape 71"/>
          <p:cNvSpPr/>
          <p:nvPr/>
        </p:nvSpPr>
        <p:spPr>
          <a:xfrm>
            <a:off x="6254496" y="3355848"/>
            <a:ext cx="2724912" cy="347472"/>
          </a:xfrm>
          <a:prstGeom prst="roundRect">
            <a:avLst>
              <a:gd name="adj" fmla="val 31579"/>
            </a:avLst>
          </a:prstGeom>
          <a:solidFill>
            <a:srgbClr val="FF6B6B">
              <a:alpha val="82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345936" y="3355848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F2C"/>
                </a:solidFill>
              </a:rPr>
              <a:t>Environmental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6419088" y="3877056"/>
            <a:ext cx="109728" cy="109728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574536" y="3831336"/>
            <a:ext cx="23225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TVAC chamber (&lt; 10⁻⁶ mbar, ±100°C)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6419088" y="4087368"/>
            <a:ext cx="109728" cy="109728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574536" y="4041648"/>
            <a:ext cx="23225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In-situ WFS through optical viewport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6419088" y="4297680"/>
            <a:ext cx="109728" cy="109728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574536" y="4251960"/>
            <a:ext cx="23225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Electrodynamic shaker (GEVS-7000A)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6419088" y="4507992"/>
            <a:ext cx="109728" cy="109728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574536" y="4462272"/>
            <a:ext cx="23225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Shock test (3000g half-sine)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6419088" y="4718304"/>
            <a:ext cx="109728" cy="109728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574536" y="4672584"/>
            <a:ext cx="23225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Co-60 TID radiation facility</a:t>
            </a:r>
            <a:endParaRPr lang="en-US" sz="900" dirty="0"/>
          </a:p>
        </p:txBody>
      </p:sp>
      <p:sp>
        <p:nvSpPr>
          <p:cNvPr id="85" name="Text 83"/>
          <p:cNvSpPr/>
          <p:nvPr/>
        </p:nvSpPr>
        <p:spPr>
          <a:xfrm>
            <a:off x="457200" y="4892040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KAIST  ·  Dept. of Aerospace Engineering  ·  OISL Experimental Test Setup  ·  2026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OISL Experimental Test Setup — Hardware &amp; Software Chain</dc:title>
  <dc:subject>PptxGenJS Presentation</dc:subject>
  <dc:creator>Dina | KAIST Aerospace Engineering</dc:creator>
  <cp:lastModifiedBy>Dina | KAIST Aerospace Engineering</cp:lastModifiedBy>
  <cp:revision>1</cp:revision>
  <dcterms:created xsi:type="dcterms:W3CDTF">2026-06-12T11:53:09Z</dcterms:created>
  <dcterms:modified xsi:type="dcterms:W3CDTF">2026-06-12T11:53:09Z</dcterms:modified>
</cp:coreProperties>
</file>