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6"/>
  </p:notesMasterIdLst>
  <p:handoutMasterIdLst>
    <p:handoutMasterId r:id="rId37"/>
  </p:handoutMasterIdLst>
  <p:sldIdLst>
    <p:sldId id="275" r:id="rId2"/>
    <p:sldId id="412" r:id="rId3"/>
    <p:sldId id="411" r:id="rId4"/>
    <p:sldId id="442" r:id="rId5"/>
    <p:sldId id="413" r:id="rId6"/>
    <p:sldId id="414" r:id="rId7"/>
    <p:sldId id="415" r:id="rId8"/>
    <p:sldId id="416" r:id="rId9"/>
    <p:sldId id="417" r:id="rId10"/>
    <p:sldId id="418" r:id="rId11"/>
    <p:sldId id="419" r:id="rId12"/>
    <p:sldId id="420" r:id="rId13"/>
    <p:sldId id="421" r:id="rId14"/>
    <p:sldId id="422" r:id="rId15"/>
    <p:sldId id="423" r:id="rId16"/>
    <p:sldId id="424" r:id="rId17"/>
    <p:sldId id="425" r:id="rId18"/>
    <p:sldId id="426" r:id="rId19"/>
    <p:sldId id="427" r:id="rId20"/>
    <p:sldId id="428" r:id="rId21"/>
    <p:sldId id="429" r:id="rId22"/>
    <p:sldId id="430" r:id="rId23"/>
    <p:sldId id="431" r:id="rId24"/>
    <p:sldId id="443" r:id="rId25"/>
    <p:sldId id="432" r:id="rId26"/>
    <p:sldId id="433" r:id="rId27"/>
    <p:sldId id="434" r:id="rId28"/>
    <p:sldId id="435" r:id="rId29"/>
    <p:sldId id="436" r:id="rId30"/>
    <p:sldId id="437" r:id="rId31"/>
    <p:sldId id="438" r:id="rId32"/>
    <p:sldId id="439" r:id="rId33"/>
    <p:sldId id="440" r:id="rId34"/>
    <p:sldId id="441" r:id="rId3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D98E4EC8-262F-4493-A17B-40E3C335E374}">
          <p14:sldIdLst>
            <p14:sldId id="275"/>
            <p14:sldId id="412"/>
            <p14:sldId id="411"/>
            <p14:sldId id="442"/>
            <p14:sldId id="413"/>
            <p14:sldId id="414"/>
            <p14:sldId id="415"/>
            <p14:sldId id="416"/>
            <p14:sldId id="417"/>
            <p14:sldId id="418"/>
            <p14:sldId id="419"/>
            <p14:sldId id="420"/>
            <p14:sldId id="421"/>
            <p14:sldId id="422"/>
            <p14:sldId id="423"/>
            <p14:sldId id="424"/>
            <p14:sldId id="425"/>
            <p14:sldId id="426"/>
            <p14:sldId id="427"/>
            <p14:sldId id="428"/>
            <p14:sldId id="429"/>
            <p14:sldId id="430"/>
            <p14:sldId id="431"/>
            <p14:sldId id="443"/>
            <p14:sldId id="432"/>
            <p14:sldId id="433"/>
            <p14:sldId id="434"/>
            <p14:sldId id="435"/>
            <p14:sldId id="436"/>
            <p14:sldId id="437"/>
            <p14:sldId id="438"/>
            <p14:sldId id="439"/>
            <p14:sldId id="440"/>
            <p14:sldId id="44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983F1"/>
    <a:srgbClr val="0099FF"/>
    <a:srgbClr val="1656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615" autoAdjust="0"/>
  </p:normalViewPr>
  <p:slideViewPr>
    <p:cSldViewPr>
      <p:cViewPr>
        <p:scale>
          <a:sx n="125" d="100"/>
          <a:sy n="125" d="100"/>
        </p:scale>
        <p:origin x="-588" y="13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99" d="100"/>
          <a:sy n="99" d="100"/>
        </p:scale>
        <p:origin x="-3576"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A22DA29-CCC5-4846-9B28-545A914610E2}" type="datetimeFigureOut">
              <a:rPr lang="zh-CN" altLang="en-US" smtClean="0"/>
              <a:t>2019-2-27</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A860109-53DF-457F-AED6-1BA9F3CD28FC}" type="slidenum">
              <a:rPr lang="zh-CN" altLang="en-US" smtClean="0"/>
              <a:t>‹#›</a:t>
            </a:fld>
            <a:endParaRPr lang="zh-CN" altLang="en-US"/>
          </a:p>
        </p:txBody>
      </p:sp>
    </p:spTree>
    <p:extLst>
      <p:ext uri="{BB962C8B-B14F-4D97-AF65-F5344CB8AC3E}">
        <p14:creationId xmlns:p14="http://schemas.microsoft.com/office/powerpoint/2010/main" val="3041589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D8E1AA-0947-4ECF-BF79-B825971169E5}" type="datetimeFigureOut">
              <a:rPr lang="zh-CN" altLang="en-US" smtClean="0"/>
              <a:pPr/>
              <a:t>2019-2-27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935D53-AD83-4E32-86F2-0C01B0AFA71E}" type="slidenum">
              <a:rPr lang="zh-CN" altLang="en-US" smtClean="0"/>
              <a:pPr/>
              <a:t>‹#›</a:t>
            </a:fld>
            <a:endParaRPr lang="zh-CN" altLang="en-US"/>
          </a:p>
        </p:txBody>
      </p:sp>
    </p:spTree>
    <p:extLst>
      <p:ext uri="{BB962C8B-B14F-4D97-AF65-F5344CB8AC3E}">
        <p14:creationId xmlns:p14="http://schemas.microsoft.com/office/powerpoint/2010/main" val="2124609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4</a:t>
            </a:fld>
            <a:endParaRPr lang="zh-CN" altLang="en-US"/>
          </a:p>
        </p:txBody>
      </p:sp>
    </p:spTree>
    <p:extLst>
      <p:ext uri="{BB962C8B-B14F-4D97-AF65-F5344CB8AC3E}">
        <p14:creationId xmlns:p14="http://schemas.microsoft.com/office/powerpoint/2010/main" val="42043436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5</a:t>
            </a:fld>
            <a:endParaRPr lang="zh-CN" altLang="en-US"/>
          </a:p>
        </p:txBody>
      </p:sp>
    </p:spTree>
    <p:extLst>
      <p:ext uri="{BB962C8B-B14F-4D97-AF65-F5344CB8AC3E}">
        <p14:creationId xmlns:p14="http://schemas.microsoft.com/office/powerpoint/2010/main" val="4204343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6</a:t>
            </a:fld>
            <a:endParaRPr lang="zh-CN" altLang="en-US"/>
          </a:p>
        </p:txBody>
      </p:sp>
    </p:spTree>
    <p:extLst>
      <p:ext uri="{BB962C8B-B14F-4D97-AF65-F5344CB8AC3E}">
        <p14:creationId xmlns:p14="http://schemas.microsoft.com/office/powerpoint/2010/main" val="42043436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9</a:t>
            </a:fld>
            <a:endParaRPr lang="zh-CN" altLang="en-US"/>
          </a:p>
        </p:txBody>
      </p:sp>
    </p:spTree>
    <p:extLst>
      <p:ext uri="{BB962C8B-B14F-4D97-AF65-F5344CB8AC3E}">
        <p14:creationId xmlns:p14="http://schemas.microsoft.com/office/powerpoint/2010/main" val="27007870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10</a:t>
            </a:fld>
            <a:endParaRPr lang="zh-CN" altLang="en-US"/>
          </a:p>
        </p:txBody>
      </p:sp>
    </p:spTree>
    <p:extLst>
      <p:ext uri="{BB962C8B-B14F-4D97-AF65-F5344CB8AC3E}">
        <p14:creationId xmlns:p14="http://schemas.microsoft.com/office/powerpoint/2010/main" val="14755972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11</a:t>
            </a:fld>
            <a:endParaRPr lang="zh-CN" altLang="en-US"/>
          </a:p>
        </p:txBody>
      </p:sp>
    </p:spTree>
    <p:extLst>
      <p:ext uri="{BB962C8B-B14F-4D97-AF65-F5344CB8AC3E}">
        <p14:creationId xmlns:p14="http://schemas.microsoft.com/office/powerpoint/2010/main" val="30867941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12</a:t>
            </a:fld>
            <a:endParaRPr lang="zh-CN" altLang="en-US"/>
          </a:p>
        </p:txBody>
      </p:sp>
    </p:spTree>
    <p:extLst>
      <p:ext uri="{BB962C8B-B14F-4D97-AF65-F5344CB8AC3E}">
        <p14:creationId xmlns:p14="http://schemas.microsoft.com/office/powerpoint/2010/main" val="12183657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13</a:t>
            </a:fld>
            <a:endParaRPr lang="zh-CN" altLang="en-US"/>
          </a:p>
        </p:txBody>
      </p:sp>
    </p:spTree>
    <p:extLst>
      <p:ext uri="{BB962C8B-B14F-4D97-AF65-F5344CB8AC3E}">
        <p14:creationId xmlns:p14="http://schemas.microsoft.com/office/powerpoint/2010/main" val="34181879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14</a:t>
            </a:fld>
            <a:endParaRPr lang="zh-CN" altLang="en-US"/>
          </a:p>
        </p:txBody>
      </p:sp>
    </p:spTree>
    <p:extLst>
      <p:ext uri="{BB962C8B-B14F-4D97-AF65-F5344CB8AC3E}">
        <p14:creationId xmlns:p14="http://schemas.microsoft.com/office/powerpoint/2010/main" val="28638608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DDE2F0D4-3172-4E6C-99F4-23640CC3C81D}" type="slidenum">
              <a:rPr lang="zh-CN" altLang="en-US" smtClean="0"/>
              <a:t>15</a:t>
            </a:fld>
            <a:endParaRPr lang="zh-CN" altLang="en-US"/>
          </a:p>
        </p:txBody>
      </p:sp>
    </p:spTree>
    <p:extLst>
      <p:ext uri="{BB962C8B-B14F-4D97-AF65-F5344CB8AC3E}">
        <p14:creationId xmlns:p14="http://schemas.microsoft.com/office/powerpoint/2010/main" val="40816663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33</a:t>
            </a:fld>
            <a:endParaRPr lang="zh-CN" altLang="en-US"/>
          </a:p>
        </p:txBody>
      </p:sp>
    </p:spTree>
    <p:extLst>
      <p:ext uri="{BB962C8B-B14F-4D97-AF65-F5344CB8AC3E}">
        <p14:creationId xmlns:p14="http://schemas.microsoft.com/office/powerpoint/2010/main" val="40394988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34</a:t>
            </a:fld>
            <a:endParaRPr lang="zh-CN" altLang="en-US"/>
          </a:p>
        </p:txBody>
      </p:sp>
    </p:spTree>
    <p:extLst>
      <p:ext uri="{BB962C8B-B14F-4D97-AF65-F5344CB8AC3E}">
        <p14:creationId xmlns:p14="http://schemas.microsoft.com/office/powerpoint/2010/main" val="42781048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2"/>
          <a:srcRect b="4167"/>
          <a:stretch>
            <a:fillRect/>
          </a:stretch>
        </p:blipFill>
        <p:spPr>
          <a:xfrm>
            <a:off x="0" y="0"/>
            <a:ext cx="9144000" cy="6858000"/>
          </a:xfrm>
          <a:prstGeom prst="rect">
            <a:avLst/>
          </a:prstGeom>
        </p:spPr>
      </p:pic>
      <p:sp>
        <p:nvSpPr>
          <p:cNvPr id="3" name="副标题 2"/>
          <p:cNvSpPr>
            <a:spLocks noGrp="1"/>
          </p:cNvSpPr>
          <p:nvPr>
            <p:ph type="subTitle" idx="1" hasCustomPrompt="1"/>
          </p:nvPr>
        </p:nvSpPr>
        <p:spPr>
          <a:xfrm>
            <a:off x="2195736" y="5085184"/>
            <a:ext cx="4914912" cy="685808"/>
          </a:xfrm>
        </p:spPr>
        <p:txBody>
          <a:bodyPr>
            <a:noAutofit/>
          </a:bodyPr>
          <a:lstStyle>
            <a:lvl1pPr marL="0" indent="0" algn="ctr">
              <a:buNone/>
              <a:defRPr sz="3200" b="1" cap="none" spc="0">
                <a:ln>
                  <a:noFill/>
                </a:ln>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smtClean="0"/>
              <a:t>DFH SATELLITE </a:t>
            </a:r>
            <a:r>
              <a:rPr lang="en-US" altLang="zh-CN" dirty="0" err="1" smtClean="0"/>
              <a:t>Co.,Ltd</a:t>
            </a:r>
            <a:endParaRPr lang="zh-CN" altLang="en-US" dirty="0"/>
          </a:p>
        </p:txBody>
      </p:sp>
      <p:sp>
        <p:nvSpPr>
          <p:cNvPr id="15" name="标题 14"/>
          <p:cNvSpPr>
            <a:spLocks noGrp="1"/>
          </p:cNvSpPr>
          <p:nvPr>
            <p:ph type="title"/>
          </p:nvPr>
        </p:nvSpPr>
        <p:spPr>
          <a:xfrm>
            <a:off x="714348" y="2409248"/>
            <a:ext cx="7586658" cy="1082660"/>
          </a:xfrm>
        </p:spPr>
        <p:txBody>
          <a:bodyPr>
            <a:normAutofit/>
          </a:bodyPr>
          <a:lstStyle>
            <a:lvl1pPr>
              <a:defRPr sz="4800">
                <a:solidFill>
                  <a:srgbClr val="002060"/>
                </a:solidFill>
                <a:effectLst>
                  <a:outerShdw blurRad="38100" dist="38100" dir="2700000" algn="tl">
                    <a:srgbClr val="000000">
                      <a:alpha val="43137"/>
                    </a:srgbClr>
                  </a:outerShdw>
                </a:effectLst>
              </a:defRPr>
            </a:lvl1pPr>
          </a:lstStyle>
          <a:p>
            <a:r>
              <a:rPr lang="zh-CN" altLang="en-US" dirty="0" smtClean="0"/>
              <a:t>单击此处编辑母版标题样式</a:t>
            </a:r>
            <a:endParaRPr lang="zh-CN" altLang="en-US" dirty="0"/>
          </a:p>
        </p:txBody>
      </p:sp>
      <p:pic>
        <p:nvPicPr>
          <p:cNvPr id="11267" name="Picture 3"/>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backgroundRemoval t="3196" b="99696" l="321" r="100000">
                        <a14:foregroundMark x1="7066" y1="8828" x2="16809" y2="9132"/>
                        <a14:foregroundMark x1="8565" y1="10046" x2="11242" y2="8828"/>
                        <a14:foregroundMark x1="12527" y1="7915" x2="12527" y2="7915"/>
                      </a14:backgroundRemoval>
                    </a14:imgEffect>
                  </a14:imgLayer>
                </a14:imgProps>
              </a:ext>
              <a:ext uri="{28A0092B-C50C-407E-A947-70E740481C1C}">
                <a14:useLocalDpi xmlns:a14="http://schemas.microsoft.com/office/drawing/2010/main" val="0"/>
              </a:ext>
            </a:extLst>
          </a:blip>
          <a:srcRect/>
          <a:stretch>
            <a:fillRect/>
          </a:stretch>
        </p:blipFill>
        <p:spPr bwMode="auto">
          <a:xfrm>
            <a:off x="7092280" y="188640"/>
            <a:ext cx="1843743" cy="1296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28600" y="0"/>
            <a:ext cx="8229600" cy="1082660"/>
          </a:xfr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页脚占位符 4"/>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8520" y="1052736"/>
            <a:ext cx="8229600" cy="1082660"/>
          </a:xfrm>
        </p:spPr>
        <p:txBody>
          <a:bodyPr/>
          <a:lstStyle/>
          <a:p>
            <a:r>
              <a:rPr lang="zh-CN" altLang="en-US" smtClean="0"/>
              <a:t>单击此处编辑母版标题样式</a:t>
            </a:r>
            <a:endParaRPr lang="zh-CN" altLang="en-US"/>
          </a:p>
        </p:txBody>
      </p:sp>
      <p:sp>
        <p:nvSpPr>
          <p:cNvPr id="5" name="页脚占位符 4"/>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6" name="页脚占位符 5"/>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7" name="灯片编号占位符 6"/>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pic>
        <p:nvPicPr>
          <p:cNvPr id="6" name="图片 5" descr="2938668_150805002142_2.jpg"/>
          <p:cNvPicPr>
            <a:picLocks noChangeAspect="1"/>
          </p:cNvPicPr>
          <p:nvPr userDrawn="1"/>
        </p:nvPicPr>
        <p:blipFill>
          <a:blip r:embed="rId2"/>
          <a:srcRect b="4167"/>
          <a:stretch>
            <a:fillRect/>
          </a:stretch>
        </p:blipFill>
        <p:spPr>
          <a:xfrm>
            <a:off x="0" y="0"/>
            <a:ext cx="9144000" cy="6858000"/>
          </a:xfrm>
          <a:prstGeom prst="rect">
            <a:avLst/>
          </a:prstGeom>
        </p:spPr>
      </p:pic>
      <p:pic>
        <p:nvPicPr>
          <p:cNvPr id="13314"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422410" y="0"/>
            <a:ext cx="2754307" cy="1944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7"/>
          <a:srcRect t="10773" b="69020"/>
          <a:stretch>
            <a:fillRect/>
          </a:stretch>
        </p:blipFill>
        <p:spPr>
          <a:xfrm>
            <a:off x="0" y="0"/>
            <a:ext cx="9144000" cy="1214422"/>
          </a:xfrm>
          <a:prstGeom prst="rect">
            <a:avLst/>
          </a:prstGeom>
        </p:spPr>
      </p:pic>
      <p:sp>
        <p:nvSpPr>
          <p:cNvPr id="2" name="标题占位符 1"/>
          <p:cNvSpPr>
            <a:spLocks noGrp="1"/>
          </p:cNvSpPr>
          <p:nvPr>
            <p:ph type="title"/>
          </p:nvPr>
        </p:nvSpPr>
        <p:spPr>
          <a:xfrm>
            <a:off x="457200" y="274638"/>
            <a:ext cx="8229600" cy="1082660"/>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357298"/>
            <a:ext cx="8229600" cy="4768865"/>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5" name="页脚占位符 4"/>
          <p:cNvSpPr>
            <a:spLocks noGrp="1"/>
          </p:cNvSpPr>
          <p:nvPr>
            <p:ph type="ftr" sz="quarter" idx="3"/>
          </p:nvPr>
        </p:nvSpPr>
        <p:spPr>
          <a:xfrm>
            <a:off x="971600" y="6359525"/>
            <a:ext cx="6480720" cy="363558"/>
          </a:xfrm>
          <a:prstGeom prst="rect">
            <a:avLst/>
          </a:prstGeom>
        </p:spPr>
        <p:txBody>
          <a:bodyPr vert="horz" lIns="91440" tIns="45720" rIns="91440" bIns="45720" rtlCol="0" anchor="ctr"/>
          <a:lstStyle>
            <a:lvl1pPr algn="ctr">
              <a:defRPr sz="700" b="0">
                <a:solidFill>
                  <a:schemeClr val="tx1"/>
                </a:solidFill>
                <a:latin typeface="微软雅黑" pitchFamily="34" charset="-122"/>
                <a:ea typeface="微软雅黑" pitchFamily="34" charset="-122"/>
                <a:cs typeface="Arial" pitchFamily="34" charset="0"/>
              </a:defRPr>
            </a:lvl1p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4"/>
          </p:nvPr>
        </p:nvSpPr>
        <p:spPr>
          <a:xfrm>
            <a:off x="7884368" y="6356350"/>
            <a:ext cx="802432" cy="365125"/>
          </a:xfrm>
          <a:prstGeom prst="rect">
            <a:avLst/>
          </a:prstGeom>
        </p:spPr>
        <p:txBody>
          <a:bodyPr vert="horz" lIns="91440" tIns="45720" rIns="91440" bIns="45720" rtlCol="0" anchor="ctr"/>
          <a:lstStyle>
            <a:lvl1pPr algn="r">
              <a:defRPr sz="1200">
                <a:solidFill>
                  <a:schemeClr val="tx1"/>
                </a:solidFill>
                <a:latin typeface="Arial" pitchFamily="34" charset="0"/>
                <a:cs typeface="Arial" pitchFamily="34" charset="0"/>
              </a:defRPr>
            </a:lvl1pPr>
          </a:lstStyle>
          <a:p>
            <a:r>
              <a:rPr lang="en-US" altLang="zh-CN" sz="1050" dirty="0" smtClean="0">
                <a:latin typeface="微软雅黑" pitchFamily="34" charset="-122"/>
                <a:ea typeface="微软雅黑" pitchFamily="34" charset="-122"/>
              </a:rPr>
              <a:t>PAGE</a:t>
            </a:r>
            <a:r>
              <a:rPr lang="zh-CN" altLang="en-US" sz="1050" dirty="0" smtClean="0"/>
              <a:t> </a:t>
            </a:r>
            <a:fld id="{E1EFCB46-C834-4067-A327-0EA79FD50686}" type="slidenum">
              <a:rPr lang="zh-CN" altLang="en-US" sz="1050" smtClean="0"/>
              <a:pPr/>
              <a:t>‹#›</a:t>
            </a:fld>
            <a:r>
              <a:rPr lang="zh-CN" altLang="en-US" dirty="0" smtClean="0"/>
              <a:t> </a:t>
            </a:r>
            <a:endParaRPr lang="zh-CN" altLang="en-US" dirty="0">
              <a:latin typeface="微软雅黑" pitchFamily="34" charset="-122"/>
              <a:ea typeface="微软雅黑" pitchFamily="34" charset="-122"/>
            </a:endParaRPr>
          </a:p>
        </p:txBody>
      </p:sp>
      <p:pic>
        <p:nvPicPr>
          <p:cNvPr id="8" name="图片 7" descr="2938668_150805002142_2.jpg"/>
          <p:cNvPicPr>
            <a:picLocks noChangeAspect="1"/>
          </p:cNvPicPr>
          <p:nvPr userDrawn="1"/>
        </p:nvPicPr>
        <p:blipFill>
          <a:blip r:embed="rId7"/>
          <a:srcRect t="52304" b="41753"/>
          <a:stretch>
            <a:fillRect/>
          </a:stretch>
        </p:blipFill>
        <p:spPr>
          <a:xfrm>
            <a:off x="0" y="6715149"/>
            <a:ext cx="9144000" cy="321458"/>
          </a:xfrm>
          <a:prstGeom prst="rect">
            <a:avLst/>
          </a:prstGeom>
        </p:spPr>
      </p:pic>
      <p:pic>
        <p:nvPicPr>
          <p:cNvPr id="16" name="图片 15"/>
          <p:cNvPicPr>
            <a:picLocks noChangeAspect="1"/>
          </p:cNvPicPr>
          <p:nvPr userDrawn="1"/>
        </p:nvPicPr>
        <p:blipFill rotWithShape="1">
          <a:blip r:embed="rId8" cstate="print">
            <a:extLst>
              <a:ext uri="{28A0092B-C50C-407E-A947-70E740481C1C}">
                <a14:useLocalDpi xmlns:a14="http://schemas.microsoft.com/office/drawing/2010/main" val="0"/>
              </a:ext>
            </a:extLst>
          </a:blip>
          <a:srcRect b="34726"/>
          <a:stretch/>
        </p:blipFill>
        <p:spPr>
          <a:xfrm>
            <a:off x="171892" y="6339800"/>
            <a:ext cx="432048" cy="345317"/>
          </a:xfrm>
          <a:prstGeom prst="rect">
            <a:avLst/>
          </a:prstGeom>
        </p:spPr>
      </p:pic>
      <p:pic>
        <p:nvPicPr>
          <p:cNvPr id="12290" name="Picture 2"/>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7884368" y="213488"/>
            <a:ext cx="1115549" cy="787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7" r:id="rId4"/>
    <p:sldLayoutId id="2147483654" r:id="rId5"/>
  </p:sldLayoutIdLst>
  <p:timing>
    <p:tnLst>
      <p:par>
        <p:cTn id="1" dur="indefinite" restart="never" nodeType="tmRoot"/>
      </p:par>
    </p:tnLst>
  </p:timing>
  <p:hf hdr="0"/>
  <p:txStyles>
    <p:title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p:titleStyle>
    <p:bodyStyle>
      <a:lvl1pPr marL="342900" indent="-342900" algn="l" defTabSz="914400" rtl="0" eaLnBrk="1" latinLnBrk="0" hangingPunct="1">
        <a:lnSpc>
          <a:spcPct val="150000"/>
        </a:lnSpc>
        <a:spcBef>
          <a:spcPts val="0"/>
        </a:spcBef>
        <a:buFont typeface="Arial" pitchFamily="34" charset="0"/>
        <a:buChar char="•"/>
        <a:defRPr sz="3200" b="1" kern="1200">
          <a:solidFill>
            <a:schemeClr val="tx1">
              <a:lumMod val="75000"/>
              <a:lumOff val="25000"/>
            </a:schemeClr>
          </a:solidFill>
          <a:latin typeface="微软雅黑" pitchFamily="34" charset="-122"/>
          <a:ea typeface="微软雅黑" pitchFamily="34" charset="-122"/>
          <a:cs typeface="+mn-cs"/>
        </a:defRPr>
      </a:lvl1pPr>
      <a:lvl2pPr marL="742950" indent="-285750" algn="l" defTabSz="914400" rtl="0" eaLnBrk="1" latinLnBrk="0" hangingPunct="1">
        <a:lnSpc>
          <a:spcPct val="150000"/>
        </a:lnSpc>
        <a:spcBef>
          <a:spcPts val="0"/>
        </a:spcBef>
        <a:buFont typeface="Arial" pitchFamily="34" charset="0"/>
        <a:buChar char="–"/>
        <a:defRPr sz="2800" b="1" kern="1200">
          <a:solidFill>
            <a:schemeClr val="tx1">
              <a:lumMod val="75000"/>
              <a:lumOff val="25000"/>
            </a:schemeClr>
          </a:solidFill>
          <a:latin typeface="微软雅黑" pitchFamily="34" charset="-122"/>
          <a:ea typeface="微软雅黑" pitchFamily="34" charset="-122"/>
          <a:cs typeface="+mn-cs"/>
        </a:defRPr>
      </a:lvl2pPr>
      <a:lvl3pPr marL="1143000" indent="-228600" algn="l" defTabSz="914400" rtl="0" eaLnBrk="1" latinLnBrk="0" hangingPunct="1">
        <a:lnSpc>
          <a:spcPct val="150000"/>
        </a:lnSpc>
        <a:spcBef>
          <a:spcPts val="0"/>
        </a:spcBef>
        <a:buFont typeface="Arial" pitchFamily="34" charset="0"/>
        <a:buChar char="•"/>
        <a:defRPr sz="2400" b="1" kern="1200">
          <a:solidFill>
            <a:schemeClr val="tx1">
              <a:lumMod val="75000"/>
              <a:lumOff val="25000"/>
            </a:schemeClr>
          </a:solidFill>
          <a:latin typeface="微软雅黑" pitchFamily="34" charset="-122"/>
          <a:ea typeface="微软雅黑" pitchFamily="34" charset="-122"/>
          <a:cs typeface="+mn-cs"/>
        </a:defRPr>
      </a:lvl3pPr>
      <a:lvl4pPr marL="16002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4pPr>
      <a:lvl5pPr marL="20574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5.e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8.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2.emf"/></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195736" y="4797152"/>
            <a:ext cx="4914912" cy="1512168"/>
          </a:xfrm>
        </p:spPr>
        <p:txBody>
          <a:bodyPr/>
          <a:lstStyle/>
          <a:p>
            <a:r>
              <a:rPr lang="en-US" altLang="zh-CN" sz="2400" dirty="0">
                <a:solidFill>
                  <a:schemeClr val="bg1"/>
                </a:solidFill>
                <a:effectLst>
                  <a:outerShdw blurRad="38100" dist="38100" dir="2700000" algn="tl">
                    <a:srgbClr val="000000">
                      <a:alpha val="43137"/>
                    </a:srgbClr>
                  </a:outerShdw>
                </a:effectLst>
              </a:rPr>
              <a:t>DFH SATELLITE </a:t>
            </a:r>
            <a:r>
              <a:rPr lang="en-US" altLang="zh-CN" sz="2400" dirty="0" smtClean="0">
                <a:solidFill>
                  <a:schemeClr val="bg1"/>
                </a:solidFill>
                <a:effectLst>
                  <a:outerShdw blurRad="38100" dist="38100" dir="2700000" algn="tl">
                    <a:srgbClr val="000000">
                      <a:alpha val="43137"/>
                    </a:srgbClr>
                  </a:outerShdw>
                </a:effectLst>
              </a:rPr>
              <a:t>CO.,LTD</a:t>
            </a:r>
          </a:p>
          <a:p>
            <a:r>
              <a:rPr lang="en-US" altLang="zh-CN" sz="2400" dirty="0" smtClean="0"/>
              <a:t>February</a:t>
            </a:r>
            <a:r>
              <a:rPr lang="en-US" altLang="zh-CN" sz="2400" dirty="0" smtClean="0"/>
              <a:t>.</a:t>
            </a:r>
            <a:r>
              <a:rPr lang="en-US" altLang="zh-CN" sz="2400" dirty="0" smtClean="0">
                <a:solidFill>
                  <a:schemeClr val="bg1"/>
                </a:solidFill>
                <a:effectLst>
                  <a:outerShdw blurRad="38100" dist="38100" dir="2700000" algn="tl">
                    <a:srgbClr val="000000">
                      <a:alpha val="43137"/>
                    </a:srgbClr>
                  </a:outerShdw>
                </a:effectLst>
              </a:rPr>
              <a:t>2019</a:t>
            </a:r>
            <a:endParaRPr lang="en-US" altLang="zh-CN" sz="2400" dirty="0" smtClean="0">
              <a:solidFill>
                <a:schemeClr val="bg1"/>
              </a:solidFill>
              <a:effectLst>
                <a:outerShdw blurRad="38100" dist="38100" dir="2700000" algn="tl">
                  <a:srgbClr val="000000">
                    <a:alpha val="43137"/>
                  </a:srgbClr>
                </a:outerShdw>
              </a:effectLst>
            </a:endParaRPr>
          </a:p>
          <a:p>
            <a:endParaRPr lang="zh-CN" altLang="en-US" dirty="0"/>
          </a:p>
          <a:p>
            <a:endParaRPr lang="zh-CN" altLang="en-US" dirty="0"/>
          </a:p>
        </p:txBody>
      </p:sp>
      <p:sp>
        <p:nvSpPr>
          <p:cNvPr id="3" name="标题 2"/>
          <p:cNvSpPr>
            <a:spLocks noGrp="1"/>
          </p:cNvSpPr>
          <p:nvPr>
            <p:ph type="title"/>
          </p:nvPr>
        </p:nvSpPr>
        <p:spPr>
          <a:xfrm>
            <a:off x="714348" y="1772816"/>
            <a:ext cx="7586658" cy="2088232"/>
          </a:xfrm>
        </p:spPr>
        <p:txBody>
          <a:bodyPr>
            <a:normAutofit fontScale="90000"/>
          </a:bodyPr>
          <a:lstStyle/>
          <a:p>
            <a:r>
              <a:rPr lang="en-US" altLang="zh-CN" dirty="0" smtClean="0"/>
              <a:t>ETRSS-1</a:t>
            </a:r>
            <a:br>
              <a:rPr lang="en-US" altLang="zh-CN" dirty="0" smtClean="0"/>
            </a:br>
            <a:r>
              <a:rPr lang="en-US" altLang="zh-CN" dirty="0"/>
              <a:t>Vibration </a:t>
            </a:r>
            <a:r>
              <a:rPr lang="en-US" altLang="zh-CN" dirty="0" smtClean="0"/>
              <a:t>Environment </a:t>
            </a:r>
            <a:r>
              <a:rPr lang="en-US" altLang="zh-CN" dirty="0"/>
              <a:t>and </a:t>
            </a:r>
            <a:r>
              <a:rPr lang="en-US" altLang="zh-CN" dirty="0"/>
              <a:t>T</a:t>
            </a:r>
            <a:r>
              <a:rPr lang="en-US" altLang="zh-CN" dirty="0" smtClean="0"/>
              <a:t>est </a:t>
            </a:r>
            <a:r>
              <a:rPr lang="en-US" altLang="zh-CN" dirty="0"/>
              <a:t>of </a:t>
            </a:r>
            <a:r>
              <a:rPr lang="en-US" altLang="zh-CN" dirty="0" smtClean="0"/>
              <a:t>Satellite</a:t>
            </a:r>
            <a:r>
              <a:rPr lang="en-US" altLang="zh-CN" dirty="0"/>
              <a:t/>
            </a:r>
            <a:br>
              <a:rPr lang="en-US" altLang="zh-CN" dirty="0"/>
            </a:br>
            <a:endParaRPr lang="zh-CN" altLang="en-US"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52973121"/>
      </p:ext>
    </p:extLst>
  </p:cSld>
  <p:clrMapOvr>
    <a:masterClrMapping/>
  </p:clrMapOvr>
  <mc:AlternateContent xmlns:mc="http://schemas.openxmlformats.org/markup-compatibility/2006" xmlns:p14="http://schemas.microsoft.com/office/powerpoint/2010/main">
    <mc:Choice Requires="p14">
      <p:transition spd="slow" p14:dur="2000" advTm="16649"/>
    </mc:Choice>
    <mc:Fallback xmlns="">
      <p:transition spd="slow" advTm="16649"/>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fontScale="85000" lnSpcReduction="10000"/>
          </a:bodyPr>
          <a:lstStyle/>
          <a:p>
            <a:pPr marL="0" indent="0">
              <a:buNone/>
            </a:pPr>
            <a:r>
              <a:rPr lang="en-US" altLang="zh-CN" dirty="0" smtClean="0"/>
              <a:t>Course &amp;Teacher </a:t>
            </a:r>
            <a:r>
              <a:rPr lang="en-US" altLang="zh-CN" dirty="0"/>
              <a:t>Introduction</a:t>
            </a:r>
          </a:p>
          <a:p>
            <a:pPr marL="0" indent="0">
              <a:buNone/>
            </a:pPr>
            <a:r>
              <a:rPr lang="en-US" altLang="zh-CN" dirty="0" smtClean="0"/>
              <a:t>Discipline:</a:t>
            </a:r>
            <a:endParaRPr lang="en-US" altLang="zh-CN" dirty="0"/>
          </a:p>
          <a:p>
            <a:r>
              <a:rPr lang="en-US" altLang="zh-CN" sz="3100" b="0" dirty="0"/>
              <a:t>1</a:t>
            </a:r>
            <a:r>
              <a:rPr lang="en-US" altLang="zh-CN" sz="3100" b="0" dirty="0" smtClean="0"/>
              <a:t>) respect </a:t>
            </a:r>
            <a:r>
              <a:rPr lang="en-US" altLang="zh-CN" sz="3100" b="0" dirty="0"/>
              <a:t>each other. Don’t disturb the others.</a:t>
            </a:r>
            <a:endParaRPr lang="zh-CN" altLang="zh-CN" sz="3100" b="0" dirty="0"/>
          </a:p>
          <a:p>
            <a:r>
              <a:rPr lang="en-US" altLang="zh-CN" sz="3100" b="0" dirty="0"/>
              <a:t>2</a:t>
            </a:r>
            <a:r>
              <a:rPr lang="en-US" altLang="zh-CN" sz="3100" b="0" dirty="0" smtClean="0"/>
              <a:t>) take </a:t>
            </a:r>
            <a:r>
              <a:rPr lang="en-US" altLang="zh-CN" sz="3100" b="0" dirty="0"/>
              <a:t>the exercise as much as possible, and ask if you have </a:t>
            </a:r>
            <a:r>
              <a:rPr lang="en-US" altLang="zh-CN" sz="3100" b="0" dirty="0" smtClean="0"/>
              <a:t>question. </a:t>
            </a:r>
            <a:endParaRPr lang="zh-CN" altLang="zh-CN" sz="3100" b="0" dirty="0"/>
          </a:p>
          <a:p>
            <a:pPr marL="0" indent="0">
              <a:buNone/>
            </a:pPr>
            <a:r>
              <a:rPr lang="en-US" altLang="zh-CN" dirty="0"/>
              <a:t>Our goal </a:t>
            </a:r>
            <a:r>
              <a:rPr lang="en-US" altLang="zh-CN" dirty="0" smtClean="0"/>
              <a:t>:</a:t>
            </a:r>
            <a:endParaRPr lang="zh-CN" altLang="zh-CN" dirty="0"/>
          </a:p>
          <a:p>
            <a:r>
              <a:rPr lang="en-US" altLang="zh-CN" sz="3100" b="0" dirty="0" smtClean="0"/>
              <a:t>1) what </a:t>
            </a:r>
            <a:r>
              <a:rPr lang="en-US" altLang="zh-CN" sz="3100" b="0" dirty="0"/>
              <a:t>is Vibration and Vibration test</a:t>
            </a:r>
            <a:endParaRPr lang="zh-CN" altLang="zh-CN" sz="3100" b="0" dirty="0"/>
          </a:p>
          <a:p>
            <a:r>
              <a:rPr lang="en-US" altLang="zh-CN" sz="3100" b="0" dirty="0" smtClean="0"/>
              <a:t>2) how </a:t>
            </a:r>
            <a:r>
              <a:rPr lang="en-US" altLang="zh-CN" sz="3100" b="0" dirty="0"/>
              <a:t>to perform a Vibration test .</a:t>
            </a:r>
            <a:endParaRPr lang="zh-CN" altLang="zh-CN" sz="3100" b="0" dirty="0"/>
          </a:p>
          <a:p>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a:t>
            </a:fld>
            <a:r>
              <a:rPr lang="zh-CN" altLang="en-US" smtClean="0"/>
              <a:t> </a:t>
            </a:r>
            <a:endParaRPr lang="zh-CN" altLang="en-US" dirty="0">
              <a:latin typeface="微软雅黑" pitchFamily="34" charset="-122"/>
              <a:ea typeface="微软雅黑" pitchFamily="34" charset="-122"/>
            </a:endParaRPr>
          </a:p>
        </p:txBody>
      </p:sp>
      <p:sp>
        <p:nvSpPr>
          <p:cNvPr id="6" name="标题 1"/>
          <p:cNvSpPr>
            <a:spLocks noGrp="1"/>
          </p:cNvSpPr>
          <p:nvPr>
            <p:ph type="title"/>
          </p:nvPr>
        </p:nvSpPr>
        <p:spPr>
          <a:xfrm>
            <a:off x="457200" y="188640"/>
            <a:ext cx="7355160" cy="1082660"/>
          </a:xfrm>
        </p:spPr>
        <p:txBody>
          <a:bodyPr>
            <a:normAutofit/>
          </a:bodyPr>
          <a:lstStyle/>
          <a:p>
            <a:r>
              <a:rPr lang="en-US" altLang="zh-CN" sz="3200" dirty="0"/>
              <a:t>Vibration environment and test of satellite</a:t>
            </a:r>
          </a:p>
        </p:txBody>
      </p:sp>
    </p:spTree>
    <p:extLst>
      <p:ext uri="{BB962C8B-B14F-4D97-AF65-F5344CB8AC3E}">
        <p14:creationId xmlns:p14="http://schemas.microsoft.com/office/powerpoint/2010/main" val="760955600"/>
      </p:ext>
    </p:extLst>
  </p:cSld>
  <p:clrMapOvr>
    <a:masterClrMapping/>
  </p:clrMapOvr>
  <mc:AlternateContent xmlns:mc="http://schemas.openxmlformats.org/markup-compatibility/2006" xmlns:p14="http://schemas.microsoft.com/office/powerpoint/2010/main">
    <mc:Choice Requires="p14">
      <p:transition spd="slow" p14:dur="2000" advTm="27847"/>
    </mc:Choice>
    <mc:Fallback xmlns="">
      <p:transition spd="slow" advTm="27847"/>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7355160" cy="1082660"/>
          </a:xfrm>
        </p:spPr>
        <p:txBody>
          <a:bodyPr>
            <a:normAutofit/>
          </a:bodyPr>
          <a:lstStyle/>
          <a:p>
            <a:r>
              <a:rPr lang="en-US" altLang="zh-CN" sz="3200" dirty="0"/>
              <a:t>Vibration environment and test of satellite</a:t>
            </a:r>
          </a:p>
        </p:txBody>
      </p:sp>
      <p:sp>
        <p:nvSpPr>
          <p:cNvPr id="3" name="内容占位符 2"/>
          <p:cNvSpPr>
            <a:spLocks noGrp="1"/>
          </p:cNvSpPr>
          <p:nvPr>
            <p:ph idx="1"/>
          </p:nvPr>
        </p:nvSpPr>
        <p:spPr/>
        <p:txBody>
          <a:bodyPr>
            <a:normAutofit/>
          </a:bodyPr>
          <a:lstStyle/>
          <a:p>
            <a:pPr marL="0" indent="0" algn="ctr">
              <a:buNone/>
            </a:pPr>
            <a:r>
              <a:rPr lang="en-US" altLang="zh-CN" dirty="0" smtClean="0"/>
              <a:t>Content</a:t>
            </a:r>
          </a:p>
          <a:p>
            <a:pPr marL="514350" indent="-514350">
              <a:buFont typeface="+mj-lt"/>
              <a:buAutoNum type="arabicPeriod"/>
            </a:pPr>
            <a:r>
              <a:rPr lang="en-US" altLang="zh-CN" sz="2800" b="0" dirty="0"/>
              <a:t>Satellite vibration environment introduction</a:t>
            </a:r>
          </a:p>
          <a:p>
            <a:pPr marL="514350" indent="-514350">
              <a:buFont typeface="+mj-lt"/>
              <a:buAutoNum type="arabicPeriod"/>
            </a:pPr>
            <a:r>
              <a:rPr lang="en-US" altLang="zh-CN" sz="2800" b="0" dirty="0" smtClean="0"/>
              <a:t>vibration test</a:t>
            </a:r>
          </a:p>
          <a:p>
            <a:pPr marL="514350" indent="-514350">
              <a:buFont typeface="+mj-lt"/>
              <a:buAutoNum type="arabicPeriod"/>
            </a:pPr>
            <a:r>
              <a:rPr lang="en-US" altLang="zh-CN" sz="2800" b="0" dirty="0"/>
              <a:t>The </a:t>
            </a:r>
            <a:r>
              <a:rPr lang="en-US" altLang="zh-CN" sz="2800" b="0" dirty="0" smtClean="0"/>
              <a:t>facility </a:t>
            </a:r>
            <a:r>
              <a:rPr lang="en-US" altLang="zh-CN" sz="2800" b="0" dirty="0"/>
              <a:t>of vibration test</a:t>
            </a:r>
          </a:p>
          <a:p>
            <a:pPr marL="514350" indent="-514350">
              <a:buFont typeface="+mj-lt"/>
              <a:buAutoNum type="arabicPeriod"/>
            </a:pPr>
            <a:r>
              <a:rPr lang="en-US" altLang="zh-CN" sz="2800" b="0" dirty="0" smtClean="0"/>
              <a:t>vibration </a:t>
            </a:r>
            <a:r>
              <a:rPr lang="en-US" altLang="zh-CN" sz="2800" b="0" dirty="0"/>
              <a:t>test </a:t>
            </a:r>
            <a:r>
              <a:rPr lang="en-US" altLang="zh-CN" sz="2800" b="0" dirty="0" smtClean="0"/>
              <a:t>attention</a:t>
            </a:r>
          </a:p>
          <a:p>
            <a:pPr marL="514350" indent="-514350">
              <a:buFont typeface="+mj-lt"/>
              <a:buAutoNum type="arabicPeriod"/>
            </a:pPr>
            <a:r>
              <a:rPr lang="en-US" altLang="zh-CN" sz="2800" b="0" dirty="0"/>
              <a:t>Notching criterion</a:t>
            </a:r>
          </a:p>
          <a:p>
            <a:pPr marL="514350" indent="-514350">
              <a:buFont typeface="+mj-lt"/>
              <a:buAutoNum type="arabicPeriod"/>
            </a:pPr>
            <a:r>
              <a:rPr lang="en-US" altLang="zh-CN" sz="2800" b="0" dirty="0"/>
              <a:t>R</a:t>
            </a:r>
            <a:r>
              <a:rPr lang="en-US" altLang="zh-CN" sz="2800" b="0" dirty="0" smtClean="0"/>
              <a:t>eview</a:t>
            </a:r>
            <a:endParaRPr lang="zh-CN" altLang="en-US" sz="2800" b="0" dirty="0"/>
          </a:p>
        </p:txBody>
      </p:sp>
      <p:sp>
        <p:nvSpPr>
          <p:cNvPr id="4" name="页脚占位符 3"/>
          <p:cNvSpPr>
            <a:spLocks noGrp="1"/>
          </p:cNvSpPr>
          <p:nvPr>
            <p:ph type="ftr" sz="quarter" idx="11"/>
          </p:nvPr>
        </p:nvSpPr>
        <p:spPr/>
        <p:txBody>
          <a:bodyPr/>
          <a:lstStyle/>
          <a:p>
            <a:r>
              <a:rPr lang="en-US" altLang="zh-CN" dirty="0"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3</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2098564323"/>
      </p:ext>
    </p:extLst>
  </p:cSld>
  <p:clrMapOvr>
    <a:masterClrMapping/>
  </p:clrMapOvr>
  <mc:AlternateContent xmlns:mc="http://schemas.openxmlformats.org/markup-compatibility/2006" xmlns:p14="http://schemas.microsoft.com/office/powerpoint/2010/main">
    <mc:Choice Requires="p14">
      <p:transition spd="slow" p14:dur="2000" advTm="33956"/>
    </mc:Choice>
    <mc:Fallback xmlns="">
      <p:transition spd="slow" advTm="33956"/>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88640"/>
            <a:ext cx="8229600" cy="1082660"/>
          </a:xfrm>
        </p:spPr>
        <p:txBody>
          <a:bodyPr>
            <a:normAutofit fontScale="90000"/>
          </a:bodyPr>
          <a:lstStyle/>
          <a:p>
            <a:r>
              <a:rPr lang="en-US" altLang="zh-CN" b="0" dirty="0">
                <a:latin typeface="Times New Roman" pitchFamily="18" charset="0"/>
                <a:cs typeface="Times New Roman" pitchFamily="18" charset="0"/>
              </a:rPr>
              <a:t>Satellite vibration environment introduction</a:t>
            </a:r>
          </a:p>
        </p:txBody>
      </p:sp>
      <p:sp>
        <p:nvSpPr>
          <p:cNvPr id="3" name="内容占位符 2"/>
          <p:cNvSpPr>
            <a:spLocks noGrp="1"/>
          </p:cNvSpPr>
          <p:nvPr>
            <p:ph idx="1"/>
          </p:nvPr>
        </p:nvSpPr>
        <p:spPr>
          <a:xfrm>
            <a:off x="323528" y="1268760"/>
            <a:ext cx="8568952" cy="5040560"/>
          </a:xfrm>
        </p:spPr>
        <p:txBody>
          <a:bodyPr>
            <a:normAutofit fontScale="32500" lnSpcReduction="20000"/>
          </a:bodyPr>
          <a:lstStyle/>
          <a:p>
            <a:pPr marL="0" indent="0" algn="just">
              <a:buNone/>
            </a:pPr>
            <a:r>
              <a:rPr lang="en-US" altLang="zh-CN" sz="7200" dirty="0"/>
              <a:t>In life cycle of a spacecraft, there are all kinds of dynamic environment. Dynamic environments include all phenomena that produce fluctuating excitations (also called forcing functions or dynamic loads) that act on a spacecraft and/or its constituent components. The excitations may occur physically as either an applied force or an input motion, and may be either internally or externally induced. </a:t>
            </a:r>
            <a:endParaRPr lang="en-US" altLang="zh-CN" sz="26400" b="0" dirty="0" smtClean="0">
              <a:latin typeface="Times New Roman" pitchFamily="18" charset="0"/>
              <a:cs typeface="Times New Roman" pitchFamily="18" charset="0"/>
            </a:endParaRP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2654622914"/>
      </p:ext>
    </p:extLst>
  </p:cSld>
  <p:clrMapOvr>
    <a:masterClrMapping/>
  </p:clrMapOvr>
  <mc:AlternateContent xmlns:mc="http://schemas.openxmlformats.org/markup-compatibility/2006" xmlns:p14="http://schemas.microsoft.com/office/powerpoint/2010/main">
    <mc:Choice Requires="p14">
      <p:transition spd="slow" p14:dur="2000" advTm="36814"/>
    </mc:Choice>
    <mc:Fallback xmlns="">
      <p:transition spd="slow" advTm="36814"/>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88640"/>
            <a:ext cx="8229600" cy="1082660"/>
          </a:xfrm>
        </p:spPr>
        <p:txBody>
          <a:bodyPr>
            <a:normAutofit fontScale="90000"/>
          </a:bodyPr>
          <a:lstStyle/>
          <a:p>
            <a:r>
              <a:rPr lang="en-US" altLang="zh-CN" b="0" dirty="0">
                <a:latin typeface="Times New Roman" pitchFamily="18" charset="0"/>
                <a:cs typeface="Times New Roman" pitchFamily="18" charset="0"/>
              </a:rPr>
              <a:t>Satellite vibration environment introduction</a:t>
            </a:r>
          </a:p>
        </p:txBody>
      </p:sp>
      <p:sp>
        <p:nvSpPr>
          <p:cNvPr id="3" name="内容占位符 2"/>
          <p:cNvSpPr>
            <a:spLocks noGrp="1"/>
          </p:cNvSpPr>
          <p:nvPr>
            <p:ph idx="1"/>
          </p:nvPr>
        </p:nvSpPr>
        <p:spPr>
          <a:xfrm>
            <a:off x="323528" y="1268760"/>
            <a:ext cx="8568952" cy="5040560"/>
          </a:xfrm>
        </p:spPr>
        <p:txBody>
          <a:bodyPr>
            <a:normAutofit fontScale="32500" lnSpcReduction="20000"/>
          </a:bodyPr>
          <a:lstStyle/>
          <a:p>
            <a:pPr marL="0" indent="0">
              <a:buNone/>
            </a:pPr>
            <a:r>
              <a:rPr lang="en-US" altLang="zh-CN" sz="12800" b="0" dirty="0" smtClean="0">
                <a:latin typeface="Times New Roman" pitchFamily="18" charset="0"/>
                <a:cs typeface="Times New Roman" pitchFamily="18" charset="0"/>
              </a:rPr>
              <a:t>Internal Environments</a:t>
            </a:r>
          </a:p>
          <a:p>
            <a:pPr marL="0" indent="0">
              <a:buNone/>
            </a:pPr>
            <a:r>
              <a:rPr lang="en-US" altLang="zh-CN" sz="7200" b="0" dirty="0" smtClean="0">
                <a:latin typeface="Times New Roman" pitchFamily="18" charset="0"/>
                <a:cs typeface="Times New Roman" pitchFamily="18" charset="0"/>
              </a:rPr>
              <a:t>(a) imbalance of rotating parts;</a:t>
            </a:r>
          </a:p>
          <a:p>
            <a:pPr marL="0" indent="0">
              <a:buNone/>
            </a:pPr>
            <a:r>
              <a:rPr lang="en-US" altLang="zh-CN" sz="7200" b="0" dirty="0" smtClean="0">
                <a:latin typeface="Times New Roman" pitchFamily="18" charset="0"/>
                <a:cs typeface="Times New Roman" pitchFamily="18" charset="0"/>
              </a:rPr>
              <a:t>(b) operation of mechanisms;</a:t>
            </a:r>
          </a:p>
          <a:p>
            <a:pPr marL="0" indent="0">
              <a:buNone/>
            </a:pPr>
            <a:r>
              <a:rPr lang="en-US" altLang="zh-CN" sz="7200" b="0" dirty="0" smtClean="0">
                <a:latin typeface="Times New Roman" pitchFamily="18" charset="0"/>
                <a:cs typeface="Times New Roman" pitchFamily="18" charset="0"/>
              </a:rPr>
              <a:t>(</a:t>
            </a:r>
            <a:r>
              <a:rPr lang="en-US" altLang="zh-CN" sz="7200" b="0" dirty="0">
                <a:latin typeface="Times New Roman" pitchFamily="18" charset="0"/>
                <a:cs typeface="Times New Roman" pitchFamily="18" charset="0"/>
              </a:rPr>
              <a:t>c) coupling misalignment in the assembly of </a:t>
            </a:r>
            <a:r>
              <a:rPr lang="en-US" altLang="zh-CN" sz="7200" b="0" dirty="0" smtClean="0">
                <a:latin typeface="Times New Roman" pitchFamily="18" charset="0"/>
                <a:cs typeface="Times New Roman" pitchFamily="18" charset="0"/>
              </a:rPr>
              <a:t>hardware;</a:t>
            </a:r>
          </a:p>
          <a:p>
            <a:pPr marL="0" indent="0">
              <a:buNone/>
            </a:pPr>
            <a:r>
              <a:rPr lang="en-US" altLang="zh-CN" sz="7200" b="0" dirty="0" smtClean="0">
                <a:latin typeface="Times New Roman" pitchFamily="18" charset="0"/>
                <a:cs typeface="Times New Roman" pitchFamily="18" charset="0"/>
              </a:rPr>
              <a:t>(</a:t>
            </a:r>
            <a:r>
              <a:rPr lang="en-US" altLang="zh-CN" sz="7200" b="0" dirty="0">
                <a:latin typeface="Times New Roman" pitchFamily="18" charset="0"/>
                <a:cs typeface="Times New Roman" pitchFamily="18" charset="0"/>
              </a:rPr>
              <a:t>d) magnetic, aero- </a:t>
            </a:r>
            <a:r>
              <a:rPr lang="en-US" altLang="zh-CN" sz="7200" b="0" dirty="0" smtClean="0">
                <a:latin typeface="Times New Roman" pitchFamily="18" charset="0"/>
                <a:cs typeface="Times New Roman" pitchFamily="18" charset="0"/>
              </a:rPr>
              <a:t>or hydrodynamic </a:t>
            </a:r>
            <a:r>
              <a:rPr lang="en-US" altLang="zh-CN" sz="7200" b="0" dirty="0">
                <a:latin typeface="Times New Roman" pitchFamily="18" charset="0"/>
                <a:cs typeface="Times New Roman" pitchFamily="18" charset="0"/>
              </a:rPr>
              <a:t>forces within the </a:t>
            </a:r>
            <a:r>
              <a:rPr lang="en-US" altLang="zh-CN" sz="7200" b="0" dirty="0" smtClean="0">
                <a:latin typeface="Times New Roman" pitchFamily="18" charset="0"/>
                <a:cs typeface="Times New Roman" pitchFamily="18" charset="0"/>
              </a:rPr>
              <a:t>unit;</a:t>
            </a:r>
          </a:p>
          <a:p>
            <a:pPr marL="0" indent="0">
              <a:buNone/>
            </a:pPr>
            <a:r>
              <a:rPr lang="en-US" altLang="zh-CN" sz="7200" b="0" dirty="0" smtClean="0">
                <a:latin typeface="Times New Roman" pitchFamily="18" charset="0"/>
                <a:cs typeface="Times New Roman" pitchFamily="18" charset="0"/>
              </a:rPr>
              <a:t>(</a:t>
            </a:r>
            <a:r>
              <a:rPr lang="en-US" altLang="zh-CN" sz="7200" b="0" dirty="0">
                <a:latin typeface="Times New Roman" pitchFamily="18" charset="0"/>
                <a:cs typeface="Times New Roman" pitchFamily="18" charset="0"/>
              </a:rPr>
              <a:t>e) sloshing of liquid propellants in </a:t>
            </a:r>
            <a:r>
              <a:rPr lang="en-US" altLang="zh-CN" sz="7200" b="0" dirty="0" smtClean="0">
                <a:latin typeface="Times New Roman" pitchFamily="18" charset="0"/>
                <a:cs typeface="Times New Roman" pitchFamily="18" charset="0"/>
              </a:rPr>
              <a:t>tanks;</a:t>
            </a:r>
          </a:p>
          <a:p>
            <a:pPr marL="0" indent="0">
              <a:buNone/>
            </a:pPr>
            <a:r>
              <a:rPr lang="en-US" altLang="zh-CN" sz="7200" b="0" dirty="0" smtClean="0">
                <a:latin typeface="Times New Roman" pitchFamily="18" charset="0"/>
                <a:cs typeface="Times New Roman" pitchFamily="18" charset="0"/>
              </a:rPr>
              <a:t>(</a:t>
            </a:r>
            <a:r>
              <a:rPr lang="en-US" altLang="zh-CN" sz="7200" b="0" dirty="0">
                <a:latin typeface="Times New Roman" pitchFamily="18" charset="0"/>
                <a:cs typeface="Times New Roman" pitchFamily="18" charset="0"/>
              </a:rPr>
              <a:t>f) </a:t>
            </a:r>
            <a:r>
              <a:rPr lang="en-US" altLang="zh-CN" sz="7200" b="0" dirty="0" smtClean="0">
                <a:latin typeface="Times New Roman" pitchFamily="18" charset="0"/>
                <a:cs typeface="Times New Roman" pitchFamily="18" charset="0"/>
              </a:rPr>
              <a:t>torque variations </a:t>
            </a:r>
            <a:r>
              <a:rPr lang="en-US" altLang="zh-CN" sz="7200" b="0" dirty="0">
                <a:latin typeface="Times New Roman" pitchFamily="18" charset="0"/>
                <a:cs typeface="Times New Roman" pitchFamily="18" charset="0"/>
              </a:rPr>
              <a:t>due to an uneven supply or demand of power. </a:t>
            </a:r>
            <a:endParaRPr lang="zh-CN" altLang="en-US" sz="7200" dirty="0">
              <a:latin typeface="Times New Roman" pitchFamily="18" charset="0"/>
              <a:cs typeface="Times New Roman" pitchFamily="18" charset="0"/>
            </a:endParaRP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5</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3701740334"/>
      </p:ext>
    </p:extLst>
  </p:cSld>
  <p:clrMapOvr>
    <a:masterClrMapping/>
  </p:clrMapOvr>
  <mc:AlternateContent xmlns:mc="http://schemas.openxmlformats.org/markup-compatibility/2006" xmlns:p14="http://schemas.microsoft.com/office/powerpoint/2010/main">
    <mc:Choice Requires="p14">
      <p:transition spd="slow" p14:dur="2000" advTm="33837"/>
    </mc:Choice>
    <mc:Fallback xmlns="">
      <p:transition spd="slow" advTm="33837"/>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16632"/>
            <a:ext cx="8229600" cy="1082660"/>
          </a:xfrm>
        </p:spPr>
        <p:txBody>
          <a:bodyPr>
            <a:normAutofit fontScale="90000"/>
          </a:bodyPr>
          <a:lstStyle/>
          <a:p>
            <a:r>
              <a:rPr lang="en-US" altLang="zh-CN" b="0" dirty="0">
                <a:latin typeface="Times New Roman" pitchFamily="18" charset="0"/>
                <a:cs typeface="Times New Roman" pitchFamily="18" charset="0"/>
              </a:rPr>
              <a:t>Satellite vibration environment introduction</a:t>
            </a:r>
          </a:p>
        </p:txBody>
      </p:sp>
      <p:sp>
        <p:nvSpPr>
          <p:cNvPr id="3" name="内容占位符 2"/>
          <p:cNvSpPr>
            <a:spLocks noGrp="1"/>
          </p:cNvSpPr>
          <p:nvPr>
            <p:ph idx="1"/>
          </p:nvPr>
        </p:nvSpPr>
        <p:spPr>
          <a:xfrm>
            <a:off x="323528" y="1268760"/>
            <a:ext cx="8229600" cy="4768865"/>
          </a:xfrm>
        </p:spPr>
        <p:txBody>
          <a:bodyPr>
            <a:normAutofit fontScale="32500" lnSpcReduction="20000"/>
          </a:bodyPr>
          <a:lstStyle/>
          <a:p>
            <a:pPr marL="0" indent="0">
              <a:buNone/>
            </a:pPr>
            <a:r>
              <a:rPr lang="en-US" altLang="zh-CN" sz="12800" b="0" dirty="0" smtClean="0">
                <a:latin typeface="Times New Roman" pitchFamily="18" charset="0"/>
                <a:cs typeface="Times New Roman" pitchFamily="18" charset="0"/>
              </a:rPr>
              <a:t>External Environments</a:t>
            </a:r>
          </a:p>
          <a:p>
            <a:pPr marL="0" indent="0">
              <a:buNone/>
            </a:pPr>
            <a:r>
              <a:rPr lang="en-US" altLang="zh-CN" sz="7000" b="0" dirty="0" smtClean="0">
                <a:latin typeface="Times New Roman" pitchFamily="18" charset="0"/>
                <a:cs typeface="Times New Roman" pitchFamily="18" charset="0"/>
              </a:rPr>
              <a:t>(a) Transportation;</a:t>
            </a:r>
            <a:endParaRPr lang="en-US" altLang="zh-CN" sz="7000" b="0" dirty="0">
              <a:latin typeface="Times New Roman" pitchFamily="18" charset="0"/>
              <a:cs typeface="Times New Roman" pitchFamily="18" charset="0"/>
            </a:endParaRPr>
          </a:p>
          <a:p>
            <a:pPr marL="0" indent="0">
              <a:buNone/>
            </a:pPr>
            <a:r>
              <a:rPr lang="en-US" altLang="zh-CN" sz="7000" b="0" dirty="0">
                <a:latin typeface="Times New Roman" pitchFamily="18" charset="0"/>
                <a:cs typeface="Times New Roman" pitchFamily="18" charset="0"/>
              </a:rPr>
              <a:t>(b) Seismic Loads During Pre-Launch</a:t>
            </a:r>
            <a:r>
              <a:rPr lang="en-US" altLang="zh-CN" sz="7000" b="0" dirty="0" smtClean="0">
                <a:latin typeface="Times New Roman" pitchFamily="18" charset="0"/>
                <a:cs typeface="Times New Roman" pitchFamily="18" charset="0"/>
              </a:rPr>
              <a:t>;</a:t>
            </a:r>
            <a:endParaRPr lang="en-US" altLang="zh-CN" sz="7000" b="0" dirty="0">
              <a:latin typeface="Times New Roman" pitchFamily="18" charset="0"/>
              <a:cs typeface="Times New Roman" pitchFamily="18" charset="0"/>
            </a:endParaRPr>
          </a:p>
          <a:p>
            <a:pPr marL="0" indent="0">
              <a:buNone/>
            </a:pPr>
            <a:r>
              <a:rPr lang="en-US" altLang="zh-CN" sz="7000" b="0" dirty="0">
                <a:latin typeface="Times New Roman" pitchFamily="18" charset="0"/>
                <a:cs typeface="Times New Roman" pitchFamily="18" charset="0"/>
              </a:rPr>
              <a:t>(c) Wind and Turbulence;</a:t>
            </a:r>
          </a:p>
          <a:p>
            <a:pPr marL="0" indent="0">
              <a:buNone/>
            </a:pPr>
            <a:r>
              <a:rPr lang="en-US" altLang="zh-CN" sz="7000" b="0" dirty="0">
                <a:latin typeface="Times New Roman" pitchFamily="18" charset="0"/>
                <a:cs typeface="Times New Roman" pitchFamily="18" charset="0"/>
              </a:rPr>
              <a:t>(d) Rocket Motor Ignition Overpressure;</a:t>
            </a:r>
          </a:p>
          <a:p>
            <a:pPr marL="0" indent="0">
              <a:buNone/>
            </a:pPr>
            <a:r>
              <a:rPr lang="en-US" altLang="zh-CN" sz="7000" b="0" dirty="0">
                <a:latin typeface="Times New Roman" pitchFamily="18" charset="0"/>
                <a:cs typeface="Times New Roman" pitchFamily="18" charset="0"/>
              </a:rPr>
              <a:t>(e) Liftoff Release Loads;</a:t>
            </a:r>
          </a:p>
          <a:p>
            <a:pPr marL="0" indent="0">
              <a:buNone/>
            </a:pPr>
            <a:r>
              <a:rPr lang="en-US" altLang="zh-CN" sz="7000" b="0" dirty="0">
                <a:latin typeface="Times New Roman" pitchFamily="18" charset="0"/>
                <a:cs typeface="Times New Roman" pitchFamily="18" charset="0"/>
              </a:rPr>
              <a:t>(f) Engine/Motor Generated Acoustic </a:t>
            </a:r>
            <a:r>
              <a:rPr lang="en-US" altLang="zh-CN" sz="7000" b="0" dirty="0" smtClean="0">
                <a:latin typeface="Times New Roman" pitchFamily="18" charset="0"/>
                <a:cs typeface="Times New Roman" pitchFamily="18" charset="0"/>
              </a:rPr>
              <a:t>Loads;</a:t>
            </a:r>
          </a:p>
          <a:p>
            <a:pPr marL="0" indent="0">
              <a:buNone/>
            </a:pPr>
            <a:r>
              <a:rPr lang="en-US" altLang="zh-CN" sz="7000" b="0" dirty="0" smtClean="0">
                <a:latin typeface="Times New Roman" pitchFamily="18" charset="0"/>
                <a:cs typeface="Times New Roman" pitchFamily="18" charset="0"/>
              </a:rPr>
              <a:t>(g)</a:t>
            </a:r>
            <a:r>
              <a:rPr lang="en-US" altLang="zh-CN" sz="7200" dirty="0" smtClean="0">
                <a:latin typeface="Times New Roman" pitchFamily="18" charset="0"/>
                <a:cs typeface="Times New Roman" pitchFamily="18" charset="0"/>
              </a:rPr>
              <a:t> </a:t>
            </a:r>
            <a:r>
              <a:rPr lang="en-US" altLang="zh-CN" sz="7100" b="0" dirty="0">
                <a:latin typeface="Times New Roman" pitchFamily="18" charset="0"/>
                <a:cs typeface="Times New Roman" pitchFamily="18" charset="0"/>
              </a:rPr>
              <a:t>Stage and Fairing Separation Loads. </a:t>
            </a:r>
            <a:endParaRPr lang="en-US" altLang="zh-CN" sz="7100" b="0" dirty="0" smtClean="0">
              <a:latin typeface="Times New Roman" pitchFamily="18" charset="0"/>
              <a:cs typeface="Times New Roman" pitchFamily="18" charset="0"/>
            </a:endParaRPr>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6</a:t>
            </a:fld>
            <a:r>
              <a:rPr lang="zh-CN" altLang="en-US" smtClean="0"/>
              <a:t> </a:t>
            </a:r>
            <a:endParaRPr lang="zh-CN" altLang="en-US" dirty="0">
              <a:latin typeface="微软雅黑" pitchFamily="34" charset="-122"/>
              <a:ea typeface="微软雅黑" pitchFamily="34" charset="-122"/>
            </a:endParaRPr>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2797880867"/>
              </p:ext>
            </p:extLst>
          </p:nvPr>
        </p:nvGraphicFramePr>
        <p:xfrm>
          <a:off x="6084168" y="1772816"/>
          <a:ext cx="2830305" cy="3706786"/>
        </p:xfrm>
        <a:graphic>
          <a:graphicData uri="http://schemas.openxmlformats.org/presentationml/2006/ole">
            <mc:AlternateContent xmlns:mc="http://schemas.openxmlformats.org/markup-compatibility/2006">
              <mc:Choice xmlns:v="urn:schemas-microsoft-com:vml" Requires="v">
                <p:oleObj spid="_x0000_s1043" name="Visio" r:id="rId4" imgW="3785913" imgH="4937868" progId="Visio.Drawing.11">
                  <p:embed/>
                </p:oleObj>
              </mc:Choice>
              <mc:Fallback>
                <p:oleObj name="Visio" r:id="rId4" imgW="3785913" imgH="4937868" progId="Visio.Drawing.11">
                  <p:embed/>
                  <p:pic>
                    <p:nvPicPr>
                      <p:cNvPr id="0" name=""/>
                      <p:cNvPicPr>
                        <a:picLocks noChangeAspect="1" noChangeArrowheads="1"/>
                      </p:cNvPicPr>
                      <p:nvPr/>
                    </p:nvPicPr>
                    <p:blipFill>
                      <a:blip r:embed="rId5"/>
                      <a:srcRect/>
                      <a:stretch>
                        <a:fillRect/>
                      </a:stretch>
                    </p:blipFill>
                    <p:spPr bwMode="auto">
                      <a:xfrm>
                        <a:off x="6084168" y="1772816"/>
                        <a:ext cx="2830305" cy="3706786"/>
                      </a:xfrm>
                      <a:prstGeom prst="rect">
                        <a:avLst/>
                      </a:prstGeom>
                      <a:solidFill>
                        <a:srgbClr val="FFFFFF"/>
                      </a:solidFill>
                    </p:spPr>
                  </p:pic>
                </p:oleObj>
              </mc:Fallback>
            </mc:AlternateContent>
          </a:graphicData>
        </a:graphic>
      </p:graphicFrame>
    </p:spTree>
    <p:extLst>
      <p:ext uri="{BB962C8B-B14F-4D97-AF65-F5344CB8AC3E}">
        <p14:creationId xmlns:p14="http://schemas.microsoft.com/office/powerpoint/2010/main" val="3487208394"/>
      </p:ext>
    </p:extLst>
  </p:cSld>
  <p:clrMapOvr>
    <a:masterClrMapping/>
  </p:clrMapOvr>
  <mc:AlternateContent xmlns:mc="http://schemas.openxmlformats.org/markup-compatibility/2006" xmlns:p14="http://schemas.microsoft.com/office/powerpoint/2010/main">
    <mc:Choice Requires="p14">
      <p:transition spd="slow" p14:dur="2000" advTm="49477"/>
    </mc:Choice>
    <mc:Fallback xmlns="">
      <p:transition spd="slow" advTm="49477"/>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ph idx="1"/>
          </p:nvPr>
        </p:nvSpPr>
        <p:spPr>
          <a:xfrm>
            <a:off x="35496" y="1124744"/>
            <a:ext cx="8928992" cy="5328592"/>
          </a:xfrm>
        </p:spPr>
        <p:txBody>
          <a:bodyPr>
            <a:normAutofit fontScale="25000" lnSpcReduction="20000"/>
          </a:bodyPr>
          <a:lstStyle/>
          <a:p>
            <a:pPr algn="just"/>
            <a:r>
              <a:rPr lang="en-US" altLang="zh-CN" sz="8000" b="0" dirty="0" smtClean="0">
                <a:latin typeface="Times New Roman" pitchFamily="18" charset="0"/>
              </a:rPr>
              <a:t>As </a:t>
            </a:r>
            <a:r>
              <a:rPr lang="en-US" altLang="zh-CN" sz="8000" b="0" dirty="0">
                <a:latin typeface="Times New Roman" pitchFamily="18" charset="0"/>
              </a:rPr>
              <a:t>we all know, these kinds of dynamic environment is hard to simulate directly, therefore, we must summarize all dynamic environment into some type of excitation, and predict the response of spacecraft. As one of large environmental test series after assembly and integration of satellite, vibration test is one of the most important part of reliability validation tests for satellite.</a:t>
            </a:r>
            <a:endParaRPr lang="zh-CN" altLang="zh-CN" sz="8000" b="0" dirty="0">
              <a:latin typeface="Times New Roman" pitchFamily="18" charset="0"/>
            </a:endParaRPr>
          </a:p>
          <a:p>
            <a:pPr algn="just"/>
            <a:r>
              <a:rPr lang="en-US" altLang="zh-CN" sz="8000" b="0" dirty="0" smtClean="0">
                <a:latin typeface="Times New Roman" pitchFamily="18" charset="0"/>
              </a:rPr>
              <a:t>The </a:t>
            </a:r>
            <a:r>
              <a:rPr lang="en-US" altLang="zh-CN" sz="8000" b="0" dirty="0">
                <a:latin typeface="Times New Roman" pitchFamily="18" charset="0"/>
              </a:rPr>
              <a:t>vibration test is a method to simulate the real vibration environment of launching process. The vibration test is one of most effective methods to disclose the potential trouble. Indicated by the trouble statistic data of NASA from 57 satellites in the first day after launch, 44 percent of trouble were induced by the vibration environment.</a:t>
            </a:r>
            <a:endParaRPr lang="zh-CN" altLang="zh-CN" sz="8000" b="0" dirty="0">
              <a:latin typeface="Times New Roman" pitchFamily="18" charset="0"/>
            </a:endParaRPr>
          </a:p>
          <a:p>
            <a:pPr algn="just"/>
            <a:r>
              <a:rPr lang="en-US" altLang="zh-CN" sz="8000" b="0" dirty="0">
                <a:latin typeface="Times New Roman" pitchFamily="18" charset="0"/>
              </a:rPr>
              <a:t>Therefore, a launching satellite must be verified by a </a:t>
            </a:r>
            <a:r>
              <a:rPr lang="en-US" altLang="zh-CN" sz="8000" b="0" dirty="0">
                <a:solidFill>
                  <a:srgbClr val="FF0000"/>
                </a:solidFill>
                <a:latin typeface="Times New Roman" pitchFamily="18" charset="0"/>
              </a:rPr>
              <a:t>vibration test </a:t>
            </a:r>
            <a:r>
              <a:rPr lang="en-US" altLang="zh-CN" sz="8000" b="0" dirty="0">
                <a:latin typeface="Times New Roman" pitchFamily="18" charset="0"/>
              </a:rPr>
              <a:t>as whole spacecraft according to present production mode. </a:t>
            </a:r>
            <a:endParaRPr lang="en-US" altLang="zh-CN" sz="8000" b="0" dirty="0" smtClean="0">
              <a:latin typeface="Times New Roman" pitchFamily="18" charset="0"/>
              <a:cs typeface="Times New Roman" pitchFamily="18" charset="0"/>
            </a:endParaRPr>
          </a:p>
          <a:p>
            <a:pPr marL="179388" lvl="1">
              <a:buFont typeface="Arial" charset="0"/>
              <a:buChar char="■"/>
            </a:pPr>
            <a:endParaRPr lang="en-US" altLang="zh-CN" sz="2400" dirty="0" smtClean="0">
              <a:latin typeface="Times New Roman" pitchFamily="18" charset="0"/>
              <a:cs typeface="Times New Roman" pitchFamily="18" charset="0"/>
              <a:sym typeface="Wingdings" pitchFamily="2" charset="2"/>
            </a:endParaRPr>
          </a:p>
        </p:txBody>
      </p:sp>
      <p:sp>
        <p:nvSpPr>
          <p:cNvPr id="4" name="灯片编号占位符 3"/>
          <p:cNvSpPr>
            <a:spLocks noGrp="1"/>
          </p:cNvSpPr>
          <p:nvPr>
            <p:ph type="sldNum" sz="quarter" idx="12"/>
          </p:nvPr>
        </p:nvSpPr>
        <p:spPr/>
        <p:txBody>
          <a:bodyPr/>
          <a:lstStyle/>
          <a:p>
            <a:pPr>
              <a:defRPr/>
            </a:pPr>
            <a:fld id="{E93D1812-70AE-49E0-B712-8DDCCEDB2478}" type="slidenum">
              <a:rPr lang="zh-CN" altLang="en-US" smtClean="0"/>
              <a:pPr>
                <a:defRPr/>
              </a:pPr>
              <a:t>7</a:t>
            </a:fld>
            <a:endParaRPr lang="zh-CN" altLang="en-US"/>
          </a:p>
        </p:txBody>
      </p:sp>
      <p:sp>
        <p:nvSpPr>
          <p:cNvPr id="5" name="标题 1"/>
          <p:cNvSpPr>
            <a:spLocks noGrp="1"/>
          </p:cNvSpPr>
          <p:nvPr>
            <p:ph type="title"/>
          </p:nvPr>
        </p:nvSpPr>
        <p:spPr>
          <a:xfrm>
            <a:off x="395536" y="116632"/>
            <a:ext cx="8229600" cy="1082660"/>
          </a:xfrm>
        </p:spPr>
        <p:txBody>
          <a:bodyPr>
            <a:normAutofit/>
          </a:bodyPr>
          <a:lstStyle/>
          <a:p>
            <a:r>
              <a:rPr lang="en-US" altLang="zh-CN" b="0" dirty="0" smtClean="0">
                <a:latin typeface="Times New Roman" pitchFamily="18" charset="0"/>
                <a:cs typeface="Times New Roman" pitchFamily="18" charset="0"/>
              </a:rPr>
              <a:t>vibration </a:t>
            </a:r>
            <a:r>
              <a:rPr lang="en-US" altLang="zh-CN" b="0" dirty="0">
                <a:latin typeface="Times New Roman" pitchFamily="18" charset="0"/>
                <a:cs typeface="Times New Roman" pitchFamily="18" charset="0"/>
              </a:rPr>
              <a:t>test</a:t>
            </a:r>
          </a:p>
        </p:txBody>
      </p:sp>
    </p:spTree>
    <p:custDataLst>
      <p:tags r:id="rId1"/>
    </p:custDataLst>
    <p:extLst>
      <p:ext uri="{BB962C8B-B14F-4D97-AF65-F5344CB8AC3E}">
        <p14:creationId xmlns:p14="http://schemas.microsoft.com/office/powerpoint/2010/main" val="118608435"/>
      </p:ext>
    </p:extLst>
  </p:cSld>
  <p:clrMapOvr>
    <a:masterClrMapping/>
  </p:clrMapOvr>
  <mc:AlternateContent xmlns:mc="http://schemas.openxmlformats.org/markup-compatibility/2006" xmlns:p14="http://schemas.microsoft.com/office/powerpoint/2010/main">
    <mc:Choice Requires="p14">
      <p:transition spd="slow" p14:dur="2000" advTm="59691"/>
    </mc:Choice>
    <mc:Fallback xmlns="">
      <p:transition spd="slow" advTm="59691"/>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ph idx="1"/>
          </p:nvPr>
        </p:nvSpPr>
        <p:spPr>
          <a:xfrm>
            <a:off x="107504" y="1196752"/>
            <a:ext cx="8928992" cy="5661248"/>
          </a:xfrm>
        </p:spPr>
        <p:txBody>
          <a:bodyPr>
            <a:normAutofit/>
          </a:bodyPr>
          <a:lstStyle/>
          <a:p>
            <a:pPr marL="0" indent="0" algn="just">
              <a:buNone/>
            </a:pPr>
            <a:r>
              <a:rPr lang="en-US" altLang="zh-CN" sz="2000" dirty="0">
                <a:latin typeface="Times New Roman" pitchFamily="18" charset="0"/>
                <a:cs typeface="Times New Roman" pitchFamily="18" charset="0"/>
              </a:rPr>
              <a:t>Vibration test </a:t>
            </a:r>
            <a:r>
              <a:rPr lang="en-US" altLang="zh-CN" sz="2000" dirty="0" smtClean="0">
                <a:latin typeface="Times New Roman" pitchFamily="18" charset="0"/>
                <a:cs typeface="Times New Roman" pitchFamily="18" charset="0"/>
              </a:rPr>
              <a:t>is generally </a:t>
            </a:r>
            <a:r>
              <a:rPr lang="en-US" altLang="zh-CN" sz="2000" dirty="0">
                <a:latin typeface="Times New Roman" pitchFamily="18" charset="0"/>
                <a:cs typeface="Times New Roman" pitchFamily="18" charset="0"/>
              </a:rPr>
              <a:t>composed of swept-sine vibration test and random vibration test. </a:t>
            </a:r>
            <a:r>
              <a:rPr lang="en-US" altLang="zh-CN" sz="2000" dirty="0">
                <a:solidFill>
                  <a:srgbClr val="FF0000"/>
                </a:solidFill>
                <a:latin typeface="Times New Roman" pitchFamily="18" charset="0"/>
                <a:cs typeface="Times New Roman" pitchFamily="18" charset="0"/>
              </a:rPr>
              <a:t>Swept-Sine vibration test </a:t>
            </a:r>
            <a:r>
              <a:rPr lang="en-US" altLang="zh-CN" sz="2000" dirty="0">
                <a:latin typeface="Times New Roman" pitchFamily="18" charset="0"/>
                <a:cs typeface="Times New Roman" pitchFamily="18" charset="0"/>
              </a:rPr>
              <a:t>is used to simulate Transients, Such as motor ignition overpressure and the liftoff release, which will cause the Transients excitation. </a:t>
            </a:r>
            <a:r>
              <a:rPr lang="en-US" altLang="zh-CN" sz="2000" dirty="0">
                <a:solidFill>
                  <a:srgbClr val="FF0000"/>
                </a:solidFill>
                <a:latin typeface="Times New Roman" pitchFamily="18" charset="0"/>
                <a:cs typeface="Times New Roman" pitchFamily="18" charset="0"/>
              </a:rPr>
              <a:t>Random vibration test</a:t>
            </a:r>
            <a:r>
              <a:rPr lang="en-US" altLang="zh-CN" sz="2000" dirty="0">
                <a:latin typeface="Times New Roman" pitchFamily="18" charset="0"/>
                <a:cs typeface="Times New Roman" pitchFamily="18" charset="0"/>
              </a:rPr>
              <a:t> is used to simulate high frequency vibration caused by </a:t>
            </a:r>
            <a:r>
              <a:rPr lang="en-US" altLang="zh-CN" sz="2000" dirty="0" err="1">
                <a:latin typeface="Times New Roman" pitchFamily="18" charset="0"/>
                <a:cs typeface="Times New Roman" pitchFamily="18" charset="0"/>
              </a:rPr>
              <a:t>aeroacoustic</a:t>
            </a:r>
            <a:r>
              <a:rPr lang="en-US" altLang="zh-CN" sz="2000" dirty="0">
                <a:latin typeface="Times New Roman" pitchFamily="18" charset="0"/>
                <a:cs typeface="Times New Roman" pitchFamily="18" charset="0"/>
              </a:rPr>
              <a:t> </a:t>
            </a:r>
            <a:r>
              <a:rPr lang="en-US" altLang="zh-CN" sz="2000" dirty="0" smtClean="0">
                <a:latin typeface="Times New Roman" pitchFamily="18" charset="0"/>
                <a:cs typeface="Times New Roman" pitchFamily="18" charset="0"/>
              </a:rPr>
              <a:t>excitations.</a:t>
            </a:r>
            <a:endParaRPr lang="zh-CN" altLang="zh-CN" sz="2000" dirty="0">
              <a:latin typeface="Times New Roman" pitchFamily="18" charset="0"/>
              <a:cs typeface="Times New Roman" pitchFamily="18" charset="0"/>
            </a:endParaRPr>
          </a:p>
        </p:txBody>
      </p:sp>
      <p:sp>
        <p:nvSpPr>
          <p:cNvPr id="4" name="灯片编号占位符 3"/>
          <p:cNvSpPr>
            <a:spLocks noGrp="1"/>
          </p:cNvSpPr>
          <p:nvPr>
            <p:ph type="sldNum" sz="quarter" idx="12"/>
          </p:nvPr>
        </p:nvSpPr>
        <p:spPr/>
        <p:txBody>
          <a:bodyPr/>
          <a:lstStyle/>
          <a:p>
            <a:pPr>
              <a:defRPr/>
            </a:pPr>
            <a:fld id="{E93D1812-70AE-49E0-B712-8DDCCEDB2478}" type="slidenum">
              <a:rPr lang="zh-CN" altLang="en-US" smtClean="0"/>
              <a:pPr>
                <a:defRPr/>
              </a:pPr>
              <a:t>8</a:t>
            </a:fld>
            <a:endParaRPr lang="zh-CN" altLang="en-US"/>
          </a:p>
        </p:txBody>
      </p:sp>
      <p:sp>
        <p:nvSpPr>
          <p:cNvPr id="5" name="标题 1"/>
          <p:cNvSpPr>
            <a:spLocks noGrp="1"/>
          </p:cNvSpPr>
          <p:nvPr>
            <p:ph type="title"/>
          </p:nvPr>
        </p:nvSpPr>
        <p:spPr>
          <a:xfrm>
            <a:off x="395536" y="116632"/>
            <a:ext cx="8229600" cy="1082660"/>
          </a:xfrm>
        </p:spPr>
        <p:txBody>
          <a:bodyPr>
            <a:normAutofit/>
          </a:bodyPr>
          <a:lstStyle/>
          <a:p>
            <a:r>
              <a:rPr lang="en-US" altLang="zh-CN" b="0" dirty="0" smtClean="0">
                <a:latin typeface="Times New Roman" pitchFamily="18" charset="0"/>
                <a:cs typeface="Times New Roman" pitchFamily="18" charset="0"/>
              </a:rPr>
              <a:t>vibration </a:t>
            </a:r>
            <a:r>
              <a:rPr lang="en-US" altLang="zh-CN" b="0" dirty="0">
                <a:latin typeface="Times New Roman" pitchFamily="18" charset="0"/>
                <a:cs typeface="Times New Roman" pitchFamily="18" charset="0"/>
              </a:rPr>
              <a:t>test</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3717032"/>
            <a:ext cx="4029075" cy="2304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4096" y="3753036"/>
            <a:ext cx="3600400" cy="2232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71298871"/>
      </p:ext>
    </p:extLst>
  </p:cSld>
  <p:clrMapOvr>
    <a:masterClrMapping/>
  </p:clrMapOvr>
  <mc:AlternateContent xmlns:mc="http://schemas.openxmlformats.org/markup-compatibility/2006" xmlns:p14="http://schemas.microsoft.com/office/powerpoint/2010/main">
    <mc:Choice Requires="p14">
      <p:transition spd="slow" p14:dur="2000" advTm="57006"/>
    </mc:Choice>
    <mc:Fallback xmlns="">
      <p:transition spd="slow" advTm="57006"/>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ph idx="1"/>
          </p:nvPr>
        </p:nvSpPr>
        <p:spPr>
          <a:xfrm>
            <a:off x="35496" y="1196752"/>
            <a:ext cx="9073008" cy="4829398"/>
          </a:xfrm>
        </p:spPr>
        <p:txBody>
          <a:bodyPr>
            <a:normAutofit/>
          </a:bodyPr>
          <a:lstStyle/>
          <a:p>
            <a:pPr marL="0" indent="0" algn="just">
              <a:buNone/>
              <a:defRPr/>
            </a:pPr>
            <a:r>
              <a:rPr lang="en-US" altLang="zh-CN" sz="1800" dirty="0">
                <a:cs typeface="Times New Roman" pitchFamily="18" charset="0"/>
              </a:rPr>
              <a:t>Test facility</a:t>
            </a:r>
          </a:p>
          <a:p>
            <a:pPr marL="0" indent="0" algn="just">
              <a:buNone/>
              <a:defRPr/>
            </a:pPr>
            <a:r>
              <a:rPr lang="en-US" altLang="zh-CN" sz="1800" dirty="0" smtClean="0">
                <a:latin typeface="Times New Roman" pitchFamily="18" charset="0"/>
                <a:cs typeface="Times New Roman" pitchFamily="18" charset="0"/>
              </a:rPr>
              <a:t>we </a:t>
            </a:r>
            <a:r>
              <a:rPr lang="en-US" altLang="zh-CN" sz="1800" dirty="0">
                <a:latin typeface="Times New Roman" pitchFamily="18" charset="0"/>
                <a:cs typeface="Times New Roman" pitchFamily="18" charset="0"/>
              </a:rPr>
              <a:t>have introduced the vibration environment and vibration test, now we will discuss the facility of vibration test. It include two system, the one is vibration inspiring </a:t>
            </a:r>
            <a:r>
              <a:rPr lang="en-US" altLang="zh-CN" sz="1800" dirty="0" err="1">
                <a:latin typeface="Times New Roman" pitchFamily="18" charset="0"/>
                <a:cs typeface="Times New Roman" pitchFamily="18" charset="0"/>
              </a:rPr>
              <a:t>system,which</a:t>
            </a:r>
            <a:r>
              <a:rPr lang="en-US" altLang="zh-CN" sz="1800" dirty="0">
                <a:latin typeface="Times New Roman" pitchFamily="18" charset="0"/>
                <a:cs typeface="Times New Roman" pitchFamily="18" charset="0"/>
              </a:rPr>
              <a:t> contains shaker</a:t>
            </a:r>
            <a:r>
              <a:rPr lang="zh-CN" altLang="zh-CN" sz="1800" dirty="0">
                <a:latin typeface="Times New Roman" pitchFamily="18" charset="0"/>
                <a:cs typeface="Times New Roman" pitchFamily="18" charset="0"/>
              </a:rPr>
              <a:t>、</a:t>
            </a:r>
            <a:r>
              <a:rPr lang="en-US" altLang="zh-CN" sz="1800" dirty="0">
                <a:latin typeface="Times New Roman" pitchFamily="18" charset="0"/>
                <a:cs typeface="Times New Roman" pitchFamily="18" charset="0"/>
              </a:rPr>
              <a:t>controller for shaker</a:t>
            </a:r>
            <a:r>
              <a:rPr lang="zh-CN" altLang="zh-CN" sz="1800" dirty="0">
                <a:latin typeface="Times New Roman" pitchFamily="18" charset="0"/>
                <a:cs typeface="Times New Roman" pitchFamily="18" charset="0"/>
              </a:rPr>
              <a:t>、</a:t>
            </a:r>
            <a:r>
              <a:rPr lang="en-US" altLang="zh-CN" sz="1800" dirty="0">
                <a:latin typeface="Times New Roman" pitchFamily="18" charset="0"/>
                <a:cs typeface="Times New Roman" pitchFamily="18" charset="0"/>
              </a:rPr>
              <a:t>power amplifier for controller</a:t>
            </a:r>
            <a:r>
              <a:rPr lang="zh-CN" altLang="zh-CN" sz="1800" dirty="0">
                <a:latin typeface="Times New Roman" pitchFamily="18" charset="0"/>
                <a:cs typeface="Times New Roman" pitchFamily="18" charset="0"/>
              </a:rPr>
              <a:t>、</a:t>
            </a:r>
            <a:r>
              <a:rPr lang="en-US" altLang="zh-CN" sz="1800" dirty="0">
                <a:latin typeface="Times New Roman" pitchFamily="18" charset="0"/>
                <a:cs typeface="Times New Roman" pitchFamily="18" charset="0"/>
              </a:rPr>
              <a:t>acceleration sensors for control</a:t>
            </a:r>
            <a:r>
              <a:rPr lang="zh-CN" altLang="zh-CN" sz="1800" dirty="0">
                <a:latin typeface="Times New Roman" pitchFamily="18" charset="0"/>
                <a:cs typeface="Times New Roman" pitchFamily="18" charset="0"/>
              </a:rPr>
              <a:t>、</a:t>
            </a:r>
            <a:r>
              <a:rPr lang="en-US" altLang="zh-CN" sz="1800" dirty="0">
                <a:latin typeface="Times New Roman" pitchFamily="18" charset="0"/>
                <a:cs typeface="Times New Roman" pitchFamily="18" charset="0"/>
              </a:rPr>
              <a:t>charge amplifier for sensors</a:t>
            </a:r>
            <a:r>
              <a:rPr lang="zh-CN" altLang="zh-CN" sz="1800" dirty="0">
                <a:latin typeface="Times New Roman" pitchFamily="18" charset="0"/>
                <a:cs typeface="Times New Roman" pitchFamily="18" charset="0"/>
              </a:rPr>
              <a:t>；</a:t>
            </a:r>
            <a:r>
              <a:rPr lang="en-US" altLang="zh-CN" sz="1800" dirty="0">
                <a:latin typeface="Times New Roman" pitchFamily="18" charset="0"/>
                <a:cs typeface="Times New Roman" pitchFamily="18" charset="0"/>
              </a:rPr>
              <a:t>the other is measure system, which contains data acquirer and analyzer</a:t>
            </a:r>
            <a:r>
              <a:rPr lang="zh-CN" altLang="zh-CN" sz="1800" dirty="0">
                <a:latin typeface="Times New Roman" pitchFamily="18" charset="0"/>
                <a:cs typeface="Times New Roman" pitchFamily="18" charset="0"/>
              </a:rPr>
              <a:t>、</a:t>
            </a:r>
            <a:r>
              <a:rPr lang="en-US" altLang="zh-CN" sz="1800" dirty="0">
                <a:latin typeface="Times New Roman" pitchFamily="18" charset="0"/>
                <a:cs typeface="Times New Roman" pitchFamily="18" charset="0"/>
              </a:rPr>
              <a:t>acceleration sensors</a:t>
            </a:r>
            <a:r>
              <a:rPr lang="zh-CN" altLang="zh-CN" sz="1800" dirty="0">
                <a:latin typeface="Times New Roman" pitchFamily="18" charset="0"/>
                <a:cs typeface="Times New Roman" pitchFamily="18" charset="0"/>
              </a:rPr>
              <a:t>、</a:t>
            </a:r>
            <a:r>
              <a:rPr lang="en-US" altLang="zh-CN" sz="1800" dirty="0">
                <a:latin typeface="Times New Roman" pitchFamily="18" charset="0"/>
                <a:cs typeface="Times New Roman" pitchFamily="18" charset="0"/>
              </a:rPr>
              <a:t>dynamic signal conditioner</a:t>
            </a:r>
            <a:r>
              <a:rPr lang="zh-CN" altLang="zh-CN" sz="1800" dirty="0">
                <a:latin typeface="Times New Roman" pitchFamily="18" charset="0"/>
                <a:cs typeface="Times New Roman" pitchFamily="18" charset="0"/>
              </a:rPr>
              <a:t>、</a:t>
            </a:r>
            <a:r>
              <a:rPr lang="en-US" altLang="zh-CN" sz="1800" dirty="0">
                <a:latin typeface="Times New Roman" pitchFamily="18" charset="0"/>
                <a:cs typeface="Times New Roman" pitchFamily="18" charset="0"/>
              </a:rPr>
              <a:t>strain sensors</a:t>
            </a:r>
            <a:r>
              <a:rPr lang="zh-CN" altLang="zh-CN" sz="1800" dirty="0">
                <a:latin typeface="Times New Roman" pitchFamily="18" charset="0"/>
                <a:cs typeface="Times New Roman" pitchFamily="18" charset="0"/>
              </a:rPr>
              <a:t>、</a:t>
            </a:r>
            <a:r>
              <a:rPr lang="en-US" altLang="zh-CN" sz="1800" dirty="0">
                <a:latin typeface="Times New Roman" pitchFamily="18" charset="0"/>
                <a:cs typeface="Times New Roman" pitchFamily="18" charset="0"/>
              </a:rPr>
              <a:t>strain amplifier.</a:t>
            </a:r>
            <a:endParaRPr lang="zh-CN" altLang="zh-CN" sz="1800" dirty="0">
              <a:latin typeface="Times New Roman" pitchFamily="18" charset="0"/>
              <a:cs typeface="Times New Roman" pitchFamily="18" charset="0"/>
            </a:endParaRPr>
          </a:p>
          <a:p>
            <a:pPr>
              <a:buFont typeface="Arial" charset="0"/>
              <a:buNone/>
              <a:defRPr/>
            </a:pPr>
            <a:endParaRPr lang="en-US" altLang="zh-CN" sz="1600" dirty="0" smtClean="0">
              <a:latin typeface="微软雅黑" pitchFamily="34" charset="-122"/>
              <a:ea typeface="微软雅黑" pitchFamily="34" charset="-122"/>
              <a:cs typeface="Times New Roman" pitchFamily="18"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35266837"/>
              </p:ext>
            </p:extLst>
          </p:nvPr>
        </p:nvGraphicFramePr>
        <p:xfrm>
          <a:off x="1187624" y="4143376"/>
          <a:ext cx="6786562" cy="2453977"/>
        </p:xfrm>
        <a:graphic>
          <a:graphicData uri="http://schemas.openxmlformats.org/drawingml/2006/table">
            <a:tbl>
              <a:tblPr/>
              <a:tblGrid>
                <a:gridCol w="3393281"/>
                <a:gridCol w="3393281"/>
              </a:tblGrid>
              <a:tr h="391927">
                <a:tc>
                  <a:txBody>
                    <a:bodyPr/>
                    <a:lstStyle/>
                    <a:p>
                      <a:pPr algn="just">
                        <a:spcAft>
                          <a:spcPts val="0"/>
                        </a:spcAft>
                      </a:pPr>
                      <a:r>
                        <a:rPr lang="en-US" sz="1800" b="1" kern="100" dirty="0">
                          <a:solidFill>
                            <a:srgbClr val="FFFFFF"/>
                          </a:solidFill>
                          <a:latin typeface="Calibri"/>
                          <a:ea typeface="宋体"/>
                          <a:cs typeface="Times New Roman"/>
                        </a:rPr>
                        <a:t>Vibration inspiring system</a:t>
                      </a:r>
                      <a:endParaRPr lang="zh-CN" sz="1800" kern="100" dirty="0">
                        <a:latin typeface="Calibri"/>
                        <a:ea typeface="宋体"/>
                        <a:cs typeface="Times New Roman"/>
                      </a:endParaRPr>
                    </a:p>
                  </a:txBody>
                  <a:tcPr marL="68580" marR="68580" marT="0" marB="0">
                    <a:lnL w="12700" cap="flat" cmpd="sng" algn="ctr">
                      <a:solidFill>
                        <a:srgbClr val="9F8AB9"/>
                      </a:solidFill>
                      <a:prstDash val="solid"/>
                      <a:round/>
                      <a:headEnd type="none" w="med" len="med"/>
                      <a:tailEnd type="none" w="med" len="med"/>
                    </a:lnL>
                    <a:lnR>
                      <a:noFill/>
                    </a:lnR>
                    <a:lnT w="12700" cap="flat" cmpd="sng" algn="ctr">
                      <a:solidFill>
                        <a:srgbClr val="9F8AB9"/>
                      </a:solidFill>
                      <a:prstDash val="solid"/>
                      <a:round/>
                      <a:headEnd type="none" w="med" len="med"/>
                      <a:tailEnd type="none" w="med" len="med"/>
                    </a:lnT>
                    <a:lnB w="12700" cap="flat" cmpd="sng" algn="ctr">
                      <a:solidFill>
                        <a:srgbClr val="9F8AB9"/>
                      </a:solidFill>
                      <a:prstDash val="solid"/>
                      <a:round/>
                      <a:headEnd type="none" w="med" len="med"/>
                      <a:tailEnd type="none" w="med" len="med"/>
                    </a:lnB>
                    <a:solidFill>
                      <a:srgbClr val="8064A2"/>
                    </a:solidFill>
                  </a:tcPr>
                </a:tc>
                <a:tc>
                  <a:txBody>
                    <a:bodyPr/>
                    <a:lstStyle/>
                    <a:p>
                      <a:pPr algn="just">
                        <a:spcAft>
                          <a:spcPts val="0"/>
                        </a:spcAft>
                      </a:pPr>
                      <a:r>
                        <a:rPr lang="en-US" sz="1800" b="1" kern="100" dirty="0">
                          <a:solidFill>
                            <a:srgbClr val="FFFFFF"/>
                          </a:solidFill>
                          <a:latin typeface="Calibri"/>
                          <a:ea typeface="宋体"/>
                          <a:cs typeface="Times New Roman"/>
                        </a:rPr>
                        <a:t>Measure system</a:t>
                      </a:r>
                      <a:endParaRPr lang="zh-CN" sz="1800" kern="100" dirty="0">
                        <a:latin typeface="Calibri"/>
                        <a:ea typeface="宋体"/>
                        <a:cs typeface="Times New Roman"/>
                      </a:endParaRPr>
                    </a:p>
                  </a:txBody>
                  <a:tcPr marL="68580" marR="68580" marT="0" marB="0">
                    <a:lnL>
                      <a:noFill/>
                    </a:lnL>
                    <a:lnR w="12700" cap="flat" cmpd="sng" algn="ctr">
                      <a:solidFill>
                        <a:srgbClr val="9F8AB9"/>
                      </a:solidFill>
                      <a:prstDash val="solid"/>
                      <a:round/>
                      <a:headEnd type="none" w="med" len="med"/>
                      <a:tailEnd type="none" w="med" len="med"/>
                    </a:lnR>
                    <a:lnT w="12700" cap="flat" cmpd="sng" algn="ctr">
                      <a:solidFill>
                        <a:srgbClr val="9F8AB9"/>
                      </a:solidFill>
                      <a:prstDash val="solid"/>
                      <a:round/>
                      <a:headEnd type="none" w="med" len="med"/>
                      <a:tailEnd type="none" w="med" len="med"/>
                    </a:lnT>
                    <a:lnB w="12700" cap="flat" cmpd="sng" algn="ctr">
                      <a:solidFill>
                        <a:srgbClr val="9F8AB9"/>
                      </a:solidFill>
                      <a:prstDash val="solid"/>
                      <a:round/>
                      <a:headEnd type="none" w="med" len="med"/>
                      <a:tailEnd type="none" w="med" len="med"/>
                    </a:lnB>
                    <a:solidFill>
                      <a:srgbClr val="8064A2"/>
                    </a:solidFill>
                  </a:tcPr>
                </a:tc>
              </a:tr>
              <a:tr h="391927">
                <a:tc>
                  <a:txBody>
                    <a:bodyPr/>
                    <a:lstStyle/>
                    <a:p>
                      <a:pPr algn="just">
                        <a:spcAft>
                          <a:spcPts val="0"/>
                        </a:spcAft>
                      </a:pPr>
                      <a:r>
                        <a:rPr lang="en-US" sz="1800" b="1" kern="100" dirty="0">
                          <a:latin typeface="Calibri"/>
                          <a:ea typeface="宋体"/>
                          <a:cs typeface="Times New Roman"/>
                        </a:rPr>
                        <a:t>Shaker</a:t>
                      </a:r>
                      <a:endParaRPr lang="zh-CN" sz="1800" kern="100" dirty="0">
                        <a:latin typeface="Calibri"/>
                        <a:ea typeface="宋体"/>
                        <a:cs typeface="Times New Roman"/>
                      </a:endParaRPr>
                    </a:p>
                  </a:txBody>
                  <a:tcPr marL="68580" marR="68580" marT="0" marB="0">
                    <a:lnL w="12700" cap="flat" cmpd="sng" algn="ctr">
                      <a:solidFill>
                        <a:srgbClr val="9F8AB9"/>
                      </a:solidFill>
                      <a:prstDash val="solid"/>
                      <a:round/>
                      <a:headEnd type="none" w="med" len="med"/>
                      <a:tailEnd type="none" w="med" len="med"/>
                    </a:lnL>
                    <a:lnR>
                      <a:noFill/>
                    </a:lnR>
                    <a:lnT w="12700" cap="flat" cmpd="sng" algn="ctr">
                      <a:solidFill>
                        <a:srgbClr val="9F8AB9"/>
                      </a:solidFill>
                      <a:prstDash val="solid"/>
                      <a:round/>
                      <a:headEnd type="none" w="med" len="med"/>
                      <a:tailEnd type="none" w="med" len="med"/>
                    </a:lnT>
                    <a:lnB w="12700" cap="flat" cmpd="sng" algn="ctr">
                      <a:solidFill>
                        <a:srgbClr val="9F8AB9"/>
                      </a:solidFill>
                      <a:prstDash val="solid"/>
                      <a:round/>
                      <a:headEnd type="none" w="med" len="med"/>
                      <a:tailEnd type="none" w="med" len="med"/>
                    </a:lnB>
                    <a:solidFill>
                      <a:srgbClr val="DFD8E8"/>
                    </a:solidFill>
                  </a:tcPr>
                </a:tc>
                <a:tc>
                  <a:txBody>
                    <a:bodyPr/>
                    <a:lstStyle/>
                    <a:p>
                      <a:pPr algn="just">
                        <a:spcAft>
                          <a:spcPts val="0"/>
                        </a:spcAft>
                      </a:pPr>
                      <a:r>
                        <a:rPr lang="en-US" sz="1800" b="1" kern="100" dirty="0">
                          <a:latin typeface="Calibri"/>
                          <a:ea typeface="宋体"/>
                          <a:cs typeface="Times New Roman"/>
                        </a:rPr>
                        <a:t>Data acquirer and analyzer</a:t>
                      </a:r>
                      <a:endParaRPr lang="zh-CN" sz="1800" kern="100" dirty="0">
                        <a:latin typeface="Calibri"/>
                        <a:ea typeface="宋体"/>
                        <a:cs typeface="Times New Roman"/>
                      </a:endParaRPr>
                    </a:p>
                  </a:txBody>
                  <a:tcPr marL="68580" marR="68580" marT="0" marB="0">
                    <a:lnL>
                      <a:noFill/>
                    </a:lnL>
                    <a:lnR w="12700" cap="flat" cmpd="sng" algn="ctr">
                      <a:solidFill>
                        <a:srgbClr val="9F8AB9"/>
                      </a:solidFill>
                      <a:prstDash val="solid"/>
                      <a:round/>
                      <a:headEnd type="none" w="med" len="med"/>
                      <a:tailEnd type="none" w="med" len="med"/>
                    </a:lnR>
                    <a:lnT w="12700" cap="flat" cmpd="sng" algn="ctr">
                      <a:solidFill>
                        <a:srgbClr val="9F8AB9"/>
                      </a:solidFill>
                      <a:prstDash val="solid"/>
                      <a:round/>
                      <a:headEnd type="none" w="med" len="med"/>
                      <a:tailEnd type="none" w="med" len="med"/>
                    </a:lnT>
                    <a:lnB w="12700" cap="flat" cmpd="sng" algn="ctr">
                      <a:solidFill>
                        <a:srgbClr val="9F8AB9"/>
                      </a:solidFill>
                      <a:prstDash val="solid"/>
                      <a:round/>
                      <a:headEnd type="none" w="med" len="med"/>
                      <a:tailEnd type="none" w="med" len="med"/>
                    </a:lnB>
                    <a:solidFill>
                      <a:srgbClr val="DFD8E8"/>
                    </a:solidFill>
                  </a:tcPr>
                </a:tc>
              </a:tr>
              <a:tr h="391927">
                <a:tc>
                  <a:txBody>
                    <a:bodyPr/>
                    <a:lstStyle/>
                    <a:p>
                      <a:pPr algn="just">
                        <a:spcAft>
                          <a:spcPts val="0"/>
                        </a:spcAft>
                      </a:pPr>
                      <a:r>
                        <a:rPr lang="en-US" sz="1800" b="1" kern="100" dirty="0">
                          <a:latin typeface="Calibri"/>
                          <a:ea typeface="宋体"/>
                          <a:cs typeface="Times New Roman"/>
                        </a:rPr>
                        <a:t>Controller for shaker</a:t>
                      </a:r>
                      <a:endParaRPr lang="zh-CN" sz="1800" kern="100" dirty="0">
                        <a:latin typeface="Calibri"/>
                        <a:ea typeface="宋体"/>
                        <a:cs typeface="Times New Roman"/>
                      </a:endParaRPr>
                    </a:p>
                  </a:txBody>
                  <a:tcPr marL="68580" marR="68580" marT="0" marB="0">
                    <a:lnL w="12700" cap="flat" cmpd="sng" algn="ctr">
                      <a:solidFill>
                        <a:srgbClr val="9F8AB9"/>
                      </a:solidFill>
                      <a:prstDash val="solid"/>
                      <a:round/>
                      <a:headEnd type="none" w="med" len="med"/>
                      <a:tailEnd type="none" w="med" len="med"/>
                    </a:lnL>
                    <a:lnR>
                      <a:noFill/>
                    </a:lnR>
                    <a:lnT w="12700" cap="flat" cmpd="sng" algn="ctr">
                      <a:solidFill>
                        <a:srgbClr val="9F8AB9"/>
                      </a:solidFill>
                      <a:prstDash val="solid"/>
                      <a:round/>
                      <a:headEnd type="none" w="med" len="med"/>
                      <a:tailEnd type="none" w="med" len="med"/>
                    </a:lnT>
                    <a:lnB w="12700" cap="flat" cmpd="sng" algn="ctr">
                      <a:solidFill>
                        <a:srgbClr val="9F8AB9"/>
                      </a:solidFill>
                      <a:prstDash val="solid"/>
                      <a:round/>
                      <a:headEnd type="none" w="med" len="med"/>
                      <a:tailEnd type="none" w="med" len="med"/>
                    </a:lnB>
                  </a:tcPr>
                </a:tc>
                <a:tc>
                  <a:txBody>
                    <a:bodyPr/>
                    <a:lstStyle/>
                    <a:p>
                      <a:pPr algn="just">
                        <a:spcAft>
                          <a:spcPts val="0"/>
                        </a:spcAft>
                      </a:pPr>
                      <a:r>
                        <a:rPr lang="en-US" sz="1800" b="1" kern="100" dirty="0">
                          <a:latin typeface="Calibri"/>
                          <a:ea typeface="宋体"/>
                          <a:cs typeface="Times New Roman"/>
                        </a:rPr>
                        <a:t>Acceleration sensors</a:t>
                      </a:r>
                      <a:endParaRPr lang="zh-CN" sz="1800" kern="100" dirty="0">
                        <a:latin typeface="Calibri"/>
                        <a:ea typeface="宋体"/>
                        <a:cs typeface="Times New Roman"/>
                      </a:endParaRPr>
                    </a:p>
                  </a:txBody>
                  <a:tcPr marL="68580" marR="68580" marT="0" marB="0">
                    <a:lnL>
                      <a:noFill/>
                    </a:lnL>
                    <a:lnR w="12700" cap="flat" cmpd="sng" algn="ctr">
                      <a:solidFill>
                        <a:srgbClr val="9F8AB9"/>
                      </a:solidFill>
                      <a:prstDash val="solid"/>
                      <a:round/>
                      <a:headEnd type="none" w="med" len="med"/>
                      <a:tailEnd type="none" w="med" len="med"/>
                    </a:lnR>
                    <a:lnT w="12700" cap="flat" cmpd="sng" algn="ctr">
                      <a:solidFill>
                        <a:srgbClr val="9F8AB9"/>
                      </a:solidFill>
                      <a:prstDash val="solid"/>
                      <a:round/>
                      <a:headEnd type="none" w="med" len="med"/>
                      <a:tailEnd type="none" w="med" len="med"/>
                    </a:lnT>
                    <a:lnB w="12700" cap="flat" cmpd="sng" algn="ctr">
                      <a:solidFill>
                        <a:srgbClr val="9F8AB9"/>
                      </a:solidFill>
                      <a:prstDash val="solid"/>
                      <a:round/>
                      <a:headEnd type="none" w="med" len="med"/>
                      <a:tailEnd type="none" w="med" len="med"/>
                    </a:lnB>
                  </a:tcPr>
                </a:tc>
              </a:tr>
              <a:tr h="391927">
                <a:tc>
                  <a:txBody>
                    <a:bodyPr/>
                    <a:lstStyle/>
                    <a:p>
                      <a:pPr algn="just">
                        <a:spcAft>
                          <a:spcPts val="0"/>
                        </a:spcAft>
                      </a:pPr>
                      <a:r>
                        <a:rPr lang="en-US" sz="1800" b="1" kern="100" dirty="0">
                          <a:latin typeface="Calibri"/>
                          <a:ea typeface="宋体"/>
                          <a:cs typeface="Times New Roman"/>
                        </a:rPr>
                        <a:t>Power amplifier for controller</a:t>
                      </a:r>
                      <a:endParaRPr lang="zh-CN" sz="1800" kern="100" dirty="0">
                        <a:latin typeface="Calibri"/>
                        <a:ea typeface="宋体"/>
                        <a:cs typeface="Times New Roman"/>
                      </a:endParaRPr>
                    </a:p>
                  </a:txBody>
                  <a:tcPr marL="68580" marR="68580" marT="0" marB="0">
                    <a:lnL w="12700" cap="flat" cmpd="sng" algn="ctr">
                      <a:solidFill>
                        <a:srgbClr val="9F8AB9"/>
                      </a:solidFill>
                      <a:prstDash val="solid"/>
                      <a:round/>
                      <a:headEnd type="none" w="med" len="med"/>
                      <a:tailEnd type="none" w="med" len="med"/>
                    </a:lnL>
                    <a:lnR>
                      <a:noFill/>
                    </a:lnR>
                    <a:lnT w="12700" cap="flat" cmpd="sng" algn="ctr">
                      <a:solidFill>
                        <a:srgbClr val="9F8AB9"/>
                      </a:solidFill>
                      <a:prstDash val="solid"/>
                      <a:round/>
                      <a:headEnd type="none" w="med" len="med"/>
                      <a:tailEnd type="none" w="med" len="med"/>
                    </a:lnT>
                    <a:lnB w="12700" cap="flat" cmpd="sng" algn="ctr">
                      <a:solidFill>
                        <a:srgbClr val="9F8AB9"/>
                      </a:solidFill>
                      <a:prstDash val="solid"/>
                      <a:round/>
                      <a:headEnd type="none" w="med" len="med"/>
                      <a:tailEnd type="none" w="med" len="med"/>
                    </a:lnB>
                    <a:solidFill>
                      <a:srgbClr val="DFD8E8"/>
                    </a:solidFill>
                  </a:tcPr>
                </a:tc>
                <a:tc>
                  <a:txBody>
                    <a:bodyPr/>
                    <a:lstStyle/>
                    <a:p>
                      <a:pPr algn="just">
                        <a:spcAft>
                          <a:spcPts val="0"/>
                        </a:spcAft>
                      </a:pPr>
                      <a:r>
                        <a:rPr lang="en-US" sz="1800" b="1" kern="100" dirty="0">
                          <a:latin typeface="Calibri"/>
                          <a:ea typeface="宋体"/>
                          <a:cs typeface="Times New Roman"/>
                        </a:rPr>
                        <a:t>Dynamic signal conditioner</a:t>
                      </a:r>
                      <a:endParaRPr lang="zh-CN" sz="1800" kern="100" dirty="0">
                        <a:latin typeface="Calibri"/>
                        <a:ea typeface="宋体"/>
                        <a:cs typeface="Times New Roman"/>
                      </a:endParaRPr>
                    </a:p>
                  </a:txBody>
                  <a:tcPr marL="68580" marR="68580" marT="0" marB="0">
                    <a:lnL>
                      <a:noFill/>
                    </a:lnL>
                    <a:lnR w="12700" cap="flat" cmpd="sng" algn="ctr">
                      <a:solidFill>
                        <a:srgbClr val="9F8AB9"/>
                      </a:solidFill>
                      <a:prstDash val="solid"/>
                      <a:round/>
                      <a:headEnd type="none" w="med" len="med"/>
                      <a:tailEnd type="none" w="med" len="med"/>
                    </a:lnR>
                    <a:lnT w="12700" cap="flat" cmpd="sng" algn="ctr">
                      <a:solidFill>
                        <a:srgbClr val="9F8AB9"/>
                      </a:solidFill>
                      <a:prstDash val="solid"/>
                      <a:round/>
                      <a:headEnd type="none" w="med" len="med"/>
                      <a:tailEnd type="none" w="med" len="med"/>
                    </a:lnT>
                    <a:lnB w="12700" cap="flat" cmpd="sng" algn="ctr">
                      <a:solidFill>
                        <a:srgbClr val="9F8AB9"/>
                      </a:solidFill>
                      <a:prstDash val="solid"/>
                      <a:round/>
                      <a:headEnd type="none" w="med" len="med"/>
                      <a:tailEnd type="none" w="med" len="med"/>
                    </a:lnB>
                    <a:solidFill>
                      <a:srgbClr val="DFD8E8"/>
                    </a:solidFill>
                  </a:tcPr>
                </a:tc>
              </a:tr>
              <a:tr h="494342">
                <a:tc>
                  <a:txBody>
                    <a:bodyPr/>
                    <a:lstStyle/>
                    <a:p>
                      <a:pPr algn="just">
                        <a:spcAft>
                          <a:spcPts val="0"/>
                        </a:spcAft>
                      </a:pPr>
                      <a:r>
                        <a:rPr lang="en-US" sz="1800" b="1" kern="100" dirty="0">
                          <a:latin typeface="Calibri"/>
                          <a:ea typeface="宋体"/>
                          <a:cs typeface="Times New Roman"/>
                        </a:rPr>
                        <a:t>Acceleration sensors for control</a:t>
                      </a:r>
                      <a:endParaRPr lang="zh-CN" sz="1800" kern="100" dirty="0">
                        <a:latin typeface="Calibri"/>
                        <a:ea typeface="宋体"/>
                        <a:cs typeface="Times New Roman"/>
                      </a:endParaRPr>
                    </a:p>
                  </a:txBody>
                  <a:tcPr marL="68580" marR="68580" marT="0" marB="0">
                    <a:lnL w="12700" cap="flat" cmpd="sng" algn="ctr">
                      <a:solidFill>
                        <a:srgbClr val="9F8AB9"/>
                      </a:solidFill>
                      <a:prstDash val="solid"/>
                      <a:round/>
                      <a:headEnd type="none" w="med" len="med"/>
                      <a:tailEnd type="none" w="med" len="med"/>
                    </a:lnL>
                    <a:lnR>
                      <a:noFill/>
                    </a:lnR>
                    <a:lnT w="12700" cap="flat" cmpd="sng" algn="ctr">
                      <a:solidFill>
                        <a:srgbClr val="9F8AB9"/>
                      </a:solidFill>
                      <a:prstDash val="solid"/>
                      <a:round/>
                      <a:headEnd type="none" w="med" len="med"/>
                      <a:tailEnd type="none" w="med" len="med"/>
                    </a:lnT>
                    <a:lnB w="12700" cap="flat" cmpd="sng" algn="ctr">
                      <a:solidFill>
                        <a:srgbClr val="9F8AB9"/>
                      </a:solidFill>
                      <a:prstDash val="solid"/>
                      <a:round/>
                      <a:headEnd type="none" w="med" len="med"/>
                      <a:tailEnd type="none" w="med" len="med"/>
                    </a:lnB>
                  </a:tcPr>
                </a:tc>
                <a:tc>
                  <a:txBody>
                    <a:bodyPr/>
                    <a:lstStyle/>
                    <a:p>
                      <a:pPr algn="just">
                        <a:spcAft>
                          <a:spcPts val="0"/>
                        </a:spcAft>
                      </a:pPr>
                      <a:r>
                        <a:rPr lang="en-US" sz="1800" b="1" kern="100" dirty="0">
                          <a:latin typeface="Calibri"/>
                          <a:ea typeface="宋体"/>
                          <a:cs typeface="Times New Roman"/>
                        </a:rPr>
                        <a:t>Strain sensors</a:t>
                      </a:r>
                      <a:endParaRPr lang="zh-CN" sz="1800" kern="100" dirty="0">
                        <a:latin typeface="Calibri"/>
                        <a:ea typeface="宋体"/>
                        <a:cs typeface="Times New Roman"/>
                      </a:endParaRPr>
                    </a:p>
                  </a:txBody>
                  <a:tcPr marL="68580" marR="68580" marT="0" marB="0">
                    <a:lnL>
                      <a:noFill/>
                    </a:lnL>
                    <a:lnR w="12700" cap="flat" cmpd="sng" algn="ctr">
                      <a:solidFill>
                        <a:srgbClr val="9F8AB9"/>
                      </a:solidFill>
                      <a:prstDash val="solid"/>
                      <a:round/>
                      <a:headEnd type="none" w="med" len="med"/>
                      <a:tailEnd type="none" w="med" len="med"/>
                    </a:lnR>
                    <a:lnT w="12700" cap="flat" cmpd="sng" algn="ctr">
                      <a:solidFill>
                        <a:srgbClr val="9F8AB9"/>
                      </a:solidFill>
                      <a:prstDash val="solid"/>
                      <a:round/>
                      <a:headEnd type="none" w="med" len="med"/>
                      <a:tailEnd type="none" w="med" len="med"/>
                    </a:lnT>
                    <a:lnB w="12700" cap="flat" cmpd="sng" algn="ctr">
                      <a:solidFill>
                        <a:srgbClr val="9F8AB9"/>
                      </a:solidFill>
                      <a:prstDash val="solid"/>
                      <a:round/>
                      <a:headEnd type="none" w="med" len="med"/>
                      <a:tailEnd type="none" w="med" len="med"/>
                    </a:lnB>
                  </a:tcPr>
                </a:tc>
              </a:tr>
              <a:tr h="391927">
                <a:tc>
                  <a:txBody>
                    <a:bodyPr/>
                    <a:lstStyle/>
                    <a:p>
                      <a:pPr algn="just">
                        <a:spcAft>
                          <a:spcPts val="0"/>
                        </a:spcAft>
                      </a:pPr>
                      <a:r>
                        <a:rPr lang="en-US" sz="1800" b="1" kern="100" dirty="0">
                          <a:latin typeface="Calibri"/>
                          <a:ea typeface="宋体"/>
                          <a:cs typeface="Times New Roman"/>
                        </a:rPr>
                        <a:t>Charge amplifier for sensors</a:t>
                      </a:r>
                      <a:endParaRPr lang="zh-CN" sz="1800" kern="100" dirty="0">
                        <a:latin typeface="Calibri"/>
                        <a:ea typeface="宋体"/>
                        <a:cs typeface="Times New Roman"/>
                      </a:endParaRPr>
                    </a:p>
                  </a:txBody>
                  <a:tcPr marL="68580" marR="68580" marT="0" marB="0">
                    <a:lnL w="12700" cap="flat" cmpd="sng" algn="ctr">
                      <a:solidFill>
                        <a:srgbClr val="9F8AB9"/>
                      </a:solidFill>
                      <a:prstDash val="solid"/>
                      <a:round/>
                      <a:headEnd type="none" w="med" len="med"/>
                      <a:tailEnd type="none" w="med" len="med"/>
                    </a:lnL>
                    <a:lnR>
                      <a:noFill/>
                    </a:lnR>
                    <a:lnT w="12700" cap="flat" cmpd="sng" algn="ctr">
                      <a:solidFill>
                        <a:srgbClr val="9F8AB9"/>
                      </a:solidFill>
                      <a:prstDash val="solid"/>
                      <a:round/>
                      <a:headEnd type="none" w="med" len="med"/>
                      <a:tailEnd type="none" w="med" len="med"/>
                    </a:lnT>
                    <a:lnB w="12700" cap="flat" cmpd="sng" algn="ctr">
                      <a:solidFill>
                        <a:srgbClr val="9F8AB9"/>
                      </a:solidFill>
                      <a:prstDash val="solid"/>
                      <a:round/>
                      <a:headEnd type="none" w="med" len="med"/>
                      <a:tailEnd type="none" w="med" len="med"/>
                    </a:lnB>
                    <a:solidFill>
                      <a:srgbClr val="DFD8E8"/>
                    </a:solidFill>
                  </a:tcPr>
                </a:tc>
                <a:tc>
                  <a:txBody>
                    <a:bodyPr/>
                    <a:lstStyle/>
                    <a:p>
                      <a:pPr algn="just">
                        <a:spcAft>
                          <a:spcPts val="0"/>
                        </a:spcAft>
                      </a:pPr>
                      <a:r>
                        <a:rPr lang="en-US" sz="1800" b="1" kern="100" dirty="0">
                          <a:latin typeface="Calibri"/>
                          <a:ea typeface="宋体"/>
                          <a:cs typeface="Times New Roman"/>
                        </a:rPr>
                        <a:t>Strain amplifier</a:t>
                      </a:r>
                      <a:endParaRPr lang="zh-CN" sz="1800" kern="100" dirty="0">
                        <a:latin typeface="Calibri"/>
                        <a:ea typeface="宋体"/>
                        <a:cs typeface="Times New Roman"/>
                      </a:endParaRPr>
                    </a:p>
                  </a:txBody>
                  <a:tcPr marL="68580" marR="68580" marT="0" marB="0">
                    <a:lnL>
                      <a:noFill/>
                    </a:lnL>
                    <a:lnR w="12700" cap="flat" cmpd="sng" algn="ctr">
                      <a:solidFill>
                        <a:srgbClr val="9F8AB9"/>
                      </a:solidFill>
                      <a:prstDash val="solid"/>
                      <a:round/>
                      <a:headEnd type="none" w="med" len="med"/>
                      <a:tailEnd type="none" w="med" len="med"/>
                    </a:lnR>
                    <a:lnT w="12700" cap="flat" cmpd="sng" algn="ctr">
                      <a:solidFill>
                        <a:srgbClr val="9F8AB9"/>
                      </a:solidFill>
                      <a:prstDash val="solid"/>
                      <a:round/>
                      <a:headEnd type="none" w="med" len="med"/>
                      <a:tailEnd type="none" w="med" len="med"/>
                    </a:lnT>
                    <a:lnB w="12700" cap="flat" cmpd="sng" algn="ctr">
                      <a:solidFill>
                        <a:srgbClr val="9F8AB9"/>
                      </a:solidFill>
                      <a:prstDash val="solid"/>
                      <a:round/>
                      <a:headEnd type="none" w="med" len="med"/>
                      <a:tailEnd type="none" w="med" len="med"/>
                    </a:lnB>
                    <a:solidFill>
                      <a:srgbClr val="DFD8E8"/>
                    </a:solidFill>
                  </a:tcPr>
                </a:tc>
              </a:tr>
            </a:tbl>
          </a:graphicData>
        </a:graphic>
      </p:graphicFrame>
      <p:sp>
        <p:nvSpPr>
          <p:cNvPr id="5" name="灯片编号占位符 6"/>
          <p:cNvSpPr>
            <a:spLocks noGrp="1"/>
          </p:cNvSpPr>
          <p:nvPr>
            <p:ph type="sldNum" sz="quarter" idx="12"/>
          </p:nvPr>
        </p:nvSpPr>
        <p:spPr/>
        <p:txBody>
          <a:bodyPr/>
          <a:lstStyle/>
          <a:p>
            <a:pPr>
              <a:defRPr/>
            </a:pPr>
            <a:fld id="{C59790F8-4983-4CBE-846F-459E441B0931}" type="slidenum">
              <a:rPr lang="zh-CN" altLang="en-US" smtClean="0"/>
              <a:pPr>
                <a:defRPr/>
              </a:pPr>
              <a:t>9</a:t>
            </a:fld>
            <a:endParaRPr lang="zh-CN" altLang="en-US"/>
          </a:p>
        </p:txBody>
      </p:sp>
      <p:sp>
        <p:nvSpPr>
          <p:cNvPr id="6" name="标题 1"/>
          <p:cNvSpPr>
            <a:spLocks noGrp="1"/>
          </p:cNvSpPr>
          <p:nvPr>
            <p:ph type="title"/>
          </p:nvPr>
        </p:nvSpPr>
        <p:spPr>
          <a:xfrm>
            <a:off x="395536" y="116632"/>
            <a:ext cx="8229600" cy="1082660"/>
          </a:xfrm>
        </p:spPr>
        <p:txBody>
          <a:bodyPr>
            <a:normAutofit/>
          </a:bodyPr>
          <a:lstStyle/>
          <a:p>
            <a:pPr marL="514350" indent="-514350"/>
            <a:r>
              <a:rPr lang="en-US" altLang="zh-CN" b="0" dirty="0"/>
              <a:t>The facility of vibration test</a:t>
            </a:r>
          </a:p>
        </p:txBody>
      </p:sp>
    </p:spTree>
    <p:extLst>
      <p:ext uri="{BB962C8B-B14F-4D97-AF65-F5344CB8AC3E}">
        <p14:creationId xmlns:p14="http://schemas.microsoft.com/office/powerpoint/2010/main" val="3561522467"/>
      </p:ext>
    </p:extLst>
  </p:cSld>
  <p:clrMapOvr>
    <a:masterClrMapping/>
  </p:clrMapOvr>
  <mc:AlternateContent xmlns:mc="http://schemas.openxmlformats.org/markup-compatibility/2006" xmlns:p14="http://schemas.microsoft.com/office/powerpoint/2010/main">
    <mc:Choice Requires="p14">
      <p:transition spd="slow" p14:dur="2000" advTm="64169"/>
    </mc:Choice>
    <mc:Fallback xmlns="">
      <p:transition spd="slow" advTm="64169"/>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ph idx="1"/>
          </p:nvPr>
        </p:nvSpPr>
        <p:spPr>
          <a:xfrm>
            <a:off x="457200" y="1268760"/>
            <a:ext cx="8229600" cy="5328592"/>
          </a:xfrm>
        </p:spPr>
        <p:txBody>
          <a:bodyPr>
            <a:normAutofit/>
          </a:bodyPr>
          <a:lstStyle/>
          <a:p>
            <a:pPr>
              <a:buFont typeface="Arial" charset="0"/>
              <a:buNone/>
              <a:defRPr/>
            </a:pPr>
            <a:r>
              <a:rPr lang="en-US" altLang="zh-CN" sz="3000" dirty="0" smtClean="0">
                <a:latin typeface="Times New Roman" pitchFamily="18" charset="0"/>
                <a:cs typeface="Times New Roman" pitchFamily="18" charset="0"/>
              </a:rPr>
              <a:t>Test facility</a:t>
            </a:r>
          </a:p>
          <a:p>
            <a:pPr marL="0" indent="0" eaLnBrk="1" hangingPunct="1">
              <a:buFont typeface="Arial" charset="0"/>
              <a:buNone/>
              <a:defRPr/>
            </a:pPr>
            <a:r>
              <a:rPr lang="en-US" altLang="zh-CN" sz="2100" dirty="0" smtClean="0">
                <a:latin typeface="Times New Roman" pitchFamily="18" charset="0"/>
                <a:cs typeface="Times New Roman" pitchFamily="18" charset="0"/>
              </a:rPr>
              <a:t> </a:t>
            </a:r>
            <a:r>
              <a:rPr lang="en-US" altLang="zh-CN" sz="2400" dirty="0" smtClean="0">
                <a:latin typeface="Times New Roman" pitchFamily="18" charset="0"/>
                <a:cs typeface="Times New Roman" pitchFamily="18" charset="0"/>
              </a:rPr>
              <a:t>Shaker introduction</a:t>
            </a:r>
          </a:p>
          <a:p>
            <a:pPr algn="just">
              <a:lnSpc>
                <a:spcPct val="130000"/>
              </a:lnSpc>
              <a:defRPr/>
            </a:pPr>
            <a:r>
              <a:rPr lang="en-US" altLang="zh-CN" sz="2600" b="0" dirty="0">
                <a:latin typeface="Times New Roman" pitchFamily="18" charset="0"/>
                <a:cs typeface="Times New Roman" pitchFamily="18" charset="0"/>
              </a:rPr>
              <a:t>The shaker is an electro-dynamic force generator, in which an alternating force is created by an alternating current carrying conductor operating in a properly oriented direct current generated magnetic field.</a:t>
            </a:r>
          </a:p>
          <a:p>
            <a:pPr marL="479425" indent="-479425" eaLnBrk="1" hangingPunct="1">
              <a:lnSpc>
                <a:spcPct val="80000"/>
              </a:lnSpc>
              <a:buFont typeface="Arial" charset="0"/>
              <a:buNone/>
              <a:defRPr/>
            </a:pPr>
            <a:r>
              <a:rPr lang="en-US" altLang="zh-CN" sz="2400" dirty="0" smtClean="0">
                <a:latin typeface="Times New Roman" pitchFamily="18" charset="0"/>
                <a:cs typeface="Times New Roman" pitchFamily="18" charset="0"/>
              </a:rPr>
              <a:t>	</a:t>
            </a:r>
          </a:p>
          <a:p>
            <a:pPr algn="just">
              <a:lnSpc>
                <a:spcPct val="130000"/>
              </a:lnSpc>
              <a:defRPr/>
            </a:pPr>
            <a:r>
              <a:rPr lang="en-US" altLang="zh-CN" sz="2600" b="0" dirty="0">
                <a:latin typeface="Times New Roman" pitchFamily="18" charset="0"/>
                <a:cs typeface="Times New Roman" pitchFamily="18" charset="0"/>
              </a:rPr>
              <a:t>Shaker body can be rotated between vertical and horizontal direction. So Satellite fixed on shaker can be tested in three axes. 	</a:t>
            </a:r>
          </a:p>
          <a:p>
            <a:pPr marL="0" indent="0" eaLnBrk="1" hangingPunct="1">
              <a:buFont typeface="Arial" charset="0"/>
              <a:buNone/>
              <a:defRPr/>
            </a:pPr>
            <a:endParaRPr lang="en-US" altLang="zh-CN" sz="2400" dirty="0" smtClean="0"/>
          </a:p>
        </p:txBody>
      </p:sp>
      <p:sp>
        <p:nvSpPr>
          <p:cNvPr id="4" name="灯片编号占位符 6"/>
          <p:cNvSpPr>
            <a:spLocks noGrp="1"/>
          </p:cNvSpPr>
          <p:nvPr>
            <p:ph type="sldNum" sz="quarter" idx="12"/>
          </p:nvPr>
        </p:nvSpPr>
        <p:spPr/>
        <p:txBody>
          <a:bodyPr/>
          <a:lstStyle/>
          <a:p>
            <a:pPr>
              <a:defRPr/>
            </a:pPr>
            <a:fld id="{BAB5EE70-1084-4F74-9931-2E30632A9559}" type="slidenum">
              <a:rPr lang="zh-CN" altLang="en-US" smtClean="0"/>
              <a:pPr>
                <a:defRPr/>
              </a:pPr>
              <a:t>10</a:t>
            </a:fld>
            <a:endParaRPr lang="zh-CN" altLang="en-US"/>
          </a:p>
        </p:txBody>
      </p:sp>
      <p:sp>
        <p:nvSpPr>
          <p:cNvPr id="6" name="标题 1"/>
          <p:cNvSpPr>
            <a:spLocks noGrp="1"/>
          </p:cNvSpPr>
          <p:nvPr>
            <p:ph type="title"/>
          </p:nvPr>
        </p:nvSpPr>
        <p:spPr>
          <a:xfrm>
            <a:off x="395536" y="116632"/>
            <a:ext cx="8229600" cy="1082660"/>
          </a:xfrm>
        </p:spPr>
        <p:txBody>
          <a:bodyPr>
            <a:normAutofit/>
          </a:bodyPr>
          <a:lstStyle/>
          <a:p>
            <a:pPr marL="514350" indent="-514350"/>
            <a:r>
              <a:rPr lang="en-US" altLang="zh-CN" b="0" dirty="0"/>
              <a:t>The facility of vibration test</a:t>
            </a:r>
          </a:p>
        </p:txBody>
      </p:sp>
    </p:spTree>
    <p:extLst>
      <p:ext uri="{BB962C8B-B14F-4D97-AF65-F5344CB8AC3E}">
        <p14:creationId xmlns:p14="http://schemas.microsoft.com/office/powerpoint/2010/main" val="1389042982"/>
      </p:ext>
    </p:extLst>
  </p:cSld>
  <p:clrMapOvr>
    <a:masterClrMapping/>
  </p:clrMapOvr>
  <mc:AlternateContent xmlns:mc="http://schemas.openxmlformats.org/markup-compatibility/2006" xmlns:p14="http://schemas.microsoft.com/office/powerpoint/2010/main">
    <mc:Choice Requires="p14">
      <p:transition spd="slow" p14:dur="2000" advTm="27285"/>
    </mc:Choice>
    <mc:Fallback xmlns="">
      <p:transition spd="slow" advTm="27285"/>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ph idx="1"/>
          </p:nvPr>
        </p:nvSpPr>
        <p:spPr>
          <a:xfrm>
            <a:off x="457200" y="1500188"/>
            <a:ext cx="8229600" cy="4525962"/>
          </a:xfrm>
        </p:spPr>
        <p:txBody>
          <a:bodyPr/>
          <a:lstStyle/>
          <a:p>
            <a:pPr>
              <a:buFont typeface="Arial" charset="0"/>
              <a:buNone/>
              <a:defRPr/>
            </a:pPr>
            <a:r>
              <a:rPr lang="en-US" altLang="zh-CN" sz="3000" dirty="0" smtClean="0">
                <a:latin typeface="微软雅黑" pitchFamily="34" charset="-122"/>
                <a:ea typeface="微软雅黑" pitchFamily="34" charset="-122"/>
                <a:cs typeface="Times New Roman" pitchFamily="18" charset="0"/>
              </a:rPr>
              <a:t>Test facility</a:t>
            </a:r>
          </a:p>
          <a:p>
            <a:pPr marL="0" indent="0" eaLnBrk="1" hangingPunct="1">
              <a:buFont typeface="Arial" charset="0"/>
              <a:buNone/>
              <a:defRPr/>
            </a:pPr>
            <a:r>
              <a:rPr lang="en-US" altLang="zh-CN" sz="2100" dirty="0" smtClean="0"/>
              <a:t> </a:t>
            </a:r>
            <a:r>
              <a:rPr lang="en-US" altLang="zh-CN" sz="2400" dirty="0" smtClean="0"/>
              <a:t>Shaker introduction</a:t>
            </a:r>
          </a:p>
          <a:p>
            <a:pPr marL="479425" indent="-479425" eaLnBrk="1" hangingPunct="1">
              <a:lnSpc>
                <a:spcPct val="80000"/>
              </a:lnSpc>
              <a:buFont typeface="Arial" charset="0"/>
              <a:buNone/>
              <a:defRPr/>
            </a:pPr>
            <a:r>
              <a:rPr lang="en-US" altLang="zh-CN" sz="2400" dirty="0" smtClean="0">
                <a:solidFill>
                  <a:srgbClr val="666633"/>
                </a:solidFill>
              </a:rPr>
              <a:t>	</a:t>
            </a:r>
            <a:endParaRPr lang="en-US" altLang="zh-CN" sz="2400" dirty="0" smtClean="0"/>
          </a:p>
          <a:p>
            <a:pPr marL="0" indent="0" eaLnBrk="1" hangingPunct="1">
              <a:buFont typeface="Arial" charset="0"/>
              <a:buNone/>
              <a:defRPr/>
            </a:pPr>
            <a:endParaRPr lang="en-US" altLang="zh-CN" sz="2400" dirty="0" smtClean="0"/>
          </a:p>
        </p:txBody>
      </p:sp>
      <p:grpSp>
        <p:nvGrpSpPr>
          <p:cNvPr id="38916" name="Group 20"/>
          <p:cNvGrpSpPr>
            <a:grpSpLocks/>
          </p:cNvGrpSpPr>
          <p:nvPr/>
        </p:nvGrpSpPr>
        <p:grpSpPr bwMode="auto">
          <a:xfrm>
            <a:off x="1163638" y="3209925"/>
            <a:ext cx="3163887" cy="2400300"/>
            <a:chOff x="1332" y="7297"/>
            <a:chExt cx="3308" cy="3637"/>
          </a:xfrm>
        </p:grpSpPr>
        <p:sp>
          <p:nvSpPr>
            <p:cNvPr id="5" name="Line 21"/>
            <p:cNvSpPr>
              <a:spLocks noChangeShapeType="1"/>
            </p:cNvSpPr>
            <p:nvPr/>
          </p:nvSpPr>
          <p:spPr bwMode="auto">
            <a:xfrm>
              <a:off x="3105" y="8553"/>
              <a:ext cx="359" cy="587"/>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6" name="Line 22"/>
            <p:cNvSpPr>
              <a:spLocks noChangeShapeType="1"/>
            </p:cNvSpPr>
            <p:nvPr/>
          </p:nvSpPr>
          <p:spPr bwMode="auto">
            <a:xfrm>
              <a:off x="1332" y="10934"/>
              <a:ext cx="3308" cy="0"/>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7" name="Rectangle 23"/>
            <p:cNvSpPr>
              <a:spLocks noChangeArrowheads="1"/>
            </p:cNvSpPr>
            <p:nvPr/>
          </p:nvSpPr>
          <p:spPr bwMode="auto">
            <a:xfrm>
              <a:off x="2203" y="9217"/>
              <a:ext cx="1441" cy="1405"/>
            </a:xfrm>
            <a:prstGeom prst="rect">
              <a:avLst/>
            </a:prstGeom>
            <a:solidFill>
              <a:srgbClr val="FFFFFF"/>
            </a:solidFill>
            <a:ln w="9525">
              <a:solidFill>
                <a:srgbClr val="000000"/>
              </a:solidFill>
              <a:miter lim="800000"/>
              <a:headEnd/>
              <a:tailEnd/>
            </a:ln>
          </p:spPr>
          <p:txBody>
            <a:bodyPr lIns="56108" tIns="28054" rIns="56108" bIns="28054"/>
            <a:lstStyle/>
            <a:p>
              <a:pPr algn="just" defTabSz="560388" eaLnBrk="0" hangingPunct="0">
                <a:defRPr/>
              </a:pPr>
              <a:endParaRPr lang="en-US" altLang="zh-CN" sz="600" dirty="0">
                <a:latin typeface="Times New Roman" pitchFamily="18" charset="0"/>
                <a:ea typeface="宋体" charset="-122"/>
              </a:endParaRPr>
            </a:p>
            <a:p>
              <a:pPr algn="just" defTabSz="560388" eaLnBrk="0" hangingPunct="0">
                <a:defRPr/>
              </a:pPr>
              <a:endParaRPr lang="en-US" altLang="zh-CN" sz="600" dirty="0">
                <a:latin typeface="+mn-lt"/>
                <a:ea typeface="宋体" charset="-122"/>
              </a:endParaRPr>
            </a:p>
            <a:p>
              <a:pPr algn="ctr" defTabSz="560388" eaLnBrk="0" hangingPunct="0">
                <a:defRPr/>
              </a:pPr>
              <a:r>
                <a:rPr lang="en-US" altLang="zh-CN" sz="1500" dirty="0">
                  <a:latin typeface="+mn-lt"/>
                  <a:ea typeface="宋体" charset="-122"/>
                </a:rPr>
                <a:t>Shaker</a:t>
              </a:r>
            </a:p>
          </p:txBody>
        </p:sp>
        <p:sp>
          <p:nvSpPr>
            <p:cNvPr id="8" name="Rectangle 24"/>
            <p:cNvSpPr>
              <a:spLocks noChangeArrowheads="1"/>
            </p:cNvSpPr>
            <p:nvPr/>
          </p:nvSpPr>
          <p:spPr bwMode="auto">
            <a:xfrm>
              <a:off x="2323" y="7297"/>
              <a:ext cx="1200" cy="1140"/>
            </a:xfrm>
            <a:prstGeom prst="rect">
              <a:avLst/>
            </a:prstGeom>
            <a:solidFill>
              <a:srgbClr val="FFFFFF"/>
            </a:solidFill>
            <a:ln w="9525">
              <a:solidFill>
                <a:srgbClr val="000000"/>
              </a:solidFill>
              <a:miter lim="800000"/>
              <a:headEnd/>
              <a:tailEnd/>
            </a:ln>
          </p:spPr>
          <p:txBody>
            <a:bodyPr lIns="56108" tIns="28054" rIns="56108" bIns="28054"/>
            <a:lstStyle/>
            <a:p>
              <a:pPr marL="280988" lvl="1" algn="just" defTabSz="560388" eaLnBrk="0" hangingPunct="0">
                <a:defRPr/>
              </a:pPr>
              <a:endParaRPr lang="en-US" altLang="zh-CN" sz="1500" dirty="0">
                <a:latin typeface="宋体" charset="-122"/>
                <a:ea typeface="宋体" charset="-122"/>
              </a:endParaRPr>
            </a:p>
            <a:p>
              <a:pPr marL="280988" lvl="1" algn="just" defTabSz="560388" eaLnBrk="0" hangingPunct="0">
                <a:defRPr/>
              </a:pPr>
              <a:r>
                <a:rPr lang="en-US" altLang="zh-CN" sz="1500" dirty="0" smtClean="0">
                  <a:latin typeface="+mn-lt"/>
                  <a:ea typeface="宋体" charset="-122"/>
                </a:rPr>
                <a:t>satellite</a:t>
              </a:r>
              <a:endParaRPr lang="en-US" altLang="zh-CN" sz="1500" dirty="0">
                <a:latin typeface="+mn-lt"/>
                <a:ea typeface="宋体" charset="-122"/>
              </a:endParaRPr>
            </a:p>
            <a:p>
              <a:pPr marL="280988" lvl="1" algn="just" defTabSz="560388" eaLnBrk="0" hangingPunct="0">
                <a:defRPr/>
              </a:pPr>
              <a:endParaRPr lang="en-US" altLang="zh-CN" sz="1500" dirty="0">
                <a:ea typeface="宋体" charset="-122"/>
              </a:endParaRPr>
            </a:p>
          </p:txBody>
        </p:sp>
        <p:sp>
          <p:nvSpPr>
            <p:cNvPr id="38923" name="Rectangle 25"/>
            <p:cNvSpPr>
              <a:spLocks noChangeArrowheads="1"/>
            </p:cNvSpPr>
            <p:nvPr/>
          </p:nvSpPr>
          <p:spPr bwMode="auto">
            <a:xfrm>
              <a:off x="2323" y="9095"/>
              <a:ext cx="1200" cy="162"/>
            </a:xfrm>
            <a:prstGeom prst="rect">
              <a:avLst/>
            </a:prstGeom>
            <a:solidFill>
              <a:srgbClr val="FFFFFF"/>
            </a:solidFill>
            <a:ln w="9525">
              <a:solidFill>
                <a:srgbClr val="000000"/>
              </a:solidFill>
              <a:miter lim="800000"/>
              <a:headEnd/>
              <a:tailEnd/>
            </a:ln>
          </p:spPr>
          <p:txBody>
            <a:bodyPr lIns="56108" tIns="28054" rIns="56108" bIns="28054"/>
            <a:lstStyle/>
            <a:p>
              <a:pPr defTabSz="560388" eaLnBrk="0" hangingPunct="0"/>
              <a:endParaRPr lang="zh-CN" altLang="zh-CN" sz="1100"/>
            </a:p>
          </p:txBody>
        </p:sp>
        <p:sp>
          <p:nvSpPr>
            <p:cNvPr id="10" name="Rectangle 26"/>
            <p:cNvSpPr>
              <a:spLocks noChangeArrowheads="1"/>
            </p:cNvSpPr>
            <p:nvPr/>
          </p:nvSpPr>
          <p:spPr bwMode="auto">
            <a:xfrm>
              <a:off x="2384" y="8437"/>
              <a:ext cx="1079" cy="156"/>
            </a:xfrm>
            <a:prstGeom prst="rect">
              <a:avLst/>
            </a:prstGeom>
            <a:solidFill>
              <a:srgbClr val="FFFFFF"/>
            </a:solidFill>
            <a:ln w="9525">
              <a:solidFill>
                <a:srgbClr val="000000"/>
              </a:solidFill>
              <a:miter lim="800000"/>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11" name="Rectangle 27"/>
            <p:cNvSpPr>
              <a:spLocks noChangeArrowheads="1"/>
            </p:cNvSpPr>
            <p:nvPr/>
          </p:nvSpPr>
          <p:spPr bwMode="auto">
            <a:xfrm>
              <a:off x="1843" y="9529"/>
              <a:ext cx="181" cy="1405"/>
            </a:xfrm>
            <a:prstGeom prst="rect">
              <a:avLst/>
            </a:prstGeom>
            <a:solidFill>
              <a:srgbClr val="FFFFFF"/>
            </a:solidFill>
            <a:ln w="9525">
              <a:solidFill>
                <a:srgbClr val="000000"/>
              </a:solidFill>
              <a:miter lim="800000"/>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12" name="Rectangle 28"/>
            <p:cNvSpPr>
              <a:spLocks noChangeArrowheads="1"/>
            </p:cNvSpPr>
            <p:nvPr/>
          </p:nvSpPr>
          <p:spPr bwMode="auto">
            <a:xfrm>
              <a:off x="3823" y="9529"/>
              <a:ext cx="181" cy="1405"/>
            </a:xfrm>
            <a:prstGeom prst="rect">
              <a:avLst/>
            </a:prstGeom>
            <a:solidFill>
              <a:srgbClr val="FFFFFF"/>
            </a:solidFill>
            <a:ln w="9525">
              <a:solidFill>
                <a:srgbClr val="000000"/>
              </a:solidFill>
              <a:miter lim="800000"/>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13" name="Rectangle 29"/>
            <p:cNvSpPr>
              <a:spLocks noChangeArrowheads="1"/>
            </p:cNvSpPr>
            <p:nvPr/>
          </p:nvSpPr>
          <p:spPr bwMode="auto">
            <a:xfrm>
              <a:off x="2024" y="9842"/>
              <a:ext cx="179" cy="156"/>
            </a:xfrm>
            <a:prstGeom prst="rect">
              <a:avLst/>
            </a:prstGeom>
            <a:solidFill>
              <a:srgbClr val="FFFFFF"/>
            </a:solidFill>
            <a:ln w="9525">
              <a:solidFill>
                <a:srgbClr val="000000"/>
              </a:solidFill>
              <a:miter lim="800000"/>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14" name="Rectangle 30"/>
            <p:cNvSpPr>
              <a:spLocks noChangeArrowheads="1"/>
            </p:cNvSpPr>
            <p:nvPr/>
          </p:nvSpPr>
          <p:spPr bwMode="auto">
            <a:xfrm>
              <a:off x="3644" y="9842"/>
              <a:ext cx="179" cy="156"/>
            </a:xfrm>
            <a:prstGeom prst="rect">
              <a:avLst/>
            </a:prstGeom>
            <a:solidFill>
              <a:srgbClr val="FFFFFF"/>
            </a:solidFill>
            <a:ln w="9525">
              <a:solidFill>
                <a:srgbClr val="000000"/>
              </a:solidFill>
              <a:miter lim="800000"/>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15" name="Line 31"/>
            <p:cNvSpPr>
              <a:spLocks noChangeShapeType="1"/>
            </p:cNvSpPr>
            <p:nvPr/>
          </p:nvSpPr>
          <p:spPr bwMode="auto">
            <a:xfrm flipH="1">
              <a:off x="2442" y="8613"/>
              <a:ext cx="241" cy="488"/>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grpSp>
      <p:sp>
        <p:nvSpPr>
          <p:cNvPr id="38917" name="Text Box 32"/>
          <p:cNvSpPr txBox="1">
            <a:spLocks noChangeArrowheads="1"/>
          </p:cNvSpPr>
          <p:nvPr/>
        </p:nvSpPr>
        <p:spPr bwMode="auto">
          <a:xfrm>
            <a:off x="4446631" y="3067162"/>
            <a:ext cx="4278313" cy="194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5766" tIns="47884" rIns="95766" bIns="47884">
            <a:spAutoFit/>
          </a:bodyPr>
          <a:lstStyle>
            <a:lvl1pPr defTabSz="560388" eaLnBrk="0" hangingPunct="0">
              <a:defRPr>
                <a:solidFill>
                  <a:schemeClr val="tx1"/>
                </a:solidFill>
                <a:latin typeface="Arial" charset="0"/>
                <a:ea typeface="宋体" pitchFamily="2" charset="-122"/>
              </a:defRPr>
            </a:lvl1pPr>
            <a:lvl2pPr marL="742950" indent="-285750" defTabSz="560388" eaLnBrk="0" hangingPunct="0">
              <a:defRPr>
                <a:solidFill>
                  <a:schemeClr val="tx1"/>
                </a:solidFill>
                <a:latin typeface="Arial" charset="0"/>
                <a:ea typeface="宋体" pitchFamily="2" charset="-122"/>
              </a:defRPr>
            </a:lvl2pPr>
            <a:lvl3pPr marL="1143000" indent="-228600" defTabSz="560388" eaLnBrk="0" hangingPunct="0">
              <a:defRPr>
                <a:solidFill>
                  <a:schemeClr val="tx1"/>
                </a:solidFill>
                <a:latin typeface="Arial" charset="0"/>
                <a:ea typeface="宋体" pitchFamily="2" charset="-122"/>
              </a:defRPr>
            </a:lvl3pPr>
            <a:lvl4pPr marL="1600200" indent="-228600" defTabSz="560388" eaLnBrk="0" hangingPunct="0">
              <a:defRPr>
                <a:solidFill>
                  <a:schemeClr val="tx1"/>
                </a:solidFill>
                <a:latin typeface="Arial" charset="0"/>
                <a:ea typeface="宋体" pitchFamily="2" charset="-122"/>
              </a:defRPr>
            </a:lvl4pPr>
            <a:lvl5pPr marL="2057400" indent="-228600" defTabSz="560388" eaLnBrk="0" hangingPunct="0">
              <a:defRPr>
                <a:solidFill>
                  <a:schemeClr val="tx1"/>
                </a:solidFill>
                <a:latin typeface="Arial" charset="0"/>
                <a:ea typeface="宋体" pitchFamily="2" charset="-122"/>
              </a:defRPr>
            </a:lvl5pPr>
            <a:lvl6pPr marL="2514600" indent="-228600" defTabSz="560388" eaLnBrk="0" fontAlgn="base" hangingPunct="0">
              <a:spcBef>
                <a:spcPct val="0"/>
              </a:spcBef>
              <a:spcAft>
                <a:spcPct val="0"/>
              </a:spcAft>
              <a:defRPr>
                <a:solidFill>
                  <a:schemeClr val="tx1"/>
                </a:solidFill>
                <a:latin typeface="Arial" charset="0"/>
                <a:ea typeface="宋体" pitchFamily="2" charset="-122"/>
              </a:defRPr>
            </a:lvl6pPr>
            <a:lvl7pPr marL="2971800" indent="-228600" defTabSz="560388" eaLnBrk="0" fontAlgn="base" hangingPunct="0">
              <a:spcBef>
                <a:spcPct val="0"/>
              </a:spcBef>
              <a:spcAft>
                <a:spcPct val="0"/>
              </a:spcAft>
              <a:defRPr>
                <a:solidFill>
                  <a:schemeClr val="tx1"/>
                </a:solidFill>
                <a:latin typeface="Arial" charset="0"/>
                <a:ea typeface="宋体" pitchFamily="2" charset="-122"/>
              </a:defRPr>
            </a:lvl7pPr>
            <a:lvl8pPr marL="3429000" indent="-228600" defTabSz="560388" eaLnBrk="0" fontAlgn="base" hangingPunct="0">
              <a:spcBef>
                <a:spcPct val="0"/>
              </a:spcBef>
              <a:spcAft>
                <a:spcPct val="0"/>
              </a:spcAft>
              <a:defRPr>
                <a:solidFill>
                  <a:schemeClr val="tx1"/>
                </a:solidFill>
                <a:latin typeface="Arial" charset="0"/>
                <a:ea typeface="宋体" pitchFamily="2" charset="-122"/>
              </a:defRPr>
            </a:lvl8pPr>
            <a:lvl9pPr marL="3886200" indent="-228600" defTabSz="560388" eaLnBrk="0" fontAlgn="base" hangingPunct="0">
              <a:spcBef>
                <a:spcPct val="0"/>
              </a:spcBef>
              <a:spcAft>
                <a:spcPct val="0"/>
              </a:spcAft>
              <a:defRPr>
                <a:solidFill>
                  <a:schemeClr val="tx1"/>
                </a:solidFill>
                <a:latin typeface="Arial" charset="0"/>
                <a:ea typeface="宋体" pitchFamily="2" charset="-122"/>
              </a:defRPr>
            </a:lvl9pPr>
          </a:lstStyle>
          <a:p>
            <a:pPr algn="just">
              <a:spcBef>
                <a:spcPct val="50000"/>
              </a:spcBef>
            </a:pPr>
            <a:r>
              <a:rPr lang="en-US" altLang="zh-CN" sz="2400" dirty="0" smtClean="0"/>
              <a:t>satellite </a:t>
            </a:r>
            <a:r>
              <a:rPr lang="en-US" altLang="zh-CN" sz="2400" dirty="0"/>
              <a:t>is fixed on the expander connected to shaker body. We define this direction X. satellite can be tested in this direction </a:t>
            </a:r>
            <a:r>
              <a:rPr lang="en-US" altLang="zh-CN" sz="2400" dirty="0" smtClean="0"/>
              <a:t>X</a:t>
            </a:r>
            <a:endParaRPr lang="zh-CN" altLang="zh-CN" sz="2400" dirty="0"/>
          </a:p>
        </p:txBody>
      </p:sp>
      <p:sp>
        <p:nvSpPr>
          <p:cNvPr id="17" name="灯片编号占位符 17"/>
          <p:cNvSpPr>
            <a:spLocks noGrp="1"/>
          </p:cNvSpPr>
          <p:nvPr>
            <p:ph type="sldNum" sz="quarter" idx="12"/>
          </p:nvPr>
        </p:nvSpPr>
        <p:spPr/>
        <p:txBody>
          <a:bodyPr/>
          <a:lstStyle/>
          <a:p>
            <a:pPr>
              <a:defRPr/>
            </a:pPr>
            <a:fld id="{36010F75-D426-4C2E-9B18-357BCAD998EF}" type="slidenum">
              <a:rPr lang="zh-CN" altLang="en-US" smtClean="0"/>
              <a:pPr>
                <a:defRPr/>
              </a:pPr>
              <a:t>11</a:t>
            </a:fld>
            <a:endParaRPr lang="zh-CN" altLang="en-US"/>
          </a:p>
        </p:txBody>
      </p:sp>
      <p:sp>
        <p:nvSpPr>
          <p:cNvPr id="19" name="标题 1"/>
          <p:cNvSpPr>
            <a:spLocks noGrp="1"/>
          </p:cNvSpPr>
          <p:nvPr>
            <p:ph type="title"/>
          </p:nvPr>
        </p:nvSpPr>
        <p:spPr>
          <a:xfrm>
            <a:off x="395536" y="116632"/>
            <a:ext cx="8229600" cy="1082660"/>
          </a:xfrm>
        </p:spPr>
        <p:txBody>
          <a:bodyPr>
            <a:normAutofit/>
          </a:bodyPr>
          <a:lstStyle/>
          <a:p>
            <a:pPr marL="514350" indent="-514350"/>
            <a:r>
              <a:rPr lang="en-US" altLang="zh-CN" b="0" dirty="0"/>
              <a:t>The facility of vibration test</a:t>
            </a:r>
          </a:p>
        </p:txBody>
      </p:sp>
    </p:spTree>
    <p:extLst>
      <p:ext uri="{BB962C8B-B14F-4D97-AF65-F5344CB8AC3E}">
        <p14:creationId xmlns:p14="http://schemas.microsoft.com/office/powerpoint/2010/main" val="2313204780"/>
      </p:ext>
    </p:extLst>
  </p:cSld>
  <p:clrMapOvr>
    <a:masterClrMapping/>
  </p:clrMapOvr>
  <mc:AlternateContent xmlns:mc="http://schemas.openxmlformats.org/markup-compatibility/2006" xmlns:p14="http://schemas.microsoft.com/office/powerpoint/2010/main">
    <mc:Choice Requires="p14">
      <p:transition spd="slow" p14:dur="2000" advTm="11107"/>
    </mc:Choice>
    <mc:Fallback xmlns="">
      <p:transition spd="slow" advTm="11107"/>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ph idx="1"/>
          </p:nvPr>
        </p:nvSpPr>
        <p:spPr>
          <a:xfrm>
            <a:off x="35496" y="1340768"/>
            <a:ext cx="8651304" cy="4685382"/>
          </a:xfrm>
        </p:spPr>
        <p:txBody>
          <a:bodyPr/>
          <a:lstStyle/>
          <a:p>
            <a:pPr>
              <a:buFont typeface="Arial" charset="0"/>
              <a:buNone/>
              <a:defRPr/>
            </a:pPr>
            <a:r>
              <a:rPr lang="en-US" altLang="zh-CN" sz="3000" dirty="0" smtClean="0">
                <a:latin typeface="微软雅黑" pitchFamily="34" charset="-122"/>
                <a:ea typeface="微软雅黑" pitchFamily="34" charset="-122"/>
                <a:cs typeface="Times New Roman" pitchFamily="18" charset="0"/>
              </a:rPr>
              <a:t>Test facility</a:t>
            </a:r>
          </a:p>
          <a:p>
            <a:pPr marL="0" indent="0" eaLnBrk="1" hangingPunct="1">
              <a:buFont typeface="Arial" charset="0"/>
              <a:buNone/>
              <a:defRPr/>
            </a:pPr>
            <a:r>
              <a:rPr lang="en-US" altLang="zh-CN" sz="2100" dirty="0" smtClean="0"/>
              <a:t> </a:t>
            </a:r>
            <a:r>
              <a:rPr lang="en-US" altLang="zh-CN" sz="2400" dirty="0" smtClean="0"/>
              <a:t>Shaker introduction</a:t>
            </a:r>
          </a:p>
          <a:p>
            <a:pPr marL="479425" indent="-479425" eaLnBrk="1" hangingPunct="1">
              <a:lnSpc>
                <a:spcPct val="80000"/>
              </a:lnSpc>
              <a:buFont typeface="Arial" charset="0"/>
              <a:buNone/>
              <a:defRPr/>
            </a:pPr>
            <a:r>
              <a:rPr lang="en-US" altLang="zh-CN" sz="2400" dirty="0" smtClean="0">
                <a:solidFill>
                  <a:srgbClr val="666633"/>
                </a:solidFill>
              </a:rPr>
              <a:t>	</a:t>
            </a:r>
            <a:endParaRPr lang="en-US" altLang="zh-CN" sz="2400" dirty="0" smtClean="0"/>
          </a:p>
          <a:p>
            <a:pPr marL="0" indent="0" eaLnBrk="1" hangingPunct="1">
              <a:buFont typeface="Arial" charset="0"/>
              <a:buNone/>
              <a:defRPr/>
            </a:pPr>
            <a:endParaRPr lang="en-US" altLang="zh-CN" sz="2400" dirty="0" smtClean="0"/>
          </a:p>
        </p:txBody>
      </p:sp>
      <p:grpSp>
        <p:nvGrpSpPr>
          <p:cNvPr id="39940" name="组合 3"/>
          <p:cNvGrpSpPr>
            <a:grpSpLocks/>
          </p:cNvGrpSpPr>
          <p:nvPr/>
        </p:nvGrpSpPr>
        <p:grpSpPr bwMode="auto">
          <a:xfrm>
            <a:off x="345281" y="3006725"/>
            <a:ext cx="4548188" cy="2619375"/>
            <a:chOff x="762000" y="3122613"/>
            <a:chExt cx="4548188" cy="2619375"/>
          </a:xfrm>
        </p:grpSpPr>
        <p:sp>
          <p:nvSpPr>
            <p:cNvPr id="5" name="Line 26"/>
            <p:cNvSpPr>
              <a:spLocks noChangeShapeType="1"/>
            </p:cNvSpPr>
            <p:nvPr/>
          </p:nvSpPr>
          <p:spPr bwMode="auto">
            <a:xfrm>
              <a:off x="2374900" y="4489450"/>
              <a:ext cx="273050" cy="133350"/>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6" name="Line 27"/>
            <p:cNvSpPr>
              <a:spLocks noChangeShapeType="1"/>
            </p:cNvSpPr>
            <p:nvPr/>
          </p:nvSpPr>
          <p:spPr bwMode="auto">
            <a:xfrm flipV="1">
              <a:off x="2374900" y="4641850"/>
              <a:ext cx="296863" cy="306388"/>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grpSp>
          <p:nvGrpSpPr>
            <p:cNvPr id="39945" name="组合 21"/>
            <p:cNvGrpSpPr>
              <a:grpSpLocks/>
            </p:cNvGrpSpPr>
            <p:nvPr/>
          </p:nvGrpSpPr>
          <p:grpSpPr bwMode="auto">
            <a:xfrm>
              <a:off x="762000" y="3122613"/>
              <a:ext cx="4548188" cy="2619375"/>
              <a:chOff x="762000" y="3122613"/>
              <a:chExt cx="4548188" cy="2619375"/>
            </a:xfrm>
          </p:grpSpPr>
          <p:sp>
            <p:nvSpPr>
              <p:cNvPr id="8" name="Line 18"/>
              <p:cNvSpPr>
                <a:spLocks noChangeShapeType="1"/>
              </p:cNvSpPr>
              <p:nvPr/>
            </p:nvSpPr>
            <p:spPr bwMode="auto">
              <a:xfrm>
                <a:off x="762000" y="5741988"/>
                <a:ext cx="4548188" cy="0"/>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39947" name="Rectangle 19"/>
              <p:cNvSpPr>
                <a:spLocks noChangeArrowheads="1"/>
              </p:cNvSpPr>
              <p:nvPr/>
            </p:nvSpPr>
            <p:spPr bwMode="auto">
              <a:xfrm>
                <a:off x="1033463" y="4183063"/>
                <a:ext cx="1228725" cy="1057275"/>
              </a:xfrm>
              <a:prstGeom prst="rect">
                <a:avLst/>
              </a:prstGeom>
              <a:solidFill>
                <a:srgbClr val="FFFFFF"/>
              </a:solidFill>
              <a:ln w="9525">
                <a:solidFill>
                  <a:srgbClr val="000000"/>
                </a:solidFill>
                <a:miter lim="800000"/>
                <a:headEnd/>
                <a:tailEnd/>
              </a:ln>
            </p:spPr>
            <p:txBody>
              <a:bodyPr lIns="56108" tIns="28054" rIns="56108" bIns="28054"/>
              <a:lstStyle/>
              <a:p>
                <a:pPr algn="just" defTabSz="560388" eaLnBrk="0" hangingPunct="0"/>
                <a:endParaRPr lang="zh-CN" altLang="zh-CN" sz="600">
                  <a:latin typeface="Times New Roman" pitchFamily="18" charset="0"/>
                </a:endParaRPr>
              </a:p>
            </p:txBody>
          </p:sp>
          <p:sp>
            <p:nvSpPr>
              <p:cNvPr id="10" name="Rectangle 20"/>
              <p:cNvSpPr>
                <a:spLocks noChangeArrowheads="1"/>
              </p:cNvSpPr>
              <p:nvPr/>
            </p:nvSpPr>
            <p:spPr bwMode="auto">
              <a:xfrm>
                <a:off x="1306513" y="4286250"/>
                <a:ext cx="819150" cy="1455738"/>
              </a:xfrm>
              <a:prstGeom prst="rect">
                <a:avLst/>
              </a:prstGeom>
              <a:solidFill>
                <a:srgbClr val="FFFFFF"/>
              </a:solidFill>
              <a:ln w="9525">
                <a:solidFill>
                  <a:srgbClr val="000000"/>
                </a:solidFill>
                <a:miter lim="800000"/>
                <a:headEnd/>
                <a:tailEnd/>
              </a:ln>
            </p:spPr>
            <p:txBody>
              <a:bodyPr lIns="56108" tIns="28054" rIns="56108" bIns="28054"/>
              <a:lstStyle/>
              <a:p>
                <a:pPr algn="ctr" defTabSz="560388" eaLnBrk="0" hangingPunct="0">
                  <a:defRPr/>
                </a:pPr>
                <a:r>
                  <a:rPr lang="en-US" altLang="zh-CN" sz="1500" dirty="0">
                    <a:latin typeface="+mn-lt"/>
                    <a:ea typeface="宋体" charset="-122"/>
                  </a:rPr>
                  <a:t>Shaker</a:t>
                </a:r>
              </a:p>
            </p:txBody>
          </p:sp>
          <p:sp>
            <p:nvSpPr>
              <p:cNvPr id="11" name="Rectangle 21"/>
              <p:cNvSpPr>
                <a:spLocks noChangeArrowheads="1"/>
              </p:cNvSpPr>
              <p:nvPr/>
            </p:nvSpPr>
            <p:spPr bwMode="auto">
              <a:xfrm>
                <a:off x="2238375" y="4357688"/>
                <a:ext cx="136525" cy="793750"/>
              </a:xfrm>
              <a:prstGeom prst="rect">
                <a:avLst/>
              </a:prstGeom>
              <a:solidFill>
                <a:srgbClr val="FFFFFF"/>
              </a:solidFill>
              <a:ln w="9525">
                <a:solidFill>
                  <a:srgbClr val="000000"/>
                </a:solidFill>
                <a:miter lim="800000"/>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12" name="Rectangle 23"/>
              <p:cNvSpPr>
                <a:spLocks noChangeArrowheads="1"/>
              </p:cNvSpPr>
              <p:nvPr/>
            </p:nvSpPr>
            <p:spPr bwMode="auto">
              <a:xfrm>
                <a:off x="2671763" y="5608638"/>
                <a:ext cx="2324100" cy="131762"/>
              </a:xfrm>
              <a:prstGeom prst="rect">
                <a:avLst/>
              </a:prstGeom>
              <a:solidFill>
                <a:srgbClr val="FFFFFF"/>
              </a:solidFill>
              <a:ln w="9525">
                <a:solidFill>
                  <a:srgbClr val="000000"/>
                </a:solidFill>
                <a:miter lim="800000"/>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13" name="Rectangle 24"/>
              <p:cNvSpPr>
                <a:spLocks noChangeArrowheads="1"/>
              </p:cNvSpPr>
              <p:nvPr/>
            </p:nvSpPr>
            <p:spPr bwMode="auto">
              <a:xfrm>
                <a:off x="2809875" y="4641850"/>
                <a:ext cx="2049463" cy="966788"/>
              </a:xfrm>
              <a:prstGeom prst="rect">
                <a:avLst/>
              </a:prstGeom>
              <a:solidFill>
                <a:srgbClr val="FFFFFF"/>
              </a:solidFill>
              <a:ln w="9525">
                <a:solidFill>
                  <a:srgbClr val="000000"/>
                </a:solidFill>
                <a:miter lim="800000"/>
                <a:headEnd/>
                <a:tailEnd/>
              </a:ln>
            </p:spPr>
            <p:txBody>
              <a:bodyPr lIns="56108" tIns="28054" rIns="56108" bIns="28054"/>
              <a:lstStyle/>
              <a:p>
                <a:pPr algn="ctr" defTabSz="560388" eaLnBrk="0" hangingPunct="0">
                  <a:defRPr/>
                </a:pPr>
                <a:endParaRPr lang="en-US" altLang="zh-CN" sz="1500" dirty="0">
                  <a:latin typeface="+mn-lt"/>
                  <a:ea typeface="宋体" charset="-122"/>
                </a:endParaRPr>
              </a:p>
              <a:p>
                <a:pPr algn="ctr" defTabSz="560388" eaLnBrk="0" hangingPunct="0">
                  <a:defRPr/>
                </a:pPr>
                <a:r>
                  <a:rPr lang="en-US" altLang="zh-CN" sz="1500" dirty="0">
                    <a:latin typeface="+mn-lt"/>
                    <a:ea typeface="宋体" charset="-122"/>
                  </a:rPr>
                  <a:t>Slip table</a:t>
                </a:r>
              </a:p>
            </p:txBody>
          </p:sp>
          <p:sp>
            <p:nvSpPr>
              <p:cNvPr id="14" name="Rectangle 25"/>
              <p:cNvSpPr>
                <a:spLocks noChangeArrowheads="1"/>
              </p:cNvSpPr>
              <p:nvPr/>
            </p:nvSpPr>
            <p:spPr bwMode="auto">
              <a:xfrm>
                <a:off x="2671763" y="4508500"/>
                <a:ext cx="2324100" cy="133350"/>
              </a:xfrm>
              <a:prstGeom prst="rect">
                <a:avLst/>
              </a:prstGeom>
              <a:solidFill>
                <a:srgbClr val="FFFFFF"/>
              </a:solidFill>
              <a:ln w="9525">
                <a:solidFill>
                  <a:srgbClr val="000000"/>
                </a:solidFill>
                <a:miter lim="800000"/>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15" name="Rectangle 28"/>
              <p:cNvSpPr>
                <a:spLocks noChangeArrowheads="1"/>
              </p:cNvSpPr>
              <p:nvPr/>
            </p:nvSpPr>
            <p:spPr bwMode="auto">
              <a:xfrm>
                <a:off x="3490913" y="4229100"/>
                <a:ext cx="774700" cy="138113"/>
              </a:xfrm>
              <a:prstGeom prst="rect">
                <a:avLst/>
              </a:prstGeom>
              <a:solidFill>
                <a:srgbClr val="FFFFFF"/>
              </a:solidFill>
              <a:ln w="9525">
                <a:solidFill>
                  <a:srgbClr val="000000"/>
                </a:solidFill>
                <a:miter lim="800000"/>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16" name="Rectangle 29"/>
              <p:cNvSpPr>
                <a:spLocks noChangeArrowheads="1"/>
              </p:cNvSpPr>
              <p:nvPr/>
            </p:nvSpPr>
            <p:spPr bwMode="auto">
              <a:xfrm>
                <a:off x="3400425" y="3122613"/>
                <a:ext cx="911225" cy="1106487"/>
              </a:xfrm>
              <a:prstGeom prst="rect">
                <a:avLst/>
              </a:prstGeom>
              <a:solidFill>
                <a:srgbClr val="FFFFFF"/>
              </a:solidFill>
              <a:ln w="9525">
                <a:solidFill>
                  <a:srgbClr val="000000"/>
                </a:solidFill>
                <a:miter lim="800000"/>
                <a:headEnd/>
                <a:tailEnd/>
              </a:ln>
            </p:spPr>
            <p:txBody>
              <a:bodyPr lIns="56108" tIns="28054" rIns="56108" bIns="28054"/>
              <a:lstStyle/>
              <a:p>
                <a:pPr marL="280988" lvl="1" algn="ctr" defTabSz="560388" eaLnBrk="0" hangingPunct="0">
                  <a:defRPr/>
                </a:pPr>
                <a:endParaRPr lang="en-US" altLang="zh-CN" sz="1500" dirty="0">
                  <a:latin typeface="+mn-lt"/>
                  <a:ea typeface="宋体" charset="-122"/>
                </a:endParaRPr>
              </a:p>
              <a:p>
                <a:pPr marL="280988" lvl="1" algn="ctr" defTabSz="560388" eaLnBrk="0" hangingPunct="0">
                  <a:defRPr/>
                </a:pPr>
                <a:endParaRPr lang="en-US" altLang="zh-CN" sz="1500" dirty="0">
                  <a:latin typeface="+mn-lt"/>
                  <a:ea typeface="宋体" charset="-122"/>
                </a:endParaRPr>
              </a:p>
              <a:p>
                <a:pPr marL="280988" lvl="1" algn="ctr" defTabSz="560388" eaLnBrk="0" hangingPunct="0">
                  <a:defRPr/>
                </a:pPr>
                <a:r>
                  <a:rPr lang="en-US" altLang="zh-CN" sz="1500" dirty="0" smtClean="0">
                    <a:latin typeface="+mn-lt"/>
                    <a:ea typeface="宋体" charset="-122"/>
                  </a:rPr>
                  <a:t>satellite</a:t>
                </a:r>
                <a:endParaRPr lang="en-US" altLang="zh-CN" sz="1500" dirty="0">
                  <a:latin typeface="+mn-lt"/>
                  <a:ea typeface="宋体" charset="-122"/>
                </a:endParaRPr>
              </a:p>
              <a:p>
                <a:pPr defTabSz="560388" eaLnBrk="0" hangingPunct="0">
                  <a:defRPr/>
                </a:pPr>
                <a:endParaRPr lang="en-US" altLang="zh-CN" sz="1200" dirty="0">
                  <a:ea typeface="宋体" charset="-122"/>
                </a:endParaRPr>
              </a:p>
            </p:txBody>
          </p:sp>
          <p:sp>
            <p:nvSpPr>
              <p:cNvPr id="17" name="Line 30"/>
              <p:cNvSpPr>
                <a:spLocks noChangeShapeType="1"/>
              </p:cNvSpPr>
              <p:nvPr/>
            </p:nvSpPr>
            <p:spPr bwMode="auto">
              <a:xfrm flipH="1">
                <a:off x="3490913" y="4367213"/>
                <a:ext cx="182562" cy="276225"/>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18" name="Line 31"/>
              <p:cNvSpPr>
                <a:spLocks noChangeShapeType="1"/>
              </p:cNvSpPr>
              <p:nvPr/>
            </p:nvSpPr>
            <p:spPr bwMode="auto">
              <a:xfrm>
                <a:off x="4038600" y="4367213"/>
                <a:ext cx="182563" cy="276225"/>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grpSp>
      </p:grpSp>
      <p:sp>
        <p:nvSpPr>
          <p:cNvPr id="39941" name="Text Box 32"/>
          <p:cNvSpPr txBox="1">
            <a:spLocks noChangeArrowheads="1"/>
          </p:cNvSpPr>
          <p:nvPr/>
        </p:nvSpPr>
        <p:spPr bwMode="auto">
          <a:xfrm>
            <a:off x="4716016" y="1556792"/>
            <a:ext cx="4427984" cy="4682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5766" tIns="47884" rIns="95766" bIns="47884">
            <a:spAutoFit/>
          </a:bodyPr>
          <a:lstStyle>
            <a:lvl1pPr defTabSz="560388" eaLnBrk="0" hangingPunct="0">
              <a:defRPr>
                <a:solidFill>
                  <a:schemeClr val="tx1"/>
                </a:solidFill>
                <a:latin typeface="Arial" charset="0"/>
                <a:ea typeface="宋体" pitchFamily="2" charset="-122"/>
              </a:defRPr>
            </a:lvl1pPr>
            <a:lvl2pPr marL="742950" indent="-285750" defTabSz="560388" eaLnBrk="0" hangingPunct="0">
              <a:defRPr>
                <a:solidFill>
                  <a:schemeClr val="tx1"/>
                </a:solidFill>
                <a:latin typeface="Arial" charset="0"/>
                <a:ea typeface="宋体" pitchFamily="2" charset="-122"/>
              </a:defRPr>
            </a:lvl2pPr>
            <a:lvl3pPr marL="1143000" indent="-228600" defTabSz="560388" eaLnBrk="0" hangingPunct="0">
              <a:defRPr>
                <a:solidFill>
                  <a:schemeClr val="tx1"/>
                </a:solidFill>
                <a:latin typeface="Arial" charset="0"/>
                <a:ea typeface="宋体" pitchFamily="2" charset="-122"/>
              </a:defRPr>
            </a:lvl3pPr>
            <a:lvl4pPr marL="1600200" indent="-228600" defTabSz="560388" eaLnBrk="0" hangingPunct="0">
              <a:defRPr>
                <a:solidFill>
                  <a:schemeClr val="tx1"/>
                </a:solidFill>
                <a:latin typeface="Arial" charset="0"/>
                <a:ea typeface="宋体" pitchFamily="2" charset="-122"/>
              </a:defRPr>
            </a:lvl4pPr>
            <a:lvl5pPr marL="2057400" indent="-228600" defTabSz="560388" eaLnBrk="0" hangingPunct="0">
              <a:defRPr>
                <a:solidFill>
                  <a:schemeClr val="tx1"/>
                </a:solidFill>
                <a:latin typeface="Arial" charset="0"/>
                <a:ea typeface="宋体" pitchFamily="2" charset="-122"/>
              </a:defRPr>
            </a:lvl5pPr>
            <a:lvl6pPr marL="2514600" indent="-228600" defTabSz="560388" eaLnBrk="0" fontAlgn="base" hangingPunct="0">
              <a:spcBef>
                <a:spcPct val="0"/>
              </a:spcBef>
              <a:spcAft>
                <a:spcPct val="0"/>
              </a:spcAft>
              <a:defRPr>
                <a:solidFill>
                  <a:schemeClr val="tx1"/>
                </a:solidFill>
                <a:latin typeface="Arial" charset="0"/>
                <a:ea typeface="宋体" pitchFamily="2" charset="-122"/>
              </a:defRPr>
            </a:lvl6pPr>
            <a:lvl7pPr marL="2971800" indent="-228600" defTabSz="560388" eaLnBrk="0" fontAlgn="base" hangingPunct="0">
              <a:spcBef>
                <a:spcPct val="0"/>
              </a:spcBef>
              <a:spcAft>
                <a:spcPct val="0"/>
              </a:spcAft>
              <a:defRPr>
                <a:solidFill>
                  <a:schemeClr val="tx1"/>
                </a:solidFill>
                <a:latin typeface="Arial" charset="0"/>
                <a:ea typeface="宋体" pitchFamily="2" charset="-122"/>
              </a:defRPr>
            </a:lvl7pPr>
            <a:lvl8pPr marL="3429000" indent="-228600" defTabSz="560388" eaLnBrk="0" fontAlgn="base" hangingPunct="0">
              <a:spcBef>
                <a:spcPct val="0"/>
              </a:spcBef>
              <a:spcAft>
                <a:spcPct val="0"/>
              </a:spcAft>
              <a:defRPr>
                <a:solidFill>
                  <a:schemeClr val="tx1"/>
                </a:solidFill>
                <a:latin typeface="Arial" charset="0"/>
                <a:ea typeface="宋体" pitchFamily="2" charset="-122"/>
              </a:defRPr>
            </a:lvl8pPr>
            <a:lvl9pPr marL="3886200" indent="-228600" defTabSz="560388" eaLnBrk="0" fontAlgn="base" hangingPunct="0">
              <a:spcBef>
                <a:spcPct val="0"/>
              </a:spcBef>
              <a:spcAft>
                <a:spcPct val="0"/>
              </a:spcAft>
              <a:defRPr>
                <a:solidFill>
                  <a:schemeClr val="tx1"/>
                </a:solidFill>
                <a:latin typeface="Arial" charset="0"/>
                <a:ea typeface="宋体" pitchFamily="2" charset="-122"/>
              </a:defRPr>
            </a:lvl9pPr>
          </a:lstStyle>
          <a:p>
            <a:pPr algn="just">
              <a:spcBef>
                <a:spcPct val="50000"/>
              </a:spcBef>
            </a:pPr>
            <a:r>
              <a:rPr lang="en-US" altLang="zh-CN" sz="2400" dirty="0"/>
              <a:t>beside, satellite can be tested in other directions called Y</a:t>
            </a:r>
            <a:r>
              <a:rPr lang="zh-CN" altLang="zh-CN" sz="2400" dirty="0"/>
              <a:t>、</a:t>
            </a:r>
            <a:r>
              <a:rPr lang="en-US" altLang="zh-CN" sz="2400" dirty="0"/>
              <a:t>Z. In these directions satellite should be fixed on the slip table connected to shaker body. </a:t>
            </a:r>
            <a:endParaRPr lang="en-US" altLang="zh-CN" sz="2400" dirty="0" smtClean="0"/>
          </a:p>
          <a:p>
            <a:pPr algn="just">
              <a:spcBef>
                <a:spcPct val="50000"/>
              </a:spcBef>
            </a:pPr>
            <a:r>
              <a:rPr lang="en-US" altLang="zh-CN" sz="2400" dirty="0" smtClean="0"/>
              <a:t>Above </a:t>
            </a:r>
            <a:r>
              <a:rPr lang="en-US" altLang="zh-CN" sz="2400" dirty="0"/>
              <a:t>all, we can get the satellite should be tested in three directions. </a:t>
            </a:r>
            <a:endParaRPr lang="en-US" altLang="zh-CN" sz="2400" dirty="0" smtClean="0"/>
          </a:p>
          <a:p>
            <a:pPr algn="just">
              <a:spcBef>
                <a:spcPct val="50000"/>
              </a:spcBef>
            </a:pPr>
            <a:r>
              <a:rPr lang="en-US" altLang="zh-CN" sz="2800" dirty="0" smtClean="0">
                <a:solidFill>
                  <a:srgbClr val="FF0000"/>
                </a:solidFill>
              </a:rPr>
              <a:t>how </a:t>
            </a:r>
            <a:r>
              <a:rPr lang="en-US" altLang="zh-CN" sz="2800" dirty="0">
                <a:solidFill>
                  <a:srgbClr val="FF0000"/>
                </a:solidFill>
              </a:rPr>
              <a:t>the vibration inspiring system </a:t>
            </a:r>
            <a:r>
              <a:rPr lang="en-US" altLang="zh-CN" sz="2800" dirty="0" smtClean="0">
                <a:solidFill>
                  <a:srgbClr val="FF0000"/>
                </a:solidFill>
              </a:rPr>
              <a:t>work?</a:t>
            </a:r>
            <a:endParaRPr lang="zh-CN" altLang="zh-CN" sz="2800" dirty="0">
              <a:solidFill>
                <a:srgbClr val="FF0000"/>
              </a:solidFill>
            </a:endParaRPr>
          </a:p>
        </p:txBody>
      </p:sp>
      <p:sp>
        <p:nvSpPr>
          <p:cNvPr id="20" name="灯片编号占位符 33"/>
          <p:cNvSpPr>
            <a:spLocks noGrp="1"/>
          </p:cNvSpPr>
          <p:nvPr>
            <p:ph type="sldNum" sz="quarter" idx="12"/>
          </p:nvPr>
        </p:nvSpPr>
        <p:spPr/>
        <p:txBody>
          <a:bodyPr/>
          <a:lstStyle/>
          <a:p>
            <a:pPr>
              <a:defRPr/>
            </a:pPr>
            <a:fld id="{21621E67-D958-4A4A-AEDD-57C0BCA1F4BA}" type="slidenum">
              <a:rPr lang="zh-CN" altLang="en-US" smtClean="0"/>
              <a:pPr>
                <a:defRPr/>
              </a:pPr>
              <a:t>12</a:t>
            </a:fld>
            <a:endParaRPr lang="zh-CN" altLang="en-US"/>
          </a:p>
        </p:txBody>
      </p:sp>
      <p:sp>
        <p:nvSpPr>
          <p:cNvPr id="22" name="标题 1"/>
          <p:cNvSpPr>
            <a:spLocks noGrp="1"/>
          </p:cNvSpPr>
          <p:nvPr>
            <p:ph type="title"/>
          </p:nvPr>
        </p:nvSpPr>
        <p:spPr>
          <a:xfrm>
            <a:off x="395536" y="116632"/>
            <a:ext cx="8229600" cy="1082660"/>
          </a:xfrm>
        </p:spPr>
        <p:txBody>
          <a:bodyPr>
            <a:normAutofit/>
          </a:bodyPr>
          <a:lstStyle/>
          <a:p>
            <a:pPr marL="514350" indent="-514350"/>
            <a:r>
              <a:rPr lang="en-US" altLang="zh-CN" b="0" dirty="0"/>
              <a:t>The facility of vibration test</a:t>
            </a:r>
          </a:p>
        </p:txBody>
      </p:sp>
    </p:spTree>
    <p:extLst>
      <p:ext uri="{BB962C8B-B14F-4D97-AF65-F5344CB8AC3E}">
        <p14:creationId xmlns:p14="http://schemas.microsoft.com/office/powerpoint/2010/main" val="1816097247"/>
      </p:ext>
    </p:extLst>
  </p:cSld>
  <p:clrMapOvr>
    <a:masterClrMapping/>
  </p:clrMapOvr>
  <mc:AlternateContent xmlns:mc="http://schemas.openxmlformats.org/markup-compatibility/2006" xmlns:p14="http://schemas.microsoft.com/office/powerpoint/2010/main">
    <mc:Choice Requires="p14">
      <p:transition spd="slow" p14:dur="2000" advTm="26008"/>
    </mc:Choice>
    <mc:Fallback xmlns="">
      <p:transition spd="slow" advTm="26008"/>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ph idx="1"/>
          </p:nvPr>
        </p:nvSpPr>
        <p:spPr>
          <a:xfrm>
            <a:off x="0" y="1196752"/>
            <a:ext cx="8686800" cy="4829398"/>
          </a:xfrm>
        </p:spPr>
        <p:txBody>
          <a:bodyPr/>
          <a:lstStyle/>
          <a:p>
            <a:pPr>
              <a:buFont typeface="Arial" charset="0"/>
              <a:buNone/>
              <a:defRPr/>
            </a:pPr>
            <a:r>
              <a:rPr lang="en-US" altLang="zh-CN" sz="3000" dirty="0" smtClean="0">
                <a:latin typeface="微软雅黑" pitchFamily="34" charset="-122"/>
                <a:ea typeface="微软雅黑" pitchFamily="34" charset="-122"/>
                <a:cs typeface="Times New Roman" pitchFamily="18" charset="0"/>
              </a:rPr>
              <a:t>Test facility</a:t>
            </a:r>
          </a:p>
          <a:p>
            <a:pPr marL="0" indent="0">
              <a:buNone/>
              <a:defRPr/>
            </a:pPr>
            <a:r>
              <a:rPr lang="en-US" altLang="zh-CN" sz="2400" dirty="0" smtClean="0"/>
              <a:t>Vibration inspiring system</a:t>
            </a:r>
          </a:p>
        </p:txBody>
      </p:sp>
      <p:grpSp>
        <p:nvGrpSpPr>
          <p:cNvPr id="40964" name="Group 21"/>
          <p:cNvGrpSpPr>
            <a:grpSpLocks/>
          </p:cNvGrpSpPr>
          <p:nvPr/>
        </p:nvGrpSpPr>
        <p:grpSpPr bwMode="auto">
          <a:xfrm>
            <a:off x="17050" y="2785247"/>
            <a:ext cx="4626909" cy="2836862"/>
            <a:chOff x="1859" y="7748"/>
            <a:chExt cx="7843" cy="3482"/>
          </a:xfrm>
        </p:grpSpPr>
        <p:sp>
          <p:nvSpPr>
            <p:cNvPr id="5" name="Line 22"/>
            <p:cNvSpPr>
              <a:spLocks noChangeShapeType="1"/>
            </p:cNvSpPr>
            <p:nvPr/>
          </p:nvSpPr>
          <p:spPr bwMode="auto">
            <a:xfrm>
              <a:off x="2340" y="11230"/>
              <a:ext cx="4680" cy="0"/>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40968" name="Rectangle 23"/>
            <p:cNvSpPr>
              <a:spLocks noChangeArrowheads="1"/>
            </p:cNvSpPr>
            <p:nvPr/>
          </p:nvSpPr>
          <p:spPr bwMode="auto">
            <a:xfrm>
              <a:off x="3780" y="9982"/>
              <a:ext cx="1440" cy="1248"/>
            </a:xfrm>
            <a:prstGeom prst="rect">
              <a:avLst/>
            </a:prstGeom>
            <a:solidFill>
              <a:srgbClr val="FFFFFF"/>
            </a:solidFill>
            <a:ln w="9525">
              <a:solidFill>
                <a:srgbClr val="000000"/>
              </a:solidFill>
              <a:miter lim="800000"/>
              <a:headEnd/>
              <a:tailEnd/>
            </a:ln>
          </p:spPr>
          <p:txBody>
            <a:bodyPr lIns="56108" tIns="28054" rIns="56108" bIns="28054"/>
            <a:lstStyle/>
            <a:p>
              <a:pPr algn="just" defTabSz="560388" eaLnBrk="0" hangingPunct="0"/>
              <a:endParaRPr lang="en-US" altLang="zh-CN" sz="600" dirty="0">
                <a:latin typeface="Times New Roman" pitchFamily="18" charset="0"/>
              </a:endParaRPr>
            </a:p>
            <a:p>
              <a:pPr algn="just" defTabSz="560388" eaLnBrk="0" hangingPunct="0"/>
              <a:r>
                <a:rPr lang="en-US" altLang="zh-CN" sz="1500" dirty="0">
                  <a:latin typeface="Times New Roman" pitchFamily="18" charset="0"/>
                </a:rPr>
                <a:t>   </a:t>
              </a:r>
            </a:p>
            <a:p>
              <a:pPr algn="just" defTabSz="560388" eaLnBrk="0" hangingPunct="0"/>
              <a:r>
                <a:rPr lang="en-US" altLang="zh-CN" sz="1500" dirty="0">
                  <a:latin typeface="Times New Roman" pitchFamily="18" charset="0"/>
                </a:rPr>
                <a:t>    Shaker</a:t>
              </a:r>
              <a:endParaRPr lang="en-US" altLang="zh-CN" sz="1500" dirty="0"/>
            </a:p>
          </p:txBody>
        </p:sp>
        <p:sp>
          <p:nvSpPr>
            <p:cNvPr id="7" name="Rectangle 24"/>
            <p:cNvSpPr>
              <a:spLocks noChangeArrowheads="1"/>
            </p:cNvSpPr>
            <p:nvPr/>
          </p:nvSpPr>
          <p:spPr bwMode="auto">
            <a:xfrm>
              <a:off x="4020" y="9819"/>
              <a:ext cx="1079" cy="156"/>
            </a:xfrm>
            <a:prstGeom prst="rect">
              <a:avLst/>
            </a:prstGeom>
            <a:solidFill>
              <a:srgbClr val="FFFFFF"/>
            </a:solidFill>
            <a:ln w="9525">
              <a:solidFill>
                <a:srgbClr val="000000"/>
              </a:solidFill>
              <a:miter lim="800000"/>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8" name="Rectangle 25"/>
            <p:cNvSpPr>
              <a:spLocks noChangeArrowheads="1"/>
            </p:cNvSpPr>
            <p:nvPr/>
          </p:nvSpPr>
          <p:spPr bwMode="auto">
            <a:xfrm>
              <a:off x="3900" y="7748"/>
              <a:ext cx="1440" cy="1403"/>
            </a:xfrm>
            <a:prstGeom prst="rect">
              <a:avLst/>
            </a:prstGeom>
            <a:solidFill>
              <a:srgbClr val="FFFFFF"/>
            </a:solidFill>
            <a:ln w="9525">
              <a:solidFill>
                <a:srgbClr val="000000"/>
              </a:solidFill>
              <a:miter lim="800000"/>
              <a:headEnd/>
              <a:tailEnd/>
            </a:ln>
          </p:spPr>
          <p:txBody>
            <a:bodyPr lIns="56108" tIns="28054" rIns="56108" bIns="28054"/>
            <a:lstStyle/>
            <a:p>
              <a:pPr algn="just" defTabSz="560388" eaLnBrk="0" hangingPunct="0">
                <a:defRPr/>
              </a:pPr>
              <a:endParaRPr lang="en-US" altLang="zh-CN" sz="1500" dirty="0">
                <a:latin typeface="宋体" charset="-122"/>
                <a:ea typeface="宋体" charset="-122"/>
              </a:endParaRPr>
            </a:p>
            <a:p>
              <a:pPr algn="just" defTabSz="560388" eaLnBrk="0" hangingPunct="0">
                <a:defRPr/>
              </a:pPr>
              <a:endParaRPr lang="en-US" altLang="zh-CN" sz="1500" dirty="0">
                <a:latin typeface="宋体" charset="-122"/>
                <a:ea typeface="宋体" charset="-122"/>
              </a:endParaRPr>
            </a:p>
            <a:p>
              <a:pPr algn="just" defTabSz="560388" eaLnBrk="0" hangingPunct="0">
                <a:defRPr/>
              </a:pPr>
              <a:r>
                <a:rPr lang="en-US" altLang="zh-CN" sz="1500" dirty="0">
                  <a:latin typeface="宋体" charset="-122"/>
                  <a:ea typeface="宋体" charset="-122"/>
                </a:rPr>
                <a:t>  </a:t>
              </a:r>
              <a:r>
                <a:rPr lang="en-US" altLang="zh-CN" sz="1500" dirty="0" smtClean="0">
                  <a:latin typeface="+mn-lt"/>
                  <a:ea typeface="宋体" charset="-122"/>
                </a:rPr>
                <a:t>satellite</a:t>
              </a:r>
              <a:endParaRPr lang="en-US" altLang="zh-CN" sz="1500" dirty="0">
                <a:latin typeface="+mn-lt"/>
                <a:ea typeface="宋体" charset="-122"/>
              </a:endParaRPr>
            </a:p>
          </p:txBody>
        </p:sp>
        <p:sp>
          <p:nvSpPr>
            <p:cNvPr id="9" name="Rectangle 26"/>
            <p:cNvSpPr>
              <a:spLocks noChangeArrowheads="1"/>
            </p:cNvSpPr>
            <p:nvPr/>
          </p:nvSpPr>
          <p:spPr bwMode="auto">
            <a:xfrm>
              <a:off x="3961" y="9153"/>
              <a:ext cx="1258" cy="214"/>
            </a:xfrm>
            <a:prstGeom prst="rect">
              <a:avLst/>
            </a:prstGeom>
            <a:solidFill>
              <a:srgbClr val="FFFFFF"/>
            </a:solidFill>
            <a:ln w="9525">
              <a:solidFill>
                <a:srgbClr val="000000"/>
              </a:solidFill>
              <a:miter lim="800000"/>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10" name="Rectangle 27"/>
            <p:cNvSpPr>
              <a:spLocks noChangeArrowheads="1"/>
            </p:cNvSpPr>
            <p:nvPr/>
          </p:nvSpPr>
          <p:spPr bwMode="auto">
            <a:xfrm>
              <a:off x="3422" y="9854"/>
              <a:ext cx="179" cy="1376"/>
            </a:xfrm>
            <a:prstGeom prst="rect">
              <a:avLst/>
            </a:prstGeom>
            <a:solidFill>
              <a:srgbClr val="FFFFFF"/>
            </a:solidFill>
            <a:ln w="9525">
              <a:solidFill>
                <a:srgbClr val="000000"/>
              </a:solidFill>
              <a:miter lim="800000"/>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11" name="Rectangle 28"/>
            <p:cNvSpPr>
              <a:spLocks noChangeArrowheads="1"/>
            </p:cNvSpPr>
            <p:nvPr/>
          </p:nvSpPr>
          <p:spPr bwMode="auto">
            <a:xfrm>
              <a:off x="5401" y="9854"/>
              <a:ext cx="179" cy="1376"/>
            </a:xfrm>
            <a:prstGeom prst="rect">
              <a:avLst/>
            </a:prstGeom>
            <a:solidFill>
              <a:srgbClr val="FFFFFF"/>
            </a:solidFill>
            <a:ln w="9525">
              <a:solidFill>
                <a:srgbClr val="000000"/>
              </a:solidFill>
              <a:miter lim="800000"/>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12" name="Rectangle 29"/>
            <p:cNvSpPr>
              <a:spLocks noChangeArrowheads="1"/>
            </p:cNvSpPr>
            <p:nvPr/>
          </p:nvSpPr>
          <p:spPr bwMode="auto">
            <a:xfrm>
              <a:off x="3601" y="10166"/>
              <a:ext cx="182" cy="158"/>
            </a:xfrm>
            <a:prstGeom prst="rect">
              <a:avLst/>
            </a:prstGeom>
            <a:solidFill>
              <a:srgbClr val="FFFFFF"/>
            </a:solidFill>
            <a:ln w="9525">
              <a:solidFill>
                <a:srgbClr val="000000"/>
              </a:solidFill>
              <a:miter lim="800000"/>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13" name="Rectangle 30"/>
            <p:cNvSpPr>
              <a:spLocks noChangeArrowheads="1"/>
            </p:cNvSpPr>
            <p:nvPr/>
          </p:nvSpPr>
          <p:spPr bwMode="auto">
            <a:xfrm>
              <a:off x="5222" y="10166"/>
              <a:ext cx="179" cy="158"/>
            </a:xfrm>
            <a:prstGeom prst="rect">
              <a:avLst/>
            </a:prstGeom>
            <a:solidFill>
              <a:srgbClr val="FFFFFF"/>
            </a:solidFill>
            <a:ln w="9525">
              <a:solidFill>
                <a:srgbClr val="000000"/>
              </a:solidFill>
              <a:miter lim="800000"/>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14" name="Line 31"/>
            <p:cNvSpPr>
              <a:spLocks noChangeShapeType="1"/>
            </p:cNvSpPr>
            <p:nvPr/>
          </p:nvSpPr>
          <p:spPr bwMode="auto">
            <a:xfrm flipH="1">
              <a:off x="5219" y="10918"/>
              <a:ext cx="1979" cy="0"/>
            </a:xfrm>
            <a:prstGeom prst="line">
              <a:avLst/>
            </a:prstGeom>
            <a:noFill/>
            <a:ln w="9525">
              <a:solidFill>
                <a:srgbClr val="000000"/>
              </a:solidFill>
              <a:round/>
              <a:headEnd/>
              <a:tailEnd type="triangle" w="med" len="me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40977" name="Rectangle 32"/>
            <p:cNvSpPr>
              <a:spLocks noChangeArrowheads="1"/>
            </p:cNvSpPr>
            <p:nvPr/>
          </p:nvSpPr>
          <p:spPr bwMode="auto">
            <a:xfrm>
              <a:off x="7200" y="10606"/>
              <a:ext cx="1440" cy="517"/>
            </a:xfrm>
            <a:prstGeom prst="rect">
              <a:avLst/>
            </a:prstGeom>
            <a:solidFill>
              <a:srgbClr val="FFFFFF"/>
            </a:solidFill>
            <a:ln w="9525">
              <a:solidFill>
                <a:srgbClr val="000000"/>
              </a:solidFill>
              <a:miter lim="800000"/>
              <a:headEnd/>
              <a:tailEnd/>
            </a:ln>
          </p:spPr>
          <p:txBody>
            <a:bodyPr lIns="56108" tIns="0" rIns="56108" bIns="28054"/>
            <a:lstStyle/>
            <a:p>
              <a:pPr algn="just" defTabSz="560388" eaLnBrk="0" hangingPunct="0"/>
              <a:r>
                <a:rPr lang="en-US" altLang="zh-CN" sz="1200">
                  <a:latin typeface="Times New Roman" pitchFamily="18" charset="0"/>
                </a:rPr>
                <a:t>Power amplifier</a:t>
              </a:r>
              <a:endParaRPr lang="en-US" altLang="zh-CN" sz="1200"/>
            </a:p>
          </p:txBody>
        </p:sp>
        <p:sp>
          <p:nvSpPr>
            <p:cNvPr id="40978" name="Rectangle 33"/>
            <p:cNvSpPr>
              <a:spLocks noChangeArrowheads="1"/>
            </p:cNvSpPr>
            <p:nvPr/>
          </p:nvSpPr>
          <p:spPr bwMode="auto">
            <a:xfrm>
              <a:off x="7020" y="8734"/>
              <a:ext cx="1440" cy="468"/>
            </a:xfrm>
            <a:prstGeom prst="rect">
              <a:avLst/>
            </a:prstGeom>
            <a:solidFill>
              <a:srgbClr val="FFFFFF"/>
            </a:solidFill>
            <a:ln w="9525">
              <a:solidFill>
                <a:srgbClr val="000000"/>
              </a:solidFill>
              <a:miter lim="800000"/>
              <a:headEnd/>
              <a:tailEnd/>
            </a:ln>
          </p:spPr>
          <p:txBody>
            <a:bodyPr lIns="56108" tIns="0" rIns="56108" bIns="28054"/>
            <a:lstStyle/>
            <a:p>
              <a:pPr algn="just" defTabSz="560388" eaLnBrk="0" hangingPunct="0"/>
              <a:r>
                <a:rPr lang="en-US" altLang="zh-CN" sz="1200"/>
                <a:t>Charge amplifier</a:t>
              </a:r>
            </a:p>
          </p:txBody>
        </p:sp>
        <p:sp>
          <p:nvSpPr>
            <p:cNvPr id="40979" name="Rectangle 34"/>
            <p:cNvSpPr>
              <a:spLocks noChangeArrowheads="1"/>
            </p:cNvSpPr>
            <p:nvPr/>
          </p:nvSpPr>
          <p:spPr bwMode="auto">
            <a:xfrm>
              <a:off x="8460" y="9670"/>
              <a:ext cx="1242" cy="468"/>
            </a:xfrm>
            <a:prstGeom prst="rect">
              <a:avLst/>
            </a:prstGeom>
            <a:solidFill>
              <a:srgbClr val="FFFFFF"/>
            </a:solidFill>
            <a:ln w="9525">
              <a:solidFill>
                <a:srgbClr val="000000"/>
              </a:solidFill>
              <a:miter lim="800000"/>
              <a:headEnd/>
              <a:tailEnd/>
            </a:ln>
          </p:spPr>
          <p:txBody>
            <a:bodyPr lIns="44179" tIns="0" rIns="56108" bIns="28054"/>
            <a:lstStyle/>
            <a:p>
              <a:pPr defTabSz="560388">
                <a:spcBef>
                  <a:spcPct val="20000"/>
                </a:spcBef>
              </a:pPr>
              <a:r>
                <a:rPr lang="en-US" altLang="zh-CN" sz="1200" dirty="0"/>
                <a:t>Vibration controller</a:t>
              </a:r>
            </a:p>
          </p:txBody>
        </p:sp>
        <p:sp>
          <p:nvSpPr>
            <p:cNvPr id="18" name="Line 35"/>
            <p:cNvSpPr>
              <a:spLocks noChangeShapeType="1"/>
            </p:cNvSpPr>
            <p:nvPr/>
          </p:nvSpPr>
          <p:spPr bwMode="auto">
            <a:xfrm flipH="1">
              <a:off x="9360" y="10139"/>
              <a:ext cx="0" cy="779"/>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19" name="Line 36"/>
            <p:cNvSpPr>
              <a:spLocks noChangeShapeType="1"/>
            </p:cNvSpPr>
            <p:nvPr/>
          </p:nvSpPr>
          <p:spPr bwMode="auto">
            <a:xfrm flipH="1">
              <a:off x="9360" y="8890"/>
              <a:ext cx="0" cy="811"/>
            </a:xfrm>
            <a:prstGeom prst="line">
              <a:avLst/>
            </a:prstGeom>
            <a:noFill/>
            <a:ln w="9525">
              <a:solidFill>
                <a:srgbClr val="000000"/>
              </a:solidFill>
              <a:round/>
              <a:headEnd/>
              <a:tailEnd type="triangle" w="med" len="me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20" name="Rectangle 37"/>
            <p:cNvSpPr>
              <a:spLocks noChangeArrowheads="1"/>
            </p:cNvSpPr>
            <p:nvPr/>
          </p:nvSpPr>
          <p:spPr bwMode="auto">
            <a:xfrm>
              <a:off x="4501" y="9309"/>
              <a:ext cx="179" cy="156"/>
            </a:xfrm>
            <a:prstGeom prst="rect">
              <a:avLst/>
            </a:prstGeom>
            <a:solidFill>
              <a:srgbClr val="333300"/>
            </a:solidFill>
            <a:ln w="9525">
              <a:solidFill>
                <a:srgbClr val="000000"/>
              </a:solidFill>
              <a:miter lim="800000"/>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21" name="Rectangle 38"/>
            <p:cNvSpPr>
              <a:spLocks noChangeArrowheads="1"/>
            </p:cNvSpPr>
            <p:nvPr/>
          </p:nvSpPr>
          <p:spPr bwMode="auto">
            <a:xfrm>
              <a:off x="5040" y="9309"/>
              <a:ext cx="179" cy="156"/>
            </a:xfrm>
            <a:prstGeom prst="rect">
              <a:avLst/>
            </a:prstGeom>
            <a:solidFill>
              <a:srgbClr val="333300"/>
            </a:solidFill>
            <a:ln w="9525">
              <a:solidFill>
                <a:srgbClr val="000000"/>
              </a:solidFill>
              <a:miter lim="800000"/>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22" name="Rectangle 39"/>
            <p:cNvSpPr>
              <a:spLocks noChangeArrowheads="1"/>
            </p:cNvSpPr>
            <p:nvPr/>
          </p:nvSpPr>
          <p:spPr bwMode="auto">
            <a:xfrm>
              <a:off x="3961" y="9309"/>
              <a:ext cx="179" cy="156"/>
            </a:xfrm>
            <a:prstGeom prst="rect">
              <a:avLst/>
            </a:prstGeom>
            <a:solidFill>
              <a:srgbClr val="333300"/>
            </a:solidFill>
            <a:ln w="9525">
              <a:solidFill>
                <a:srgbClr val="000000"/>
              </a:solidFill>
              <a:miter lim="800000"/>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23" name="Line 40"/>
            <p:cNvSpPr>
              <a:spLocks noChangeShapeType="1"/>
            </p:cNvSpPr>
            <p:nvPr/>
          </p:nvSpPr>
          <p:spPr bwMode="auto">
            <a:xfrm>
              <a:off x="8460" y="8890"/>
              <a:ext cx="900" cy="0"/>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24" name="Line 41"/>
            <p:cNvSpPr>
              <a:spLocks noChangeShapeType="1"/>
            </p:cNvSpPr>
            <p:nvPr/>
          </p:nvSpPr>
          <p:spPr bwMode="auto">
            <a:xfrm>
              <a:off x="4140" y="8890"/>
              <a:ext cx="2880" cy="0"/>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25" name="Line 42"/>
            <p:cNvSpPr>
              <a:spLocks noChangeShapeType="1"/>
            </p:cNvSpPr>
            <p:nvPr/>
          </p:nvSpPr>
          <p:spPr bwMode="auto">
            <a:xfrm>
              <a:off x="4140" y="8890"/>
              <a:ext cx="0" cy="397"/>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26" name="Line 43"/>
            <p:cNvSpPr>
              <a:spLocks noChangeShapeType="1"/>
            </p:cNvSpPr>
            <p:nvPr/>
          </p:nvSpPr>
          <p:spPr bwMode="auto">
            <a:xfrm>
              <a:off x="4680" y="8890"/>
              <a:ext cx="0" cy="397"/>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40989" name="Rectangle 44"/>
            <p:cNvSpPr>
              <a:spLocks noChangeArrowheads="1"/>
            </p:cNvSpPr>
            <p:nvPr/>
          </p:nvSpPr>
          <p:spPr bwMode="auto">
            <a:xfrm>
              <a:off x="1859" y="9443"/>
              <a:ext cx="1381"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defTabSz="560388" eaLnBrk="0" hangingPunct="0"/>
              <a:r>
                <a:rPr lang="en-US" altLang="zh-CN" sz="1200">
                  <a:latin typeface="Times New Roman" pitchFamily="18" charset="0"/>
                </a:rPr>
                <a:t>Acceleration</a:t>
              </a:r>
            </a:p>
            <a:p>
              <a:pPr algn="just" defTabSz="560388" eaLnBrk="0" hangingPunct="0"/>
              <a:r>
                <a:rPr lang="en-US" altLang="zh-CN" sz="1200">
                  <a:latin typeface="Times New Roman" pitchFamily="18" charset="0"/>
                </a:rPr>
                <a:t>Sensors</a:t>
              </a:r>
              <a:endParaRPr lang="en-US" altLang="zh-CN" sz="1200"/>
            </a:p>
          </p:txBody>
        </p:sp>
        <p:sp>
          <p:nvSpPr>
            <p:cNvPr id="28" name="Line 45"/>
            <p:cNvSpPr>
              <a:spLocks noChangeShapeType="1"/>
            </p:cNvSpPr>
            <p:nvPr/>
          </p:nvSpPr>
          <p:spPr bwMode="auto">
            <a:xfrm flipV="1">
              <a:off x="3240" y="9443"/>
              <a:ext cx="721" cy="468"/>
            </a:xfrm>
            <a:prstGeom prst="line">
              <a:avLst/>
            </a:prstGeom>
            <a:noFill/>
            <a:ln w="9525">
              <a:solidFill>
                <a:srgbClr val="000000"/>
              </a:solidFill>
              <a:round/>
              <a:headEnd/>
              <a:tailEnd type="triangle" w="med" len="me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29" name="Line 46"/>
            <p:cNvSpPr>
              <a:spLocks noChangeShapeType="1"/>
            </p:cNvSpPr>
            <p:nvPr/>
          </p:nvSpPr>
          <p:spPr bwMode="auto">
            <a:xfrm flipH="1">
              <a:off x="4140" y="9357"/>
              <a:ext cx="120" cy="489"/>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30" name="Line 47"/>
            <p:cNvSpPr>
              <a:spLocks noChangeShapeType="1"/>
            </p:cNvSpPr>
            <p:nvPr/>
          </p:nvSpPr>
          <p:spPr bwMode="auto">
            <a:xfrm>
              <a:off x="4859" y="9357"/>
              <a:ext cx="120" cy="489"/>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31" name="Line 48"/>
            <p:cNvSpPr>
              <a:spLocks noChangeShapeType="1"/>
            </p:cNvSpPr>
            <p:nvPr/>
          </p:nvSpPr>
          <p:spPr bwMode="auto">
            <a:xfrm flipH="1">
              <a:off x="8641" y="10918"/>
              <a:ext cx="719" cy="0"/>
            </a:xfrm>
            <a:prstGeom prst="line">
              <a:avLst/>
            </a:prstGeom>
            <a:noFill/>
            <a:ln w="9525">
              <a:solidFill>
                <a:srgbClr val="000000"/>
              </a:solidFill>
              <a:round/>
              <a:headEnd/>
              <a:tailEnd type="triangle" w="med" len="me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32" name="Line 49"/>
            <p:cNvSpPr>
              <a:spLocks noChangeShapeType="1"/>
            </p:cNvSpPr>
            <p:nvPr/>
          </p:nvSpPr>
          <p:spPr bwMode="auto">
            <a:xfrm>
              <a:off x="5040" y="8890"/>
              <a:ext cx="0" cy="397"/>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grpSp>
      <p:sp>
        <p:nvSpPr>
          <p:cNvPr id="34" name="灯片编号占位符 62"/>
          <p:cNvSpPr>
            <a:spLocks noGrp="1"/>
          </p:cNvSpPr>
          <p:nvPr>
            <p:ph type="sldNum" sz="quarter" idx="12"/>
          </p:nvPr>
        </p:nvSpPr>
        <p:spPr/>
        <p:txBody>
          <a:bodyPr/>
          <a:lstStyle/>
          <a:p>
            <a:pPr>
              <a:defRPr/>
            </a:pPr>
            <a:fld id="{2A3856B0-1114-4874-9784-56EC6163527F}" type="slidenum">
              <a:rPr lang="zh-CN" altLang="en-US" smtClean="0"/>
              <a:pPr>
                <a:defRPr/>
              </a:pPr>
              <a:t>13</a:t>
            </a:fld>
            <a:endParaRPr lang="zh-CN" altLang="en-US"/>
          </a:p>
        </p:txBody>
      </p:sp>
      <p:sp>
        <p:nvSpPr>
          <p:cNvPr id="36" name="标题 1"/>
          <p:cNvSpPr>
            <a:spLocks noGrp="1"/>
          </p:cNvSpPr>
          <p:nvPr>
            <p:ph type="title"/>
          </p:nvPr>
        </p:nvSpPr>
        <p:spPr>
          <a:xfrm>
            <a:off x="395536" y="116632"/>
            <a:ext cx="8229600" cy="1082660"/>
          </a:xfrm>
        </p:spPr>
        <p:txBody>
          <a:bodyPr>
            <a:normAutofit/>
          </a:bodyPr>
          <a:lstStyle/>
          <a:p>
            <a:pPr marL="514350" indent="-514350"/>
            <a:r>
              <a:rPr lang="en-US" altLang="zh-CN" b="0" dirty="0"/>
              <a:t>The facility of vibration test</a:t>
            </a:r>
          </a:p>
        </p:txBody>
      </p:sp>
      <p:sp>
        <p:nvSpPr>
          <p:cNvPr id="35" name="Text Box 32"/>
          <p:cNvSpPr txBox="1">
            <a:spLocks noChangeArrowheads="1"/>
          </p:cNvSpPr>
          <p:nvPr/>
        </p:nvSpPr>
        <p:spPr bwMode="auto">
          <a:xfrm>
            <a:off x="4644008" y="1924650"/>
            <a:ext cx="4499992" cy="4528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5766" tIns="47884" rIns="95766" bIns="47884">
            <a:spAutoFit/>
          </a:bodyPr>
          <a:lstStyle>
            <a:lvl1pPr defTabSz="560388" eaLnBrk="0" hangingPunct="0">
              <a:defRPr>
                <a:solidFill>
                  <a:schemeClr val="tx1"/>
                </a:solidFill>
                <a:latin typeface="Arial" charset="0"/>
                <a:ea typeface="宋体" pitchFamily="2" charset="-122"/>
              </a:defRPr>
            </a:lvl1pPr>
            <a:lvl2pPr marL="742950" indent="-285750" defTabSz="560388" eaLnBrk="0" hangingPunct="0">
              <a:defRPr>
                <a:solidFill>
                  <a:schemeClr val="tx1"/>
                </a:solidFill>
                <a:latin typeface="Arial" charset="0"/>
                <a:ea typeface="宋体" pitchFamily="2" charset="-122"/>
              </a:defRPr>
            </a:lvl2pPr>
            <a:lvl3pPr marL="1143000" indent="-228600" defTabSz="560388" eaLnBrk="0" hangingPunct="0">
              <a:defRPr>
                <a:solidFill>
                  <a:schemeClr val="tx1"/>
                </a:solidFill>
                <a:latin typeface="Arial" charset="0"/>
                <a:ea typeface="宋体" pitchFamily="2" charset="-122"/>
              </a:defRPr>
            </a:lvl3pPr>
            <a:lvl4pPr marL="1600200" indent="-228600" defTabSz="560388" eaLnBrk="0" hangingPunct="0">
              <a:defRPr>
                <a:solidFill>
                  <a:schemeClr val="tx1"/>
                </a:solidFill>
                <a:latin typeface="Arial" charset="0"/>
                <a:ea typeface="宋体" pitchFamily="2" charset="-122"/>
              </a:defRPr>
            </a:lvl4pPr>
            <a:lvl5pPr marL="2057400" indent="-228600" defTabSz="560388" eaLnBrk="0" hangingPunct="0">
              <a:defRPr>
                <a:solidFill>
                  <a:schemeClr val="tx1"/>
                </a:solidFill>
                <a:latin typeface="Arial" charset="0"/>
                <a:ea typeface="宋体" pitchFamily="2" charset="-122"/>
              </a:defRPr>
            </a:lvl5pPr>
            <a:lvl6pPr marL="2514600" indent="-228600" defTabSz="560388" eaLnBrk="0" fontAlgn="base" hangingPunct="0">
              <a:spcBef>
                <a:spcPct val="0"/>
              </a:spcBef>
              <a:spcAft>
                <a:spcPct val="0"/>
              </a:spcAft>
              <a:defRPr>
                <a:solidFill>
                  <a:schemeClr val="tx1"/>
                </a:solidFill>
                <a:latin typeface="Arial" charset="0"/>
                <a:ea typeface="宋体" pitchFamily="2" charset="-122"/>
              </a:defRPr>
            </a:lvl6pPr>
            <a:lvl7pPr marL="2971800" indent="-228600" defTabSz="560388" eaLnBrk="0" fontAlgn="base" hangingPunct="0">
              <a:spcBef>
                <a:spcPct val="0"/>
              </a:spcBef>
              <a:spcAft>
                <a:spcPct val="0"/>
              </a:spcAft>
              <a:defRPr>
                <a:solidFill>
                  <a:schemeClr val="tx1"/>
                </a:solidFill>
                <a:latin typeface="Arial" charset="0"/>
                <a:ea typeface="宋体" pitchFamily="2" charset="-122"/>
              </a:defRPr>
            </a:lvl7pPr>
            <a:lvl8pPr marL="3429000" indent="-228600" defTabSz="560388" eaLnBrk="0" fontAlgn="base" hangingPunct="0">
              <a:spcBef>
                <a:spcPct val="0"/>
              </a:spcBef>
              <a:spcAft>
                <a:spcPct val="0"/>
              </a:spcAft>
              <a:defRPr>
                <a:solidFill>
                  <a:schemeClr val="tx1"/>
                </a:solidFill>
                <a:latin typeface="Arial" charset="0"/>
                <a:ea typeface="宋体" pitchFamily="2" charset="-122"/>
              </a:defRPr>
            </a:lvl8pPr>
            <a:lvl9pPr marL="3886200" indent="-228600" defTabSz="560388"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dirty="0"/>
              <a:t>Acceleration sensors are installed on the interface between satellite and shaker. Controller generates the drive signal. The signal is inputted into shaker after amplified. Then shaker vibrates. Vibration response signals caught by sensors are fed back to controller. Drive signal is rectified in accord with the condition.</a:t>
            </a:r>
            <a:endParaRPr lang="zh-CN" altLang="zh-CN" sz="2400" dirty="0"/>
          </a:p>
        </p:txBody>
      </p:sp>
    </p:spTree>
    <p:extLst>
      <p:ext uri="{BB962C8B-B14F-4D97-AF65-F5344CB8AC3E}">
        <p14:creationId xmlns:p14="http://schemas.microsoft.com/office/powerpoint/2010/main" val="786468910"/>
      </p:ext>
    </p:extLst>
  </p:cSld>
  <p:clrMapOvr>
    <a:masterClrMapping/>
  </p:clrMapOvr>
  <mc:AlternateContent xmlns:mc="http://schemas.openxmlformats.org/markup-compatibility/2006" xmlns:p14="http://schemas.microsoft.com/office/powerpoint/2010/main">
    <mc:Choice Requires="p14">
      <p:transition spd="slow" p14:dur="2000" advTm="29082"/>
    </mc:Choice>
    <mc:Fallback xmlns="">
      <p:transition spd="slow" advTm="29082"/>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ph idx="1"/>
          </p:nvPr>
        </p:nvSpPr>
        <p:spPr>
          <a:xfrm>
            <a:off x="0" y="1196752"/>
            <a:ext cx="8686800" cy="4829398"/>
          </a:xfrm>
        </p:spPr>
        <p:txBody>
          <a:bodyPr/>
          <a:lstStyle/>
          <a:p>
            <a:pPr>
              <a:buFont typeface="Arial" charset="0"/>
              <a:buNone/>
              <a:defRPr/>
            </a:pPr>
            <a:r>
              <a:rPr lang="en-US" altLang="zh-CN" sz="3000" dirty="0" smtClean="0">
                <a:latin typeface="微软雅黑" pitchFamily="34" charset="-122"/>
                <a:ea typeface="微软雅黑" pitchFamily="34" charset="-122"/>
                <a:cs typeface="Times New Roman" pitchFamily="18" charset="0"/>
              </a:rPr>
              <a:t>Test facility</a:t>
            </a:r>
          </a:p>
          <a:p>
            <a:pPr marL="0" indent="0">
              <a:buNone/>
              <a:defRPr/>
            </a:pPr>
            <a:r>
              <a:rPr lang="en-US" altLang="zh-CN" sz="2400" dirty="0" smtClean="0"/>
              <a:t>Measure System</a:t>
            </a:r>
          </a:p>
        </p:txBody>
      </p:sp>
      <p:grpSp>
        <p:nvGrpSpPr>
          <p:cNvPr id="3" name="组合 2"/>
          <p:cNvGrpSpPr/>
          <p:nvPr/>
        </p:nvGrpSpPr>
        <p:grpSpPr>
          <a:xfrm>
            <a:off x="35497" y="2582844"/>
            <a:ext cx="4159569" cy="3488757"/>
            <a:chOff x="2127944" y="2832820"/>
            <a:chExt cx="4159569" cy="3488757"/>
          </a:xfrm>
        </p:grpSpPr>
        <p:grpSp>
          <p:nvGrpSpPr>
            <p:cNvPr id="41989" name="Group 71"/>
            <p:cNvGrpSpPr>
              <a:grpSpLocks/>
            </p:cNvGrpSpPr>
            <p:nvPr/>
          </p:nvGrpSpPr>
          <p:grpSpPr bwMode="auto">
            <a:xfrm>
              <a:off x="2127944" y="2917977"/>
              <a:ext cx="4144449" cy="3403600"/>
              <a:chOff x="4450" y="2339"/>
              <a:chExt cx="4218" cy="3539"/>
            </a:xfrm>
          </p:grpSpPr>
          <p:sp>
            <p:nvSpPr>
              <p:cNvPr id="6" name="Rectangle 36"/>
              <p:cNvSpPr>
                <a:spLocks noChangeArrowheads="1"/>
              </p:cNvSpPr>
              <p:nvPr/>
            </p:nvSpPr>
            <p:spPr bwMode="auto">
              <a:xfrm>
                <a:off x="5045" y="4001"/>
                <a:ext cx="1134" cy="1486"/>
              </a:xfrm>
              <a:prstGeom prst="rect">
                <a:avLst/>
              </a:prstGeom>
              <a:solidFill>
                <a:srgbClr val="FFFFFF"/>
              </a:solidFill>
              <a:ln w="9525">
                <a:solidFill>
                  <a:srgbClr val="000000"/>
                </a:solidFill>
                <a:miter lim="800000"/>
                <a:headEnd/>
                <a:tailEnd/>
              </a:ln>
            </p:spPr>
            <p:txBody>
              <a:bodyPr lIns="56108" tIns="28054" rIns="56108" bIns="28054"/>
              <a:lstStyle/>
              <a:p>
                <a:pPr defTabSz="560388" eaLnBrk="0" hangingPunct="0">
                  <a:defRPr/>
                </a:pPr>
                <a:endParaRPr lang="en-US" altLang="zh-CN" sz="600" dirty="0">
                  <a:latin typeface="Times New Roman" pitchFamily="18" charset="0"/>
                  <a:ea typeface="宋体" charset="-122"/>
                </a:endParaRPr>
              </a:p>
              <a:p>
                <a:pPr defTabSz="560388" eaLnBrk="0" hangingPunct="0">
                  <a:defRPr/>
                </a:pPr>
                <a:endParaRPr lang="en-US" altLang="zh-CN" sz="1500" dirty="0">
                  <a:latin typeface="Times New Roman" pitchFamily="18" charset="0"/>
                  <a:ea typeface="宋体" charset="-122"/>
                </a:endParaRPr>
              </a:p>
              <a:p>
                <a:pPr defTabSz="560388" eaLnBrk="0" hangingPunct="0">
                  <a:defRPr/>
                </a:pPr>
                <a:endParaRPr lang="en-US" altLang="zh-CN" sz="1500" dirty="0">
                  <a:latin typeface="Times New Roman" pitchFamily="18" charset="0"/>
                  <a:ea typeface="宋体" charset="-122"/>
                </a:endParaRPr>
              </a:p>
              <a:p>
                <a:pPr algn="ctr" defTabSz="560388" eaLnBrk="0" hangingPunct="0">
                  <a:defRPr/>
                </a:pPr>
                <a:r>
                  <a:rPr lang="en-US" altLang="zh-CN" sz="1500" dirty="0">
                    <a:latin typeface="+mn-lt"/>
                    <a:ea typeface="宋体" charset="-122"/>
                  </a:rPr>
                  <a:t>Shaker</a:t>
                </a:r>
              </a:p>
            </p:txBody>
          </p:sp>
          <p:sp>
            <p:nvSpPr>
              <p:cNvPr id="7" name="Rectangle 37"/>
              <p:cNvSpPr>
                <a:spLocks noChangeArrowheads="1"/>
              </p:cNvSpPr>
              <p:nvPr/>
            </p:nvSpPr>
            <p:spPr bwMode="auto">
              <a:xfrm>
                <a:off x="4642" y="4287"/>
                <a:ext cx="215" cy="1585"/>
              </a:xfrm>
              <a:prstGeom prst="rect">
                <a:avLst/>
              </a:prstGeom>
              <a:solidFill>
                <a:srgbClr val="FFFFFF"/>
              </a:solidFill>
              <a:ln w="9525">
                <a:solidFill>
                  <a:srgbClr val="000000"/>
                </a:solidFill>
                <a:miter lim="800000"/>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8" name="Line 38"/>
              <p:cNvSpPr>
                <a:spLocks noChangeShapeType="1"/>
              </p:cNvSpPr>
              <p:nvPr/>
            </p:nvSpPr>
            <p:spPr bwMode="auto">
              <a:xfrm>
                <a:off x="4450" y="5876"/>
                <a:ext cx="2349" cy="2"/>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9" name="Rectangle 39"/>
              <p:cNvSpPr>
                <a:spLocks noChangeArrowheads="1"/>
              </p:cNvSpPr>
              <p:nvPr/>
            </p:nvSpPr>
            <p:spPr bwMode="auto">
              <a:xfrm>
                <a:off x="4857" y="4584"/>
                <a:ext cx="191" cy="269"/>
              </a:xfrm>
              <a:prstGeom prst="rect">
                <a:avLst/>
              </a:prstGeom>
              <a:solidFill>
                <a:srgbClr val="FFFFFF"/>
              </a:solidFill>
              <a:ln w="9525">
                <a:solidFill>
                  <a:srgbClr val="000000"/>
                </a:solidFill>
                <a:miter lim="800000"/>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10" name="Rectangle 40"/>
              <p:cNvSpPr>
                <a:spLocks noChangeArrowheads="1"/>
              </p:cNvSpPr>
              <p:nvPr/>
            </p:nvSpPr>
            <p:spPr bwMode="auto">
              <a:xfrm>
                <a:off x="6180" y="4584"/>
                <a:ext cx="189" cy="269"/>
              </a:xfrm>
              <a:prstGeom prst="rect">
                <a:avLst/>
              </a:prstGeom>
              <a:solidFill>
                <a:srgbClr val="FFFFFF"/>
              </a:solidFill>
              <a:ln w="9525">
                <a:solidFill>
                  <a:srgbClr val="000000"/>
                </a:solidFill>
                <a:miter lim="800000"/>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11" name="Rectangle 41"/>
              <p:cNvSpPr>
                <a:spLocks noChangeArrowheads="1"/>
              </p:cNvSpPr>
              <p:nvPr/>
            </p:nvSpPr>
            <p:spPr bwMode="auto">
              <a:xfrm>
                <a:off x="6368" y="4290"/>
                <a:ext cx="215" cy="1585"/>
              </a:xfrm>
              <a:prstGeom prst="rect">
                <a:avLst/>
              </a:prstGeom>
              <a:solidFill>
                <a:srgbClr val="FFFFFF"/>
              </a:solidFill>
              <a:ln w="9525">
                <a:solidFill>
                  <a:srgbClr val="000000"/>
                </a:solidFill>
                <a:miter lim="800000"/>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12" name="Rectangle 43"/>
              <p:cNvSpPr>
                <a:spLocks noChangeArrowheads="1"/>
              </p:cNvSpPr>
              <p:nvPr/>
            </p:nvSpPr>
            <p:spPr bwMode="auto">
              <a:xfrm>
                <a:off x="5314" y="3803"/>
                <a:ext cx="582" cy="81"/>
              </a:xfrm>
              <a:prstGeom prst="rect">
                <a:avLst/>
              </a:prstGeom>
              <a:solidFill>
                <a:srgbClr val="FFFFFF"/>
              </a:solidFill>
              <a:ln w="9525">
                <a:solidFill>
                  <a:srgbClr val="000000"/>
                </a:solidFill>
                <a:miter lim="800000"/>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42001" name="Text Box 48"/>
              <p:cNvSpPr txBox="1">
                <a:spLocks noChangeArrowheads="1"/>
              </p:cNvSpPr>
              <p:nvPr/>
            </p:nvSpPr>
            <p:spPr bwMode="auto">
              <a:xfrm>
                <a:off x="7368" y="4539"/>
                <a:ext cx="979" cy="463"/>
              </a:xfrm>
              <a:prstGeom prst="rect">
                <a:avLst/>
              </a:prstGeom>
              <a:solidFill>
                <a:srgbClr val="FFFFFF"/>
              </a:solidFill>
              <a:ln w="9525">
                <a:solidFill>
                  <a:srgbClr val="000000"/>
                </a:solidFill>
                <a:miter lim="800000"/>
                <a:headEnd/>
                <a:tailEnd/>
              </a:ln>
            </p:spPr>
            <p:txBody>
              <a:bodyPr lIns="56108" tIns="28054" rIns="56108" bIns="28054"/>
              <a:lstStyle>
                <a:lvl1pPr defTabSz="560388" eaLnBrk="0" hangingPunct="0">
                  <a:defRPr>
                    <a:solidFill>
                      <a:schemeClr val="tx1"/>
                    </a:solidFill>
                    <a:latin typeface="Arial" charset="0"/>
                    <a:ea typeface="宋体" pitchFamily="2" charset="-122"/>
                  </a:defRPr>
                </a:lvl1pPr>
                <a:lvl2pPr marL="742950" indent="-285750" defTabSz="560388" eaLnBrk="0" hangingPunct="0">
                  <a:defRPr>
                    <a:solidFill>
                      <a:schemeClr val="tx1"/>
                    </a:solidFill>
                    <a:latin typeface="Arial" charset="0"/>
                    <a:ea typeface="宋体" pitchFamily="2" charset="-122"/>
                  </a:defRPr>
                </a:lvl2pPr>
                <a:lvl3pPr marL="1143000" indent="-228600" defTabSz="560388" eaLnBrk="0" hangingPunct="0">
                  <a:defRPr>
                    <a:solidFill>
                      <a:schemeClr val="tx1"/>
                    </a:solidFill>
                    <a:latin typeface="Arial" charset="0"/>
                    <a:ea typeface="宋体" pitchFamily="2" charset="-122"/>
                  </a:defRPr>
                </a:lvl3pPr>
                <a:lvl4pPr marL="1600200" indent="-228600" defTabSz="560388" eaLnBrk="0" hangingPunct="0">
                  <a:defRPr>
                    <a:solidFill>
                      <a:schemeClr val="tx1"/>
                    </a:solidFill>
                    <a:latin typeface="Arial" charset="0"/>
                    <a:ea typeface="宋体" pitchFamily="2" charset="-122"/>
                  </a:defRPr>
                </a:lvl4pPr>
                <a:lvl5pPr marL="2057400" indent="-228600" defTabSz="560388" eaLnBrk="0" hangingPunct="0">
                  <a:defRPr>
                    <a:solidFill>
                      <a:schemeClr val="tx1"/>
                    </a:solidFill>
                    <a:latin typeface="Arial" charset="0"/>
                    <a:ea typeface="宋体" pitchFamily="2" charset="-122"/>
                  </a:defRPr>
                </a:lvl5pPr>
                <a:lvl6pPr marL="2514600" indent="-228600" defTabSz="560388" eaLnBrk="0" fontAlgn="base" hangingPunct="0">
                  <a:spcBef>
                    <a:spcPct val="0"/>
                  </a:spcBef>
                  <a:spcAft>
                    <a:spcPct val="0"/>
                  </a:spcAft>
                  <a:defRPr>
                    <a:solidFill>
                      <a:schemeClr val="tx1"/>
                    </a:solidFill>
                    <a:latin typeface="Arial" charset="0"/>
                    <a:ea typeface="宋体" pitchFamily="2" charset="-122"/>
                  </a:defRPr>
                </a:lvl6pPr>
                <a:lvl7pPr marL="2971800" indent="-228600" defTabSz="560388" eaLnBrk="0" fontAlgn="base" hangingPunct="0">
                  <a:spcBef>
                    <a:spcPct val="0"/>
                  </a:spcBef>
                  <a:spcAft>
                    <a:spcPct val="0"/>
                  </a:spcAft>
                  <a:defRPr>
                    <a:solidFill>
                      <a:schemeClr val="tx1"/>
                    </a:solidFill>
                    <a:latin typeface="Arial" charset="0"/>
                    <a:ea typeface="宋体" pitchFamily="2" charset="-122"/>
                  </a:defRPr>
                </a:lvl7pPr>
                <a:lvl8pPr marL="3429000" indent="-228600" defTabSz="560388" eaLnBrk="0" fontAlgn="base" hangingPunct="0">
                  <a:spcBef>
                    <a:spcPct val="0"/>
                  </a:spcBef>
                  <a:spcAft>
                    <a:spcPct val="0"/>
                  </a:spcAft>
                  <a:defRPr>
                    <a:solidFill>
                      <a:schemeClr val="tx1"/>
                    </a:solidFill>
                    <a:latin typeface="Arial" charset="0"/>
                    <a:ea typeface="宋体" pitchFamily="2" charset="-122"/>
                  </a:defRPr>
                </a:lvl8pPr>
                <a:lvl9pPr marL="3886200" indent="-228600" defTabSz="560388"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1200">
                    <a:latin typeface="Times New Roman" pitchFamily="18" charset="0"/>
                  </a:rPr>
                  <a:t>Data acquirer and analyzer </a:t>
                </a:r>
                <a:endParaRPr lang="en-US" altLang="zh-CN" sz="1200"/>
              </a:p>
            </p:txBody>
          </p:sp>
          <p:sp>
            <p:nvSpPr>
              <p:cNvPr id="42002" name="Text Box 49"/>
              <p:cNvSpPr txBox="1">
                <a:spLocks noChangeArrowheads="1"/>
              </p:cNvSpPr>
              <p:nvPr/>
            </p:nvSpPr>
            <p:spPr bwMode="auto">
              <a:xfrm>
                <a:off x="7350" y="2965"/>
                <a:ext cx="1318" cy="685"/>
              </a:xfrm>
              <a:prstGeom prst="rect">
                <a:avLst/>
              </a:prstGeom>
              <a:solidFill>
                <a:srgbClr val="FFFFFF"/>
              </a:solidFill>
              <a:ln w="9525">
                <a:solidFill>
                  <a:srgbClr val="000000"/>
                </a:solidFill>
                <a:miter lim="800000"/>
                <a:headEnd/>
                <a:tailEnd/>
              </a:ln>
            </p:spPr>
            <p:txBody>
              <a:bodyPr lIns="56108" tIns="28054" rIns="56108" bIns="28054"/>
              <a:lstStyle>
                <a:lvl1pPr defTabSz="560388" eaLnBrk="0" hangingPunct="0">
                  <a:defRPr>
                    <a:solidFill>
                      <a:schemeClr val="tx1"/>
                    </a:solidFill>
                    <a:latin typeface="Arial" charset="0"/>
                    <a:ea typeface="宋体" pitchFamily="2" charset="-122"/>
                  </a:defRPr>
                </a:lvl1pPr>
                <a:lvl2pPr marL="742950" indent="-285750" defTabSz="560388" eaLnBrk="0" hangingPunct="0">
                  <a:defRPr>
                    <a:solidFill>
                      <a:schemeClr val="tx1"/>
                    </a:solidFill>
                    <a:latin typeface="Arial" charset="0"/>
                    <a:ea typeface="宋体" pitchFamily="2" charset="-122"/>
                  </a:defRPr>
                </a:lvl2pPr>
                <a:lvl3pPr marL="1143000" indent="-228600" defTabSz="560388" eaLnBrk="0" hangingPunct="0">
                  <a:defRPr>
                    <a:solidFill>
                      <a:schemeClr val="tx1"/>
                    </a:solidFill>
                    <a:latin typeface="Arial" charset="0"/>
                    <a:ea typeface="宋体" pitchFamily="2" charset="-122"/>
                  </a:defRPr>
                </a:lvl3pPr>
                <a:lvl4pPr marL="1600200" indent="-228600" defTabSz="560388" eaLnBrk="0" hangingPunct="0">
                  <a:defRPr>
                    <a:solidFill>
                      <a:schemeClr val="tx1"/>
                    </a:solidFill>
                    <a:latin typeface="Arial" charset="0"/>
                    <a:ea typeface="宋体" pitchFamily="2" charset="-122"/>
                  </a:defRPr>
                </a:lvl4pPr>
                <a:lvl5pPr marL="2057400" indent="-228600" defTabSz="560388" eaLnBrk="0" hangingPunct="0">
                  <a:defRPr>
                    <a:solidFill>
                      <a:schemeClr val="tx1"/>
                    </a:solidFill>
                    <a:latin typeface="Arial" charset="0"/>
                    <a:ea typeface="宋体" pitchFamily="2" charset="-122"/>
                  </a:defRPr>
                </a:lvl5pPr>
                <a:lvl6pPr marL="2514600" indent="-228600" defTabSz="560388" eaLnBrk="0" fontAlgn="base" hangingPunct="0">
                  <a:spcBef>
                    <a:spcPct val="0"/>
                  </a:spcBef>
                  <a:spcAft>
                    <a:spcPct val="0"/>
                  </a:spcAft>
                  <a:defRPr>
                    <a:solidFill>
                      <a:schemeClr val="tx1"/>
                    </a:solidFill>
                    <a:latin typeface="Arial" charset="0"/>
                    <a:ea typeface="宋体" pitchFamily="2" charset="-122"/>
                  </a:defRPr>
                </a:lvl6pPr>
                <a:lvl7pPr marL="2971800" indent="-228600" defTabSz="560388" eaLnBrk="0" fontAlgn="base" hangingPunct="0">
                  <a:spcBef>
                    <a:spcPct val="0"/>
                  </a:spcBef>
                  <a:spcAft>
                    <a:spcPct val="0"/>
                  </a:spcAft>
                  <a:defRPr>
                    <a:solidFill>
                      <a:schemeClr val="tx1"/>
                    </a:solidFill>
                    <a:latin typeface="Arial" charset="0"/>
                    <a:ea typeface="宋体" pitchFamily="2" charset="-122"/>
                  </a:defRPr>
                </a:lvl7pPr>
                <a:lvl8pPr marL="3429000" indent="-228600" defTabSz="560388" eaLnBrk="0" fontAlgn="base" hangingPunct="0">
                  <a:spcBef>
                    <a:spcPct val="0"/>
                  </a:spcBef>
                  <a:spcAft>
                    <a:spcPct val="0"/>
                  </a:spcAft>
                  <a:defRPr>
                    <a:solidFill>
                      <a:schemeClr val="tx1"/>
                    </a:solidFill>
                    <a:latin typeface="Arial" charset="0"/>
                    <a:ea typeface="宋体" pitchFamily="2" charset="-122"/>
                  </a:defRPr>
                </a:lvl8pPr>
                <a:lvl9pPr marL="3886200" indent="-228600" defTabSz="560388"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1200" dirty="0"/>
                  <a:t>Dynamic signal conditioner</a:t>
                </a:r>
              </a:p>
              <a:p>
                <a:pPr algn="just"/>
                <a:r>
                  <a:rPr lang="en-US" altLang="zh-CN" sz="1200" dirty="0"/>
                  <a:t>(Strain amplifier)</a:t>
                </a:r>
              </a:p>
            </p:txBody>
          </p:sp>
          <p:sp>
            <p:nvSpPr>
              <p:cNvPr id="15" name="Line 51"/>
              <p:cNvSpPr>
                <a:spLocks noChangeShapeType="1"/>
              </p:cNvSpPr>
              <p:nvPr/>
            </p:nvSpPr>
            <p:spPr bwMode="auto">
              <a:xfrm flipH="1">
                <a:off x="7684" y="3661"/>
                <a:ext cx="6" cy="880"/>
              </a:xfrm>
              <a:prstGeom prst="line">
                <a:avLst/>
              </a:prstGeom>
              <a:noFill/>
              <a:ln w="9525">
                <a:solidFill>
                  <a:srgbClr val="000000"/>
                </a:solidFill>
                <a:round/>
                <a:headEnd/>
                <a:tailEnd type="triangle" w="med" len="me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16" name="Line 52"/>
              <p:cNvSpPr>
                <a:spLocks noChangeShapeType="1"/>
              </p:cNvSpPr>
              <p:nvPr/>
            </p:nvSpPr>
            <p:spPr bwMode="auto">
              <a:xfrm>
                <a:off x="7517" y="3650"/>
                <a:ext cx="8" cy="886"/>
              </a:xfrm>
              <a:prstGeom prst="line">
                <a:avLst/>
              </a:prstGeom>
              <a:noFill/>
              <a:ln w="9525">
                <a:solidFill>
                  <a:srgbClr val="000000"/>
                </a:solidFill>
                <a:round/>
                <a:headEnd/>
                <a:tailEnd type="triangle" w="med" len="me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17" name="Line 53"/>
              <p:cNvSpPr>
                <a:spLocks noChangeShapeType="1"/>
              </p:cNvSpPr>
              <p:nvPr/>
            </p:nvSpPr>
            <p:spPr bwMode="auto">
              <a:xfrm flipH="1">
                <a:off x="7857" y="3650"/>
                <a:ext cx="8" cy="895"/>
              </a:xfrm>
              <a:prstGeom prst="line">
                <a:avLst/>
              </a:prstGeom>
              <a:noFill/>
              <a:ln w="9525">
                <a:solidFill>
                  <a:srgbClr val="000000"/>
                </a:solidFill>
                <a:prstDash val="dash"/>
                <a:round/>
                <a:headEnd/>
                <a:tailEnd type="triangle" w="med" len="me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18" name="Line 54"/>
              <p:cNvSpPr>
                <a:spLocks noChangeShapeType="1"/>
              </p:cNvSpPr>
              <p:nvPr/>
            </p:nvSpPr>
            <p:spPr bwMode="auto">
              <a:xfrm>
                <a:off x="8167" y="3653"/>
                <a:ext cx="3" cy="891"/>
              </a:xfrm>
              <a:prstGeom prst="line">
                <a:avLst/>
              </a:prstGeom>
              <a:noFill/>
              <a:ln w="9525">
                <a:solidFill>
                  <a:srgbClr val="000000"/>
                </a:solidFill>
                <a:round/>
                <a:headEnd/>
                <a:tailEnd type="triangle" w="med" len="me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19" name="Rectangle 64"/>
              <p:cNvSpPr>
                <a:spLocks noChangeArrowheads="1"/>
              </p:cNvSpPr>
              <p:nvPr/>
            </p:nvSpPr>
            <p:spPr bwMode="auto">
              <a:xfrm>
                <a:off x="5130" y="2339"/>
                <a:ext cx="927" cy="1149"/>
              </a:xfrm>
              <a:prstGeom prst="rect">
                <a:avLst/>
              </a:prstGeom>
              <a:solidFill>
                <a:srgbClr val="FFFFFF"/>
              </a:solidFill>
              <a:ln w="9525">
                <a:solidFill>
                  <a:srgbClr val="000000"/>
                </a:solidFill>
                <a:miter lim="800000"/>
                <a:headEnd/>
                <a:tailEnd/>
              </a:ln>
            </p:spPr>
            <p:txBody>
              <a:bodyPr lIns="56108" tIns="28054" rIns="56108" bIns="28054"/>
              <a:lstStyle/>
              <a:p>
                <a:pPr marL="280988" lvl="1" algn="just" defTabSz="560388" eaLnBrk="0" hangingPunct="0">
                  <a:defRPr/>
                </a:pPr>
                <a:endParaRPr lang="en-US" altLang="zh-CN" sz="1200" dirty="0">
                  <a:latin typeface="宋体" charset="-122"/>
                  <a:ea typeface="宋体" charset="-122"/>
                </a:endParaRPr>
              </a:p>
              <a:p>
                <a:pPr marL="280988" lvl="1" algn="just" defTabSz="560388" eaLnBrk="0" hangingPunct="0">
                  <a:defRPr/>
                </a:pPr>
                <a:endParaRPr lang="en-US" altLang="zh-CN" sz="1200" dirty="0">
                  <a:latin typeface="宋体" charset="-122"/>
                  <a:ea typeface="宋体" charset="-122"/>
                </a:endParaRPr>
              </a:p>
              <a:p>
                <a:pPr marL="280988" lvl="1" algn="just" defTabSz="560388" eaLnBrk="0" hangingPunct="0">
                  <a:defRPr/>
                </a:pPr>
                <a:r>
                  <a:rPr lang="en-US" altLang="zh-CN" sz="1200" dirty="0" smtClean="0">
                    <a:latin typeface="+mn-lt"/>
                    <a:ea typeface="宋体" charset="-122"/>
                  </a:rPr>
                  <a:t>satellite</a:t>
                </a:r>
                <a:endParaRPr lang="en-US" altLang="zh-CN" sz="1200" dirty="0">
                  <a:latin typeface="+mn-lt"/>
                  <a:ea typeface="宋体" charset="-122"/>
                </a:endParaRPr>
              </a:p>
              <a:p>
                <a:pPr defTabSz="560388" eaLnBrk="0" hangingPunct="0">
                  <a:defRPr/>
                </a:pPr>
                <a:endParaRPr lang="en-US" altLang="zh-CN" sz="1200" dirty="0">
                  <a:ea typeface="宋体" charset="-122"/>
                </a:endParaRPr>
              </a:p>
            </p:txBody>
          </p:sp>
          <p:sp>
            <p:nvSpPr>
              <p:cNvPr id="20" name="Rectangle 63"/>
              <p:cNvSpPr>
                <a:spLocks noChangeArrowheads="1"/>
              </p:cNvSpPr>
              <p:nvPr/>
            </p:nvSpPr>
            <p:spPr bwMode="auto">
              <a:xfrm>
                <a:off x="5224" y="3488"/>
                <a:ext cx="788" cy="144"/>
              </a:xfrm>
              <a:prstGeom prst="rect">
                <a:avLst/>
              </a:prstGeom>
              <a:solidFill>
                <a:srgbClr val="FFFFFF"/>
              </a:solidFill>
              <a:ln w="9525">
                <a:solidFill>
                  <a:srgbClr val="000000"/>
                </a:solidFill>
                <a:miter lim="800000"/>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21" name="Line 65"/>
              <p:cNvSpPr>
                <a:spLocks noChangeShapeType="1"/>
              </p:cNvSpPr>
              <p:nvPr/>
            </p:nvSpPr>
            <p:spPr bwMode="auto">
              <a:xfrm flipH="1">
                <a:off x="5224" y="3631"/>
                <a:ext cx="186" cy="287"/>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22" name="Line 47"/>
              <p:cNvSpPr>
                <a:spLocks noChangeShapeType="1"/>
              </p:cNvSpPr>
              <p:nvPr/>
            </p:nvSpPr>
            <p:spPr bwMode="auto">
              <a:xfrm flipV="1">
                <a:off x="5739" y="3425"/>
                <a:ext cx="1604" cy="3"/>
              </a:xfrm>
              <a:prstGeom prst="line">
                <a:avLst/>
              </a:prstGeom>
              <a:noFill/>
              <a:ln w="9525">
                <a:solidFill>
                  <a:srgbClr val="000000"/>
                </a:solidFill>
                <a:prstDash val="dash"/>
                <a:round/>
                <a:headEnd/>
                <a:tailEnd type="triangle" w="med" len="me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23" name="Line 61"/>
              <p:cNvSpPr>
                <a:spLocks noChangeShapeType="1"/>
              </p:cNvSpPr>
              <p:nvPr/>
            </p:nvSpPr>
            <p:spPr bwMode="auto">
              <a:xfrm>
                <a:off x="5851" y="3547"/>
                <a:ext cx="1492" cy="2"/>
              </a:xfrm>
              <a:prstGeom prst="line">
                <a:avLst/>
              </a:prstGeom>
              <a:noFill/>
              <a:ln w="9525">
                <a:solidFill>
                  <a:srgbClr val="000000"/>
                </a:solidFill>
                <a:round/>
                <a:headEnd/>
                <a:tailEnd type="triangle" w="med" len="me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24" name="Line 60"/>
              <p:cNvSpPr>
                <a:spLocks noChangeShapeType="1"/>
              </p:cNvSpPr>
              <p:nvPr/>
            </p:nvSpPr>
            <p:spPr bwMode="auto">
              <a:xfrm>
                <a:off x="5446" y="3220"/>
                <a:ext cx="1875" cy="19"/>
              </a:xfrm>
              <a:prstGeom prst="line">
                <a:avLst/>
              </a:prstGeom>
              <a:noFill/>
              <a:ln w="9525">
                <a:solidFill>
                  <a:srgbClr val="000000"/>
                </a:solidFill>
                <a:round/>
                <a:headEnd/>
                <a:tailEnd type="triangle" w="med" len="me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25" name="Line 57"/>
              <p:cNvSpPr>
                <a:spLocks noChangeShapeType="1"/>
              </p:cNvSpPr>
              <p:nvPr/>
            </p:nvSpPr>
            <p:spPr bwMode="auto">
              <a:xfrm flipH="1" flipV="1">
                <a:off x="5445" y="3237"/>
                <a:ext cx="3" cy="101"/>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26" name="Line 46"/>
              <p:cNvSpPr>
                <a:spLocks noChangeShapeType="1"/>
              </p:cNvSpPr>
              <p:nvPr/>
            </p:nvSpPr>
            <p:spPr bwMode="auto">
              <a:xfrm flipH="1" flipV="1">
                <a:off x="5343" y="3108"/>
                <a:ext cx="0" cy="224"/>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27" name="Rectangle 55"/>
              <p:cNvSpPr>
                <a:spLocks noChangeArrowheads="1"/>
              </p:cNvSpPr>
              <p:nvPr/>
            </p:nvSpPr>
            <p:spPr bwMode="auto">
              <a:xfrm>
                <a:off x="5415" y="3338"/>
                <a:ext cx="61" cy="71"/>
              </a:xfrm>
              <a:prstGeom prst="rect">
                <a:avLst/>
              </a:prstGeom>
              <a:solidFill>
                <a:srgbClr val="000000"/>
              </a:solidFill>
              <a:ln w="9525">
                <a:solidFill>
                  <a:srgbClr val="000000"/>
                </a:solidFill>
                <a:miter lim="800000"/>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28" name="Rectangle 56"/>
              <p:cNvSpPr>
                <a:spLocks noChangeArrowheads="1"/>
              </p:cNvSpPr>
              <p:nvPr/>
            </p:nvSpPr>
            <p:spPr bwMode="auto">
              <a:xfrm>
                <a:off x="5659" y="3382"/>
                <a:ext cx="61" cy="71"/>
              </a:xfrm>
              <a:prstGeom prst="rect">
                <a:avLst/>
              </a:prstGeom>
              <a:solidFill>
                <a:srgbClr val="000000"/>
              </a:solidFill>
              <a:ln w="9525">
                <a:solidFill>
                  <a:srgbClr val="000000"/>
                </a:solidFill>
                <a:miter lim="800000"/>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29" name="Rectangle 45"/>
              <p:cNvSpPr>
                <a:spLocks noChangeArrowheads="1"/>
              </p:cNvSpPr>
              <p:nvPr/>
            </p:nvSpPr>
            <p:spPr bwMode="auto">
              <a:xfrm>
                <a:off x="5835" y="3519"/>
                <a:ext cx="61" cy="71"/>
              </a:xfrm>
              <a:prstGeom prst="rect">
                <a:avLst/>
              </a:prstGeom>
              <a:solidFill>
                <a:srgbClr val="000000"/>
              </a:solidFill>
              <a:ln w="9525">
                <a:solidFill>
                  <a:srgbClr val="000000"/>
                </a:solidFill>
                <a:miter lim="800000"/>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30" name="Rectangle 44"/>
              <p:cNvSpPr>
                <a:spLocks noChangeArrowheads="1"/>
              </p:cNvSpPr>
              <p:nvPr/>
            </p:nvSpPr>
            <p:spPr bwMode="auto">
              <a:xfrm>
                <a:off x="5314" y="3338"/>
                <a:ext cx="63" cy="71"/>
              </a:xfrm>
              <a:prstGeom prst="rect">
                <a:avLst/>
              </a:prstGeom>
              <a:solidFill>
                <a:srgbClr val="000000"/>
              </a:solidFill>
              <a:ln w="9525">
                <a:solidFill>
                  <a:srgbClr val="000000"/>
                </a:solidFill>
                <a:miter lim="800000"/>
                <a:headEnd/>
                <a:tailEnd/>
              </a:ln>
            </p:spPr>
            <p:txBody>
              <a:bodyPr/>
              <a:lstStyle/>
              <a:p>
                <a:pPr>
                  <a:defRPr/>
                </a:pPr>
                <a:endParaRPr lang="zh-CN" altLang="en-US">
                  <a:effectLst>
                    <a:outerShdw blurRad="38100" dist="38100" dir="2700000" algn="tl">
                      <a:srgbClr val="000000">
                        <a:alpha val="43137"/>
                      </a:srgbClr>
                    </a:outerShdw>
                  </a:effectLst>
                  <a:ea typeface="宋体" charset="-122"/>
                </a:endParaRPr>
              </a:p>
            </p:txBody>
          </p:sp>
          <p:sp>
            <p:nvSpPr>
              <p:cNvPr id="31" name="Line 50"/>
              <p:cNvSpPr>
                <a:spLocks noChangeShapeType="1"/>
              </p:cNvSpPr>
              <p:nvPr/>
            </p:nvSpPr>
            <p:spPr bwMode="auto">
              <a:xfrm flipV="1">
                <a:off x="5343" y="3108"/>
                <a:ext cx="2000" cy="10"/>
              </a:xfrm>
              <a:prstGeom prst="line">
                <a:avLst/>
              </a:prstGeom>
              <a:noFill/>
              <a:ln w="9525">
                <a:solidFill>
                  <a:srgbClr val="000000"/>
                </a:solidFill>
                <a:round/>
                <a:headEnd/>
                <a:tailEnd type="triangle" w="med" len="med"/>
              </a:ln>
            </p:spPr>
            <p:txBody>
              <a:bodyPr/>
              <a:lstStyle/>
              <a:p>
                <a:pPr>
                  <a:defRPr/>
                </a:pPr>
                <a:endParaRPr lang="zh-CN" altLang="en-US">
                  <a:effectLst>
                    <a:outerShdw blurRad="38100" dist="38100" dir="2700000" algn="tl">
                      <a:srgbClr val="000000">
                        <a:alpha val="43137"/>
                      </a:srgbClr>
                    </a:outerShdw>
                  </a:effectLst>
                  <a:ea typeface="宋体" charset="-122"/>
                </a:endParaRPr>
              </a:p>
            </p:txBody>
          </p:sp>
        </p:grpSp>
        <p:sp>
          <p:nvSpPr>
            <p:cNvPr id="41990" name="Text Box 62"/>
            <p:cNvSpPr txBox="1">
              <a:spLocks noChangeArrowheads="1"/>
            </p:cNvSpPr>
            <p:nvPr/>
          </p:nvSpPr>
          <p:spPr bwMode="auto">
            <a:xfrm rot="16200000">
              <a:off x="5331839" y="2389907"/>
              <a:ext cx="512762" cy="13985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56108" tIns="28054" rIns="56108" bIns="28054"/>
            <a:lstStyle>
              <a:lvl1pPr defTabSz="560388" eaLnBrk="0" hangingPunct="0">
                <a:defRPr>
                  <a:solidFill>
                    <a:schemeClr val="tx1"/>
                  </a:solidFill>
                  <a:latin typeface="Arial" charset="0"/>
                  <a:ea typeface="宋体" pitchFamily="2" charset="-122"/>
                </a:defRPr>
              </a:lvl1pPr>
              <a:lvl2pPr marL="742950" indent="-285750" defTabSz="560388" eaLnBrk="0" hangingPunct="0">
                <a:defRPr>
                  <a:solidFill>
                    <a:schemeClr val="tx1"/>
                  </a:solidFill>
                  <a:latin typeface="Arial" charset="0"/>
                  <a:ea typeface="宋体" pitchFamily="2" charset="-122"/>
                </a:defRPr>
              </a:lvl2pPr>
              <a:lvl3pPr marL="1143000" indent="-228600" defTabSz="560388" eaLnBrk="0" hangingPunct="0">
                <a:defRPr>
                  <a:solidFill>
                    <a:schemeClr val="tx1"/>
                  </a:solidFill>
                  <a:latin typeface="Arial" charset="0"/>
                  <a:ea typeface="宋体" pitchFamily="2" charset="-122"/>
                </a:defRPr>
              </a:lvl3pPr>
              <a:lvl4pPr marL="1600200" indent="-228600" defTabSz="560388" eaLnBrk="0" hangingPunct="0">
                <a:defRPr>
                  <a:solidFill>
                    <a:schemeClr val="tx1"/>
                  </a:solidFill>
                  <a:latin typeface="Arial" charset="0"/>
                  <a:ea typeface="宋体" pitchFamily="2" charset="-122"/>
                </a:defRPr>
              </a:lvl4pPr>
              <a:lvl5pPr marL="2057400" indent="-228600" defTabSz="560388" eaLnBrk="0" hangingPunct="0">
                <a:defRPr>
                  <a:solidFill>
                    <a:schemeClr val="tx1"/>
                  </a:solidFill>
                  <a:latin typeface="Arial" charset="0"/>
                  <a:ea typeface="宋体" pitchFamily="2" charset="-122"/>
                </a:defRPr>
              </a:lvl5pPr>
              <a:lvl6pPr marL="2514600" indent="-228600" defTabSz="560388" eaLnBrk="0" fontAlgn="base" hangingPunct="0">
                <a:spcBef>
                  <a:spcPct val="0"/>
                </a:spcBef>
                <a:spcAft>
                  <a:spcPct val="0"/>
                </a:spcAft>
                <a:defRPr>
                  <a:solidFill>
                    <a:schemeClr val="tx1"/>
                  </a:solidFill>
                  <a:latin typeface="Arial" charset="0"/>
                  <a:ea typeface="宋体" pitchFamily="2" charset="-122"/>
                </a:defRPr>
              </a:lvl6pPr>
              <a:lvl7pPr marL="2971800" indent="-228600" defTabSz="560388" eaLnBrk="0" fontAlgn="base" hangingPunct="0">
                <a:spcBef>
                  <a:spcPct val="0"/>
                </a:spcBef>
                <a:spcAft>
                  <a:spcPct val="0"/>
                </a:spcAft>
                <a:defRPr>
                  <a:solidFill>
                    <a:schemeClr val="tx1"/>
                  </a:solidFill>
                  <a:latin typeface="Arial" charset="0"/>
                  <a:ea typeface="宋体" pitchFamily="2" charset="-122"/>
                </a:defRPr>
              </a:lvl7pPr>
              <a:lvl8pPr marL="3429000" indent="-228600" defTabSz="560388" eaLnBrk="0" fontAlgn="base" hangingPunct="0">
                <a:spcBef>
                  <a:spcPct val="0"/>
                </a:spcBef>
                <a:spcAft>
                  <a:spcPct val="0"/>
                </a:spcAft>
                <a:defRPr>
                  <a:solidFill>
                    <a:schemeClr val="tx1"/>
                  </a:solidFill>
                  <a:latin typeface="Arial" charset="0"/>
                  <a:ea typeface="宋体" pitchFamily="2" charset="-122"/>
                </a:defRPr>
              </a:lvl8pPr>
              <a:lvl9pPr marL="3886200" indent="-228600" defTabSz="560388"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1200" dirty="0">
                  <a:latin typeface="Times New Roman" pitchFamily="18" charset="0"/>
                </a:rPr>
                <a:t>Acceleration sensors</a:t>
              </a:r>
            </a:p>
            <a:p>
              <a:pPr algn="just"/>
              <a:r>
                <a:rPr lang="zh-CN" altLang="en-US" sz="1200" dirty="0">
                  <a:latin typeface="Times New Roman" pitchFamily="18" charset="0"/>
                </a:rPr>
                <a:t>（</a:t>
              </a:r>
              <a:r>
                <a:rPr lang="en-US" altLang="zh-CN" sz="1200" dirty="0">
                  <a:latin typeface="Times New Roman" pitchFamily="18" charset="0"/>
                </a:rPr>
                <a:t>Strain sensors</a:t>
              </a:r>
              <a:r>
                <a:rPr lang="zh-CN" altLang="en-US" sz="1200" dirty="0">
                  <a:latin typeface="Times New Roman" pitchFamily="18" charset="0"/>
                </a:rPr>
                <a:t>）</a:t>
              </a:r>
              <a:endParaRPr lang="zh-CN" altLang="en-US" sz="1200" dirty="0"/>
            </a:p>
          </p:txBody>
        </p:sp>
        <p:sp>
          <p:nvSpPr>
            <p:cNvPr id="33" name="Line 68"/>
            <p:cNvSpPr>
              <a:spLocks noChangeShapeType="1"/>
            </p:cNvSpPr>
            <p:nvPr/>
          </p:nvSpPr>
          <p:spPr bwMode="auto">
            <a:xfrm flipH="1">
              <a:off x="4517847" y="3096633"/>
              <a:ext cx="311150" cy="526157"/>
            </a:xfrm>
            <a:prstGeom prst="line">
              <a:avLst/>
            </a:prstGeom>
            <a:noFill/>
            <a:ln w="9525">
              <a:solidFill>
                <a:schemeClr val="tx1"/>
              </a:solidFill>
              <a:round/>
              <a:headEnd/>
              <a:tailEnd type="triangle" w="med" len="med"/>
            </a:ln>
            <a:effectLst/>
          </p:spPr>
          <p:txBody>
            <a:bodyPr lIns="156073" tIns="78037" rIns="156073" bIns="78037"/>
            <a:lstStyle/>
            <a:p>
              <a:pPr>
                <a:defRPr/>
              </a:pPr>
              <a:endParaRPr lang="zh-CN" altLang="en-US">
                <a:effectLst>
                  <a:outerShdw blurRad="38100" dist="38100" dir="2700000" algn="tl">
                    <a:srgbClr val="000000">
                      <a:alpha val="43137"/>
                    </a:srgbClr>
                  </a:outerShdw>
                </a:effectLst>
                <a:ea typeface="宋体" charset="-122"/>
              </a:endParaRPr>
            </a:p>
          </p:txBody>
        </p:sp>
      </p:grpSp>
      <p:sp>
        <p:nvSpPr>
          <p:cNvPr id="35" name="灯片编号占位符 93"/>
          <p:cNvSpPr>
            <a:spLocks noGrp="1"/>
          </p:cNvSpPr>
          <p:nvPr>
            <p:ph type="sldNum" sz="quarter" idx="12"/>
          </p:nvPr>
        </p:nvSpPr>
        <p:spPr/>
        <p:txBody>
          <a:bodyPr/>
          <a:lstStyle/>
          <a:p>
            <a:pPr>
              <a:defRPr/>
            </a:pPr>
            <a:fld id="{62D2B171-190E-4515-8223-D6A9D41D3B71}" type="slidenum">
              <a:rPr lang="zh-CN" altLang="en-US" smtClean="0"/>
              <a:pPr>
                <a:defRPr/>
              </a:pPr>
              <a:t>14</a:t>
            </a:fld>
            <a:endParaRPr lang="zh-CN" altLang="en-US"/>
          </a:p>
        </p:txBody>
      </p:sp>
      <p:sp>
        <p:nvSpPr>
          <p:cNvPr id="37" name="标题 1"/>
          <p:cNvSpPr>
            <a:spLocks noGrp="1"/>
          </p:cNvSpPr>
          <p:nvPr>
            <p:ph type="title"/>
          </p:nvPr>
        </p:nvSpPr>
        <p:spPr>
          <a:xfrm>
            <a:off x="395536" y="116632"/>
            <a:ext cx="8229600" cy="1082660"/>
          </a:xfrm>
        </p:spPr>
        <p:txBody>
          <a:bodyPr>
            <a:normAutofit/>
          </a:bodyPr>
          <a:lstStyle/>
          <a:p>
            <a:pPr marL="514350" indent="-514350"/>
            <a:r>
              <a:rPr lang="en-US" altLang="zh-CN" b="0" dirty="0"/>
              <a:t>The facility of vibration test</a:t>
            </a:r>
          </a:p>
        </p:txBody>
      </p:sp>
      <p:sp>
        <p:nvSpPr>
          <p:cNvPr id="36" name="Text Box 32"/>
          <p:cNvSpPr txBox="1">
            <a:spLocks noChangeArrowheads="1"/>
          </p:cNvSpPr>
          <p:nvPr/>
        </p:nvSpPr>
        <p:spPr bwMode="auto">
          <a:xfrm>
            <a:off x="4572000" y="1918507"/>
            <a:ext cx="4320480" cy="3790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5766" tIns="47884" rIns="95766" bIns="47884">
            <a:spAutoFit/>
          </a:bodyPr>
          <a:lstStyle>
            <a:lvl1pPr defTabSz="560388" eaLnBrk="0" hangingPunct="0">
              <a:defRPr>
                <a:solidFill>
                  <a:schemeClr val="tx1"/>
                </a:solidFill>
                <a:latin typeface="Arial" charset="0"/>
                <a:ea typeface="宋体" pitchFamily="2" charset="-122"/>
              </a:defRPr>
            </a:lvl1pPr>
            <a:lvl2pPr marL="742950" indent="-285750" defTabSz="560388" eaLnBrk="0" hangingPunct="0">
              <a:defRPr>
                <a:solidFill>
                  <a:schemeClr val="tx1"/>
                </a:solidFill>
                <a:latin typeface="Arial" charset="0"/>
                <a:ea typeface="宋体" pitchFamily="2" charset="-122"/>
              </a:defRPr>
            </a:lvl2pPr>
            <a:lvl3pPr marL="1143000" indent="-228600" defTabSz="560388" eaLnBrk="0" hangingPunct="0">
              <a:defRPr>
                <a:solidFill>
                  <a:schemeClr val="tx1"/>
                </a:solidFill>
                <a:latin typeface="Arial" charset="0"/>
                <a:ea typeface="宋体" pitchFamily="2" charset="-122"/>
              </a:defRPr>
            </a:lvl3pPr>
            <a:lvl4pPr marL="1600200" indent="-228600" defTabSz="560388" eaLnBrk="0" hangingPunct="0">
              <a:defRPr>
                <a:solidFill>
                  <a:schemeClr val="tx1"/>
                </a:solidFill>
                <a:latin typeface="Arial" charset="0"/>
                <a:ea typeface="宋体" pitchFamily="2" charset="-122"/>
              </a:defRPr>
            </a:lvl4pPr>
            <a:lvl5pPr marL="2057400" indent="-228600" defTabSz="560388" eaLnBrk="0" hangingPunct="0">
              <a:defRPr>
                <a:solidFill>
                  <a:schemeClr val="tx1"/>
                </a:solidFill>
                <a:latin typeface="Arial" charset="0"/>
                <a:ea typeface="宋体" pitchFamily="2" charset="-122"/>
              </a:defRPr>
            </a:lvl5pPr>
            <a:lvl6pPr marL="2514600" indent="-228600" defTabSz="560388" eaLnBrk="0" fontAlgn="base" hangingPunct="0">
              <a:spcBef>
                <a:spcPct val="0"/>
              </a:spcBef>
              <a:spcAft>
                <a:spcPct val="0"/>
              </a:spcAft>
              <a:defRPr>
                <a:solidFill>
                  <a:schemeClr val="tx1"/>
                </a:solidFill>
                <a:latin typeface="Arial" charset="0"/>
                <a:ea typeface="宋体" pitchFamily="2" charset="-122"/>
              </a:defRPr>
            </a:lvl6pPr>
            <a:lvl7pPr marL="2971800" indent="-228600" defTabSz="560388" eaLnBrk="0" fontAlgn="base" hangingPunct="0">
              <a:spcBef>
                <a:spcPct val="0"/>
              </a:spcBef>
              <a:spcAft>
                <a:spcPct val="0"/>
              </a:spcAft>
              <a:defRPr>
                <a:solidFill>
                  <a:schemeClr val="tx1"/>
                </a:solidFill>
                <a:latin typeface="Arial" charset="0"/>
                <a:ea typeface="宋体" pitchFamily="2" charset="-122"/>
              </a:defRPr>
            </a:lvl7pPr>
            <a:lvl8pPr marL="3429000" indent="-228600" defTabSz="560388" eaLnBrk="0" fontAlgn="base" hangingPunct="0">
              <a:spcBef>
                <a:spcPct val="0"/>
              </a:spcBef>
              <a:spcAft>
                <a:spcPct val="0"/>
              </a:spcAft>
              <a:defRPr>
                <a:solidFill>
                  <a:schemeClr val="tx1"/>
                </a:solidFill>
                <a:latin typeface="Arial" charset="0"/>
                <a:ea typeface="宋体" pitchFamily="2" charset="-122"/>
              </a:defRPr>
            </a:lvl8pPr>
            <a:lvl9pPr marL="3886200" indent="-228600" defTabSz="560388"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dirty="0"/>
              <a:t>this page show how the measure system work.</a:t>
            </a:r>
            <a:endParaRPr lang="zh-CN" altLang="zh-CN" sz="2400" dirty="0"/>
          </a:p>
          <a:p>
            <a:pPr algn="just"/>
            <a:r>
              <a:rPr lang="en-US" altLang="zh-CN" sz="2400" dirty="0"/>
              <a:t>This picture is response data flow. acceleration sensors( strain sensors) are installed at concerned positions of satellite structure. Vibration response signal caught </a:t>
            </a:r>
            <a:r>
              <a:rPr lang="en-US" altLang="zh-CN" sz="2400" dirty="0" smtClean="0"/>
              <a:t>by sensors </a:t>
            </a:r>
            <a:r>
              <a:rPr lang="en-US" altLang="zh-CN" sz="2400" dirty="0"/>
              <a:t>and </a:t>
            </a:r>
            <a:r>
              <a:rPr lang="en-US" altLang="zh-CN" sz="2400" dirty="0" smtClean="0"/>
              <a:t>amplifier </a:t>
            </a:r>
            <a:r>
              <a:rPr lang="en-US" altLang="zh-CN" sz="2400" dirty="0"/>
              <a:t>are acquired and analyzed.</a:t>
            </a:r>
            <a:endParaRPr lang="zh-CN" altLang="zh-CN" sz="2400" dirty="0"/>
          </a:p>
        </p:txBody>
      </p:sp>
    </p:spTree>
    <p:extLst>
      <p:ext uri="{BB962C8B-B14F-4D97-AF65-F5344CB8AC3E}">
        <p14:creationId xmlns:p14="http://schemas.microsoft.com/office/powerpoint/2010/main" val="2144036922"/>
      </p:ext>
    </p:extLst>
  </p:cSld>
  <p:clrMapOvr>
    <a:masterClrMapping/>
  </p:clrMapOvr>
  <mc:AlternateContent xmlns:mc="http://schemas.openxmlformats.org/markup-compatibility/2006" xmlns:p14="http://schemas.microsoft.com/office/powerpoint/2010/main">
    <mc:Choice Requires="p14">
      <p:transition spd="slow" p14:dur="2000" advTm="36781"/>
    </mc:Choice>
    <mc:Fallback xmlns="">
      <p:transition spd="slow" advTm="36781"/>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514350" indent="-514350"/>
            <a:r>
              <a:rPr lang="en-US" altLang="zh-CN" b="0" dirty="0"/>
              <a:t>vibration test </a:t>
            </a:r>
            <a:r>
              <a:rPr lang="en-US" altLang="zh-CN" b="0" dirty="0" smtClean="0"/>
              <a:t>attention</a:t>
            </a:r>
            <a:endParaRPr lang="en-US" altLang="zh-CN" b="0" dirty="0"/>
          </a:p>
        </p:txBody>
      </p:sp>
      <p:sp>
        <p:nvSpPr>
          <p:cNvPr id="28" name="内容占位符 2"/>
          <p:cNvSpPr>
            <a:spLocks noGrp="1"/>
          </p:cNvSpPr>
          <p:nvPr>
            <p:ph idx="1"/>
          </p:nvPr>
        </p:nvSpPr>
        <p:spPr>
          <a:xfrm>
            <a:off x="0" y="1268760"/>
            <a:ext cx="9144000" cy="5256584"/>
          </a:xfrm>
        </p:spPr>
        <p:txBody>
          <a:bodyPr>
            <a:noAutofit/>
          </a:bodyPr>
          <a:lstStyle/>
          <a:p>
            <a:pPr algn="just">
              <a:buFont typeface="Wingdings" pitchFamily="2" charset="2"/>
              <a:buChar char="Ø"/>
            </a:pPr>
            <a:r>
              <a:rPr lang="en-US" altLang="zh-CN" sz="2800" dirty="0" smtClean="0">
                <a:latin typeface="Times New Roman" pitchFamily="18" charset="0"/>
                <a:cs typeface="Times New Roman" pitchFamily="18" charset="0"/>
              </a:rPr>
              <a:t>From </a:t>
            </a:r>
            <a:r>
              <a:rPr lang="en-US" altLang="zh-CN" sz="2800" dirty="0">
                <a:latin typeface="Times New Roman" pitchFamily="18" charset="0"/>
                <a:cs typeface="Times New Roman" pitchFamily="18" charset="0"/>
              </a:rPr>
              <a:t>this page we will talk about test design preparation and implementation. Firstly, vibration test design will be </a:t>
            </a:r>
            <a:r>
              <a:rPr lang="en-US" altLang="zh-CN" sz="2800" dirty="0" err="1">
                <a:latin typeface="Times New Roman" pitchFamily="18" charset="0"/>
                <a:cs typeface="Times New Roman" pitchFamily="18" charset="0"/>
              </a:rPr>
              <a:t>discusseded</a:t>
            </a:r>
            <a:r>
              <a:rPr lang="en-US" altLang="zh-CN" sz="2800" dirty="0">
                <a:latin typeface="Times New Roman" pitchFamily="18" charset="0"/>
                <a:cs typeface="Times New Roman" pitchFamily="18" charset="0"/>
              </a:rPr>
              <a:t>. It </a:t>
            </a:r>
            <a:r>
              <a:rPr lang="en-US" altLang="zh-CN" sz="2800" dirty="0" smtClean="0">
                <a:latin typeface="Times New Roman" pitchFamily="18" charset="0"/>
                <a:cs typeface="Times New Roman" pitchFamily="18" charset="0"/>
              </a:rPr>
              <a:t>includes</a:t>
            </a:r>
            <a:r>
              <a:rPr lang="zh-CN" altLang="en-US" sz="2800" dirty="0" smtClean="0">
                <a:latin typeface="Times New Roman" pitchFamily="18" charset="0"/>
                <a:cs typeface="Times New Roman" pitchFamily="18" charset="0"/>
              </a:rPr>
              <a:t>：</a:t>
            </a:r>
            <a:r>
              <a:rPr lang="en-US" altLang="zh-CN" sz="2800" dirty="0" smtClean="0">
                <a:solidFill>
                  <a:srgbClr val="FF0000"/>
                </a:solidFill>
                <a:latin typeface="Times New Roman" pitchFamily="18" charset="0"/>
                <a:cs typeface="Times New Roman" pitchFamily="18" charset="0"/>
              </a:rPr>
              <a:t>test objective</a:t>
            </a:r>
            <a:r>
              <a:rPr lang="zh-CN" altLang="zh-CN" sz="2800" dirty="0" smtClean="0">
                <a:latin typeface="Times New Roman" pitchFamily="18" charset="0"/>
                <a:cs typeface="Times New Roman" pitchFamily="18" charset="0"/>
              </a:rPr>
              <a:t>、</a:t>
            </a:r>
            <a:r>
              <a:rPr lang="en-US" altLang="zh-CN" sz="2800" dirty="0" smtClean="0">
                <a:solidFill>
                  <a:srgbClr val="FF0000"/>
                </a:solidFill>
                <a:latin typeface="Times New Roman" pitchFamily="18" charset="0"/>
                <a:cs typeface="Times New Roman" pitchFamily="18" charset="0"/>
              </a:rPr>
              <a:t>technical status</a:t>
            </a:r>
            <a:r>
              <a:rPr lang="zh-CN" altLang="zh-CN" sz="2800" dirty="0" smtClean="0">
                <a:latin typeface="Times New Roman" pitchFamily="18" charset="0"/>
                <a:cs typeface="Times New Roman" pitchFamily="18" charset="0"/>
              </a:rPr>
              <a:t>、</a:t>
            </a:r>
            <a:r>
              <a:rPr lang="en-US" altLang="zh-CN" sz="2800" dirty="0" smtClean="0">
                <a:solidFill>
                  <a:srgbClr val="FF0000"/>
                </a:solidFill>
                <a:latin typeface="Times New Roman" pitchFamily="18" charset="0"/>
                <a:cs typeface="Times New Roman" pitchFamily="18" charset="0"/>
              </a:rPr>
              <a:t>Test field requirements</a:t>
            </a:r>
            <a:r>
              <a:rPr lang="zh-CN" altLang="zh-CN" sz="2800" dirty="0" smtClean="0">
                <a:latin typeface="Times New Roman" pitchFamily="18" charset="0"/>
                <a:cs typeface="Times New Roman" pitchFamily="18" charset="0"/>
              </a:rPr>
              <a:t>、</a:t>
            </a:r>
            <a:r>
              <a:rPr lang="en-US" altLang="zh-CN" sz="2800" dirty="0" smtClean="0">
                <a:solidFill>
                  <a:srgbClr val="FF0000"/>
                </a:solidFill>
                <a:latin typeface="Times New Roman" pitchFamily="18" charset="0"/>
                <a:cs typeface="Times New Roman" pitchFamily="18" charset="0"/>
              </a:rPr>
              <a:t>test flow</a:t>
            </a:r>
            <a:r>
              <a:rPr lang="zh-CN" altLang="zh-CN" sz="2800" dirty="0" smtClean="0">
                <a:latin typeface="Times New Roman" pitchFamily="18" charset="0"/>
                <a:cs typeface="Times New Roman" pitchFamily="18" charset="0"/>
              </a:rPr>
              <a:t>、</a:t>
            </a:r>
            <a:r>
              <a:rPr lang="en-US" altLang="zh-CN" sz="2800" dirty="0" smtClean="0">
                <a:solidFill>
                  <a:srgbClr val="FF0000"/>
                </a:solidFill>
                <a:latin typeface="Times New Roman" pitchFamily="18" charset="0"/>
                <a:cs typeface="Times New Roman" pitchFamily="18" charset="0"/>
              </a:rPr>
              <a:t>the hoisting and assembly </a:t>
            </a:r>
            <a:r>
              <a:rPr lang="en-US" altLang="zh-CN" sz="2800" dirty="0" err="1" smtClean="0">
                <a:solidFill>
                  <a:srgbClr val="FF0000"/>
                </a:solidFill>
                <a:latin typeface="Times New Roman" pitchFamily="18" charset="0"/>
                <a:cs typeface="Times New Roman" pitchFamily="18" charset="0"/>
              </a:rPr>
              <a:t>requirments</a:t>
            </a:r>
            <a:r>
              <a:rPr lang="en-US" altLang="zh-CN" sz="2800" dirty="0" smtClean="0">
                <a:solidFill>
                  <a:srgbClr val="FF0000"/>
                </a:solidFill>
                <a:latin typeface="Times New Roman" pitchFamily="18" charset="0"/>
                <a:cs typeface="Times New Roman" pitchFamily="18" charset="0"/>
              </a:rPr>
              <a:t> in test</a:t>
            </a:r>
            <a:r>
              <a:rPr lang="zh-CN" altLang="zh-CN" sz="2800" dirty="0" smtClean="0">
                <a:latin typeface="Times New Roman" pitchFamily="18" charset="0"/>
                <a:cs typeface="Times New Roman" pitchFamily="18" charset="0"/>
              </a:rPr>
              <a:t>、</a:t>
            </a:r>
            <a:r>
              <a:rPr lang="en-US" altLang="zh-CN" sz="2800" dirty="0" smtClean="0">
                <a:solidFill>
                  <a:srgbClr val="FF0000"/>
                </a:solidFill>
                <a:latin typeface="Times New Roman" pitchFamily="18" charset="0"/>
                <a:cs typeface="Times New Roman" pitchFamily="18" charset="0"/>
              </a:rPr>
              <a:t>interruption and trouble cleaning policy in test</a:t>
            </a:r>
            <a:r>
              <a:rPr lang="zh-CN" altLang="zh-CN" sz="2800" dirty="0" smtClean="0">
                <a:latin typeface="Times New Roman" pitchFamily="18" charset="0"/>
                <a:cs typeface="Times New Roman" pitchFamily="18" charset="0"/>
              </a:rPr>
              <a:t>、</a:t>
            </a:r>
            <a:r>
              <a:rPr lang="en-US" altLang="zh-CN" sz="2800" dirty="0" smtClean="0">
                <a:solidFill>
                  <a:srgbClr val="FF0000"/>
                </a:solidFill>
                <a:latin typeface="Times New Roman" pitchFamily="18" charset="0"/>
                <a:cs typeface="Times New Roman" pitchFamily="18" charset="0"/>
              </a:rPr>
              <a:t>succeeding criterion of test</a:t>
            </a:r>
            <a:r>
              <a:rPr lang="zh-CN" altLang="zh-CN" sz="2800" dirty="0" smtClean="0">
                <a:latin typeface="Times New Roman" pitchFamily="18" charset="0"/>
                <a:cs typeface="Times New Roman" pitchFamily="18" charset="0"/>
              </a:rPr>
              <a:t>、</a:t>
            </a:r>
            <a:r>
              <a:rPr lang="en-US" altLang="zh-CN" sz="2800" dirty="0" smtClean="0">
                <a:solidFill>
                  <a:srgbClr val="FF0000"/>
                </a:solidFill>
                <a:latin typeface="Times New Roman" pitchFamily="18" charset="0"/>
                <a:cs typeface="Times New Roman" pitchFamily="18" charset="0"/>
              </a:rPr>
              <a:t>safety requirements of test</a:t>
            </a:r>
            <a:r>
              <a:rPr lang="en-US" altLang="zh-CN" sz="2800" dirty="0" smtClean="0">
                <a:latin typeface="Times New Roman" pitchFamily="18" charset="0"/>
                <a:cs typeface="Times New Roman" pitchFamily="18" charset="0"/>
              </a:rPr>
              <a:t>.</a:t>
            </a:r>
            <a:endParaRPr lang="zh-CN" altLang="zh-CN" sz="2800" dirty="0" smtClean="0">
              <a:latin typeface="Times New Roman" pitchFamily="18" charset="0"/>
              <a:cs typeface="Times New Roman" pitchFamily="18" charset="0"/>
            </a:endParaRPr>
          </a:p>
          <a:p>
            <a:pPr>
              <a:buFont typeface="Wingdings" pitchFamily="2" charset="2"/>
              <a:buChar char="Ø"/>
            </a:pPr>
            <a:endParaRPr lang="zh-CN" altLang="zh-CN" sz="1800" dirty="0">
              <a:solidFill>
                <a:schemeClr val="tx1">
                  <a:lumMod val="95000"/>
                  <a:lumOff val="5000"/>
                </a:schemeClr>
              </a:solidFill>
              <a:uFill>
                <a:solidFill>
                  <a:schemeClr val="bg1"/>
                </a:solidFill>
              </a:uFill>
              <a:latin typeface="Times New Roman" pitchFamily="18" charset="0"/>
              <a:ea typeface="仿宋" pitchFamily="49" charset="-122"/>
              <a:cs typeface="Times New Roman" pitchFamily="18" charset="0"/>
            </a:endParaRPr>
          </a:p>
        </p:txBody>
      </p:sp>
    </p:spTree>
    <p:extLst>
      <p:ext uri="{BB962C8B-B14F-4D97-AF65-F5344CB8AC3E}">
        <p14:creationId xmlns:p14="http://schemas.microsoft.com/office/powerpoint/2010/main" val="447481722"/>
      </p:ext>
    </p:extLst>
  </p:cSld>
  <p:clrMapOvr>
    <a:masterClrMapping/>
  </p:clrMapOvr>
  <mc:AlternateContent xmlns:mc="http://schemas.openxmlformats.org/markup-compatibility/2006" xmlns:p14="http://schemas.microsoft.com/office/powerpoint/2010/main">
    <mc:Choice Requires="p14">
      <p:transition spd="slow" p14:dur="2000" advTm="31209"/>
    </mc:Choice>
    <mc:Fallback xmlns="">
      <p:transition spd="slow" advTm="31209"/>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1196752"/>
            <a:ext cx="9144000" cy="5184576"/>
          </a:xfrm>
        </p:spPr>
        <p:txBody>
          <a:bodyPr>
            <a:normAutofit lnSpcReduction="10000"/>
          </a:bodyPr>
          <a:lstStyle/>
          <a:p>
            <a:pPr marL="0" indent="0" algn="just">
              <a:buNone/>
            </a:pPr>
            <a:r>
              <a:rPr lang="en-US" altLang="zh-CN" dirty="0">
                <a:solidFill>
                  <a:srgbClr val="FF0000"/>
                </a:solidFill>
                <a:latin typeface="Times New Roman" pitchFamily="18" charset="0"/>
                <a:cs typeface="Times New Roman" pitchFamily="18" charset="0"/>
              </a:rPr>
              <a:t>Test objective </a:t>
            </a:r>
            <a:r>
              <a:rPr lang="en-US" altLang="zh-CN" sz="2400" dirty="0">
                <a:latin typeface="Times New Roman" pitchFamily="18" charset="0"/>
                <a:cs typeface="Times New Roman" pitchFamily="18" charset="0"/>
              </a:rPr>
              <a:t>as following</a:t>
            </a:r>
            <a:r>
              <a:rPr lang="zh-CN" altLang="zh-CN" sz="2400" dirty="0">
                <a:latin typeface="Times New Roman" pitchFamily="18" charset="0"/>
                <a:cs typeface="Times New Roman" pitchFamily="18" charset="0"/>
              </a:rPr>
              <a:t>：</a:t>
            </a:r>
          </a:p>
          <a:p>
            <a:pPr algn="just">
              <a:buFont typeface="Wingdings" pitchFamily="2" charset="2"/>
              <a:buChar char="Ø"/>
              <a:defRPr/>
            </a:pPr>
            <a:r>
              <a:rPr lang="en-US" altLang="zh-CN" sz="2400" dirty="0" smtClean="0">
                <a:latin typeface="Times New Roman" pitchFamily="18" charset="0"/>
                <a:cs typeface="Times New Roman" pitchFamily="18" charset="0"/>
              </a:rPr>
              <a:t>Demonstrate </a:t>
            </a:r>
            <a:r>
              <a:rPr lang="en-US" altLang="zh-CN" sz="2400" dirty="0">
                <a:latin typeface="Times New Roman" pitchFamily="18" charset="0"/>
                <a:cs typeface="Times New Roman" pitchFamily="18" charset="0"/>
              </a:rPr>
              <a:t>the capability of satellite to withstand acceptance vibration and acoustic environment .</a:t>
            </a:r>
          </a:p>
          <a:p>
            <a:pPr algn="just">
              <a:buFont typeface="Wingdings" pitchFamily="2" charset="2"/>
              <a:buChar char="Ø"/>
              <a:defRPr/>
            </a:pPr>
            <a:r>
              <a:rPr lang="en-US" altLang="zh-CN" sz="2400" dirty="0">
                <a:latin typeface="Times New Roman" pitchFamily="18" charset="0"/>
                <a:cs typeface="Times New Roman" pitchFamily="18" charset="0"/>
              </a:rPr>
              <a:t>Disclose the potential failures of materials, components and manufacture technology.</a:t>
            </a:r>
          </a:p>
          <a:p>
            <a:pPr algn="just">
              <a:buFont typeface="Wingdings" pitchFamily="2" charset="2"/>
              <a:buChar char="Ø"/>
              <a:defRPr/>
            </a:pPr>
            <a:r>
              <a:rPr lang="en-US" altLang="zh-CN" sz="2400" dirty="0">
                <a:latin typeface="Times New Roman" pitchFamily="18" charset="0"/>
                <a:cs typeface="Times New Roman" pitchFamily="18" charset="0"/>
              </a:rPr>
              <a:t>Acquire the response data that can validate the expected vibration requirement.</a:t>
            </a:r>
          </a:p>
          <a:p>
            <a:pPr algn="just">
              <a:buFont typeface="Wingdings" pitchFamily="2" charset="2"/>
              <a:buChar char="Ø"/>
              <a:defRPr/>
            </a:pPr>
            <a:r>
              <a:rPr lang="en-US" altLang="zh-CN" sz="2400" dirty="0">
                <a:latin typeface="Times New Roman" pitchFamily="18" charset="0"/>
                <a:cs typeface="Times New Roman" pitchFamily="18" charset="0"/>
              </a:rPr>
              <a:t>Check the units that can’t undergoing unit-level vibration test separately.   </a:t>
            </a:r>
            <a:endParaRPr lang="zh-CN" altLang="zh-CN" sz="2400" dirty="0">
              <a:latin typeface="Times New Roman" pitchFamily="18" charset="0"/>
              <a:cs typeface="Times New Roman" pitchFamily="18" charset="0"/>
            </a:endParaRPr>
          </a:p>
          <a:p>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16</a:t>
            </a:fld>
            <a:r>
              <a:rPr lang="zh-CN" altLang="en-US" smtClean="0"/>
              <a:t> </a:t>
            </a:r>
            <a:endParaRPr lang="zh-CN" altLang="en-US" dirty="0">
              <a:latin typeface="微软雅黑" pitchFamily="34" charset="-122"/>
              <a:ea typeface="微软雅黑" pitchFamily="34" charset="-122"/>
            </a:endParaRPr>
          </a:p>
        </p:txBody>
      </p:sp>
      <p:sp>
        <p:nvSpPr>
          <p:cNvPr id="8" name="标题 1"/>
          <p:cNvSpPr>
            <a:spLocks noGrp="1"/>
          </p:cNvSpPr>
          <p:nvPr>
            <p:ph type="title"/>
          </p:nvPr>
        </p:nvSpPr>
        <p:spPr>
          <a:xfrm>
            <a:off x="457200" y="274638"/>
            <a:ext cx="8229600" cy="1082660"/>
          </a:xfrm>
        </p:spPr>
        <p:txBody>
          <a:bodyPr/>
          <a:lstStyle/>
          <a:p>
            <a:pPr marL="514350" indent="-514350"/>
            <a:r>
              <a:rPr lang="en-US" altLang="zh-CN" b="0" dirty="0"/>
              <a:t>vibration test </a:t>
            </a:r>
            <a:r>
              <a:rPr lang="en-US" altLang="zh-CN" b="0" dirty="0" smtClean="0"/>
              <a:t>attention</a:t>
            </a:r>
            <a:endParaRPr lang="en-US" altLang="zh-CN" b="0" dirty="0"/>
          </a:p>
        </p:txBody>
      </p:sp>
    </p:spTree>
    <p:extLst>
      <p:ext uri="{BB962C8B-B14F-4D97-AF65-F5344CB8AC3E}">
        <p14:creationId xmlns:p14="http://schemas.microsoft.com/office/powerpoint/2010/main" val="616431206"/>
      </p:ext>
    </p:extLst>
  </p:cSld>
  <p:clrMapOvr>
    <a:masterClrMapping/>
  </p:clrMapOvr>
  <mc:AlternateContent xmlns:mc="http://schemas.openxmlformats.org/markup-compatibility/2006" xmlns:p14="http://schemas.microsoft.com/office/powerpoint/2010/main">
    <mc:Choice Requires="p14">
      <p:transition spd="slow" p14:dur="2000" advTm="36978"/>
    </mc:Choice>
    <mc:Fallback xmlns="">
      <p:transition spd="slow" advTm="36978"/>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1196752"/>
            <a:ext cx="9144000" cy="5256584"/>
          </a:xfrm>
        </p:spPr>
        <p:txBody>
          <a:bodyPr>
            <a:normAutofit fontScale="25000" lnSpcReduction="20000"/>
          </a:bodyPr>
          <a:lstStyle/>
          <a:p>
            <a:pPr marL="0" lvl="0" indent="0">
              <a:buNone/>
            </a:pPr>
            <a:r>
              <a:rPr lang="en-US" altLang="zh-CN" sz="8000" dirty="0">
                <a:solidFill>
                  <a:srgbClr val="FF0000"/>
                </a:solidFill>
                <a:latin typeface="Times New Roman" pitchFamily="18" charset="0"/>
                <a:cs typeface="Times New Roman" pitchFamily="18" charset="0"/>
              </a:rPr>
              <a:t>TECHNICAL STATUS</a:t>
            </a:r>
            <a:endParaRPr lang="zh-CN" altLang="zh-CN" sz="8000" dirty="0">
              <a:solidFill>
                <a:srgbClr val="FF0000"/>
              </a:solidFill>
              <a:latin typeface="Times New Roman" pitchFamily="18" charset="0"/>
              <a:cs typeface="Times New Roman" pitchFamily="18" charset="0"/>
            </a:endParaRPr>
          </a:p>
          <a:p>
            <a:pPr marL="342900" lvl="1" indent="-342900">
              <a:buFont typeface="+mj-lt"/>
              <a:buAutoNum type="arabicPeriod"/>
            </a:pPr>
            <a:r>
              <a:rPr lang="en-US" altLang="zh-CN" sz="8000" dirty="0" smtClean="0">
                <a:latin typeface="Times New Roman" pitchFamily="18" charset="0"/>
                <a:cs typeface="Times New Roman" pitchFamily="18" charset="0"/>
              </a:rPr>
              <a:t>Satellite </a:t>
            </a:r>
            <a:r>
              <a:rPr lang="en-US" altLang="zh-CN" sz="8000" dirty="0">
                <a:latin typeface="Times New Roman" pitchFamily="18" charset="0"/>
                <a:cs typeface="Times New Roman" pitchFamily="18" charset="0"/>
              </a:rPr>
              <a:t>coordinate and </a:t>
            </a:r>
            <a:r>
              <a:rPr lang="en-US" altLang="zh-CN" sz="8000" dirty="0" smtClean="0">
                <a:latin typeface="Times New Roman" pitchFamily="18" charset="0"/>
                <a:cs typeface="Times New Roman" pitchFamily="18" charset="0"/>
              </a:rPr>
              <a:t>quadrant——</a:t>
            </a:r>
            <a:r>
              <a:rPr lang="en-US" altLang="zh-CN" sz="7200" b="0" dirty="0">
                <a:solidFill>
                  <a:srgbClr val="FF0000"/>
                </a:solidFill>
              </a:rPr>
              <a:t>decides the direction of test</a:t>
            </a:r>
            <a:endParaRPr lang="en-US" altLang="zh-CN" sz="35200" b="0" dirty="0">
              <a:solidFill>
                <a:srgbClr val="FF0000"/>
              </a:solidFill>
              <a:latin typeface="Times New Roman" pitchFamily="18" charset="0"/>
              <a:cs typeface="Times New Roman" pitchFamily="18" charset="0"/>
            </a:endParaRPr>
          </a:p>
          <a:p>
            <a:pPr marL="342900" lvl="1" indent="-342900">
              <a:buFont typeface="+mj-lt"/>
              <a:buAutoNum type="arabicPeriod"/>
            </a:pPr>
            <a:r>
              <a:rPr lang="en-US" altLang="zh-CN" sz="8000" dirty="0">
                <a:latin typeface="Times New Roman" pitchFamily="18" charset="0"/>
                <a:cs typeface="Times New Roman" pitchFamily="18" charset="0"/>
              </a:rPr>
              <a:t>main parameter-----</a:t>
            </a:r>
            <a:r>
              <a:rPr lang="en-US" altLang="zh-CN" sz="8000" dirty="0" smtClean="0">
                <a:latin typeface="Times New Roman" pitchFamily="18" charset="0"/>
                <a:cs typeface="Times New Roman" pitchFamily="18" charset="0"/>
              </a:rPr>
              <a:t>dimension</a:t>
            </a:r>
          </a:p>
          <a:p>
            <a:pPr marL="0" lvl="1" indent="457200">
              <a:buNone/>
            </a:pPr>
            <a:r>
              <a:rPr lang="en-US" altLang="zh-CN" sz="8000" b="0" dirty="0" smtClean="0">
                <a:latin typeface="Times New Roman" pitchFamily="18" charset="0"/>
                <a:cs typeface="Times New Roman" pitchFamily="18" charset="0"/>
              </a:rPr>
              <a:t>1)Satellite </a:t>
            </a:r>
            <a:r>
              <a:rPr lang="en-US" altLang="zh-CN" sz="8000" b="0" dirty="0">
                <a:latin typeface="Times New Roman" pitchFamily="18" charset="0"/>
                <a:cs typeface="Times New Roman" pitchFamily="18" charset="0"/>
              </a:rPr>
              <a:t>body </a:t>
            </a:r>
            <a:r>
              <a:rPr lang="en-US" altLang="zh-CN" sz="8000" b="0" dirty="0" smtClean="0">
                <a:latin typeface="Times New Roman" pitchFamily="18" charset="0"/>
                <a:cs typeface="Times New Roman" pitchFamily="18" charset="0"/>
              </a:rPr>
              <a:t>dimension;</a:t>
            </a:r>
            <a:endParaRPr lang="en-US" altLang="zh-CN" sz="8000" b="0" dirty="0">
              <a:latin typeface="Times New Roman" pitchFamily="18" charset="0"/>
              <a:cs typeface="Times New Roman" pitchFamily="18" charset="0"/>
            </a:endParaRPr>
          </a:p>
          <a:p>
            <a:pPr marL="0" lvl="1" indent="457200">
              <a:buNone/>
            </a:pPr>
            <a:r>
              <a:rPr lang="en-US" altLang="zh-CN" sz="8000" b="0" dirty="0" smtClean="0">
                <a:latin typeface="Times New Roman" pitchFamily="18" charset="0"/>
                <a:cs typeface="Times New Roman" pitchFamily="18" charset="0"/>
              </a:rPr>
              <a:t>2)Launching dimension;</a:t>
            </a:r>
            <a:endParaRPr lang="en-US" altLang="zh-CN" sz="8000" b="0" dirty="0">
              <a:latin typeface="Times New Roman" pitchFamily="18" charset="0"/>
              <a:cs typeface="Times New Roman" pitchFamily="18" charset="0"/>
            </a:endParaRPr>
          </a:p>
          <a:p>
            <a:pPr marL="0" lvl="1" indent="457200">
              <a:buNone/>
            </a:pPr>
            <a:r>
              <a:rPr lang="en-US" altLang="zh-CN" sz="8000" b="0" dirty="0" smtClean="0">
                <a:latin typeface="Times New Roman" pitchFamily="18" charset="0"/>
                <a:cs typeface="Times New Roman" pitchFamily="18" charset="0"/>
              </a:rPr>
              <a:t>3)Satellite-rocket interface;</a:t>
            </a:r>
          </a:p>
          <a:p>
            <a:pPr marL="0" lvl="1" indent="457200">
              <a:buNone/>
            </a:pPr>
            <a:r>
              <a:rPr lang="en-US" altLang="zh-CN" sz="8000" b="0" dirty="0">
                <a:latin typeface="Times New Roman" pitchFamily="18" charset="0"/>
                <a:cs typeface="Times New Roman" pitchFamily="18" charset="0"/>
              </a:rPr>
              <a:t>4)Principium analysis for the whole mass property</a:t>
            </a:r>
            <a:r>
              <a:rPr lang="zh-CN" altLang="en-US" sz="8000" b="0" dirty="0">
                <a:latin typeface="Times New Roman" pitchFamily="18" charset="0"/>
                <a:cs typeface="Times New Roman" pitchFamily="18" charset="0"/>
              </a:rPr>
              <a:t>（</a:t>
            </a:r>
            <a:r>
              <a:rPr lang="en-US" altLang="zh-CN" sz="8000" b="0" dirty="0">
                <a:latin typeface="Times New Roman" pitchFamily="18" charset="0"/>
                <a:cs typeface="Times New Roman" pitchFamily="18" charset="0"/>
              </a:rPr>
              <a:t>such as center of mass and </a:t>
            </a:r>
            <a:endParaRPr lang="en-US" altLang="zh-CN" sz="8000" b="0" dirty="0" smtClean="0">
              <a:latin typeface="Times New Roman" pitchFamily="18" charset="0"/>
              <a:cs typeface="Times New Roman" pitchFamily="18" charset="0"/>
            </a:endParaRPr>
          </a:p>
          <a:p>
            <a:pPr marL="0" lvl="1" indent="457200">
              <a:buNone/>
            </a:pPr>
            <a:r>
              <a:rPr lang="en-US" altLang="zh-CN" sz="8000" b="0" dirty="0">
                <a:latin typeface="Times New Roman" pitchFamily="18" charset="0"/>
                <a:cs typeface="Times New Roman" pitchFamily="18" charset="0"/>
              </a:rPr>
              <a:t> </a:t>
            </a:r>
            <a:r>
              <a:rPr lang="en-US" altLang="zh-CN" sz="8000" b="0" dirty="0" smtClean="0">
                <a:latin typeface="Times New Roman" pitchFamily="18" charset="0"/>
                <a:cs typeface="Times New Roman" pitchFamily="18" charset="0"/>
              </a:rPr>
              <a:t>    center </a:t>
            </a:r>
            <a:r>
              <a:rPr lang="en-US" altLang="zh-CN" sz="8000" b="0" dirty="0">
                <a:latin typeface="Times New Roman" pitchFamily="18" charset="0"/>
                <a:cs typeface="Times New Roman" pitchFamily="18" charset="0"/>
              </a:rPr>
              <a:t>of mass inertia</a:t>
            </a:r>
            <a:r>
              <a:rPr lang="zh-CN" altLang="en-US" sz="8000" b="0" dirty="0">
                <a:latin typeface="Times New Roman" pitchFamily="18" charset="0"/>
                <a:cs typeface="Times New Roman" pitchFamily="18" charset="0"/>
              </a:rPr>
              <a:t>）</a:t>
            </a:r>
            <a:r>
              <a:rPr lang="en-US" altLang="zh-CN" sz="8000" b="0" dirty="0">
                <a:latin typeface="Times New Roman" pitchFamily="18" charset="0"/>
                <a:cs typeface="Times New Roman" pitchFamily="18" charset="0"/>
              </a:rPr>
              <a:t>;</a:t>
            </a:r>
            <a:endParaRPr lang="zh-CN" altLang="en-US" sz="8000" b="0" dirty="0">
              <a:latin typeface="Times New Roman" pitchFamily="18" charset="0"/>
              <a:cs typeface="Times New Roman" pitchFamily="18" charset="0"/>
            </a:endParaRPr>
          </a:p>
          <a:p>
            <a:pPr marL="457200" lvl="1" indent="-457200">
              <a:buFont typeface="+mj-lt"/>
              <a:buAutoNum type="arabicPeriod" startAt="3"/>
            </a:pPr>
            <a:r>
              <a:rPr lang="en-US" altLang="zh-CN" sz="8000" dirty="0" smtClean="0">
                <a:latin typeface="Times New Roman" pitchFamily="18" charset="0"/>
                <a:cs typeface="Times New Roman" pitchFamily="18" charset="0"/>
              </a:rPr>
              <a:t>Main </a:t>
            </a:r>
            <a:r>
              <a:rPr lang="en-US" altLang="zh-CN" sz="8000" dirty="0">
                <a:latin typeface="Times New Roman" pitchFamily="18" charset="0"/>
                <a:cs typeface="Times New Roman" pitchFamily="18" charset="0"/>
              </a:rPr>
              <a:t>technical state</a:t>
            </a:r>
            <a:endParaRPr lang="zh-CN" altLang="zh-CN" sz="8000" dirty="0">
              <a:latin typeface="Times New Roman" pitchFamily="18" charset="0"/>
              <a:cs typeface="Times New Roman" pitchFamily="18" charset="0"/>
            </a:endParaRPr>
          </a:p>
          <a:p>
            <a:pPr marL="0" lvl="1" indent="457200">
              <a:buNone/>
            </a:pPr>
            <a:r>
              <a:rPr lang="en-US" altLang="zh-CN" sz="8000" b="0" dirty="0" smtClean="0">
                <a:latin typeface="Times New Roman" pitchFamily="18" charset="0"/>
                <a:cs typeface="Times New Roman" pitchFamily="18" charset="0"/>
              </a:rPr>
              <a:t>1)All </a:t>
            </a:r>
            <a:r>
              <a:rPr lang="en-US" altLang="zh-CN" sz="8000" b="0" dirty="0">
                <a:latin typeface="Times New Roman" pitchFamily="18" charset="0"/>
                <a:cs typeface="Times New Roman" pitchFamily="18" charset="0"/>
              </a:rPr>
              <a:t>the product on the satellite should be flight module;</a:t>
            </a:r>
          </a:p>
          <a:p>
            <a:pPr marL="0" lvl="1" indent="457200">
              <a:buNone/>
            </a:pPr>
            <a:r>
              <a:rPr lang="en-US" altLang="zh-CN" sz="8000" b="0" dirty="0" smtClean="0">
                <a:latin typeface="Times New Roman" pitchFamily="18" charset="0"/>
                <a:cs typeface="Times New Roman" pitchFamily="18" charset="0"/>
              </a:rPr>
              <a:t>2)The </a:t>
            </a:r>
            <a:r>
              <a:rPr lang="en-US" altLang="zh-CN" sz="8000" b="0" dirty="0">
                <a:latin typeface="Times New Roman" pitchFamily="18" charset="0"/>
                <a:cs typeface="Times New Roman" pitchFamily="18" charset="0"/>
              </a:rPr>
              <a:t>thermal control of the satellite is complete;</a:t>
            </a:r>
          </a:p>
          <a:p>
            <a:pPr marL="0" lvl="1" indent="457200">
              <a:buNone/>
            </a:pPr>
            <a:r>
              <a:rPr lang="en-US" altLang="zh-CN" sz="8000" b="0" dirty="0" smtClean="0">
                <a:latin typeface="Times New Roman" pitchFamily="18" charset="0"/>
                <a:cs typeface="Times New Roman" pitchFamily="18" charset="0"/>
              </a:rPr>
              <a:t>3)All </a:t>
            </a:r>
            <a:r>
              <a:rPr lang="en-US" altLang="zh-CN" sz="8000" b="0" dirty="0">
                <a:latin typeface="Times New Roman" pitchFamily="18" charset="0"/>
                <a:cs typeface="Times New Roman" pitchFamily="18" charset="0"/>
              </a:rPr>
              <a:t>vibration sensors have been installed;</a:t>
            </a:r>
          </a:p>
          <a:p>
            <a:pPr marL="0" lvl="1" indent="457200">
              <a:buNone/>
            </a:pPr>
            <a:r>
              <a:rPr lang="en-US" altLang="zh-CN" sz="8000" b="0" dirty="0" smtClean="0">
                <a:latin typeface="Times New Roman" pitchFamily="18" charset="0"/>
                <a:cs typeface="Times New Roman" pitchFamily="18" charset="0"/>
              </a:rPr>
              <a:t>4)The </a:t>
            </a:r>
            <a:r>
              <a:rPr lang="en-US" altLang="zh-CN" sz="8000" b="0" dirty="0">
                <a:latin typeface="Times New Roman" pitchFamily="18" charset="0"/>
                <a:cs typeface="Times New Roman" pitchFamily="18" charset="0"/>
              </a:rPr>
              <a:t>whole satellite is implemented the grounding. </a:t>
            </a:r>
          </a:p>
          <a:p>
            <a:endParaRPr lang="en-US" altLang="zh-CN" dirty="0" smtClean="0"/>
          </a:p>
          <a:p>
            <a:pPr marL="0" indent="0">
              <a:buNone/>
            </a:pPr>
            <a:r>
              <a:rPr lang="en-US" altLang="zh-CN" sz="1200" dirty="0" smtClean="0"/>
              <a:t>                                               </a:t>
            </a:r>
            <a:endParaRPr lang="zh-CN" altLang="en-US" sz="1200"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17</a:t>
            </a:fld>
            <a:r>
              <a:rPr lang="zh-CN" altLang="en-US" smtClean="0"/>
              <a:t> </a:t>
            </a:r>
            <a:endParaRPr lang="zh-CN" altLang="en-US" dirty="0">
              <a:latin typeface="微软雅黑" pitchFamily="34" charset="-122"/>
              <a:ea typeface="微软雅黑" pitchFamily="34" charset="-122"/>
            </a:endParaRPr>
          </a:p>
        </p:txBody>
      </p:sp>
      <p:sp>
        <p:nvSpPr>
          <p:cNvPr id="8" name="标题 1"/>
          <p:cNvSpPr>
            <a:spLocks noGrp="1"/>
          </p:cNvSpPr>
          <p:nvPr>
            <p:ph type="title"/>
          </p:nvPr>
        </p:nvSpPr>
        <p:spPr>
          <a:xfrm>
            <a:off x="457200" y="274638"/>
            <a:ext cx="8229600" cy="1082660"/>
          </a:xfrm>
        </p:spPr>
        <p:txBody>
          <a:bodyPr/>
          <a:lstStyle/>
          <a:p>
            <a:pPr marL="514350" indent="-514350"/>
            <a:r>
              <a:rPr lang="en-US" altLang="zh-CN" b="0" dirty="0"/>
              <a:t>vibration test </a:t>
            </a:r>
            <a:r>
              <a:rPr lang="en-US" altLang="zh-CN" b="0" dirty="0" smtClean="0"/>
              <a:t>attention</a:t>
            </a:r>
            <a:endParaRPr lang="en-US" altLang="zh-CN" b="0" dirty="0"/>
          </a:p>
        </p:txBody>
      </p:sp>
    </p:spTree>
    <p:extLst>
      <p:ext uri="{BB962C8B-B14F-4D97-AF65-F5344CB8AC3E}">
        <p14:creationId xmlns:p14="http://schemas.microsoft.com/office/powerpoint/2010/main" val="3027741341"/>
      </p:ext>
    </p:extLst>
  </p:cSld>
  <p:clrMapOvr>
    <a:masterClrMapping/>
  </p:clrMapOvr>
  <mc:AlternateContent xmlns:mc="http://schemas.openxmlformats.org/markup-compatibility/2006" xmlns:p14="http://schemas.microsoft.com/office/powerpoint/2010/main">
    <mc:Choice Requires="p14">
      <p:transition spd="slow" p14:dur="2000" advTm="106002"/>
    </mc:Choice>
    <mc:Fallback xmlns="">
      <p:transition spd="slow" advTm="106002"/>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fontScale="77500" lnSpcReduction="20000"/>
          </a:bodyPr>
          <a:lstStyle/>
          <a:p>
            <a:pPr marL="0" lvl="0" indent="0">
              <a:buNone/>
            </a:pPr>
            <a:r>
              <a:rPr lang="en-US" altLang="zh-CN" sz="3100" dirty="0">
                <a:solidFill>
                  <a:srgbClr val="FF0000"/>
                </a:solidFill>
                <a:latin typeface="Times New Roman" pitchFamily="18" charset="0"/>
                <a:cs typeface="Times New Roman" pitchFamily="18" charset="0"/>
              </a:rPr>
              <a:t>TEST FIELD REQUIREMENTS</a:t>
            </a:r>
            <a:endParaRPr lang="en-US" altLang="zh-CN" sz="3100" dirty="0" smtClean="0">
              <a:solidFill>
                <a:srgbClr val="FF0000"/>
              </a:solidFill>
              <a:latin typeface="Times New Roman" pitchFamily="18" charset="0"/>
              <a:cs typeface="Times New Roman" pitchFamily="18" charset="0"/>
            </a:endParaRPr>
          </a:p>
          <a:p>
            <a:pPr lvl="0" algn="just">
              <a:buFont typeface="Wingdings" pitchFamily="2" charset="2"/>
              <a:buChar char="Ø"/>
            </a:pPr>
            <a:r>
              <a:rPr lang="en-US" altLang="zh-CN" sz="2600" b="0" dirty="0" smtClean="0">
                <a:latin typeface="Times New Roman" pitchFamily="18" charset="0"/>
                <a:cs typeface="Times New Roman" pitchFamily="18" charset="0"/>
              </a:rPr>
              <a:t>Test </a:t>
            </a:r>
            <a:r>
              <a:rPr lang="en-US" altLang="zh-CN" sz="2600" b="0" dirty="0">
                <a:latin typeface="Times New Roman" pitchFamily="18" charset="0"/>
                <a:cs typeface="Times New Roman" pitchFamily="18" charset="0"/>
              </a:rPr>
              <a:t>field should meet the lifting, parking, handling space;</a:t>
            </a:r>
            <a:endParaRPr lang="zh-CN" altLang="zh-CN" sz="2600" b="0" dirty="0">
              <a:latin typeface="Times New Roman" pitchFamily="18" charset="0"/>
              <a:cs typeface="Times New Roman" pitchFamily="18" charset="0"/>
            </a:endParaRPr>
          </a:p>
          <a:p>
            <a:pPr lvl="0" algn="just">
              <a:buFont typeface="Wingdings" pitchFamily="2" charset="2"/>
              <a:buChar char="Ø"/>
            </a:pPr>
            <a:r>
              <a:rPr lang="en-US" altLang="zh-CN" sz="2600" b="0" dirty="0">
                <a:latin typeface="Times New Roman" pitchFamily="18" charset="0"/>
                <a:cs typeface="Times New Roman" pitchFamily="18" charset="0"/>
              </a:rPr>
              <a:t>Test field should meet the requirement of the satellite test on the ground;</a:t>
            </a:r>
            <a:endParaRPr lang="zh-CN" altLang="zh-CN" sz="2600" b="0" dirty="0">
              <a:latin typeface="Times New Roman" pitchFamily="18" charset="0"/>
              <a:cs typeface="Times New Roman" pitchFamily="18" charset="0"/>
            </a:endParaRPr>
          </a:p>
          <a:p>
            <a:pPr lvl="0" algn="just">
              <a:buFont typeface="Wingdings" pitchFamily="2" charset="2"/>
              <a:buChar char="Ø"/>
            </a:pPr>
            <a:r>
              <a:rPr lang="en-US" altLang="zh-CN" sz="2600" b="0" dirty="0">
                <a:latin typeface="Times New Roman" pitchFamily="18" charset="0"/>
                <a:cs typeface="Times New Roman" pitchFamily="18" charset="0"/>
              </a:rPr>
              <a:t>Field environment requirement:</a:t>
            </a:r>
            <a:endParaRPr lang="zh-CN" altLang="zh-CN" sz="2600" b="0" dirty="0">
              <a:latin typeface="Times New Roman" pitchFamily="18" charset="0"/>
              <a:cs typeface="Times New Roman" pitchFamily="18" charset="0"/>
            </a:endParaRPr>
          </a:p>
          <a:p>
            <a:pPr algn="just"/>
            <a:r>
              <a:rPr lang="en-US" altLang="zh-CN" sz="2600" b="0" dirty="0" smtClean="0">
                <a:latin typeface="Times New Roman" pitchFamily="18" charset="0"/>
                <a:cs typeface="Times New Roman" pitchFamily="18" charset="0"/>
              </a:rPr>
              <a:t>Air </a:t>
            </a:r>
            <a:r>
              <a:rPr lang="en-US" altLang="zh-CN" sz="2600" b="0" dirty="0">
                <a:latin typeface="Times New Roman" pitchFamily="18" charset="0"/>
                <a:cs typeface="Times New Roman" pitchFamily="18" charset="0"/>
              </a:rPr>
              <a:t>cleanliness: class 100000;</a:t>
            </a:r>
            <a:endParaRPr lang="zh-CN" altLang="zh-CN" sz="2600" b="0" dirty="0">
              <a:latin typeface="Times New Roman" pitchFamily="18" charset="0"/>
              <a:cs typeface="Times New Roman" pitchFamily="18" charset="0"/>
            </a:endParaRPr>
          </a:p>
          <a:p>
            <a:pPr algn="just"/>
            <a:r>
              <a:rPr lang="en-US" altLang="zh-CN" sz="2600" b="0" dirty="0">
                <a:latin typeface="Times New Roman" pitchFamily="18" charset="0"/>
                <a:cs typeface="Times New Roman" pitchFamily="18" charset="0"/>
              </a:rPr>
              <a:t>Temperature: 15°C</a:t>
            </a:r>
            <a:r>
              <a:rPr lang="zh-CN" altLang="zh-CN" sz="2600" b="0" dirty="0">
                <a:latin typeface="Times New Roman" pitchFamily="18" charset="0"/>
                <a:cs typeface="Times New Roman" pitchFamily="18" charset="0"/>
              </a:rPr>
              <a:t>～</a:t>
            </a:r>
            <a:r>
              <a:rPr lang="en-US" altLang="zh-CN" sz="2600" b="0" dirty="0">
                <a:latin typeface="Times New Roman" pitchFamily="18" charset="0"/>
                <a:cs typeface="Times New Roman" pitchFamily="18" charset="0"/>
              </a:rPr>
              <a:t>25°C;</a:t>
            </a:r>
            <a:endParaRPr lang="zh-CN" altLang="zh-CN" sz="2600" b="0" dirty="0">
              <a:latin typeface="Times New Roman" pitchFamily="18" charset="0"/>
              <a:cs typeface="Times New Roman" pitchFamily="18" charset="0"/>
            </a:endParaRPr>
          </a:p>
          <a:p>
            <a:pPr algn="just"/>
            <a:r>
              <a:rPr lang="en-US" altLang="zh-CN" sz="2600" b="0" dirty="0">
                <a:latin typeface="Times New Roman" pitchFamily="18" charset="0"/>
                <a:cs typeface="Times New Roman" pitchFamily="18" charset="0"/>
              </a:rPr>
              <a:t>Relative humidity: 30%</a:t>
            </a:r>
            <a:r>
              <a:rPr lang="zh-CN" altLang="zh-CN" sz="2600" b="0" dirty="0">
                <a:latin typeface="Times New Roman" pitchFamily="18" charset="0"/>
                <a:cs typeface="Times New Roman" pitchFamily="18" charset="0"/>
              </a:rPr>
              <a:t>～</a:t>
            </a:r>
            <a:r>
              <a:rPr lang="en-US" altLang="zh-CN" sz="2600" b="0" dirty="0">
                <a:latin typeface="Times New Roman" pitchFamily="18" charset="0"/>
                <a:cs typeface="Times New Roman" pitchFamily="18" charset="0"/>
              </a:rPr>
              <a:t>60%;</a:t>
            </a:r>
            <a:endParaRPr lang="zh-CN" altLang="zh-CN" sz="2600" b="0" dirty="0">
              <a:latin typeface="Times New Roman" pitchFamily="18" charset="0"/>
              <a:cs typeface="Times New Roman" pitchFamily="18" charset="0"/>
            </a:endParaRPr>
          </a:p>
          <a:p>
            <a:pPr algn="just"/>
            <a:r>
              <a:rPr lang="en-US" altLang="zh-CN" sz="2600" b="0" dirty="0">
                <a:latin typeface="Times New Roman" pitchFamily="18" charset="0"/>
                <a:cs typeface="Times New Roman" pitchFamily="18" charset="0"/>
              </a:rPr>
              <a:t>There are no articles of irrelevant test;</a:t>
            </a:r>
            <a:endParaRPr lang="zh-CN" altLang="zh-CN" sz="2600" b="0" dirty="0">
              <a:latin typeface="Times New Roman" pitchFamily="18" charset="0"/>
              <a:cs typeface="Times New Roman" pitchFamily="18" charset="0"/>
            </a:endParaRPr>
          </a:p>
          <a:p>
            <a:pPr lvl="0" algn="just">
              <a:buFont typeface="Wingdings" pitchFamily="2" charset="2"/>
              <a:buChar char="Ø"/>
            </a:pPr>
            <a:r>
              <a:rPr lang="en-US" altLang="zh-CN" sz="2600" b="0" dirty="0">
                <a:latin typeface="Times New Roman" pitchFamily="18" charset="0"/>
                <a:cs typeface="Times New Roman" pitchFamily="18" charset="0"/>
              </a:rPr>
              <a:t>The person who will enter testing field should pull on special clothing, accept air shower, and observe requirements of the test field and environment protection.</a:t>
            </a:r>
            <a:endParaRPr lang="zh-CN" altLang="zh-CN" sz="2600" b="0" dirty="0">
              <a:latin typeface="Times New Roman" pitchFamily="18" charset="0"/>
              <a:cs typeface="Times New Roman" pitchFamily="18" charset="0"/>
            </a:endParaRPr>
          </a:p>
          <a:p>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18</a:t>
            </a:fld>
            <a:r>
              <a:rPr lang="zh-CN" altLang="en-US" smtClean="0"/>
              <a:t> </a:t>
            </a:r>
            <a:endParaRPr lang="zh-CN" altLang="en-US" dirty="0">
              <a:latin typeface="微软雅黑" pitchFamily="34" charset="-122"/>
              <a:ea typeface="微软雅黑" pitchFamily="34" charset="-122"/>
            </a:endParaRPr>
          </a:p>
        </p:txBody>
      </p:sp>
      <p:sp>
        <p:nvSpPr>
          <p:cNvPr id="7" name="标题 1"/>
          <p:cNvSpPr>
            <a:spLocks noGrp="1"/>
          </p:cNvSpPr>
          <p:nvPr>
            <p:ph type="title"/>
          </p:nvPr>
        </p:nvSpPr>
        <p:spPr>
          <a:xfrm>
            <a:off x="457200" y="274638"/>
            <a:ext cx="8229600" cy="1082660"/>
          </a:xfrm>
        </p:spPr>
        <p:txBody>
          <a:bodyPr/>
          <a:lstStyle/>
          <a:p>
            <a:pPr marL="514350" indent="-514350"/>
            <a:r>
              <a:rPr lang="en-US" altLang="zh-CN" b="0" dirty="0"/>
              <a:t>vibration test </a:t>
            </a:r>
            <a:r>
              <a:rPr lang="en-US" altLang="zh-CN" b="0" dirty="0" smtClean="0"/>
              <a:t>attention</a:t>
            </a:r>
            <a:endParaRPr lang="en-US" altLang="zh-CN" b="0" dirty="0"/>
          </a:p>
        </p:txBody>
      </p:sp>
    </p:spTree>
    <p:extLst>
      <p:ext uri="{BB962C8B-B14F-4D97-AF65-F5344CB8AC3E}">
        <p14:creationId xmlns:p14="http://schemas.microsoft.com/office/powerpoint/2010/main" val="2586638624"/>
      </p:ext>
    </p:extLst>
  </p:cSld>
  <p:clrMapOvr>
    <a:masterClrMapping/>
  </p:clrMapOvr>
  <mc:AlternateContent xmlns:mc="http://schemas.openxmlformats.org/markup-compatibility/2006" xmlns:p14="http://schemas.microsoft.com/office/powerpoint/2010/main">
    <mc:Choice Requires="p14">
      <p:transition spd="slow" p14:dur="2000" advTm="48032"/>
    </mc:Choice>
    <mc:Fallback xmlns="">
      <p:transition spd="slow" advTm="48032"/>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19</a:t>
            </a:fld>
            <a:r>
              <a:rPr lang="zh-CN" altLang="en-US" smtClean="0"/>
              <a:t> </a:t>
            </a:r>
            <a:endParaRPr lang="zh-CN" altLang="en-US" dirty="0">
              <a:latin typeface="微软雅黑" pitchFamily="34" charset="-122"/>
              <a:ea typeface="微软雅黑" pitchFamily="34" charset="-122"/>
            </a:endParaRPr>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2043714296"/>
              </p:ext>
            </p:extLst>
          </p:nvPr>
        </p:nvGraphicFramePr>
        <p:xfrm>
          <a:off x="562463" y="2780928"/>
          <a:ext cx="8019073" cy="3528392"/>
        </p:xfrm>
        <a:graphic>
          <a:graphicData uri="http://schemas.openxmlformats.org/presentationml/2006/ole">
            <mc:AlternateContent xmlns:mc="http://schemas.openxmlformats.org/markup-compatibility/2006">
              <mc:Choice xmlns:v="urn:schemas-microsoft-com:vml" Requires="v">
                <p:oleObj spid="_x0000_s2068" name="Visio" r:id="rId3" imgW="8232842" imgH="3563026" progId="Visio.Drawing.11">
                  <p:embed/>
                </p:oleObj>
              </mc:Choice>
              <mc:Fallback>
                <p:oleObj name="Visio" r:id="rId3" imgW="8232842" imgH="3563026" progId="Visio.Drawing.11">
                  <p:embed/>
                  <p:pic>
                    <p:nvPicPr>
                      <p:cNvPr id="0" name=""/>
                      <p:cNvPicPr>
                        <a:picLocks noChangeAspect="1" noChangeArrowheads="1"/>
                      </p:cNvPicPr>
                      <p:nvPr/>
                    </p:nvPicPr>
                    <p:blipFill>
                      <a:blip r:embed="rId4"/>
                      <a:srcRect l="5176" r="5043"/>
                      <a:stretch>
                        <a:fillRect/>
                      </a:stretch>
                    </p:blipFill>
                    <p:spPr bwMode="auto">
                      <a:xfrm>
                        <a:off x="562463" y="2780928"/>
                        <a:ext cx="8019073" cy="3528392"/>
                      </a:xfrm>
                      <a:prstGeom prst="rect">
                        <a:avLst/>
                      </a:prstGeom>
                      <a:noFill/>
                      <a:extLst/>
                    </p:spPr>
                  </p:pic>
                </p:oleObj>
              </mc:Fallback>
            </mc:AlternateContent>
          </a:graphicData>
        </a:graphic>
      </p:graphicFrame>
      <p:sp>
        <p:nvSpPr>
          <p:cNvPr id="3" name="矩形 2"/>
          <p:cNvSpPr/>
          <p:nvPr/>
        </p:nvSpPr>
        <p:spPr>
          <a:xfrm>
            <a:off x="107504" y="1196752"/>
            <a:ext cx="2396746" cy="523220"/>
          </a:xfrm>
          <a:prstGeom prst="rect">
            <a:avLst/>
          </a:prstGeom>
        </p:spPr>
        <p:txBody>
          <a:bodyPr wrap="none">
            <a:spAutoFit/>
          </a:bodyPr>
          <a:lstStyle/>
          <a:p>
            <a:r>
              <a:rPr lang="en-US" altLang="zh-CN" sz="2800" b="1" dirty="0">
                <a:solidFill>
                  <a:srgbClr val="FF0000"/>
                </a:solidFill>
              </a:rPr>
              <a:t>TESTING FLOW</a:t>
            </a:r>
            <a:endParaRPr lang="zh-CN" altLang="en-US" sz="2800" b="1" dirty="0">
              <a:solidFill>
                <a:srgbClr val="FF0000"/>
              </a:solidFill>
            </a:endParaRPr>
          </a:p>
        </p:txBody>
      </p:sp>
      <p:sp>
        <p:nvSpPr>
          <p:cNvPr id="9" name="标题 1"/>
          <p:cNvSpPr>
            <a:spLocks noGrp="1"/>
          </p:cNvSpPr>
          <p:nvPr>
            <p:ph type="title"/>
          </p:nvPr>
        </p:nvSpPr>
        <p:spPr>
          <a:xfrm>
            <a:off x="457200" y="274638"/>
            <a:ext cx="8229600" cy="1082660"/>
          </a:xfrm>
        </p:spPr>
        <p:txBody>
          <a:bodyPr/>
          <a:lstStyle/>
          <a:p>
            <a:pPr marL="514350" indent="-514350"/>
            <a:r>
              <a:rPr lang="en-US" altLang="zh-CN" b="0" dirty="0"/>
              <a:t>vibration test </a:t>
            </a:r>
            <a:r>
              <a:rPr lang="en-US" altLang="zh-CN" b="0" dirty="0" smtClean="0"/>
              <a:t>attention</a:t>
            </a:r>
            <a:endParaRPr lang="en-US" altLang="zh-CN" b="0" dirty="0"/>
          </a:p>
        </p:txBody>
      </p:sp>
      <p:sp>
        <p:nvSpPr>
          <p:cNvPr id="2" name="矩形 1"/>
          <p:cNvSpPr/>
          <p:nvPr/>
        </p:nvSpPr>
        <p:spPr>
          <a:xfrm>
            <a:off x="204860" y="1719972"/>
            <a:ext cx="8676456" cy="1323439"/>
          </a:xfrm>
          <a:prstGeom prst="rect">
            <a:avLst/>
          </a:prstGeom>
        </p:spPr>
        <p:txBody>
          <a:bodyPr wrap="square">
            <a:spAutoFit/>
          </a:bodyPr>
          <a:lstStyle/>
          <a:p>
            <a:pPr algn="just"/>
            <a:r>
              <a:rPr lang="en-US" altLang="zh-CN" sz="2000" b="1" dirty="0" smtClean="0">
                <a:latin typeface="Times New Roman" pitchFamily="18" charset="0"/>
                <a:cs typeface="Times New Roman" pitchFamily="18" charset="0"/>
              </a:rPr>
              <a:t>      Before </a:t>
            </a:r>
            <a:r>
              <a:rPr lang="en-US" altLang="zh-CN" sz="2000" b="1" dirty="0">
                <a:latin typeface="Times New Roman" pitchFamily="18" charset="0"/>
                <a:cs typeface="Times New Roman" pitchFamily="18" charset="0"/>
              </a:rPr>
              <a:t>test we must know the test flow. The test </a:t>
            </a:r>
            <a:r>
              <a:rPr lang="en-US" altLang="zh-CN" sz="2000" b="1" dirty="0" smtClean="0">
                <a:latin typeface="Times New Roman" pitchFamily="18" charset="0"/>
                <a:cs typeface="Times New Roman" pitchFamily="18" charset="0"/>
              </a:rPr>
              <a:t>sequence should </a:t>
            </a:r>
            <a:r>
              <a:rPr lang="en-US" altLang="zh-CN" sz="2000" b="1" dirty="0">
                <a:latin typeface="Times New Roman" pitchFamily="18" charset="0"/>
                <a:cs typeface="Times New Roman" pitchFamily="18" charset="0"/>
              </a:rPr>
              <a:t>be Sine first, and then random test. In each direction, the test level should be characteristic level, sine acceptance level, random acceptance level, characteristic level. The mechanic test flow is following:</a:t>
            </a:r>
            <a:endParaRPr lang="zh-CN" altLang="zh-CN" sz="2000" b="1" dirty="0">
              <a:latin typeface="Times New Roman" pitchFamily="18" charset="0"/>
              <a:cs typeface="Times New Roman" pitchFamily="18" charset="0"/>
            </a:endParaRPr>
          </a:p>
        </p:txBody>
      </p:sp>
    </p:spTree>
    <p:extLst>
      <p:ext uri="{BB962C8B-B14F-4D97-AF65-F5344CB8AC3E}">
        <p14:creationId xmlns:p14="http://schemas.microsoft.com/office/powerpoint/2010/main" val="1229067861"/>
      </p:ext>
    </p:extLst>
  </p:cSld>
  <p:clrMapOvr>
    <a:masterClrMapping/>
  </p:clrMapOvr>
  <mc:AlternateContent xmlns:mc="http://schemas.openxmlformats.org/markup-compatibility/2006" xmlns:p14="http://schemas.microsoft.com/office/powerpoint/2010/main">
    <mc:Choice Requires="p14">
      <p:transition spd="slow" p14:dur="2000" advTm="57039"/>
    </mc:Choice>
    <mc:Fallback xmlns="">
      <p:transition spd="slow" advTm="57039"/>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1484784"/>
            <a:ext cx="9144000" cy="3960440"/>
          </a:xfrm>
        </p:spPr>
        <p:txBody>
          <a:bodyPr>
            <a:normAutofit lnSpcReduction="10000"/>
          </a:bodyPr>
          <a:lstStyle/>
          <a:p>
            <a:pPr marL="0" lvl="0" indent="0">
              <a:buNone/>
            </a:pPr>
            <a:r>
              <a:rPr lang="en-US" altLang="zh-CN" sz="2600" dirty="0">
                <a:solidFill>
                  <a:srgbClr val="FF0000"/>
                </a:solidFill>
                <a:latin typeface="Times New Roman" pitchFamily="18" charset="0"/>
                <a:cs typeface="Times New Roman" pitchFamily="18" charset="0"/>
              </a:rPr>
              <a:t>THE HOISTING AND ASSEMBLY REQUIRMENTS IN </a:t>
            </a:r>
            <a:r>
              <a:rPr lang="en-US" altLang="zh-CN" sz="2600" dirty="0" smtClean="0">
                <a:solidFill>
                  <a:srgbClr val="FF0000"/>
                </a:solidFill>
                <a:latin typeface="Times New Roman" pitchFamily="18" charset="0"/>
                <a:cs typeface="Times New Roman" pitchFamily="18" charset="0"/>
              </a:rPr>
              <a:t>TEST</a:t>
            </a:r>
          </a:p>
          <a:p>
            <a:pPr marL="0" indent="0">
              <a:buNone/>
            </a:pPr>
            <a:r>
              <a:rPr lang="en-US" altLang="zh-CN" sz="2400" dirty="0" smtClean="0">
                <a:latin typeface="Times New Roman" pitchFamily="18" charset="0"/>
                <a:cs typeface="Times New Roman" pitchFamily="18" charset="0"/>
              </a:rPr>
              <a:t>When </a:t>
            </a:r>
            <a:r>
              <a:rPr lang="en-US" altLang="zh-CN" sz="2400" dirty="0">
                <a:latin typeface="Times New Roman" pitchFamily="18" charset="0"/>
                <a:cs typeface="Times New Roman" pitchFamily="18" charset="0"/>
              </a:rPr>
              <a:t>the test is implied, the hoisting and assembly is the inevitable part. In these part we should notice these point: </a:t>
            </a:r>
            <a:endParaRPr lang="en-US" altLang="zh-CN" sz="2400" dirty="0" smtClean="0">
              <a:latin typeface="Times New Roman" pitchFamily="18" charset="0"/>
              <a:cs typeface="Times New Roman" pitchFamily="18" charset="0"/>
            </a:endParaRPr>
          </a:p>
          <a:p>
            <a:pPr lvl="0" algn="just">
              <a:buFont typeface="Wingdings" pitchFamily="2" charset="2"/>
              <a:buChar char="Ø"/>
            </a:pPr>
            <a:r>
              <a:rPr lang="en-US" altLang="zh-CN" sz="2400" b="0" dirty="0" smtClean="0">
                <a:latin typeface="Times New Roman" pitchFamily="18" charset="0"/>
                <a:cs typeface="Times New Roman" pitchFamily="18" charset="0"/>
              </a:rPr>
              <a:t>Pay </a:t>
            </a:r>
            <a:r>
              <a:rPr lang="en-US" altLang="zh-CN" sz="2400" b="0" dirty="0">
                <a:latin typeface="Times New Roman" pitchFamily="18" charset="0"/>
                <a:cs typeface="Times New Roman" pitchFamily="18" charset="0"/>
              </a:rPr>
              <a:t>attention to the </a:t>
            </a:r>
            <a:r>
              <a:rPr lang="en-US" altLang="zh-CN" sz="2400" b="0" dirty="0" err="1">
                <a:latin typeface="Times New Roman" pitchFamily="18" charset="0"/>
                <a:cs typeface="Times New Roman" pitchFamily="18" charset="0"/>
              </a:rPr>
              <a:t>equipments</a:t>
            </a:r>
            <a:r>
              <a:rPr lang="en-US" altLang="zh-CN" sz="2400" b="0" dirty="0">
                <a:latin typeface="Times New Roman" pitchFamily="18" charset="0"/>
                <a:cs typeface="Times New Roman" pitchFamily="18" charset="0"/>
              </a:rPr>
              <a:t> on the satellite in the hoisting, and avoid colliding with other items </a:t>
            </a:r>
            <a:r>
              <a:rPr lang="en-US" altLang="zh-CN" sz="2400" b="0" dirty="0" smtClean="0">
                <a:latin typeface="Times New Roman" pitchFamily="18" charset="0"/>
                <a:cs typeface="Times New Roman" pitchFamily="18" charset="0"/>
              </a:rPr>
              <a:t>, ensuring </a:t>
            </a:r>
            <a:r>
              <a:rPr lang="en-US" altLang="zh-CN" sz="2400" b="0" dirty="0">
                <a:latin typeface="Times New Roman" pitchFamily="18" charset="0"/>
                <a:cs typeface="Times New Roman" pitchFamily="18" charset="0"/>
              </a:rPr>
              <a:t>product safety;</a:t>
            </a:r>
            <a:endParaRPr lang="zh-CN" altLang="zh-CN" sz="2400" b="0" dirty="0">
              <a:latin typeface="Times New Roman" pitchFamily="18" charset="0"/>
              <a:cs typeface="Times New Roman" pitchFamily="18" charset="0"/>
            </a:endParaRPr>
          </a:p>
          <a:p>
            <a:pPr lvl="0" algn="just">
              <a:buFont typeface="Wingdings" pitchFamily="2" charset="2"/>
              <a:buChar char="Ø"/>
            </a:pPr>
            <a:r>
              <a:rPr lang="en-US" altLang="zh-CN" sz="2400" b="0" dirty="0">
                <a:latin typeface="Times New Roman" pitchFamily="18" charset="0"/>
                <a:cs typeface="Times New Roman" pitchFamily="18" charset="0"/>
              </a:rPr>
              <a:t>Keep the satellite clean without pollution during the operation.</a:t>
            </a:r>
            <a:endParaRPr lang="zh-CN" altLang="zh-CN" sz="2400" b="0" dirty="0">
              <a:latin typeface="Times New Roman" pitchFamily="18" charset="0"/>
              <a:cs typeface="Times New Roman" pitchFamily="18" charset="0"/>
            </a:endParaRPr>
          </a:p>
          <a:p>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20</a:t>
            </a:fld>
            <a:r>
              <a:rPr lang="zh-CN" altLang="en-US" smtClean="0"/>
              <a:t> </a:t>
            </a:r>
            <a:endParaRPr lang="zh-CN" altLang="en-US" dirty="0">
              <a:latin typeface="微软雅黑" pitchFamily="34" charset="-122"/>
              <a:ea typeface="微软雅黑" pitchFamily="34" charset="-122"/>
            </a:endParaRPr>
          </a:p>
        </p:txBody>
      </p:sp>
      <p:sp>
        <p:nvSpPr>
          <p:cNvPr id="7" name="标题 1"/>
          <p:cNvSpPr>
            <a:spLocks noGrp="1"/>
          </p:cNvSpPr>
          <p:nvPr>
            <p:ph type="title"/>
          </p:nvPr>
        </p:nvSpPr>
        <p:spPr>
          <a:xfrm>
            <a:off x="457200" y="274638"/>
            <a:ext cx="8229600" cy="1082660"/>
          </a:xfrm>
        </p:spPr>
        <p:txBody>
          <a:bodyPr/>
          <a:lstStyle/>
          <a:p>
            <a:pPr marL="514350" indent="-514350"/>
            <a:r>
              <a:rPr lang="en-US" altLang="zh-CN" b="0" dirty="0"/>
              <a:t>vibration test </a:t>
            </a:r>
            <a:r>
              <a:rPr lang="en-US" altLang="zh-CN" b="0" dirty="0" smtClean="0"/>
              <a:t>attention</a:t>
            </a:r>
            <a:endParaRPr lang="en-US" altLang="zh-CN" b="0" dirty="0"/>
          </a:p>
        </p:txBody>
      </p:sp>
    </p:spTree>
    <p:extLst>
      <p:ext uri="{BB962C8B-B14F-4D97-AF65-F5344CB8AC3E}">
        <p14:creationId xmlns:p14="http://schemas.microsoft.com/office/powerpoint/2010/main" val="2351902778"/>
      </p:ext>
    </p:extLst>
  </p:cSld>
  <p:clrMapOvr>
    <a:masterClrMapping/>
  </p:clrMapOvr>
  <mc:AlternateContent xmlns:mc="http://schemas.openxmlformats.org/markup-compatibility/2006" xmlns:p14="http://schemas.microsoft.com/office/powerpoint/2010/main">
    <mc:Choice Requires="p14">
      <p:transition spd="slow" p14:dur="2000" advTm="27226"/>
    </mc:Choice>
    <mc:Fallback xmlns="">
      <p:transition spd="slow" advTm="27226"/>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1196752"/>
            <a:ext cx="9144000" cy="5472608"/>
          </a:xfrm>
        </p:spPr>
        <p:txBody>
          <a:bodyPr>
            <a:normAutofit fontScale="62500" lnSpcReduction="20000"/>
          </a:bodyPr>
          <a:lstStyle/>
          <a:p>
            <a:pPr marL="0" lvl="0" indent="0">
              <a:buNone/>
            </a:pPr>
            <a:r>
              <a:rPr lang="en-US" altLang="zh-CN" sz="3800" dirty="0">
                <a:solidFill>
                  <a:srgbClr val="FF0000"/>
                </a:solidFill>
                <a:latin typeface="Times New Roman" pitchFamily="18" charset="0"/>
                <a:cs typeface="Times New Roman" pitchFamily="18" charset="0"/>
              </a:rPr>
              <a:t>INTERRUPTION AND TROUBLE CLEANING POLICY IN </a:t>
            </a:r>
            <a:r>
              <a:rPr lang="en-US" altLang="zh-CN" sz="3800" dirty="0" smtClean="0">
                <a:solidFill>
                  <a:srgbClr val="FF0000"/>
                </a:solidFill>
                <a:latin typeface="Times New Roman" pitchFamily="18" charset="0"/>
                <a:cs typeface="Times New Roman" pitchFamily="18" charset="0"/>
              </a:rPr>
              <a:t>TEST</a:t>
            </a:r>
          </a:p>
          <a:p>
            <a:pPr marL="0" indent="0" algn="just">
              <a:buNone/>
            </a:pPr>
            <a:r>
              <a:rPr lang="en-US" altLang="zh-CN" sz="3500" dirty="0">
                <a:latin typeface="Times New Roman" pitchFamily="18" charset="0"/>
                <a:cs typeface="Times New Roman" pitchFamily="18" charset="0"/>
              </a:rPr>
              <a:t>Before the test implying, we must predict all things that will happen possibly, especially the interruption and trouble in test. now we will talk about the policy on it.</a:t>
            </a:r>
            <a:endParaRPr lang="zh-CN" altLang="zh-CN" sz="3500" dirty="0">
              <a:latin typeface="Times New Roman" pitchFamily="18" charset="0"/>
              <a:cs typeface="Times New Roman" pitchFamily="18" charset="0"/>
            </a:endParaRPr>
          </a:p>
          <a:p>
            <a:pPr lvl="0" algn="just">
              <a:buFont typeface="Wingdings" pitchFamily="2" charset="2"/>
              <a:buChar char="Ø"/>
            </a:pPr>
            <a:r>
              <a:rPr lang="en-US" altLang="zh-CN" b="0" dirty="0" smtClean="0">
                <a:latin typeface="Times New Roman" pitchFamily="18" charset="0"/>
                <a:cs typeface="Times New Roman" pitchFamily="18" charset="0"/>
              </a:rPr>
              <a:t>All </a:t>
            </a:r>
            <a:r>
              <a:rPr lang="en-US" altLang="zh-CN" b="0" dirty="0">
                <a:latin typeface="Times New Roman" pitchFamily="18" charset="0"/>
                <a:cs typeface="Times New Roman" pitchFamily="18" charset="0"/>
              </a:rPr>
              <a:t>failure and </a:t>
            </a:r>
            <a:r>
              <a:rPr lang="en-US" altLang="zh-CN" b="0" dirty="0" err="1">
                <a:latin typeface="Times New Roman" pitchFamily="18" charset="0"/>
                <a:cs typeface="Times New Roman" pitchFamily="18" charset="0"/>
              </a:rPr>
              <a:t>abnormalism</a:t>
            </a:r>
            <a:r>
              <a:rPr lang="en-US" altLang="zh-CN" b="0" dirty="0">
                <a:latin typeface="Times New Roman" pitchFamily="18" charset="0"/>
                <a:cs typeface="Times New Roman" pitchFamily="18" charset="0"/>
              </a:rPr>
              <a:t> found in the test should be on record, if necessary, we should protect the testing field;</a:t>
            </a:r>
            <a:endParaRPr lang="zh-CN" altLang="zh-CN" b="0" dirty="0">
              <a:latin typeface="Times New Roman" pitchFamily="18" charset="0"/>
              <a:cs typeface="Times New Roman" pitchFamily="18" charset="0"/>
            </a:endParaRPr>
          </a:p>
          <a:p>
            <a:pPr lvl="0" algn="just">
              <a:buFont typeface="Wingdings" pitchFamily="2" charset="2"/>
              <a:buChar char="Ø"/>
            </a:pPr>
            <a:r>
              <a:rPr lang="en-US" altLang="zh-CN" b="0" dirty="0">
                <a:latin typeface="Times New Roman" pitchFamily="18" charset="0"/>
                <a:cs typeface="Times New Roman" pitchFamily="18" charset="0"/>
              </a:rPr>
              <a:t>We should stop the test and eliminate failure and </a:t>
            </a:r>
            <a:r>
              <a:rPr lang="en-US" altLang="zh-CN" b="0" dirty="0" err="1">
                <a:latin typeface="Times New Roman" pitchFamily="18" charset="0"/>
                <a:cs typeface="Times New Roman" pitchFamily="18" charset="0"/>
              </a:rPr>
              <a:t>abnormalism</a:t>
            </a:r>
            <a:r>
              <a:rPr lang="en-US" altLang="zh-CN" b="0" dirty="0">
                <a:latin typeface="Times New Roman" pitchFamily="18" charset="0"/>
                <a:cs typeface="Times New Roman" pitchFamily="18" charset="0"/>
              </a:rPr>
              <a:t> of </a:t>
            </a:r>
            <a:r>
              <a:rPr lang="en-US" altLang="zh-CN" b="0" dirty="0" err="1">
                <a:latin typeface="Times New Roman" pitchFamily="18" charset="0"/>
                <a:cs typeface="Times New Roman" pitchFamily="18" charset="0"/>
              </a:rPr>
              <a:t>equipments</a:t>
            </a:r>
            <a:r>
              <a:rPr lang="en-US" altLang="zh-CN" b="0" dirty="0">
                <a:latin typeface="Times New Roman" pitchFamily="18" charset="0"/>
                <a:cs typeface="Times New Roman" pitchFamily="18" charset="0"/>
              </a:rPr>
              <a:t> which are found in the test, and other situations are on-site treatment;</a:t>
            </a:r>
            <a:endParaRPr lang="zh-CN" altLang="zh-CN" b="0" dirty="0">
              <a:latin typeface="Times New Roman" pitchFamily="18" charset="0"/>
              <a:cs typeface="Times New Roman" pitchFamily="18" charset="0"/>
            </a:endParaRPr>
          </a:p>
          <a:p>
            <a:pPr lvl="0" algn="just">
              <a:buFont typeface="Wingdings" pitchFamily="2" charset="2"/>
              <a:buChar char="Ø"/>
            </a:pPr>
            <a:r>
              <a:rPr lang="en-US" altLang="zh-CN" b="0" dirty="0">
                <a:latin typeface="Times New Roman" pitchFamily="18" charset="0"/>
                <a:cs typeface="Times New Roman" pitchFamily="18" charset="0"/>
              </a:rPr>
              <a:t>If reproduce the failure and </a:t>
            </a:r>
            <a:r>
              <a:rPr lang="en-US" altLang="zh-CN" b="0" dirty="0" err="1">
                <a:latin typeface="Times New Roman" pitchFamily="18" charset="0"/>
                <a:cs typeface="Times New Roman" pitchFamily="18" charset="0"/>
              </a:rPr>
              <a:t>abnormalism</a:t>
            </a:r>
            <a:r>
              <a:rPr lang="en-US" altLang="zh-CN" b="0" dirty="0">
                <a:latin typeface="Times New Roman" pitchFamily="18" charset="0"/>
                <a:cs typeface="Times New Roman" pitchFamily="18" charset="0"/>
              </a:rPr>
              <a:t> found in the test, we permit reloading in the characteristic dimension, but it should be agreed with satellite system;</a:t>
            </a:r>
            <a:endParaRPr lang="zh-CN" altLang="zh-CN" b="0" dirty="0">
              <a:latin typeface="Times New Roman" pitchFamily="18" charset="0"/>
              <a:cs typeface="Times New Roman" pitchFamily="18" charset="0"/>
            </a:endParaRPr>
          </a:p>
          <a:p>
            <a:pPr lvl="0" algn="just">
              <a:buFont typeface="Wingdings" pitchFamily="2" charset="2"/>
              <a:buChar char="Ø"/>
            </a:pPr>
            <a:r>
              <a:rPr lang="en-US" altLang="zh-CN" b="0" dirty="0">
                <a:latin typeface="Times New Roman" pitchFamily="18" charset="0"/>
                <a:cs typeface="Times New Roman" pitchFamily="18" charset="0"/>
              </a:rPr>
              <a:t>If there is abnormal sound in the test and response characteristics change obviously, we should stop testing immediately.</a:t>
            </a:r>
            <a:endParaRPr lang="zh-CN" altLang="zh-CN" b="0" dirty="0">
              <a:latin typeface="Times New Roman" pitchFamily="18" charset="0"/>
              <a:cs typeface="Times New Roman" pitchFamily="18" charset="0"/>
            </a:endParaRPr>
          </a:p>
          <a:p>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21</a:t>
            </a:fld>
            <a:r>
              <a:rPr lang="zh-CN" altLang="en-US" smtClean="0"/>
              <a:t> </a:t>
            </a:r>
            <a:endParaRPr lang="zh-CN" altLang="en-US" dirty="0">
              <a:latin typeface="微软雅黑" pitchFamily="34" charset="-122"/>
              <a:ea typeface="微软雅黑" pitchFamily="34" charset="-122"/>
            </a:endParaRPr>
          </a:p>
        </p:txBody>
      </p:sp>
      <p:sp>
        <p:nvSpPr>
          <p:cNvPr id="7" name="标题 1"/>
          <p:cNvSpPr>
            <a:spLocks noGrp="1"/>
          </p:cNvSpPr>
          <p:nvPr>
            <p:ph type="title"/>
          </p:nvPr>
        </p:nvSpPr>
        <p:spPr>
          <a:xfrm>
            <a:off x="457200" y="274638"/>
            <a:ext cx="8229600" cy="1082660"/>
          </a:xfrm>
        </p:spPr>
        <p:txBody>
          <a:bodyPr/>
          <a:lstStyle/>
          <a:p>
            <a:pPr marL="514350" indent="-514350"/>
            <a:r>
              <a:rPr lang="en-US" altLang="zh-CN" b="0" dirty="0"/>
              <a:t>vibration test </a:t>
            </a:r>
            <a:r>
              <a:rPr lang="en-US" altLang="zh-CN" b="0" dirty="0" smtClean="0"/>
              <a:t>attention</a:t>
            </a:r>
            <a:endParaRPr lang="en-US" altLang="zh-CN" b="0" dirty="0"/>
          </a:p>
        </p:txBody>
      </p:sp>
    </p:spTree>
    <p:extLst>
      <p:ext uri="{BB962C8B-B14F-4D97-AF65-F5344CB8AC3E}">
        <p14:creationId xmlns:p14="http://schemas.microsoft.com/office/powerpoint/2010/main" val="2156242154"/>
      </p:ext>
    </p:extLst>
  </p:cSld>
  <p:clrMapOvr>
    <a:masterClrMapping/>
  </p:clrMapOvr>
  <mc:AlternateContent xmlns:mc="http://schemas.openxmlformats.org/markup-compatibility/2006" xmlns:p14="http://schemas.microsoft.com/office/powerpoint/2010/main">
    <mc:Choice Requires="p14">
      <p:transition spd="slow" p14:dur="2000" advTm="90937"/>
    </mc:Choice>
    <mc:Fallback xmlns="">
      <p:transition spd="slow" advTm="90937"/>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1196752"/>
            <a:ext cx="9144000" cy="5112568"/>
          </a:xfrm>
        </p:spPr>
        <p:txBody>
          <a:bodyPr>
            <a:normAutofit fontScale="77500" lnSpcReduction="20000"/>
          </a:bodyPr>
          <a:lstStyle/>
          <a:p>
            <a:pPr marL="0" lvl="0" indent="0">
              <a:buNone/>
            </a:pPr>
            <a:r>
              <a:rPr lang="en-US" altLang="zh-CN" sz="3600" dirty="0">
                <a:solidFill>
                  <a:srgbClr val="FF0000"/>
                </a:solidFill>
                <a:latin typeface="Times New Roman" pitchFamily="18" charset="0"/>
                <a:cs typeface="Times New Roman" pitchFamily="18" charset="0"/>
              </a:rPr>
              <a:t>SUCCEEDING CRITERION OF </a:t>
            </a:r>
            <a:r>
              <a:rPr lang="en-US" altLang="zh-CN" sz="3600" dirty="0" smtClean="0">
                <a:solidFill>
                  <a:srgbClr val="FF0000"/>
                </a:solidFill>
                <a:latin typeface="Times New Roman" pitchFamily="18" charset="0"/>
                <a:cs typeface="Times New Roman" pitchFamily="18" charset="0"/>
              </a:rPr>
              <a:t>TEST</a:t>
            </a:r>
          </a:p>
          <a:p>
            <a:pPr marL="0" indent="0">
              <a:buNone/>
            </a:pPr>
            <a:r>
              <a:rPr lang="en-US" altLang="zh-CN" sz="2800" dirty="0">
                <a:latin typeface="Times New Roman" pitchFamily="18" charset="0"/>
                <a:cs typeface="Times New Roman" pitchFamily="18" charset="0"/>
              </a:rPr>
              <a:t>When test is finished, How can we know whether the test is success? so the success criterion of test must be known by us.</a:t>
            </a:r>
            <a:endParaRPr lang="zh-CN" altLang="zh-CN" sz="2800" dirty="0">
              <a:latin typeface="Times New Roman" pitchFamily="18" charset="0"/>
              <a:cs typeface="Times New Roman" pitchFamily="18" charset="0"/>
            </a:endParaRPr>
          </a:p>
          <a:p>
            <a:pPr lvl="0" algn="just">
              <a:buFont typeface="Wingdings" pitchFamily="2" charset="2"/>
              <a:buChar char="Ø"/>
            </a:pPr>
            <a:r>
              <a:rPr lang="en-US" altLang="zh-CN" sz="2800" b="0" dirty="0" smtClean="0">
                <a:latin typeface="Times New Roman" pitchFamily="18" charset="0"/>
                <a:cs typeface="Times New Roman" pitchFamily="18" charset="0"/>
              </a:rPr>
              <a:t>The </a:t>
            </a:r>
            <a:r>
              <a:rPr lang="en-US" altLang="zh-CN" sz="2800" b="0" dirty="0">
                <a:latin typeface="Times New Roman" pitchFamily="18" charset="0"/>
                <a:cs typeface="Times New Roman" pitchFamily="18" charset="0"/>
              </a:rPr>
              <a:t>appearance of the satellite is checked normal;</a:t>
            </a:r>
            <a:endParaRPr lang="zh-CN" altLang="zh-CN" sz="2800" b="0" dirty="0">
              <a:latin typeface="Times New Roman" pitchFamily="18" charset="0"/>
              <a:cs typeface="Times New Roman" pitchFamily="18" charset="0"/>
            </a:endParaRPr>
          </a:p>
          <a:p>
            <a:pPr lvl="0" algn="just">
              <a:buFont typeface="Wingdings" pitchFamily="2" charset="2"/>
              <a:buChar char="Ø"/>
            </a:pPr>
            <a:r>
              <a:rPr lang="en-US" altLang="zh-CN" sz="2800" b="0" dirty="0">
                <a:latin typeface="Times New Roman" pitchFamily="18" charset="0"/>
                <a:cs typeface="Times New Roman" pitchFamily="18" charset="0"/>
              </a:rPr>
              <a:t>The characteristic measuring response curve must be accordant before and after each direction of the </a:t>
            </a:r>
            <a:r>
              <a:rPr lang="en-US" altLang="zh-CN" sz="2800" b="0" dirty="0" smtClean="0">
                <a:latin typeface="Times New Roman" pitchFamily="18" charset="0"/>
                <a:cs typeface="Times New Roman" pitchFamily="18" charset="0"/>
              </a:rPr>
              <a:t>Sine and Random vibration </a:t>
            </a:r>
            <a:r>
              <a:rPr lang="en-US" altLang="zh-CN" sz="2800" b="0" dirty="0">
                <a:latin typeface="Times New Roman" pitchFamily="18" charset="0"/>
                <a:cs typeface="Times New Roman" pitchFamily="18" charset="0"/>
              </a:rPr>
              <a:t>acceptance </a:t>
            </a:r>
            <a:r>
              <a:rPr lang="en-US" altLang="zh-CN" sz="2800" b="0" dirty="0" smtClean="0">
                <a:latin typeface="Times New Roman" pitchFamily="18" charset="0"/>
                <a:cs typeface="Times New Roman" pitchFamily="18" charset="0"/>
              </a:rPr>
              <a:t>test;</a:t>
            </a:r>
            <a:endParaRPr lang="zh-CN" altLang="zh-CN" sz="2800" b="0" dirty="0">
              <a:latin typeface="Times New Roman" pitchFamily="18" charset="0"/>
              <a:cs typeface="Times New Roman" pitchFamily="18" charset="0"/>
            </a:endParaRPr>
          </a:p>
          <a:p>
            <a:pPr lvl="0" algn="just">
              <a:buFont typeface="Wingdings" pitchFamily="2" charset="2"/>
              <a:buChar char="Ø"/>
            </a:pPr>
            <a:r>
              <a:rPr lang="en-US" altLang="zh-CN" sz="2800" b="0" dirty="0">
                <a:latin typeface="Times New Roman" pitchFamily="18" charset="0"/>
                <a:cs typeface="Times New Roman" pitchFamily="18" charset="0"/>
              </a:rPr>
              <a:t>After the testing, solar array could deploy, solar cells keep the electric property; </a:t>
            </a:r>
            <a:endParaRPr lang="zh-CN" altLang="zh-CN" sz="2800" b="0" dirty="0">
              <a:latin typeface="Times New Roman" pitchFamily="18" charset="0"/>
              <a:cs typeface="Times New Roman" pitchFamily="18" charset="0"/>
            </a:endParaRPr>
          </a:p>
          <a:p>
            <a:pPr lvl="0" algn="just">
              <a:buFont typeface="Wingdings" pitchFamily="2" charset="2"/>
              <a:buChar char="Ø"/>
            </a:pPr>
            <a:r>
              <a:rPr lang="en-US" altLang="zh-CN" sz="2800" b="0" dirty="0">
                <a:latin typeface="Times New Roman" pitchFamily="18" charset="0"/>
                <a:cs typeface="Times New Roman" pitchFamily="18" charset="0"/>
              </a:rPr>
              <a:t>The results of satellite accurate measurement are within the scope specified before and after the testing.</a:t>
            </a:r>
            <a:endParaRPr lang="zh-CN" altLang="zh-CN" sz="2800" b="0" dirty="0">
              <a:latin typeface="Times New Roman" pitchFamily="18" charset="0"/>
              <a:cs typeface="Times New Roman" pitchFamily="18" charset="0"/>
            </a:endParaRPr>
          </a:p>
          <a:p>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22</a:t>
            </a:fld>
            <a:r>
              <a:rPr lang="zh-CN" altLang="en-US" smtClean="0"/>
              <a:t> </a:t>
            </a:r>
            <a:endParaRPr lang="zh-CN" altLang="en-US" dirty="0">
              <a:latin typeface="微软雅黑" pitchFamily="34" charset="-122"/>
              <a:ea typeface="微软雅黑" pitchFamily="34" charset="-122"/>
            </a:endParaRPr>
          </a:p>
        </p:txBody>
      </p:sp>
      <p:sp>
        <p:nvSpPr>
          <p:cNvPr id="7" name="标题 1"/>
          <p:cNvSpPr>
            <a:spLocks noGrp="1"/>
          </p:cNvSpPr>
          <p:nvPr>
            <p:ph type="title"/>
          </p:nvPr>
        </p:nvSpPr>
        <p:spPr>
          <a:xfrm>
            <a:off x="457200" y="274638"/>
            <a:ext cx="8229600" cy="1082660"/>
          </a:xfrm>
        </p:spPr>
        <p:txBody>
          <a:bodyPr/>
          <a:lstStyle/>
          <a:p>
            <a:pPr marL="514350" indent="-514350"/>
            <a:r>
              <a:rPr lang="en-US" altLang="zh-CN" b="0" dirty="0"/>
              <a:t>vibration test </a:t>
            </a:r>
            <a:r>
              <a:rPr lang="en-US" altLang="zh-CN" b="0" dirty="0" smtClean="0"/>
              <a:t>attention</a:t>
            </a:r>
            <a:endParaRPr lang="en-US" altLang="zh-CN" b="0" dirty="0"/>
          </a:p>
        </p:txBody>
      </p:sp>
    </p:spTree>
    <p:extLst>
      <p:ext uri="{BB962C8B-B14F-4D97-AF65-F5344CB8AC3E}">
        <p14:creationId xmlns:p14="http://schemas.microsoft.com/office/powerpoint/2010/main" val="2024778818"/>
      </p:ext>
    </p:extLst>
  </p:cSld>
  <p:clrMapOvr>
    <a:masterClrMapping/>
  </p:clrMapOvr>
  <mc:AlternateContent xmlns:mc="http://schemas.openxmlformats.org/markup-compatibility/2006" xmlns:p14="http://schemas.microsoft.com/office/powerpoint/2010/main">
    <mc:Choice Requires="p14">
      <p:transition spd="slow" p14:dur="2000" advTm="69599"/>
    </mc:Choice>
    <mc:Fallback xmlns="">
      <p:transition spd="slow" advTm="69599"/>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1196752"/>
            <a:ext cx="9144000" cy="5184576"/>
          </a:xfrm>
        </p:spPr>
        <p:txBody>
          <a:bodyPr>
            <a:normAutofit fontScale="55000" lnSpcReduction="20000"/>
          </a:bodyPr>
          <a:lstStyle/>
          <a:p>
            <a:pPr marL="0" lvl="0" indent="0">
              <a:buNone/>
            </a:pPr>
            <a:r>
              <a:rPr lang="en-US" altLang="zh-CN" sz="5100" dirty="0">
                <a:solidFill>
                  <a:srgbClr val="FF0000"/>
                </a:solidFill>
                <a:latin typeface="Times New Roman" pitchFamily="18" charset="0"/>
                <a:cs typeface="Times New Roman" pitchFamily="18" charset="0"/>
              </a:rPr>
              <a:t>SAFETY REQUIREMENTS OF TEST</a:t>
            </a:r>
            <a:endParaRPr lang="zh-CN" altLang="zh-CN" sz="5100" dirty="0">
              <a:solidFill>
                <a:srgbClr val="FF0000"/>
              </a:solidFill>
              <a:latin typeface="Times New Roman" pitchFamily="18" charset="0"/>
              <a:cs typeface="Times New Roman" pitchFamily="18" charset="0"/>
            </a:endParaRPr>
          </a:p>
          <a:p>
            <a:pPr marL="0" indent="0" algn="just">
              <a:buNone/>
            </a:pPr>
            <a:r>
              <a:rPr lang="en-US" altLang="zh-CN" sz="3600" dirty="0" smtClean="0">
                <a:latin typeface="Times New Roman" pitchFamily="18" charset="0"/>
                <a:cs typeface="Times New Roman" pitchFamily="18" charset="0"/>
              </a:rPr>
              <a:t>The </a:t>
            </a:r>
            <a:r>
              <a:rPr lang="en-US" altLang="zh-CN" sz="3600" dirty="0">
                <a:latin typeface="Times New Roman" pitchFamily="18" charset="0"/>
                <a:cs typeface="Times New Roman" pitchFamily="18" charset="0"/>
              </a:rPr>
              <a:t>safety of test is a key point which can be ignored easily. so I think we should talk about it. </a:t>
            </a:r>
            <a:r>
              <a:rPr lang="en-US" altLang="zh-CN" sz="3600" dirty="0" smtClean="0">
                <a:latin typeface="Times New Roman" pitchFamily="18" charset="0"/>
                <a:cs typeface="Times New Roman" pitchFamily="18" charset="0"/>
              </a:rPr>
              <a:t>Before </a:t>
            </a:r>
            <a:r>
              <a:rPr lang="en-US" altLang="zh-CN" sz="3600" dirty="0">
                <a:latin typeface="Times New Roman" pitchFamily="18" charset="0"/>
                <a:cs typeface="Times New Roman" pitchFamily="18" charset="0"/>
              </a:rPr>
              <a:t>test, we must emphasize the following points:</a:t>
            </a:r>
            <a:endParaRPr lang="zh-CN" altLang="zh-CN" sz="3600" dirty="0">
              <a:latin typeface="Times New Roman" pitchFamily="18" charset="0"/>
              <a:cs typeface="Times New Roman" pitchFamily="18" charset="0"/>
            </a:endParaRPr>
          </a:p>
          <a:p>
            <a:pPr algn="just"/>
            <a:r>
              <a:rPr lang="en-US" altLang="zh-CN" sz="3600" b="0" dirty="0" smtClean="0">
                <a:latin typeface="Times New Roman" pitchFamily="18" charset="0"/>
                <a:cs typeface="Times New Roman" pitchFamily="18" charset="0"/>
              </a:rPr>
              <a:t>All </a:t>
            </a:r>
            <a:r>
              <a:rPr lang="en-US" altLang="zh-CN" sz="3600" b="0" dirty="0">
                <a:latin typeface="Times New Roman" pitchFamily="18" charset="0"/>
                <a:cs typeface="Times New Roman" pitchFamily="18" charset="0"/>
              </a:rPr>
              <a:t>the lab assistants must obey the technique and safety rules strictly;</a:t>
            </a:r>
            <a:endParaRPr lang="zh-CN" altLang="zh-CN" sz="3600" b="0" dirty="0">
              <a:latin typeface="Times New Roman" pitchFamily="18" charset="0"/>
              <a:cs typeface="Times New Roman" pitchFamily="18" charset="0"/>
            </a:endParaRPr>
          </a:p>
          <a:p>
            <a:pPr algn="just"/>
            <a:r>
              <a:rPr lang="en-US" altLang="zh-CN" sz="3600" b="0" dirty="0">
                <a:latin typeface="Times New Roman" pitchFamily="18" charset="0"/>
                <a:cs typeface="Times New Roman" pitchFamily="18" charset="0"/>
              </a:rPr>
              <a:t>Testing field, electrical source, initiating explosive devices and measuring </a:t>
            </a:r>
            <a:r>
              <a:rPr lang="en-US" altLang="zh-CN" sz="3600" b="0" dirty="0" smtClean="0">
                <a:latin typeface="Times New Roman" pitchFamily="18" charset="0"/>
                <a:cs typeface="Times New Roman" pitchFamily="18" charset="0"/>
              </a:rPr>
              <a:t>equipment </a:t>
            </a:r>
            <a:r>
              <a:rPr lang="en-US" altLang="zh-CN" sz="3600" b="0" dirty="0">
                <a:latin typeface="Times New Roman" pitchFamily="18" charset="0"/>
                <a:cs typeface="Times New Roman" pitchFamily="18" charset="0"/>
              </a:rPr>
              <a:t>should be checked on before the test;</a:t>
            </a:r>
            <a:endParaRPr lang="zh-CN" altLang="zh-CN" sz="3600" b="0" dirty="0">
              <a:latin typeface="Times New Roman" pitchFamily="18" charset="0"/>
              <a:cs typeface="Times New Roman" pitchFamily="18" charset="0"/>
            </a:endParaRPr>
          </a:p>
          <a:p>
            <a:pPr algn="just"/>
            <a:r>
              <a:rPr lang="en-US" altLang="zh-CN" sz="3600" b="0" dirty="0">
                <a:latin typeface="Times New Roman" pitchFamily="18" charset="0"/>
                <a:cs typeface="Times New Roman" pitchFamily="18" charset="0"/>
              </a:rPr>
              <a:t>On-site electrical source must be taken charge of by the specific person;</a:t>
            </a:r>
            <a:endParaRPr lang="zh-CN" altLang="zh-CN" sz="3600" b="0" dirty="0">
              <a:latin typeface="Times New Roman" pitchFamily="18" charset="0"/>
              <a:cs typeface="Times New Roman" pitchFamily="18" charset="0"/>
            </a:endParaRPr>
          </a:p>
          <a:p>
            <a:pPr algn="just"/>
            <a:r>
              <a:rPr lang="en-US" altLang="zh-CN" sz="3600" b="0" dirty="0">
                <a:latin typeface="Times New Roman" pitchFamily="18" charset="0"/>
                <a:cs typeface="Times New Roman" pitchFamily="18" charset="0"/>
              </a:rPr>
              <a:t>The person in charge of pyrotechnic devices must monitor their state on test. There are isolation belts around the satellite , which can make sure of personal safety of the model team;</a:t>
            </a:r>
            <a:endParaRPr lang="zh-CN" altLang="zh-CN" sz="3600" b="0" dirty="0">
              <a:latin typeface="Times New Roman" pitchFamily="18" charset="0"/>
              <a:cs typeface="Times New Roman" pitchFamily="18" charset="0"/>
            </a:endParaRPr>
          </a:p>
          <a:p>
            <a:pPr algn="just"/>
            <a:r>
              <a:rPr lang="en-US" altLang="zh-CN" sz="3600" b="0" dirty="0">
                <a:latin typeface="Times New Roman" pitchFamily="18" charset="0"/>
                <a:cs typeface="Times New Roman" pitchFamily="18" charset="0"/>
              </a:rPr>
              <a:t>Using a variety of instruments and meters should be strictly followed the rules and operations, illegal operation is strictly prohibited. </a:t>
            </a:r>
            <a:endParaRPr lang="zh-CN" altLang="zh-CN" sz="3600" b="0" dirty="0">
              <a:latin typeface="Times New Roman" pitchFamily="18" charset="0"/>
              <a:cs typeface="Times New Roman" pitchFamily="18" charset="0"/>
            </a:endParaRPr>
          </a:p>
          <a:p>
            <a:endParaRPr lang="zh-CN" altLang="en-US"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23</a:t>
            </a:fld>
            <a:r>
              <a:rPr lang="zh-CN" altLang="en-US" smtClean="0"/>
              <a:t> </a:t>
            </a:r>
            <a:endParaRPr lang="zh-CN" altLang="en-US" dirty="0">
              <a:latin typeface="微软雅黑" pitchFamily="34" charset="-122"/>
              <a:ea typeface="微软雅黑" pitchFamily="34" charset="-122"/>
            </a:endParaRPr>
          </a:p>
        </p:txBody>
      </p:sp>
      <p:sp>
        <p:nvSpPr>
          <p:cNvPr id="7" name="标题 1"/>
          <p:cNvSpPr>
            <a:spLocks noGrp="1"/>
          </p:cNvSpPr>
          <p:nvPr>
            <p:ph type="title"/>
          </p:nvPr>
        </p:nvSpPr>
        <p:spPr>
          <a:xfrm>
            <a:off x="457200" y="274638"/>
            <a:ext cx="8229600" cy="1082660"/>
          </a:xfrm>
        </p:spPr>
        <p:txBody>
          <a:bodyPr/>
          <a:lstStyle/>
          <a:p>
            <a:pPr marL="514350" indent="-514350"/>
            <a:r>
              <a:rPr lang="en-US" altLang="zh-CN" b="0" dirty="0"/>
              <a:t>vibration test </a:t>
            </a:r>
            <a:r>
              <a:rPr lang="en-US" altLang="zh-CN" b="0" dirty="0" smtClean="0"/>
              <a:t>attention</a:t>
            </a:r>
            <a:endParaRPr lang="en-US" altLang="zh-CN" b="0" dirty="0"/>
          </a:p>
        </p:txBody>
      </p:sp>
    </p:spTree>
    <p:extLst>
      <p:ext uri="{BB962C8B-B14F-4D97-AF65-F5344CB8AC3E}">
        <p14:creationId xmlns:p14="http://schemas.microsoft.com/office/powerpoint/2010/main" val="12179132"/>
      </p:ext>
    </p:extLst>
  </p:cSld>
  <p:clrMapOvr>
    <a:masterClrMapping/>
  </p:clrMapOvr>
  <mc:AlternateContent xmlns:mc="http://schemas.openxmlformats.org/markup-compatibility/2006" xmlns:p14="http://schemas.microsoft.com/office/powerpoint/2010/main">
    <mc:Choice Requires="p14">
      <p:transition spd="slow" p14:dur="2000" advTm="69011"/>
    </mc:Choice>
    <mc:Fallback xmlns="">
      <p:transition spd="slow" advTm="69011"/>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ph idx="1"/>
          </p:nvPr>
        </p:nvSpPr>
        <p:spPr>
          <a:xfrm>
            <a:off x="0" y="1196752"/>
            <a:ext cx="9144000" cy="5184576"/>
          </a:xfrm>
        </p:spPr>
        <p:txBody>
          <a:bodyPr>
            <a:normAutofit/>
          </a:bodyPr>
          <a:lstStyle/>
          <a:p>
            <a:pPr>
              <a:buFont typeface="Arial" charset="0"/>
              <a:buNone/>
              <a:defRPr/>
            </a:pPr>
            <a:r>
              <a:rPr lang="en-US" altLang="zh-CN" sz="3000" dirty="0" smtClean="0">
                <a:latin typeface="Times New Roman" pitchFamily="18" charset="0"/>
                <a:cs typeface="Times New Roman" pitchFamily="18" charset="0"/>
              </a:rPr>
              <a:t>Terms, Definitions and Abbreviated Terms</a:t>
            </a:r>
          </a:p>
          <a:p>
            <a:pPr algn="just"/>
            <a:r>
              <a:rPr lang="en-US" altLang="zh-CN" sz="2400" b="0" dirty="0">
                <a:latin typeface="Times New Roman" pitchFamily="18" charset="0"/>
                <a:cs typeface="Times New Roman" pitchFamily="18" charset="0"/>
              </a:rPr>
              <a:t>The vibration test have many links, although every part is important, the establishment of test condition is the key point, which decides whether the test is effective and succeed. Now we will discuss the establishment method of test condition that is notching criterion. before discussing this part, we must know some definition and terms.</a:t>
            </a:r>
            <a:endParaRPr lang="zh-CN" altLang="zh-CN" sz="2400" b="0" dirty="0">
              <a:latin typeface="Times New Roman" pitchFamily="18" charset="0"/>
              <a:cs typeface="Times New Roman" pitchFamily="18" charset="0"/>
            </a:endParaRPr>
          </a:p>
          <a:p>
            <a:pPr>
              <a:buFont typeface="Arial" charset="0"/>
              <a:buNone/>
              <a:defRPr/>
            </a:pPr>
            <a:endParaRPr lang="zh-CN" altLang="en-US" sz="3000" dirty="0" smtClean="0">
              <a:latin typeface="微软雅黑" pitchFamily="34" charset="-122"/>
              <a:ea typeface="微软雅黑" pitchFamily="34" charset="-122"/>
              <a:cs typeface="Times New Roman" pitchFamily="18" charset="0"/>
            </a:endParaRPr>
          </a:p>
        </p:txBody>
      </p:sp>
      <p:sp>
        <p:nvSpPr>
          <p:cNvPr id="4" name="灯片编号占位符 3"/>
          <p:cNvSpPr>
            <a:spLocks noGrp="1"/>
          </p:cNvSpPr>
          <p:nvPr>
            <p:ph type="sldNum" sz="quarter" idx="12"/>
          </p:nvPr>
        </p:nvSpPr>
        <p:spPr/>
        <p:txBody>
          <a:bodyPr/>
          <a:lstStyle/>
          <a:p>
            <a:pPr>
              <a:defRPr/>
            </a:pPr>
            <a:fld id="{18032BB1-FE3E-4EB2-8493-38E7DC8C578F}" type="slidenum">
              <a:rPr lang="zh-CN" altLang="en-US" smtClean="0"/>
              <a:pPr>
                <a:defRPr/>
              </a:pPr>
              <a:t>24</a:t>
            </a:fld>
            <a:endParaRPr lang="zh-CN" altLang="en-US"/>
          </a:p>
        </p:txBody>
      </p:sp>
      <p:sp>
        <p:nvSpPr>
          <p:cNvPr id="6" name="标题 3"/>
          <p:cNvSpPr txBox="1">
            <a:spLocks noChangeArrowheads="1"/>
          </p:cNvSpPr>
          <p:nvPr/>
        </p:nvSpPr>
        <p:spPr bwMode="auto">
          <a:xfrm>
            <a:off x="2915816" y="404664"/>
            <a:ext cx="5500687" cy="708025"/>
          </a:xfrm>
          <a:prstGeom prst="rect">
            <a:avLst/>
          </a:prstGeom>
          <a:noFill/>
          <a:ln w="9525">
            <a:noFill/>
            <a:miter lim="800000"/>
            <a:headEnd/>
            <a:tailEnd/>
          </a:ln>
        </p:spPr>
        <p:txBody>
          <a:bodyPr anchor="ctr">
            <a:spAutoFit/>
          </a:bodyPr>
          <a:lstStyle/>
          <a:p>
            <a:pPr>
              <a:defRPr/>
            </a:pPr>
            <a:r>
              <a:rPr lang="en-US" altLang="zh-CN" sz="4000" b="1" dirty="0">
                <a:solidFill>
                  <a:srgbClr val="92D050"/>
                </a:solidFill>
                <a:latin typeface="+mj-lt"/>
                <a:ea typeface="+mj-ea"/>
                <a:cs typeface="+mj-cs"/>
              </a:rPr>
              <a:t>Notching criterion</a:t>
            </a:r>
          </a:p>
        </p:txBody>
      </p:sp>
    </p:spTree>
    <p:extLst>
      <p:ext uri="{BB962C8B-B14F-4D97-AF65-F5344CB8AC3E}">
        <p14:creationId xmlns:p14="http://schemas.microsoft.com/office/powerpoint/2010/main" val="866634331"/>
      </p:ext>
    </p:extLst>
  </p:cSld>
  <p:clrMapOvr>
    <a:masterClrMapping/>
  </p:clrMapOvr>
  <mc:AlternateContent xmlns:mc="http://schemas.openxmlformats.org/markup-compatibility/2006" xmlns:p14="http://schemas.microsoft.com/office/powerpoint/2010/main">
    <mc:Choice Requires="p14">
      <p:transition spd="slow" p14:dur="2000" advTm="25326"/>
    </mc:Choice>
    <mc:Fallback xmlns="">
      <p:transition spd="slow" advTm="25326"/>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ph idx="1"/>
          </p:nvPr>
        </p:nvSpPr>
        <p:spPr>
          <a:xfrm>
            <a:off x="0" y="1196752"/>
            <a:ext cx="9144000" cy="5256584"/>
          </a:xfrm>
        </p:spPr>
        <p:txBody>
          <a:bodyPr>
            <a:normAutofit/>
          </a:bodyPr>
          <a:lstStyle/>
          <a:p>
            <a:pPr>
              <a:buFont typeface="Arial" charset="0"/>
              <a:buNone/>
              <a:defRPr/>
            </a:pPr>
            <a:r>
              <a:rPr lang="en-US" altLang="zh-CN" sz="2800" dirty="0" smtClean="0">
                <a:latin typeface="Times New Roman" pitchFamily="18" charset="0"/>
                <a:cs typeface="Times New Roman" pitchFamily="18" charset="0"/>
              </a:rPr>
              <a:t>Terms, Definitions and Abbreviated Terms</a:t>
            </a:r>
            <a:endParaRPr lang="zh-CN" altLang="en-US" sz="2800" dirty="0" smtClean="0">
              <a:latin typeface="Times New Roman" pitchFamily="18" charset="0"/>
              <a:cs typeface="Times New Roman" pitchFamily="18" charset="0"/>
            </a:endParaRPr>
          </a:p>
          <a:p>
            <a:r>
              <a:rPr lang="en-US" altLang="zh-CN" sz="2200" dirty="0">
                <a:latin typeface="Times New Roman" pitchFamily="18" charset="0"/>
                <a:cs typeface="Times New Roman" pitchFamily="18" charset="0"/>
              </a:rPr>
              <a:t>Firstly It’s acceptance level test, </a:t>
            </a:r>
            <a:r>
              <a:rPr lang="en-US" altLang="zh-CN" sz="2200" dirty="0">
                <a:solidFill>
                  <a:srgbClr val="FF0000"/>
                </a:solidFill>
                <a:latin typeface="Times New Roman" pitchFamily="18" charset="0"/>
                <a:cs typeface="Times New Roman" pitchFamily="18" charset="0"/>
              </a:rPr>
              <a:t>Acceptance tests </a:t>
            </a:r>
            <a:r>
              <a:rPr lang="en-US" altLang="zh-CN" sz="2200" dirty="0">
                <a:latin typeface="Times New Roman" pitchFamily="18" charset="0"/>
                <a:cs typeface="Times New Roman" pitchFamily="18" charset="0"/>
              </a:rPr>
              <a:t>are conducted to demonstrate satisfactory performance of flight systems relative to the expected environment and to reveal inadequacies in workmanship and material integrity. It’s abbreviated to </a:t>
            </a:r>
            <a:r>
              <a:rPr lang="en-US" altLang="zh-CN" sz="2200" dirty="0" smtClean="0">
                <a:solidFill>
                  <a:srgbClr val="FF0000"/>
                </a:solidFill>
                <a:latin typeface="Times New Roman" pitchFamily="18" charset="0"/>
                <a:cs typeface="Times New Roman" pitchFamily="18" charset="0"/>
              </a:rPr>
              <a:t>AT</a:t>
            </a:r>
            <a:r>
              <a:rPr lang="en-US" altLang="zh-CN" sz="2200" dirty="0" smtClean="0">
                <a:latin typeface="Times New Roman" pitchFamily="18" charset="0"/>
                <a:cs typeface="Times New Roman" pitchFamily="18" charset="0"/>
              </a:rPr>
              <a:t>.</a:t>
            </a:r>
            <a:endParaRPr lang="zh-CN" altLang="zh-CN" sz="2200" dirty="0">
              <a:latin typeface="Times New Roman" pitchFamily="18" charset="0"/>
              <a:cs typeface="Times New Roman" pitchFamily="18" charset="0"/>
            </a:endParaRPr>
          </a:p>
          <a:p>
            <a:r>
              <a:rPr lang="en-US" altLang="zh-CN" sz="2200" dirty="0">
                <a:latin typeface="Times New Roman" pitchFamily="18" charset="0"/>
                <a:cs typeface="Times New Roman" pitchFamily="18" charset="0"/>
              </a:rPr>
              <a:t> Second </a:t>
            </a:r>
            <a:r>
              <a:rPr lang="en-US" altLang="zh-CN" sz="2200" dirty="0" smtClean="0">
                <a:latin typeface="Times New Roman" pitchFamily="18" charset="0"/>
                <a:cs typeface="Times New Roman" pitchFamily="18" charset="0"/>
              </a:rPr>
              <a:t>It’s </a:t>
            </a:r>
            <a:r>
              <a:rPr lang="en-US" altLang="zh-CN" sz="2200" dirty="0">
                <a:solidFill>
                  <a:srgbClr val="FF0000"/>
                </a:solidFill>
                <a:latin typeface="Times New Roman" pitchFamily="18" charset="0"/>
                <a:cs typeface="Times New Roman" pitchFamily="18" charset="0"/>
              </a:rPr>
              <a:t>flight model</a:t>
            </a:r>
            <a:r>
              <a:rPr lang="en-US" altLang="zh-CN" sz="2200" dirty="0">
                <a:latin typeface="Times New Roman" pitchFamily="18" charset="0"/>
                <a:cs typeface="Times New Roman" pitchFamily="18" charset="0"/>
              </a:rPr>
              <a:t>, which is abbreviated to </a:t>
            </a:r>
            <a:r>
              <a:rPr lang="en-US" altLang="zh-CN" sz="2200" dirty="0">
                <a:solidFill>
                  <a:srgbClr val="FF0000"/>
                </a:solidFill>
                <a:latin typeface="Times New Roman" pitchFamily="18" charset="0"/>
                <a:cs typeface="Times New Roman" pitchFamily="18" charset="0"/>
              </a:rPr>
              <a:t>FM</a:t>
            </a:r>
            <a:r>
              <a:rPr lang="en-US" altLang="zh-CN" sz="2200" dirty="0">
                <a:latin typeface="Times New Roman" pitchFamily="18" charset="0"/>
                <a:cs typeface="Times New Roman" pitchFamily="18" charset="0"/>
              </a:rPr>
              <a:t>. It can be understood easily, satellite’s function status is the same as flight model.</a:t>
            </a:r>
            <a:endParaRPr lang="zh-CN" altLang="zh-CN" sz="2200" dirty="0">
              <a:latin typeface="Times New Roman" pitchFamily="18" charset="0"/>
              <a:cs typeface="Times New Roman" pitchFamily="18" charset="0"/>
            </a:endParaRPr>
          </a:p>
          <a:p>
            <a:r>
              <a:rPr lang="en-US" altLang="zh-CN" sz="2200" dirty="0" smtClean="0">
                <a:latin typeface="Times New Roman" pitchFamily="18" charset="0"/>
                <a:cs typeface="Times New Roman" pitchFamily="18" charset="0"/>
              </a:rPr>
              <a:t>The </a:t>
            </a:r>
            <a:r>
              <a:rPr lang="en-US" altLang="zh-CN" sz="2200" dirty="0">
                <a:latin typeface="Times New Roman" pitchFamily="18" charset="0"/>
                <a:cs typeface="Times New Roman" pitchFamily="18" charset="0"/>
              </a:rPr>
              <a:t>third one is </a:t>
            </a:r>
            <a:r>
              <a:rPr lang="en-US" altLang="zh-CN" sz="2200" dirty="0">
                <a:solidFill>
                  <a:srgbClr val="FF0000"/>
                </a:solidFill>
                <a:latin typeface="Times New Roman" pitchFamily="18" charset="0"/>
                <a:cs typeface="Times New Roman" pitchFamily="18" charset="0"/>
              </a:rPr>
              <a:t>launch vehicle </a:t>
            </a:r>
            <a:r>
              <a:rPr lang="en-US" altLang="zh-CN" sz="2200" dirty="0">
                <a:latin typeface="Times New Roman" pitchFamily="18" charset="0"/>
                <a:cs typeface="Times New Roman" pitchFamily="18" charset="0"/>
              </a:rPr>
              <a:t>which is abbreviated to </a:t>
            </a:r>
            <a:r>
              <a:rPr lang="en-US" altLang="zh-CN" sz="2200" dirty="0">
                <a:solidFill>
                  <a:srgbClr val="FF0000"/>
                </a:solidFill>
                <a:latin typeface="Times New Roman" pitchFamily="18" charset="0"/>
                <a:cs typeface="Times New Roman" pitchFamily="18" charset="0"/>
              </a:rPr>
              <a:t>LV</a:t>
            </a:r>
            <a:r>
              <a:rPr lang="en-US" altLang="zh-CN" sz="2200" dirty="0">
                <a:latin typeface="Times New Roman" pitchFamily="18" charset="0"/>
                <a:cs typeface="Times New Roman" pitchFamily="18" charset="0"/>
              </a:rPr>
              <a:t>. </a:t>
            </a:r>
            <a:endParaRPr lang="en-US" altLang="zh-CN" sz="2200" dirty="0" smtClean="0">
              <a:latin typeface="Times New Roman" pitchFamily="18" charset="0"/>
              <a:cs typeface="Times New Roman" pitchFamily="18" charset="0"/>
            </a:endParaRPr>
          </a:p>
          <a:p>
            <a:r>
              <a:rPr lang="en-US" altLang="zh-CN" sz="2200" dirty="0" smtClean="0">
                <a:latin typeface="Times New Roman" pitchFamily="18" charset="0"/>
                <a:cs typeface="Times New Roman" pitchFamily="18" charset="0"/>
              </a:rPr>
              <a:t>Finally Spacecraft</a:t>
            </a:r>
            <a:r>
              <a:rPr lang="zh-CN" altLang="en-US" sz="2200" dirty="0" smtClean="0">
                <a:latin typeface="Times New Roman" pitchFamily="18" charset="0"/>
                <a:cs typeface="Times New Roman" pitchFamily="18" charset="0"/>
              </a:rPr>
              <a:t>、</a:t>
            </a:r>
            <a:r>
              <a:rPr lang="en-US" altLang="zh-CN" sz="2200" dirty="0" smtClean="0">
                <a:latin typeface="Times New Roman" pitchFamily="18" charset="0"/>
                <a:cs typeface="Times New Roman" pitchFamily="18" charset="0"/>
              </a:rPr>
              <a:t>satellite </a:t>
            </a:r>
            <a:r>
              <a:rPr lang="en-US" altLang="zh-CN" sz="2200" dirty="0">
                <a:latin typeface="Times New Roman" pitchFamily="18" charset="0"/>
                <a:cs typeface="Times New Roman" pitchFamily="18" charset="0"/>
              </a:rPr>
              <a:t>can be abbreviated to </a:t>
            </a:r>
            <a:r>
              <a:rPr lang="en-US" altLang="zh-CN" sz="2200" dirty="0">
                <a:solidFill>
                  <a:srgbClr val="FF0000"/>
                </a:solidFill>
                <a:latin typeface="Times New Roman" pitchFamily="18" charset="0"/>
                <a:cs typeface="Times New Roman" pitchFamily="18" charset="0"/>
              </a:rPr>
              <a:t>SC</a:t>
            </a:r>
            <a:r>
              <a:rPr lang="en-US" altLang="zh-CN" sz="2200" dirty="0">
                <a:latin typeface="Times New Roman" pitchFamily="18" charset="0"/>
                <a:cs typeface="Times New Roman" pitchFamily="18" charset="0"/>
              </a:rPr>
              <a:t>.</a:t>
            </a:r>
            <a:endParaRPr lang="zh-CN" altLang="zh-CN" sz="2200" dirty="0">
              <a:latin typeface="Times New Roman" pitchFamily="18" charset="0"/>
              <a:cs typeface="Times New Roman" pitchFamily="18" charset="0"/>
            </a:endParaRPr>
          </a:p>
        </p:txBody>
      </p:sp>
      <p:sp>
        <p:nvSpPr>
          <p:cNvPr id="4" name="灯片编号占位符 3"/>
          <p:cNvSpPr>
            <a:spLocks noGrp="1"/>
          </p:cNvSpPr>
          <p:nvPr>
            <p:ph type="sldNum" sz="quarter" idx="12"/>
          </p:nvPr>
        </p:nvSpPr>
        <p:spPr/>
        <p:txBody>
          <a:bodyPr/>
          <a:lstStyle/>
          <a:p>
            <a:pPr>
              <a:defRPr/>
            </a:pPr>
            <a:fld id="{18032BB1-FE3E-4EB2-8493-38E7DC8C578F}" type="slidenum">
              <a:rPr lang="zh-CN" altLang="en-US" smtClean="0"/>
              <a:pPr>
                <a:defRPr/>
              </a:pPr>
              <a:t>25</a:t>
            </a:fld>
            <a:endParaRPr lang="zh-CN" altLang="en-US"/>
          </a:p>
        </p:txBody>
      </p:sp>
      <p:sp>
        <p:nvSpPr>
          <p:cNvPr id="6" name="标题 3"/>
          <p:cNvSpPr txBox="1">
            <a:spLocks noChangeArrowheads="1"/>
          </p:cNvSpPr>
          <p:nvPr/>
        </p:nvSpPr>
        <p:spPr bwMode="auto">
          <a:xfrm>
            <a:off x="2915816" y="404664"/>
            <a:ext cx="5500687" cy="708025"/>
          </a:xfrm>
          <a:prstGeom prst="rect">
            <a:avLst/>
          </a:prstGeom>
          <a:noFill/>
          <a:ln w="9525">
            <a:noFill/>
            <a:miter lim="800000"/>
            <a:headEnd/>
            <a:tailEnd/>
          </a:ln>
        </p:spPr>
        <p:txBody>
          <a:bodyPr anchor="ctr">
            <a:spAutoFit/>
          </a:bodyPr>
          <a:lstStyle/>
          <a:p>
            <a:pPr>
              <a:defRPr/>
            </a:pPr>
            <a:r>
              <a:rPr lang="en-US" altLang="zh-CN" sz="4000" b="1" dirty="0">
                <a:solidFill>
                  <a:srgbClr val="92D050"/>
                </a:solidFill>
                <a:latin typeface="+mj-lt"/>
                <a:ea typeface="+mj-ea"/>
                <a:cs typeface="+mj-cs"/>
              </a:rPr>
              <a:t>Notching criterion</a:t>
            </a:r>
          </a:p>
        </p:txBody>
      </p:sp>
    </p:spTree>
    <p:extLst>
      <p:ext uri="{BB962C8B-B14F-4D97-AF65-F5344CB8AC3E}">
        <p14:creationId xmlns:p14="http://schemas.microsoft.com/office/powerpoint/2010/main" val="1045793072"/>
      </p:ext>
    </p:extLst>
  </p:cSld>
  <p:clrMapOvr>
    <a:masterClrMapping/>
  </p:clrMapOvr>
  <mc:AlternateContent xmlns:mc="http://schemas.openxmlformats.org/markup-compatibility/2006" xmlns:p14="http://schemas.microsoft.com/office/powerpoint/2010/main">
    <mc:Choice Requires="p14">
      <p:transition spd="slow" p14:dur="2000" advTm="68419"/>
    </mc:Choice>
    <mc:Fallback xmlns="">
      <p:transition spd="slow" advTm="68419"/>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ph idx="1"/>
          </p:nvPr>
        </p:nvSpPr>
        <p:spPr>
          <a:xfrm>
            <a:off x="0" y="1196752"/>
            <a:ext cx="9144000" cy="5256584"/>
          </a:xfrm>
        </p:spPr>
        <p:txBody>
          <a:bodyPr>
            <a:normAutofit/>
          </a:bodyPr>
          <a:lstStyle/>
          <a:p>
            <a:pPr marL="0" lvl="1" indent="0" algn="just">
              <a:buNone/>
              <a:defRPr/>
            </a:pPr>
            <a:r>
              <a:rPr lang="en-US" altLang="zh-CN" sz="2400" b="0" dirty="0" smtClean="0">
                <a:latin typeface="Times New Roman" pitchFamily="18" charset="0"/>
                <a:cs typeface="Times New Roman" pitchFamily="18" charset="0"/>
              </a:rPr>
              <a:t>          In </a:t>
            </a:r>
            <a:r>
              <a:rPr lang="en-US" altLang="zh-CN" sz="2400" b="0" dirty="0">
                <a:latin typeface="Times New Roman" pitchFamily="18" charset="0"/>
                <a:cs typeface="Times New Roman" pitchFamily="18" charset="0"/>
              </a:rPr>
              <a:t>this segment, we must determinate appropriate input curve, the curve may be adjusted in some specific frequencies according to the test data. now we will talk about </a:t>
            </a:r>
            <a:r>
              <a:rPr lang="en-US" altLang="zh-CN" sz="2400" dirty="0">
                <a:solidFill>
                  <a:srgbClr val="FF0000"/>
                </a:solidFill>
                <a:latin typeface="Times New Roman" pitchFamily="18" charset="0"/>
                <a:cs typeface="Times New Roman" pitchFamily="18" charset="0"/>
              </a:rPr>
              <a:t>the notching criterion </a:t>
            </a:r>
            <a:r>
              <a:rPr lang="en-US" altLang="zh-CN" sz="2400" b="0" dirty="0">
                <a:latin typeface="Times New Roman" pitchFamily="18" charset="0"/>
                <a:cs typeface="Times New Roman" pitchFamily="18" charset="0"/>
              </a:rPr>
              <a:t>for </a:t>
            </a:r>
            <a:r>
              <a:rPr lang="en-US" altLang="zh-CN" sz="2400" b="0" dirty="0" err="1">
                <a:latin typeface="Times New Roman" pitchFamily="18" charset="0"/>
                <a:cs typeface="Times New Roman" pitchFamily="18" charset="0"/>
              </a:rPr>
              <a:t>sdjusting</a:t>
            </a:r>
            <a:r>
              <a:rPr lang="en-US" altLang="zh-CN" sz="2400" b="0" dirty="0">
                <a:latin typeface="Times New Roman" pitchFamily="18" charset="0"/>
                <a:cs typeface="Times New Roman" pitchFamily="18" charset="0"/>
              </a:rPr>
              <a:t> the input curve.</a:t>
            </a:r>
            <a:endParaRPr lang="zh-CN" altLang="zh-CN" sz="2400" b="0" dirty="0">
              <a:latin typeface="Times New Roman" pitchFamily="18" charset="0"/>
              <a:cs typeface="Times New Roman" pitchFamily="18" charset="0"/>
            </a:endParaRPr>
          </a:p>
          <a:p>
            <a:pPr marL="0" lvl="1" indent="0" algn="just" eaLnBrk="1" hangingPunct="1">
              <a:buFont typeface="Arial" charset="0"/>
              <a:buNone/>
              <a:defRPr/>
            </a:pPr>
            <a:r>
              <a:rPr lang="en-US" altLang="zh-CN" sz="2400" b="1" dirty="0" smtClean="0">
                <a:latin typeface="Times New Roman" pitchFamily="18" charset="0"/>
                <a:cs typeface="Times New Roman" pitchFamily="18" charset="0"/>
              </a:rPr>
              <a:t>Notching criterion :</a:t>
            </a:r>
          </a:p>
          <a:p>
            <a:pPr marL="342900" lvl="1" indent="-342900" algn="just">
              <a:buFont typeface="Wingdings" pitchFamily="2" charset="2"/>
              <a:buChar char="l"/>
              <a:defRPr/>
            </a:pPr>
            <a:r>
              <a:rPr lang="en-US" altLang="zh-CN" sz="2400" dirty="0" smtClean="0">
                <a:latin typeface="Times New Roman" pitchFamily="18" charset="0"/>
                <a:cs typeface="Times New Roman" pitchFamily="18" charset="0"/>
              </a:rPr>
              <a:t>Input curve must be higher than the prediction curve provided by LV.</a:t>
            </a:r>
          </a:p>
          <a:p>
            <a:pPr marL="342900" lvl="1" indent="-342900" algn="just">
              <a:buFont typeface="Wingdings" pitchFamily="2" charset="2"/>
              <a:buChar char="l"/>
              <a:defRPr/>
            </a:pPr>
            <a:r>
              <a:rPr lang="en-US" altLang="zh-CN" sz="2400" dirty="0" smtClean="0">
                <a:latin typeface="Times New Roman" pitchFamily="18" charset="0"/>
                <a:cs typeface="Times New Roman" pitchFamily="18" charset="0"/>
              </a:rPr>
              <a:t>Input curve must satisfy that the response of all units on SC are lower than their response in unit acceptance test.</a:t>
            </a:r>
          </a:p>
          <a:p>
            <a:pPr marL="0" lvl="1" indent="0" eaLnBrk="1" hangingPunct="1">
              <a:buFont typeface="Arial" charset="0"/>
              <a:buNone/>
              <a:defRPr/>
            </a:pPr>
            <a:endParaRPr lang="en-US" altLang="zh-CN" sz="2400" dirty="0" smtClean="0"/>
          </a:p>
          <a:p>
            <a:pPr marL="0" lvl="1" indent="0" eaLnBrk="1" hangingPunct="1">
              <a:buFont typeface="Arial" charset="0"/>
              <a:buNone/>
              <a:defRPr/>
            </a:pPr>
            <a:endParaRPr lang="en-US" altLang="zh-CN" sz="2400" dirty="0" smtClean="0"/>
          </a:p>
          <a:p>
            <a:pPr marL="0" indent="0" eaLnBrk="1" hangingPunct="1">
              <a:buFont typeface="Arial" charset="0"/>
              <a:buNone/>
              <a:defRPr/>
            </a:pPr>
            <a:endParaRPr lang="en-US" altLang="zh-CN" sz="2400" dirty="0" smtClean="0"/>
          </a:p>
          <a:p>
            <a:pPr marL="0" indent="0" eaLnBrk="1" hangingPunct="1">
              <a:buFont typeface="Arial" charset="0"/>
              <a:buNone/>
              <a:defRPr/>
            </a:pPr>
            <a:endParaRPr lang="en-US" altLang="zh-CN" sz="2400" dirty="0" smtClean="0"/>
          </a:p>
        </p:txBody>
      </p:sp>
      <p:sp>
        <p:nvSpPr>
          <p:cNvPr id="3" name="标题 3"/>
          <p:cNvSpPr txBox="1">
            <a:spLocks noChangeArrowheads="1"/>
          </p:cNvSpPr>
          <p:nvPr/>
        </p:nvSpPr>
        <p:spPr bwMode="auto">
          <a:xfrm>
            <a:off x="1" y="285750"/>
            <a:ext cx="9144000" cy="708025"/>
          </a:xfrm>
          <a:prstGeom prst="rect">
            <a:avLst/>
          </a:prstGeom>
          <a:noFill/>
          <a:ln w="9525">
            <a:noFill/>
            <a:miter lim="800000"/>
            <a:headEnd/>
            <a:tailEnd/>
          </a:ln>
        </p:spPr>
        <p:txBody>
          <a:bodyPr wrap="square" anchor="ctr">
            <a:spAutoFit/>
          </a:bodyPr>
          <a:lstStyle/>
          <a:p>
            <a:pPr algn="ctr">
              <a:defRPr/>
            </a:pPr>
            <a:r>
              <a:rPr lang="en-US" altLang="zh-CN" sz="4000" b="1" dirty="0">
                <a:solidFill>
                  <a:srgbClr val="92D050"/>
                </a:solidFill>
                <a:latin typeface="+mj-lt"/>
                <a:ea typeface="+mj-ea"/>
                <a:cs typeface="+mj-cs"/>
              </a:rPr>
              <a:t>Notching criterion</a:t>
            </a:r>
          </a:p>
        </p:txBody>
      </p:sp>
      <p:sp>
        <p:nvSpPr>
          <p:cNvPr id="4" name="灯片编号占位符 7"/>
          <p:cNvSpPr>
            <a:spLocks noGrp="1"/>
          </p:cNvSpPr>
          <p:nvPr>
            <p:ph type="sldNum" sz="quarter" idx="12"/>
          </p:nvPr>
        </p:nvSpPr>
        <p:spPr/>
        <p:txBody>
          <a:bodyPr/>
          <a:lstStyle/>
          <a:p>
            <a:pPr>
              <a:defRPr/>
            </a:pPr>
            <a:fld id="{B74B7BEC-D262-437A-8ADA-0F0D22D8444E}" type="slidenum">
              <a:rPr lang="zh-CN" altLang="en-US" smtClean="0"/>
              <a:pPr>
                <a:defRPr/>
              </a:pPr>
              <a:t>26</a:t>
            </a:fld>
            <a:endParaRPr lang="zh-CN" altLang="en-US"/>
          </a:p>
        </p:txBody>
      </p:sp>
      <p:sp>
        <p:nvSpPr>
          <p:cNvPr id="51205"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5120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51207"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Tree>
    <p:extLst>
      <p:ext uri="{BB962C8B-B14F-4D97-AF65-F5344CB8AC3E}">
        <p14:creationId xmlns:p14="http://schemas.microsoft.com/office/powerpoint/2010/main" val="2579793178"/>
      </p:ext>
    </p:extLst>
  </p:cSld>
  <p:clrMapOvr>
    <a:masterClrMapping/>
  </p:clrMapOvr>
  <mc:AlternateContent xmlns:mc="http://schemas.openxmlformats.org/markup-compatibility/2006" xmlns:p14="http://schemas.microsoft.com/office/powerpoint/2010/main">
    <mc:Choice Requires="p14">
      <p:transition spd="slow" p14:dur="2000" advTm="37792"/>
    </mc:Choice>
    <mc:Fallback xmlns="">
      <p:transition spd="slow" advTm="37792"/>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ph idx="1"/>
          </p:nvPr>
        </p:nvSpPr>
        <p:spPr>
          <a:xfrm>
            <a:off x="0" y="1212156"/>
            <a:ext cx="9144000" cy="1712788"/>
          </a:xfrm>
        </p:spPr>
        <p:txBody>
          <a:bodyPr>
            <a:normAutofit lnSpcReduction="10000"/>
          </a:bodyPr>
          <a:lstStyle/>
          <a:p>
            <a:pPr marL="0" lvl="1" indent="0" algn="just">
              <a:buNone/>
              <a:defRPr/>
            </a:pPr>
            <a:r>
              <a:rPr lang="en-US" altLang="zh-CN" sz="2400" dirty="0" smtClean="0">
                <a:latin typeface="Times New Roman" pitchFamily="18" charset="0"/>
                <a:cs typeface="Times New Roman" pitchFamily="18" charset="0"/>
              </a:rPr>
              <a:t>Now </a:t>
            </a:r>
            <a:r>
              <a:rPr lang="en-US" altLang="zh-CN" sz="2400" dirty="0">
                <a:latin typeface="Times New Roman" pitchFamily="18" charset="0"/>
                <a:cs typeface="Times New Roman" pitchFamily="18" charset="0"/>
              </a:rPr>
              <a:t>we will explain these criterions through an example. Let’s see this picture, It’s X axis swept-sine vibration test, input curve without notching.</a:t>
            </a:r>
            <a:endParaRPr lang="en-US" altLang="zh-CN" sz="2400" dirty="0" smtClean="0">
              <a:latin typeface="Times New Roman" pitchFamily="18" charset="0"/>
              <a:cs typeface="Times New Roman" pitchFamily="18" charset="0"/>
            </a:endParaRPr>
          </a:p>
          <a:p>
            <a:pPr marL="0" lvl="1" indent="0" eaLnBrk="1" hangingPunct="1">
              <a:buFont typeface="Arial" charset="0"/>
              <a:buNone/>
              <a:defRPr/>
            </a:pPr>
            <a:endParaRPr lang="en-US" altLang="zh-CN" sz="2400" dirty="0" smtClean="0"/>
          </a:p>
          <a:p>
            <a:pPr marL="0" lvl="1" indent="0" eaLnBrk="1" hangingPunct="1">
              <a:buFont typeface="Arial" charset="0"/>
              <a:buNone/>
              <a:defRPr/>
            </a:pPr>
            <a:endParaRPr lang="en-US" altLang="zh-CN" sz="2400" dirty="0" smtClean="0"/>
          </a:p>
          <a:p>
            <a:pPr marL="0" indent="0" eaLnBrk="1" hangingPunct="1">
              <a:buFont typeface="Arial" charset="0"/>
              <a:buNone/>
              <a:defRPr/>
            </a:pPr>
            <a:endParaRPr lang="en-US" altLang="zh-CN" sz="2400" dirty="0" smtClean="0"/>
          </a:p>
          <a:p>
            <a:pPr marL="0" indent="0" eaLnBrk="1" hangingPunct="1">
              <a:buFont typeface="Arial" charset="0"/>
              <a:buNone/>
              <a:defRPr/>
            </a:pPr>
            <a:endParaRPr lang="en-US" altLang="zh-CN" sz="2400" dirty="0" smtClean="0"/>
          </a:p>
        </p:txBody>
      </p:sp>
      <p:sp>
        <p:nvSpPr>
          <p:cNvPr id="3" name="标题 3"/>
          <p:cNvSpPr txBox="1">
            <a:spLocks noChangeArrowheads="1"/>
          </p:cNvSpPr>
          <p:nvPr/>
        </p:nvSpPr>
        <p:spPr bwMode="auto">
          <a:xfrm>
            <a:off x="35497" y="285750"/>
            <a:ext cx="9108504" cy="708025"/>
          </a:xfrm>
          <a:prstGeom prst="rect">
            <a:avLst/>
          </a:prstGeom>
          <a:noFill/>
          <a:ln w="9525">
            <a:noFill/>
            <a:miter lim="800000"/>
            <a:headEnd/>
            <a:tailEnd/>
          </a:ln>
        </p:spPr>
        <p:txBody>
          <a:bodyPr wrap="square" anchor="ctr">
            <a:spAutoFit/>
          </a:bodyPr>
          <a:lstStyle/>
          <a:p>
            <a:pPr algn="ctr">
              <a:defRPr/>
            </a:pPr>
            <a:r>
              <a:rPr lang="en-US" altLang="zh-CN" sz="4000" b="1" dirty="0">
                <a:solidFill>
                  <a:srgbClr val="92D050"/>
                </a:solidFill>
                <a:latin typeface="+mj-lt"/>
                <a:ea typeface="+mj-ea"/>
                <a:cs typeface="+mj-cs"/>
              </a:rPr>
              <a:t>Notching criterion</a:t>
            </a:r>
          </a:p>
        </p:txBody>
      </p:sp>
      <p:sp>
        <p:nvSpPr>
          <p:cNvPr id="4" name="灯片编号占位符 7"/>
          <p:cNvSpPr>
            <a:spLocks noGrp="1"/>
          </p:cNvSpPr>
          <p:nvPr>
            <p:ph type="sldNum" sz="quarter" idx="12"/>
          </p:nvPr>
        </p:nvSpPr>
        <p:spPr/>
        <p:txBody>
          <a:bodyPr/>
          <a:lstStyle/>
          <a:p>
            <a:pPr>
              <a:defRPr/>
            </a:pPr>
            <a:fld id="{2C149853-C809-4192-B13A-72755A9F349A}" type="slidenum">
              <a:rPr lang="zh-CN" altLang="en-US" smtClean="0"/>
              <a:pPr>
                <a:defRPr/>
              </a:pPr>
              <a:t>27</a:t>
            </a:fld>
            <a:endParaRPr lang="zh-CN" altLang="en-US"/>
          </a:p>
        </p:txBody>
      </p:sp>
      <p:sp>
        <p:nvSpPr>
          <p:cNvPr id="52229"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52230"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52231"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pic>
        <p:nvPicPr>
          <p:cNvPr id="52232"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2924944"/>
            <a:ext cx="6696744" cy="3498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7451961"/>
      </p:ext>
    </p:extLst>
  </p:cSld>
  <p:clrMapOvr>
    <a:masterClrMapping/>
  </p:clrMapOvr>
  <mc:AlternateContent xmlns:mc="http://schemas.openxmlformats.org/markup-compatibility/2006" xmlns:p14="http://schemas.microsoft.com/office/powerpoint/2010/main">
    <mc:Choice Requires="p14">
      <p:transition spd="slow" p14:dur="2000" advTm="14046"/>
    </mc:Choice>
    <mc:Fallback xmlns="">
      <p:transition spd="slow" advTm="14046"/>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ph idx="1"/>
          </p:nvPr>
        </p:nvSpPr>
        <p:spPr>
          <a:xfrm>
            <a:off x="0" y="1196752"/>
            <a:ext cx="9144000" cy="4953226"/>
          </a:xfrm>
        </p:spPr>
        <p:txBody>
          <a:bodyPr/>
          <a:lstStyle/>
          <a:p>
            <a:pPr algn="just"/>
            <a:r>
              <a:rPr lang="en-US" altLang="zh-CN" sz="2800" dirty="0" smtClean="0">
                <a:latin typeface="Times New Roman" pitchFamily="18" charset="0"/>
                <a:cs typeface="Times New Roman" pitchFamily="18" charset="0"/>
              </a:rPr>
              <a:t>Then </a:t>
            </a:r>
            <a:r>
              <a:rPr lang="en-US" altLang="zh-CN" sz="2800" dirty="0">
                <a:latin typeface="Times New Roman" pitchFamily="18" charset="0"/>
                <a:cs typeface="Times New Roman" pitchFamily="18" charset="0"/>
              </a:rPr>
              <a:t>we get response data of all units after we finished the x-axis low level sine-swept test. this picture is one of the </a:t>
            </a:r>
            <a:r>
              <a:rPr lang="en-US" altLang="zh-CN" sz="2800" dirty="0" err="1">
                <a:latin typeface="Times New Roman" pitchFamily="18" charset="0"/>
                <a:cs typeface="Times New Roman" pitchFamily="18" charset="0"/>
              </a:rPr>
              <a:t>units’response</a:t>
            </a:r>
            <a:r>
              <a:rPr lang="en-US" altLang="zh-CN" sz="2800" dirty="0">
                <a:latin typeface="Times New Roman" pitchFamily="18" charset="0"/>
                <a:cs typeface="Times New Roman" pitchFamily="18" charset="0"/>
              </a:rPr>
              <a:t> in SC.</a:t>
            </a:r>
            <a:endParaRPr lang="zh-CN" altLang="zh-CN" sz="2800" dirty="0">
              <a:latin typeface="Times New Roman" pitchFamily="18" charset="0"/>
              <a:cs typeface="Times New Roman" pitchFamily="18" charset="0"/>
            </a:endParaRPr>
          </a:p>
          <a:p>
            <a:pPr marL="0" lvl="1" indent="0" eaLnBrk="1" hangingPunct="1">
              <a:buFont typeface="Arial" charset="0"/>
              <a:buNone/>
              <a:defRPr/>
            </a:pPr>
            <a:endParaRPr lang="en-US" altLang="zh-CN" sz="2400" dirty="0" smtClean="0"/>
          </a:p>
          <a:p>
            <a:pPr marL="0" lvl="1" indent="0" eaLnBrk="1" hangingPunct="1">
              <a:buFont typeface="Arial" charset="0"/>
              <a:buNone/>
              <a:defRPr/>
            </a:pPr>
            <a:endParaRPr lang="en-US" altLang="zh-CN" sz="2400" dirty="0" smtClean="0"/>
          </a:p>
          <a:p>
            <a:pPr marL="0" lvl="1" indent="0" eaLnBrk="1" hangingPunct="1">
              <a:buFont typeface="Arial" charset="0"/>
              <a:buNone/>
              <a:defRPr/>
            </a:pPr>
            <a:endParaRPr lang="en-US" altLang="zh-CN" sz="2400" dirty="0" smtClean="0"/>
          </a:p>
          <a:p>
            <a:pPr marL="0" lvl="1" indent="0" eaLnBrk="1" hangingPunct="1">
              <a:buFont typeface="Arial" charset="0"/>
              <a:buNone/>
              <a:defRPr/>
            </a:pPr>
            <a:endParaRPr lang="en-US" altLang="zh-CN" sz="2400" dirty="0" smtClean="0"/>
          </a:p>
          <a:p>
            <a:pPr marL="0" indent="0" eaLnBrk="1" hangingPunct="1">
              <a:buFont typeface="Arial" charset="0"/>
              <a:buNone/>
              <a:defRPr/>
            </a:pPr>
            <a:endParaRPr lang="en-US" altLang="zh-CN" sz="2400" dirty="0" smtClean="0"/>
          </a:p>
          <a:p>
            <a:pPr marL="0" indent="0" eaLnBrk="1" hangingPunct="1">
              <a:buFont typeface="Arial" charset="0"/>
              <a:buNone/>
              <a:defRPr/>
            </a:pPr>
            <a:endParaRPr lang="en-US" altLang="zh-CN" sz="2400" dirty="0" smtClean="0"/>
          </a:p>
        </p:txBody>
      </p:sp>
      <p:sp>
        <p:nvSpPr>
          <p:cNvPr id="4" name="灯片编号占位符 7"/>
          <p:cNvSpPr>
            <a:spLocks noGrp="1"/>
          </p:cNvSpPr>
          <p:nvPr>
            <p:ph type="sldNum" sz="quarter" idx="12"/>
          </p:nvPr>
        </p:nvSpPr>
        <p:spPr/>
        <p:txBody>
          <a:bodyPr/>
          <a:lstStyle/>
          <a:p>
            <a:pPr>
              <a:defRPr/>
            </a:pPr>
            <a:fld id="{FD0DDBE5-02BB-424B-9FC7-7614250E65F1}" type="slidenum">
              <a:rPr lang="zh-CN" altLang="en-US" smtClean="0"/>
              <a:pPr>
                <a:defRPr/>
              </a:pPr>
              <a:t>28</a:t>
            </a:fld>
            <a:endParaRPr lang="zh-CN" altLang="en-US"/>
          </a:p>
        </p:txBody>
      </p:sp>
      <p:sp>
        <p:nvSpPr>
          <p:cNvPr id="53253"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5325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53255"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pic>
        <p:nvPicPr>
          <p:cNvPr id="53256"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79712" y="3284984"/>
            <a:ext cx="4993779" cy="2864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标题 3"/>
          <p:cNvSpPr txBox="1">
            <a:spLocks noChangeArrowheads="1"/>
          </p:cNvSpPr>
          <p:nvPr/>
        </p:nvSpPr>
        <p:spPr bwMode="auto">
          <a:xfrm>
            <a:off x="1" y="285750"/>
            <a:ext cx="9144000" cy="708025"/>
          </a:xfrm>
          <a:prstGeom prst="rect">
            <a:avLst/>
          </a:prstGeom>
          <a:noFill/>
          <a:ln w="9525">
            <a:noFill/>
            <a:miter lim="800000"/>
            <a:headEnd/>
            <a:tailEnd/>
          </a:ln>
        </p:spPr>
        <p:txBody>
          <a:bodyPr wrap="square" anchor="ctr">
            <a:spAutoFit/>
          </a:bodyPr>
          <a:lstStyle/>
          <a:p>
            <a:pPr algn="ctr">
              <a:defRPr/>
            </a:pPr>
            <a:r>
              <a:rPr lang="en-US" altLang="zh-CN" sz="4000" b="1" dirty="0">
                <a:solidFill>
                  <a:srgbClr val="92D050"/>
                </a:solidFill>
                <a:latin typeface="+mj-lt"/>
                <a:ea typeface="+mj-ea"/>
                <a:cs typeface="+mj-cs"/>
              </a:rPr>
              <a:t>Notching criterion</a:t>
            </a:r>
          </a:p>
        </p:txBody>
      </p:sp>
    </p:spTree>
    <p:extLst>
      <p:ext uri="{BB962C8B-B14F-4D97-AF65-F5344CB8AC3E}">
        <p14:creationId xmlns:p14="http://schemas.microsoft.com/office/powerpoint/2010/main" val="2410945055"/>
      </p:ext>
    </p:extLst>
  </p:cSld>
  <p:clrMapOvr>
    <a:masterClrMapping/>
  </p:clrMapOvr>
  <mc:AlternateContent xmlns:mc="http://schemas.openxmlformats.org/markup-compatibility/2006" xmlns:p14="http://schemas.microsoft.com/office/powerpoint/2010/main">
    <mc:Choice Requires="p14">
      <p:transition spd="slow" p14:dur="2000" advTm="14178"/>
    </mc:Choice>
    <mc:Fallback xmlns="">
      <p:transition spd="slow" advTm="14178"/>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ph idx="1"/>
          </p:nvPr>
        </p:nvSpPr>
        <p:spPr>
          <a:xfrm>
            <a:off x="1" y="1196752"/>
            <a:ext cx="9143999" cy="5256584"/>
          </a:xfrm>
        </p:spPr>
        <p:txBody>
          <a:bodyPr>
            <a:normAutofit fontScale="92500"/>
          </a:bodyPr>
          <a:lstStyle/>
          <a:p>
            <a:pPr>
              <a:buFont typeface="Arial" charset="0"/>
              <a:buNone/>
              <a:defRPr/>
            </a:pPr>
            <a:r>
              <a:rPr lang="en-US" altLang="zh-CN" sz="3000" dirty="0" smtClean="0">
                <a:latin typeface="微软雅黑" pitchFamily="34" charset="-122"/>
                <a:ea typeface="微软雅黑" pitchFamily="34" charset="-122"/>
                <a:cs typeface="Times New Roman" pitchFamily="18" charset="0"/>
              </a:rPr>
              <a:t>Detailed Process</a:t>
            </a:r>
          </a:p>
          <a:p>
            <a:pPr marL="342900" lvl="1" indent="-342900" algn="just">
              <a:buFont typeface="Wingdings" pitchFamily="2" charset="2"/>
              <a:buChar char="l"/>
              <a:defRPr/>
            </a:pPr>
            <a:r>
              <a:rPr lang="en-US" altLang="zh-CN" sz="2400" dirty="0" smtClean="0">
                <a:latin typeface="Times New Roman" pitchFamily="18" charset="0"/>
                <a:cs typeface="Times New Roman" pitchFamily="18" charset="0"/>
              </a:rPr>
              <a:t>Firstly, we need check all response data of units on SC in low level test , and find out the units whose response are larger than 1g. </a:t>
            </a:r>
          </a:p>
          <a:p>
            <a:pPr marL="342900" lvl="1" indent="-342900" algn="just" eaLnBrk="1" hangingPunct="1">
              <a:buFont typeface="Wingdings" pitchFamily="2" charset="2"/>
              <a:buChar char="l"/>
              <a:defRPr/>
            </a:pPr>
            <a:r>
              <a:rPr lang="en-US" altLang="zh-CN" sz="2400" dirty="0" smtClean="0">
                <a:latin typeface="Times New Roman" pitchFamily="18" charset="0"/>
                <a:cs typeface="Times New Roman" pitchFamily="18" charset="0"/>
              </a:rPr>
              <a:t>Then, we can predict the response of these units  in acceptance test  by comparing the low level and AT curve without notching. If the prediction is larger than the response in units acceptance test, we must notch the AT curve in the related frequencies to protect the units.</a:t>
            </a:r>
          </a:p>
          <a:p>
            <a:pPr marL="342900" lvl="1" indent="-342900" algn="just">
              <a:buFont typeface="Wingdings" pitchFamily="2" charset="2"/>
              <a:buChar char="l"/>
              <a:defRPr/>
            </a:pPr>
            <a:r>
              <a:rPr lang="en-US" altLang="zh-CN" sz="2400" dirty="0" smtClean="0">
                <a:latin typeface="Times New Roman" pitchFamily="18" charset="0"/>
                <a:cs typeface="Times New Roman" pitchFamily="18" charset="0"/>
              </a:rPr>
              <a:t>However, notching is not unlimited, the curve with notching must be higher than the prediction curve provided by LV.</a:t>
            </a:r>
          </a:p>
          <a:p>
            <a:pPr marL="0" lvl="1" indent="0" eaLnBrk="1" hangingPunct="1">
              <a:buFont typeface="Arial" charset="0"/>
              <a:buNone/>
              <a:defRPr/>
            </a:pPr>
            <a:endParaRPr lang="en-US" altLang="zh-CN" sz="2400" dirty="0" smtClean="0"/>
          </a:p>
          <a:p>
            <a:pPr marL="0" lvl="1" indent="0" eaLnBrk="1" hangingPunct="1">
              <a:buFont typeface="Arial" charset="0"/>
              <a:buNone/>
              <a:defRPr/>
            </a:pPr>
            <a:endParaRPr lang="en-US" altLang="zh-CN" sz="2400" dirty="0" smtClean="0"/>
          </a:p>
          <a:p>
            <a:pPr marL="0" lvl="1" indent="0" eaLnBrk="1" hangingPunct="1">
              <a:buFont typeface="Arial" charset="0"/>
              <a:buNone/>
              <a:defRPr/>
            </a:pPr>
            <a:endParaRPr lang="en-US" altLang="zh-CN" sz="2400" dirty="0" smtClean="0"/>
          </a:p>
          <a:p>
            <a:pPr marL="0" lvl="1" indent="0" eaLnBrk="1" hangingPunct="1">
              <a:buFont typeface="Arial" charset="0"/>
              <a:buNone/>
              <a:defRPr/>
            </a:pPr>
            <a:endParaRPr lang="en-US" altLang="zh-CN" sz="2400" dirty="0" smtClean="0"/>
          </a:p>
          <a:p>
            <a:pPr marL="0" indent="0" eaLnBrk="1" hangingPunct="1">
              <a:buFont typeface="Arial" charset="0"/>
              <a:buNone/>
              <a:defRPr/>
            </a:pPr>
            <a:endParaRPr lang="en-US" altLang="zh-CN" sz="2400" dirty="0" smtClean="0"/>
          </a:p>
          <a:p>
            <a:pPr marL="0" indent="0" eaLnBrk="1" hangingPunct="1">
              <a:buFont typeface="Arial" charset="0"/>
              <a:buNone/>
              <a:defRPr/>
            </a:pPr>
            <a:endParaRPr lang="en-US" altLang="zh-CN" sz="2400" dirty="0" smtClean="0"/>
          </a:p>
        </p:txBody>
      </p:sp>
      <p:sp>
        <p:nvSpPr>
          <p:cNvPr id="4" name="灯片编号占位符 7"/>
          <p:cNvSpPr>
            <a:spLocks noGrp="1"/>
          </p:cNvSpPr>
          <p:nvPr>
            <p:ph type="sldNum" sz="quarter" idx="12"/>
          </p:nvPr>
        </p:nvSpPr>
        <p:spPr/>
        <p:txBody>
          <a:bodyPr/>
          <a:lstStyle/>
          <a:p>
            <a:pPr>
              <a:defRPr/>
            </a:pPr>
            <a:fld id="{53EEDD3B-231C-4DC7-BE7F-286BBEF236DF}" type="slidenum">
              <a:rPr lang="zh-CN" altLang="en-US" smtClean="0"/>
              <a:pPr>
                <a:defRPr/>
              </a:pPr>
              <a:t>29</a:t>
            </a:fld>
            <a:endParaRPr lang="zh-CN" altLang="en-US"/>
          </a:p>
        </p:txBody>
      </p:sp>
      <p:sp>
        <p:nvSpPr>
          <p:cNvPr id="54277"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54278"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54279"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8" name="标题 3"/>
          <p:cNvSpPr txBox="1">
            <a:spLocks noChangeArrowheads="1"/>
          </p:cNvSpPr>
          <p:nvPr/>
        </p:nvSpPr>
        <p:spPr bwMode="auto">
          <a:xfrm>
            <a:off x="1" y="285750"/>
            <a:ext cx="9144000" cy="708025"/>
          </a:xfrm>
          <a:prstGeom prst="rect">
            <a:avLst/>
          </a:prstGeom>
          <a:noFill/>
          <a:ln w="9525">
            <a:noFill/>
            <a:miter lim="800000"/>
            <a:headEnd/>
            <a:tailEnd/>
          </a:ln>
        </p:spPr>
        <p:txBody>
          <a:bodyPr wrap="square" anchor="ctr">
            <a:spAutoFit/>
          </a:bodyPr>
          <a:lstStyle/>
          <a:p>
            <a:pPr algn="ctr">
              <a:defRPr/>
            </a:pPr>
            <a:r>
              <a:rPr lang="en-US" altLang="zh-CN" sz="4000" b="1" dirty="0">
                <a:solidFill>
                  <a:srgbClr val="92D050"/>
                </a:solidFill>
                <a:latin typeface="+mj-lt"/>
                <a:ea typeface="+mj-ea"/>
                <a:cs typeface="+mj-cs"/>
              </a:rPr>
              <a:t>Notching criterion</a:t>
            </a:r>
          </a:p>
        </p:txBody>
      </p:sp>
    </p:spTree>
    <p:extLst>
      <p:ext uri="{BB962C8B-B14F-4D97-AF65-F5344CB8AC3E}">
        <p14:creationId xmlns:p14="http://schemas.microsoft.com/office/powerpoint/2010/main" val="2618971750"/>
      </p:ext>
    </p:extLst>
  </p:cSld>
  <p:clrMapOvr>
    <a:masterClrMapping/>
  </p:clrMapOvr>
  <mc:AlternateContent xmlns:mc="http://schemas.openxmlformats.org/markup-compatibility/2006" xmlns:p14="http://schemas.microsoft.com/office/powerpoint/2010/main">
    <mc:Choice Requires="p14">
      <p:transition spd="slow" p14:dur="2000" advTm="58767"/>
    </mc:Choice>
    <mc:Fallback xmlns="">
      <p:transition spd="slow" advTm="58767"/>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ph idx="1"/>
          </p:nvPr>
        </p:nvSpPr>
        <p:spPr>
          <a:xfrm>
            <a:off x="1" y="1196752"/>
            <a:ext cx="9143999" cy="5184576"/>
          </a:xfrm>
        </p:spPr>
        <p:txBody>
          <a:bodyPr>
            <a:normAutofit/>
          </a:bodyPr>
          <a:lstStyle/>
          <a:p>
            <a:pPr>
              <a:buFont typeface="Arial" charset="0"/>
              <a:buNone/>
              <a:defRPr/>
            </a:pPr>
            <a:r>
              <a:rPr lang="en-US" altLang="zh-CN" sz="3000" dirty="0" smtClean="0">
                <a:latin typeface="Times New Roman" pitchFamily="18" charset="0"/>
                <a:cs typeface="Times New Roman" pitchFamily="18" charset="0"/>
              </a:rPr>
              <a:t>Test method</a:t>
            </a:r>
          </a:p>
          <a:p>
            <a:pPr marL="342900" lvl="1" indent="-342900" algn="just">
              <a:buFont typeface="Wingdings" pitchFamily="2" charset="2"/>
              <a:buChar char="l"/>
              <a:defRPr/>
            </a:pPr>
            <a:r>
              <a:rPr lang="en-US" altLang="zh-CN" sz="2400" dirty="0" smtClean="0">
                <a:latin typeface="Times New Roman" pitchFamily="18" charset="0"/>
                <a:cs typeface="Times New Roman" pitchFamily="18" charset="0"/>
              </a:rPr>
              <a:t>In satellite vibration test, the response of earth-sensing device in X-axis low level test is 2.5g at 95Hz, </a:t>
            </a:r>
            <a:r>
              <a:rPr lang="en-US" altLang="zh-CN" sz="2400" dirty="0">
                <a:latin typeface="Times New Roman" pitchFamily="18" charset="0"/>
                <a:cs typeface="Times New Roman" pitchFamily="18" charset="0"/>
              </a:rPr>
              <a:t>low level test’s input of SC is 0.15g. </a:t>
            </a:r>
            <a:endParaRPr lang="en-US" altLang="zh-CN" sz="2400" dirty="0" smtClean="0">
              <a:latin typeface="Times New Roman" pitchFamily="18" charset="0"/>
              <a:cs typeface="Times New Roman" pitchFamily="18" charset="0"/>
            </a:endParaRPr>
          </a:p>
          <a:p>
            <a:pPr marL="342900" lvl="1" indent="-342900" algn="just">
              <a:buFont typeface="Wingdings" pitchFamily="2" charset="2"/>
              <a:buChar char="l"/>
              <a:defRPr/>
            </a:pPr>
            <a:r>
              <a:rPr lang="en-US" altLang="zh-CN" sz="2400" dirty="0" smtClean="0">
                <a:latin typeface="Times New Roman" pitchFamily="18" charset="0"/>
                <a:cs typeface="Times New Roman" pitchFamily="18" charset="0"/>
              </a:rPr>
              <a:t>it can be inferred that this device will reach 11.7g if the input of SC is 0.7g without notching.</a:t>
            </a:r>
          </a:p>
          <a:p>
            <a:pPr marL="342900" lvl="1" indent="-342900" algn="just" eaLnBrk="1" hangingPunct="1">
              <a:buFont typeface="Wingdings" pitchFamily="2" charset="2"/>
              <a:buChar char="l"/>
              <a:defRPr/>
            </a:pPr>
            <a:r>
              <a:rPr lang="en-US" altLang="zh-CN" sz="2400" dirty="0" smtClean="0">
                <a:latin typeface="Times New Roman" pitchFamily="18" charset="0"/>
                <a:cs typeface="Times New Roman" pitchFamily="18" charset="0"/>
              </a:rPr>
              <a:t>This is larger than 8g(the unit acceptance level), so we need adjust the input value to 0.48g around 95Hz .</a:t>
            </a:r>
          </a:p>
          <a:p>
            <a:pPr marL="342900" lvl="1" indent="-342900" algn="just" eaLnBrk="1" hangingPunct="1">
              <a:buFont typeface="Wingdings" pitchFamily="2" charset="2"/>
              <a:buChar char="l"/>
              <a:defRPr/>
            </a:pPr>
            <a:r>
              <a:rPr lang="en-US" altLang="zh-CN" sz="2400" dirty="0" smtClean="0">
                <a:latin typeface="Times New Roman" pitchFamily="18" charset="0"/>
                <a:cs typeface="Times New Roman" pitchFamily="18" charset="0"/>
              </a:rPr>
              <a:t>The same analyses can be processed for all other units.</a:t>
            </a:r>
          </a:p>
          <a:p>
            <a:pPr marL="0" lvl="1" indent="0" eaLnBrk="1" hangingPunct="1">
              <a:buFont typeface="Arial" charset="0"/>
              <a:buNone/>
              <a:defRPr/>
            </a:pPr>
            <a:endParaRPr lang="en-US" altLang="zh-CN" sz="2400" dirty="0" smtClean="0"/>
          </a:p>
          <a:p>
            <a:pPr marL="0" lvl="1" indent="0" eaLnBrk="1" hangingPunct="1">
              <a:buFont typeface="Arial" charset="0"/>
              <a:buNone/>
              <a:defRPr/>
            </a:pPr>
            <a:endParaRPr lang="en-US" altLang="zh-CN" sz="2400" dirty="0" smtClean="0"/>
          </a:p>
          <a:p>
            <a:pPr marL="0" indent="0" eaLnBrk="1" hangingPunct="1">
              <a:buFont typeface="Arial" charset="0"/>
              <a:buNone/>
              <a:defRPr/>
            </a:pPr>
            <a:endParaRPr lang="en-US" altLang="zh-CN" sz="2400" dirty="0" smtClean="0"/>
          </a:p>
          <a:p>
            <a:pPr marL="0" indent="0" eaLnBrk="1" hangingPunct="1">
              <a:buFont typeface="Arial" charset="0"/>
              <a:buNone/>
              <a:defRPr/>
            </a:pPr>
            <a:endParaRPr lang="en-US" altLang="zh-CN" sz="2400" dirty="0" smtClean="0"/>
          </a:p>
        </p:txBody>
      </p:sp>
      <p:sp>
        <p:nvSpPr>
          <p:cNvPr id="4" name="灯片编号占位符 7"/>
          <p:cNvSpPr>
            <a:spLocks noGrp="1"/>
          </p:cNvSpPr>
          <p:nvPr>
            <p:ph type="sldNum" sz="quarter" idx="12"/>
          </p:nvPr>
        </p:nvSpPr>
        <p:spPr/>
        <p:txBody>
          <a:bodyPr/>
          <a:lstStyle/>
          <a:p>
            <a:pPr>
              <a:defRPr/>
            </a:pPr>
            <a:fld id="{C9CC4E33-404A-4E32-8B92-C979FF91A6B6}" type="slidenum">
              <a:rPr lang="zh-CN" altLang="en-US" smtClean="0"/>
              <a:pPr>
                <a:defRPr/>
              </a:pPr>
              <a:t>30</a:t>
            </a:fld>
            <a:endParaRPr lang="zh-CN" altLang="en-US"/>
          </a:p>
        </p:txBody>
      </p:sp>
      <p:sp>
        <p:nvSpPr>
          <p:cNvPr id="55301"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55302"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55303"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8" name="标题 3"/>
          <p:cNvSpPr txBox="1">
            <a:spLocks noChangeArrowheads="1"/>
          </p:cNvSpPr>
          <p:nvPr/>
        </p:nvSpPr>
        <p:spPr bwMode="auto">
          <a:xfrm>
            <a:off x="1" y="285750"/>
            <a:ext cx="9144000" cy="708025"/>
          </a:xfrm>
          <a:prstGeom prst="rect">
            <a:avLst/>
          </a:prstGeom>
          <a:noFill/>
          <a:ln w="9525">
            <a:noFill/>
            <a:miter lim="800000"/>
            <a:headEnd/>
            <a:tailEnd/>
          </a:ln>
        </p:spPr>
        <p:txBody>
          <a:bodyPr wrap="square" anchor="ctr">
            <a:spAutoFit/>
          </a:bodyPr>
          <a:lstStyle/>
          <a:p>
            <a:pPr algn="ctr">
              <a:defRPr/>
            </a:pPr>
            <a:r>
              <a:rPr lang="en-US" altLang="zh-CN" sz="4000" b="1" dirty="0">
                <a:solidFill>
                  <a:srgbClr val="92D050"/>
                </a:solidFill>
                <a:latin typeface="+mj-lt"/>
                <a:ea typeface="+mj-ea"/>
                <a:cs typeface="+mj-cs"/>
              </a:rPr>
              <a:t>Notching criterion</a:t>
            </a:r>
          </a:p>
        </p:txBody>
      </p:sp>
    </p:spTree>
    <p:extLst>
      <p:ext uri="{BB962C8B-B14F-4D97-AF65-F5344CB8AC3E}">
        <p14:creationId xmlns:p14="http://schemas.microsoft.com/office/powerpoint/2010/main" val="959449318"/>
      </p:ext>
    </p:extLst>
  </p:cSld>
  <p:clrMapOvr>
    <a:masterClrMapping/>
  </p:clrMapOvr>
  <mc:AlternateContent xmlns:mc="http://schemas.openxmlformats.org/markup-compatibility/2006" xmlns:p14="http://schemas.microsoft.com/office/powerpoint/2010/main">
    <mc:Choice Requires="p14">
      <p:transition spd="slow" p14:dur="2000" advTm="5175"/>
    </mc:Choice>
    <mc:Fallback xmlns="">
      <p:transition spd="slow" advTm="5175"/>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ph idx="1"/>
          </p:nvPr>
        </p:nvSpPr>
        <p:spPr>
          <a:xfrm>
            <a:off x="395535" y="1196752"/>
            <a:ext cx="7992889" cy="4686523"/>
          </a:xfrm>
        </p:spPr>
        <p:txBody>
          <a:bodyPr/>
          <a:lstStyle/>
          <a:p>
            <a:pPr>
              <a:buFont typeface="Arial" charset="0"/>
              <a:buNone/>
              <a:defRPr/>
            </a:pPr>
            <a:r>
              <a:rPr lang="en-US" altLang="zh-CN" sz="3000" dirty="0" smtClean="0">
                <a:latin typeface="Times New Roman" pitchFamily="18" charset="0"/>
                <a:cs typeface="Times New Roman" pitchFamily="18" charset="0"/>
              </a:rPr>
              <a:t>Test method</a:t>
            </a:r>
          </a:p>
          <a:p>
            <a:pPr marL="0" lvl="1" indent="0" algn="just" eaLnBrk="1" hangingPunct="1">
              <a:buFont typeface="Arial" charset="0"/>
              <a:buNone/>
              <a:defRPr/>
            </a:pPr>
            <a:r>
              <a:rPr lang="en-US" altLang="zh-CN" sz="2400" dirty="0" smtClean="0">
                <a:latin typeface="Times New Roman" pitchFamily="18" charset="0"/>
                <a:cs typeface="Times New Roman" pitchFamily="18" charset="0"/>
              </a:rPr>
              <a:t>We collect all value and frequencies that need notch, and summary these statistic data. Then, we need compare these statistic data with the prediction curve by LV.</a:t>
            </a:r>
          </a:p>
          <a:p>
            <a:pPr marL="0" indent="0" eaLnBrk="1" hangingPunct="1">
              <a:buFont typeface="Arial" charset="0"/>
              <a:buNone/>
              <a:defRPr/>
            </a:pPr>
            <a:endParaRPr lang="en-US" altLang="zh-CN" sz="2400" dirty="0" smtClean="0"/>
          </a:p>
        </p:txBody>
      </p:sp>
      <p:sp>
        <p:nvSpPr>
          <p:cNvPr id="4" name="灯片编号占位符 7"/>
          <p:cNvSpPr>
            <a:spLocks noGrp="1"/>
          </p:cNvSpPr>
          <p:nvPr>
            <p:ph type="sldNum" sz="quarter" idx="12"/>
          </p:nvPr>
        </p:nvSpPr>
        <p:spPr/>
        <p:txBody>
          <a:bodyPr/>
          <a:lstStyle/>
          <a:p>
            <a:pPr>
              <a:defRPr/>
            </a:pPr>
            <a:fld id="{4C19BDBD-68E9-402D-94BF-7FC1359E25A6}" type="slidenum">
              <a:rPr lang="zh-CN" altLang="en-US" smtClean="0"/>
              <a:pPr>
                <a:defRPr/>
              </a:pPr>
              <a:t>31</a:t>
            </a:fld>
            <a:endParaRPr lang="zh-CN" altLang="en-US"/>
          </a:p>
        </p:txBody>
      </p:sp>
      <p:sp>
        <p:nvSpPr>
          <p:cNvPr id="56325"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5632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56327"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56328"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pic>
        <p:nvPicPr>
          <p:cNvPr id="9219"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b="3975"/>
          <a:stretch/>
        </p:blipFill>
        <p:spPr bwMode="auto">
          <a:xfrm>
            <a:off x="2555776" y="3717032"/>
            <a:ext cx="5302250" cy="28810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标题 3"/>
          <p:cNvSpPr txBox="1">
            <a:spLocks noChangeArrowheads="1"/>
          </p:cNvSpPr>
          <p:nvPr/>
        </p:nvSpPr>
        <p:spPr bwMode="auto">
          <a:xfrm>
            <a:off x="1" y="285750"/>
            <a:ext cx="9144000" cy="708025"/>
          </a:xfrm>
          <a:prstGeom prst="rect">
            <a:avLst/>
          </a:prstGeom>
          <a:noFill/>
          <a:ln w="9525">
            <a:noFill/>
            <a:miter lim="800000"/>
            <a:headEnd/>
            <a:tailEnd/>
          </a:ln>
        </p:spPr>
        <p:txBody>
          <a:bodyPr wrap="square" anchor="ctr">
            <a:spAutoFit/>
          </a:bodyPr>
          <a:lstStyle/>
          <a:p>
            <a:pPr algn="ctr">
              <a:defRPr/>
            </a:pPr>
            <a:r>
              <a:rPr lang="en-US" altLang="zh-CN" sz="4000" b="1" dirty="0">
                <a:solidFill>
                  <a:srgbClr val="92D050"/>
                </a:solidFill>
                <a:latin typeface="+mj-lt"/>
                <a:ea typeface="+mj-ea"/>
                <a:cs typeface="+mj-cs"/>
              </a:rPr>
              <a:t>Notching criterion</a:t>
            </a:r>
          </a:p>
        </p:txBody>
      </p:sp>
    </p:spTree>
    <p:extLst>
      <p:ext uri="{BB962C8B-B14F-4D97-AF65-F5344CB8AC3E}">
        <p14:creationId xmlns:p14="http://schemas.microsoft.com/office/powerpoint/2010/main" val="1293191765"/>
      </p:ext>
    </p:extLst>
  </p:cSld>
  <p:clrMapOvr>
    <a:masterClrMapping/>
  </p:clrMapOvr>
  <mc:AlternateContent xmlns:mc="http://schemas.openxmlformats.org/markup-compatibility/2006" xmlns:p14="http://schemas.microsoft.com/office/powerpoint/2010/main">
    <mc:Choice Requires="p14">
      <p:transition spd="slow" p14:dur="2000" advTm="379"/>
    </mc:Choice>
    <mc:Fallback xmlns="">
      <p:transition spd="slow" advTm="379"/>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ph idx="1"/>
          </p:nvPr>
        </p:nvSpPr>
        <p:spPr>
          <a:xfrm>
            <a:off x="457200" y="1500188"/>
            <a:ext cx="8229600" cy="4525962"/>
          </a:xfrm>
        </p:spPr>
        <p:txBody>
          <a:bodyPr>
            <a:normAutofit/>
          </a:bodyPr>
          <a:lstStyle/>
          <a:p>
            <a:pPr>
              <a:buFont typeface="Arial" charset="0"/>
              <a:buNone/>
              <a:defRPr/>
            </a:pPr>
            <a:r>
              <a:rPr lang="en-US" altLang="zh-CN" sz="2800" dirty="0" smtClean="0">
                <a:latin typeface="Times New Roman" pitchFamily="18" charset="0"/>
                <a:cs typeface="Times New Roman" pitchFamily="18" charset="0"/>
              </a:rPr>
              <a:t>Test method</a:t>
            </a:r>
          </a:p>
          <a:p>
            <a:r>
              <a:rPr lang="en-US" altLang="zh-CN" sz="2400" dirty="0">
                <a:latin typeface="Times New Roman" pitchFamily="18" charset="0"/>
                <a:cs typeface="Times New Roman" pitchFamily="18" charset="0"/>
              </a:rPr>
              <a:t>After all units</a:t>
            </a:r>
            <a:r>
              <a:rPr lang="en-US" altLang="zh-CN" sz="2400" dirty="0" smtClean="0">
                <a:latin typeface="Times New Roman" pitchFamily="18" charset="0"/>
                <a:cs typeface="Times New Roman" pitchFamily="18" charset="0"/>
              </a:rPr>
              <a:t>’ responses </a:t>
            </a:r>
            <a:r>
              <a:rPr lang="en-US" altLang="zh-CN" sz="2400" dirty="0">
                <a:latin typeface="Times New Roman" pitchFamily="18" charset="0"/>
                <a:cs typeface="Times New Roman" pitchFamily="18" charset="0"/>
              </a:rPr>
              <a:t>in SC are analyzed, we can get the real input curve for x-axis AT test of SC. Look at the curve.</a:t>
            </a:r>
            <a:endParaRPr lang="zh-CN" altLang="zh-CN" sz="2400" dirty="0">
              <a:latin typeface="Times New Roman" pitchFamily="18" charset="0"/>
              <a:cs typeface="Times New Roman" pitchFamily="18" charset="0"/>
            </a:endParaRPr>
          </a:p>
          <a:p>
            <a:pPr marL="0" indent="0" eaLnBrk="1" hangingPunct="1">
              <a:buFont typeface="Arial" charset="0"/>
              <a:buNone/>
              <a:defRPr/>
            </a:pPr>
            <a:endParaRPr lang="en-US" altLang="zh-CN" sz="1800" dirty="0" smtClean="0"/>
          </a:p>
          <a:p>
            <a:pPr marL="0" indent="0" eaLnBrk="1" hangingPunct="1">
              <a:buFont typeface="Arial" charset="0"/>
              <a:buNone/>
              <a:defRPr/>
            </a:pPr>
            <a:endParaRPr lang="en-US" altLang="zh-CN" sz="1800" dirty="0" smtClean="0"/>
          </a:p>
        </p:txBody>
      </p:sp>
      <p:sp>
        <p:nvSpPr>
          <p:cNvPr id="3" name="标题 3"/>
          <p:cNvSpPr txBox="1">
            <a:spLocks noChangeArrowheads="1"/>
          </p:cNvSpPr>
          <p:nvPr/>
        </p:nvSpPr>
        <p:spPr bwMode="auto">
          <a:xfrm>
            <a:off x="1" y="285750"/>
            <a:ext cx="9144000" cy="708025"/>
          </a:xfrm>
          <a:prstGeom prst="rect">
            <a:avLst/>
          </a:prstGeom>
          <a:noFill/>
          <a:ln w="9525">
            <a:noFill/>
            <a:miter lim="800000"/>
            <a:headEnd/>
            <a:tailEnd/>
          </a:ln>
        </p:spPr>
        <p:txBody>
          <a:bodyPr wrap="square" anchor="ctr">
            <a:spAutoFit/>
          </a:bodyPr>
          <a:lstStyle/>
          <a:p>
            <a:pPr algn="ctr">
              <a:defRPr/>
            </a:pPr>
            <a:r>
              <a:rPr lang="en-US" altLang="zh-CN" sz="4000" b="1" dirty="0">
                <a:solidFill>
                  <a:srgbClr val="92D050"/>
                </a:solidFill>
                <a:latin typeface="+mj-lt"/>
                <a:ea typeface="+mj-ea"/>
                <a:cs typeface="+mj-cs"/>
              </a:rPr>
              <a:t>Notching criterion</a:t>
            </a:r>
          </a:p>
        </p:txBody>
      </p:sp>
      <p:sp>
        <p:nvSpPr>
          <p:cNvPr id="4" name="灯片编号占位符 7"/>
          <p:cNvSpPr>
            <a:spLocks noGrp="1"/>
          </p:cNvSpPr>
          <p:nvPr>
            <p:ph type="sldNum" sz="quarter" idx="12"/>
          </p:nvPr>
        </p:nvSpPr>
        <p:spPr/>
        <p:txBody>
          <a:bodyPr/>
          <a:lstStyle/>
          <a:p>
            <a:pPr>
              <a:defRPr/>
            </a:pPr>
            <a:fld id="{D078B01E-C4C2-45FD-B7A8-1385E1CA3F02}" type="slidenum">
              <a:rPr lang="zh-CN" altLang="en-US" smtClean="0"/>
              <a:pPr>
                <a:defRPr/>
              </a:pPr>
              <a:t>32</a:t>
            </a:fld>
            <a:endParaRPr lang="zh-CN" altLang="en-US"/>
          </a:p>
        </p:txBody>
      </p:sp>
      <p:sp>
        <p:nvSpPr>
          <p:cNvPr id="8198"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8199"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8200"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aphicFrame>
        <p:nvGraphicFramePr>
          <p:cNvPr id="8194" name="Object 2"/>
          <p:cNvGraphicFramePr>
            <a:graphicFrameLocks noChangeAspect="1"/>
          </p:cNvGraphicFramePr>
          <p:nvPr>
            <p:extLst>
              <p:ext uri="{D42A27DB-BD31-4B8C-83A1-F6EECF244321}">
                <p14:modId xmlns:p14="http://schemas.microsoft.com/office/powerpoint/2010/main" val="4140471662"/>
              </p:ext>
            </p:extLst>
          </p:nvPr>
        </p:nvGraphicFramePr>
        <p:xfrm>
          <a:off x="857250" y="3717032"/>
          <a:ext cx="7429500" cy="2441575"/>
        </p:xfrm>
        <a:graphic>
          <a:graphicData uri="http://schemas.openxmlformats.org/presentationml/2006/ole">
            <mc:AlternateContent xmlns:mc="http://schemas.openxmlformats.org/markup-compatibility/2006">
              <mc:Choice xmlns:v="urn:schemas-microsoft-com:vml" Requires="v">
                <p:oleObj spid="_x0000_s3090" name="Visio" r:id="rId3" imgW="6190202" imgH="1870091" progId="Visio.Drawing.11">
                  <p:embed/>
                </p:oleObj>
              </mc:Choice>
              <mc:Fallback>
                <p:oleObj name="Visio" r:id="rId3" imgW="6190202" imgH="1870091"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250" y="3717032"/>
                        <a:ext cx="7429500" cy="2441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32639473"/>
      </p:ext>
    </p:extLst>
  </p:cSld>
  <p:clrMapOvr>
    <a:masterClrMapping/>
  </p:clrMapOvr>
  <mc:AlternateContent xmlns:mc="http://schemas.openxmlformats.org/markup-compatibility/2006" xmlns:p14="http://schemas.microsoft.com/office/powerpoint/2010/main">
    <mc:Choice Requires="p14">
      <p:transition spd="slow" p14:dur="2000" advTm="25242"/>
    </mc:Choice>
    <mc:Fallback xmlns="">
      <p:transition spd="slow" advTm="25242"/>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ph idx="1"/>
          </p:nvPr>
        </p:nvSpPr>
        <p:spPr>
          <a:xfrm>
            <a:off x="107504" y="1268760"/>
            <a:ext cx="8928992" cy="5112568"/>
          </a:xfrm>
        </p:spPr>
        <p:txBody>
          <a:bodyPr>
            <a:normAutofit fontScale="62500" lnSpcReduction="20000"/>
          </a:bodyPr>
          <a:lstStyle/>
          <a:p>
            <a:pPr marL="0" indent="0" algn="just">
              <a:buNone/>
            </a:pPr>
            <a:r>
              <a:rPr lang="en-US" altLang="zh-CN" sz="3400" dirty="0" smtClean="0"/>
              <a:t>Now </a:t>
            </a:r>
            <a:r>
              <a:rPr lang="en-US" altLang="zh-CN" sz="3400" dirty="0"/>
              <a:t>the content we have discussed is over. there are some questions to verify how much you have learned, please write on your paper.</a:t>
            </a:r>
            <a:endParaRPr lang="zh-CN" altLang="zh-CN" sz="3400" dirty="0"/>
          </a:p>
          <a:p>
            <a:pPr algn="just"/>
            <a:r>
              <a:rPr lang="en-US" altLang="zh-CN" sz="3400" dirty="0"/>
              <a:t>First one, In life cycle of a spacecraft, what kinds of dynamic environment will the satellite experience? please give three examples each including internal and external environment, </a:t>
            </a:r>
            <a:endParaRPr lang="zh-CN" altLang="zh-CN" sz="3400" dirty="0"/>
          </a:p>
          <a:p>
            <a:pPr algn="just"/>
            <a:r>
              <a:rPr lang="en-US" altLang="zh-CN" sz="3400" dirty="0"/>
              <a:t>Second one, which kinds of experiments are included in vibration test?</a:t>
            </a:r>
            <a:endParaRPr lang="zh-CN" altLang="zh-CN" sz="3400" dirty="0"/>
          </a:p>
          <a:p>
            <a:pPr algn="just"/>
            <a:r>
              <a:rPr lang="en-US" altLang="zh-CN" sz="3400" dirty="0"/>
              <a:t>Third one, what kinds of experimental equipment do we need when we conduct vibration test? </a:t>
            </a:r>
            <a:endParaRPr lang="zh-CN" altLang="zh-CN" sz="3400" dirty="0"/>
          </a:p>
          <a:p>
            <a:pPr algn="just"/>
            <a:r>
              <a:rPr lang="en-US" altLang="zh-CN" sz="3400" dirty="0"/>
              <a:t>Fourth one, Please describe the vibration test process?</a:t>
            </a:r>
            <a:endParaRPr lang="zh-CN" altLang="zh-CN" sz="3400" dirty="0"/>
          </a:p>
          <a:p>
            <a:pPr algn="just"/>
            <a:r>
              <a:rPr lang="en-US" altLang="zh-CN" sz="3400" dirty="0"/>
              <a:t>Last one, Please describe the notching criterion?</a:t>
            </a:r>
            <a:endParaRPr lang="zh-CN" altLang="zh-CN" sz="3400" dirty="0"/>
          </a:p>
          <a:p>
            <a:pPr>
              <a:buFont typeface="Arial" charset="0"/>
              <a:buNone/>
              <a:defRPr/>
            </a:pPr>
            <a:endParaRPr lang="en-US" altLang="zh-CN" sz="3000" dirty="0" smtClean="0">
              <a:latin typeface="微软雅黑" pitchFamily="34" charset="-122"/>
              <a:ea typeface="微软雅黑" pitchFamily="34" charset="-122"/>
              <a:cs typeface="Times New Roman" pitchFamily="18" charset="0"/>
            </a:endParaRPr>
          </a:p>
          <a:p>
            <a:pPr marL="0" lvl="1" indent="0" eaLnBrk="1" hangingPunct="1">
              <a:buFont typeface="Arial" charset="0"/>
              <a:buNone/>
              <a:defRPr/>
            </a:pPr>
            <a:endParaRPr lang="en-US" altLang="zh-CN" sz="2400" dirty="0" smtClean="0"/>
          </a:p>
          <a:p>
            <a:pPr marL="0" indent="0" eaLnBrk="1" hangingPunct="1">
              <a:buFont typeface="Arial" charset="0"/>
              <a:buNone/>
              <a:defRPr/>
            </a:pPr>
            <a:endParaRPr lang="en-US" altLang="zh-CN" sz="2400" dirty="0" smtClean="0"/>
          </a:p>
          <a:p>
            <a:pPr marL="0" indent="0" eaLnBrk="1" hangingPunct="1">
              <a:buFont typeface="Arial" charset="0"/>
              <a:buNone/>
              <a:defRPr/>
            </a:pPr>
            <a:endParaRPr lang="en-US" altLang="zh-CN" sz="2400" dirty="0" smtClean="0"/>
          </a:p>
        </p:txBody>
      </p:sp>
      <p:sp>
        <p:nvSpPr>
          <p:cNvPr id="3" name="标题 3"/>
          <p:cNvSpPr txBox="1">
            <a:spLocks noChangeArrowheads="1"/>
          </p:cNvSpPr>
          <p:nvPr/>
        </p:nvSpPr>
        <p:spPr bwMode="auto">
          <a:xfrm>
            <a:off x="3419872" y="285750"/>
            <a:ext cx="4857750" cy="708025"/>
          </a:xfrm>
          <a:prstGeom prst="rect">
            <a:avLst/>
          </a:prstGeom>
          <a:noFill/>
          <a:ln w="9525">
            <a:noFill/>
            <a:miter lim="800000"/>
            <a:headEnd/>
            <a:tailEnd/>
          </a:ln>
        </p:spPr>
        <p:txBody>
          <a:bodyPr anchor="ctr">
            <a:spAutoFit/>
          </a:bodyPr>
          <a:lstStyle/>
          <a:p>
            <a:pPr>
              <a:defRPr/>
            </a:pPr>
            <a:r>
              <a:rPr lang="en-US" altLang="zh-CN" sz="4000" b="1" dirty="0" smtClean="0">
                <a:solidFill>
                  <a:srgbClr val="92D050"/>
                </a:solidFill>
                <a:latin typeface="+mj-lt"/>
                <a:ea typeface="+mj-ea"/>
                <a:cs typeface="+mj-cs"/>
              </a:rPr>
              <a:t>Review</a:t>
            </a:r>
            <a:endParaRPr lang="zh-CN" altLang="en-US" sz="4000" b="1" dirty="0">
              <a:solidFill>
                <a:srgbClr val="92D050"/>
              </a:solidFill>
              <a:latin typeface="+mj-lt"/>
              <a:ea typeface="+mj-ea"/>
              <a:cs typeface="+mj-cs"/>
            </a:endParaRPr>
          </a:p>
        </p:txBody>
      </p:sp>
      <p:sp>
        <p:nvSpPr>
          <p:cNvPr id="4" name="灯片编号占位符 6"/>
          <p:cNvSpPr>
            <a:spLocks noGrp="1"/>
          </p:cNvSpPr>
          <p:nvPr>
            <p:ph type="sldNum" sz="quarter" idx="12"/>
          </p:nvPr>
        </p:nvSpPr>
        <p:spPr/>
        <p:txBody>
          <a:bodyPr/>
          <a:lstStyle/>
          <a:p>
            <a:pPr>
              <a:defRPr/>
            </a:pPr>
            <a:fld id="{671EBA83-87D9-4292-8D72-768A6DFE085E}" type="slidenum">
              <a:rPr lang="zh-CN" altLang="en-US" smtClean="0"/>
              <a:pPr>
                <a:defRPr/>
              </a:pPr>
              <a:t>33</a:t>
            </a:fld>
            <a:endParaRPr lang="zh-CN" altLang="en-US"/>
          </a:p>
        </p:txBody>
      </p:sp>
    </p:spTree>
    <p:extLst>
      <p:ext uri="{BB962C8B-B14F-4D97-AF65-F5344CB8AC3E}">
        <p14:creationId xmlns:p14="http://schemas.microsoft.com/office/powerpoint/2010/main" val="123515741"/>
      </p:ext>
    </p:extLst>
  </p:cSld>
  <p:clrMapOvr>
    <a:masterClrMapping/>
  </p:clrMapOvr>
  <mc:AlternateContent xmlns:mc="http://schemas.openxmlformats.org/markup-compatibility/2006" xmlns:p14="http://schemas.microsoft.com/office/powerpoint/2010/main">
    <mc:Choice Requires="p14">
      <p:transition spd="slow" p14:dur="2000" advTm="64253"/>
    </mc:Choice>
    <mc:Fallback xmlns="">
      <p:transition spd="slow" advTm="64253"/>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3589"/>
            <a:ext cx="8229600" cy="1082660"/>
          </a:xfrm>
        </p:spPr>
        <p:txBody>
          <a:bodyPr>
            <a:normAutofit fontScale="90000"/>
          </a:bodyPr>
          <a:lstStyle/>
          <a:p>
            <a:r>
              <a:rPr lang="en-US" altLang="zh-CN" dirty="0">
                <a:solidFill>
                  <a:srgbClr val="002060"/>
                </a:solidFill>
                <a:effectLst>
                  <a:outerShdw blurRad="38100" dist="38100" dir="2700000" algn="tl">
                    <a:srgbClr val="000000">
                      <a:alpha val="43137"/>
                    </a:srgbClr>
                  </a:outerShdw>
                </a:effectLst>
              </a:rPr>
              <a:t>Dynamic environments of satellite</a:t>
            </a:r>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34</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2811454" y="2967335"/>
            <a:ext cx="3521093" cy="923330"/>
          </a:xfrm>
          <a:prstGeom prst="rect">
            <a:avLst/>
          </a:prstGeom>
          <a:noFill/>
        </p:spPr>
        <p:txBody>
          <a:bodyPr wrap="none" lIns="91440" tIns="45720" rIns="91440" bIns="45720">
            <a:spAutoFit/>
          </a:bodyPr>
          <a:lstStyle/>
          <a:p>
            <a:pPr algn="ctr"/>
            <a:r>
              <a:rPr lang="en-US" altLang="zh-CN" sz="5400" b="1" cap="none" spc="100" dirty="0" smtClean="0">
                <a:ln w="18000">
                  <a:solidFill>
                    <a:schemeClr val="accent1">
                      <a:satMod val="200000"/>
                      <a:tint val="72000"/>
                    </a:schemeClr>
                  </a:solidFill>
                  <a:prstDash val="solid"/>
                </a:ln>
                <a:solidFill>
                  <a:schemeClr val="accent1">
                    <a:satMod val="280000"/>
                    <a:tint val="100000"/>
                    <a:alpha val="5700"/>
                  </a:schemeClr>
                </a:solidFill>
                <a:effectLst>
                  <a:outerShdw blurRad="25000" dist="20000" dir="16020000" algn="tl">
                    <a:schemeClr val="accent1">
                      <a:satMod val="200000"/>
                      <a:shade val="1000"/>
                      <a:alpha val="60000"/>
                    </a:schemeClr>
                  </a:outerShdw>
                </a:effectLst>
              </a:rPr>
              <a:t>Thank you!</a:t>
            </a:r>
            <a:endParaRPr lang="zh-CN" altLang="en-US" sz="5400" b="1" cap="none" spc="100" dirty="0">
              <a:ln w="18000">
                <a:solidFill>
                  <a:schemeClr val="accent1">
                    <a:satMod val="200000"/>
                    <a:tint val="72000"/>
                  </a:schemeClr>
                </a:solidFill>
                <a:prstDash val="solid"/>
              </a:ln>
              <a:solidFill>
                <a:schemeClr val="accent1">
                  <a:satMod val="280000"/>
                  <a:tint val="100000"/>
                  <a:alpha val="5700"/>
                </a:schemeClr>
              </a:solidFill>
              <a:effectLst>
                <a:outerShdw blurRad="25000" dist="20000" dir="16020000" algn="tl">
                  <a:schemeClr val="accent1">
                    <a:satMod val="200000"/>
                    <a:shade val="1000"/>
                    <a:alpha val="60000"/>
                  </a:schemeClr>
                </a:outerShdw>
              </a:effectLst>
            </a:endParaRPr>
          </a:p>
        </p:txBody>
      </p:sp>
    </p:spTree>
    <p:extLst>
      <p:ext uri="{BB962C8B-B14F-4D97-AF65-F5344CB8AC3E}">
        <p14:creationId xmlns:p14="http://schemas.microsoft.com/office/powerpoint/2010/main" val="365406638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1.6|1.1|0.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穿越">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16081</TotalTime>
  <Words>3030</Words>
  <Application>Microsoft Office PowerPoint</Application>
  <PresentationFormat>全屏显示(4:3)</PresentationFormat>
  <Paragraphs>302</Paragraphs>
  <Slides>34</Slides>
  <Notes>12</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34</vt:i4>
      </vt:variant>
    </vt:vector>
  </HeadingPairs>
  <TitlesOfParts>
    <vt:vector size="36" baseType="lpstr">
      <vt:lpstr>Office 主题</vt:lpstr>
      <vt:lpstr>Visio</vt:lpstr>
      <vt:lpstr>ETRSS-1 Vibration Environment and Test of Satellite </vt:lpstr>
      <vt:lpstr>Vibration environment and test of satellite</vt:lpstr>
      <vt:lpstr>Vibration environment and test of satellite</vt:lpstr>
      <vt:lpstr>Satellite vibration environment introduction</vt:lpstr>
      <vt:lpstr>Satellite vibration environment introduction</vt:lpstr>
      <vt:lpstr>Satellite vibration environment introduction</vt:lpstr>
      <vt:lpstr>vibration test</vt:lpstr>
      <vt:lpstr>vibration test</vt:lpstr>
      <vt:lpstr>The facility of vibration test</vt:lpstr>
      <vt:lpstr>The facility of vibration test</vt:lpstr>
      <vt:lpstr>The facility of vibration test</vt:lpstr>
      <vt:lpstr>The facility of vibration test</vt:lpstr>
      <vt:lpstr>The facility of vibration test</vt:lpstr>
      <vt:lpstr>The facility of vibration test</vt:lpstr>
      <vt:lpstr>vibration test attention</vt:lpstr>
      <vt:lpstr>vibration test attention</vt:lpstr>
      <vt:lpstr>vibration test attention</vt:lpstr>
      <vt:lpstr>vibration test attention</vt:lpstr>
      <vt:lpstr>vibration test attention</vt:lpstr>
      <vt:lpstr>vibration test attention</vt:lpstr>
      <vt:lpstr>vibration test attention</vt:lpstr>
      <vt:lpstr>vibration test attention</vt:lpstr>
      <vt:lpstr>vibration test attention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Dynamic environments of satellite</vt:lpstr>
    </vt:vector>
  </TitlesOfParts>
  <Company>dfh</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单悌磊</dc:creator>
  <cp:lastModifiedBy>侯天宝</cp:lastModifiedBy>
  <cp:revision>654</cp:revision>
  <dcterms:created xsi:type="dcterms:W3CDTF">2013-04-18T01:59:38Z</dcterms:created>
  <dcterms:modified xsi:type="dcterms:W3CDTF">2019-02-27T03:33:44Z</dcterms:modified>
</cp:coreProperties>
</file>