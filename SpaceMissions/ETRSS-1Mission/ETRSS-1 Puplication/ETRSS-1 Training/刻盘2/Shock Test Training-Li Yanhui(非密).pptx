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61" r:id="rId1"/>
  </p:sldMasterIdLst>
  <p:notesMasterIdLst>
    <p:notesMasterId r:id="rId59"/>
  </p:notesMasterIdLst>
  <p:handoutMasterIdLst>
    <p:handoutMasterId r:id="rId60"/>
  </p:handoutMasterIdLst>
  <p:sldIdLst>
    <p:sldId id="471" r:id="rId2"/>
    <p:sldId id="274" r:id="rId3"/>
    <p:sldId id="426" r:id="rId4"/>
    <p:sldId id="276" r:id="rId5"/>
    <p:sldId id="428" r:id="rId6"/>
    <p:sldId id="277" r:id="rId7"/>
    <p:sldId id="436" r:id="rId8"/>
    <p:sldId id="279" r:id="rId9"/>
    <p:sldId id="394" r:id="rId10"/>
    <p:sldId id="395" r:id="rId11"/>
    <p:sldId id="397" r:id="rId12"/>
    <p:sldId id="399" r:id="rId13"/>
    <p:sldId id="328" r:id="rId14"/>
    <p:sldId id="400" r:id="rId15"/>
    <p:sldId id="403" r:id="rId16"/>
    <p:sldId id="329" r:id="rId17"/>
    <p:sldId id="408" r:id="rId18"/>
    <p:sldId id="331" r:id="rId19"/>
    <p:sldId id="409" r:id="rId20"/>
    <p:sldId id="332" r:id="rId21"/>
    <p:sldId id="407" r:id="rId22"/>
    <p:sldId id="411" r:id="rId23"/>
    <p:sldId id="412" r:id="rId24"/>
    <p:sldId id="413" r:id="rId25"/>
    <p:sldId id="414" r:id="rId26"/>
    <p:sldId id="440" r:id="rId27"/>
    <p:sldId id="444" r:id="rId28"/>
    <p:sldId id="441" r:id="rId29"/>
    <p:sldId id="442" r:id="rId30"/>
    <p:sldId id="443" r:id="rId31"/>
    <p:sldId id="429" r:id="rId32"/>
    <p:sldId id="430" r:id="rId33"/>
    <p:sldId id="431" r:id="rId34"/>
    <p:sldId id="450" r:id="rId35"/>
    <p:sldId id="335" r:id="rId36"/>
    <p:sldId id="416" r:id="rId37"/>
    <p:sldId id="421" r:id="rId38"/>
    <p:sldId id="422" r:id="rId39"/>
    <p:sldId id="423" r:id="rId40"/>
    <p:sldId id="425" r:id="rId41"/>
    <p:sldId id="418" r:id="rId42"/>
    <p:sldId id="451" r:id="rId43"/>
    <p:sldId id="452" r:id="rId44"/>
    <p:sldId id="453" r:id="rId45"/>
    <p:sldId id="454" r:id="rId46"/>
    <p:sldId id="455" r:id="rId47"/>
    <p:sldId id="456" r:id="rId48"/>
    <p:sldId id="461" r:id="rId49"/>
    <p:sldId id="462" r:id="rId50"/>
    <p:sldId id="463" r:id="rId51"/>
    <p:sldId id="465" r:id="rId52"/>
    <p:sldId id="466" r:id="rId53"/>
    <p:sldId id="467" r:id="rId54"/>
    <p:sldId id="468" r:id="rId55"/>
    <p:sldId id="469" r:id="rId56"/>
    <p:sldId id="339" r:id="rId57"/>
    <p:sldId id="470" r:id="rId5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5676"/>
    <a:srgbClr val="0983F1"/>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92504" autoAdjust="0"/>
  </p:normalViewPr>
  <p:slideViewPr>
    <p:cSldViewPr>
      <p:cViewPr varScale="1">
        <p:scale>
          <a:sx n="102" d="100"/>
          <a:sy n="102" d="100"/>
        </p:scale>
        <p:origin x="-1164" y="-10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99" d="100"/>
          <a:sy n="99" d="100"/>
        </p:scale>
        <p:origin x="-362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22DA29-CCC5-4846-9B28-545A914610E2}" type="datetimeFigureOut">
              <a:rPr lang="zh-CN" altLang="en-US" smtClean="0"/>
              <a:t>2019-2-27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A860109-53DF-457F-AED6-1BA9F3CD28FC}" type="slidenum">
              <a:rPr lang="zh-CN" altLang="en-US" smtClean="0"/>
              <a:t>‹#›</a:t>
            </a:fld>
            <a:endParaRPr lang="zh-CN" altLang="en-US"/>
          </a:p>
        </p:txBody>
      </p:sp>
    </p:spTree>
    <p:extLst>
      <p:ext uri="{BB962C8B-B14F-4D97-AF65-F5344CB8AC3E}">
        <p14:creationId xmlns:p14="http://schemas.microsoft.com/office/powerpoint/2010/main" val="3041589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D8E1AA-0947-4ECF-BF79-B825971169E5}" type="datetimeFigureOut">
              <a:rPr lang="zh-CN" altLang="en-US" smtClean="0"/>
              <a:pPr/>
              <a:t>2019-2-27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935D53-AD83-4E32-86F2-0C01B0AFA71E}" type="slidenum">
              <a:rPr lang="zh-CN" altLang="en-US" smtClean="0"/>
              <a:pPr/>
              <a:t>‹#›</a:t>
            </a:fld>
            <a:endParaRPr lang="zh-CN" altLang="en-US"/>
          </a:p>
        </p:txBody>
      </p:sp>
    </p:spTree>
    <p:extLst>
      <p:ext uri="{BB962C8B-B14F-4D97-AF65-F5344CB8AC3E}">
        <p14:creationId xmlns:p14="http://schemas.microsoft.com/office/powerpoint/2010/main" val="2124609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2"/>
          <a:srcRect b="4167"/>
          <a:stretch>
            <a:fillRect/>
          </a:stretch>
        </p:blipFill>
        <p:spPr>
          <a:xfrm>
            <a:off x="0" y="0"/>
            <a:ext cx="9144000" cy="6858000"/>
          </a:xfrm>
          <a:prstGeom prst="rect">
            <a:avLst/>
          </a:prstGeom>
        </p:spPr>
      </p:pic>
      <p:sp>
        <p:nvSpPr>
          <p:cNvPr id="3" name="副标题 2"/>
          <p:cNvSpPr>
            <a:spLocks noGrp="1"/>
          </p:cNvSpPr>
          <p:nvPr>
            <p:ph type="subTitle" idx="1" hasCustomPrompt="1"/>
          </p:nvPr>
        </p:nvSpPr>
        <p:spPr>
          <a:xfrm>
            <a:off x="2195736" y="5085184"/>
            <a:ext cx="4914912" cy="685808"/>
          </a:xfrm>
        </p:spPr>
        <p:txBody>
          <a:bodyPr>
            <a:noAutofit/>
          </a:bodyPr>
          <a:lstStyle>
            <a:lvl1pPr marL="0" indent="0" algn="ctr">
              <a:buNone/>
              <a:defRPr sz="3200" b="1" cap="none" spc="0">
                <a:ln>
                  <a:noFill/>
                </a:ln>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smtClean="0"/>
              <a:t>DFH SATELLITE </a:t>
            </a:r>
            <a:r>
              <a:rPr lang="en-US" altLang="zh-CN" dirty="0" err="1" smtClean="0"/>
              <a:t>Co.,Ltd</a:t>
            </a:r>
            <a:endParaRPr lang="zh-CN" altLang="en-US" dirty="0"/>
          </a:p>
        </p:txBody>
      </p:sp>
      <p:sp>
        <p:nvSpPr>
          <p:cNvPr id="15" name="标题 14"/>
          <p:cNvSpPr>
            <a:spLocks noGrp="1"/>
          </p:cNvSpPr>
          <p:nvPr>
            <p:ph type="title"/>
          </p:nvPr>
        </p:nvSpPr>
        <p:spPr>
          <a:xfrm>
            <a:off x="714348" y="2409248"/>
            <a:ext cx="7586658" cy="1082660"/>
          </a:xfrm>
        </p:spPr>
        <p:txBody>
          <a:bodyPr>
            <a:normAutofit/>
          </a:bodyPr>
          <a:lstStyle>
            <a:lvl1pPr>
              <a:defRPr sz="4800">
                <a:solidFill>
                  <a:srgbClr val="002060"/>
                </a:solidFill>
                <a:effectLst>
                  <a:outerShdw blurRad="38100" dist="38100" dir="2700000" algn="tl">
                    <a:srgbClr val="000000">
                      <a:alpha val="43137"/>
                    </a:srgbClr>
                  </a:outerShdw>
                </a:effectLst>
              </a:defRPr>
            </a:lvl1pPr>
          </a:lstStyle>
          <a:p>
            <a:r>
              <a:rPr lang="zh-CN" altLang="en-US" dirty="0" smtClean="0"/>
              <a:t>单击此处编辑母版标题样式</a:t>
            </a:r>
            <a:endParaRPr lang="zh-CN" altLang="en-US" dirty="0"/>
          </a:p>
        </p:txBody>
      </p:sp>
      <p:pic>
        <p:nvPicPr>
          <p:cNvPr id="11267" name="Picture 3"/>
          <p:cNvPicPr>
            <a:picLocks noChangeAspect="1" noChangeArrowheads="1"/>
          </p:cNvPicPr>
          <p:nvPr userDrawn="1"/>
        </p:nvPicPr>
        <p:blipFill>
          <a:blip r:embed="rId3" cstate="print">
            <a:extLst>
              <a:ext uri="{BEBA8EAE-BF5A-486C-A8C5-ECC9F3942E4B}">
                <a14:imgProps xmlns:a14="http://schemas.microsoft.com/office/drawing/2010/main">
                  <a14:imgLayer r:embed="rId4">
                    <a14:imgEffect>
                      <a14:backgroundRemoval t="3196" b="99696" l="321" r="100000">
                        <a14:foregroundMark x1="7066" y1="8828" x2="16809" y2="9132"/>
                        <a14:foregroundMark x1="8565" y1="10046" x2="11242" y2="8828"/>
                        <a14:foregroundMark x1="12527" y1="7915" x2="12527" y2="7915"/>
                      </a14:backgroundRemoval>
                    </a14:imgEffect>
                  </a14:imgLayer>
                </a14:imgProps>
              </a:ext>
              <a:ext uri="{28A0092B-C50C-407E-A947-70E740481C1C}">
                <a14:useLocalDpi xmlns:a14="http://schemas.microsoft.com/office/drawing/2010/main" val="0"/>
              </a:ext>
            </a:extLst>
          </a:blip>
          <a:srcRect/>
          <a:stretch>
            <a:fillRect/>
          </a:stretch>
        </p:blipFill>
        <p:spPr bwMode="auto">
          <a:xfrm>
            <a:off x="7092280" y="188640"/>
            <a:ext cx="1843743" cy="129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5870115"/>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en-US" altLang="zh-CN" dirty="0"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solidFill>
                  <a:prstClr val="black"/>
                </a:solidFill>
                <a:latin typeface="微软雅黑" pitchFamily="34" charset="-122"/>
                <a:ea typeface="微软雅黑" pitchFamily="34" charset="-122"/>
              </a:rPr>
              <a:t>PAGE</a:t>
            </a:r>
            <a:r>
              <a:rPr lang="zh-CN" altLang="en-US" dirty="0" smtClean="0">
                <a:solidFill>
                  <a:prstClr val="black"/>
                </a:solidFill>
              </a:rPr>
              <a:t> </a:t>
            </a:r>
            <a:fld id="{E1EFCB46-C834-4067-A327-0EA79FD50686}" type="slidenum">
              <a:rPr lang="zh-CN" altLang="en-US" smtClean="0">
                <a:solidFill>
                  <a:prstClr val="black"/>
                </a:solidFill>
              </a:rPr>
              <a:pPr/>
              <a:t>‹#›</a:t>
            </a:fld>
            <a:r>
              <a:rPr lang="zh-CN" altLang="en-US" dirty="0"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88999129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5" name="页脚占位符 4"/>
          <p:cNvSpPr>
            <a:spLocks noGrp="1"/>
          </p:cNvSpPr>
          <p:nvPr>
            <p:ph type="ftr" sz="quarter" idx="11"/>
          </p:nvPr>
        </p:nvSpPr>
        <p:spPr/>
        <p:txBody>
          <a:bodyPr/>
          <a:lstStyle/>
          <a:p>
            <a:r>
              <a:rPr lang="en-US" altLang="zh-CN" dirty="0"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solidFill>
                  <a:prstClr val="black"/>
                </a:solidFill>
                <a:latin typeface="微软雅黑" pitchFamily="34" charset="-122"/>
                <a:ea typeface="微软雅黑" pitchFamily="34" charset="-122"/>
              </a:rPr>
              <a:t>PAGE</a:t>
            </a:r>
            <a:r>
              <a:rPr lang="zh-CN" altLang="en-US" dirty="0" smtClean="0">
                <a:solidFill>
                  <a:prstClr val="black"/>
                </a:solidFill>
              </a:rPr>
              <a:t> </a:t>
            </a:r>
            <a:fld id="{E1EFCB46-C834-4067-A327-0EA79FD50686}" type="slidenum">
              <a:rPr lang="zh-CN" altLang="en-US" smtClean="0">
                <a:solidFill>
                  <a:prstClr val="black"/>
                </a:solidFill>
              </a:rPr>
              <a:pPr/>
              <a:t>‹#›</a:t>
            </a:fld>
            <a:r>
              <a:rPr lang="zh-CN" altLang="en-US" dirty="0"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1452435629"/>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页脚占位符 5"/>
          <p:cNvSpPr>
            <a:spLocks noGrp="1"/>
          </p:cNvSpPr>
          <p:nvPr>
            <p:ph type="ftr" sz="quarter" idx="11"/>
          </p:nvPr>
        </p:nvSpPr>
        <p:spPr/>
        <p:txBody>
          <a:bodyPr/>
          <a:lstStyle/>
          <a:p>
            <a:r>
              <a:rPr lang="en-US" altLang="zh-CN" dirty="0"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p>
        </p:txBody>
      </p:sp>
      <p:sp>
        <p:nvSpPr>
          <p:cNvPr id="7" name="灯片编号占位符 6"/>
          <p:cNvSpPr>
            <a:spLocks noGrp="1"/>
          </p:cNvSpPr>
          <p:nvPr>
            <p:ph type="sldNum" sz="quarter" idx="12"/>
          </p:nvPr>
        </p:nvSpPr>
        <p:spPr/>
        <p:txBody>
          <a:bodyPr/>
          <a:lstStyle>
            <a:lvl1pPr>
              <a:defRPr sz="1200"/>
            </a:lvl1pPr>
          </a:lstStyle>
          <a:p>
            <a:r>
              <a:rPr lang="en-US" altLang="zh-CN" dirty="0" smtClean="0">
                <a:solidFill>
                  <a:prstClr val="black"/>
                </a:solidFill>
                <a:latin typeface="微软雅黑" pitchFamily="34" charset="-122"/>
                <a:ea typeface="微软雅黑" pitchFamily="34" charset="-122"/>
              </a:rPr>
              <a:t>PAGE</a:t>
            </a:r>
            <a:r>
              <a:rPr lang="zh-CN" altLang="en-US" dirty="0" smtClean="0">
                <a:solidFill>
                  <a:prstClr val="black"/>
                </a:solidFill>
              </a:rPr>
              <a:t> </a:t>
            </a:r>
            <a:fld id="{E1EFCB46-C834-4067-A327-0EA79FD50686}" type="slidenum">
              <a:rPr lang="zh-CN" altLang="en-US" smtClean="0">
                <a:solidFill>
                  <a:prstClr val="black"/>
                </a:solidFill>
              </a:rPr>
              <a:pPr/>
              <a:t>‹#›</a:t>
            </a:fld>
            <a:r>
              <a:rPr lang="zh-CN" altLang="en-US" dirty="0"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3689727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pic>
        <p:nvPicPr>
          <p:cNvPr id="6" name="图片 5" descr="2938668_150805002142_2.jpg"/>
          <p:cNvPicPr>
            <a:picLocks noChangeAspect="1"/>
          </p:cNvPicPr>
          <p:nvPr userDrawn="1"/>
        </p:nvPicPr>
        <p:blipFill>
          <a:blip r:embed="rId2"/>
          <a:srcRect b="4167"/>
          <a:stretch>
            <a:fillRect/>
          </a:stretch>
        </p:blipFill>
        <p:spPr>
          <a:xfrm>
            <a:off x="0" y="0"/>
            <a:ext cx="9144000" cy="6858000"/>
          </a:xfrm>
          <a:prstGeom prst="rect">
            <a:avLst/>
          </a:prstGeom>
        </p:spPr>
      </p:pic>
      <p:pic>
        <p:nvPicPr>
          <p:cNvPr id="13314"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422410" y="0"/>
            <a:ext cx="2754307"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591004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7"/>
          <a:srcRect t="10773" b="69020"/>
          <a:stretch>
            <a:fillRect/>
          </a:stretch>
        </p:blipFill>
        <p:spPr>
          <a:xfrm>
            <a:off x="0" y="0"/>
            <a:ext cx="9144000" cy="1214422"/>
          </a:xfrm>
          <a:prstGeom prst="rect">
            <a:avLst/>
          </a:prstGeom>
        </p:spPr>
      </p:pic>
      <p:sp>
        <p:nvSpPr>
          <p:cNvPr id="2" name="标题占位符 1"/>
          <p:cNvSpPr>
            <a:spLocks noGrp="1"/>
          </p:cNvSpPr>
          <p:nvPr>
            <p:ph type="title"/>
          </p:nvPr>
        </p:nvSpPr>
        <p:spPr>
          <a:xfrm>
            <a:off x="457200" y="274638"/>
            <a:ext cx="8229600" cy="1082660"/>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357298"/>
            <a:ext cx="8229600" cy="4768865"/>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页脚占位符 4"/>
          <p:cNvSpPr>
            <a:spLocks noGrp="1"/>
          </p:cNvSpPr>
          <p:nvPr>
            <p:ph type="ftr" sz="quarter" idx="3"/>
          </p:nvPr>
        </p:nvSpPr>
        <p:spPr>
          <a:xfrm>
            <a:off x="971600" y="6359525"/>
            <a:ext cx="6480720" cy="363558"/>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4"/>
          </p:nvPr>
        </p:nvSpPr>
        <p:spPr>
          <a:xfrm>
            <a:off x="7884368" y="6356350"/>
            <a:ext cx="802432" cy="365125"/>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solidFill>
                  <a:prstClr val="black"/>
                </a:solidFill>
                <a:latin typeface="微软雅黑" pitchFamily="34" charset="-122"/>
                <a:ea typeface="微软雅黑" pitchFamily="34" charset="-122"/>
              </a:rPr>
              <a:t>PAGE</a:t>
            </a:r>
            <a:r>
              <a:rPr lang="zh-CN" altLang="en-US" sz="1050" dirty="0" smtClean="0">
                <a:solidFill>
                  <a:prstClr val="black"/>
                </a:solidFill>
              </a:rPr>
              <a:t> </a:t>
            </a:r>
            <a:fld id="{E1EFCB46-C834-4067-A327-0EA79FD50686}" type="slidenum">
              <a:rPr lang="zh-CN" altLang="en-US" sz="1050" smtClean="0">
                <a:solidFill>
                  <a:prstClr val="black"/>
                </a:solidFill>
              </a:rPr>
              <a:pPr/>
              <a:t>‹#›</a:t>
            </a:fld>
            <a:r>
              <a:rPr lang="zh-CN" altLang="en-US" dirty="0" smtClean="0">
                <a:solidFill>
                  <a:prstClr val="black"/>
                </a:solidFill>
              </a:rPr>
              <a:t> </a:t>
            </a:r>
            <a:endParaRPr lang="zh-CN" altLang="en-US" dirty="0">
              <a:solidFill>
                <a:prstClr val="black"/>
              </a:solidFill>
              <a:latin typeface="微软雅黑" pitchFamily="34" charset="-122"/>
              <a:ea typeface="微软雅黑" pitchFamily="34" charset="-122"/>
            </a:endParaRPr>
          </a:p>
        </p:txBody>
      </p:sp>
      <p:pic>
        <p:nvPicPr>
          <p:cNvPr id="8" name="图片 7" descr="2938668_150805002142_2.jpg"/>
          <p:cNvPicPr>
            <a:picLocks noChangeAspect="1"/>
          </p:cNvPicPr>
          <p:nvPr userDrawn="1"/>
        </p:nvPicPr>
        <p:blipFill>
          <a:blip r:embed="rId7"/>
          <a:srcRect t="52304" b="41753"/>
          <a:stretch>
            <a:fillRect/>
          </a:stretch>
        </p:blipFill>
        <p:spPr>
          <a:xfrm>
            <a:off x="0" y="6715149"/>
            <a:ext cx="9144000" cy="321458"/>
          </a:xfrm>
          <a:prstGeom prst="rect">
            <a:avLst/>
          </a:prstGeom>
        </p:spPr>
      </p:pic>
      <p:pic>
        <p:nvPicPr>
          <p:cNvPr id="16" name="图片 15"/>
          <p:cNvPicPr>
            <a:picLocks noChangeAspect="1"/>
          </p:cNvPicPr>
          <p:nvPr userDrawn="1"/>
        </p:nvPicPr>
        <p:blipFill rotWithShape="1">
          <a:blip r:embed="rId8" cstate="print">
            <a:extLst>
              <a:ext uri="{28A0092B-C50C-407E-A947-70E740481C1C}">
                <a14:useLocalDpi xmlns:a14="http://schemas.microsoft.com/office/drawing/2010/main" val="0"/>
              </a:ext>
            </a:extLst>
          </a:blip>
          <a:srcRect b="34726"/>
          <a:stretch/>
        </p:blipFill>
        <p:spPr>
          <a:xfrm>
            <a:off x="171892" y="6339800"/>
            <a:ext cx="432048" cy="345317"/>
          </a:xfrm>
          <a:prstGeom prst="rect">
            <a:avLst/>
          </a:prstGeom>
        </p:spPr>
      </p:pic>
      <p:pic>
        <p:nvPicPr>
          <p:cNvPr id="12290" name="Picture 2"/>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7884368" y="213488"/>
            <a:ext cx="1115549" cy="787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267924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Lst>
  <p:timing>
    <p:tnLst>
      <p:par>
        <p:cTn id="1" dur="indefinite" restart="never" nodeType="tmRoot"/>
      </p:par>
    </p:tnLst>
  </p:timing>
  <p:hf hdr="0"/>
  <p:txStyles>
    <p:title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p:titleStyle>
    <p:body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195736" y="4797152"/>
            <a:ext cx="4914912" cy="1512168"/>
          </a:xfrm>
        </p:spPr>
        <p:txBody>
          <a:bodyPr/>
          <a:lstStyle/>
          <a:p>
            <a:r>
              <a:rPr lang="en-US" altLang="zh-CN" sz="2800" dirty="0">
                <a:solidFill>
                  <a:schemeClr val="bg1"/>
                </a:solidFill>
                <a:effectLst>
                  <a:outerShdw blurRad="38100" dist="38100" dir="2700000" algn="tl">
                    <a:srgbClr val="000000">
                      <a:alpha val="43137"/>
                    </a:srgbClr>
                  </a:outerShdw>
                </a:effectLst>
              </a:rPr>
              <a:t>DFH SATELLITE </a:t>
            </a:r>
            <a:r>
              <a:rPr lang="en-US" altLang="zh-CN" sz="2800" dirty="0" smtClean="0">
                <a:solidFill>
                  <a:schemeClr val="bg1"/>
                </a:solidFill>
                <a:effectLst>
                  <a:outerShdw blurRad="38100" dist="38100" dir="2700000" algn="tl">
                    <a:srgbClr val="000000">
                      <a:alpha val="43137"/>
                    </a:srgbClr>
                  </a:outerShdw>
                </a:effectLst>
              </a:rPr>
              <a:t>CO.,LTD</a:t>
            </a:r>
          </a:p>
          <a:p>
            <a:r>
              <a:rPr lang="en-US" altLang="zh-CN" sz="2800" dirty="0" smtClean="0"/>
              <a:t>February</a:t>
            </a:r>
            <a:r>
              <a:rPr lang="en-US" altLang="zh-CN" sz="2800" dirty="0" smtClean="0"/>
              <a:t>.</a:t>
            </a:r>
            <a:r>
              <a:rPr lang="en-US" altLang="zh-CN" sz="2800" dirty="0" smtClean="0">
                <a:solidFill>
                  <a:schemeClr val="bg1"/>
                </a:solidFill>
                <a:effectLst>
                  <a:outerShdw blurRad="38100" dist="38100" dir="2700000" algn="tl">
                    <a:srgbClr val="000000">
                      <a:alpha val="43137"/>
                    </a:srgbClr>
                  </a:outerShdw>
                </a:effectLst>
              </a:rPr>
              <a:t>2019</a:t>
            </a:r>
            <a:endParaRPr lang="en-US" altLang="zh-CN" sz="2800" dirty="0" smtClean="0">
              <a:solidFill>
                <a:schemeClr val="bg1"/>
              </a:solidFill>
              <a:effectLst>
                <a:outerShdw blurRad="38100" dist="38100" dir="2700000" algn="tl">
                  <a:srgbClr val="000000">
                    <a:alpha val="43137"/>
                  </a:srgbClr>
                </a:outerShdw>
              </a:effectLst>
            </a:endParaRPr>
          </a:p>
          <a:p>
            <a:endParaRPr lang="zh-CN" altLang="en-US" dirty="0"/>
          </a:p>
          <a:p>
            <a:endParaRPr lang="zh-CN" altLang="en-US" dirty="0"/>
          </a:p>
        </p:txBody>
      </p:sp>
      <p:sp>
        <p:nvSpPr>
          <p:cNvPr id="3" name="标题 2"/>
          <p:cNvSpPr>
            <a:spLocks noGrp="1"/>
          </p:cNvSpPr>
          <p:nvPr>
            <p:ph type="title"/>
          </p:nvPr>
        </p:nvSpPr>
        <p:spPr>
          <a:xfrm>
            <a:off x="0" y="1628800"/>
            <a:ext cx="9144000" cy="2088232"/>
          </a:xfrm>
        </p:spPr>
        <p:txBody>
          <a:bodyPr>
            <a:normAutofit/>
          </a:bodyPr>
          <a:lstStyle/>
          <a:p>
            <a:r>
              <a:rPr lang="en-US" altLang="zh-CN" dirty="0" smtClean="0"/>
              <a:t>ETRSS-1 </a:t>
            </a:r>
            <a:br>
              <a:rPr lang="en-US" altLang="zh-CN" dirty="0" smtClean="0"/>
            </a:br>
            <a:r>
              <a:rPr lang="en-US" altLang="zh-CN" dirty="0" smtClean="0"/>
              <a:t>Shock </a:t>
            </a:r>
            <a:r>
              <a:rPr lang="en-US" altLang="zh-CN" dirty="0"/>
              <a:t>Test </a:t>
            </a:r>
            <a:r>
              <a:rPr lang="en-US" altLang="zh-CN" dirty="0" smtClean="0"/>
              <a:t>Training</a:t>
            </a:r>
            <a:endParaRPr lang="zh-CN" altLang="en-US"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155367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a:bodyPr>
          <a:lstStyle/>
          <a:p>
            <a:r>
              <a:rPr lang="en-US" altLang="zh-CN" sz="2200" dirty="0" smtClean="0"/>
              <a:t>Part I:  Introduction </a:t>
            </a:r>
            <a:r>
              <a:rPr lang="en-US" altLang="zh-CN" sz="2200" dirty="0"/>
              <a:t>of  satellite shock </a:t>
            </a:r>
            <a:r>
              <a:rPr lang="en-US" altLang="zh-CN" sz="2200" dirty="0" smtClean="0"/>
              <a:t>environment</a:t>
            </a:r>
          </a:p>
          <a:p>
            <a:endParaRPr lang="en-US" altLang="zh-CN" sz="2200" dirty="0" smtClean="0"/>
          </a:p>
          <a:p>
            <a:r>
              <a:rPr lang="en-US" altLang="zh-CN" sz="2200" dirty="0" smtClean="0"/>
              <a:t>Part II:  Satellite Shock Test </a:t>
            </a:r>
            <a:r>
              <a:rPr lang="en-US" altLang="zh-CN" sz="2200" dirty="0" smtClean="0">
                <a:solidFill>
                  <a:prstClr val="black">
                    <a:lumMod val="75000"/>
                    <a:lumOff val="25000"/>
                  </a:prstClr>
                </a:solidFill>
              </a:rPr>
              <a:t>introduction</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8661834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endParaRPr lang="zh-CN" altLang="en-US" sz="3200" dirty="0"/>
          </a:p>
        </p:txBody>
      </p:sp>
      <p:sp>
        <p:nvSpPr>
          <p:cNvPr id="3" name="内容占位符 2"/>
          <p:cNvSpPr>
            <a:spLocks noGrp="1"/>
          </p:cNvSpPr>
          <p:nvPr>
            <p:ph idx="1"/>
          </p:nvPr>
        </p:nvSpPr>
        <p:spPr>
          <a:xfrm>
            <a:off x="457200" y="1357298"/>
            <a:ext cx="8435280" cy="4768865"/>
          </a:xfrm>
        </p:spPr>
        <p:txBody>
          <a:bodyPr>
            <a:normAutofit/>
          </a:bodyPr>
          <a:lstStyle/>
          <a:p>
            <a:pPr marL="0" indent="0">
              <a:buNone/>
            </a:pPr>
            <a:r>
              <a:rPr lang="en-US" altLang="zh-CN" dirty="0" smtClean="0"/>
              <a:t>Part I:  Introduction of  satellite shock environment </a:t>
            </a:r>
          </a:p>
          <a:p>
            <a:pPr marL="514350" indent="-514350">
              <a:buFont typeface="+mj-lt"/>
              <a:buAutoNum type="arabicPeriod"/>
            </a:pPr>
            <a:r>
              <a:rPr lang="en-US" altLang="zh-CN" sz="2800" b="0" dirty="0" smtClean="0"/>
              <a:t>Course Introduction</a:t>
            </a:r>
            <a:endParaRPr lang="en-US" altLang="zh-CN" sz="2800" b="0" dirty="0"/>
          </a:p>
          <a:p>
            <a:pPr marL="514350" indent="-514350">
              <a:buFont typeface="+mj-lt"/>
              <a:buAutoNum type="arabicPeriod"/>
            </a:pPr>
            <a:r>
              <a:rPr lang="en-US" altLang="zh-CN" sz="2800" b="0" dirty="0"/>
              <a:t>Shock  test post </a:t>
            </a:r>
            <a:r>
              <a:rPr lang="en-US" altLang="zh-CN" sz="2800" b="0" dirty="0" smtClean="0"/>
              <a:t>responsibility</a:t>
            </a:r>
          </a:p>
          <a:p>
            <a:pPr marL="514350" indent="-514350">
              <a:buFont typeface="+mj-lt"/>
              <a:buAutoNum type="arabicPeriod"/>
            </a:pPr>
            <a:r>
              <a:rPr lang="en-US" altLang="zh-CN" sz="2800" b="0" dirty="0"/>
              <a:t>P</a:t>
            </a:r>
            <a:r>
              <a:rPr lang="en-US" altLang="zh-CN" sz="2800" b="0" dirty="0" smtClean="0"/>
              <a:t>ost </a:t>
            </a:r>
            <a:r>
              <a:rPr lang="en-US" altLang="zh-CN" sz="2800" b="0" dirty="0"/>
              <a:t>input and output </a:t>
            </a:r>
            <a:r>
              <a:rPr lang="en-US" altLang="zh-CN" sz="2800" b="0" dirty="0" smtClean="0"/>
              <a:t>documents</a:t>
            </a:r>
          </a:p>
          <a:p>
            <a:pPr marL="514350" indent="-514350">
              <a:buFont typeface="+mj-lt"/>
              <a:buAutoNum type="arabicPeriod"/>
            </a:pPr>
            <a:r>
              <a:rPr lang="en-US" altLang="zh-CN" sz="2800" b="0" dirty="0" smtClean="0"/>
              <a:t>Satellite </a:t>
            </a:r>
            <a:r>
              <a:rPr lang="en-US" altLang="zh-CN" sz="2800" b="0" dirty="0"/>
              <a:t>shock environment </a:t>
            </a:r>
            <a:r>
              <a:rPr lang="en-US" altLang="zh-CN" sz="2800" b="0" dirty="0" smtClean="0"/>
              <a:t>introduction</a:t>
            </a:r>
          </a:p>
        </p:txBody>
      </p:sp>
      <p:sp>
        <p:nvSpPr>
          <p:cNvPr id="4" name="页脚占位符 3"/>
          <p:cNvSpPr>
            <a:spLocks noGrp="1"/>
          </p:cNvSpPr>
          <p:nvPr>
            <p:ph type="ftr" sz="quarter" idx="11"/>
          </p:nvPr>
        </p:nvSpPr>
        <p:spPr/>
        <p:txBody>
          <a:bodyPr/>
          <a:lstStyle/>
          <a:p>
            <a:r>
              <a:rPr lang="en-US" altLang="zh-CN" dirty="0"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3</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11371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8712968" cy="1082660"/>
          </a:xfrm>
        </p:spPr>
        <p:txBody>
          <a:bodyPr>
            <a:normAutofit fontScale="90000"/>
          </a:bodyPr>
          <a:lstStyle/>
          <a:p>
            <a:r>
              <a:rPr lang="en-US" altLang="zh-CN" dirty="0"/>
              <a:t/>
            </a:r>
            <a:br>
              <a:rPr lang="en-US" altLang="zh-CN" dirty="0"/>
            </a:b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dirty="0" smtClean="0"/>
              <a:t>1. Course </a:t>
            </a:r>
            <a:r>
              <a:rPr lang="en-US" altLang="zh-CN" dirty="0"/>
              <a:t>Introduction</a:t>
            </a:r>
          </a:p>
          <a:p>
            <a:r>
              <a:rPr lang="en-US" altLang="zh-CN" sz="3100" b="0" dirty="0" smtClean="0"/>
              <a:t>Teacher Introduction</a:t>
            </a:r>
          </a:p>
          <a:p>
            <a:endParaRPr lang="en-US" altLang="zh-CN" sz="3100" b="0" dirty="0" smtClean="0"/>
          </a:p>
          <a:p>
            <a:r>
              <a:rPr lang="en-US" altLang="zh-CN" sz="3100" b="0" dirty="0" smtClean="0"/>
              <a:t>Subject:</a:t>
            </a:r>
            <a:r>
              <a:rPr lang="en-US" altLang="zh-CN" sz="3600" b="0" dirty="0" smtClean="0"/>
              <a:t> </a:t>
            </a:r>
            <a:r>
              <a:rPr lang="en-US" altLang="zh-CN" sz="2400" b="0" dirty="0" smtClean="0"/>
              <a:t>Satellite </a:t>
            </a:r>
            <a:r>
              <a:rPr lang="en-US" altLang="zh-CN" sz="2400" b="0" dirty="0"/>
              <a:t>Shock Test (test plan and test summary)</a:t>
            </a:r>
            <a:endParaRPr lang="en-US" altLang="zh-CN" sz="3100" b="0" dirty="0"/>
          </a:p>
          <a:p>
            <a:r>
              <a:rPr lang="en-US" altLang="zh-CN" sz="3100" b="0" dirty="0" smtClean="0"/>
              <a:t>Discipline</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601046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30116"/>
            <a:ext cx="8229600" cy="1082660"/>
          </a:xfrm>
        </p:spPr>
        <p:txBody>
          <a:bodyPr>
            <a:normAutofit fontScale="90000"/>
          </a:bodyPr>
          <a:lstStyle/>
          <a:p>
            <a:r>
              <a:rPr lang="en-US" altLang="zh-CN" dirty="0"/>
              <a:t/>
            </a:r>
            <a:br>
              <a:rPr lang="en-US" altLang="zh-CN" dirty="0"/>
            </a:b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dirty="0"/>
              <a:t>2</a:t>
            </a:r>
            <a:r>
              <a:rPr lang="en-US" altLang="zh-CN" dirty="0" smtClean="0"/>
              <a:t>. post </a:t>
            </a:r>
            <a:r>
              <a:rPr lang="en-US" altLang="zh-CN" dirty="0"/>
              <a:t>responsibility</a:t>
            </a:r>
          </a:p>
          <a:p>
            <a:r>
              <a:rPr lang="en-US" altLang="zh-CN" b="0" dirty="0"/>
              <a:t>Satellite </a:t>
            </a:r>
            <a:r>
              <a:rPr lang="en-US" altLang="zh-CN" b="0" dirty="0" smtClean="0"/>
              <a:t>shock </a:t>
            </a:r>
            <a:r>
              <a:rPr lang="en-US" altLang="zh-CN" b="0" dirty="0"/>
              <a:t>t</a:t>
            </a:r>
            <a:r>
              <a:rPr lang="en-US" altLang="zh-CN" b="0" dirty="0" smtClean="0"/>
              <a:t>est </a:t>
            </a:r>
            <a:r>
              <a:rPr lang="en-US" altLang="zh-CN" b="0" dirty="0"/>
              <a:t>p</a:t>
            </a:r>
            <a:r>
              <a:rPr lang="en-US" altLang="zh-CN" b="0" dirty="0" smtClean="0"/>
              <a:t>lan and summary</a:t>
            </a:r>
          </a:p>
          <a:p>
            <a:r>
              <a:rPr lang="en-US" altLang="zh-CN" b="0" dirty="0" smtClean="0"/>
              <a:t>Shock test implementation technical coordinate</a:t>
            </a:r>
          </a:p>
          <a:p>
            <a:r>
              <a:rPr lang="en-US" altLang="zh-CN" b="0" dirty="0" smtClean="0"/>
              <a:t>Unit shock test condition</a:t>
            </a:r>
          </a:p>
          <a:p>
            <a:endParaRPr lang="zh-CN" altLang="en-US" b="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4103798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02124"/>
            <a:ext cx="8229600" cy="1082660"/>
          </a:xfrm>
        </p:spPr>
        <p:txBody>
          <a:bodyPr>
            <a:normAutofit fontScale="90000"/>
          </a:bodyPr>
          <a:lstStyle/>
          <a:p>
            <a:r>
              <a:rPr lang="en-US" altLang="zh-CN" dirty="0"/>
              <a:t/>
            </a:r>
            <a:br>
              <a:rPr lang="en-US" altLang="zh-CN" dirty="0"/>
            </a:br>
            <a:endParaRPr lang="zh-CN" altLang="en-US" dirty="0"/>
          </a:p>
        </p:txBody>
      </p:sp>
      <p:sp>
        <p:nvSpPr>
          <p:cNvPr id="3" name="内容占位符 2"/>
          <p:cNvSpPr>
            <a:spLocks noGrp="1"/>
          </p:cNvSpPr>
          <p:nvPr>
            <p:ph idx="1"/>
          </p:nvPr>
        </p:nvSpPr>
        <p:spPr/>
        <p:txBody>
          <a:bodyPr>
            <a:normAutofit fontScale="55000" lnSpcReduction="20000"/>
          </a:bodyPr>
          <a:lstStyle/>
          <a:p>
            <a:pPr marL="0" indent="0">
              <a:buNone/>
            </a:pPr>
            <a:r>
              <a:rPr lang="en-US" altLang="zh-CN" sz="4400" dirty="0" smtClean="0"/>
              <a:t>3. Input </a:t>
            </a:r>
            <a:r>
              <a:rPr lang="en-US" altLang="zh-CN" sz="4400" dirty="0"/>
              <a:t>and Output </a:t>
            </a:r>
            <a:r>
              <a:rPr lang="en-US" altLang="zh-CN" sz="4400" dirty="0" smtClean="0"/>
              <a:t>documents</a:t>
            </a:r>
          </a:p>
          <a:p>
            <a:pPr marL="0" indent="0">
              <a:buNone/>
            </a:pPr>
            <a:r>
              <a:rPr lang="en-US" altLang="zh-CN" sz="4000" dirty="0" smtClean="0"/>
              <a:t>Input documents</a:t>
            </a:r>
          </a:p>
          <a:p>
            <a:r>
              <a:rPr lang="en-US" altLang="zh-CN" sz="3300" dirty="0" smtClean="0"/>
              <a:t>Standards</a:t>
            </a:r>
            <a:endParaRPr lang="en-US" altLang="zh-CN" sz="3300" dirty="0"/>
          </a:p>
          <a:p>
            <a:r>
              <a:rPr lang="en-US" altLang="zh-CN" sz="3300" b="0" dirty="0"/>
              <a:t>CASTSS-E-106  Requirements for mechanical environment test for spacecraft products</a:t>
            </a:r>
          </a:p>
          <a:p>
            <a:r>
              <a:rPr lang="en-US" altLang="zh-CN" sz="3300" b="0" dirty="0"/>
              <a:t>CASTSS-Q-56  Safety provisions of satellite -environmental test</a:t>
            </a:r>
          </a:p>
          <a:p>
            <a:r>
              <a:rPr lang="en-US" altLang="zh-CN" sz="3300" b="0" dirty="0"/>
              <a:t>CASTSS-E-40  General technical requirements for hoisting, turning, parking and transportation for satellite</a:t>
            </a:r>
          </a:p>
          <a:p>
            <a:r>
              <a:rPr lang="en-US" altLang="zh-CN" dirty="0"/>
              <a:t>Documents</a:t>
            </a:r>
          </a:p>
          <a:p>
            <a:r>
              <a:rPr lang="en-US" altLang="zh-CN" sz="3300" b="0" dirty="0"/>
              <a:t>Technical network for satellite development</a:t>
            </a:r>
          </a:p>
          <a:p>
            <a:r>
              <a:rPr lang="en-US" altLang="zh-CN" sz="3300" b="0" dirty="0"/>
              <a:t>Design report for satellite configuration and layout</a:t>
            </a:r>
          </a:p>
          <a:p>
            <a:r>
              <a:rPr lang="en-US" altLang="zh-CN" sz="3300" b="0" dirty="0"/>
              <a:t>Technical Requirements to launching vehicle for satellite </a:t>
            </a:r>
          </a:p>
          <a:p>
            <a:pPr marL="0" indent="0">
              <a:buNone/>
            </a:pP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031807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579296" cy="1082660"/>
          </a:xfrm>
        </p:spPr>
        <p:txBody>
          <a:bodyPr>
            <a:normAutofit fontScale="90000"/>
          </a:bodyPr>
          <a:lstStyle/>
          <a:p>
            <a:r>
              <a:rPr lang="en-US" altLang="zh-CN" dirty="0"/>
              <a:t/>
            </a:r>
            <a:br>
              <a:rPr lang="en-US" altLang="zh-CN" dirty="0"/>
            </a:b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sz="2400" dirty="0" smtClean="0"/>
              <a:t>3. Input </a:t>
            </a:r>
            <a:r>
              <a:rPr lang="en-US" altLang="zh-CN" sz="2400" dirty="0"/>
              <a:t>and Output </a:t>
            </a:r>
            <a:r>
              <a:rPr lang="en-US" altLang="zh-CN" sz="2400" dirty="0" smtClean="0"/>
              <a:t>documents</a:t>
            </a:r>
          </a:p>
          <a:p>
            <a:pPr marL="0" indent="0">
              <a:buNone/>
            </a:pPr>
            <a:r>
              <a:rPr lang="en-US" altLang="zh-CN" sz="2400" dirty="0" smtClean="0"/>
              <a:t>Output documents</a:t>
            </a:r>
          </a:p>
          <a:p>
            <a:r>
              <a:rPr lang="en-US" altLang="zh-CN" sz="2000" b="0" dirty="0" smtClean="0"/>
              <a:t>satellite-launching </a:t>
            </a:r>
            <a:r>
              <a:rPr lang="en-US" altLang="zh-CN" sz="2000" b="0" dirty="0"/>
              <a:t>vehicle clamp bond unlock test </a:t>
            </a:r>
            <a:r>
              <a:rPr lang="en-US" altLang="zh-CN" sz="2000" b="0" dirty="0" smtClean="0"/>
              <a:t>plan</a:t>
            </a:r>
          </a:p>
          <a:p>
            <a:r>
              <a:rPr lang="en-US" altLang="zh-CN" sz="2000" b="0" dirty="0"/>
              <a:t>satellite-launching vehicle clamp bond unlock test </a:t>
            </a:r>
            <a:r>
              <a:rPr lang="en-US" altLang="zh-CN" sz="2000" b="0" dirty="0" smtClean="0"/>
              <a:t>summary</a:t>
            </a: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7</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470756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
            </a:r>
            <a:br>
              <a:rPr lang="en-US" altLang="zh-CN" dirty="0"/>
            </a:br>
            <a:endParaRPr lang="zh-CN" altLang="en-US" dirty="0"/>
          </a:p>
        </p:txBody>
      </p:sp>
      <p:sp>
        <p:nvSpPr>
          <p:cNvPr id="3" name="内容占位符 2"/>
          <p:cNvSpPr>
            <a:spLocks noGrp="1"/>
          </p:cNvSpPr>
          <p:nvPr>
            <p:ph idx="1"/>
          </p:nvPr>
        </p:nvSpPr>
        <p:spPr/>
        <p:txBody>
          <a:bodyPr>
            <a:normAutofit fontScale="70000" lnSpcReduction="20000"/>
          </a:bodyPr>
          <a:lstStyle/>
          <a:p>
            <a:pPr marL="0" indent="0">
              <a:buNone/>
            </a:pPr>
            <a:r>
              <a:rPr lang="en-US" altLang="zh-CN" sz="3400" dirty="0" smtClean="0"/>
              <a:t>4.Satellite </a:t>
            </a:r>
            <a:r>
              <a:rPr lang="en-US" altLang="zh-CN" sz="3400" dirty="0"/>
              <a:t>shock environment </a:t>
            </a:r>
            <a:r>
              <a:rPr lang="en-US" altLang="zh-CN" sz="3400" dirty="0" smtClean="0"/>
              <a:t>introduction</a:t>
            </a:r>
          </a:p>
          <a:p>
            <a:pPr marL="0" indent="0">
              <a:buNone/>
            </a:pPr>
            <a:r>
              <a:rPr lang="en-US" altLang="zh-CN" sz="3400" dirty="0" smtClean="0"/>
              <a:t>4.1 Shock </a:t>
            </a:r>
            <a:r>
              <a:rPr lang="en-US" altLang="zh-CN" sz="3400" dirty="0"/>
              <a:t>resource, characteristic, effect</a:t>
            </a:r>
          </a:p>
          <a:p>
            <a:r>
              <a:rPr lang="en-US" altLang="zh-CN" sz="2800" b="0" dirty="0"/>
              <a:t>Source</a:t>
            </a:r>
          </a:p>
          <a:p>
            <a:pPr marL="0" indent="0" algn="just">
              <a:buNone/>
            </a:pPr>
            <a:r>
              <a:rPr lang="en-US" altLang="zh-CN" sz="2800" b="0" dirty="0"/>
              <a:t>           the high frequency transient responses of spacecraft structures are due primarily to the activation of pyrotechnic (explosive) devices. </a:t>
            </a:r>
          </a:p>
          <a:p>
            <a:pPr marL="0" indent="0">
              <a:buNone/>
            </a:pPr>
            <a:endParaRPr lang="en-US" altLang="zh-CN" sz="2800" b="0" dirty="0"/>
          </a:p>
          <a:p>
            <a:r>
              <a:rPr lang="en-US" altLang="zh-CN" sz="2800" b="0" dirty="0"/>
              <a:t>Characteristic</a:t>
            </a:r>
          </a:p>
          <a:p>
            <a:pPr marL="0" indent="0">
              <a:buNone/>
            </a:pPr>
            <a:r>
              <a:rPr lang="en-US" altLang="zh-CN" sz="2800" b="0" dirty="0"/>
              <a:t>           Duration short</a:t>
            </a:r>
          </a:p>
          <a:p>
            <a:pPr marL="0" indent="0">
              <a:buNone/>
            </a:pPr>
            <a:r>
              <a:rPr lang="en-US" altLang="zh-CN" sz="2800" b="0" dirty="0"/>
              <a:t>           High frequency to 100kHz </a:t>
            </a:r>
          </a:p>
          <a:p>
            <a:pPr marL="0" indent="0">
              <a:buNone/>
            </a:pPr>
            <a:r>
              <a:rPr lang="en-US" altLang="zh-CN" sz="2800" b="0" dirty="0"/>
              <a:t>           Big acceleration 5,000g or above</a:t>
            </a:r>
          </a:p>
          <a:p>
            <a:pPr marL="0" indent="0">
              <a:buNone/>
            </a:pPr>
            <a:endParaRPr lang="en-US" altLang="zh-CN" sz="2800" b="0" dirty="0"/>
          </a:p>
          <a:p>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8</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4093524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Introduction of  satellite shock environment</a:t>
            </a:r>
            <a:br>
              <a:rPr lang="en-US" altLang="zh-CN" dirty="0"/>
            </a:br>
            <a:endParaRPr lang="zh-CN" altLang="en-US" dirty="0"/>
          </a:p>
        </p:txBody>
      </p:sp>
      <p:sp>
        <p:nvSpPr>
          <p:cNvPr id="3" name="内容占位符 2"/>
          <p:cNvSpPr>
            <a:spLocks noGrp="1"/>
          </p:cNvSpPr>
          <p:nvPr>
            <p:ph idx="1"/>
          </p:nvPr>
        </p:nvSpPr>
        <p:spPr/>
        <p:txBody>
          <a:bodyPr>
            <a:normAutofit/>
          </a:bodyPr>
          <a:lstStyle/>
          <a:p>
            <a:r>
              <a:rPr lang="en-US" altLang="zh-CN" dirty="0"/>
              <a:t>effect</a:t>
            </a:r>
          </a:p>
          <a:p>
            <a:pPr marL="0" indent="0" algn="just">
              <a:buNone/>
            </a:pPr>
            <a:r>
              <a:rPr lang="en-US" altLang="zh-CN" sz="1800" b="0" dirty="0">
                <a:cs typeface="Times New Roman" pitchFamily="18" charset="0"/>
              </a:rPr>
              <a:t>T</a:t>
            </a:r>
            <a:r>
              <a:rPr lang="en-US" altLang="zh-CN" sz="1800" b="0" dirty="0" smtClean="0">
                <a:cs typeface="Times New Roman" pitchFamily="18" charset="0"/>
              </a:rPr>
              <a:t>ransients, commonly referred to as pyro shock, produce </a:t>
            </a:r>
            <a:r>
              <a:rPr lang="en-US" altLang="zh-CN" sz="1800" b="0" dirty="0">
                <a:cs typeface="Times New Roman" pitchFamily="18" charset="0"/>
              </a:rPr>
              <a:t>little low frequency </a:t>
            </a:r>
            <a:r>
              <a:rPr lang="en-US" altLang="zh-CN" sz="1800" b="0" dirty="0" smtClean="0">
                <a:cs typeface="Times New Roman" pitchFamily="18" charset="0"/>
              </a:rPr>
              <a:t>energy</a:t>
            </a:r>
            <a:r>
              <a:rPr lang="en-US" altLang="zh-CN" sz="1800" b="0" dirty="0">
                <a:cs typeface="Times New Roman" pitchFamily="18" charset="0"/>
              </a:rPr>
              <a:t>;</a:t>
            </a:r>
            <a:endParaRPr lang="en-US" altLang="zh-CN" sz="1800" b="0" dirty="0" smtClean="0">
              <a:cs typeface="Times New Roman" pitchFamily="18" charset="0"/>
            </a:endParaRPr>
          </a:p>
          <a:p>
            <a:pPr marL="0" indent="0" algn="just">
              <a:buNone/>
            </a:pPr>
            <a:endParaRPr lang="en-US" altLang="zh-CN" sz="1800" b="0" dirty="0" smtClean="0">
              <a:cs typeface="Times New Roman" pitchFamily="18" charset="0"/>
            </a:endParaRPr>
          </a:p>
          <a:p>
            <a:pPr marL="0" indent="0" algn="just">
              <a:buNone/>
            </a:pPr>
            <a:r>
              <a:rPr lang="en-US" altLang="zh-CN" sz="1800" b="0" dirty="0" smtClean="0">
                <a:cs typeface="Times New Roman" pitchFamily="18" charset="0"/>
              </a:rPr>
              <a:t>Pose no significant </a:t>
            </a:r>
            <a:r>
              <a:rPr lang="en-US" altLang="zh-CN" sz="1800" b="0" dirty="0">
                <a:cs typeface="Times New Roman" pitchFamily="18" charset="0"/>
              </a:rPr>
              <a:t>damage threat to the basic </a:t>
            </a:r>
            <a:r>
              <a:rPr lang="en-US" altLang="zh-CN" sz="1800" b="0" dirty="0" smtClean="0">
                <a:cs typeface="Times New Roman" pitchFamily="18" charset="0"/>
              </a:rPr>
              <a:t>spacecraft </a:t>
            </a:r>
            <a:r>
              <a:rPr lang="en-US" altLang="zh-CN" sz="1800" b="0" dirty="0">
                <a:cs typeface="Times New Roman" pitchFamily="18" charset="0"/>
              </a:rPr>
              <a:t>structure beyond that localized </a:t>
            </a:r>
            <a:r>
              <a:rPr lang="en-US" altLang="zh-CN" sz="1800" b="0" dirty="0" smtClean="0">
                <a:cs typeface="Times New Roman" pitchFamily="18" charset="0"/>
              </a:rPr>
              <a:t>damage scope the pyrotechnic </a:t>
            </a:r>
            <a:r>
              <a:rPr lang="en-US" altLang="zh-CN" sz="1800" b="0" dirty="0">
                <a:cs typeface="Times New Roman" pitchFamily="18" charset="0"/>
              </a:rPr>
              <a:t>device is intended to produce</a:t>
            </a:r>
            <a:r>
              <a:rPr lang="en-US" altLang="zh-CN" sz="1800" b="0" dirty="0" smtClean="0">
                <a:cs typeface="Times New Roman" pitchFamily="18" charset="0"/>
              </a:rPr>
              <a:t>.</a:t>
            </a:r>
          </a:p>
          <a:p>
            <a:pPr marL="0" indent="0" algn="just">
              <a:buNone/>
            </a:pPr>
            <a:endParaRPr lang="en-US" altLang="zh-CN" sz="1800" b="0" dirty="0" smtClean="0">
              <a:cs typeface="Times New Roman" pitchFamily="18" charset="0"/>
            </a:endParaRPr>
          </a:p>
          <a:p>
            <a:pPr marL="0" indent="0" algn="just">
              <a:buNone/>
            </a:pPr>
            <a:r>
              <a:rPr lang="en-US" altLang="zh-CN" sz="1800" dirty="0" smtClean="0">
                <a:cs typeface="Times New Roman" pitchFamily="18" charset="0"/>
              </a:rPr>
              <a:t>The </a:t>
            </a:r>
            <a:r>
              <a:rPr lang="en-US" altLang="zh-CN" sz="1800" dirty="0">
                <a:cs typeface="Times New Roman" pitchFamily="18" charset="0"/>
              </a:rPr>
              <a:t>primary design concerns </a:t>
            </a:r>
            <a:r>
              <a:rPr lang="en-US" altLang="zh-CN" sz="1800" b="0" dirty="0">
                <a:cs typeface="Times New Roman" pitchFamily="18" charset="0"/>
              </a:rPr>
              <a:t>associated </a:t>
            </a:r>
            <a:r>
              <a:rPr lang="en-US" altLang="zh-CN" sz="1800" b="0" dirty="0" smtClean="0">
                <a:cs typeface="Times New Roman" pitchFamily="18" charset="0"/>
              </a:rPr>
              <a:t>with pyro shock </a:t>
            </a:r>
            <a:r>
              <a:rPr lang="en-US" altLang="zh-CN" sz="1800" b="0" dirty="0">
                <a:cs typeface="Times New Roman" pitchFamily="18" charset="0"/>
              </a:rPr>
              <a:t>involve </a:t>
            </a:r>
            <a:r>
              <a:rPr lang="en-US" altLang="zh-CN" sz="1800" dirty="0">
                <a:cs typeface="Times New Roman" pitchFamily="18" charset="0"/>
              </a:rPr>
              <a:t>the equipment items that are mounted on the spacecraft structure</a:t>
            </a:r>
            <a:r>
              <a:rPr lang="en-US" altLang="zh-CN" sz="1800" b="0" dirty="0">
                <a:cs typeface="Times New Roman" pitchFamily="18" charset="0"/>
              </a:rPr>
              <a:t>.</a:t>
            </a:r>
            <a:endParaRPr lang="zh-CN" altLang="en-US" sz="1800" b="0" dirty="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9</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2436100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Autofit/>
          </a:bodyPr>
          <a:lstStyle/>
          <a:p>
            <a:pPr algn="just">
              <a:spcBef>
                <a:spcPts val="600"/>
              </a:spcBef>
            </a:pPr>
            <a:r>
              <a:rPr lang="en-US" altLang="zh-CN" sz="1800" b="0" dirty="0" smtClean="0">
                <a:cs typeface="Times New Roman" pitchFamily="18" charset="0"/>
              </a:rPr>
              <a:t>Specifically</a:t>
            </a:r>
            <a:r>
              <a:rPr lang="en-US" altLang="zh-CN" sz="1800" b="0" dirty="0">
                <a:cs typeface="Times New Roman" pitchFamily="18" charset="0"/>
              </a:rPr>
              <a:t>, for equipment </a:t>
            </a:r>
            <a:r>
              <a:rPr lang="en-US" altLang="zh-CN" sz="1800" b="0" dirty="0" smtClean="0">
                <a:cs typeface="Times New Roman" pitchFamily="18" charset="0"/>
              </a:rPr>
              <a:t>items that </a:t>
            </a:r>
            <a:r>
              <a:rPr lang="en-US" altLang="zh-CN" sz="1800" b="0" dirty="0">
                <a:cs typeface="Times New Roman" pitchFamily="18" charset="0"/>
              </a:rPr>
              <a:t>have a first natural frequency below 500 Hz, the predicted responses of the </a:t>
            </a:r>
            <a:r>
              <a:rPr lang="en-US" altLang="zh-CN" sz="1800" b="0" dirty="0" smtClean="0">
                <a:cs typeface="Times New Roman" pitchFamily="18" charset="0"/>
              </a:rPr>
              <a:t>equipment structure </a:t>
            </a:r>
            <a:r>
              <a:rPr lang="en-US" altLang="zh-CN" sz="1800" b="0" dirty="0">
                <a:cs typeface="Times New Roman" pitchFamily="18" charset="0"/>
              </a:rPr>
              <a:t>will generally correspond to stresses well below those needed to cause a failure, </a:t>
            </a:r>
            <a:r>
              <a:rPr lang="en-US" altLang="zh-CN" sz="1800" b="0" dirty="0" smtClean="0">
                <a:cs typeface="Times New Roman" pitchFamily="18" charset="0"/>
              </a:rPr>
              <a:t>even though </a:t>
            </a:r>
            <a:r>
              <a:rPr lang="en-US" altLang="zh-CN" sz="1800" b="0" dirty="0">
                <a:cs typeface="Times New Roman" pitchFamily="18" charset="0"/>
              </a:rPr>
              <a:t>small elements in the equipment with resonance frequencies above 1 kHz may fail</a:t>
            </a:r>
            <a:r>
              <a:rPr lang="en-US" altLang="zh-CN" sz="1800" b="0" dirty="0" smtClean="0">
                <a:cs typeface="Times New Roman" pitchFamily="18" charset="0"/>
              </a:rPr>
              <a:t>.</a:t>
            </a:r>
          </a:p>
          <a:p>
            <a:pPr algn="just">
              <a:spcBef>
                <a:spcPts val="600"/>
              </a:spcBef>
            </a:pPr>
            <a:r>
              <a:rPr lang="en-US" altLang="zh-CN" sz="1800" b="0" dirty="0" smtClean="0">
                <a:cs typeface="Times New Roman" pitchFamily="18" charset="0"/>
              </a:rPr>
              <a:t>The </a:t>
            </a:r>
            <a:r>
              <a:rPr lang="en-US" altLang="zh-CN" sz="1800" b="0" dirty="0">
                <a:cs typeface="Times New Roman" pitchFamily="18" charset="0"/>
              </a:rPr>
              <a:t>primary threat posed by </a:t>
            </a:r>
            <a:r>
              <a:rPr lang="en-US" altLang="zh-CN" sz="1800" b="0" dirty="0" smtClean="0">
                <a:cs typeface="Times New Roman" pitchFamily="18" charset="0"/>
              </a:rPr>
              <a:t>pyro shock </a:t>
            </a:r>
            <a:r>
              <a:rPr lang="en-US" altLang="zh-CN" sz="1800" b="0" dirty="0">
                <a:cs typeface="Times New Roman" pitchFamily="18" charset="0"/>
              </a:rPr>
              <a:t>is to small elements, primarily </a:t>
            </a:r>
            <a:r>
              <a:rPr lang="en-US" altLang="zh-CN" sz="1800" b="0" dirty="0" smtClean="0">
                <a:cs typeface="Times New Roman" pitchFamily="18" charset="0"/>
              </a:rPr>
              <a:t>in </a:t>
            </a:r>
            <a:r>
              <a:rPr lang="en-US" altLang="zh-CN" sz="1800" dirty="0" smtClean="0">
                <a:cs typeface="Times New Roman" pitchFamily="18" charset="0"/>
              </a:rPr>
              <a:t>optical </a:t>
            </a:r>
            <a:r>
              <a:rPr lang="en-US" altLang="zh-CN" sz="1800" dirty="0">
                <a:cs typeface="Times New Roman" pitchFamily="18" charset="0"/>
              </a:rPr>
              <a:t>and electronic equipment, that are composed of brittle materials such as glass </a:t>
            </a:r>
            <a:r>
              <a:rPr lang="en-US" altLang="zh-CN" sz="1800" dirty="0" smtClean="0">
                <a:cs typeface="Times New Roman" pitchFamily="18" charset="0"/>
              </a:rPr>
              <a:t>or ceramics</a:t>
            </a:r>
            <a:r>
              <a:rPr lang="en-US" altLang="zh-CN" sz="1800" b="0" dirty="0" smtClean="0">
                <a:cs typeface="Times New Roman" pitchFamily="18" charset="0"/>
              </a:rPr>
              <a:t>.</a:t>
            </a:r>
          </a:p>
          <a:p>
            <a:pPr algn="just">
              <a:spcBef>
                <a:spcPts val="600"/>
              </a:spcBef>
            </a:pPr>
            <a:r>
              <a:rPr lang="en-US" altLang="zh-CN" sz="1800" b="0" dirty="0" smtClean="0">
                <a:cs typeface="Times New Roman" pitchFamily="18" charset="0"/>
              </a:rPr>
              <a:t>Pyro shock </a:t>
            </a:r>
            <a:r>
              <a:rPr lang="en-US" altLang="zh-CN" sz="1800" b="0" dirty="0">
                <a:cs typeface="Times New Roman" pitchFamily="18" charset="0"/>
              </a:rPr>
              <a:t>have also been known to cause </a:t>
            </a:r>
            <a:r>
              <a:rPr lang="en-US" altLang="zh-CN" sz="1800" dirty="0">
                <a:cs typeface="Times New Roman" pitchFamily="18" charset="0"/>
              </a:rPr>
              <a:t>malfunctions of surface </a:t>
            </a:r>
            <a:r>
              <a:rPr lang="en-US" altLang="zh-CN" sz="1800" dirty="0" smtClean="0">
                <a:cs typeface="Times New Roman" pitchFamily="18" charset="0"/>
              </a:rPr>
              <a:t>mounted elements </a:t>
            </a:r>
            <a:r>
              <a:rPr lang="en-US" altLang="zh-CN" sz="1800" dirty="0">
                <a:cs typeface="Times New Roman" pitchFamily="18" charset="0"/>
              </a:rPr>
              <a:t>on electronic circuit boards and computer memory elements</a:t>
            </a:r>
            <a:r>
              <a:rPr lang="en-US" altLang="zh-CN" sz="1800" b="0" dirty="0" smtClean="0">
                <a:cs typeface="Times New Roman" pitchFamily="18" charset="0"/>
              </a:rPr>
              <a:t>. </a:t>
            </a:r>
            <a:endParaRPr lang="zh-CN" altLang="en-US" sz="1800" dirty="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10</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2495216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Autofit/>
          </a:bodyPr>
          <a:lstStyle/>
          <a:p>
            <a:pPr marL="0" indent="0" algn="just">
              <a:buNone/>
            </a:pPr>
            <a:r>
              <a:rPr lang="en-US" altLang="zh-CN" sz="1600" b="0" dirty="0" smtClean="0">
                <a:cs typeface="Times New Roman" pitchFamily="18" charset="0"/>
              </a:rPr>
              <a:t>A </a:t>
            </a:r>
            <a:r>
              <a:rPr lang="en-US" altLang="zh-CN" sz="1600" b="0" dirty="0">
                <a:cs typeface="Times New Roman" pitchFamily="18" charset="0"/>
              </a:rPr>
              <a:t>few </a:t>
            </a:r>
            <a:r>
              <a:rPr lang="en-US" altLang="zh-CN" sz="1600" b="0" dirty="0" smtClean="0">
                <a:cs typeface="Times New Roman" pitchFamily="18" charset="0"/>
              </a:rPr>
              <a:t>important </a:t>
            </a:r>
            <a:r>
              <a:rPr lang="en-US" altLang="zh-CN" sz="1600" dirty="0">
                <a:cs typeface="Times New Roman" pitchFamily="18" charset="0"/>
              </a:rPr>
              <a:t>general design guidelines</a:t>
            </a:r>
            <a:r>
              <a:rPr lang="en-US" altLang="zh-CN" sz="1600" b="0" dirty="0">
                <a:cs typeface="Times New Roman" pitchFamily="18" charset="0"/>
              </a:rPr>
              <a:t> that have </a:t>
            </a:r>
            <a:r>
              <a:rPr lang="en-US" altLang="zh-CN" sz="1600" b="0" dirty="0" smtClean="0">
                <a:cs typeface="Times New Roman" pitchFamily="18" charset="0"/>
              </a:rPr>
              <a:t>evolved from </a:t>
            </a:r>
            <a:r>
              <a:rPr lang="en-US" altLang="zh-CN" sz="1600" b="0" dirty="0">
                <a:cs typeface="Times New Roman" pitchFamily="18" charset="0"/>
              </a:rPr>
              <a:t>experience are as follows</a:t>
            </a:r>
            <a:r>
              <a:rPr lang="en-US" altLang="zh-CN" sz="1600" b="0" dirty="0" smtClean="0">
                <a:cs typeface="Times New Roman" pitchFamily="18" charset="0"/>
              </a:rPr>
              <a:t>:</a:t>
            </a:r>
          </a:p>
          <a:p>
            <a:pPr algn="just">
              <a:buFont typeface="+mj-lt"/>
              <a:buAutoNum type="alphaLcPeriod"/>
            </a:pPr>
            <a:r>
              <a:rPr lang="en-US" altLang="zh-CN" sz="1600" b="0" dirty="0" smtClean="0">
                <a:cs typeface="Times New Roman" pitchFamily="18" charset="0"/>
              </a:rPr>
              <a:t>Always </a:t>
            </a:r>
            <a:r>
              <a:rPr lang="en-US" altLang="zh-CN" sz="1600" b="0" dirty="0">
                <a:cs typeface="Times New Roman" pitchFamily="18" charset="0"/>
              </a:rPr>
              <a:t>mount equipment that is sensitive to high frequency excitations, particularly optical and electronic equipment, as far away as feasible from pyrotechnic devices.</a:t>
            </a:r>
          </a:p>
          <a:p>
            <a:pPr algn="just">
              <a:buFont typeface="+mj-lt"/>
              <a:buAutoNum type="alphaLcPeriod"/>
            </a:pPr>
            <a:r>
              <a:rPr lang="en-US" altLang="zh-CN" sz="1600" b="0" dirty="0" smtClean="0">
                <a:cs typeface="Times New Roman" pitchFamily="18" charset="0"/>
              </a:rPr>
              <a:t>Avoid </a:t>
            </a:r>
            <a:r>
              <a:rPr lang="en-US" altLang="zh-CN" sz="1600" b="0" dirty="0">
                <a:cs typeface="Times New Roman" pitchFamily="18" charset="0"/>
              </a:rPr>
              <a:t>locating sensitive equipment on structures that provide a good transmission path for high frequency energy, for example, honeycomb structures.</a:t>
            </a:r>
          </a:p>
          <a:p>
            <a:pPr algn="just">
              <a:buFont typeface="+mj-lt"/>
              <a:buAutoNum type="alphaLcPeriod"/>
            </a:pPr>
            <a:r>
              <a:rPr lang="en-US" altLang="zh-CN" sz="1600" b="0" dirty="0" smtClean="0">
                <a:cs typeface="Times New Roman" pitchFamily="18" charset="0"/>
              </a:rPr>
              <a:t>Attempt </a:t>
            </a:r>
            <a:r>
              <a:rPr lang="en-US" altLang="zh-CN" sz="1600" b="0" dirty="0">
                <a:cs typeface="Times New Roman" pitchFamily="18" charset="0"/>
              </a:rPr>
              <a:t>to locate sensitive equipment on structures that are separated from pyrotechnic devices by structural joints and/or discontinuities.</a:t>
            </a:r>
          </a:p>
          <a:p>
            <a:pPr algn="just">
              <a:buFont typeface="+mj-lt"/>
              <a:buAutoNum type="alphaLcPeriod"/>
            </a:pPr>
            <a:r>
              <a:rPr lang="en-US" altLang="zh-CN" sz="1600" b="0" dirty="0" smtClean="0">
                <a:cs typeface="Times New Roman" pitchFamily="18" charset="0"/>
              </a:rPr>
              <a:t>When </a:t>
            </a:r>
            <a:r>
              <a:rPr lang="en-US" altLang="zh-CN" sz="1600" b="0" dirty="0">
                <a:cs typeface="Times New Roman" pitchFamily="18" charset="0"/>
              </a:rPr>
              <a:t>feasible, avoid hard-mounting elements composed of brittle materials to the basic structure of the equipment.</a:t>
            </a:r>
            <a:endParaRPr lang="zh-CN" altLang="en-US" sz="1600" b="0" dirty="0">
              <a:cs typeface="Times New Roman" pitchFamily="18" charset="0"/>
            </a:endParaRPr>
          </a:p>
          <a:p>
            <a:pPr marL="0" indent="0" algn="just">
              <a:buNone/>
            </a:pPr>
            <a:endParaRPr lang="zh-CN" altLang="en-US" sz="1600" b="0" dirty="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11</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3869489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marL="0" indent="0" algn="just">
              <a:buNone/>
            </a:pPr>
            <a:r>
              <a:rPr lang="en-US" altLang="zh-CN" sz="2000" b="0" dirty="0" smtClean="0">
                <a:cs typeface="Times New Roman" pitchFamily="18" charset="0"/>
              </a:rPr>
              <a:t>       In </a:t>
            </a:r>
            <a:r>
              <a:rPr lang="en-US" altLang="zh-CN" sz="2000" b="0" dirty="0">
                <a:cs typeface="Times New Roman" pitchFamily="18" charset="0"/>
              </a:rPr>
              <a:t>summary, the main defense against </a:t>
            </a:r>
            <a:r>
              <a:rPr lang="en-US" altLang="zh-CN" sz="2000" b="0" dirty="0" smtClean="0">
                <a:cs typeface="Times New Roman" pitchFamily="18" charset="0"/>
              </a:rPr>
              <a:t>pyro shock </a:t>
            </a:r>
            <a:r>
              <a:rPr lang="en-US" altLang="zh-CN" sz="2000" b="0" dirty="0">
                <a:cs typeface="Times New Roman" pitchFamily="18" charset="0"/>
              </a:rPr>
              <a:t>induced flight failures is the careful </a:t>
            </a:r>
            <a:r>
              <a:rPr lang="en-US" altLang="zh-CN" sz="2000" b="0" dirty="0" smtClean="0">
                <a:cs typeface="Times New Roman" pitchFamily="18" charset="0"/>
              </a:rPr>
              <a:t>testing with </a:t>
            </a:r>
            <a:r>
              <a:rPr lang="en-US" altLang="zh-CN" sz="2000" b="0" dirty="0">
                <a:cs typeface="Times New Roman" pitchFamily="18" charset="0"/>
              </a:rPr>
              <a:t>an appropriate margin of individual equipment items using one of the laboratory </a:t>
            </a:r>
            <a:r>
              <a:rPr lang="en-US" altLang="zh-CN" sz="2000" b="0" dirty="0" smtClean="0">
                <a:cs typeface="Times New Roman" pitchFamily="18" charset="0"/>
              </a:rPr>
              <a:t>simulation procedures, </a:t>
            </a:r>
            <a:r>
              <a:rPr lang="en-US" altLang="zh-CN" sz="2000" b="0" dirty="0">
                <a:cs typeface="Times New Roman" pitchFamily="18" charset="0"/>
              </a:rPr>
              <a:t>and in particular, a full pre-flight system test in </a:t>
            </a:r>
            <a:r>
              <a:rPr lang="en-US" altLang="zh-CN" sz="2000" b="0" dirty="0" smtClean="0">
                <a:cs typeface="Times New Roman" pitchFamily="18" charset="0"/>
              </a:rPr>
              <a:t>the laboratory </a:t>
            </a:r>
            <a:r>
              <a:rPr lang="en-US" altLang="zh-CN" sz="2000" b="0" dirty="0">
                <a:cs typeface="Times New Roman" pitchFamily="18" charset="0"/>
              </a:rPr>
              <a:t>where all pyrotechnic devices are activated in sequence or in combination, as </a:t>
            </a:r>
            <a:r>
              <a:rPr lang="en-US" altLang="zh-CN" sz="2000" b="0" dirty="0" smtClean="0">
                <a:cs typeface="Times New Roman" pitchFamily="18" charset="0"/>
              </a:rPr>
              <a:t>will occur </a:t>
            </a:r>
            <a:r>
              <a:rPr lang="en-US" altLang="zh-CN" sz="2000" b="0" dirty="0">
                <a:cs typeface="Times New Roman" pitchFamily="18" charset="0"/>
              </a:rPr>
              <a:t>in flight.</a:t>
            </a:r>
            <a:endParaRPr lang="zh-CN" altLang="en-US" sz="2000" b="0" dirty="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12</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2734026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fontScale="92500" lnSpcReduction="10000"/>
          </a:bodyPr>
          <a:lstStyle/>
          <a:p>
            <a:pPr marL="0" indent="0">
              <a:buNone/>
            </a:pPr>
            <a:r>
              <a:rPr lang="en-US" altLang="zh-CN" dirty="0" smtClean="0"/>
              <a:t>4.2 definition</a:t>
            </a:r>
          </a:p>
          <a:p>
            <a:r>
              <a:rPr lang="en-US" altLang="zh-CN" dirty="0" smtClean="0"/>
              <a:t>Shock Response Spectrum(SRS)</a:t>
            </a:r>
          </a:p>
          <a:p>
            <a:pPr marL="0" indent="0" algn="just">
              <a:buNone/>
            </a:pPr>
            <a:r>
              <a:rPr lang="en-US" altLang="zh-CN" b="0" dirty="0">
                <a:latin typeface="Times New Roman" pitchFamily="18" charset="0"/>
                <a:cs typeface="Times New Roman" pitchFamily="18" charset="0"/>
              </a:rPr>
              <a:t> </a:t>
            </a:r>
            <a:r>
              <a:rPr lang="en-US" altLang="zh-CN" b="0" dirty="0" smtClean="0">
                <a:latin typeface="Times New Roman" pitchFamily="18" charset="0"/>
                <a:cs typeface="Times New Roman" pitchFamily="18" charset="0"/>
              </a:rPr>
              <a:t>   </a:t>
            </a:r>
            <a:r>
              <a:rPr lang="en-US" altLang="zh-CN" b="0" dirty="0">
                <a:latin typeface="Times New Roman" pitchFamily="18" charset="0"/>
                <a:cs typeface="Times New Roman" pitchFamily="18" charset="0"/>
              </a:rPr>
              <a:t> The shock response spectrum (also called a shock spectrum, response spectrum, or SRS) has been traditionally used as a measure of the damaging potential of a given transient environment, either deterministic or random. </a:t>
            </a: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13</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068782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fontScale="25000" lnSpcReduction="20000"/>
          </a:bodyPr>
          <a:lstStyle/>
          <a:p>
            <a:r>
              <a:rPr lang="en-US" altLang="zh-CN" sz="9600" dirty="0" smtClean="0"/>
              <a:t>Shock Response Spectrum(SRS)</a:t>
            </a:r>
          </a:p>
          <a:p>
            <a:pPr marL="0" indent="0" algn="just">
              <a:lnSpc>
                <a:spcPct val="170000"/>
              </a:lnSpc>
              <a:buNone/>
            </a:pPr>
            <a:r>
              <a:rPr lang="en-US" altLang="zh-CN" sz="5600" b="0" dirty="0">
                <a:cs typeface="Times New Roman" pitchFamily="18" charset="0"/>
              </a:rPr>
              <a:t>    </a:t>
            </a:r>
            <a:r>
              <a:rPr lang="en-US" altLang="zh-CN" sz="8000" b="0" dirty="0">
                <a:cs typeface="Times New Roman" pitchFamily="18" charset="0"/>
              </a:rPr>
              <a:t>The concept of the SRS involves a hypothetical single degree-of-freedom system (oscillator</a:t>
            </a:r>
            <a:r>
              <a:rPr lang="en-US" altLang="zh-CN" sz="8000" b="0" dirty="0" smtClean="0">
                <a:cs typeface="Times New Roman" pitchFamily="18" charset="0"/>
              </a:rPr>
              <a:t>) consisting </a:t>
            </a:r>
            <a:r>
              <a:rPr lang="en-US" altLang="zh-CN" sz="8000" b="0" dirty="0">
                <a:cs typeface="Times New Roman" pitchFamily="18" charset="0"/>
              </a:rPr>
              <a:t>of a mass supported by a spring and a dashpot, both attached to a rigid base. </a:t>
            </a:r>
            <a:endParaRPr lang="en-US" altLang="zh-CN" sz="8000" b="0" dirty="0" smtClean="0">
              <a:cs typeface="Times New Roman" pitchFamily="18" charset="0"/>
            </a:endParaRPr>
          </a:p>
          <a:p>
            <a:pPr marL="0" indent="0" algn="just">
              <a:lnSpc>
                <a:spcPct val="170000"/>
              </a:lnSpc>
              <a:buNone/>
            </a:pPr>
            <a:r>
              <a:rPr lang="en-US" altLang="zh-CN" sz="8000" b="0" dirty="0">
                <a:cs typeface="Times New Roman" pitchFamily="18" charset="0"/>
              </a:rPr>
              <a:t> </a:t>
            </a:r>
            <a:r>
              <a:rPr lang="en-US" altLang="zh-CN" sz="8000" b="0" dirty="0" smtClean="0">
                <a:cs typeface="Times New Roman" pitchFamily="18" charset="0"/>
              </a:rPr>
              <a:t>   The SRS</a:t>
            </a:r>
            <a:r>
              <a:rPr lang="en-US" altLang="zh-CN" sz="8000" b="0" dirty="0">
                <a:cs typeface="Times New Roman" pitchFamily="18" charset="0"/>
              </a:rPr>
              <a:t>, denoted by </a:t>
            </a:r>
            <a:r>
              <a:rPr lang="en-US" altLang="zh-CN" sz="8000" b="0" dirty="0" err="1">
                <a:cs typeface="Times New Roman" pitchFamily="18" charset="0"/>
              </a:rPr>
              <a:t>Sx</a:t>
            </a:r>
            <a:r>
              <a:rPr lang="en-US" altLang="zh-CN" sz="8000" b="0" dirty="0">
                <a:cs typeface="Times New Roman" pitchFamily="18" charset="0"/>
              </a:rPr>
              <a:t>(</a:t>
            </a:r>
            <a:r>
              <a:rPr lang="en-US" altLang="zh-CN" sz="8000" b="0" dirty="0" err="1">
                <a:cs typeface="Times New Roman" pitchFamily="18" charset="0"/>
              </a:rPr>
              <a:t>fn,ζ</a:t>
            </a:r>
            <a:r>
              <a:rPr lang="en-US" altLang="zh-CN" sz="8000" b="0" dirty="0">
                <a:cs typeface="Times New Roman" pitchFamily="18" charset="0"/>
              </a:rPr>
              <a:t>), for a transient acceleration signal a(t) is commonly defined as </a:t>
            </a:r>
            <a:r>
              <a:rPr lang="en-US" altLang="zh-CN" sz="8000" b="0" dirty="0" smtClean="0">
                <a:cs typeface="Times New Roman" pitchFamily="18" charset="0"/>
              </a:rPr>
              <a:t>the largest </a:t>
            </a:r>
            <a:r>
              <a:rPr lang="en-US" altLang="zh-CN" sz="8000" b="0" dirty="0">
                <a:cs typeface="Times New Roman" pitchFamily="18" charset="0"/>
              </a:rPr>
              <a:t>peak acceleration response of the mass of the oscillator with </a:t>
            </a:r>
            <a:r>
              <a:rPr lang="en-US" altLang="zh-CN" sz="8000" b="0" dirty="0" err="1">
                <a:cs typeface="Times New Roman" pitchFamily="18" charset="0"/>
              </a:rPr>
              <a:t>undamped</a:t>
            </a:r>
            <a:r>
              <a:rPr lang="en-US" altLang="zh-CN" sz="8000" b="0" dirty="0">
                <a:cs typeface="Times New Roman" pitchFamily="18" charset="0"/>
              </a:rPr>
              <a:t> </a:t>
            </a:r>
            <a:r>
              <a:rPr lang="en-US" altLang="zh-CN" sz="8000" b="0" dirty="0" smtClean="0">
                <a:cs typeface="Times New Roman" pitchFamily="18" charset="0"/>
              </a:rPr>
              <a:t>natural frequency </a:t>
            </a:r>
            <a:r>
              <a:rPr lang="en-US" altLang="zh-CN" sz="8000" b="0" dirty="0" err="1">
                <a:cs typeface="Times New Roman" pitchFamily="18" charset="0"/>
              </a:rPr>
              <a:t>fn</a:t>
            </a:r>
            <a:r>
              <a:rPr lang="en-US" altLang="zh-CN" sz="8000" b="0" dirty="0">
                <a:cs typeface="Times New Roman" pitchFamily="18" charset="0"/>
              </a:rPr>
              <a:t> and damping ratio ζ when the transient acceleration a(t) is applied at the base </a:t>
            </a:r>
            <a:r>
              <a:rPr lang="en-US" altLang="zh-CN" sz="8000" b="0" dirty="0" smtClean="0">
                <a:cs typeface="Times New Roman" pitchFamily="18" charset="0"/>
              </a:rPr>
              <a:t>of the oscillator. </a:t>
            </a:r>
            <a:endParaRPr lang="zh-CN" altLang="en-US" sz="80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14</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053168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6" name="内容占位符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6320" y="1357313"/>
            <a:ext cx="6611360" cy="4768850"/>
          </a:xfrm>
        </p:spPr>
      </p:pic>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15</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3448041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fontScale="62500" lnSpcReduction="20000"/>
          </a:bodyPr>
          <a:lstStyle/>
          <a:p>
            <a:pPr marL="0" indent="0">
              <a:buNone/>
            </a:pPr>
            <a:r>
              <a:rPr lang="en-US" altLang="zh-CN" sz="3800" dirty="0" smtClean="0"/>
              <a:t>4.3  Shock environment </a:t>
            </a:r>
            <a:r>
              <a:rPr lang="en-US" altLang="zh-CN" sz="3800" dirty="0"/>
              <a:t>simulation </a:t>
            </a:r>
            <a:r>
              <a:rPr lang="en-US" altLang="zh-CN" sz="3800" dirty="0" smtClean="0"/>
              <a:t>methods</a:t>
            </a:r>
            <a:endParaRPr lang="en-US" altLang="zh-CN" sz="3800" dirty="0"/>
          </a:p>
          <a:p>
            <a:pPr marL="514350" indent="-514350">
              <a:buAutoNum type="arabicParenBoth"/>
            </a:pPr>
            <a:r>
              <a:rPr lang="en-US" altLang="zh-CN" sz="2800" dirty="0"/>
              <a:t>pyro technics deployment shock</a:t>
            </a:r>
          </a:p>
          <a:p>
            <a:pPr marL="0" indent="0" algn="just">
              <a:buNone/>
            </a:pPr>
            <a:r>
              <a:rPr lang="en-US" altLang="zh-CN" sz="1200" b="0" dirty="0">
                <a:cs typeface="Times New Roman" pitchFamily="18" charset="0"/>
              </a:rPr>
              <a:t>    </a:t>
            </a:r>
            <a:r>
              <a:rPr lang="en-US" altLang="zh-CN" sz="2800" b="0" dirty="0">
                <a:cs typeface="Times New Roman" pitchFamily="18" charset="0"/>
              </a:rPr>
              <a:t>Tests are conducted by actuation of the flight pyrotechnic devices, which provide shock qualification. </a:t>
            </a:r>
          </a:p>
          <a:p>
            <a:pPr marL="0" indent="0" algn="just">
              <a:buNone/>
            </a:pPr>
            <a:r>
              <a:rPr lang="en-US" altLang="zh-CN" sz="2800" b="0" dirty="0">
                <a:cs typeface="Times New Roman" pitchFamily="18" charset="0"/>
              </a:rPr>
              <a:t> </a:t>
            </a:r>
            <a:endParaRPr lang="en-US" altLang="zh-CN" sz="2800" b="0" dirty="0" smtClean="0">
              <a:cs typeface="Times New Roman" pitchFamily="18" charset="0"/>
            </a:endParaRPr>
          </a:p>
          <a:p>
            <a:pPr marL="0" indent="0" algn="just">
              <a:buNone/>
            </a:pPr>
            <a:r>
              <a:rPr lang="en-US" altLang="zh-CN" sz="2800" b="0" dirty="0" smtClean="0">
                <a:cs typeface="Times New Roman" pitchFamily="18" charset="0"/>
              </a:rPr>
              <a:t> Advantage</a:t>
            </a:r>
            <a:r>
              <a:rPr lang="en-US" altLang="zh-CN" sz="2800" b="0" dirty="0">
                <a:cs typeface="Times New Roman" pitchFamily="18" charset="0"/>
              </a:rPr>
              <a:t>:  </a:t>
            </a:r>
            <a:r>
              <a:rPr lang="en-US" altLang="zh-CN" sz="2800" b="0" dirty="0" smtClean="0">
                <a:cs typeface="Times New Roman" pitchFamily="18" charset="0"/>
              </a:rPr>
              <a:t>the </a:t>
            </a:r>
            <a:r>
              <a:rPr lang="en-US" altLang="zh-CN" sz="2800" b="0" dirty="0">
                <a:cs typeface="Times New Roman" pitchFamily="18" charset="0"/>
              </a:rPr>
              <a:t>real </a:t>
            </a:r>
            <a:r>
              <a:rPr lang="en-US" altLang="zh-CN" sz="2800" b="0" dirty="0" err="1">
                <a:cs typeface="Times New Roman" pitchFamily="18" charset="0"/>
              </a:rPr>
              <a:t>pyroshock</a:t>
            </a:r>
            <a:r>
              <a:rPr lang="en-US" altLang="zh-CN" sz="2800" b="0" dirty="0">
                <a:cs typeface="Times New Roman" pitchFamily="18" charset="0"/>
              </a:rPr>
              <a:t> event in its most complex form</a:t>
            </a:r>
            <a:r>
              <a:rPr lang="en-US" altLang="zh-CN" sz="2800" b="0" dirty="0" smtClean="0">
                <a:cs typeface="Times New Roman" pitchFamily="18" charset="0"/>
              </a:rPr>
              <a:t>.</a:t>
            </a:r>
          </a:p>
          <a:p>
            <a:pPr marL="0" indent="0" algn="just">
              <a:buNone/>
            </a:pPr>
            <a:endParaRPr lang="en-US" altLang="zh-CN" sz="2800" b="0" dirty="0">
              <a:cs typeface="Times New Roman" pitchFamily="18" charset="0"/>
            </a:endParaRPr>
          </a:p>
          <a:p>
            <a:pPr marL="0" indent="0" algn="just">
              <a:buNone/>
            </a:pPr>
            <a:r>
              <a:rPr lang="en-US" altLang="zh-CN" sz="2800" b="0" dirty="0">
                <a:cs typeface="Times New Roman" pitchFamily="18" charset="0"/>
              </a:rPr>
              <a:t>    The main objectives of the </a:t>
            </a:r>
            <a:r>
              <a:rPr lang="en-US" altLang="zh-CN" sz="2800" b="0" dirty="0" err="1">
                <a:cs typeface="Times New Roman" pitchFamily="18" charset="0"/>
              </a:rPr>
              <a:t>pyroshock</a:t>
            </a:r>
            <a:r>
              <a:rPr lang="en-US" altLang="zh-CN" sz="2800" b="0" dirty="0">
                <a:cs typeface="Times New Roman" pitchFamily="18" charset="0"/>
              </a:rPr>
              <a:t> test are: </a:t>
            </a:r>
          </a:p>
          <a:p>
            <a:pPr marL="514350" indent="-514350">
              <a:buAutoNum type="arabicParenBoth"/>
            </a:pPr>
            <a:r>
              <a:rPr lang="en-US" altLang="zh-CN" sz="2800" b="0" dirty="0">
                <a:cs typeface="Times New Roman" pitchFamily="18" charset="0"/>
              </a:rPr>
              <a:t>to define shock response in the vicinity of potentially sensitive equipment so that component test specifications may be derived or verified;</a:t>
            </a:r>
          </a:p>
          <a:p>
            <a:pPr marL="514350" indent="-514350">
              <a:buAutoNum type="arabicParenBoth"/>
            </a:pPr>
            <a:r>
              <a:rPr lang="en-US" altLang="zh-CN" sz="2800" b="0" dirty="0">
                <a:cs typeface="Times New Roman" pitchFamily="18" charset="0"/>
              </a:rPr>
              <a:t> to conduct qualification and thus verify the design values for shock</a:t>
            </a:r>
            <a:r>
              <a:rPr lang="en-US" altLang="zh-CN" sz="2800" b="0" dirty="0" smtClean="0">
                <a:cs typeface="Times New Roman" pitchFamily="18" charset="0"/>
              </a:rPr>
              <a:t>.</a:t>
            </a:r>
            <a:endParaRPr lang="en-US" altLang="zh-CN" sz="2800" dirty="0" smtClean="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16</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974897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a:bodyPr>
          <a:lstStyle/>
          <a:p>
            <a:pPr marL="514350" indent="-514350">
              <a:buAutoNum type="arabicParenBoth"/>
            </a:pPr>
            <a:r>
              <a:rPr lang="en-US" altLang="zh-CN" sz="2000" dirty="0" smtClean="0"/>
              <a:t>pyro </a:t>
            </a:r>
            <a:r>
              <a:rPr lang="en-US" altLang="zh-CN" sz="2000" dirty="0"/>
              <a:t>technics deployment </a:t>
            </a:r>
            <a:r>
              <a:rPr lang="en-US" altLang="zh-CN" sz="2000" dirty="0" smtClean="0"/>
              <a:t>shock</a:t>
            </a:r>
          </a:p>
          <a:p>
            <a:pPr marL="0" indent="0" algn="just">
              <a:buNone/>
            </a:pPr>
            <a:r>
              <a:rPr lang="en-US" altLang="zh-CN" sz="2100" b="0" dirty="0" smtClean="0">
                <a:cs typeface="Times New Roman" pitchFamily="18" charset="0"/>
              </a:rPr>
              <a:t>Disadvantage: </a:t>
            </a:r>
          </a:p>
          <a:p>
            <a:pPr marL="0" indent="0" algn="just">
              <a:buNone/>
            </a:pPr>
            <a:r>
              <a:rPr lang="en-US" altLang="zh-CN" sz="2100" b="0" dirty="0" smtClean="0">
                <a:cs typeface="Times New Roman" pitchFamily="18" charset="0"/>
              </a:rPr>
              <a:t>    Considerable </a:t>
            </a:r>
            <a:r>
              <a:rPr lang="en-US" altLang="zh-CN" sz="2100" b="0" dirty="0">
                <a:cs typeface="Times New Roman" pitchFamily="18" charset="0"/>
              </a:rPr>
              <a:t>time and expense </a:t>
            </a:r>
            <a:r>
              <a:rPr lang="en-US" altLang="zh-CN" sz="2100" b="0" dirty="0" smtClean="0">
                <a:cs typeface="Times New Roman" pitchFamily="18" charset="0"/>
              </a:rPr>
              <a:t>are required </a:t>
            </a:r>
            <a:r>
              <a:rPr lang="en-US" altLang="zh-CN" sz="2100" b="0" dirty="0">
                <a:cs typeface="Times New Roman" pitchFamily="18" charset="0"/>
              </a:rPr>
              <a:t>to obtain all the required hardware</a:t>
            </a:r>
            <a:r>
              <a:rPr lang="en-US" altLang="zh-CN" sz="2100" b="0" dirty="0" smtClean="0">
                <a:cs typeface="Times New Roman" pitchFamily="18" charset="0"/>
              </a:rPr>
              <a:t>. </a:t>
            </a:r>
          </a:p>
          <a:p>
            <a:pPr marL="0" indent="0" algn="just">
              <a:buNone/>
            </a:pPr>
            <a:r>
              <a:rPr lang="en-US" altLang="zh-CN" sz="2100" b="0" dirty="0" smtClean="0">
                <a:cs typeface="Times New Roman" pitchFamily="18" charset="0"/>
              </a:rPr>
              <a:t>    The </a:t>
            </a:r>
            <a:r>
              <a:rPr lang="en-US" altLang="zh-CN" sz="2100" b="0" dirty="0">
                <a:cs typeface="Times New Roman" pitchFamily="18" charset="0"/>
              </a:rPr>
              <a:t>hardware must then be assembled</a:t>
            </a:r>
            <a:r>
              <a:rPr lang="en-US" altLang="zh-CN" sz="2100" b="0" dirty="0" smtClean="0">
                <a:cs typeface="Times New Roman" pitchFamily="18" charset="0"/>
              </a:rPr>
              <a:t>, instrumented</a:t>
            </a:r>
            <a:r>
              <a:rPr lang="en-US" altLang="zh-CN" sz="2100" b="0" dirty="0">
                <a:cs typeface="Times New Roman" pitchFamily="18" charset="0"/>
              </a:rPr>
              <a:t>, and removed for post-test evaluation. Generally, special facilities </a:t>
            </a:r>
            <a:r>
              <a:rPr lang="en-US" altLang="zh-CN" sz="2100" b="0" dirty="0" smtClean="0">
                <a:cs typeface="Times New Roman" pitchFamily="18" charset="0"/>
              </a:rPr>
              <a:t>are required </a:t>
            </a:r>
            <a:r>
              <a:rPr lang="en-US" altLang="zh-CN" sz="2100" b="0" dirty="0">
                <a:cs typeface="Times New Roman" pitchFamily="18" charset="0"/>
              </a:rPr>
              <a:t>for the use of explosives</a:t>
            </a:r>
            <a:r>
              <a:rPr lang="en-US" altLang="zh-CN" sz="2100" b="0" dirty="0" smtClean="0">
                <a:cs typeface="Times New Roman" pitchFamily="18" charset="0"/>
              </a:rPr>
              <a:t>.</a:t>
            </a:r>
            <a:endParaRPr lang="en-US" altLang="zh-CN" sz="2100" dirty="0" smtClean="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17</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177989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fontScale="55000" lnSpcReduction="20000"/>
          </a:bodyPr>
          <a:lstStyle/>
          <a:p>
            <a:r>
              <a:rPr lang="en-US" altLang="zh-CN" sz="4500" dirty="0" smtClean="0"/>
              <a:t>Shock </a:t>
            </a:r>
            <a:r>
              <a:rPr lang="en-US" altLang="zh-CN" sz="4500" dirty="0"/>
              <a:t>environment simulation </a:t>
            </a:r>
            <a:r>
              <a:rPr lang="en-US" altLang="zh-CN" sz="4500" dirty="0" smtClean="0"/>
              <a:t>methods</a:t>
            </a:r>
          </a:p>
          <a:p>
            <a:pPr marL="0" indent="0">
              <a:buNone/>
            </a:pPr>
            <a:r>
              <a:rPr lang="en-US" altLang="zh-CN" sz="4500" dirty="0" smtClean="0"/>
              <a:t>(2) </a:t>
            </a:r>
            <a:r>
              <a:rPr lang="en-US" altLang="zh-CN" sz="4500" dirty="0" err="1" smtClean="0"/>
              <a:t>Electrodynamic</a:t>
            </a:r>
            <a:r>
              <a:rPr lang="en-US" altLang="zh-CN" sz="4500" dirty="0" smtClean="0"/>
              <a:t> Shakers</a:t>
            </a:r>
          </a:p>
          <a:p>
            <a:pPr marL="0" indent="0" algn="just">
              <a:buNone/>
            </a:pPr>
            <a:r>
              <a:rPr lang="en-US" altLang="zh-CN" sz="3600" b="0" dirty="0" smtClean="0">
                <a:cs typeface="Times New Roman" pitchFamily="18" charset="0"/>
              </a:rPr>
              <a:t>    </a:t>
            </a:r>
            <a:r>
              <a:rPr lang="en-US" altLang="zh-CN" sz="3600" b="0" dirty="0" err="1" smtClean="0">
                <a:cs typeface="Times New Roman" pitchFamily="18" charset="0"/>
              </a:rPr>
              <a:t>Pyroshock</a:t>
            </a:r>
            <a:r>
              <a:rPr lang="en-US" altLang="zh-CN" sz="3600" b="0" dirty="0" smtClean="0">
                <a:cs typeface="Times New Roman" pitchFamily="18" charset="0"/>
              </a:rPr>
              <a:t> environments can be simulated with an acceleration transient produced on an </a:t>
            </a:r>
            <a:r>
              <a:rPr lang="en-US" altLang="zh-CN" sz="3600" b="0" dirty="0" err="1" smtClean="0">
                <a:cs typeface="Times New Roman" pitchFamily="18" charset="0"/>
              </a:rPr>
              <a:t>electrodynamic</a:t>
            </a:r>
            <a:r>
              <a:rPr lang="en-US" altLang="zh-CN" sz="3600" b="0" dirty="0" smtClean="0">
                <a:cs typeface="Times New Roman" pitchFamily="18" charset="0"/>
              </a:rPr>
              <a:t> shaker.</a:t>
            </a:r>
          </a:p>
          <a:p>
            <a:pPr marL="0" indent="0" algn="just">
              <a:buNone/>
            </a:pPr>
            <a:endParaRPr lang="en-US" altLang="zh-CN" sz="3600" b="0" dirty="0" smtClean="0">
              <a:cs typeface="Times New Roman" pitchFamily="18" charset="0"/>
            </a:endParaRPr>
          </a:p>
          <a:p>
            <a:pPr marL="0" indent="0" algn="just">
              <a:buNone/>
            </a:pPr>
            <a:r>
              <a:rPr lang="en-US" altLang="zh-CN" sz="3600" b="0" dirty="0" smtClean="0">
                <a:cs typeface="Times New Roman" pitchFamily="18" charset="0"/>
              </a:rPr>
              <a:t>    In this method the acceleration transient is synthesized so that its shock response spectrum closely matches the test </a:t>
            </a:r>
            <a:r>
              <a:rPr lang="en-US" altLang="zh-CN" sz="3600" b="0" dirty="0" err="1" smtClean="0">
                <a:cs typeface="Times New Roman" pitchFamily="18" charset="0"/>
              </a:rPr>
              <a:t>requirement.With</a:t>
            </a:r>
            <a:r>
              <a:rPr lang="en-US" altLang="zh-CN" sz="3600" b="0" dirty="0" smtClean="0">
                <a:cs typeface="Times New Roman" pitchFamily="18" charset="0"/>
              </a:rPr>
              <a:t> this method a relatively complex SRS shape can be matched within close tolerances up to about 3000 Hz.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18</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7774949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fontScale="47500" lnSpcReduction="20000"/>
          </a:bodyPr>
          <a:lstStyle/>
          <a:p>
            <a:r>
              <a:rPr lang="en-US" altLang="zh-CN" sz="4500" dirty="0" smtClean="0"/>
              <a:t>Shock </a:t>
            </a:r>
            <a:r>
              <a:rPr lang="en-US" altLang="zh-CN" sz="4500" dirty="0"/>
              <a:t>environment simulation </a:t>
            </a:r>
            <a:r>
              <a:rPr lang="en-US" altLang="zh-CN" sz="4500" dirty="0" smtClean="0"/>
              <a:t>methods</a:t>
            </a:r>
          </a:p>
          <a:p>
            <a:pPr marL="0" indent="0">
              <a:buNone/>
            </a:pPr>
            <a:r>
              <a:rPr lang="en-US" altLang="zh-CN" sz="4500" dirty="0" smtClean="0"/>
              <a:t>(2) Electrodynamics Shakers</a:t>
            </a:r>
          </a:p>
          <a:p>
            <a:pPr marL="0" indent="0" algn="just">
              <a:buNone/>
            </a:pPr>
            <a:r>
              <a:rPr lang="en-US" altLang="zh-CN" sz="4000" b="0" dirty="0" smtClean="0">
                <a:cs typeface="Times New Roman" pitchFamily="18" charset="0"/>
              </a:rPr>
              <a:t>    The equipment limits </a:t>
            </a:r>
            <a:r>
              <a:rPr lang="en-US" altLang="zh-CN" sz="4000" b="0" dirty="0">
                <a:cs typeface="Times New Roman" pitchFamily="18" charset="0"/>
              </a:rPr>
              <a:t>(maximum acceleration) restrict this method to the simulation of </a:t>
            </a:r>
            <a:r>
              <a:rPr lang="en-US" altLang="zh-CN" sz="4000" b="0" dirty="0" smtClean="0">
                <a:cs typeface="Times New Roman" pitchFamily="18" charset="0"/>
              </a:rPr>
              <a:t>lower energy </a:t>
            </a:r>
            <a:r>
              <a:rPr lang="en-US" altLang="zh-CN" sz="4000" b="0" dirty="0" err="1" smtClean="0">
                <a:cs typeface="Times New Roman" pitchFamily="18" charset="0"/>
              </a:rPr>
              <a:t>pyroshock</a:t>
            </a:r>
            <a:r>
              <a:rPr lang="en-US" altLang="zh-CN" sz="4000" b="0" dirty="0" smtClean="0">
                <a:cs typeface="Times New Roman" pitchFamily="18" charset="0"/>
              </a:rPr>
              <a:t> </a:t>
            </a:r>
            <a:r>
              <a:rPr lang="en-US" altLang="zh-CN" sz="4000" b="0" dirty="0">
                <a:cs typeface="Times New Roman" pitchFamily="18" charset="0"/>
              </a:rPr>
              <a:t>environments. </a:t>
            </a:r>
            <a:endParaRPr lang="en-US" altLang="zh-CN" sz="4000" b="0" dirty="0" smtClean="0">
              <a:cs typeface="Times New Roman" pitchFamily="18" charset="0"/>
            </a:endParaRPr>
          </a:p>
          <a:p>
            <a:pPr marL="0" indent="0" algn="just">
              <a:buNone/>
            </a:pPr>
            <a:r>
              <a:rPr lang="en-US" altLang="zh-CN" sz="4000" b="0" dirty="0" smtClean="0">
                <a:cs typeface="Times New Roman" pitchFamily="18" charset="0"/>
              </a:rPr>
              <a:t>    However</a:t>
            </a:r>
            <a:r>
              <a:rPr lang="en-US" altLang="zh-CN" sz="4000" b="0" dirty="0">
                <a:cs typeface="Times New Roman" pitchFamily="18" charset="0"/>
              </a:rPr>
              <a:t>, recent developments show </a:t>
            </a:r>
            <a:r>
              <a:rPr lang="en-US" altLang="zh-CN" sz="4000" b="0" dirty="0" smtClean="0">
                <a:cs typeface="Times New Roman" pitchFamily="18" charset="0"/>
              </a:rPr>
              <a:t>moderate success </a:t>
            </a:r>
            <a:r>
              <a:rPr lang="en-US" altLang="zh-CN" sz="4000" b="0" dirty="0">
                <a:cs typeface="Times New Roman" pitchFamily="18" charset="0"/>
              </a:rPr>
              <a:t>to higher frequencies for very small </a:t>
            </a:r>
            <a:r>
              <a:rPr lang="en-US" altLang="zh-CN" sz="4000" b="0" dirty="0" smtClean="0">
                <a:cs typeface="Times New Roman" pitchFamily="18" charset="0"/>
              </a:rPr>
              <a:t>items.</a:t>
            </a:r>
          </a:p>
          <a:p>
            <a:pPr marL="0" indent="0" algn="just">
              <a:buNone/>
            </a:pPr>
            <a:endParaRPr lang="en-US" altLang="zh-CN" sz="4000" b="0" dirty="0" smtClean="0">
              <a:cs typeface="Times New Roman" pitchFamily="18" charset="0"/>
            </a:endParaRPr>
          </a:p>
          <a:p>
            <a:pPr marL="0" indent="0" algn="just">
              <a:buNone/>
            </a:pPr>
            <a:r>
              <a:rPr lang="en-US" altLang="zh-CN" sz="4000" b="0" dirty="0" smtClean="0">
                <a:cs typeface="Times New Roman" pitchFamily="18" charset="0"/>
              </a:rPr>
              <a:t>    Even </a:t>
            </a:r>
            <a:r>
              <a:rPr lang="en-US" altLang="zh-CN" sz="4000" b="0" dirty="0">
                <a:cs typeface="Times New Roman" pitchFamily="18" charset="0"/>
              </a:rPr>
              <a:t>if the desired SRS is precisely met, an </a:t>
            </a:r>
            <a:r>
              <a:rPr lang="en-US" altLang="zh-CN" sz="4000" b="0" dirty="0" err="1">
                <a:cs typeface="Times New Roman" pitchFamily="18" charset="0"/>
              </a:rPr>
              <a:t>overtest</a:t>
            </a:r>
            <a:r>
              <a:rPr lang="en-US" altLang="zh-CN" sz="4000" b="0" dirty="0">
                <a:cs typeface="Times New Roman" pitchFamily="18" charset="0"/>
              </a:rPr>
              <a:t> is likely due to the high mechanical impedance of the </a:t>
            </a:r>
            <a:r>
              <a:rPr lang="en-US" altLang="zh-CN" sz="4000" b="0" dirty="0" smtClean="0">
                <a:cs typeface="Times New Roman" pitchFamily="18" charset="0"/>
              </a:rPr>
              <a:t>shaker relative </a:t>
            </a:r>
            <a:r>
              <a:rPr lang="en-US" altLang="zh-CN" sz="4000" b="0" dirty="0">
                <a:cs typeface="Times New Roman" pitchFamily="18" charset="0"/>
              </a:rPr>
              <a:t>to the structure to which the test item is attached in a real </a:t>
            </a:r>
            <a:r>
              <a:rPr lang="en-US" altLang="zh-CN" sz="4000" b="0" dirty="0" smtClean="0">
                <a:cs typeface="Times New Roman" pitchFamily="18" charset="0"/>
              </a:rPr>
              <a:t>application.</a:t>
            </a:r>
            <a:endParaRPr lang="en-US" altLang="zh-CN" sz="4000" dirty="0" smtClean="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19</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1342892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fontScale="77500" lnSpcReduction="20000"/>
          </a:bodyPr>
          <a:lstStyle/>
          <a:p>
            <a:r>
              <a:rPr lang="en-US" altLang="zh-CN" sz="2800" dirty="0" smtClean="0"/>
              <a:t>Shock </a:t>
            </a:r>
            <a:r>
              <a:rPr lang="en-US" altLang="zh-CN" sz="2800" dirty="0"/>
              <a:t>environment simulation </a:t>
            </a:r>
            <a:r>
              <a:rPr lang="en-US" altLang="zh-CN" sz="2800" dirty="0" smtClean="0"/>
              <a:t>methods</a:t>
            </a:r>
          </a:p>
          <a:p>
            <a:pPr marL="0" indent="0">
              <a:buNone/>
            </a:pPr>
            <a:r>
              <a:rPr lang="en-US" altLang="zh-CN" sz="2800" dirty="0" smtClean="0"/>
              <a:t>(3) Other simulation method</a:t>
            </a:r>
          </a:p>
          <a:p>
            <a:pPr marL="0" indent="0" algn="just">
              <a:buNone/>
            </a:pPr>
            <a:r>
              <a:rPr lang="en-US" altLang="zh-CN" sz="2800" b="0" dirty="0">
                <a:cs typeface="Times New Roman" pitchFamily="18" charset="0"/>
              </a:rPr>
              <a:t>D</a:t>
            </a:r>
            <a:r>
              <a:rPr lang="en-US" altLang="zh-CN" sz="2800" b="0" dirty="0" smtClean="0">
                <a:cs typeface="Times New Roman" pitchFamily="18" charset="0"/>
              </a:rPr>
              <a:t>rop table shock machines:</a:t>
            </a:r>
          </a:p>
          <a:p>
            <a:pPr marL="0" indent="0" algn="just">
              <a:buNone/>
            </a:pPr>
            <a:r>
              <a:rPr lang="en-US" altLang="zh-CN" sz="2800" b="0" dirty="0">
                <a:cs typeface="Times New Roman" pitchFamily="18" charset="0"/>
              </a:rPr>
              <a:t> </a:t>
            </a:r>
            <a:r>
              <a:rPr lang="en-US" altLang="zh-CN" sz="2800" b="0" dirty="0" smtClean="0">
                <a:cs typeface="Times New Roman" pitchFamily="18" charset="0"/>
              </a:rPr>
              <a:t>   Pulses </a:t>
            </a:r>
            <a:r>
              <a:rPr lang="en-US" altLang="zh-CN" sz="2800" b="0" dirty="0">
                <a:cs typeface="Times New Roman" pitchFamily="18" charset="0"/>
              </a:rPr>
              <a:t>produce significantly greater </a:t>
            </a:r>
            <a:r>
              <a:rPr lang="en-US" altLang="zh-CN" sz="2800" b="0" dirty="0" smtClean="0">
                <a:cs typeface="Times New Roman" pitchFamily="18" charset="0"/>
              </a:rPr>
              <a:t>velocity change </a:t>
            </a:r>
            <a:r>
              <a:rPr lang="en-US" altLang="zh-CN" sz="2800" b="0" dirty="0">
                <a:cs typeface="Times New Roman" pitchFamily="18" charset="0"/>
              </a:rPr>
              <a:t>than a </a:t>
            </a:r>
            <a:r>
              <a:rPr lang="en-US" altLang="zh-CN" sz="2800" b="0" dirty="0" err="1" smtClean="0">
                <a:cs typeface="Times New Roman" pitchFamily="18" charset="0"/>
              </a:rPr>
              <a:t>pyroshock</a:t>
            </a:r>
            <a:r>
              <a:rPr lang="en-US" altLang="zh-CN" sz="2800" b="0" dirty="0" smtClean="0">
                <a:cs typeface="Times New Roman" pitchFamily="18" charset="0"/>
              </a:rPr>
              <a:t> environment. A </a:t>
            </a:r>
            <a:r>
              <a:rPr lang="en-US" altLang="zh-CN" sz="2800" b="0" dirty="0">
                <a:cs typeface="Times New Roman" pitchFamily="18" charset="0"/>
              </a:rPr>
              <a:t>severe </a:t>
            </a:r>
            <a:r>
              <a:rPr lang="en-US" altLang="zh-CN" sz="2800" b="0" dirty="0" err="1">
                <a:cs typeface="Times New Roman" pitchFamily="18" charset="0"/>
              </a:rPr>
              <a:t>overtest</a:t>
            </a:r>
            <a:r>
              <a:rPr lang="en-US" altLang="zh-CN" sz="2800" b="0" dirty="0">
                <a:cs typeface="Times New Roman" pitchFamily="18" charset="0"/>
              </a:rPr>
              <a:t> at low frequencies can </a:t>
            </a:r>
            <a:r>
              <a:rPr lang="en-US" altLang="zh-CN" sz="2800" b="0" dirty="0" smtClean="0">
                <a:cs typeface="Times New Roman" pitchFamily="18" charset="0"/>
              </a:rPr>
              <a:t>be expected </a:t>
            </a:r>
            <a:r>
              <a:rPr lang="en-US" altLang="zh-CN" sz="2800" b="0" dirty="0">
                <a:cs typeface="Times New Roman" pitchFamily="18" charset="0"/>
              </a:rPr>
              <a:t>if a drop table is used to simulate </a:t>
            </a:r>
            <a:r>
              <a:rPr lang="en-US" altLang="zh-CN" sz="2800" b="0" dirty="0" err="1">
                <a:cs typeface="Times New Roman" pitchFamily="18" charset="0"/>
              </a:rPr>
              <a:t>pyroshock</a:t>
            </a:r>
            <a:r>
              <a:rPr lang="en-US" altLang="zh-CN" sz="2800" b="0" dirty="0">
                <a:cs typeface="Times New Roman" pitchFamily="18" charset="0"/>
              </a:rPr>
              <a:t> environments. </a:t>
            </a:r>
            <a:endParaRPr lang="en-US" altLang="zh-CN" sz="2800" b="0" dirty="0" smtClean="0">
              <a:cs typeface="Times New Roman" pitchFamily="18" charset="0"/>
            </a:endParaRPr>
          </a:p>
          <a:p>
            <a:pPr marL="0" indent="0" algn="just">
              <a:buNone/>
            </a:pPr>
            <a:r>
              <a:rPr lang="en-US" altLang="zh-CN" sz="2800" b="0" dirty="0" smtClean="0">
                <a:cs typeface="Times New Roman" pitchFamily="18" charset="0"/>
              </a:rPr>
              <a:t>    This can result </a:t>
            </a:r>
            <a:r>
              <a:rPr lang="en-US" altLang="zh-CN" sz="2800" b="0" dirty="0">
                <a:cs typeface="Times New Roman" pitchFamily="18" charset="0"/>
              </a:rPr>
              <a:t>in failures of structural members that would not have been </a:t>
            </a:r>
            <a:r>
              <a:rPr lang="en-US" altLang="zh-CN" sz="2800" b="0" dirty="0" smtClean="0">
                <a:cs typeface="Times New Roman" pitchFamily="18" charset="0"/>
              </a:rPr>
              <a:t>significantly stressed </a:t>
            </a:r>
            <a:r>
              <a:rPr lang="en-US" altLang="zh-CN" sz="2800" b="0" dirty="0">
                <a:cs typeface="Times New Roman" pitchFamily="18" charset="0"/>
              </a:rPr>
              <a:t>by the actual </a:t>
            </a:r>
            <a:r>
              <a:rPr lang="en-US" altLang="zh-CN" sz="2800" b="0" dirty="0" err="1">
                <a:cs typeface="Times New Roman" pitchFamily="18" charset="0"/>
              </a:rPr>
              <a:t>pyroshock</a:t>
            </a:r>
            <a:r>
              <a:rPr lang="en-US" altLang="zh-CN" sz="2800" b="0" dirty="0">
                <a:cs typeface="Times New Roman" pitchFamily="18" charset="0"/>
              </a:rPr>
              <a:t>. </a:t>
            </a:r>
            <a:endParaRPr lang="en-US" altLang="zh-CN" sz="2800" b="0" dirty="0" smtClean="0">
              <a:cs typeface="Times New Roman" pitchFamily="18" charset="0"/>
            </a:endParaRPr>
          </a:p>
          <a:p>
            <a:pPr marL="0" indent="0">
              <a:buNone/>
            </a:pPr>
            <a:endParaRPr lang="en-US" altLang="zh-CN" sz="2800" dirty="0" smtClean="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20</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4280792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Autofit/>
          </a:bodyPr>
          <a:lstStyle/>
          <a:p>
            <a:pPr marL="0" indent="0" algn="just">
              <a:buNone/>
            </a:pPr>
            <a:r>
              <a:rPr lang="en-US" altLang="zh-CN" sz="1800" b="0" dirty="0" smtClean="0">
                <a:cs typeface="Times New Roman" pitchFamily="18" charset="0"/>
              </a:rPr>
              <a:t>    In </a:t>
            </a:r>
            <a:r>
              <a:rPr lang="en-US" altLang="zh-CN" sz="1800" b="0" dirty="0">
                <a:cs typeface="Times New Roman" pitchFamily="18" charset="0"/>
              </a:rPr>
              <a:t>certain cases, drop tables may produce acceptable </a:t>
            </a:r>
            <a:r>
              <a:rPr lang="en-US" altLang="zh-CN" sz="1800" b="0" dirty="0" err="1">
                <a:cs typeface="Times New Roman" pitchFamily="18" charset="0"/>
              </a:rPr>
              <a:t>pyroshock</a:t>
            </a:r>
            <a:r>
              <a:rPr lang="en-US" altLang="zh-CN" sz="1800" b="0" dirty="0">
                <a:cs typeface="Times New Roman" pitchFamily="18" charset="0"/>
              </a:rPr>
              <a:t> qualification </a:t>
            </a:r>
            <a:r>
              <a:rPr lang="en-US" altLang="zh-CN" sz="1800" b="0" dirty="0" smtClean="0">
                <a:cs typeface="Times New Roman" pitchFamily="18" charset="0"/>
              </a:rPr>
              <a:t>testing </a:t>
            </a:r>
            <a:r>
              <a:rPr lang="en-US" altLang="zh-CN" sz="1800" b="0" dirty="0">
                <a:cs typeface="Times New Roman" pitchFamily="18" charset="0"/>
              </a:rPr>
              <a:t>due to </a:t>
            </a:r>
            <a:r>
              <a:rPr lang="en-US" altLang="zh-CN" sz="1800" b="0" dirty="0" smtClean="0">
                <a:cs typeface="Times New Roman" pitchFamily="18" charset="0"/>
              </a:rPr>
              <a:t>common </a:t>
            </a:r>
            <a:r>
              <a:rPr lang="en-US" altLang="zh-CN" sz="1800" b="0" dirty="0">
                <a:cs typeface="Times New Roman" pitchFamily="18" charset="0"/>
              </a:rPr>
              <a:t>availability and low test cost. </a:t>
            </a:r>
            <a:endParaRPr lang="en-US" altLang="zh-CN" sz="1800" b="0" dirty="0" smtClean="0">
              <a:cs typeface="Times New Roman" pitchFamily="18" charset="0"/>
            </a:endParaRPr>
          </a:p>
          <a:p>
            <a:pPr algn="just">
              <a:buFont typeface="+mj-lt"/>
              <a:buAutoNum type="alphaLcParenR"/>
            </a:pPr>
            <a:r>
              <a:rPr lang="en-US" altLang="zh-CN" sz="1800" b="0" dirty="0" smtClean="0">
                <a:cs typeface="Times New Roman" pitchFamily="18" charset="0"/>
              </a:rPr>
              <a:t>if a test item has significant design margin at low frequencies ;</a:t>
            </a:r>
          </a:p>
          <a:p>
            <a:pPr algn="just">
              <a:buFont typeface="+mj-lt"/>
              <a:buAutoNum type="alphaLcParenR"/>
            </a:pPr>
            <a:r>
              <a:rPr lang="en-US" altLang="zh-CN" sz="1800" b="0" dirty="0" smtClean="0">
                <a:cs typeface="Times New Roman" pitchFamily="18" charset="0"/>
              </a:rPr>
              <a:t>if the lowest natural frequency of the test item is higher than the </a:t>
            </a:r>
            <a:r>
              <a:rPr lang="en-US" altLang="zh-CN" sz="1800" b="0" dirty="0" err="1" smtClean="0">
                <a:cs typeface="Times New Roman" pitchFamily="18" charset="0"/>
              </a:rPr>
              <a:t>overtested</a:t>
            </a:r>
            <a:r>
              <a:rPr lang="en-US" altLang="zh-CN" sz="1800" b="0" dirty="0" smtClean="0">
                <a:cs typeface="Times New Roman" pitchFamily="18" charset="0"/>
              </a:rPr>
              <a:t> low-frequency range, then the low-frequency </a:t>
            </a:r>
            <a:r>
              <a:rPr lang="en-US" altLang="zh-CN" sz="1800" b="0" dirty="0" err="1" smtClean="0">
                <a:cs typeface="Times New Roman" pitchFamily="18" charset="0"/>
              </a:rPr>
              <a:t>overtest</a:t>
            </a:r>
            <a:r>
              <a:rPr lang="en-US" altLang="zh-CN" sz="1800" b="0" dirty="0" smtClean="0">
                <a:cs typeface="Times New Roman" pitchFamily="18" charset="0"/>
              </a:rPr>
              <a:t> may be irrelevant since the effect on the test item is dominated by the peak </a:t>
            </a:r>
            <a:r>
              <a:rPr lang="en-US" altLang="zh-CN" sz="1800" b="0" i="1" dirty="0" smtClean="0">
                <a:cs typeface="Times New Roman" pitchFamily="18" charset="0"/>
              </a:rPr>
              <a:t>g</a:t>
            </a:r>
            <a:r>
              <a:rPr lang="en-US" altLang="zh-CN" sz="1800" b="0" dirty="0" smtClean="0">
                <a:cs typeface="Times New Roman" pitchFamily="18" charset="0"/>
              </a:rPr>
              <a:t>’s of the  acceleration time history.</a:t>
            </a:r>
          </a:p>
          <a:p>
            <a:pPr marL="0" indent="0" algn="just">
              <a:buNone/>
            </a:pPr>
            <a:r>
              <a:rPr lang="en-US" altLang="zh-CN" sz="1800" b="0" dirty="0" smtClean="0">
                <a:cs typeface="Times New Roman" pitchFamily="18" charset="0"/>
              </a:rPr>
              <a:t>    </a:t>
            </a:r>
          </a:p>
          <a:p>
            <a:pPr marL="0" indent="0" algn="just">
              <a:buNone/>
            </a:pPr>
            <a:r>
              <a:rPr lang="en-US" altLang="zh-CN" sz="1800" b="0" dirty="0">
                <a:cs typeface="Times New Roman" pitchFamily="18" charset="0"/>
              </a:rPr>
              <a:t> </a:t>
            </a:r>
            <a:r>
              <a:rPr lang="en-US" altLang="zh-CN" sz="1800" b="0" dirty="0" smtClean="0">
                <a:cs typeface="Times New Roman" pitchFamily="18" charset="0"/>
              </a:rPr>
              <a:t>   If </a:t>
            </a:r>
            <a:r>
              <a:rPr lang="en-US" altLang="zh-CN" sz="1800" b="0" dirty="0">
                <a:cs typeface="Times New Roman" pitchFamily="18" charset="0"/>
              </a:rPr>
              <a:t>a drop table is selected as a means of conducting </a:t>
            </a:r>
            <a:r>
              <a:rPr lang="en-US" altLang="zh-CN" sz="1800" b="0" dirty="0" smtClean="0">
                <a:cs typeface="Times New Roman" pitchFamily="18" charset="0"/>
              </a:rPr>
              <a:t>a </a:t>
            </a:r>
            <a:r>
              <a:rPr lang="en-US" altLang="zh-CN" sz="1800" b="0" dirty="0" err="1">
                <a:cs typeface="Times New Roman" pitchFamily="18" charset="0"/>
              </a:rPr>
              <a:t>pyroshock</a:t>
            </a:r>
            <a:r>
              <a:rPr lang="en-US" altLang="zh-CN" sz="1800" b="0" dirty="0">
                <a:cs typeface="Times New Roman" pitchFamily="18" charset="0"/>
              </a:rPr>
              <a:t> qualification test, the test item must be subjected to a shock in both </a:t>
            </a:r>
            <a:r>
              <a:rPr lang="en-US" altLang="zh-CN" sz="1800" b="0" dirty="0" smtClean="0">
                <a:cs typeface="Times New Roman" pitchFamily="18" charset="0"/>
              </a:rPr>
              <a:t>positive and </a:t>
            </a:r>
            <a:r>
              <a:rPr lang="en-US" altLang="zh-CN" sz="1800" b="0" dirty="0">
                <a:cs typeface="Times New Roman" pitchFamily="18" charset="0"/>
              </a:rPr>
              <a:t>negative directions for each axis </a:t>
            </a:r>
            <a:r>
              <a:rPr lang="en-US" altLang="zh-CN" sz="1800" b="0" dirty="0" smtClean="0">
                <a:cs typeface="Times New Roman" pitchFamily="18" charset="0"/>
              </a:rPr>
              <a:t>tested.</a:t>
            </a:r>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21</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3943996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marL="0" indent="0">
              <a:buNone/>
            </a:pPr>
            <a:r>
              <a:rPr lang="en-US" altLang="zh-CN" dirty="0" smtClean="0"/>
              <a:t>4.4 Test Procedure</a:t>
            </a:r>
          </a:p>
          <a:p>
            <a:pPr marL="0" indent="0" algn="just">
              <a:buNone/>
            </a:pPr>
            <a:r>
              <a:rPr lang="en-US" altLang="zh-CN" sz="2000" b="0" dirty="0" smtClean="0">
                <a:cs typeface="Times New Roman" pitchFamily="18" charset="0"/>
              </a:rPr>
              <a:t>    The detailed test procedure for near-field </a:t>
            </a:r>
            <a:r>
              <a:rPr lang="en-US" altLang="zh-CN" sz="2000" b="0" dirty="0" err="1" smtClean="0">
                <a:cs typeface="Times New Roman" pitchFamily="18" charset="0"/>
              </a:rPr>
              <a:t>pyroshock</a:t>
            </a:r>
            <a:r>
              <a:rPr lang="en-US" altLang="zh-CN" sz="2000" b="0" dirty="0" smtClean="0">
                <a:cs typeface="Times New Roman" pitchFamily="18" charset="0"/>
              </a:rPr>
              <a:t> simulations using ordnance test facilities is dependent on the specific design of the facility and local government regulations related to safety. Similarly, the detailed test procedures for mid-field and far-field </a:t>
            </a:r>
            <a:r>
              <a:rPr lang="en-US" altLang="zh-CN" sz="2000" b="0" dirty="0" err="1" smtClean="0">
                <a:cs typeface="Times New Roman" pitchFamily="18" charset="0"/>
              </a:rPr>
              <a:t>pyroshock</a:t>
            </a:r>
            <a:r>
              <a:rPr lang="en-US" altLang="zh-CN" sz="2000" b="0" dirty="0" smtClean="0">
                <a:cs typeface="Times New Roman" pitchFamily="18" charset="0"/>
              </a:rPr>
              <a:t> simulations are dependent on the type of facility used.</a:t>
            </a:r>
            <a:endParaRPr lang="zh-CN" altLang="en-US" sz="2000"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22</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36345401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marL="0" indent="0">
              <a:buNone/>
            </a:pPr>
            <a:r>
              <a:rPr lang="en-US" altLang="zh-CN" sz="1600" b="0" dirty="0" smtClean="0">
                <a:cs typeface="Times New Roman" pitchFamily="18" charset="0"/>
              </a:rPr>
              <a:t>The </a:t>
            </a:r>
            <a:r>
              <a:rPr lang="en-US" altLang="zh-CN" sz="1600" b="0" dirty="0">
                <a:cs typeface="Times New Roman" pitchFamily="18" charset="0"/>
              </a:rPr>
              <a:t>general </a:t>
            </a:r>
            <a:r>
              <a:rPr lang="en-US" altLang="zh-CN" sz="1600" b="0" dirty="0" smtClean="0">
                <a:cs typeface="Times New Roman" pitchFamily="18" charset="0"/>
              </a:rPr>
              <a:t>procedure:</a:t>
            </a:r>
            <a:endParaRPr lang="en-US" altLang="zh-CN" sz="1600" dirty="0">
              <a:cs typeface="Times New Roman" pitchFamily="18" charset="0"/>
            </a:endParaRPr>
          </a:p>
          <a:p>
            <a:pPr algn="just">
              <a:spcBef>
                <a:spcPts val="1200"/>
              </a:spcBef>
              <a:buFont typeface="+mj-lt"/>
              <a:buAutoNum type="alphaLcPeriod"/>
            </a:pPr>
            <a:r>
              <a:rPr lang="en-US" altLang="zh-CN" sz="1600" b="0" dirty="0" smtClean="0">
                <a:cs typeface="Times New Roman" pitchFamily="18" charset="0"/>
              </a:rPr>
              <a:t>Attach </a:t>
            </a:r>
            <a:r>
              <a:rPr lang="en-US" altLang="zh-CN" sz="1600" b="0" dirty="0">
                <a:cs typeface="Times New Roman" pitchFamily="18" charset="0"/>
              </a:rPr>
              <a:t>the test item to the test machine </a:t>
            </a:r>
            <a:r>
              <a:rPr lang="en-US" altLang="zh-CN" sz="1600" b="0" dirty="0" smtClean="0">
                <a:cs typeface="Times New Roman" pitchFamily="18" charset="0"/>
              </a:rPr>
              <a:t>using </a:t>
            </a:r>
            <a:r>
              <a:rPr lang="en-US" altLang="zh-CN" sz="1600" b="0" dirty="0">
                <a:cs typeface="Times New Roman" pitchFamily="18" charset="0"/>
              </a:rPr>
              <a:t>an appropriate </a:t>
            </a:r>
            <a:r>
              <a:rPr lang="en-US" altLang="zh-CN" sz="1600" b="0" dirty="0" smtClean="0">
                <a:cs typeface="Times New Roman" pitchFamily="18" charset="0"/>
              </a:rPr>
              <a:t>test fixture and </a:t>
            </a:r>
            <a:r>
              <a:rPr lang="en-US" altLang="zh-CN" sz="1600" b="0" dirty="0">
                <a:cs typeface="Times New Roman" pitchFamily="18" charset="0"/>
              </a:rPr>
              <a:t>with safety-approved procedures so as to provide the </a:t>
            </a:r>
            <a:r>
              <a:rPr lang="en-US" altLang="zh-CN" sz="1600" b="0" dirty="0" smtClean="0">
                <a:cs typeface="Times New Roman" pitchFamily="18" charset="0"/>
              </a:rPr>
              <a:t>high frequency </a:t>
            </a:r>
            <a:r>
              <a:rPr lang="en-US" altLang="zh-CN" sz="1600" b="0" dirty="0">
                <a:cs typeface="Times New Roman" pitchFamily="18" charset="0"/>
              </a:rPr>
              <a:t>transient excitation along one of the three orthogonal axes of the test item.</a:t>
            </a:r>
          </a:p>
          <a:p>
            <a:pPr algn="just">
              <a:spcBef>
                <a:spcPts val="1200"/>
              </a:spcBef>
              <a:buFont typeface="+mj-lt"/>
              <a:buAutoNum type="alphaLcPeriod"/>
            </a:pPr>
            <a:r>
              <a:rPr lang="en-US" altLang="zh-CN" sz="1600" b="0" dirty="0" smtClean="0">
                <a:cs typeface="Times New Roman" pitchFamily="18" charset="0"/>
              </a:rPr>
              <a:t>Attach </a:t>
            </a:r>
            <a:r>
              <a:rPr lang="en-US" altLang="zh-CN" sz="1600" b="0" dirty="0">
                <a:cs typeface="Times New Roman" pitchFamily="18" charset="0"/>
              </a:rPr>
              <a:t>an accelerometer to the test fixture at a location near the input to the test </a:t>
            </a:r>
            <a:r>
              <a:rPr lang="en-US" altLang="zh-CN" sz="1600" b="0" dirty="0" smtClean="0">
                <a:cs typeface="Times New Roman" pitchFamily="18" charset="0"/>
              </a:rPr>
              <a:t>item. For </a:t>
            </a:r>
            <a:r>
              <a:rPr lang="en-US" altLang="zh-CN" sz="1600" b="0" dirty="0">
                <a:cs typeface="Times New Roman" pitchFamily="18" charset="0"/>
              </a:rPr>
              <a:t>large test items with multiple attachment points, additional </a:t>
            </a:r>
            <a:r>
              <a:rPr lang="en-US" altLang="zh-CN" sz="1600" b="0" dirty="0" smtClean="0">
                <a:cs typeface="Times New Roman" pitchFamily="18" charset="0"/>
              </a:rPr>
              <a:t>accelerometers </a:t>
            </a:r>
            <a:r>
              <a:rPr lang="en-US" altLang="zh-CN" sz="1600" b="0" dirty="0">
                <a:cs typeface="Times New Roman" pitchFamily="18" charset="0"/>
              </a:rPr>
              <a:t>should </a:t>
            </a:r>
            <a:r>
              <a:rPr lang="en-US" altLang="zh-CN" sz="1600" b="0" dirty="0" smtClean="0">
                <a:cs typeface="Times New Roman" pitchFamily="18" charset="0"/>
              </a:rPr>
              <a:t>be mounted </a:t>
            </a:r>
            <a:r>
              <a:rPr lang="en-US" altLang="zh-CN" sz="1600" b="0" dirty="0">
                <a:cs typeface="Times New Roman" pitchFamily="18" charset="0"/>
              </a:rPr>
              <a:t>at several of the mounting point locations for the test item to allow the computation </a:t>
            </a:r>
            <a:r>
              <a:rPr lang="en-US" altLang="zh-CN" sz="1600" b="0" dirty="0" smtClean="0">
                <a:cs typeface="Times New Roman" pitchFamily="18" charset="0"/>
              </a:rPr>
              <a:t>of an </a:t>
            </a:r>
            <a:r>
              <a:rPr lang="en-US" altLang="zh-CN" sz="1600" b="0" dirty="0">
                <a:cs typeface="Times New Roman" pitchFamily="18" charset="0"/>
              </a:rPr>
              <a:t>average input excitation to the test item</a:t>
            </a:r>
            <a:r>
              <a:rPr lang="en-US" altLang="zh-CN" sz="1600" b="0" dirty="0" smtClean="0">
                <a:cs typeface="Times New Roman" pitchFamily="18" charset="0"/>
              </a:rPr>
              <a:t>.</a:t>
            </a:r>
          </a:p>
          <a:p>
            <a:pPr algn="just">
              <a:spcBef>
                <a:spcPts val="1200"/>
              </a:spcBef>
              <a:buFont typeface="+mj-lt"/>
              <a:buAutoNum type="alphaLcPeriod"/>
            </a:pPr>
            <a:r>
              <a:rPr lang="en-US" altLang="zh-CN" sz="1600" b="0" dirty="0">
                <a:cs typeface="Times New Roman" pitchFamily="18" charset="0"/>
              </a:rPr>
              <a:t>For functional tests power-up the test item to function as it would during the exposure to the transient events being simulated.</a:t>
            </a:r>
          </a:p>
          <a:p>
            <a:pPr algn="just">
              <a:buFont typeface="+mj-lt"/>
              <a:buAutoNum type="alphaLcPeriod"/>
            </a:pPr>
            <a:endParaRPr lang="zh-CN" altLang="en-US" sz="1600" dirty="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23</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3988105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Autofit/>
          </a:bodyPr>
          <a:lstStyle/>
          <a:p>
            <a:pPr algn="just">
              <a:spcBef>
                <a:spcPts val="1200"/>
              </a:spcBef>
              <a:buFont typeface="+mj-lt"/>
              <a:buAutoNum type="alphaLcPeriod" startAt="4"/>
            </a:pPr>
            <a:r>
              <a:rPr lang="en-US" altLang="zh-CN" sz="1600" b="0" dirty="0" smtClean="0">
                <a:cs typeface="Times New Roman" pitchFamily="18" charset="0"/>
              </a:rPr>
              <a:t>Apply </a:t>
            </a:r>
            <a:r>
              <a:rPr lang="en-US" altLang="zh-CN" sz="1600" b="0" dirty="0">
                <a:cs typeface="Times New Roman" pitchFamily="18" charset="0"/>
              </a:rPr>
              <a:t>the high frequency transient with the wave form or shock response spectrum, plus the margins . Note that some test facilities </a:t>
            </a:r>
            <a:r>
              <a:rPr lang="en-US" altLang="zh-CN" sz="1600" b="0" dirty="0" smtClean="0">
                <a:cs typeface="Times New Roman" pitchFamily="18" charset="0"/>
              </a:rPr>
              <a:t>may </a:t>
            </a:r>
            <a:r>
              <a:rPr lang="en-US" altLang="zh-CN" sz="1600" b="0" dirty="0">
                <a:cs typeface="Times New Roman" pitchFamily="18" charset="0"/>
              </a:rPr>
              <a:t>require considerable trial-</a:t>
            </a:r>
            <a:r>
              <a:rPr lang="en-US" altLang="zh-CN" sz="1600" b="0" dirty="0" err="1">
                <a:cs typeface="Times New Roman" pitchFamily="18" charset="0"/>
              </a:rPr>
              <a:t>anderror</a:t>
            </a:r>
            <a:r>
              <a:rPr lang="en-US" altLang="zh-CN" sz="1600" b="0" dirty="0">
                <a:cs typeface="Times New Roman" pitchFamily="18" charset="0"/>
              </a:rPr>
              <a:t> effort using a simulated test item to achieve the specified SRS for the excitation into the test item</a:t>
            </a:r>
            <a:r>
              <a:rPr lang="en-US" altLang="zh-CN" sz="1600" b="0" dirty="0" smtClean="0">
                <a:cs typeface="Times New Roman" pitchFamily="18" charset="0"/>
              </a:rPr>
              <a:t>.</a:t>
            </a:r>
          </a:p>
          <a:p>
            <a:pPr algn="just">
              <a:lnSpc>
                <a:spcPct val="160000"/>
              </a:lnSpc>
              <a:spcBef>
                <a:spcPts val="1200"/>
              </a:spcBef>
              <a:buFont typeface="+mj-lt"/>
              <a:buAutoNum type="alphaLcPeriod" startAt="4"/>
            </a:pPr>
            <a:r>
              <a:rPr lang="en-US" altLang="zh-CN" sz="1600" b="0" dirty="0" smtClean="0">
                <a:cs typeface="Times New Roman" pitchFamily="18" charset="0"/>
              </a:rPr>
              <a:t>During </a:t>
            </a:r>
            <a:r>
              <a:rPr lang="en-US" altLang="zh-CN" sz="1600" b="0" dirty="0">
                <a:cs typeface="Times New Roman" pitchFamily="18" charset="0"/>
              </a:rPr>
              <a:t>the test, accomplish the following:</a:t>
            </a:r>
          </a:p>
          <a:p>
            <a:pPr algn="just"/>
            <a:r>
              <a:rPr lang="en-US" altLang="zh-CN" sz="1600" b="0" dirty="0">
                <a:cs typeface="Times New Roman" pitchFamily="18" charset="0"/>
              </a:rPr>
              <a:t>R</a:t>
            </a:r>
            <a:r>
              <a:rPr lang="en-US" altLang="zh-CN" sz="1600" b="0" dirty="0" smtClean="0">
                <a:cs typeface="Times New Roman" pitchFamily="18" charset="0"/>
              </a:rPr>
              <a:t>ecord </a:t>
            </a:r>
            <a:r>
              <a:rPr lang="en-US" altLang="zh-CN" sz="1600" b="0" dirty="0">
                <a:cs typeface="Times New Roman" pitchFamily="18" charset="0"/>
              </a:rPr>
              <a:t>the motion time histories measured by the input </a:t>
            </a:r>
            <a:r>
              <a:rPr lang="en-US" altLang="zh-CN" sz="1600" b="0" dirty="0" smtClean="0">
                <a:cs typeface="Times New Roman" pitchFamily="18" charset="0"/>
              </a:rPr>
              <a:t>accelerometers</a:t>
            </a:r>
          </a:p>
          <a:p>
            <a:pPr algn="just"/>
            <a:r>
              <a:rPr lang="en-US" altLang="zh-CN" sz="1600" b="0" dirty="0">
                <a:cs typeface="Times New Roman" pitchFamily="18" charset="0"/>
              </a:rPr>
              <a:t>M</a:t>
            </a:r>
            <a:r>
              <a:rPr lang="en-US" altLang="zh-CN" sz="1600" b="0" dirty="0" smtClean="0">
                <a:cs typeface="Times New Roman" pitchFamily="18" charset="0"/>
              </a:rPr>
              <a:t>onitor </a:t>
            </a:r>
            <a:r>
              <a:rPr lang="en-US" altLang="zh-CN" sz="1600" b="0" dirty="0">
                <a:cs typeface="Times New Roman" pitchFamily="18" charset="0"/>
              </a:rPr>
              <a:t>or record all relevant functional performance data for the test item.</a:t>
            </a:r>
          </a:p>
          <a:p>
            <a:pPr algn="just">
              <a:lnSpc>
                <a:spcPct val="160000"/>
              </a:lnSpc>
              <a:spcBef>
                <a:spcPts val="1200"/>
              </a:spcBef>
              <a:buFont typeface="+mj-lt"/>
              <a:buAutoNum type="alphaLcPeriod" startAt="6"/>
            </a:pPr>
            <a:r>
              <a:rPr lang="en-US" altLang="zh-CN" sz="1600" b="0" dirty="0" smtClean="0">
                <a:cs typeface="Times New Roman" pitchFamily="18" charset="0"/>
              </a:rPr>
              <a:t>Compute </a:t>
            </a:r>
            <a:r>
              <a:rPr lang="en-US" altLang="zh-CN" sz="1600" b="0" dirty="0">
                <a:cs typeface="Times New Roman" pitchFamily="18" charset="0"/>
              </a:rPr>
              <a:t>the SRS for all input accelerometer signals.</a:t>
            </a:r>
          </a:p>
          <a:p>
            <a:pPr algn="just">
              <a:lnSpc>
                <a:spcPct val="160000"/>
              </a:lnSpc>
              <a:spcBef>
                <a:spcPts val="1200"/>
              </a:spcBef>
              <a:buFont typeface="+mj-lt"/>
              <a:buAutoNum type="alphaLcPeriod" startAt="6"/>
            </a:pPr>
            <a:r>
              <a:rPr lang="en-US" altLang="zh-CN" sz="1600" b="0" dirty="0" smtClean="0">
                <a:cs typeface="Times New Roman" pitchFamily="18" charset="0"/>
              </a:rPr>
              <a:t>After </a:t>
            </a:r>
            <a:r>
              <a:rPr lang="en-US" altLang="zh-CN" sz="1600" b="0" dirty="0">
                <a:cs typeface="Times New Roman" pitchFamily="18" charset="0"/>
              </a:rPr>
              <a:t>the test, verify that the SRS levels for the input accelerometer, or the average of multiple input accelerometers, agree with the specified SRS </a:t>
            </a:r>
            <a:r>
              <a:rPr lang="en-US" altLang="zh-CN" sz="1600" b="0" dirty="0" smtClean="0">
                <a:cs typeface="Times New Roman" pitchFamily="18" charset="0"/>
              </a:rPr>
              <a:t>level tolerances</a:t>
            </a:r>
            <a:r>
              <a:rPr lang="en-US" altLang="zh-CN" sz="1600" b="0" dirty="0">
                <a:cs typeface="Times New Roman" pitchFamily="18" charset="0"/>
              </a:rPr>
              <a:t>, with the further requirement that at least half of the SRS values at the various natural frequencies exceed the specified SRS levels</a:t>
            </a:r>
            <a:r>
              <a:rPr lang="en-US" altLang="zh-CN" sz="1600" b="0" dirty="0" smtClean="0">
                <a:cs typeface="Times New Roman" pitchFamily="18" charset="0"/>
              </a:rPr>
              <a:t>.</a:t>
            </a:r>
            <a:endParaRPr lang="zh-CN" altLang="en-US" sz="1600" b="0" dirty="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24</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2517397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algn="just">
              <a:lnSpc>
                <a:spcPct val="160000"/>
              </a:lnSpc>
              <a:spcBef>
                <a:spcPts val="1200"/>
              </a:spcBef>
              <a:buFont typeface="+mj-lt"/>
              <a:buAutoNum type="alphaLcPeriod" startAt="8"/>
            </a:pPr>
            <a:r>
              <a:rPr lang="en-US" altLang="zh-CN" sz="1800" b="0" dirty="0" smtClean="0">
                <a:cs typeface="Times New Roman" pitchFamily="18" charset="0"/>
              </a:rPr>
              <a:t>Assuming </a:t>
            </a:r>
            <a:r>
              <a:rPr lang="en-US" altLang="zh-CN" sz="1800" b="0" dirty="0">
                <a:cs typeface="Times New Roman" pitchFamily="18" charset="0"/>
              </a:rPr>
              <a:t>no failure occurs, reattach the test item to the test machine using an appropriate test fixture and safety-approved procedures so as to provide the high frequency transient excitation along the second of the three orthogonal axes of the test item, and repeat Steps b ~ g.</a:t>
            </a:r>
          </a:p>
          <a:p>
            <a:pPr algn="just">
              <a:lnSpc>
                <a:spcPct val="160000"/>
              </a:lnSpc>
              <a:spcBef>
                <a:spcPts val="1200"/>
              </a:spcBef>
              <a:buFont typeface="+mj-lt"/>
              <a:buAutoNum type="alphaLcPeriod" startAt="8"/>
            </a:pPr>
            <a:r>
              <a:rPr lang="en-US" altLang="zh-CN" sz="1800" b="0" dirty="0" smtClean="0">
                <a:cs typeface="Times New Roman" pitchFamily="18" charset="0"/>
              </a:rPr>
              <a:t>Again </a:t>
            </a:r>
            <a:r>
              <a:rPr lang="en-US" altLang="zh-CN" sz="1800" b="0" dirty="0">
                <a:cs typeface="Times New Roman" pitchFamily="18" charset="0"/>
              </a:rPr>
              <a:t>assuming no failure occurs and three-axis testing is required by the test specification, reattach the test item to the test machine using an appropriate test fixture and safety-approved procedures so as to provide the high frequency transient excitation along the third of the three orthogonal axes of the test item, and repeat Steps b ~ g.</a:t>
            </a:r>
            <a:endParaRPr lang="zh-CN" altLang="en-US" sz="1800" b="0" dirty="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25</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1689289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51520" y="1357298"/>
            <a:ext cx="8892480" cy="4768865"/>
          </a:xfrm>
        </p:spPr>
        <p:txBody>
          <a:bodyPr/>
          <a:lstStyle/>
          <a:p>
            <a:pPr marL="0" indent="0">
              <a:buNone/>
            </a:pPr>
            <a:endParaRPr lang="en-US" altLang="zh-CN" dirty="0" smtClean="0"/>
          </a:p>
          <a:p>
            <a:pPr marL="0" indent="0">
              <a:buNone/>
            </a:pPr>
            <a:r>
              <a:rPr lang="en-US" altLang="zh-CN" dirty="0" smtClean="0"/>
              <a:t>Part </a:t>
            </a:r>
            <a:r>
              <a:rPr lang="en-US" altLang="zh-CN" dirty="0"/>
              <a:t>II:  Satellite Shock Test </a:t>
            </a:r>
            <a:r>
              <a:rPr lang="en-US" altLang="zh-CN" dirty="0" smtClean="0">
                <a:solidFill>
                  <a:prstClr val="black">
                    <a:lumMod val="75000"/>
                    <a:lumOff val="25000"/>
                  </a:prstClr>
                </a:solidFill>
              </a:rPr>
              <a:t>introduction</a:t>
            </a:r>
            <a:endParaRPr lang="zh-CN" altLang="en-US" dirty="0"/>
          </a:p>
          <a:p>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26</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9443549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r>
              <a:rPr lang="en-US" altLang="zh-CN" sz="3200" dirty="0"/>
              <a:t>Satellite-launching vehicle Clamp bond unlock test </a:t>
            </a:r>
            <a:r>
              <a:rPr lang="en-US" altLang="zh-CN" sz="3200" dirty="0" smtClean="0"/>
              <a:t>introduction</a:t>
            </a:r>
            <a:endParaRPr lang="zh-CN" altLang="en-US" sz="3200" dirty="0"/>
          </a:p>
        </p:txBody>
      </p:sp>
      <p:sp>
        <p:nvSpPr>
          <p:cNvPr id="3" name="内容占位符 2"/>
          <p:cNvSpPr>
            <a:spLocks noGrp="1"/>
          </p:cNvSpPr>
          <p:nvPr>
            <p:ph idx="1"/>
          </p:nvPr>
        </p:nvSpPr>
        <p:spPr/>
        <p:txBody>
          <a:bodyPr>
            <a:normAutofit fontScale="92500" lnSpcReduction="20000"/>
          </a:bodyPr>
          <a:lstStyle/>
          <a:p>
            <a:pPr marL="514350" lvl="0" indent="-514350">
              <a:buFont typeface="+mj-lt"/>
              <a:buAutoNum type="arabicPeriod"/>
            </a:pPr>
            <a:r>
              <a:rPr lang="en-US" altLang="zh-CN" sz="2400" dirty="0" smtClean="0"/>
              <a:t>Introduction</a:t>
            </a:r>
          </a:p>
          <a:p>
            <a:pPr marL="514350" lvl="0" indent="-514350">
              <a:buFont typeface="+mj-lt"/>
              <a:buAutoNum type="arabicPeriod"/>
            </a:pPr>
            <a:r>
              <a:rPr lang="en-US" altLang="zh-CN" sz="2400" dirty="0" smtClean="0"/>
              <a:t>Reference </a:t>
            </a:r>
            <a:r>
              <a:rPr lang="en-US" altLang="zh-CN" sz="2400" dirty="0"/>
              <a:t>documents</a:t>
            </a:r>
          </a:p>
          <a:p>
            <a:pPr marL="514350" lvl="0" indent="-514350">
              <a:buFont typeface="+mj-lt"/>
              <a:buAutoNum type="arabicPeriod"/>
            </a:pPr>
            <a:r>
              <a:rPr lang="en-US" altLang="zh-CN" sz="2400" dirty="0"/>
              <a:t>Test purpose</a:t>
            </a:r>
          </a:p>
          <a:p>
            <a:pPr marL="514350" lvl="0" indent="-514350">
              <a:buFont typeface="+mj-lt"/>
              <a:buAutoNum type="arabicPeriod"/>
            </a:pPr>
            <a:r>
              <a:rPr lang="en-US" altLang="zh-CN" sz="2400" dirty="0"/>
              <a:t>Satellite technical status</a:t>
            </a:r>
          </a:p>
          <a:p>
            <a:pPr marL="514350" lvl="0" indent="-514350">
              <a:buFont typeface="+mj-lt"/>
              <a:buAutoNum type="arabicPeriod"/>
            </a:pPr>
            <a:r>
              <a:rPr lang="en-US" altLang="zh-CN" sz="2400" dirty="0"/>
              <a:t>Test Requirements (meet or not?)</a:t>
            </a:r>
          </a:p>
          <a:p>
            <a:pPr marL="514350" lvl="0" indent="-514350">
              <a:buFont typeface="+mj-lt"/>
              <a:buAutoNum type="arabicPeriod"/>
            </a:pPr>
            <a:r>
              <a:rPr lang="en-US" altLang="zh-CN" sz="2400" dirty="0"/>
              <a:t>Test flow program and steps</a:t>
            </a:r>
          </a:p>
          <a:p>
            <a:pPr marL="514350" lvl="0" indent="-514350">
              <a:buFont typeface="+mj-lt"/>
              <a:buAutoNum type="arabicPeriod"/>
            </a:pPr>
            <a:r>
              <a:rPr lang="en-US" altLang="zh-CN" sz="2400" dirty="0"/>
              <a:t>Test process description</a:t>
            </a:r>
          </a:p>
          <a:p>
            <a:pPr marL="514350" lvl="0" indent="-514350">
              <a:buFont typeface="+mj-lt"/>
              <a:buAutoNum type="arabicPeriod"/>
            </a:pPr>
            <a:r>
              <a:rPr lang="en-US" altLang="zh-CN" sz="2400" dirty="0"/>
              <a:t>Test data analysis and result</a:t>
            </a:r>
          </a:p>
          <a:p>
            <a:pPr marL="514350" lvl="0" indent="-514350">
              <a:buFont typeface="+mj-lt"/>
              <a:buAutoNum type="arabicPeriod"/>
            </a:pPr>
            <a:r>
              <a:rPr lang="en-US" altLang="zh-CN" sz="2400" dirty="0"/>
              <a:t>Test problem record and suggestion</a:t>
            </a:r>
          </a:p>
          <a:p>
            <a:pPr marL="514350" lvl="0" indent="-514350">
              <a:buFont typeface="+mj-lt"/>
              <a:buAutoNum type="arabicPeriod"/>
            </a:pPr>
            <a:r>
              <a:rPr lang="en-US" altLang="zh-CN" sz="2400" dirty="0"/>
              <a:t>Test Result</a:t>
            </a:r>
            <a:endParaRPr lang="zh-CN" altLang="en-US" sz="2400" dirty="0"/>
          </a:p>
          <a:p>
            <a:pPr marL="514350" indent="-514350">
              <a:buFont typeface="+mj-lt"/>
              <a:buAutoNum type="arabicPeriod"/>
            </a:pPr>
            <a:endParaRPr lang="zh-CN" altLang="en-US" sz="2400" dirty="0"/>
          </a:p>
        </p:txBody>
      </p:sp>
      <p:sp>
        <p:nvSpPr>
          <p:cNvPr id="4" name="页脚占位符 3"/>
          <p:cNvSpPr>
            <a:spLocks noGrp="1"/>
          </p:cNvSpPr>
          <p:nvPr>
            <p:ph type="ftr" sz="quarter" idx="11"/>
          </p:nvPr>
        </p:nvSpPr>
        <p:spPr/>
        <p:txBody>
          <a:bodyPr/>
          <a:lstStyle/>
          <a:p>
            <a:r>
              <a:rPr lang="en-US" altLang="zh-CN" dirty="0"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27</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3967543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r>
              <a:rPr lang="en-US" altLang="zh-CN" sz="3200" dirty="0"/>
              <a:t>Satellite-launching vehicle Clamp bond unlock test introduction</a:t>
            </a:r>
            <a:endParaRPr lang="zh-CN" altLang="en-US" sz="3200" dirty="0"/>
          </a:p>
        </p:txBody>
      </p:sp>
      <p:sp>
        <p:nvSpPr>
          <p:cNvPr id="3" name="内容占位符 2"/>
          <p:cNvSpPr>
            <a:spLocks noGrp="1"/>
          </p:cNvSpPr>
          <p:nvPr>
            <p:ph idx="1"/>
          </p:nvPr>
        </p:nvSpPr>
        <p:spPr/>
        <p:txBody>
          <a:bodyPr>
            <a:normAutofit fontScale="92500" lnSpcReduction="20000"/>
          </a:bodyPr>
          <a:lstStyle/>
          <a:p>
            <a:pPr marL="514350" indent="-514350">
              <a:buFont typeface="+mj-lt"/>
              <a:buAutoNum type="arabicPeriod"/>
            </a:pPr>
            <a:r>
              <a:rPr lang="en-US" altLang="zh-CN" sz="3000" dirty="0" smtClean="0"/>
              <a:t>Introduction</a:t>
            </a:r>
            <a:endParaRPr lang="en-US" altLang="zh-CN" sz="3000" dirty="0"/>
          </a:p>
          <a:p>
            <a:pPr algn="just">
              <a:spcBef>
                <a:spcPts val="1200"/>
              </a:spcBef>
            </a:pPr>
            <a:r>
              <a:rPr lang="en-US" altLang="zh-CN" sz="2400" b="0" dirty="0" smtClean="0"/>
              <a:t>Satellite briefly introduction</a:t>
            </a:r>
          </a:p>
          <a:p>
            <a:pPr algn="just">
              <a:spcBef>
                <a:spcPts val="1200"/>
              </a:spcBef>
            </a:pPr>
            <a:r>
              <a:rPr lang="en-US" altLang="zh-CN" sz="2400" b="0" dirty="0" smtClean="0"/>
              <a:t>According to the arrangement of the satellite’s development technical flow program, </a:t>
            </a:r>
            <a:r>
              <a:rPr lang="en-US" altLang="zh-CN" sz="2400" b="0" dirty="0"/>
              <a:t>the </a:t>
            </a:r>
            <a:r>
              <a:rPr lang="en-US" altLang="zh-CN" sz="2400" b="0" dirty="0" smtClean="0"/>
              <a:t>satellite-launching </a:t>
            </a:r>
            <a:r>
              <a:rPr lang="en-US" altLang="zh-CN" sz="2400" b="0" dirty="0"/>
              <a:t>vehicle </a:t>
            </a:r>
            <a:r>
              <a:rPr lang="en-US" altLang="zh-CN" sz="2400" b="0" dirty="0" smtClean="0"/>
              <a:t>clamp </a:t>
            </a:r>
            <a:r>
              <a:rPr lang="en-US" altLang="zh-CN" sz="2400" b="0" dirty="0"/>
              <a:t>bond unlock </a:t>
            </a:r>
            <a:r>
              <a:rPr lang="en-US" altLang="zh-CN" sz="2400" b="0" dirty="0" smtClean="0"/>
              <a:t>test is required.</a:t>
            </a:r>
          </a:p>
          <a:p>
            <a:pPr algn="just">
              <a:spcBef>
                <a:spcPts val="1200"/>
              </a:spcBef>
            </a:pPr>
            <a:r>
              <a:rPr lang="en-US" altLang="zh-CN" sz="2400" b="0" dirty="0" smtClean="0"/>
              <a:t>The document regulates the test purpose, test status, test flow program, test requirements and so on, which is applicable </a:t>
            </a:r>
            <a:r>
              <a:rPr lang="en-US" altLang="zh-CN" sz="2400" b="0" dirty="0"/>
              <a:t>to the Satellite-launching vehicle </a:t>
            </a:r>
            <a:r>
              <a:rPr lang="en-US" altLang="zh-CN" sz="2400" b="0" dirty="0" smtClean="0"/>
              <a:t>clamp </a:t>
            </a:r>
            <a:r>
              <a:rPr lang="en-US" altLang="zh-CN" sz="2400" b="0" dirty="0"/>
              <a:t>bond unlock </a:t>
            </a:r>
            <a:r>
              <a:rPr lang="en-US" altLang="zh-CN" sz="2400" b="0" dirty="0" smtClean="0"/>
              <a:t>test.</a:t>
            </a:r>
            <a:endParaRPr lang="zh-CN" altLang="en-US" sz="2400" b="0" dirty="0"/>
          </a:p>
        </p:txBody>
      </p:sp>
      <p:sp>
        <p:nvSpPr>
          <p:cNvPr id="4" name="页脚占位符 3"/>
          <p:cNvSpPr>
            <a:spLocks noGrp="1"/>
          </p:cNvSpPr>
          <p:nvPr>
            <p:ph type="ftr" sz="quarter" idx="11"/>
          </p:nvPr>
        </p:nvSpPr>
        <p:spPr/>
        <p:txBody>
          <a:bodyPr/>
          <a:lstStyle/>
          <a:p>
            <a:r>
              <a:rPr lang="en-US" altLang="zh-CN" dirty="0"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28</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2889833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r>
              <a:rPr lang="en-US" altLang="zh-CN" sz="3200" dirty="0"/>
              <a:t>Satellite-launching vehicle Clamp bond unlock test introduction</a:t>
            </a:r>
            <a:endParaRPr lang="zh-CN" altLang="en-US" sz="3200" dirty="0"/>
          </a:p>
        </p:txBody>
      </p:sp>
      <p:sp>
        <p:nvSpPr>
          <p:cNvPr id="3" name="内容占位符 2"/>
          <p:cNvSpPr>
            <a:spLocks noGrp="1"/>
          </p:cNvSpPr>
          <p:nvPr>
            <p:ph idx="1"/>
          </p:nvPr>
        </p:nvSpPr>
        <p:spPr/>
        <p:txBody>
          <a:bodyPr>
            <a:normAutofit lnSpcReduction="10000"/>
          </a:bodyPr>
          <a:lstStyle/>
          <a:p>
            <a:pPr marL="514350" indent="-514350">
              <a:buFont typeface="+mj-lt"/>
              <a:buAutoNum type="arabicPeriod" startAt="2"/>
            </a:pPr>
            <a:r>
              <a:rPr lang="en-US" altLang="zh-CN" sz="2400" dirty="0" smtClean="0"/>
              <a:t>Reference documents</a:t>
            </a:r>
          </a:p>
          <a:p>
            <a:r>
              <a:rPr lang="en-US" altLang="zh-CN" sz="2400" dirty="0" smtClean="0"/>
              <a:t>Standards</a:t>
            </a:r>
          </a:p>
          <a:p>
            <a:r>
              <a:rPr lang="en-US" altLang="zh-CN" sz="1800" dirty="0">
                <a:latin typeface="+mn-ea"/>
                <a:ea typeface="+mn-ea"/>
              </a:rPr>
              <a:t>CASTSS-E-106 </a:t>
            </a:r>
            <a:r>
              <a:rPr lang="en-US" altLang="zh-CN" sz="1800" dirty="0" smtClean="0">
                <a:latin typeface="+mn-ea"/>
                <a:ea typeface="+mn-ea"/>
              </a:rPr>
              <a:t> Requirements </a:t>
            </a:r>
            <a:r>
              <a:rPr lang="en-US" altLang="zh-CN" sz="1800" dirty="0">
                <a:latin typeface="+mn-ea"/>
                <a:ea typeface="+mn-ea"/>
              </a:rPr>
              <a:t>for mechanical environment test for spacecraft </a:t>
            </a:r>
            <a:r>
              <a:rPr lang="en-US" altLang="zh-CN" sz="1800" dirty="0" smtClean="0">
                <a:latin typeface="+mn-ea"/>
                <a:ea typeface="+mn-ea"/>
              </a:rPr>
              <a:t>products</a:t>
            </a:r>
          </a:p>
          <a:p>
            <a:r>
              <a:rPr lang="en-US" altLang="zh-CN" sz="1800" dirty="0">
                <a:latin typeface="+mn-ea"/>
                <a:ea typeface="+mn-ea"/>
              </a:rPr>
              <a:t>CASTSS-Q-56 </a:t>
            </a:r>
            <a:r>
              <a:rPr lang="en-US" altLang="zh-CN" sz="1800" dirty="0" smtClean="0">
                <a:latin typeface="+mn-ea"/>
                <a:ea typeface="+mn-ea"/>
              </a:rPr>
              <a:t> Safety </a:t>
            </a:r>
            <a:r>
              <a:rPr lang="en-US" altLang="zh-CN" sz="1800" dirty="0">
                <a:latin typeface="+mn-ea"/>
                <a:ea typeface="+mn-ea"/>
              </a:rPr>
              <a:t>provisions of satellite -environmental </a:t>
            </a:r>
            <a:r>
              <a:rPr lang="en-US" altLang="zh-CN" sz="1800" dirty="0" smtClean="0">
                <a:latin typeface="+mn-ea"/>
                <a:ea typeface="+mn-ea"/>
              </a:rPr>
              <a:t>test</a:t>
            </a:r>
          </a:p>
          <a:p>
            <a:r>
              <a:rPr lang="en-US" altLang="zh-CN" sz="1800" dirty="0" smtClean="0">
                <a:latin typeface="+mn-ea"/>
                <a:ea typeface="+mn-ea"/>
              </a:rPr>
              <a:t>CASTSS-E-40  General </a:t>
            </a:r>
            <a:r>
              <a:rPr lang="en-US" altLang="zh-CN" sz="1800" dirty="0">
                <a:latin typeface="+mn-ea"/>
                <a:ea typeface="+mn-ea"/>
              </a:rPr>
              <a:t>technical requirements for hoisting, turning, parking and transportation for satellite</a:t>
            </a:r>
            <a:endParaRPr lang="en-US" altLang="zh-CN" sz="1800" dirty="0" smtClean="0">
              <a:latin typeface="+mn-ea"/>
              <a:ea typeface="+mn-ea"/>
            </a:endParaRPr>
          </a:p>
          <a:p>
            <a:r>
              <a:rPr lang="en-US" altLang="zh-CN" sz="1800" dirty="0" smtClean="0"/>
              <a:t>Documents</a:t>
            </a:r>
          </a:p>
          <a:p>
            <a:r>
              <a:rPr lang="en-US" altLang="zh-CN" sz="1800" dirty="0" smtClean="0">
                <a:latin typeface="+mn-ea"/>
              </a:rPr>
              <a:t>Technical </a:t>
            </a:r>
            <a:r>
              <a:rPr lang="en-US" altLang="zh-CN" sz="1800" dirty="0">
                <a:latin typeface="+mn-ea"/>
              </a:rPr>
              <a:t>network for satellite </a:t>
            </a:r>
            <a:r>
              <a:rPr lang="en-US" altLang="zh-CN" sz="1800" dirty="0" smtClean="0">
                <a:latin typeface="+mn-ea"/>
              </a:rPr>
              <a:t>development</a:t>
            </a:r>
          </a:p>
          <a:p>
            <a:r>
              <a:rPr lang="en-US" altLang="zh-CN" sz="1800" dirty="0">
                <a:latin typeface="+mn-ea"/>
              </a:rPr>
              <a:t>Design </a:t>
            </a:r>
            <a:r>
              <a:rPr lang="en-US" altLang="zh-CN" sz="1800" dirty="0" smtClean="0">
                <a:latin typeface="+mn-ea"/>
              </a:rPr>
              <a:t>report </a:t>
            </a:r>
            <a:r>
              <a:rPr lang="en-US" altLang="zh-CN" sz="1800" dirty="0">
                <a:latin typeface="+mn-ea"/>
              </a:rPr>
              <a:t>for satellite </a:t>
            </a:r>
            <a:r>
              <a:rPr lang="en-US" altLang="zh-CN" sz="1800" dirty="0" smtClean="0">
                <a:latin typeface="+mn-ea"/>
              </a:rPr>
              <a:t>configuration and layout</a:t>
            </a:r>
          </a:p>
          <a:p>
            <a:r>
              <a:rPr lang="en-US" altLang="zh-CN" sz="1800" dirty="0" smtClean="0">
                <a:latin typeface="+mn-ea"/>
              </a:rPr>
              <a:t>Technical Requirements to launching vehicle for </a:t>
            </a:r>
            <a:r>
              <a:rPr lang="en-US" altLang="zh-CN" sz="1800" dirty="0">
                <a:latin typeface="+mn-ea"/>
              </a:rPr>
              <a:t>satellite </a:t>
            </a:r>
          </a:p>
          <a:p>
            <a:endParaRPr lang="en-US" altLang="zh-CN" sz="1800" dirty="0"/>
          </a:p>
          <a:p>
            <a:endParaRPr lang="zh-CN" altLang="en-US" sz="1800" dirty="0">
              <a:latin typeface="+mn-ea"/>
              <a:ea typeface="+mn-ea"/>
            </a:endParaRPr>
          </a:p>
        </p:txBody>
      </p:sp>
      <p:sp>
        <p:nvSpPr>
          <p:cNvPr id="4" name="页脚占位符 3"/>
          <p:cNvSpPr>
            <a:spLocks noGrp="1"/>
          </p:cNvSpPr>
          <p:nvPr>
            <p:ph type="ftr" sz="quarter" idx="11"/>
          </p:nvPr>
        </p:nvSpPr>
        <p:spPr/>
        <p:txBody>
          <a:bodyPr/>
          <a:lstStyle/>
          <a:p>
            <a:r>
              <a:rPr lang="en-US" altLang="zh-CN" dirty="0"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29</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16302937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r>
              <a:rPr lang="en-US" altLang="zh-CN" sz="3200" dirty="0"/>
              <a:t>Satellite-launching vehicle Clamp bond unlock test introduction</a:t>
            </a:r>
            <a:endParaRPr lang="zh-CN" altLang="en-US" sz="3200" dirty="0"/>
          </a:p>
        </p:txBody>
      </p:sp>
      <p:sp>
        <p:nvSpPr>
          <p:cNvPr id="3" name="内容占位符 2"/>
          <p:cNvSpPr>
            <a:spLocks noGrp="1"/>
          </p:cNvSpPr>
          <p:nvPr>
            <p:ph idx="1"/>
          </p:nvPr>
        </p:nvSpPr>
        <p:spPr/>
        <p:txBody>
          <a:bodyPr>
            <a:normAutofit/>
          </a:bodyPr>
          <a:lstStyle/>
          <a:p>
            <a:pPr marL="514350" indent="-514350">
              <a:buFont typeface="+mj-lt"/>
              <a:buAutoNum type="arabicPeriod" startAt="3"/>
            </a:pPr>
            <a:r>
              <a:rPr lang="en-US" altLang="zh-CN" sz="2400" dirty="0" smtClean="0"/>
              <a:t>Test purpose</a:t>
            </a:r>
          </a:p>
          <a:p>
            <a:pPr marL="457200" indent="-457200">
              <a:buFont typeface="+mj-lt"/>
              <a:buAutoNum type="alphaLcParenR"/>
            </a:pPr>
            <a:r>
              <a:rPr lang="en-US" altLang="zh-CN" sz="2400" b="0" dirty="0" smtClean="0"/>
              <a:t>Measure the shock response from </a:t>
            </a:r>
            <a:r>
              <a:rPr lang="en-US" altLang="zh-CN" sz="2400" b="0" dirty="0"/>
              <a:t>satellite-launching vehicle </a:t>
            </a:r>
            <a:r>
              <a:rPr lang="en-US" altLang="zh-CN" sz="2400" b="0" dirty="0" smtClean="0"/>
              <a:t>unlock;</a:t>
            </a:r>
            <a:endParaRPr lang="en-US" altLang="zh-CN" sz="2400" b="0" dirty="0"/>
          </a:p>
          <a:p>
            <a:pPr marL="457200" indent="-457200">
              <a:buFont typeface="+mj-lt"/>
              <a:buAutoNum type="alphaLcParenR"/>
            </a:pPr>
            <a:r>
              <a:rPr lang="en-US" altLang="zh-CN" sz="2400" b="0" dirty="0" smtClean="0"/>
              <a:t>Verify the design reliability of satellite-launching </a:t>
            </a:r>
            <a:r>
              <a:rPr lang="en-US" altLang="zh-CN" sz="2400" b="0" dirty="0"/>
              <a:t>vehicle </a:t>
            </a:r>
            <a:r>
              <a:rPr lang="en-US" altLang="zh-CN" sz="2400" b="0" dirty="0" smtClean="0"/>
              <a:t>separation system.</a:t>
            </a:r>
            <a:endParaRPr lang="en-US" altLang="zh-CN" sz="2400" b="0" dirty="0"/>
          </a:p>
          <a:p>
            <a:endParaRPr lang="zh-CN" altLang="en-US" sz="2400"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30</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10058062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29600" cy="1082660"/>
          </a:xfrm>
        </p:spPr>
        <p:txBody>
          <a:bodyPr>
            <a:normAutofit fontScale="90000"/>
          </a:bodyPr>
          <a:lstStyle/>
          <a:p>
            <a:r>
              <a:rPr lang="en-US" altLang="zh-CN" dirty="0"/>
              <a:t>Satellite-launching vehicle Clamp bond unlock test introduction</a:t>
            </a:r>
            <a:endParaRPr lang="zh-CN" altLang="en-US" dirty="0"/>
          </a:p>
        </p:txBody>
      </p:sp>
      <p:sp>
        <p:nvSpPr>
          <p:cNvPr id="3" name="内容占位符 2"/>
          <p:cNvSpPr>
            <a:spLocks noGrp="1"/>
          </p:cNvSpPr>
          <p:nvPr>
            <p:ph idx="1"/>
          </p:nvPr>
        </p:nvSpPr>
        <p:spPr>
          <a:xfrm>
            <a:off x="395536" y="1340768"/>
            <a:ext cx="8229600" cy="4768865"/>
          </a:xfrm>
        </p:spPr>
        <p:txBody>
          <a:bodyPr/>
          <a:lstStyle/>
          <a:p>
            <a:pPr marL="0" indent="0">
              <a:buNone/>
            </a:pPr>
            <a:r>
              <a:rPr lang="en-US" altLang="zh-CN" sz="2400" dirty="0" smtClean="0"/>
              <a:t>4.   Test </a:t>
            </a:r>
            <a:r>
              <a:rPr lang="en-US" altLang="zh-CN" sz="2400" dirty="0"/>
              <a:t>technical status</a:t>
            </a:r>
          </a:p>
          <a:p>
            <a:pPr marL="0" lvl="1" indent="0">
              <a:buNone/>
            </a:pPr>
            <a:r>
              <a:rPr lang="en-US" altLang="zh-CN" b="0" dirty="0" smtClean="0"/>
              <a:t>(1) Satellite coordinate </a:t>
            </a:r>
            <a:r>
              <a:rPr lang="en-US" altLang="zh-CN" b="0" dirty="0"/>
              <a:t>and quadrant</a:t>
            </a:r>
            <a:endParaRPr lang="zh-CN" altLang="zh-CN" b="0" dirty="0"/>
          </a:p>
          <a:p>
            <a:pPr marL="0" lvl="1" indent="0">
              <a:buNone/>
            </a:pPr>
            <a:r>
              <a:rPr lang="en-US" altLang="zh-CN" b="0" dirty="0" smtClean="0"/>
              <a:t>(2) satellite main parameter</a:t>
            </a:r>
          </a:p>
          <a:p>
            <a:pPr marL="342900" lvl="1" indent="-342900">
              <a:buFont typeface="Arial" pitchFamily="34" charset="0"/>
              <a:buChar char="•"/>
            </a:pPr>
            <a:r>
              <a:rPr lang="en-US" altLang="zh-CN" sz="2400" b="0" dirty="0" smtClean="0"/>
              <a:t>dimension</a:t>
            </a:r>
          </a:p>
          <a:p>
            <a:pPr marL="342900" lvl="1" indent="-342900">
              <a:buFont typeface="Arial" pitchFamily="34" charset="0"/>
              <a:buChar char="•"/>
            </a:pPr>
            <a:r>
              <a:rPr lang="en-US" altLang="zh-CN" sz="2400" b="0" dirty="0" smtClean="0"/>
              <a:t>Mass </a:t>
            </a:r>
            <a:r>
              <a:rPr lang="en-US" altLang="zh-CN" sz="2400" b="0" dirty="0"/>
              <a:t>property parameter of satellite</a:t>
            </a:r>
            <a:endParaRPr lang="zh-CN" altLang="zh-CN" sz="2400" b="0" dirty="0"/>
          </a:p>
          <a:p>
            <a:endParaRPr lang="zh-CN" altLang="en-US"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31</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9674165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29600" cy="1082660"/>
          </a:xfrm>
        </p:spPr>
        <p:txBody>
          <a:bodyPr>
            <a:normAutofit fontScale="90000"/>
          </a:bodyPr>
          <a:lstStyle/>
          <a:p>
            <a:r>
              <a:rPr lang="en-US" altLang="zh-CN" dirty="0"/>
              <a:t>Satellite-launching vehicle Clamp bond unlock test introduction</a:t>
            </a:r>
            <a:endParaRPr lang="zh-CN" altLang="en-US" dirty="0"/>
          </a:p>
        </p:txBody>
      </p:sp>
      <p:sp>
        <p:nvSpPr>
          <p:cNvPr id="3" name="内容占位符 2"/>
          <p:cNvSpPr>
            <a:spLocks noGrp="1"/>
          </p:cNvSpPr>
          <p:nvPr>
            <p:ph idx="1"/>
          </p:nvPr>
        </p:nvSpPr>
        <p:spPr/>
        <p:txBody>
          <a:bodyPr>
            <a:normAutofit fontScale="77500" lnSpcReduction="20000"/>
          </a:bodyPr>
          <a:lstStyle/>
          <a:p>
            <a:r>
              <a:rPr lang="en-US" altLang="zh-CN" sz="3100" dirty="0"/>
              <a:t>Test technical </a:t>
            </a:r>
            <a:r>
              <a:rPr lang="en-US" altLang="zh-CN" sz="3100" dirty="0" smtClean="0"/>
              <a:t>status</a:t>
            </a:r>
          </a:p>
          <a:p>
            <a:pPr marL="0" lvl="1" indent="0">
              <a:buNone/>
            </a:pPr>
            <a:r>
              <a:rPr lang="en-US" altLang="zh-CN" sz="3100" b="0" dirty="0" smtClean="0"/>
              <a:t>(3) Satellite main </a:t>
            </a:r>
            <a:r>
              <a:rPr lang="en-US" altLang="zh-CN" sz="3100" b="0" dirty="0"/>
              <a:t>technical state</a:t>
            </a:r>
            <a:endParaRPr lang="zh-CN" altLang="zh-CN" sz="3100" b="0" dirty="0"/>
          </a:p>
          <a:p>
            <a:pPr marL="514350" lvl="0" indent="-514350">
              <a:buFont typeface="+mj-lt"/>
              <a:buAutoNum type="alphaLcParenR"/>
            </a:pPr>
            <a:r>
              <a:rPr lang="en-US" altLang="zh-CN" sz="2900" b="0" dirty="0"/>
              <a:t>All the product on the satellite should be flight module;</a:t>
            </a:r>
            <a:endParaRPr lang="zh-CN" altLang="zh-CN" sz="2900" b="0" dirty="0"/>
          </a:p>
          <a:p>
            <a:pPr marL="514350" lvl="0" indent="-514350">
              <a:buFont typeface="+mj-lt"/>
              <a:buAutoNum type="alphaLcParenR"/>
            </a:pPr>
            <a:r>
              <a:rPr lang="en-US" altLang="zh-CN" sz="2900" b="0" dirty="0"/>
              <a:t>The thermal control of the satellite is complete;</a:t>
            </a:r>
            <a:endParaRPr lang="zh-CN" altLang="zh-CN" sz="2900" b="0" dirty="0"/>
          </a:p>
          <a:p>
            <a:pPr marL="514350" lvl="0" indent="-514350">
              <a:buFont typeface="+mj-lt"/>
              <a:buAutoNum type="alphaLcParenR"/>
            </a:pPr>
            <a:r>
              <a:rPr lang="en-US" altLang="zh-CN" sz="2900" b="0" dirty="0"/>
              <a:t>Two propellant tanks are not filled with hydrazine fuel, and the tanks are fulfilled with </a:t>
            </a:r>
            <a:r>
              <a:rPr lang="en-US" altLang="zh-CN" sz="2900" b="0" dirty="0" smtClean="0"/>
              <a:t>required gas </a:t>
            </a:r>
            <a:r>
              <a:rPr lang="en-US" altLang="zh-CN" sz="2900" b="0" dirty="0"/>
              <a:t>simulating tank pressure during launching;</a:t>
            </a:r>
            <a:endParaRPr lang="zh-CN" altLang="zh-CN" sz="2900" b="0" dirty="0"/>
          </a:p>
          <a:p>
            <a:pPr marL="514350" lvl="0" indent="-514350">
              <a:buFont typeface="+mj-lt"/>
              <a:buAutoNum type="alphaLcParenR"/>
            </a:pPr>
            <a:r>
              <a:rPr lang="en-US" altLang="zh-CN" sz="2900" b="0" dirty="0"/>
              <a:t>All vibration sensors have been installed;</a:t>
            </a:r>
            <a:endParaRPr lang="zh-CN" altLang="zh-CN" sz="2900" b="0" dirty="0"/>
          </a:p>
          <a:p>
            <a:pPr marL="514350" indent="-514350">
              <a:buFont typeface="+mj-lt"/>
              <a:buAutoNum type="alphaLcParenR"/>
            </a:pPr>
            <a:r>
              <a:rPr lang="en-US" altLang="zh-CN" sz="2900" b="0" dirty="0"/>
              <a:t>The whole satellite is implemented the grounding. </a:t>
            </a:r>
            <a:endParaRPr lang="zh-CN" altLang="en-US" sz="2900" b="0" dirty="0"/>
          </a:p>
        </p:txBody>
      </p:sp>
      <p:sp>
        <p:nvSpPr>
          <p:cNvPr id="4" name="页脚占位符 3"/>
          <p:cNvSpPr>
            <a:spLocks noGrp="1"/>
          </p:cNvSpPr>
          <p:nvPr>
            <p:ph type="ftr" sz="quarter" idx="11"/>
          </p:nvPr>
        </p:nvSpPr>
        <p:spPr/>
        <p:txBody>
          <a:bodyPr/>
          <a:lstStyle/>
          <a:p>
            <a:r>
              <a:rPr lang="en-US" altLang="zh-CN" dirty="0"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32</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1753176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29600" cy="1082660"/>
          </a:xfrm>
        </p:spPr>
        <p:txBody>
          <a:bodyPr>
            <a:normAutofit fontScale="90000"/>
          </a:bodyPr>
          <a:lstStyle/>
          <a:p>
            <a:r>
              <a:rPr lang="en-US" altLang="zh-CN" dirty="0"/>
              <a:t>Satellite-launching vehicle Clamp bond unlock test introduction</a:t>
            </a:r>
            <a:endParaRPr lang="zh-CN" altLang="en-US" dirty="0"/>
          </a:p>
        </p:txBody>
      </p:sp>
      <p:sp>
        <p:nvSpPr>
          <p:cNvPr id="3" name="内容占位符 2"/>
          <p:cNvSpPr>
            <a:spLocks noGrp="1"/>
          </p:cNvSpPr>
          <p:nvPr>
            <p:ph idx="1"/>
          </p:nvPr>
        </p:nvSpPr>
        <p:spPr/>
        <p:txBody>
          <a:bodyPr>
            <a:normAutofit fontScale="62500" lnSpcReduction="20000"/>
          </a:bodyPr>
          <a:lstStyle/>
          <a:p>
            <a:r>
              <a:rPr lang="en-US" altLang="zh-CN" sz="3100" dirty="0"/>
              <a:t>Test technical </a:t>
            </a:r>
            <a:r>
              <a:rPr lang="en-US" altLang="zh-CN" sz="3100" dirty="0" smtClean="0"/>
              <a:t>status</a:t>
            </a:r>
          </a:p>
          <a:p>
            <a:pPr marL="0" lvl="1" indent="0">
              <a:buNone/>
            </a:pPr>
            <a:r>
              <a:rPr lang="en-US" altLang="zh-CN" sz="3100" b="0" dirty="0" smtClean="0"/>
              <a:t>(4) Launching vehicle main </a:t>
            </a:r>
            <a:r>
              <a:rPr lang="en-US" altLang="zh-CN" sz="3100" b="0" dirty="0"/>
              <a:t>technical state</a:t>
            </a:r>
            <a:endParaRPr lang="zh-CN" altLang="zh-CN" sz="3100" b="0" dirty="0"/>
          </a:p>
          <a:p>
            <a:pPr marL="514350" lvl="0" indent="-514350">
              <a:buFont typeface="+mj-lt"/>
              <a:buAutoNum type="alphaLcParenR"/>
            </a:pPr>
            <a:r>
              <a:rPr lang="en-US" altLang="zh-CN" sz="2900" b="0" dirty="0" smtClean="0"/>
              <a:t>The main participant equipment includes clamp bond device, adapter for satellite and explosive bolts;</a:t>
            </a:r>
          </a:p>
          <a:p>
            <a:pPr marL="514350" lvl="0" indent="-514350">
              <a:buFont typeface="+mj-lt"/>
              <a:buAutoNum type="alphaLcParenR"/>
            </a:pPr>
            <a:r>
              <a:rPr lang="en-US" altLang="zh-CN" sz="2900" b="0" dirty="0" smtClean="0"/>
              <a:t>The interface of clamp </a:t>
            </a:r>
            <a:r>
              <a:rPr lang="en-US" altLang="zh-CN" sz="2900" b="0" dirty="0"/>
              <a:t>bond </a:t>
            </a:r>
            <a:r>
              <a:rPr lang="en-US" altLang="zh-CN" sz="2900" b="0" dirty="0" smtClean="0"/>
              <a:t>is same as that of the flight product;</a:t>
            </a:r>
            <a:endParaRPr lang="zh-CN" altLang="zh-CN" sz="2900" b="0" dirty="0"/>
          </a:p>
          <a:p>
            <a:pPr marL="514350" lvl="0" indent="-514350">
              <a:buFont typeface="+mj-lt"/>
              <a:buAutoNum type="alphaLcParenR"/>
            </a:pPr>
            <a:r>
              <a:rPr lang="en-US" altLang="zh-CN" sz="2900" b="0" dirty="0" smtClean="0"/>
              <a:t>Explosive </a:t>
            </a:r>
            <a:r>
              <a:rPr lang="en-US" altLang="zh-CN" sz="2900" b="0" dirty="0"/>
              <a:t>bolts </a:t>
            </a:r>
            <a:r>
              <a:rPr lang="en-US" altLang="zh-CN" sz="2900" b="0" dirty="0" smtClean="0"/>
              <a:t>have been equipped with actual pyro technics, and the safety protect measurements have been taken;</a:t>
            </a:r>
          </a:p>
          <a:p>
            <a:pPr marL="514350" lvl="0" indent="-514350">
              <a:buFont typeface="+mj-lt"/>
              <a:buAutoNum type="alphaLcParenR"/>
            </a:pPr>
            <a:r>
              <a:rPr lang="en-US" altLang="zh-CN" sz="2900" b="0" dirty="0" smtClean="0"/>
              <a:t>The interface test of satellite and launching vehicle have been done;</a:t>
            </a:r>
          </a:p>
          <a:p>
            <a:pPr marL="514350" lvl="0" indent="-514350">
              <a:buFont typeface="+mj-lt"/>
              <a:buAutoNum type="alphaLcParenR"/>
            </a:pPr>
            <a:r>
              <a:rPr lang="en-US" altLang="zh-CN" sz="2900" b="0" dirty="0" smtClean="0"/>
              <a:t>The pretension device for clamp bond and attached pretension measurement cable are loosen, and the attached part for separation of satellite and launching vehicle have been installed. </a:t>
            </a:r>
            <a:endParaRPr lang="zh-CN" altLang="en-US" sz="2900" b="0" dirty="0"/>
          </a:p>
        </p:txBody>
      </p:sp>
      <p:sp>
        <p:nvSpPr>
          <p:cNvPr id="4" name="页脚占位符 3"/>
          <p:cNvSpPr>
            <a:spLocks noGrp="1"/>
          </p:cNvSpPr>
          <p:nvPr>
            <p:ph type="ftr" sz="quarter" idx="11"/>
          </p:nvPr>
        </p:nvSpPr>
        <p:spPr/>
        <p:txBody>
          <a:bodyPr/>
          <a:lstStyle/>
          <a:p>
            <a:r>
              <a:rPr lang="en-US" altLang="zh-CN" dirty="0"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33</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5090261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r>
              <a:rPr lang="en-US" altLang="zh-CN" sz="3200" dirty="0"/>
              <a:t>Satellite-launching vehicle Clamp bond unlock test introduction</a:t>
            </a:r>
            <a:endParaRPr lang="zh-CN" altLang="en-US" sz="3200" dirty="0"/>
          </a:p>
        </p:txBody>
      </p:sp>
      <p:sp>
        <p:nvSpPr>
          <p:cNvPr id="3" name="内容占位符 2"/>
          <p:cNvSpPr>
            <a:spLocks noGrp="1"/>
          </p:cNvSpPr>
          <p:nvPr>
            <p:ph idx="1"/>
          </p:nvPr>
        </p:nvSpPr>
        <p:spPr>
          <a:xfrm>
            <a:off x="457200" y="1357298"/>
            <a:ext cx="8229600" cy="5024030"/>
          </a:xfrm>
        </p:spPr>
        <p:txBody>
          <a:bodyPr>
            <a:noAutofit/>
          </a:bodyPr>
          <a:lstStyle/>
          <a:p>
            <a:pPr marL="0" indent="0">
              <a:buNone/>
            </a:pPr>
            <a:r>
              <a:rPr lang="en-US" altLang="zh-CN" sz="2000" dirty="0" smtClean="0"/>
              <a:t>5. </a:t>
            </a:r>
            <a:r>
              <a:rPr lang="en-US" altLang="zh-CN" sz="2000" dirty="0"/>
              <a:t>T</a:t>
            </a:r>
            <a:r>
              <a:rPr lang="en-US" altLang="zh-CN" sz="2000" dirty="0" smtClean="0"/>
              <a:t>est requirement introduction</a:t>
            </a:r>
          </a:p>
          <a:p>
            <a:pPr marL="0" indent="0">
              <a:buNone/>
            </a:pPr>
            <a:r>
              <a:rPr lang="en-US" altLang="zh-CN" sz="1800" dirty="0" smtClean="0"/>
              <a:t> 5.1 Test field</a:t>
            </a:r>
          </a:p>
          <a:p>
            <a:pPr>
              <a:buFont typeface="Wingdings" panose="05000000000000000000" pitchFamily="2" charset="2"/>
              <a:buChar char="Ø"/>
            </a:pPr>
            <a:r>
              <a:rPr lang="en-US" altLang="zh-CN" sz="1500" dirty="0" smtClean="0"/>
              <a:t>General requirement</a:t>
            </a:r>
          </a:p>
          <a:p>
            <a:r>
              <a:rPr lang="en-US" altLang="zh-CN" sz="1600" b="0" dirty="0" smtClean="0">
                <a:latin typeface="Times New Roman" panose="02020603050405020304" pitchFamily="18" charset="0"/>
                <a:cs typeface="Times New Roman" panose="02020603050405020304" pitchFamily="18" charset="0"/>
              </a:rPr>
              <a:t>Specific test field and separated;</a:t>
            </a:r>
            <a:endParaRPr lang="zh-CN" altLang="en-US" sz="1600" b="0" dirty="0">
              <a:latin typeface="Times New Roman" panose="02020603050405020304" pitchFamily="18" charset="0"/>
              <a:cs typeface="Times New Roman" panose="02020603050405020304" pitchFamily="18" charset="0"/>
            </a:endParaRPr>
          </a:p>
          <a:p>
            <a:r>
              <a:rPr lang="en-US" altLang="zh-CN" sz="1600" b="0" dirty="0" smtClean="0">
                <a:latin typeface="Times New Roman" panose="02020603050405020304" pitchFamily="18" charset="0"/>
                <a:cs typeface="Times New Roman" panose="02020603050405020304" pitchFamily="18" charset="0"/>
              </a:rPr>
              <a:t>Enough Space </a:t>
            </a:r>
            <a:r>
              <a:rPr lang="en-US" altLang="zh-CN" sz="1600" b="0" dirty="0">
                <a:latin typeface="Times New Roman" panose="02020603050405020304" pitchFamily="18" charset="0"/>
                <a:cs typeface="Times New Roman" panose="02020603050405020304" pitchFamily="18" charset="0"/>
              </a:rPr>
              <a:t>for hoisting, turning, parking and transportation </a:t>
            </a:r>
            <a:r>
              <a:rPr lang="en-US" altLang="zh-CN" sz="1600" b="0" dirty="0" smtClean="0">
                <a:latin typeface="Times New Roman" panose="02020603050405020304" pitchFamily="18" charset="0"/>
                <a:cs typeface="Times New Roman" panose="02020603050405020304" pitchFamily="18" charset="0"/>
              </a:rPr>
              <a:t>satellite;</a:t>
            </a:r>
            <a:endParaRPr lang="zh-CN" altLang="en-US" sz="1600" b="0" dirty="0">
              <a:latin typeface="Times New Roman" panose="02020603050405020304" pitchFamily="18" charset="0"/>
              <a:cs typeface="Times New Roman" panose="02020603050405020304" pitchFamily="18" charset="0"/>
            </a:endParaRPr>
          </a:p>
          <a:p>
            <a:r>
              <a:rPr lang="en-US" altLang="zh-CN" sz="1600" b="0" dirty="0" smtClean="0">
                <a:latin typeface="Times New Roman" panose="02020603050405020304" pitchFamily="18" charset="0"/>
                <a:cs typeface="Times New Roman" panose="02020603050405020304" pitchFamily="18" charset="0"/>
              </a:rPr>
              <a:t>Meet the requirement of transportation and work for test equipment and supporter;</a:t>
            </a:r>
          </a:p>
          <a:p>
            <a:r>
              <a:rPr lang="en-US" altLang="zh-CN" sz="1600" b="0" dirty="0" smtClean="0">
                <a:latin typeface="Times New Roman" panose="02020603050405020304" pitchFamily="18" charset="0"/>
                <a:cs typeface="Times New Roman" panose="02020603050405020304" pitchFamily="18" charset="0"/>
              </a:rPr>
              <a:t>Grounding for satellite, </a:t>
            </a:r>
            <a:r>
              <a:rPr lang="en-US" altLang="zh-CN" sz="1600" b="0" dirty="0">
                <a:latin typeface="Times New Roman" panose="02020603050405020304" pitchFamily="18" charset="0"/>
                <a:cs typeface="Times New Roman" panose="02020603050405020304" pitchFamily="18" charset="0"/>
              </a:rPr>
              <a:t>test equipment and </a:t>
            </a:r>
            <a:r>
              <a:rPr lang="en-US" altLang="zh-CN" sz="1600" b="0" dirty="0" smtClean="0">
                <a:latin typeface="Times New Roman" panose="02020603050405020304" pitchFamily="18" charset="0"/>
                <a:cs typeface="Times New Roman" panose="02020603050405020304" pitchFamily="18" charset="0"/>
              </a:rPr>
              <a:t>supporter.</a:t>
            </a:r>
          </a:p>
          <a:p>
            <a:pPr>
              <a:buFont typeface="Wingdings" panose="05000000000000000000" pitchFamily="2" charset="2"/>
              <a:buChar char="Ø"/>
            </a:pPr>
            <a:r>
              <a:rPr lang="en-US" altLang="zh-CN" sz="1500" dirty="0" smtClean="0"/>
              <a:t>Environmental requirement            </a:t>
            </a:r>
          </a:p>
          <a:p>
            <a:r>
              <a:rPr lang="en-US" altLang="zh-CN" sz="1600" b="0" dirty="0" smtClean="0">
                <a:latin typeface="Times New Roman" panose="02020603050405020304" pitchFamily="18" charset="0"/>
                <a:ea typeface="+mn-ea"/>
                <a:cs typeface="Times New Roman" panose="02020603050405020304" pitchFamily="18" charset="0"/>
              </a:rPr>
              <a:t>Temperature</a:t>
            </a:r>
            <a:r>
              <a:rPr lang="en-US" altLang="zh-CN" sz="1600" b="0" dirty="0">
                <a:latin typeface="Times New Roman" panose="02020603050405020304" pitchFamily="18" charset="0"/>
                <a:ea typeface="+mn-ea"/>
                <a:cs typeface="Times New Roman" panose="02020603050405020304" pitchFamily="18" charset="0"/>
              </a:rPr>
              <a:t>: 10℃</a:t>
            </a:r>
            <a:r>
              <a:rPr lang="zh-CN" altLang="en-US" sz="1600" b="0" dirty="0">
                <a:latin typeface="Times New Roman" panose="02020603050405020304" pitchFamily="18" charset="0"/>
                <a:ea typeface="+mn-ea"/>
                <a:cs typeface="Times New Roman" panose="02020603050405020304" pitchFamily="18" charset="0"/>
              </a:rPr>
              <a:t>～</a:t>
            </a:r>
            <a:r>
              <a:rPr lang="en-US" altLang="zh-CN" sz="1600" b="0" dirty="0">
                <a:latin typeface="Times New Roman" panose="02020603050405020304" pitchFamily="18" charset="0"/>
                <a:ea typeface="+mn-ea"/>
                <a:cs typeface="Times New Roman" panose="02020603050405020304" pitchFamily="18" charset="0"/>
              </a:rPr>
              <a:t>25℃</a:t>
            </a:r>
            <a:r>
              <a:rPr lang="zh-CN" altLang="en-US" sz="1600" b="0" dirty="0">
                <a:latin typeface="Times New Roman" panose="02020603050405020304" pitchFamily="18" charset="0"/>
                <a:ea typeface="+mn-ea"/>
                <a:cs typeface="Times New Roman" panose="02020603050405020304" pitchFamily="18" charset="0"/>
              </a:rPr>
              <a:t>；                          </a:t>
            </a:r>
            <a:endParaRPr lang="en-US" altLang="zh-CN" sz="1600" b="0" dirty="0">
              <a:latin typeface="Times New Roman" panose="02020603050405020304" pitchFamily="18" charset="0"/>
              <a:ea typeface="+mn-ea"/>
              <a:cs typeface="Times New Roman" panose="02020603050405020304" pitchFamily="18" charset="0"/>
            </a:endParaRPr>
          </a:p>
          <a:p>
            <a:r>
              <a:rPr lang="en-US" altLang="zh-CN" sz="1600" b="0" dirty="0" smtClean="0">
                <a:latin typeface="Times New Roman" panose="02020603050405020304" pitchFamily="18" charset="0"/>
                <a:ea typeface="+mn-ea"/>
                <a:cs typeface="Times New Roman" panose="02020603050405020304" pitchFamily="18" charset="0"/>
              </a:rPr>
              <a:t>Cleanliness</a:t>
            </a:r>
            <a:r>
              <a:rPr lang="en-US" altLang="zh-CN" sz="1600" b="0" dirty="0">
                <a:latin typeface="Times New Roman" panose="02020603050405020304" pitchFamily="18" charset="0"/>
                <a:ea typeface="+mn-ea"/>
                <a:cs typeface="Times New Roman" panose="02020603050405020304" pitchFamily="18" charset="0"/>
              </a:rPr>
              <a:t>: 100,000 level </a:t>
            </a:r>
            <a:r>
              <a:rPr lang="zh-CN" altLang="en-US" sz="1600" b="0" dirty="0">
                <a:latin typeface="Times New Roman" panose="02020603050405020304" pitchFamily="18" charset="0"/>
                <a:ea typeface="+mn-ea"/>
                <a:cs typeface="Times New Roman" panose="02020603050405020304" pitchFamily="18" charset="0"/>
              </a:rPr>
              <a:t>；</a:t>
            </a:r>
            <a:endParaRPr lang="en-US" altLang="zh-CN" sz="1600" b="0" dirty="0">
              <a:latin typeface="Times New Roman" panose="02020603050405020304" pitchFamily="18" charset="0"/>
              <a:ea typeface="+mn-ea"/>
              <a:cs typeface="Times New Roman" panose="02020603050405020304" pitchFamily="18" charset="0"/>
            </a:endParaRPr>
          </a:p>
          <a:p>
            <a:r>
              <a:rPr lang="en-US" altLang="zh-CN" sz="1600" b="0" dirty="0" smtClean="0">
                <a:latin typeface="Times New Roman" panose="02020603050405020304" pitchFamily="18" charset="0"/>
                <a:ea typeface="+mn-ea"/>
                <a:cs typeface="Times New Roman" panose="02020603050405020304" pitchFamily="18" charset="0"/>
              </a:rPr>
              <a:t>Relative humidity: 30%</a:t>
            </a:r>
            <a:r>
              <a:rPr lang="zh-CN" altLang="en-US" sz="1600" b="0" dirty="0" smtClean="0">
                <a:latin typeface="Times New Roman" panose="02020603050405020304" pitchFamily="18" charset="0"/>
                <a:ea typeface="+mn-ea"/>
                <a:cs typeface="Times New Roman" panose="02020603050405020304" pitchFamily="18" charset="0"/>
              </a:rPr>
              <a:t>～</a:t>
            </a:r>
            <a:r>
              <a:rPr lang="en-US" altLang="zh-CN" sz="1600" b="0" dirty="0" smtClean="0">
                <a:latin typeface="Times New Roman" panose="02020603050405020304" pitchFamily="18" charset="0"/>
                <a:ea typeface="+mn-ea"/>
                <a:cs typeface="Times New Roman" panose="02020603050405020304" pitchFamily="18" charset="0"/>
              </a:rPr>
              <a:t>60</a:t>
            </a:r>
            <a:r>
              <a:rPr lang="zh-CN" altLang="en-US" sz="1600" b="0" dirty="0" smtClean="0">
                <a:latin typeface="Times New Roman" panose="02020603050405020304" pitchFamily="18" charset="0"/>
                <a:ea typeface="+mn-ea"/>
                <a:cs typeface="Times New Roman" panose="02020603050405020304" pitchFamily="18" charset="0"/>
              </a:rPr>
              <a:t>％；</a:t>
            </a:r>
            <a:endParaRPr lang="en-US" altLang="zh-CN" sz="1600" b="0" dirty="0" smtClean="0">
              <a:latin typeface="Times New Roman" panose="02020603050405020304" pitchFamily="18" charset="0"/>
              <a:ea typeface="+mn-ea"/>
              <a:cs typeface="Times New Roman" panose="02020603050405020304" pitchFamily="18" charset="0"/>
            </a:endParaRPr>
          </a:p>
          <a:p>
            <a:pPr>
              <a:buFont typeface="Wingdings" panose="05000000000000000000" pitchFamily="2" charset="2"/>
              <a:buChar char="Ø"/>
            </a:pPr>
            <a:r>
              <a:rPr lang="en-US" altLang="zh-CN" sz="1600" dirty="0" smtClean="0"/>
              <a:t>Power </a:t>
            </a:r>
            <a:r>
              <a:rPr lang="en-US" altLang="zh-CN" sz="1600" dirty="0"/>
              <a:t>supply requirement</a:t>
            </a:r>
          </a:p>
          <a:p>
            <a:pPr marL="0" indent="0">
              <a:buNone/>
            </a:pPr>
            <a:r>
              <a:rPr lang="en-US" altLang="zh-CN" sz="1600" b="0" dirty="0">
                <a:latin typeface="Times New Roman" panose="02020603050405020304" pitchFamily="18" charset="0"/>
                <a:cs typeface="Times New Roman" panose="02020603050405020304" pitchFamily="18" charset="0"/>
              </a:rPr>
              <a:t>Meet the requirement of power supply for test.</a:t>
            </a:r>
            <a:endParaRPr lang="en-US" altLang="zh-CN" sz="1600" b="0" dirty="0" smtClean="0">
              <a:latin typeface="Times New Roman" panose="02020603050405020304" pitchFamily="18" charset="0"/>
              <a:cs typeface="Times New Roman" panose="02020603050405020304" pitchFamily="18" charset="0"/>
            </a:endParaRPr>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34</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18881236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29600" cy="1082660"/>
          </a:xfrm>
        </p:spPr>
        <p:txBody>
          <a:bodyPr>
            <a:normAutofit fontScale="90000"/>
          </a:bodyPr>
          <a:lstStyle/>
          <a:p>
            <a:r>
              <a:rPr lang="en-US" altLang="zh-CN" dirty="0"/>
              <a:t>Satellite-launching vehicle Clamp bond unlock test introduction</a:t>
            </a:r>
            <a:endParaRPr lang="zh-CN" altLang="en-US" dirty="0"/>
          </a:p>
        </p:txBody>
      </p:sp>
      <p:sp>
        <p:nvSpPr>
          <p:cNvPr id="3" name="内容占位符 2"/>
          <p:cNvSpPr>
            <a:spLocks noGrp="1"/>
          </p:cNvSpPr>
          <p:nvPr>
            <p:ph idx="1"/>
          </p:nvPr>
        </p:nvSpPr>
        <p:spPr/>
        <p:txBody>
          <a:bodyPr>
            <a:normAutofit lnSpcReduction="10000"/>
          </a:bodyPr>
          <a:lstStyle/>
          <a:p>
            <a:pPr marL="0" indent="0">
              <a:buNone/>
            </a:pPr>
            <a:r>
              <a:rPr lang="en-US" altLang="zh-CN" dirty="0" smtClean="0"/>
              <a:t>5.2  Test system introduction</a:t>
            </a:r>
          </a:p>
          <a:p>
            <a:pPr marL="0" indent="0">
              <a:buNone/>
            </a:pPr>
            <a:r>
              <a:rPr lang="en-US" altLang="zh-CN" sz="2000" b="0" dirty="0" smtClean="0"/>
              <a:t>Test system includes pyro technics control system, shock response measurement system, high-speed photography system and test support equipment.</a:t>
            </a:r>
          </a:p>
          <a:p>
            <a:pPr>
              <a:spcBef>
                <a:spcPts val="1200"/>
              </a:spcBef>
              <a:buFont typeface="+mj-lt"/>
              <a:buAutoNum type="alphaLcPeriod"/>
            </a:pPr>
            <a:r>
              <a:rPr lang="en-US" altLang="zh-CN" sz="1800" b="0" dirty="0"/>
              <a:t>pyro technics control </a:t>
            </a:r>
            <a:r>
              <a:rPr lang="en-US" altLang="zh-CN" sz="1800" b="0" dirty="0" smtClean="0"/>
              <a:t>system composition</a:t>
            </a:r>
          </a:p>
          <a:p>
            <a:pPr marL="0" indent="0">
              <a:buNone/>
            </a:pPr>
            <a:r>
              <a:rPr lang="en-US" altLang="zh-CN" sz="1800" b="0" dirty="0" smtClean="0"/>
              <a:t>     Ground Power supply and cable for pyro technics unlock test, charged by LV</a:t>
            </a:r>
          </a:p>
          <a:p>
            <a:pPr>
              <a:spcBef>
                <a:spcPts val="1200"/>
              </a:spcBef>
              <a:buFont typeface="+mj-lt"/>
              <a:buAutoNum type="alphaLcPeriod" startAt="2"/>
            </a:pPr>
            <a:r>
              <a:rPr lang="en-US" altLang="zh-CN" sz="1800" b="0" dirty="0"/>
              <a:t>Shock response measurement system composition</a:t>
            </a:r>
          </a:p>
          <a:p>
            <a:pPr marL="0" indent="0">
              <a:buNone/>
            </a:pPr>
            <a:r>
              <a:rPr lang="en-US" altLang="zh-CN" sz="1800" b="0" dirty="0" smtClean="0"/>
              <a:t>     Shock accelerator, vibration accelerator and data acquisition system, charged by CAST/511</a:t>
            </a:r>
          </a:p>
          <a:p>
            <a:pPr marL="0" indent="0">
              <a:buNone/>
            </a:pPr>
            <a:endParaRPr lang="zh-CN" altLang="en-US" sz="1800" b="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35</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4487733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29600" cy="1082660"/>
          </a:xfrm>
        </p:spPr>
        <p:txBody>
          <a:bodyPr>
            <a:normAutofit fontScale="90000"/>
          </a:bodyPr>
          <a:lstStyle/>
          <a:p>
            <a:r>
              <a:rPr lang="en-US" altLang="zh-CN" dirty="0"/>
              <a:t>Satellite-launching vehicle Clamp bond unlock test introduction</a:t>
            </a:r>
            <a:endParaRPr lang="zh-CN" altLang="en-US" dirty="0"/>
          </a:p>
        </p:txBody>
      </p:sp>
      <p:sp>
        <p:nvSpPr>
          <p:cNvPr id="3" name="内容占位符 2"/>
          <p:cNvSpPr>
            <a:spLocks noGrp="1"/>
          </p:cNvSpPr>
          <p:nvPr>
            <p:ph idx="1"/>
          </p:nvPr>
        </p:nvSpPr>
        <p:spPr/>
        <p:txBody>
          <a:bodyPr/>
          <a:lstStyle/>
          <a:p>
            <a:r>
              <a:rPr lang="en-US" altLang="zh-CN" dirty="0"/>
              <a:t>Test </a:t>
            </a:r>
            <a:r>
              <a:rPr lang="en-US" altLang="zh-CN" dirty="0" smtClean="0"/>
              <a:t>system introduction</a:t>
            </a:r>
          </a:p>
          <a:p>
            <a:pPr>
              <a:spcBef>
                <a:spcPts val="1200"/>
              </a:spcBef>
              <a:buFont typeface="+mj-lt"/>
              <a:buAutoNum type="alphaLcPeriod" startAt="3"/>
            </a:pPr>
            <a:r>
              <a:rPr lang="en-US" altLang="zh-CN" sz="2000" b="0" dirty="0" smtClean="0"/>
              <a:t>high-speed </a:t>
            </a:r>
            <a:r>
              <a:rPr lang="en-US" altLang="zh-CN" sz="2000" b="0" dirty="0"/>
              <a:t>photography system</a:t>
            </a:r>
          </a:p>
          <a:p>
            <a:r>
              <a:rPr lang="en-US" altLang="zh-CN" sz="2000" b="0" dirty="0" smtClean="0"/>
              <a:t>Black and white color, record time &gt;6s</a:t>
            </a:r>
          </a:p>
          <a:p>
            <a:pPr>
              <a:spcBef>
                <a:spcPts val="1200"/>
              </a:spcBef>
              <a:buFont typeface="+mj-lt"/>
              <a:buAutoNum type="alphaLcPeriod" startAt="4"/>
            </a:pPr>
            <a:r>
              <a:rPr lang="en-US" altLang="zh-CN" sz="2000" b="0" dirty="0"/>
              <a:t>test support equipment composition</a:t>
            </a:r>
          </a:p>
          <a:p>
            <a:r>
              <a:rPr lang="en-US" altLang="zh-CN" sz="2000" b="0" dirty="0" smtClean="0"/>
              <a:t>Support equipment for satellite, hoisting equipment and so on.</a:t>
            </a:r>
          </a:p>
          <a:p>
            <a:pPr marL="0" indent="0">
              <a:buNone/>
            </a:pPr>
            <a:endParaRPr lang="zh-CN" altLang="en-US" sz="1800" b="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36</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7179751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r>
              <a:rPr lang="en-US" altLang="zh-CN" sz="3200" dirty="0"/>
              <a:t>Satellite-launching vehicle Clamp bond unlock test introduction</a:t>
            </a:r>
            <a:endParaRPr lang="zh-CN" altLang="en-US" sz="3200" dirty="0"/>
          </a:p>
        </p:txBody>
      </p:sp>
      <p:sp>
        <p:nvSpPr>
          <p:cNvPr id="3" name="内容占位符 2"/>
          <p:cNvSpPr>
            <a:spLocks noGrp="1"/>
          </p:cNvSpPr>
          <p:nvPr>
            <p:ph idx="1"/>
          </p:nvPr>
        </p:nvSpPr>
        <p:spPr>
          <a:xfrm>
            <a:off x="457200" y="1357298"/>
            <a:ext cx="8229600" cy="5024030"/>
          </a:xfrm>
        </p:spPr>
        <p:txBody>
          <a:bodyPr>
            <a:normAutofit fontScale="85000" lnSpcReduction="20000"/>
          </a:bodyPr>
          <a:lstStyle/>
          <a:p>
            <a:pPr marL="0" indent="0">
              <a:buNone/>
            </a:pPr>
            <a:r>
              <a:rPr lang="en-US" altLang="zh-CN" sz="3500" dirty="0" smtClean="0"/>
              <a:t>Test system equipment</a:t>
            </a:r>
          </a:p>
          <a:p>
            <a:r>
              <a:rPr lang="en-US" altLang="zh-CN" sz="3500" b="0" dirty="0" smtClean="0">
                <a:latin typeface="Times New Roman" panose="02020603050405020304" pitchFamily="18" charset="0"/>
                <a:cs typeface="Times New Roman" panose="02020603050405020304" pitchFamily="18" charset="0"/>
              </a:rPr>
              <a:t>Controller and control cable (LV);</a:t>
            </a:r>
          </a:p>
          <a:p>
            <a:r>
              <a:rPr lang="en-US" altLang="zh-CN" sz="3500" b="0" dirty="0" smtClean="0">
                <a:latin typeface="Times New Roman" panose="02020603050405020304" pitchFamily="18" charset="0"/>
                <a:cs typeface="Times New Roman" panose="02020603050405020304" pitchFamily="18" charset="0"/>
              </a:rPr>
              <a:t>Power supply for boost-on (LV);</a:t>
            </a:r>
            <a:endParaRPr lang="zh-CN" altLang="en-US" sz="3500" b="0" dirty="0" smtClean="0">
              <a:latin typeface="Times New Roman" panose="02020603050405020304" pitchFamily="18" charset="0"/>
              <a:cs typeface="Times New Roman" panose="02020603050405020304" pitchFamily="18" charset="0"/>
            </a:endParaRPr>
          </a:p>
          <a:p>
            <a:r>
              <a:rPr lang="en-US" altLang="zh-CN" sz="3500" b="0" dirty="0" smtClean="0">
                <a:latin typeface="Times New Roman" panose="02020603050405020304" pitchFamily="18" charset="0"/>
                <a:cs typeface="Times New Roman" panose="02020603050405020304" pitchFamily="18" charset="0"/>
              </a:rPr>
              <a:t>Measurement sensors (Test implementer);</a:t>
            </a:r>
          </a:p>
          <a:p>
            <a:r>
              <a:rPr lang="en-US" altLang="zh-CN" sz="3500" b="0" dirty="0" smtClean="0">
                <a:latin typeface="Times New Roman" panose="02020603050405020304" pitchFamily="18" charset="0"/>
                <a:cs typeface="Times New Roman" panose="02020603050405020304" pitchFamily="18" charset="0"/>
              </a:rPr>
              <a:t>Data acquisition system (Test implementer);</a:t>
            </a:r>
          </a:p>
          <a:p>
            <a:r>
              <a:rPr lang="en-US" altLang="zh-CN" sz="3500" b="0" dirty="0" smtClean="0">
                <a:latin typeface="Times New Roman" panose="02020603050405020304" pitchFamily="18" charset="0"/>
                <a:cs typeface="Times New Roman" panose="02020603050405020304" pitchFamily="18" charset="0"/>
              </a:rPr>
              <a:t>High speed photography system (Test implementer);</a:t>
            </a:r>
          </a:p>
          <a:p>
            <a:r>
              <a:rPr lang="en-US" altLang="zh-CN" sz="3500" b="0" dirty="0" smtClean="0">
                <a:latin typeface="Times New Roman" panose="02020603050405020304" pitchFamily="18" charset="0"/>
                <a:cs typeface="Times New Roman" panose="02020603050405020304" pitchFamily="18" charset="0"/>
              </a:rPr>
              <a:t>Protector shelf.</a:t>
            </a:r>
            <a:endParaRPr lang="zh-CN" altLang="en-US" sz="3500" b="0" dirty="0" smtClean="0">
              <a:latin typeface="Times New Roman" panose="02020603050405020304" pitchFamily="18" charset="0"/>
              <a:cs typeface="Times New Roman" panose="02020603050405020304" pitchFamily="18" charset="0"/>
            </a:endParaRPr>
          </a:p>
          <a:p>
            <a:pPr marL="0" indent="0">
              <a:buNone/>
            </a:pPr>
            <a:endParaRPr lang="zh-CN" altLang="en-US" sz="2400"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37</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11173401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r>
              <a:rPr lang="en-US" altLang="zh-CN" sz="3200" dirty="0"/>
              <a:t>Satellite-launching vehicle Clamp bond unlock test introduction</a:t>
            </a:r>
            <a:endParaRPr lang="zh-CN" altLang="en-US" sz="3200" dirty="0"/>
          </a:p>
        </p:txBody>
      </p:sp>
      <p:sp>
        <p:nvSpPr>
          <p:cNvPr id="3" name="内容占位符 2"/>
          <p:cNvSpPr>
            <a:spLocks noGrp="1"/>
          </p:cNvSpPr>
          <p:nvPr>
            <p:ph idx="1"/>
          </p:nvPr>
        </p:nvSpPr>
        <p:spPr>
          <a:xfrm>
            <a:off x="457200" y="1357298"/>
            <a:ext cx="9083352" cy="4768865"/>
          </a:xfrm>
        </p:spPr>
        <p:txBody>
          <a:bodyPr>
            <a:normAutofit/>
          </a:bodyPr>
          <a:lstStyle/>
          <a:p>
            <a:pPr marL="0" indent="0">
              <a:buNone/>
            </a:pPr>
            <a:r>
              <a:rPr lang="en-US" altLang="zh-CN" sz="2400" dirty="0" smtClean="0"/>
              <a:t>5.3 Requirements </a:t>
            </a:r>
            <a:r>
              <a:rPr lang="en-US" altLang="zh-CN" sz="2400" dirty="0"/>
              <a:t>for sensor </a:t>
            </a:r>
            <a:r>
              <a:rPr lang="en-US" altLang="zh-CN" sz="2400" dirty="0" smtClean="0"/>
              <a:t>distribution</a:t>
            </a:r>
          </a:p>
          <a:p>
            <a:r>
              <a:rPr lang="en-US" altLang="zh-CN" sz="2400" b="0" dirty="0">
                <a:latin typeface="Times New Roman" panose="02020603050405020304" pitchFamily="18" charset="0"/>
                <a:cs typeface="Times New Roman" panose="02020603050405020304" pitchFamily="18" charset="0"/>
              </a:rPr>
              <a:t>The amount of shock sensors, channels</a:t>
            </a:r>
          </a:p>
          <a:p>
            <a:r>
              <a:rPr lang="en-US" altLang="zh-CN" sz="2400" b="0" dirty="0">
                <a:latin typeface="Times New Roman" panose="02020603050405020304" pitchFamily="18" charset="0"/>
                <a:cs typeface="Times New Roman" panose="02020603050405020304" pitchFamily="18" charset="0"/>
              </a:rPr>
              <a:t>Installation positions of shock sensors</a:t>
            </a:r>
          </a:p>
          <a:p>
            <a:pPr marL="0" indent="0">
              <a:buNone/>
            </a:pPr>
            <a:endParaRPr lang="en-US" altLang="zh-CN" sz="2400" dirty="0" smtClean="0"/>
          </a:p>
          <a:p>
            <a:pPr marL="0" indent="0">
              <a:buNone/>
            </a:pPr>
            <a:endParaRPr lang="zh-CN" altLang="en-US" sz="2400"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38</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4250107354"/>
              </p:ext>
            </p:extLst>
          </p:nvPr>
        </p:nvGraphicFramePr>
        <p:xfrm>
          <a:off x="251520" y="3142704"/>
          <a:ext cx="8640960" cy="3022600"/>
        </p:xfrm>
        <a:graphic>
          <a:graphicData uri="http://schemas.openxmlformats.org/drawingml/2006/table">
            <a:tbl>
              <a:tblPr firstRow="1" firstCol="1" bandRow="1">
                <a:tableStyleId>{5C22544A-7EE6-4342-B048-85BDC9FD1C3A}</a:tableStyleId>
              </a:tblPr>
              <a:tblGrid>
                <a:gridCol w="370384"/>
                <a:gridCol w="7190456"/>
                <a:gridCol w="576064"/>
                <a:gridCol w="504056"/>
              </a:tblGrid>
              <a:tr h="431800">
                <a:tc>
                  <a:txBody>
                    <a:bodyPr/>
                    <a:lstStyle/>
                    <a:p>
                      <a:pPr algn="ctr">
                        <a:spcAft>
                          <a:spcPts val="0"/>
                        </a:spcAft>
                      </a:pPr>
                      <a:r>
                        <a:rPr lang="zh-CN" sz="1200" kern="100" dirty="0">
                          <a:effectLst/>
                        </a:rPr>
                        <a:t>测点</a:t>
                      </a:r>
                      <a:endParaRPr lang="zh-CN" sz="1000" kern="100" dirty="0">
                        <a:effectLst/>
                        <a:latin typeface="Times New Roman"/>
                        <a:ea typeface="宋体"/>
                      </a:endParaRPr>
                    </a:p>
                  </a:txBody>
                  <a:tcPr marL="68580" marR="68580" marT="0" marB="0" anchor="ctr"/>
                </a:tc>
                <a:tc>
                  <a:txBody>
                    <a:bodyPr/>
                    <a:lstStyle/>
                    <a:p>
                      <a:pPr algn="ctr">
                        <a:spcAft>
                          <a:spcPts val="0"/>
                        </a:spcAft>
                      </a:pPr>
                      <a:r>
                        <a:rPr lang="zh-CN" sz="1200" kern="100">
                          <a:effectLst/>
                        </a:rPr>
                        <a:t>测点位置</a:t>
                      </a:r>
                      <a:endParaRPr lang="zh-CN" sz="1000" kern="100">
                        <a:effectLst/>
                        <a:latin typeface="Times New Roman"/>
                        <a:ea typeface="宋体"/>
                      </a:endParaRPr>
                    </a:p>
                  </a:txBody>
                  <a:tcPr marL="68580" marR="68580" marT="0" marB="0" anchor="ctr"/>
                </a:tc>
                <a:tc>
                  <a:txBody>
                    <a:bodyPr/>
                    <a:lstStyle/>
                    <a:p>
                      <a:pPr algn="ctr">
                        <a:spcAft>
                          <a:spcPts val="0"/>
                        </a:spcAft>
                      </a:pPr>
                      <a:r>
                        <a:rPr lang="zh-CN" sz="1200" kern="100">
                          <a:effectLst/>
                        </a:rPr>
                        <a:t>量程</a:t>
                      </a:r>
                      <a:endParaRPr lang="zh-CN" sz="1000" kern="100">
                        <a:effectLst/>
                        <a:latin typeface="Times New Roman"/>
                        <a:ea typeface="宋体"/>
                      </a:endParaRPr>
                    </a:p>
                  </a:txBody>
                  <a:tcPr marL="68580" marR="68580" marT="0" marB="0" anchor="ctr"/>
                </a:tc>
                <a:tc>
                  <a:txBody>
                    <a:bodyPr/>
                    <a:lstStyle/>
                    <a:p>
                      <a:pPr algn="ctr">
                        <a:spcAft>
                          <a:spcPts val="0"/>
                        </a:spcAft>
                      </a:pPr>
                      <a:r>
                        <a:rPr lang="zh-CN" sz="1200" kern="100" dirty="0">
                          <a:effectLst/>
                        </a:rPr>
                        <a:t>方向</a:t>
                      </a:r>
                      <a:endParaRPr lang="zh-CN" sz="1000" kern="100" dirty="0">
                        <a:effectLst/>
                        <a:latin typeface="Times New Roman"/>
                        <a:ea typeface="宋体"/>
                      </a:endParaRPr>
                    </a:p>
                  </a:txBody>
                  <a:tcPr marL="68580" marR="68580" marT="0" marB="0" anchor="ctr"/>
                </a:tc>
              </a:tr>
              <a:tr h="431800">
                <a:tc>
                  <a:txBody>
                    <a:bodyPr/>
                    <a:lstStyle/>
                    <a:p>
                      <a:pPr algn="ctr">
                        <a:spcAft>
                          <a:spcPts val="0"/>
                        </a:spcAft>
                      </a:pPr>
                      <a:r>
                        <a:rPr lang="en-US" sz="1200" kern="100" dirty="0">
                          <a:effectLst/>
                        </a:rPr>
                        <a:t>C1</a:t>
                      </a:r>
                      <a:endParaRPr lang="zh-CN" sz="1200" kern="100" dirty="0">
                        <a:effectLst/>
                        <a:latin typeface="Times New Roman"/>
                        <a:ea typeface="宋体"/>
                      </a:endParaRPr>
                    </a:p>
                  </a:txBody>
                  <a:tcPr marL="68580" marR="68580" marT="0" marB="0" anchor="ctr"/>
                </a:tc>
                <a:tc>
                  <a:txBody>
                    <a:bodyPr/>
                    <a:lstStyle/>
                    <a:p>
                      <a:pPr algn="ctr">
                        <a:spcAft>
                          <a:spcPts val="0"/>
                        </a:spcAft>
                      </a:pPr>
                      <a:r>
                        <a:rPr lang="en-US" altLang="zh-CN" sz="1200" kern="100" dirty="0" smtClean="0">
                          <a:effectLst/>
                        </a:rPr>
                        <a:t>On the interface surface</a:t>
                      </a:r>
                      <a:r>
                        <a:rPr lang="en-US" altLang="zh-CN" sz="1200" kern="100" baseline="0" dirty="0" smtClean="0">
                          <a:effectLst/>
                        </a:rPr>
                        <a:t> of s</a:t>
                      </a:r>
                      <a:r>
                        <a:rPr lang="en-US" altLang="zh-CN" sz="1200" kern="100" dirty="0" smtClean="0">
                          <a:effectLst/>
                        </a:rPr>
                        <a:t>atellite to LV ,</a:t>
                      </a:r>
                      <a:r>
                        <a:rPr lang="en-US" altLang="zh-CN" sz="1200" kern="100" baseline="0" dirty="0" smtClean="0">
                          <a:effectLst/>
                        </a:rPr>
                        <a:t>  the position </a:t>
                      </a:r>
                      <a:r>
                        <a:rPr lang="en-US" altLang="zh-CN" sz="1200" kern="100" dirty="0" smtClean="0">
                          <a:effectLst/>
                        </a:rPr>
                        <a:t>corresponding</a:t>
                      </a:r>
                      <a:r>
                        <a:rPr lang="en-US" altLang="zh-CN" sz="1200" kern="100" baseline="0" dirty="0" smtClean="0">
                          <a:effectLst/>
                        </a:rPr>
                        <a:t> to c</a:t>
                      </a:r>
                      <a:r>
                        <a:rPr lang="en-US" altLang="zh-CN" sz="1200" kern="100" dirty="0" smtClean="0">
                          <a:effectLst/>
                        </a:rPr>
                        <a:t>lamp bond end </a:t>
                      </a:r>
                      <a:r>
                        <a:rPr lang="en-US" sz="1200" kern="100" dirty="0" smtClean="0">
                          <a:effectLst/>
                        </a:rPr>
                        <a:t>1</a:t>
                      </a:r>
                    </a:p>
                  </a:txBody>
                  <a:tcPr marL="68580" marR="68580" marT="0" marB="0" anchor="ctr"/>
                </a:tc>
                <a:tc>
                  <a:txBody>
                    <a:bodyPr/>
                    <a:lstStyle/>
                    <a:p>
                      <a:pPr algn="ctr">
                        <a:spcAft>
                          <a:spcPts val="0"/>
                        </a:spcAft>
                      </a:pPr>
                      <a:r>
                        <a:rPr lang="en-US" sz="1200" kern="100">
                          <a:effectLst/>
                        </a:rPr>
                        <a:t>5000g</a:t>
                      </a:r>
                      <a:endParaRPr lang="zh-CN" sz="1200" kern="100">
                        <a:effectLst/>
                        <a:latin typeface="Times New Roman"/>
                        <a:ea typeface="宋体"/>
                      </a:endParaRPr>
                    </a:p>
                  </a:txBody>
                  <a:tcPr marL="68580" marR="68580" marT="0" marB="0" anchor="ctr"/>
                </a:tc>
                <a:tc>
                  <a:txBody>
                    <a:bodyPr/>
                    <a:lstStyle/>
                    <a:p>
                      <a:pPr algn="ctr">
                        <a:spcAft>
                          <a:spcPts val="0"/>
                        </a:spcAft>
                      </a:pPr>
                      <a:r>
                        <a:rPr lang="en-US" sz="1200" kern="100" dirty="0">
                          <a:effectLst/>
                        </a:rPr>
                        <a:t>3</a:t>
                      </a:r>
                      <a:endParaRPr lang="zh-CN" sz="1200" kern="100" dirty="0">
                        <a:effectLst/>
                        <a:latin typeface="Times New Roman"/>
                        <a:ea typeface="宋体"/>
                      </a:endParaRPr>
                    </a:p>
                  </a:txBody>
                  <a:tcPr marL="68580" marR="68580" marT="0" marB="0" anchor="ctr"/>
                </a:tc>
              </a:tr>
              <a:tr h="431800">
                <a:tc>
                  <a:txBody>
                    <a:bodyPr/>
                    <a:lstStyle/>
                    <a:p>
                      <a:pPr algn="ctr">
                        <a:spcAft>
                          <a:spcPts val="0"/>
                        </a:spcAft>
                      </a:pPr>
                      <a:r>
                        <a:rPr lang="en-US" sz="1200" kern="100">
                          <a:effectLst/>
                        </a:rPr>
                        <a:t>C2</a:t>
                      </a:r>
                      <a:endParaRPr lang="zh-CN" sz="1200" kern="100">
                        <a:effectLst/>
                        <a:latin typeface="Times New Roman"/>
                        <a:ea typeface="宋体"/>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00" dirty="0" smtClean="0">
                          <a:effectLst/>
                        </a:rPr>
                        <a:t>On the interface surface</a:t>
                      </a:r>
                      <a:r>
                        <a:rPr lang="en-US" altLang="zh-CN" sz="1200" kern="100" baseline="0" dirty="0" smtClean="0">
                          <a:effectLst/>
                        </a:rPr>
                        <a:t> of s</a:t>
                      </a:r>
                      <a:r>
                        <a:rPr lang="en-US" altLang="zh-CN" sz="1200" kern="100" dirty="0" smtClean="0">
                          <a:effectLst/>
                        </a:rPr>
                        <a:t>atellite to LV ,</a:t>
                      </a:r>
                      <a:r>
                        <a:rPr lang="en-US" altLang="zh-CN" sz="1200" kern="100" baseline="0" dirty="0" smtClean="0">
                          <a:effectLst/>
                        </a:rPr>
                        <a:t>  the position </a:t>
                      </a:r>
                      <a:r>
                        <a:rPr lang="en-US" altLang="zh-CN" sz="1200" kern="100" dirty="0" smtClean="0">
                          <a:effectLst/>
                        </a:rPr>
                        <a:t>corresponding</a:t>
                      </a:r>
                      <a:r>
                        <a:rPr lang="en-US" altLang="zh-CN" sz="1200" kern="100" baseline="0" dirty="0" smtClean="0">
                          <a:effectLst/>
                        </a:rPr>
                        <a:t> to c</a:t>
                      </a:r>
                      <a:r>
                        <a:rPr lang="en-US" altLang="zh-CN" sz="1200" kern="100" dirty="0" smtClean="0">
                          <a:effectLst/>
                        </a:rPr>
                        <a:t>lamp bond end 2</a:t>
                      </a:r>
                    </a:p>
                  </a:txBody>
                  <a:tcPr marL="68580" marR="68580" marT="0" marB="0" anchor="ctr"/>
                </a:tc>
                <a:tc>
                  <a:txBody>
                    <a:bodyPr/>
                    <a:lstStyle/>
                    <a:p>
                      <a:pPr algn="ctr">
                        <a:spcAft>
                          <a:spcPts val="0"/>
                        </a:spcAft>
                      </a:pPr>
                      <a:r>
                        <a:rPr lang="en-US" sz="1200" kern="100">
                          <a:effectLst/>
                        </a:rPr>
                        <a:t>5000g</a:t>
                      </a:r>
                      <a:endParaRPr lang="zh-CN" sz="1200" kern="100">
                        <a:effectLst/>
                        <a:latin typeface="Times New Roman"/>
                        <a:ea typeface="宋体"/>
                      </a:endParaRPr>
                    </a:p>
                  </a:txBody>
                  <a:tcPr marL="68580" marR="68580" marT="0" marB="0" anchor="ctr"/>
                </a:tc>
                <a:tc>
                  <a:txBody>
                    <a:bodyPr/>
                    <a:lstStyle/>
                    <a:p>
                      <a:pPr algn="ctr">
                        <a:spcAft>
                          <a:spcPts val="0"/>
                        </a:spcAft>
                      </a:pPr>
                      <a:r>
                        <a:rPr lang="en-US" sz="1200" kern="100">
                          <a:effectLst/>
                        </a:rPr>
                        <a:t>3</a:t>
                      </a:r>
                      <a:endParaRPr lang="zh-CN" sz="1200" kern="100">
                        <a:effectLst/>
                        <a:latin typeface="Times New Roman"/>
                        <a:ea typeface="宋体"/>
                      </a:endParaRPr>
                    </a:p>
                  </a:txBody>
                  <a:tcPr marL="68580" marR="68580" marT="0" marB="0" anchor="ctr"/>
                </a:tc>
              </a:tr>
              <a:tr h="431800">
                <a:tc>
                  <a:txBody>
                    <a:bodyPr/>
                    <a:lstStyle/>
                    <a:p>
                      <a:pPr algn="ctr">
                        <a:spcAft>
                          <a:spcPts val="0"/>
                        </a:spcAft>
                      </a:pPr>
                      <a:r>
                        <a:rPr lang="en-US" sz="1200" kern="100">
                          <a:effectLst/>
                        </a:rPr>
                        <a:t>C3</a:t>
                      </a:r>
                      <a:endParaRPr lang="zh-CN" sz="1200" kern="100">
                        <a:effectLst/>
                        <a:latin typeface="Times New Roman"/>
                        <a:ea typeface="宋体"/>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00" dirty="0" smtClean="0">
                          <a:effectLst/>
                        </a:rPr>
                        <a:t>On the interface surface</a:t>
                      </a:r>
                      <a:r>
                        <a:rPr lang="en-US" altLang="zh-CN" sz="1200" kern="100" baseline="0" dirty="0" smtClean="0">
                          <a:effectLst/>
                        </a:rPr>
                        <a:t> of s</a:t>
                      </a:r>
                      <a:r>
                        <a:rPr lang="en-US" altLang="zh-CN" sz="1200" kern="100" dirty="0" smtClean="0">
                          <a:effectLst/>
                        </a:rPr>
                        <a:t>atellite to LV ,</a:t>
                      </a:r>
                      <a:r>
                        <a:rPr lang="en-US" altLang="zh-CN" sz="1200" kern="100" baseline="0" dirty="0" smtClean="0">
                          <a:effectLst/>
                        </a:rPr>
                        <a:t>  the position </a:t>
                      </a:r>
                      <a:r>
                        <a:rPr lang="en-US" altLang="zh-CN" sz="1200" kern="100" dirty="0" smtClean="0">
                          <a:effectLst/>
                        </a:rPr>
                        <a:t>corresponding</a:t>
                      </a:r>
                      <a:r>
                        <a:rPr lang="en-US" altLang="zh-CN" sz="1200" kern="100" baseline="0" dirty="0" smtClean="0">
                          <a:effectLst/>
                        </a:rPr>
                        <a:t> to c</a:t>
                      </a:r>
                      <a:r>
                        <a:rPr lang="en-US" altLang="zh-CN" sz="1200" kern="100" dirty="0" smtClean="0">
                          <a:effectLst/>
                        </a:rPr>
                        <a:t>lamp bond end 3</a:t>
                      </a:r>
                    </a:p>
                  </a:txBody>
                  <a:tcPr marL="68580" marR="68580" marT="0" marB="0" anchor="ctr"/>
                </a:tc>
                <a:tc>
                  <a:txBody>
                    <a:bodyPr/>
                    <a:lstStyle/>
                    <a:p>
                      <a:pPr algn="ctr">
                        <a:spcAft>
                          <a:spcPts val="0"/>
                        </a:spcAft>
                      </a:pPr>
                      <a:r>
                        <a:rPr lang="en-US" sz="1200" kern="100">
                          <a:effectLst/>
                        </a:rPr>
                        <a:t>5000g</a:t>
                      </a:r>
                      <a:endParaRPr lang="zh-CN" sz="1200" kern="100">
                        <a:effectLst/>
                        <a:latin typeface="Times New Roman"/>
                        <a:ea typeface="宋体"/>
                      </a:endParaRPr>
                    </a:p>
                  </a:txBody>
                  <a:tcPr marL="68580" marR="68580" marT="0" marB="0" anchor="ctr"/>
                </a:tc>
                <a:tc>
                  <a:txBody>
                    <a:bodyPr/>
                    <a:lstStyle/>
                    <a:p>
                      <a:pPr algn="ctr">
                        <a:spcAft>
                          <a:spcPts val="0"/>
                        </a:spcAft>
                      </a:pPr>
                      <a:r>
                        <a:rPr lang="en-US" sz="1200" kern="100">
                          <a:effectLst/>
                        </a:rPr>
                        <a:t>3</a:t>
                      </a:r>
                      <a:endParaRPr lang="zh-CN" sz="1200" kern="100">
                        <a:effectLst/>
                        <a:latin typeface="Times New Roman"/>
                        <a:ea typeface="宋体"/>
                      </a:endParaRPr>
                    </a:p>
                  </a:txBody>
                  <a:tcPr marL="68580" marR="68580" marT="0" marB="0" anchor="ctr"/>
                </a:tc>
              </a:tr>
              <a:tr h="431800">
                <a:tc>
                  <a:txBody>
                    <a:bodyPr/>
                    <a:lstStyle/>
                    <a:p>
                      <a:pPr algn="ctr">
                        <a:spcAft>
                          <a:spcPts val="0"/>
                        </a:spcAft>
                      </a:pPr>
                      <a:r>
                        <a:rPr lang="en-US" sz="1200" kern="100">
                          <a:effectLst/>
                        </a:rPr>
                        <a:t>C4</a:t>
                      </a:r>
                      <a:endParaRPr lang="zh-CN" sz="1200" kern="100">
                        <a:effectLst/>
                        <a:latin typeface="Times New Roman"/>
                        <a:ea typeface="宋体"/>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00" dirty="0" smtClean="0">
                          <a:effectLst/>
                        </a:rPr>
                        <a:t>On the interface surface</a:t>
                      </a:r>
                      <a:r>
                        <a:rPr lang="en-US" altLang="zh-CN" sz="1200" kern="100" baseline="0" dirty="0" smtClean="0">
                          <a:effectLst/>
                        </a:rPr>
                        <a:t> of </a:t>
                      </a:r>
                      <a:r>
                        <a:rPr lang="en-US" altLang="zh-CN" sz="1200" kern="100" dirty="0" smtClean="0">
                          <a:effectLst/>
                        </a:rPr>
                        <a:t>propellant cabin and electrical</a:t>
                      </a:r>
                      <a:r>
                        <a:rPr lang="en-US" altLang="zh-CN" sz="1200" kern="100" baseline="0" dirty="0" smtClean="0">
                          <a:effectLst/>
                        </a:rPr>
                        <a:t> cabin,  the position </a:t>
                      </a:r>
                      <a:r>
                        <a:rPr lang="en-US" altLang="zh-CN" sz="1200" kern="100" dirty="0" smtClean="0">
                          <a:effectLst/>
                        </a:rPr>
                        <a:t>corresponding</a:t>
                      </a:r>
                      <a:r>
                        <a:rPr lang="en-US" altLang="zh-CN" sz="1200" kern="100" baseline="0" dirty="0" smtClean="0">
                          <a:effectLst/>
                        </a:rPr>
                        <a:t> to c</a:t>
                      </a:r>
                      <a:r>
                        <a:rPr lang="en-US" altLang="zh-CN" sz="1200" kern="100" dirty="0" smtClean="0">
                          <a:effectLst/>
                        </a:rPr>
                        <a:t>lamp bond end 1</a:t>
                      </a:r>
                    </a:p>
                  </a:txBody>
                  <a:tcPr marL="68580" marR="68580" marT="0" marB="0" anchor="ctr"/>
                </a:tc>
                <a:tc>
                  <a:txBody>
                    <a:bodyPr/>
                    <a:lstStyle/>
                    <a:p>
                      <a:pPr algn="ctr">
                        <a:spcAft>
                          <a:spcPts val="0"/>
                        </a:spcAft>
                      </a:pPr>
                      <a:r>
                        <a:rPr lang="en-US" sz="1200" kern="100" dirty="0">
                          <a:effectLst/>
                        </a:rPr>
                        <a:t>5000g</a:t>
                      </a:r>
                      <a:endParaRPr lang="zh-CN" sz="1200" kern="100" dirty="0">
                        <a:effectLst/>
                        <a:latin typeface="Times New Roman"/>
                        <a:ea typeface="宋体"/>
                      </a:endParaRPr>
                    </a:p>
                  </a:txBody>
                  <a:tcPr marL="68580" marR="68580" marT="0" marB="0" anchor="ctr"/>
                </a:tc>
                <a:tc>
                  <a:txBody>
                    <a:bodyPr/>
                    <a:lstStyle/>
                    <a:p>
                      <a:pPr algn="ctr">
                        <a:spcAft>
                          <a:spcPts val="0"/>
                        </a:spcAft>
                      </a:pPr>
                      <a:r>
                        <a:rPr lang="en-US" sz="1200" kern="100">
                          <a:effectLst/>
                        </a:rPr>
                        <a:t>3</a:t>
                      </a:r>
                      <a:endParaRPr lang="zh-CN" sz="1200" kern="100">
                        <a:effectLst/>
                        <a:latin typeface="Times New Roman"/>
                        <a:ea typeface="宋体"/>
                      </a:endParaRPr>
                    </a:p>
                  </a:txBody>
                  <a:tcPr marL="68580" marR="68580" marT="0" marB="0" anchor="ctr"/>
                </a:tc>
              </a:tr>
              <a:tr h="431800">
                <a:tc>
                  <a:txBody>
                    <a:bodyPr/>
                    <a:lstStyle/>
                    <a:p>
                      <a:pPr algn="ctr">
                        <a:spcAft>
                          <a:spcPts val="0"/>
                        </a:spcAft>
                      </a:pPr>
                      <a:r>
                        <a:rPr lang="en-US" sz="1200" kern="100">
                          <a:effectLst/>
                        </a:rPr>
                        <a:t>C5</a:t>
                      </a:r>
                      <a:endParaRPr lang="zh-CN" sz="1200" kern="100">
                        <a:effectLst/>
                        <a:latin typeface="Times New Roman"/>
                        <a:ea typeface="宋体"/>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00" dirty="0" smtClean="0">
                          <a:effectLst/>
                        </a:rPr>
                        <a:t>On the interface surface</a:t>
                      </a:r>
                      <a:r>
                        <a:rPr lang="en-US" altLang="zh-CN" sz="1200" kern="100" baseline="0" dirty="0" smtClean="0">
                          <a:effectLst/>
                        </a:rPr>
                        <a:t> of </a:t>
                      </a:r>
                      <a:r>
                        <a:rPr lang="en-US" altLang="zh-CN" sz="1200" kern="100" dirty="0" smtClean="0">
                          <a:effectLst/>
                        </a:rPr>
                        <a:t>propellant cabin and electrical</a:t>
                      </a:r>
                      <a:r>
                        <a:rPr lang="en-US" altLang="zh-CN" sz="1200" kern="100" baseline="0" dirty="0" smtClean="0">
                          <a:effectLst/>
                        </a:rPr>
                        <a:t> cabin,  the position </a:t>
                      </a:r>
                      <a:r>
                        <a:rPr lang="en-US" altLang="zh-CN" sz="1200" kern="100" dirty="0" smtClean="0">
                          <a:effectLst/>
                        </a:rPr>
                        <a:t>corresponding</a:t>
                      </a:r>
                      <a:r>
                        <a:rPr lang="en-US" altLang="zh-CN" sz="1200" kern="100" baseline="0" dirty="0" smtClean="0">
                          <a:effectLst/>
                        </a:rPr>
                        <a:t> to c</a:t>
                      </a:r>
                      <a:r>
                        <a:rPr lang="en-US" altLang="zh-CN" sz="1200" kern="100" dirty="0" smtClean="0">
                          <a:effectLst/>
                        </a:rPr>
                        <a:t>lamp bond end 2</a:t>
                      </a:r>
                    </a:p>
                  </a:txBody>
                  <a:tcPr marL="68580" marR="68580" marT="0" marB="0" anchor="ctr"/>
                </a:tc>
                <a:tc>
                  <a:txBody>
                    <a:bodyPr/>
                    <a:lstStyle/>
                    <a:p>
                      <a:pPr algn="ctr">
                        <a:spcAft>
                          <a:spcPts val="0"/>
                        </a:spcAft>
                      </a:pPr>
                      <a:r>
                        <a:rPr lang="en-US" sz="1200" kern="100" dirty="0">
                          <a:effectLst/>
                        </a:rPr>
                        <a:t>5000g</a:t>
                      </a:r>
                      <a:endParaRPr lang="zh-CN" sz="1200" kern="100" dirty="0">
                        <a:effectLst/>
                        <a:latin typeface="Times New Roman"/>
                        <a:ea typeface="宋体"/>
                      </a:endParaRPr>
                    </a:p>
                  </a:txBody>
                  <a:tcPr marL="68580" marR="68580" marT="0" marB="0" anchor="ctr"/>
                </a:tc>
                <a:tc>
                  <a:txBody>
                    <a:bodyPr/>
                    <a:lstStyle/>
                    <a:p>
                      <a:pPr algn="ctr">
                        <a:spcAft>
                          <a:spcPts val="0"/>
                        </a:spcAft>
                      </a:pPr>
                      <a:r>
                        <a:rPr lang="en-US" sz="1200" kern="100" dirty="0">
                          <a:effectLst/>
                        </a:rPr>
                        <a:t>3</a:t>
                      </a:r>
                      <a:endParaRPr lang="zh-CN" sz="1200" kern="100" dirty="0">
                        <a:effectLst/>
                        <a:latin typeface="Times New Roman"/>
                        <a:ea typeface="宋体"/>
                      </a:endParaRPr>
                    </a:p>
                  </a:txBody>
                  <a:tcPr marL="68580" marR="68580" marT="0" marB="0" anchor="ctr"/>
                </a:tc>
              </a:tr>
              <a:tr h="431800">
                <a:tc>
                  <a:txBody>
                    <a:bodyPr/>
                    <a:lstStyle/>
                    <a:p>
                      <a:pPr algn="ctr">
                        <a:spcAft>
                          <a:spcPts val="0"/>
                        </a:spcAft>
                      </a:pPr>
                      <a:r>
                        <a:rPr lang="en-US" sz="1200" kern="100">
                          <a:effectLst/>
                        </a:rPr>
                        <a:t>C6</a:t>
                      </a:r>
                      <a:endParaRPr lang="zh-CN" sz="1200" kern="100">
                        <a:effectLst/>
                        <a:latin typeface="Times New Roman"/>
                        <a:ea typeface="宋体"/>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00" dirty="0" smtClean="0">
                          <a:effectLst/>
                        </a:rPr>
                        <a:t>On the interface surface</a:t>
                      </a:r>
                      <a:r>
                        <a:rPr lang="en-US" altLang="zh-CN" sz="1200" kern="100" baseline="0" dirty="0" smtClean="0">
                          <a:effectLst/>
                        </a:rPr>
                        <a:t> of </a:t>
                      </a:r>
                      <a:r>
                        <a:rPr lang="en-US" altLang="zh-CN" sz="1200" kern="100" dirty="0" smtClean="0">
                          <a:effectLst/>
                        </a:rPr>
                        <a:t>propellant cabin and electrical</a:t>
                      </a:r>
                      <a:r>
                        <a:rPr lang="en-US" altLang="zh-CN" sz="1200" kern="100" baseline="0" dirty="0" smtClean="0">
                          <a:effectLst/>
                        </a:rPr>
                        <a:t> cabin,  the position </a:t>
                      </a:r>
                      <a:r>
                        <a:rPr lang="en-US" altLang="zh-CN" sz="1200" kern="100" dirty="0" smtClean="0">
                          <a:effectLst/>
                        </a:rPr>
                        <a:t>corresponding</a:t>
                      </a:r>
                      <a:r>
                        <a:rPr lang="en-US" altLang="zh-CN" sz="1200" kern="100" baseline="0" dirty="0" smtClean="0">
                          <a:effectLst/>
                        </a:rPr>
                        <a:t> to c</a:t>
                      </a:r>
                      <a:r>
                        <a:rPr lang="en-US" altLang="zh-CN" sz="1200" kern="100" dirty="0" smtClean="0">
                          <a:effectLst/>
                        </a:rPr>
                        <a:t>lamp bond end 3</a:t>
                      </a:r>
                    </a:p>
                  </a:txBody>
                  <a:tcPr marL="68580" marR="68580" marT="0" marB="0" anchor="ctr"/>
                </a:tc>
                <a:tc>
                  <a:txBody>
                    <a:bodyPr/>
                    <a:lstStyle/>
                    <a:p>
                      <a:pPr algn="ctr">
                        <a:spcAft>
                          <a:spcPts val="0"/>
                        </a:spcAft>
                      </a:pPr>
                      <a:r>
                        <a:rPr lang="en-US" sz="1200" kern="100">
                          <a:effectLst/>
                        </a:rPr>
                        <a:t>5000g</a:t>
                      </a:r>
                      <a:endParaRPr lang="zh-CN" sz="1200" kern="100">
                        <a:effectLst/>
                        <a:latin typeface="Times New Roman"/>
                        <a:ea typeface="宋体"/>
                      </a:endParaRPr>
                    </a:p>
                  </a:txBody>
                  <a:tcPr marL="68580" marR="68580" marT="0" marB="0" anchor="ctr"/>
                </a:tc>
                <a:tc>
                  <a:txBody>
                    <a:bodyPr/>
                    <a:lstStyle/>
                    <a:p>
                      <a:pPr algn="ctr">
                        <a:spcAft>
                          <a:spcPts val="0"/>
                        </a:spcAft>
                      </a:pPr>
                      <a:r>
                        <a:rPr lang="en-US" sz="1200" kern="100" dirty="0">
                          <a:effectLst/>
                        </a:rPr>
                        <a:t>3</a:t>
                      </a:r>
                      <a:endParaRPr lang="zh-CN" sz="1200" kern="100" dirty="0">
                        <a:effectLst/>
                        <a:latin typeface="Times New Roman"/>
                        <a:ea typeface="宋体"/>
                      </a:endParaRPr>
                    </a:p>
                  </a:txBody>
                  <a:tcPr marL="68580" marR="68580" marT="0" marB="0" anchor="ctr"/>
                </a:tc>
              </a:tr>
            </a:tbl>
          </a:graphicData>
        </a:graphic>
      </p:graphicFrame>
    </p:spTree>
    <p:extLst>
      <p:ext uri="{BB962C8B-B14F-4D97-AF65-F5344CB8AC3E}">
        <p14:creationId xmlns:p14="http://schemas.microsoft.com/office/powerpoint/2010/main" val="203968982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29600" cy="1082660"/>
          </a:xfrm>
        </p:spPr>
        <p:txBody>
          <a:bodyPr>
            <a:normAutofit fontScale="90000"/>
          </a:bodyPr>
          <a:lstStyle/>
          <a:p>
            <a:r>
              <a:rPr lang="en-US" altLang="zh-CN" dirty="0"/>
              <a:t>Satellite-launching vehicle Clamp bond unlock test introduction</a:t>
            </a:r>
            <a:endParaRPr lang="zh-CN" altLang="en-US" dirty="0"/>
          </a:p>
        </p:txBody>
      </p:sp>
      <p:graphicFrame>
        <p:nvGraphicFramePr>
          <p:cNvPr id="6" name="内容占位符 5"/>
          <p:cNvGraphicFramePr>
            <a:graphicFrameLocks noGrp="1"/>
          </p:cNvGraphicFramePr>
          <p:nvPr>
            <p:ph idx="1"/>
            <p:extLst>
              <p:ext uri="{D42A27DB-BD31-4B8C-83A1-F6EECF244321}">
                <p14:modId xmlns:p14="http://schemas.microsoft.com/office/powerpoint/2010/main" val="515798143"/>
              </p:ext>
            </p:extLst>
          </p:nvPr>
        </p:nvGraphicFramePr>
        <p:xfrm>
          <a:off x="251521" y="1357315"/>
          <a:ext cx="8640958" cy="4890879"/>
        </p:xfrm>
        <a:graphic>
          <a:graphicData uri="http://schemas.openxmlformats.org/drawingml/2006/table">
            <a:tbl>
              <a:tblPr firstRow="1" firstCol="1" bandRow="1">
                <a:tableStyleId>{5C22544A-7EE6-4342-B048-85BDC9FD1C3A}</a:tableStyleId>
              </a:tblPr>
              <a:tblGrid>
                <a:gridCol w="784598"/>
                <a:gridCol w="5032494"/>
                <a:gridCol w="1496614"/>
                <a:gridCol w="1327252"/>
              </a:tblGrid>
              <a:tr h="387649">
                <a:tc>
                  <a:txBody>
                    <a:bodyPr/>
                    <a:lstStyle/>
                    <a:p>
                      <a:pPr algn="ctr">
                        <a:spcAft>
                          <a:spcPts val="0"/>
                        </a:spcAft>
                      </a:pPr>
                      <a:r>
                        <a:rPr lang="zh-CN" sz="1200" kern="100" dirty="0">
                          <a:effectLst/>
                        </a:rPr>
                        <a:t>测点</a:t>
                      </a:r>
                      <a:endParaRPr lang="zh-CN" sz="1200" kern="100" dirty="0">
                        <a:effectLst/>
                        <a:latin typeface="Times New Roman"/>
                        <a:ea typeface="宋体"/>
                      </a:endParaRPr>
                    </a:p>
                  </a:txBody>
                  <a:tcPr marL="41157" marR="41157" marT="0" marB="0" anchor="ctr"/>
                </a:tc>
                <a:tc>
                  <a:txBody>
                    <a:bodyPr/>
                    <a:lstStyle/>
                    <a:p>
                      <a:pPr algn="ctr">
                        <a:spcAft>
                          <a:spcPts val="0"/>
                        </a:spcAft>
                      </a:pPr>
                      <a:r>
                        <a:rPr lang="zh-CN" sz="1200" kern="100" dirty="0">
                          <a:effectLst/>
                        </a:rPr>
                        <a:t>测点位置</a:t>
                      </a:r>
                      <a:endParaRPr lang="zh-CN" sz="1200" kern="100" dirty="0">
                        <a:effectLst/>
                        <a:latin typeface="Times New Roman"/>
                        <a:ea typeface="宋体"/>
                      </a:endParaRPr>
                    </a:p>
                  </a:txBody>
                  <a:tcPr marL="41157" marR="41157" marT="0" marB="0" anchor="ctr"/>
                </a:tc>
                <a:tc>
                  <a:txBody>
                    <a:bodyPr/>
                    <a:lstStyle/>
                    <a:p>
                      <a:pPr algn="ctr">
                        <a:spcAft>
                          <a:spcPts val="0"/>
                        </a:spcAft>
                      </a:pPr>
                      <a:r>
                        <a:rPr lang="zh-CN" sz="1200" kern="100">
                          <a:effectLst/>
                        </a:rPr>
                        <a:t>量程</a:t>
                      </a:r>
                      <a:endParaRPr lang="zh-CN" sz="1200" kern="100">
                        <a:effectLst/>
                        <a:latin typeface="Times New Roman"/>
                        <a:ea typeface="宋体"/>
                      </a:endParaRPr>
                    </a:p>
                  </a:txBody>
                  <a:tcPr marL="41157" marR="41157" marT="0" marB="0" anchor="ctr"/>
                </a:tc>
                <a:tc>
                  <a:txBody>
                    <a:bodyPr/>
                    <a:lstStyle/>
                    <a:p>
                      <a:pPr algn="ctr">
                        <a:spcAft>
                          <a:spcPts val="0"/>
                        </a:spcAft>
                      </a:pPr>
                      <a:r>
                        <a:rPr lang="zh-CN" sz="1200" kern="100">
                          <a:effectLst/>
                        </a:rPr>
                        <a:t>方向</a:t>
                      </a:r>
                      <a:endParaRPr lang="zh-CN" sz="1200" kern="100">
                        <a:effectLst/>
                        <a:latin typeface="Times New Roman"/>
                        <a:ea typeface="宋体"/>
                      </a:endParaRPr>
                    </a:p>
                  </a:txBody>
                  <a:tcPr marL="41157" marR="41157" marT="0" marB="0" anchor="ctr"/>
                </a:tc>
              </a:tr>
              <a:tr h="387649">
                <a:tc>
                  <a:txBody>
                    <a:bodyPr/>
                    <a:lstStyle/>
                    <a:p>
                      <a:pPr algn="ctr">
                        <a:spcAft>
                          <a:spcPts val="0"/>
                        </a:spcAft>
                      </a:pPr>
                      <a:r>
                        <a:rPr lang="en-US" sz="1200" kern="100" dirty="0">
                          <a:effectLst/>
                        </a:rPr>
                        <a:t>C7</a:t>
                      </a:r>
                      <a:endParaRPr lang="zh-CN" sz="1200" kern="100" dirty="0">
                        <a:effectLst/>
                        <a:latin typeface="Times New Roman"/>
                        <a:ea typeface="宋体"/>
                      </a:endParaRPr>
                    </a:p>
                  </a:txBody>
                  <a:tcPr marL="41157" marR="41157" marT="0" marB="0" anchor="ctr"/>
                </a:tc>
                <a:tc>
                  <a:txBody>
                    <a:bodyPr/>
                    <a:lstStyle/>
                    <a:p>
                      <a:pPr algn="ctr">
                        <a:spcAft>
                          <a:spcPts val="0"/>
                        </a:spcAft>
                      </a:pPr>
                      <a:r>
                        <a:rPr lang="en-US" altLang="zh-CN" sz="1200" kern="100" dirty="0" smtClean="0">
                          <a:effectLst/>
                        </a:rPr>
                        <a:t>Position 1</a:t>
                      </a:r>
                      <a:r>
                        <a:rPr lang="en-US" altLang="zh-CN" sz="1200" kern="100" baseline="0" dirty="0" smtClean="0">
                          <a:effectLst/>
                        </a:rPr>
                        <a:t> on the bottom panel of electrical cabin of satellite</a:t>
                      </a:r>
                      <a:endParaRPr lang="zh-CN" sz="1200" kern="100" dirty="0">
                        <a:effectLst/>
                        <a:latin typeface="Times New Roman"/>
                        <a:ea typeface="宋体"/>
                      </a:endParaRPr>
                    </a:p>
                  </a:txBody>
                  <a:tcPr marL="41157" marR="41157" marT="0" marB="0" anchor="ctr"/>
                </a:tc>
                <a:tc>
                  <a:txBody>
                    <a:bodyPr/>
                    <a:lstStyle/>
                    <a:p>
                      <a:pPr algn="ctr">
                        <a:spcAft>
                          <a:spcPts val="0"/>
                        </a:spcAft>
                      </a:pPr>
                      <a:r>
                        <a:rPr lang="en-US" sz="1200" kern="100">
                          <a:effectLst/>
                        </a:rPr>
                        <a:t>5000g</a:t>
                      </a:r>
                      <a:endParaRPr lang="zh-CN" sz="1200" kern="100">
                        <a:effectLst/>
                        <a:latin typeface="Times New Roman"/>
                        <a:ea typeface="宋体"/>
                      </a:endParaRPr>
                    </a:p>
                  </a:txBody>
                  <a:tcPr marL="41157" marR="41157" marT="0" marB="0" anchor="ctr"/>
                </a:tc>
                <a:tc>
                  <a:txBody>
                    <a:bodyPr/>
                    <a:lstStyle/>
                    <a:p>
                      <a:pPr algn="ctr">
                        <a:spcAft>
                          <a:spcPts val="0"/>
                        </a:spcAft>
                      </a:pPr>
                      <a:r>
                        <a:rPr lang="en-US" sz="1200" kern="100">
                          <a:effectLst/>
                        </a:rPr>
                        <a:t>3</a:t>
                      </a:r>
                      <a:endParaRPr lang="zh-CN" sz="1200" kern="100">
                        <a:effectLst/>
                        <a:latin typeface="Times New Roman"/>
                        <a:ea typeface="宋体"/>
                      </a:endParaRPr>
                    </a:p>
                  </a:txBody>
                  <a:tcPr marL="41157" marR="41157" marT="0" marB="0" anchor="ctr"/>
                </a:tc>
              </a:tr>
              <a:tr h="387649">
                <a:tc>
                  <a:txBody>
                    <a:bodyPr/>
                    <a:lstStyle/>
                    <a:p>
                      <a:pPr algn="ctr">
                        <a:spcAft>
                          <a:spcPts val="0"/>
                        </a:spcAft>
                      </a:pPr>
                      <a:r>
                        <a:rPr lang="en-US" sz="1200" kern="100">
                          <a:effectLst/>
                        </a:rPr>
                        <a:t>C8</a:t>
                      </a:r>
                      <a:endParaRPr lang="zh-CN" sz="1200" kern="100">
                        <a:effectLst/>
                        <a:latin typeface="Times New Roman"/>
                        <a:ea typeface="宋体"/>
                      </a:endParaRPr>
                    </a:p>
                  </a:txBody>
                  <a:tcPr marL="41157" marR="41157" marT="0" marB="0" anchor="ctr"/>
                </a:tc>
                <a:tc>
                  <a:txBody>
                    <a:bodyPr/>
                    <a:lstStyle/>
                    <a:p>
                      <a:pPr algn="ctr">
                        <a:spcAft>
                          <a:spcPts val="0"/>
                        </a:spcAft>
                      </a:pPr>
                      <a:r>
                        <a:rPr lang="en-US" altLang="zh-CN" sz="1200" kern="100" dirty="0" smtClean="0">
                          <a:effectLst/>
                        </a:rPr>
                        <a:t>Position 2</a:t>
                      </a:r>
                      <a:r>
                        <a:rPr lang="en-US" altLang="zh-CN" sz="1200" kern="100" baseline="0" dirty="0" smtClean="0">
                          <a:effectLst/>
                        </a:rPr>
                        <a:t> on the bottom panel of electrical cabin of satellite</a:t>
                      </a:r>
                      <a:endParaRPr lang="zh-CN" altLang="zh-CN" sz="1200" kern="100" dirty="0">
                        <a:effectLst/>
                        <a:latin typeface="Times New Roman"/>
                        <a:ea typeface="+mn-ea"/>
                      </a:endParaRPr>
                    </a:p>
                  </a:txBody>
                  <a:tcPr marL="41157" marR="41157" marT="0" marB="0" anchor="ctr"/>
                </a:tc>
                <a:tc>
                  <a:txBody>
                    <a:bodyPr/>
                    <a:lstStyle/>
                    <a:p>
                      <a:pPr algn="ctr">
                        <a:spcAft>
                          <a:spcPts val="0"/>
                        </a:spcAft>
                      </a:pPr>
                      <a:r>
                        <a:rPr lang="en-US" sz="1200" kern="100">
                          <a:effectLst/>
                        </a:rPr>
                        <a:t>5000g</a:t>
                      </a:r>
                      <a:endParaRPr lang="zh-CN" sz="1200" kern="100">
                        <a:effectLst/>
                        <a:latin typeface="Times New Roman"/>
                        <a:ea typeface="宋体"/>
                      </a:endParaRPr>
                    </a:p>
                  </a:txBody>
                  <a:tcPr marL="41157" marR="41157" marT="0" marB="0" anchor="ctr"/>
                </a:tc>
                <a:tc>
                  <a:txBody>
                    <a:bodyPr/>
                    <a:lstStyle/>
                    <a:p>
                      <a:pPr algn="ctr">
                        <a:spcAft>
                          <a:spcPts val="0"/>
                        </a:spcAft>
                      </a:pPr>
                      <a:r>
                        <a:rPr lang="en-US" sz="1200" kern="100">
                          <a:effectLst/>
                        </a:rPr>
                        <a:t>3</a:t>
                      </a:r>
                      <a:endParaRPr lang="zh-CN" sz="1200" kern="100">
                        <a:effectLst/>
                        <a:latin typeface="Times New Roman"/>
                        <a:ea typeface="宋体"/>
                      </a:endParaRPr>
                    </a:p>
                  </a:txBody>
                  <a:tcPr marL="41157" marR="41157" marT="0" marB="0" anchor="ctr"/>
                </a:tc>
              </a:tr>
              <a:tr h="387649">
                <a:tc>
                  <a:txBody>
                    <a:bodyPr/>
                    <a:lstStyle/>
                    <a:p>
                      <a:pPr algn="ctr">
                        <a:spcAft>
                          <a:spcPts val="0"/>
                        </a:spcAft>
                      </a:pPr>
                      <a:r>
                        <a:rPr lang="en-US" sz="1200" kern="100">
                          <a:effectLst/>
                        </a:rPr>
                        <a:t>C9</a:t>
                      </a:r>
                      <a:endParaRPr lang="zh-CN" sz="1200" kern="100">
                        <a:effectLst/>
                        <a:latin typeface="Times New Roman"/>
                        <a:ea typeface="宋体"/>
                      </a:endParaRPr>
                    </a:p>
                  </a:txBody>
                  <a:tcPr marL="41157" marR="41157" marT="0" marB="0" anchor="ctr"/>
                </a:tc>
                <a:tc>
                  <a:txBody>
                    <a:bodyPr/>
                    <a:lstStyle/>
                    <a:p>
                      <a:pPr algn="ctr">
                        <a:spcAft>
                          <a:spcPts val="0"/>
                        </a:spcAft>
                      </a:pPr>
                      <a:r>
                        <a:rPr lang="en-US" altLang="zh-CN" sz="1200" kern="100" dirty="0" smtClean="0">
                          <a:effectLst/>
                          <a:latin typeface="Times New Roman"/>
                          <a:ea typeface="宋体"/>
                        </a:rPr>
                        <a:t>…….</a:t>
                      </a:r>
                      <a:endParaRPr lang="zh-CN" sz="1200" kern="100" dirty="0">
                        <a:effectLst/>
                        <a:latin typeface="Times New Roman"/>
                        <a:ea typeface="宋体"/>
                      </a:endParaRPr>
                    </a:p>
                  </a:txBody>
                  <a:tcPr marL="41157" marR="41157" marT="0" marB="0" anchor="ctr"/>
                </a:tc>
                <a:tc>
                  <a:txBody>
                    <a:bodyPr/>
                    <a:lstStyle/>
                    <a:p>
                      <a:pPr algn="ctr">
                        <a:spcAft>
                          <a:spcPts val="0"/>
                        </a:spcAft>
                      </a:pPr>
                      <a:r>
                        <a:rPr lang="en-US" sz="1200" kern="100">
                          <a:effectLst/>
                        </a:rPr>
                        <a:t>5000g</a:t>
                      </a:r>
                      <a:endParaRPr lang="zh-CN" sz="1200" kern="100">
                        <a:effectLst/>
                        <a:latin typeface="Times New Roman"/>
                        <a:ea typeface="宋体"/>
                      </a:endParaRPr>
                    </a:p>
                  </a:txBody>
                  <a:tcPr marL="41157" marR="41157" marT="0" marB="0" anchor="ctr"/>
                </a:tc>
                <a:tc>
                  <a:txBody>
                    <a:bodyPr/>
                    <a:lstStyle/>
                    <a:p>
                      <a:pPr algn="ctr">
                        <a:spcAft>
                          <a:spcPts val="0"/>
                        </a:spcAft>
                      </a:pPr>
                      <a:r>
                        <a:rPr lang="en-US" sz="1200" kern="100">
                          <a:effectLst/>
                        </a:rPr>
                        <a:t>3</a:t>
                      </a:r>
                      <a:endParaRPr lang="zh-CN" sz="1200" kern="100">
                        <a:effectLst/>
                        <a:latin typeface="Times New Roman"/>
                        <a:ea typeface="宋体"/>
                      </a:endParaRPr>
                    </a:p>
                  </a:txBody>
                  <a:tcPr marL="41157" marR="41157" marT="0" marB="0" anchor="ctr"/>
                </a:tc>
              </a:tr>
              <a:tr h="387649">
                <a:tc>
                  <a:txBody>
                    <a:bodyPr/>
                    <a:lstStyle/>
                    <a:p>
                      <a:pPr algn="ctr">
                        <a:spcAft>
                          <a:spcPts val="0"/>
                        </a:spcAft>
                      </a:pPr>
                      <a:r>
                        <a:rPr lang="en-US" sz="1200" kern="100">
                          <a:effectLst/>
                        </a:rPr>
                        <a:t>C10</a:t>
                      </a:r>
                      <a:endParaRPr lang="zh-CN" sz="1200" kern="100">
                        <a:effectLst/>
                        <a:latin typeface="Times New Roman"/>
                        <a:ea typeface="宋体"/>
                      </a:endParaRPr>
                    </a:p>
                  </a:txBody>
                  <a:tcPr marL="41157" marR="41157"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00" dirty="0" smtClean="0">
                          <a:effectLst/>
                        </a:rPr>
                        <a:t>Position 1</a:t>
                      </a:r>
                      <a:r>
                        <a:rPr lang="en-US" altLang="zh-CN" sz="1200" kern="100" baseline="0" dirty="0" smtClean="0">
                          <a:effectLst/>
                        </a:rPr>
                        <a:t> on the long web of electrical cabin of satellite</a:t>
                      </a:r>
                      <a:endParaRPr lang="zh-CN" altLang="zh-CN" sz="1200" kern="100" dirty="0" smtClean="0">
                        <a:effectLst/>
                        <a:latin typeface="Times New Roman"/>
                        <a:ea typeface="+mn-ea"/>
                      </a:endParaRPr>
                    </a:p>
                  </a:txBody>
                  <a:tcPr marL="41157" marR="41157" marT="0" marB="0" anchor="ctr"/>
                </a:tc>
                <a:tc>
                  <a:txBody>
                    <a:bodyPr/>
                    <a:lstStyle/>
                    <a:p>
                      <a:pPr algn="ctr">
                        <a:spcAft>
                          <a:spcPts val="0"/>
                        </a:spcAft>
                      </a:pPr>
                      <a:r>
                        <a:rPr lang="en-US" sz="1200" kern="100" dirty="0">
                          <a:effectLst/>
                        </a:rPr>
                        <a:t>5000g</a:t>
                      </a:r>
                      <a:endParaRPr lang="zh-CN" sz="1200" kern="100" dirty="0">
                        <a:effectLst/>
                        <a:latin typeface="Times New Roman"/>
                        <a:ea typeface="宋体"/>
                      </a:endParaRPr>
                    </a:p>
                  </a:txBody>
                  <a:tcPr marL="41157" marR="41157" marT="0" marB="0" anchor="ctr"/>
                </a:tc>
                <a:tc>
                  <a:txBody>
                    <a:bodyPr/>
                    <a:lstStyle/>
                    <a:p>
                      <a:pPr algn="ctr">
                        <a:spcAft>
                          <a:spcPts val="0"/>
                        </a:spcAft>
                      </a:pPr>
                      <a:r>
                        <a:rPr lang="en-US" sz="1200" kern="100">
                          <a:effectLst/>
                        </a:rPr>
                        <a:t>3</a:t>
                      </a:r>
                      <a:endParaRPr lang="zh-CN" sz="1200" kern="100">
                        <a:effectLst/>
                        <a:latin typeface="Times New Roman"/>
                        <a:ea typeface="宋体"/>
                      </a:endParaRPr>
                    </a:p>
                  </a:txBody>
                  <a:tcPr marL="41157" marR="41157" marT="0" marB="0" anchor="ctr"/>
                </a:tc>
              </a:tr>
              <a:tr h="387649">
                <a:tc>
                  <a:txBody>
                    <a:bodyPr/>
                    <a:lstStyle/>
                    <a:p>
                      <a:pPr algn="ctr">
                        <a:spcAft>
                          <a:spcPts val="0"/>
                        </a:spcAft>
                      </a:pPr>
                      <a:r>
                        <a:rPr lang="en-US" sz="1200" kern="100">
                          <a:effectLst/>
                        </a:rPr>
                        <a:t>C11</a:t>
                      </a:r>
                      <a:endParaRPr lang="zh-CN" sz="1200" kern="100">
                        <a:effectLst/>
                        <a:latin typeface="Times New Roman"/>
                        <a:ea typeface="宋体"/>
                      </a:endParaRPr>
                    </a:p>
                  </a:txBody>
                  <a:tcPr marL="41157" marR="41157"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00" dirty="0" smtClean="0">
                          <a:effectLst/>
                        </a:rPr>
                        <a:t>Position 2</a:t>
                      </a:r>
                      <a:r>
                        <a:rPr lang="en-US" altLang="zh-CN" sz="1200" kern="100" baseline="0" dirty="0" smtClean="0">
                          <a:effectLst/>
                        </a:rPr>
                        <a:t> on the long web of electrical cabin of satellite</a:t>
                      </a:r>
                      <a:endParaRPr lang="zh-CN" altLang="zh-CN" sz="1200" kern="100" dirty="0" smtClean="0">
                        <a:effectLst/>
                        <a:latin typeface="Times New Roman"/>
                        <a:ea typeface="+mn-ea"/>
                      </a:endParaRPr>
                    </a:p>
                  </a:txBody>
                  <a:tcPr marL="41157" marR="41157" marT="0" marB="0" anchor="ctr"/>
                </a:tc>
                <a:tc>
                  <a:txBody>
                    <a:bodyPr/>
                    <a:lstStyle/>
                    <a:p>
                      <a:pPr algn="ctr">
                        <a:spcAft>
                          <a:spcPts val="0"/>
                        </a:spcAft>
                      </a:pPr>
                      <a:r>
                        <a:rPr lang="en-US" sz="1200" kern="100" dirty="0">
                          <a:effectLst/>
                        </a:rPr>
                        <a:t>5000g</a:t>
                      </a:r>
                      <a:endParaRPr lang="zh-CN" sz="1200" kern="100" dirty="0">
                        <a:effectLst/>
                        <a:latin typeface="Times New Roman"/>
                        <a:ea typeface="宋体"/>
                      </a:endParaRPr>
                    </a:p>
                  </a:txBody>
                  <a:tcPr marL="41157" marR="41157" marT="0" marB="0" anchor="ctr"/>
                </a:tc>
                <a:tc>
                  <a:txBody>
                    <a:bodyPr/>
                    <a:lstStyle/>
                    <a:p>
                      <a:pPr algn="ctr">
                        <a:spcAft>
                          <a:spcPts val="0"/>
                        </a:spcAft>
                      </a:pPr>
                      <a:r>
                        <a:rPr lang="en-US" sz="1200" kern="100">
                          <a:effectLst/>
                        </a:rPr>
                        <a:t>3</a:t>
                      </a:r>
                      <a:endParaRPr lang="zh-CN" sz="1200" kern="100">
                        <a:effectLst/>
                        <a:latin typeface="Times New Roman"/>
                        <a:ea typeface="宋体"/>
                      </a:endParaRPr>
                    </a:p>
                  </a:txBody>
                  <a:tcPr marL="41157" marR="41157" marT="0" marB="0" anchor="ctr"/>
                </a:tc>
              </a:tr>
              <a:tr h="387649">
                <a:tc>
                  <a:txBody>
                    <a:bodyPr/>
                    <a:lstStyle/>
                    <a:p>
                      <a:pPr algn="ctr">
                        <a:spcAft>
                          <a:spcPts val="0"/>
                        </a:spcAft>
                      </a:pPr>
                      <a:r>
                        <a:rPr lang="en-US" sz="1200" kern="100">
                          <a:effectLst/>
                        </a:rPr>
                        <a:t>C12</a:t>
                      </a:r>
                      <a:endParaRPr lang="zh-CN" sz="1200" kern="100">
                        <a:effectLst/>
                        <a:latin typeface="Times New Roman"/>
                        <a:ea typeface="宋体"/>
                      </a:endParaRPr>
                    </a:p>
                  </a:txBody>
                  <a:tcPr marL="41157" marR="41157" marT="0" marB="0" anchor="ctr"/>
                </a:tc>
                <a:tc>
                  <a:txBody>
                    <a:bodyPr/>
                    <a:lstStyle/>
                    <a:p>
                      <a:pPr algn="ctr">
                        <a:spcAft>
                          <a:spcPts val="0"/>
                        </a:spcAft>
                      </a:pPr>
                      <a:r>
                        <a:rPr lang="en-US" altLang="zh-CN" sz="1200" kern="100" dirty="0" smtClean="0">
                          <a:effectLst/>
                          <a:latin typeface="Times New Roman"/>
                          <a:ea typeface="宋体"/>
                        </a:rPr>
                        <a:t>…….</a:t>
                      </a:r>
                      <a:endParaRPr lang="zh-CN" sz="1200" kern="100" dirty="0">
                        <a:effectLst/>
                        <a:latin typeface="Times New Roman"/>
                        <a:ea typeface="宋体"/>
                      </a:endParaRPr>
                    </a:p>
                  </a:txBody>
                  <a:tcPr marL="41157" marR="41157" marT="0" marB="0" anchor="ctr"/>
                </a:tc>
                <a:tc>
                  <a:txBody>
                    <a:bodyPr/>
                    <a:lstStyle/>
                    <a:p>
                      <a:pPr algn="ctr">
                        <a:spcAft>
                          <a:spcPts val="0"/>
                        </a:spcAft>
                      </a:pPr>
                      <a:r>
                        <a:rPr lang="en-US" sz="1200" kern="100" dirty="0">
                          <a:effectLst/>
                        </a:rPr>
                        <a:t>5000g</a:t>
                      </a:r>
                      <a:endParaRPr lang="zh-CN" sz="1200" kern="100" dirty="0">
                        <a:effectLst/>
                        <a:latin typeface="Times New Roman"/>
                        <a:ea typeface="宋体"/>
                      </a:endParaRPr>
                    </a:p>
                  </a:txBody>
                  <a:tcPr marL="41157" marR="41157" marT="0" marB="0" anchor="ctr"/>
                </a:tc>
                <a:tc>
                  <a:txBody>
                    <a:bodyPr/>
                    <a:lstStyle/>
                    <a:p>
                      <a:pPr algn="ctr">
                        <a:spcAft>
                          <a:spcPts val="0"/>
                        </a:spcAft>
                      </a:pPr>
                      <a:r>
                        <a:rPr lang="en-US" sz="1200" kern="100">
                          <a:effectLst/>
                        </a:rPr>
                        <a:t>3</a:t>
                      </a:r>
                      <a:endParaRPr lang="zh-CN" sz="1200" kern="100">
                        <a:effectLst/>
                        <a:latin typeface="Times New Roman"/>
                        <a:ea typeface="宋体"/>
                      </a:endParaRPr>
                    </a:p>
                  </a:txBody>
                  <a:tcPr marL="41157" marR="41157" marT="0" marB="0" anchor="ctr"/>
                </a:tc>
              </a:tr>
              <a:tr h="387649">
                <a:tc>
                  <a:txBody>
                    <a:bodyPr/>
                    <a:lstStyle/>
                    <a:p>
                      <a:pPr algn="ctr">
                        <a:spcAft>
                          <a:spcPts val="0"/>
                        </a:spcAft>
                      </a:pPr>
                      <a:r>
                        <a:rPr lang="en-US" sz="1200" kern="100">
                          <a:effectLst/>
                        </a:rPr>
                        <a:t>C13</a:t>
                      </a:r>
                      <a:endParaRPr lang="zh-CN" sz="1200" kern="100">
                        <a:effectLst/>
                        <a:latin typeface="Times New Roman"/>
                        <a:ea typeface="宋体"/>
                      </a:endParaRPr>
                    </a:p>
                  </a:txBody>
                  <a:tcPr marL="41157" marR="41157"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00" dirty="0" smtClean="0">
                          <a:effectLst/>
                        </a:rPr>
                        <a:t>Position </a:t>
                      </a:r>
                      <a:r>
                        <a:rPr lang="en-US" altLang="zh-CN" sz="1200" kern="100" baseline="0" dirty="0" smtClean="0">
                          <a:effectLst/>
                        </a:rPr>
                        <a:t>on the bottom panel of payload cabin of satellite</a:t>
                      </a:r>
                      <a:endParaRPr lang="zh-CN" altLang="zh-CN" sz="1200" kern="100" dirty="0" smtClean="0">
                        <a:effectLst/>
                        <a:latin typeface="Times New Roman"/>
                        <a:ea typeface="+mn-ea"/>
                      </a:endParaRPr>
                    </a:p>
                  </a:txBody>
                  <a:tcPr marL="41157" marR="41157" marT="0" marB="0" anchor="ctr"/>
                </a:tc>
                <a:tc>
                  <a:txBody>
                    <a:bodyPr/>
                    <a:lstStyle/>
                    <a:p>
                      <a:pPr algn="ctr">
                        <a:spcAft>
                          <a:spcPts val="0"/>
                        </a:spcAft>
                      </a:pPr>
                      <a:r>
                        <a:rPr lang="en-US" sz="1200" kern="100" dirty="0">
                          <a:effectLst/>
                        </a:rPr>
                        <a:t>5000g</a:t>
                      </a:r>
                      <a:endParaRPr lang="zh-CN" sz="1200" kern="100" dirty="0">
                        <a:effectLst/>
                        <a:latin typeface="Times New Roman"/>
                        <a:ea typeface="宋体"/>
                      </a:endParaRPr>
                    </a:p>
                  </a:txBody>
                  <a:tcPr marL="41157" marR="41157" marT="0" marB="0" anchor="ctr"/>
                </a:tc>
                <a:tc>
                  <a:txBody>
                    <a:bodyPr/>
                    <a:lstStyle/>
                    <a:p>
                      <a:pPr algn="ctr">
                        <a:spcAft>
                          <a:spcPts val="0"/>
                        </a:spcAft>
                      </a:pPr>
                      <a:r>
                        <a:rPr lang="en-US" sz="1200" kern="100">
                          <a:effectLst/>
                        </a:rPr>
                        <a:t>3</a:t>
                      </a:r>
                      <a:endParaRPr lang="zh-CN" sz="1200" kern="100">
                        <a:effectLst/>
                        <a:latin typeface="Times New Roman"/>
                        <a:ea typeface="宋体"/>
                      </a:endParaRPr>
                    </a:p>
                  </a:txBody>
                  <a:tcPr marL="41157" marR="41157" marT="0" marB="0" anchor="ctr"/>
                </a:tc>
              </a:tr>
              <a:tr h="387649">
                <a:tc>
                  <a:txBody>
                    <a:bodyPr/>
                    <a:lstStyle/>
                    <a:p>
                      <a:pPr algn="ctr">
                        <a:spcAft>
                          <a:spcPts val="0"/>
                        </a:spcAft>
                      </a:pPr>
                      <a:r>
                        <a:rPr lang="en-US" sz="1200" kern="100">
                          <a:effectLst/>
                        </a:rPr>
                        <a:t>C14</a:t>
                      </a:r>
                      <a:endParaRPr lang="zh-CN" sz="1200" kern="100">
                        <a:effectLst/>
                        <a:latin typeface="Times New Roman"/>
                        <a:ea typeface="宋体"/>
                      </a:endParaRPr>
                    </a:p>
                  </a:txBody>
                  <a:tcPr marL="41157" marR="41157"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00" dirty="0" smtClean="0">
                          <a:effectLst/>
                        </a:rPr>
                        <a:t>Position</a:t>
                      </a:r>
                      <a:r>
                        <a:rPr lang="en-US" altLang="zh-CN" sz="1200" kern="100" baseline="0" dirty="0" smtClean="0">
                          <a:effectLst/>
                        </a:rPr>
                        <a:t> on the top panel of payload cabin of satellite</a:t>
                      </a:r>
                      <a:endParaRPr lang="zh-CN" altLang="zh-CN" sz="1200" kern="100" dirty="0" smtClean="0">
                        <a:effectLst/>
                        <a:latin typeface="Times New Roman"/>
                        <a:ea typeface="+mn-ea"/>
                      </a:endParaRPr>
                    </a:p>
                  </a:txBody>
                  <a:tcPr marL="41157" marR="41157" marT="0" marB="0" anchor="ctr"/>
                </a:tc>
                <a:tc>
                  <a:txBody>
                    <a:bodyPr/>
                    <a:lstStyle/>
                    <a:p>
                      <a:pPr algn="ctr">
                        <a:spcAft>
                          <a:spcPts val="0"/>
                        </a:spcAft>
                      </a:pPr>
                      <a:r>
                        <a:rPr lang="en-US" sz="1200" kern="100" dirty="0">
                          <a:effectLst/>
                        </a:rPr>
                        <a:t>5000g</a:t>
                      </a:r>
                      <a:endParaRPr lang="zh-CN" sz="1200" kern="100" dirty="0">
                        <a:effectLst/>
                        <a:latin typeface="Times New Roman"/>
                        <a:ea typeface="宋体"/>
                      </a:endParaRPr>
                    </a:p>
                  </a:txBody>
                  <a:tcPr marL="41157" marR="41157" marT="0" marB="0" anchor="ctr"/>
                </a:tc>
                <a:tc>
                  <a:txBody>
                    <a:bodyPr/>
                    <a:lstStyle/>
                    <a:p>
                      <a:pPr algn="ctr">
                        <a:spcAft>
                          <a:spcPts val="0"/>
                        </a:spcAft>
                      </a:pPr>
                      <a:r>
                        <a:rPr lang="en-US" sz="1200" kern="100">
                          <a:effectLst/>
                        </a:rPr>
                        <a:t>3</a:t>
                      </a:r>
                      <a:endParaRPr lang="zh-CN" sz="1200" kern="100">
                        <a:effectLst/>
                        <a:latin typeface="Times New Roman"/>
                        <a:ea typeface="宋体"/>
                      </a:endParaRPr>
                    </a:p>
                  </a:txBody>
                  <a:tcPr marL="41157" marR="41157" marT="0" marB="0" anchor="ctr"/>
                </a:tc>
              </a:tr>
              <a:tr h="387649">
                <a:tc>
                  <a:txBody>
                    <a:bodyPr/>
                    <a:lstStyle/>
                    <a:p>
                      <a:pPr algn="ctr">
                        <a:spcAft>
                          <a:spcPts val="0"/>
                        </a:spcAft>
                      </a:pPr>
                      <a:r>
                        <a:rPr lang="en-US" sz="1200" kern="100">
                          <a:effectLst/>
                        </a:rPr>
                        <a:t>C15</a:t>
                      </a:r>
                      <a:endParaRPr lang="zh-CN" sz="1200" kern="100">
                        <a:effectLst/>
                        <a:latin typeface="Times New Roman"/>
                        <a:ea typeface="宋体"/>
                      </a:endParaRPr>
                    </a:p>
                  </a:txBody>
                  <a:tcPr marL="41157" marR="41157" marT="0" marB="0" anchor="ctr"/>
                </a:tc>
                <a:tc>
                  <a:txBody>
                    <a:bodyPr/>
                    <a:lstStyle/>
                    <a:p>
                      <a:pPr algn="ctr">
                        <a:spcAft>
                          <a:spcPts val="0"/>
                        </a:spcAft>
                      </a:pPr>
                      <a:r>
                        <a:rPr lang="en-US" altLang="zh-CN" sz="1200" kern="100" dirty="0" smtClean="0">
                          <a:effectLst/>
                          <a:latin typeface="Times New Roman"/>
                          <a:ea typeface="宋体"/>
                        </a:rPr>
                        <a:t>……</a:t>
                      </a:r>
                      <a:endParaRPr lang="zh-CN" sz="1200" kern="100" dirty="0">
                        <a:effectLst/>
                        <a:latin typeface="Times New Roman"/>
                        <a:ea typeface="宋体"/>
                      </a:endParaRPr>
                    </a:p>
                  </a:txBody>
                  <a:tcPr marL="41157" marR="41157" marT="0" marB="0" anchor="ctr"/>
                </a:tc>
                <a:tc>
                  <a:txBody>
                    <a:bodyPr/>
                    <a:lstStyle/>
                    <a:p>
                      <a:pPr algn="ctr">
                        <a:spcAft>
                          <a:spcPts val="0"/>
                        </a:spcAft>
                      </a:pPr>
                      <a:r>
                        <a:rPr lang="en-US" sz="1200" kern="100" dirty="0">
                          <a:effectLst/>
                        </a:rPr>
                        <a:t>5000g</a:t>
                      </a:r>
                      <a:endParaRPr lang="zh-CN" sz="1200" kern="100" dirty="0">
                        <a:effectLst/>
                        <a:latin typeface="Times New Roman"/>
                        <a:ea typeface="宋体"/>
                      </a:endParaRPr>
                    </a:p>
                  </a:txBody>
                  <a:tcPr marL="41157" marR="41157" marT="0" marB="0" anchor="ctr"/>
                </a:tc>
                <a:tc>
                  <a:txBody>
                    <a:bodyPr/>
                    <a:lstStyle/>
                    <a:p>
                      <a:pPr algn="ctr">
                        <a:spcAft>
                          <a:spcPts val="0"/>
                        </a:spcAft>
                      </a:pPr>
                      <a:r>
                        <a:rPr lang="en-US" sz="1200" kern="100" dirty="0">
                          <a:effectLst/>
                        </a:rPr>
                        <a:t>3</a:t>
                      </a:r>
                      <a:endParaRPr lang="zh-CN" sz="1200" kern="100" dirty="0">
                        <a:effectLst/>
                        <a:latin typeface="Times New Roman"/>
                        <a:ea typeface="宋体"/>
                      </a:endParaRPr>
                    </a:p>
                  </a:txBody>
                  <a:tcPr marL="41157" marR="41157" marT="0" marB="0" anchor="ctr"/>
                </a:tc>
              </a:tr>
              <a:tr h="465749">
                <a:tc>
                  <a:txBody>
                    <a:bodyPr/>
                    <a:lstStyle/>
                    <a:p>
                      <a:pPr algn="ctr">
                        <a:spcAft>
                          <a:spcPts val="0"/>
                        </a:spcAft>
                      </a:pPr>
                      <a:r>
                        <a:rPr lang="en-US" sz="1200" kern="100">
                          <a:effectLst/>
                        </a:rPr>
                        <a:t>C16</a:t>
                      </a:r>
                      <a:endParaRPr lang="zh-CN" sz="1200" kern="100">
                        <a:effectLst/>
                        <a:latin typeface="Times New Roman"/>
                        <a:ea typeface="宋体"/>
                      </a:endParaRPr>
                    </a:p>
                  </a:txBody>
                  <a:tcPr marL="41157" marR="41157" marT="0" marB="0" anchor="ctr"/>
                </a:tc>
                <a:tc>
                  <a:txBody>
                    <a:bodyPr/>
                    <a:lstStyle/>
                    <a:p>
                      <a:pPr algn="ctr">
                        <a:spcAft>
                          <a:spcPts val="0"/>
                        </a:spcAft>
                      </a:pPr>
                      <a:endParaRPr lang="en-US" altLang="zh-CN" sz="1200" kern="100" dirty="0" smtClean="0">
                        <a:effectLst/>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00" dirty="0" smtClean="0">
                          <a:effectLst/>
                        </a:rPr>
                        <a:t>On the LV adapter</a:t>
                      </a:r>
                      <a:r>
                        <a:rPr lang="en-US" altLang="zh-CN" sz="1200" kern="100" baseline="0" dirty="0" smtClean="0">
                          <a:effectLst/>
                        </a:rPr>
                        <a:t> for s</a:t>
                      </a:r>
                      <a:r>
                        <a:rPr lang="en-US" altLang="zh-CN" sz="1200" kern="100" dirty="0" smtClean="0">
                          <a:effectLst/>
                        </a:rPr>
                        <a:t>atellite,</a:t>
                      </a:r>
                      <a:r>
                        <a:rPr lang="en-US" altLang="zh-CN" sz="1200" kern="100" baseline="0" dirty="0" smtClean="0">
                          <a:effectLst/>
                        </a:rPr>
                        <a:t>  the position </a:t>
                      </a:r>
                      <a:r>
                        <a:rPr lang="en-US" altLang="zh-CN" sz="1200" kern="100" dirty="0" smtClean="0">
                          <a:effectLst/>
                        </a:rPr>
                        <a:t>corresponding</a:t>
                      </a:r>
                      <a:r>
                        <a:rPr lang="en-US" altLang="zh-CN" sz="1200" kern="100" baseline="0" dirty="0" smtClean="0">
                          <a:effectLst/>
                        </a:rPr>
                        <a:t> to c</a:t>
                      </a:r>
                      <a:r>
                        <a:rPr lang="en-US" altLang="zh-CN" sz="1200" kern="100" dirty="0" smtClean="0">
                          <a:effectLst/>
                        </a:rPr>
                        <a:t>lamp bond end 1</a:t>
                      </a:r>
                    </a:p>
                    <a:p>
                      <a:pPr algn="ctr">
                        <a:spcAft>
                          <a:spcPts val="0"/>
                        </a:spcAft>
                      </a:pPr>
                      <a:r>
                        <a:rPr lang="en-US" altLang="zh-CN" sz="1200" kern="100" dirty="0" smtClean="0">
                          <a:effectLst/>
                        </a:rPr>
                        <a:t>(Assigned by LV)</a:t>
                      </a:r>
                    </a:p>
                  </a:txBody>
                  <a:tcPr marL="41157" marR="41157" marT="0" marB="0" anchor="ctr"/>
                </a:tc>
                <a:tc>
                  <a:txBody>
                    <a:bodyPr/>
                    <a:lstStyle/>
                    <a:p>
                      <a:pPr algn="ctr">
                        <a:spcAft>
                          <a:spcPts val="0"/>
                        </a:spcAft>
                      </a:pPr>
                      <a:r>
                        <a:rPr lang="en-US" sz="1200" kern="100" dirty="0">
                          <a:effectLst/>
                        </a:rPr>
                        <a:t>5000g</a:t>
                      </a:r>
                      <a:endParaRPr lang="zh-CN" sz="1200" kern="100" dirty="0">
                        <a:effectLst/>
                        <a:latin typeface="Times New Roman"/>
                        <a:ea typeface="宋体"/>
                      </a:endParaRPr>
                    </a:p>
                  </a:txBody>
                  <a:tcPr marL="41157" marR="41157" marT="0" marB="0" anchor="ctr"/>
                </a:tc>
                <a:tc>
                  <a:txBody>
                    <a:bodyPr/>
                    <a:lstStyle/>
                    <a:p>
                      <a:pPr algn="ctr">
                        <a:spcAft>
                          <a:spcPts val="0"/>
                        </a:spcAft>
                      </a:pPr>
                      <a:r>
                        <a:rPr lang="en-US" sz="1200" kern="100" dirty="0">
                          <a:effectLst/>
                        </a:rPr>
                        <a:t>3</a:t>
                      </a:r>
                      <a:endParaRPr lang="zh-CN" sz="1200" kern="100" dirty="0">
                        <a:effectLst/>
                        <a:latin typeface="Times New Roman"/>
                        <a:ea typeface="宋体"/>
                      </a:endParaRPr>
                    </a:p>
                  </a:txBody>
                  <a:tcPr marL="41157" marR="41157" marT="0" marB="0" anchor="ctr"/>
                </a:tc>
              </a:tr>
              <a:tr h="465749">
                <a:tc>
                  <a:txBody>
                    <a:bodyPr/>
                    <a:lstStyle/>
                    <a:p>
                      <a:pPr algn="ctr">
                        <a:spcAft>
                          <a:spcPts val="0"/>
                        </a:spcAft>
                      </a:pPr>
                      <a:r>
                        <a:rPr lang="en-US" sz="1200" kern="100">
                          <a:effectLst/>
                        </a:rPr>
                        <a:t>C17</a:t>
                      </a:r>
                      <a:endParaRPr lang="zh-CN" sz="1200" kern="100">
                        <a:effectLst/>
                        <a:latin typeface="Times New Roman"/>
                        <a:ea typeface="宋体"/>
                      </a:endParaRPr>
                    </a:p>
                  </a:txBody>
                  <a:tcPr marL="41157" marR="41157"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00" dirty="0" smtClean="0">
                          <a:effectLst/>
                        </a:rPr>
                        <a:t>On the LV adapter</a:t>
                      </a:r>
                      <a:r>
                        <a:rPr lang="en-US" altLang="zh-CN" sz="1200" kern="100" baseline="0" dirty="0" smtClean="0">
                          <a:effectLst/>
                        </a:rPr>
                        <a:t> for s</a:t>
                      </a:r>
                      <a:r>
                        <a:rPr lang="en-US" altLang="zh-CN" sz="1200" kern="100" dirty="0" smtClean="0">
                          <a:effectLst/>
                        </a:rPr>
                        <a:t>atellite,</a:t>
                      </a:r>
                      <a:r>
                        <a:rPr lang="en-US" altLang="zh-CN" sz="1200" kern="100" baseline="0" dirty="0" smtClean="0">
                          <a:effectLst/>
                        </a:rPr>
                        <a:t>  the position </a:t>
                      </a:r>
                      <a:r>
                        <a:rPr lang="en-US" altLang="zh-CN" sz="1200" kern="100" dirty="0" smtClean="0">
                          <a:effectLst/>
                        </a:rPr>
                        <a:t>corresponding</a:t>
                      </a:r>
                      <a:r>
                        <a:rPr lang="en-US" altLang="zh-CN" sz="1200" kern="100" baseline="0" dirty="0" smtClean="0">
                          <a:effectLst/>
                        </a:rPr>
                        <a:t> to c</a:t>
                      </a:r>
                      <a:r>
                        <a:rPr lang="en-US" altLang="zh-CN" sz="1200" kern="100" dirty="0" smtClean="0">
                          <a:effectLst/>
                        </a:rPr>
                        <a:t>lamp bond end 3</a:t>
                      </a:r>
                    </a:p>
                    <a:p>
                      <a:pPr algn="ctr">
                        <a:spcAft>
                          <a:spcPts val="0"/>
                        </a:spcAft>
                      </a:pPr>
                      <a:r>
                        <a:rPr lang="en-US" altLang="zh-CN" sz="1200" kern="100" dirty="0" smtClean="0">
                          <a:effectLst/>
                        </a:rPr>
                        <a:t>(Assigned by LV)</a:t>
                      </a:r>
                    </a:p>
                  </a:txBody>
                  <a:tcPr marL="41157" marR="41157" marT="0" marB="0" anchor="ctr"/>
                </a:tc>
                <a:tc>
                  <a:txBody>
                    <a:bodyPr/>
                    <a:lstStyle/>
                    <a:p>
                      <a:pPr algn="ctr">
                        <a:spcAft>
                          <a:spcPts val="0"/>
                        </a:spcAft>
                      </a:pPr>
                      <a:r>
                        <a:rPr lang="en-US" sz="1200" kern="100" dirty="0">
                          <a:effectLst/>
                        </a:rPr>
                        <a:t>5000g</a:t>
                      </a:r>
                      <a:endParaRPr lang="zh-CN" sz="1200" kern="100" dirty="0">
                        <a:effectLst/>
                        <a:latin typeface="Times New Roman"/>
                        <a:ea typeface="宋体"/>
                      </a:endParaRPr>
                    </a:p>
                  </a:txBody>
                  <a:tcPr marL="41157" marR="41157" marT="0" marB="0" anchor="ctr"/>
                </a:tc>
                <a:tc>
                  <a:txBody>
                    <a:bodyPr/>
                    <a:lstStyle/>
                    <a:p>
                      <a:pPr algn="ctr">
                        <a:spcAft>
                          <a:spcPts val="0"/>
                        </a:spcAft>
                      </a:pPr>
                      <a:r>
                        <a:rPr lang="en-US" sz="1200" kern="100" dirty="0">
                          <a:effectLst/>
                        </a:rPr>
                        <a:t>3</a:t>
                      </a:r>
                      <a:endParaRPr lang="zh-CN" sz="1200" kern="100" dirty="0">
                        <a:effectLst/>
                        <a:latin typeface="Times New Roman"/>
                        <a:ea typeface="宋体"/>
                      </a:endParaRPr>
                    </a:p>
                  </a:txBody>
                  <a:tcPr marL="41157" marR="41157" marT="0" marB="0" anchor="ctr"/>
                </a:tc>
              </a:tr>
            </a:tbl>
          </a:graphicData>
        </a:graphic>
      </p:graphicFrame>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39</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182347080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29600" cy="1082660"/>
          </a:xfrm>
        </p:spPr>
        <p:txBody>
          <a:bodyPr>
            <a:normAutofit fontScale="90000"/>
          </a:bodyPr>
          <a:lstStyle/>
          <a:p>
            <a:r>
              <a:rPr lang="en-US" altLang="zh-CN" dirty="0"/>
              <a:t>Satellite-launching vehicle Clamp bond unlock test introduction</a:t>
            </a:r>
            <a:endParaRPr lang="zh-CN" altLang="en-US" dirty="0"/>
          </a:p>
        </p:txBody>
      </p:sp>
      <p:sp>
        <p:nvSpPr>
          <p:cNvPr id="3" name="内容占位符 2"/>
          <p:cNvSpPr>
            <a:spLocks noGrp="1"/>
          </p:cNvSpPr>
          <p:nvPr>
            <p:ph idx="1"/>
          </p:nvPr>
        </p:nvSpPr>
        <p:spPr>
          <a:xfrm>
            <a:off x="457200" y="1357298"/>
            <a:ext cx="8795320" cy="4768865"/>
          </a:xfrm>
        </p:spPr>
        <p:txBody>
          <a:bodyPr/>
          <a:lstStyle/>
          <a:p>
            <a:pPr marL="0" indent="0" algn="just">
              <a:buNone/>
            </a:pPr>
            <a:r>
              <a:rPr lang="en-US" altLang="zh-CN" sz="2400" dirty="0" smtClean="0"/>
              <a:t>5.4 Requirements </a:t>
            </a:r>
            <a:r>
              <a:rPr lang="en-US" altLang="zh-CN" sz="2400" dirty="0"/>
              <a:t>for </a:t>
            </a:r>
            <a:r>
              <a:rPr lang="en-US" altLang="zh-CN" sz="2400" dirty="0" smtClean="0"/>
              <a:t>data acquisition and processing </a:t>
            </a:r>
          </a:p>
          <a:p>
            <a:pPr marL="457200" indent="-457200">
              <a:buFont typeface="+mj-lt"/>
              <a:buAutoNum type="alphaLcPeriod"/>
            </a:pPr>
            <a:r>
              <a:rPr lang="en-US" altLang="zh-CN" sz="2000" b="0" dirty="0" smtClean="0"/>
              <a:t>Measurement sensors and data acquisition equipment  in validation period.</a:t>
            </a:r>
          </a:p>
          <a:p>
            <a:pPr marL="457200" indent="-457200">
              <a:buFont typeface="+mj-lt"/>
              <a:buAutoNum type="alphaLcPeriod"/>
            </a:pPr>
            <a:r>
              <a:rPr lang="en-US" altLang="zh-CN" sz="2000" b="0" dirty="0" smtClean="0"/>
              <a:t>Test result</a:t>
            </a:r>
          </a:p>
          <a:p>
            <a:r>
              <a:rPr lang="en-US" altLang="zh-CN" sz="2000" b="0" dirty="0" smtClean="0"/>
              <a:t>       Time domain </a:t>
            </a:r>
            <a:r>
              <a:rPr lang="en-US" altLang="zh-CN" sz="2000" b="0" dirty="0"/>
              <a:t>response</a:t>
            </a:r>
            <a:endParaRPr lang="en-US" altLang="zh-CN" sz="2000" b="0" dirty="0" smtClean="0"/>
          </a:p>
          <a:p>
            <a:r>
              <a:rPr lang="en-US" altLang="zh-CN" sz="2000" b="0" dirty="0" smtClean="0"/>
              <a:t>       Frequency domain responses</a:t>
            </a:r>
          </a:p>
          <a:p>
            <a:pPr marL="457200" indent="-457200">
              <a:buFont typeface="+mj-lt"/>
              <a:buAutoNum type="alphaLcPeriod" startAt="3"/>
            </a:pPr>
            <a:r>
              <a:rPr lang="en-US" altLang="zh-CN" sz="2000" b="0" dirty="0"/>
              <a:t>The frequency analysis scope for shock data: 20~10000Hz</a:t>
            </a:r>
            <a:r>
              <a:rPr lang="en-US" altLang="zh-CN" sz="2000" b="0" dirty="0" smtClean="0"/>
              <a:t>.</a:t>
            </a:r>
            <a:endParaRPr lang="en-US" altLang="zh-CN" sz="2000" b="0" dirty="0"/>
          </a:p>
          <a:p>
            <a:pPr marL="0" indent="0">
              <a:buNone/>
            </a:pPr>
            <a:endParaRPr lang="zh-CN" altLang="en-US"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40</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12182403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r>
              <a:rPr lang="en-US" altLang="zh-CN" sz="3200" dirty="0"/>
              <a:t>Satellite-launching vehicle Clamp bond unlock test introduction</a:t>
            </a:r>
            <a:endParaRPr lang="zh-CN" altLang="en-US" sz="3200" dirty="0"/>
          </a:p>
        </p:txBody>
      </p:sp>
      <p:sp>
        <p:nvSpPr>
          <p:cNvPr id="3" name="内容占位符 2"/>
          <p:cNvSpPr>
            <a:spLocks noGrp="1"/>
          </p:cNvSpPr>
          <p:nvPr>
            <p:ph idx="1"/>
          </p:nvPr>
        </p:nvSpPr>
        <p:spPr>
          <a:xfrm>
            <a:off x="86816" y="1412776"/>
            <a:ext cx="8229600" cy="4768865"/>
          </a:xfrm>
        </p:spPr>
        <p:txBody>
          <a:bodyPr>
            <a:normAutofit/>
          </a:bodyPr>
          <a:lstStyle/>
          <a:p>
            <a:pPr marL="0" indent="0">
              <a:buNone/>
            </a:pPr>
            <a:r>
              <a:rPr lang="en-US" altLang="zh-CN" sz="2400" dirty="0" smtClean="0"/>
              <a:t>6  Test </a:t>
            </a:r>
            <a:r>
              <a:rPr lang="en-US" altLang="zh-CN" sz="2400" dirty="0"/>
              <a:t>flow </a:t>
            </a:r>
            <a:r>
              <a:rPr lang="en-US" altLang="zh-CN" sz="2400" dirty="0" smtClean="0"/>
              <a:t>program and steps</a:t>
            </a:r>
          </a:p>
          <a:p>
            <a:pPr marL="457200" indent="-457200">
              <a:buFont typeface="+mj-lt"/>
              <a:buAutoNum type="alphaLcPeriod"/>
            </a:pPr>
            <a:endParaRPr lang="en-US" altLang="zh-CN" sz="2000" b="0" dirty="0" smtClean="0"/>
          </a:p>
          <a:p>
            <a:pPr marL="0" indent="0">
              <a:buNone/>
            </a:pPr>
            <a:endParaRPr lang="en-US" altLang="zh-CN" sz="2000" dirty="0" smtClean="0"/>
          </a:p>
          <a:p>
            <a:endParaRPr lang="zh-CN" altLang="en-US" sz="2000"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41</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
        <p:nvSpPr>
          <p:cNvPr id="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2529017747"/>
              </p:ext>
            </p:extLst>
          </p:nvPr>
        </p:nvGraphicFramePr>
        <p:xfrm>
          <a:off x="2594371" y="1341438"/>
          <a:ext cx="5434013" cy="5040312"/>
        </p:xfrm>
        <a:graphic>
          <a:graphicData uri="http://schemas.openxmlformats.org/presentationml/2006/ole">
            <mc:AlternateContent xmlns:mc="http://schemas.openxmlformats.org/markup-compatibility/2006">
              <mc:Choice xmlns:v="urn:schemas-microsoft-com:vml" Requires="v">
                <p:oleObj spid="_x0000_s14523" name="Visio" r:id="rId3" imgW="3646742" imgH="3383566" progId="Visio.Drawing.11">
                  <p:embed/>
                </p:oleObj>
              </mc:Choice>
              <mc:Fallback>
                <p:oleObj name="Visio" r:id="rId3" imgW="3646742" imgH="3383566" progId="Visio.Drawing.11">
                  <p:embed/>
                  <p:pic>
                    <p:nvPicPr>
                      <p:cNvPr id="0"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4371" y="1341438"/>
                        <a:ext cx="5434013"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81746084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r>
              <a:rPr lang="en-US" altLang="zh-CN" sz="3200" dirty="0"/>
              <a:t>Satellite-launching vehicle Clamp bond unlock test introduction</a:t>
            </a:r>
            <a:endParaRPr lang="zh-CN" altLang="en-US" sz="3200" dirty="0"/>
          </a:p>
        </p:txBody>
      </p:sp>
      <p:sp>
        <p:nvSpPr>
          <p:cNvPr id="3" name="内容占位符 2"/>
          <p:cNvSpPr>
            <a:spLocks noGrp="1"/>
          </p:cNvSpPr>
          <p:nvPr>
            <p:ph idx="1"/>
          </p:nvPr>
        </p:nvSpPr>
        <p:spPr>
          <a:xfrm>
            <a:off x="86816" y="1412776"/>
            <a:ext cx="8229600" cy="4768865"/>
          </a:xfrm>
        </p:spPr>
        <p:txBody>
          <a:bodyPr>
            <a:normAutofit/>
          </a:bodyPr>
          <a:lstStyle/>
          <a:p>
            <a:pPr marL="514350" indent="-514350">
              <a:buFont typeface="+mj-lt"/>
              <a:buAutoNum type="arabicPeriod" startAt="6"/>
            </a:pPr>
            <a:r>
              <a:rPr lang="en-US" altLang="zh-CN" sz="2400" dirty="0" smtClean="0"/>
              <a:t>Test </a:t>
            </a:r>
            <a:r>
              <a:rPr lang="en-US" altLang="zh-CN" sz="2400" dirty="0"/>
              <a:t>flow </a:t>
            </a:r>
            <a:r>
              <a:rPr lang="en-US" altLang="zh-CN" sz="2400" dirty="0" smtClean="0"/>
              <a:t>program and steps</a:t>
            </a:r>
          </a:p>
          <a:p>
            <a:pPr marL="0" indent="0">
              <a:buNone/>
            </a:pPr>
            <a:r>
              <a:rPr lang="en-US" altLang="zh-CN" sz="1800" dirty="0" smtClean="0"/>
              <a:t>6.1  Sensor installation inner of satellite</a:t>
            </a:r>
          </a:p>
          <a:p>
            <a:pPr marL="0" indent="0">
              <a:buNone/>
            </a:pPr>
            <a:r>
              <a:rPr lang="en-US" altLang="zh-CN" sz="1800" b="0" dirty="0" smtClean="0"/>
              <a:t>       shock sensor installation requirement as same as vibration sensor.</a:t>
            </a:r>
          </a:p>
          <a:p>
            <a:pPr marL="0" indent="0">
              <a:buNone/>
            </a:pPr>
            <a:r>
              <a:rPr lang="en-US" altLang="zh-CN" sz="1800" dirty="0" smtClean="0"/>
              <a:t>6.2  Preparation before test</a:t>
            </a:r>
          </a:p>
          <a:p>
            <a:pPr>
              <a:buFont typeface="+mj-lt"/>
              <a:buAutoNum type="alphaLcPeriod"/>
            </a:pPr>
            <a:r>
              <a:rPr lang="en-US" altLang="zh-CN" sz="1800" b="0" dirty="0" smtClean="0"/>
              <a:t>Test system is ready;</a:t>
            </a:r>
          </a:p>
          <a:p>
            <a:pPr>
              <a:buFont typeface="+mj-lt"/>
              <a:buAutoNum type="alphaLcPeriod"/>
            </a:pPr>
            <a:r>
              <a:rPr lang="en-US" altLang="zh-CN" sz="1800" b="0" dirty="0" smtClean="0"/>
              <a:t>Test plan and implement files are ready;</a:t>
            </a:r>
          </a:p>
          <a:p>
            <a:pPr>
              <a:buFont typeface="+mj-lt"/>
              <a:buAutoNum type="alphaLcPeriod"/>
            </a:pPr>
            <a:r>
              <a:rPr lang="en-US" altLang="zh-CN" sz="1800" b="0" dirty="0" smtClean="0"/>
              <a:t>Each Post personnel is ready;</a:t>
            </a:r>
          </a:p>
          <a:p>
            <a:pPr>
              <a:buFont typeface="+mj-lt"/>
              <a:buAutoNum type="alphaLcPeriod"/>
            </a:pPr>
            <a:r>
              <a:rPr lang="en-US" altLang="zh-CN" sz="1800" b="0" dirty="0" smtClean="0"/>
              <a:t>Protect shelf is ready;</a:t>
            </a:r>
          </a:p>
          <a:p>
            <a:pPr marL="0" indent="0">
              <a:buNone/>
            </a:pPr>
            <a:r>
              <a:rPr lang="en-US" altLang="zh-CN" sz="1800" b="0" dirty="0" smtClean="0"/>
              <a:t>                 thickness &gt; 400mm, size &gt; 2000mm *2000mm</a:t>
            </a:r>
          </a:p>
          <a:p>
            <a:pPr>
              <a:buFont typeface="+mj-lt"/>
              <a:buAutoNum type="alphaLcPeriod" startAt="5"/>
            </a:pPr>
            <a:r>
              <a:rPr lang="en-US" altLang="zh-CN" sz="1800" b="0" dirty="0" smtClean="0"/>
              <a:t>Close air conditioner et.al before test.</a:t>
            </a:r>
          </a:p>
          <a:p>
            <a:pPr marL="457200" indent="-457200">
              <a:buFont typeface="+mj-lt"/>
              <a:buAutoNum type="alphaLcPeriod" startAt="2"/>
            </a:pPr>
            <a:endParaRPr lang="en-US" altLang="zh-CN" sz="1800" b="0" dirty="0" smtClean="0"/>
          </a:p>
          <a:p>
            <a:pPr marL="0" indent="0">
              <a:buNone/>
            </a:pPr>
            <a:endParaRPr lang="en-US" altLang="zh-CN" sz="1800" b="0" dirty="0" smtClean="0"/>
          </a:p>
          <a:p>
            <a:pPr marL="457200" indent="-457200">
              <a:buFont typeface="+mj-lt"/>
              <a:buAutoNum type="alphaLcPeriod" startAt="2"/>
            </a:pPr>
            <a:endParaRPr lang="zh-CN" altLang="en-US" sz="1800" b="0" dirty="0" smtClean="0"/>
          </a:p>
          <a:p>
            <a:pPr marL="0" indent="0">
              <a:buNone/>
            </a:pPr>
            <a:endParaRPr lang="en-US" altLang="zh-CN" sz="2000" dirty="0" smtClean="0"/>
          </a:p>
          <a:p>
            <a:endParaRPr lang="zh-CN" altLang="en-US" sz="2000"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42</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
        <p:nvSpPr>
          <p:cNvPr id="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Tree>
    <p:extLst>
      <p:ext uri="{BB962C8B-B14F-4D97-AF65-F5344CB8AC3E}">
        <p14:creationId xmlns:p14="http://schemas.microsoft.com/office/powerpoint/2010/main" val="325246822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r>
              <a:rPr lang="en-US" altLang="zh-CN" sz="3200" dirty="0"/>
              <a:t>Satellite-launching vehicle Clamp bond unlock test introduction</a:t>
            </a:r>
            <a:endParaRPr lang="zh-CN" altLang="en-US" sz="3200" dirty="0"/>
          </a:p>
        </p:txBody>
      </p:sp>
      <p:sp>
        <p:nvSpPr>
          <p:cNvPr id="3" name="内容占位符 2"/>
          <p:cNvSpPr>
            <a:spLocks noGrp="1"/>
          </p:cNvSpPr>
          <p:nvPr>
            <p:ph idx="1"/>
          </p:nvPr>
        </p:nvSpPr>
        <p:spPr>
          <a:xfrm>
            <a:off x="86816" y="1412776"/>
            <a:ext cx="8229600" cy="4768865"/>
          </a:xfrm>
        </p:spPr>
        <p:txBody>
          <a:bodyPr>
            <a:normAutofit/>
          </a:bodyPr>
          <a:lstStyle/>
          <a:p>
            <a:pPr marL="514350" indent="-514350">
              <a:buFont typeface="+mj-lt"/>
              <a:buAutoNum type="arabicPeriod" startAt="6"/>
            </a:pPr>
            <a:r>
              <a:rPr lang="en-US" altLang="zh-CN" sz="2400" dirty="0" smtClean="0"/>
              <a:t>Test </a:t>
            </a:r>
            <a:r>
              <a:rPr lang="en-US" altLang="zh-CN" sz="2400" dirty="0"/>
              <a:t>flow </a:t>
            </a:r>
            <a:r>
              <a:rPr lang="en-US" altLang="zh-CN" sz="2400" dirty="0" smtClean="0"/>
              <a:t>program and steps</a:t>
            </a:r>
          </a:p>
          <a:p>
            <a:pPr marL="0" indent="0">
              <a:buNone/>
            </a:pPr>
            <a:r>
              <a:rPr lang="en-US" altLang="zh-CN" sz="1800" dirty="0" smtClean="0"/>
              <a:t>6.3  Satellite is ready and sensor Installation outer of satellite </a:t>
            </a:r>
          </a:p>
          <a:p>
            <a:pPr marL="457200" indent="-457200">
              <a:buFont typeface="+mj-lt"/>
              <a:buAutoNum type="alphaLcPeriod"/>
            </a:pPr>
            <a:r>
              <a:rPr lang="en-US" altLang="zh-CN" sz="1800" b="0" dirty="0" smtClean="0"/>
              <a:t>The interface connection of satellite and LV is done. The combination of  satellite and adaptor is placed on support equipment.</a:t>
            </a:r>
          </a:p>
          <a:p>
            <a:pPr marL="457200" indent="-457200">
              <a:buFont typeface="+mj-lt"/>
              <a:buAutoNum type="alphaLcPeriod"/>
            </a:pPr>
            <a:r>
              <a:rPr lang="en-US" altLang="zh-CN" sz="1800" b="0" dirty="0" smtClean="0"/>
              <a:t>Install sensors on satellite and adapter </a:t>
            </a:r>
            <a:r>
              <a:rPr lang="en-US" altLang="zh-CN" sz="1800" b="0" dirty="0"/>
              <a:t>near clamp </a:t>
            </a:r>
            <a:r>
              <a:rPr lang="en-US" altLang="zh-CN" sz="1800" b="0" dirty="0" smtClean="0"/>
              <a:t>bond.</a:t>
            </a:r>
          </a:p>
          <a:p>
            <a:pPr marL="457200" indent="-457200">
              <a:buFont typeface="+mj-lt"/>
              <a:buAutoNum type="alphaLcPeriod"/>
            </a:pPr>
            <a:r>
              <a:rPr lang="en-US" altLang="zh-CN" sz="1800" b="0" dirty="0" smtClean="0"/>
              <a:t>Test technical safety check is done and recorded. </a:t>
            </a:r>
            <a:endParaRPr lang="en-US" altLang="zh-CN" sz="1800" b="0" dirty="0"/>
          </a:p>
          <a:p>
            <a:pPr marL="457200" indent="-457200">
              <a:buFont typeface="+mj-lt"/>
              <a:buAutoNum type="alphaLcPeriod"/>
            </a:pPr>
            <a:r>
              <a:rPr lang="en-US" altLang="zh-CN" sz="1800" b="0" dirty="0" smtClean="0"/>
              <a:t>Keep </a:t>
            </a:r>
            <a:r>
              <a:rPr lang="en-US" altLang="zh-CN" sz="1800" b="0" dirty="0"/>
              <a:t>away any article, product or equipment that will not be used during the test</a:t>
            </a:r>
            <a:r>
              <a:rPr lang="en-US" altLang="zh-CN" sz="1800" b="0" dirty="0" smtClean="0"/>
              <a:t>.</a:t>
            </a:r>
            <a:endParaRPr lang="zh-CN" altLang="en-US" sz="2000"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43</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
        <p:nvSpPr>
          <p:cNvPr id="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Tree>
    <p:extLst>
      <p:ext uri="{BB962C8B-B14F-4D97-AF65-F5344CB8AC3E}">
        <p14:creationId xmlns:p14="http://schemas.microsoft.com/office/powerpoint/2010/main" val="150390724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r>
              <a:rPr lang="en-US" altLang="zh-CN" sz="3200" dirty="0"/>
              <a:t>Satellite-launching vehicle Clamp bond unlock test introduction</a:t>
            </a:r>
            <a:endParaRPr lang="zh-CN" altLang="en-US" sz="3200" dirty="0"/>
          </a:p>
        </p:txBody>
      </p:sp>
      <p:sp>
        <p:nvSpPr>
          <p:cNvPr id="3" name="内容占位符 2"/>
          <p:cNvSpPr>
            <a:spLocks noGrp="1"/>
          </p:cNvSpPr>
          <p:nvPr>
            <p:ph idx="1"/>
          </p:nvPr>
        </p:nvSpPr>
        <p:spPr>
          <a:xfrm>
            <a:off x="86816" y="1412776"/>
            <a:ext cx="8229600" cy="4768865"/>
          </a:xfrm>
        </p:spPr>
        <p:txBody>
          <a:bodyPr>
            <a:normAutofit fontScale="85000" lnSpcReduction="20000"/>
          </a:bodyPr>
          <a:lstStyle/>
          <a:p>
            <a:pPr marL="514350" indent="-514350">
              <a:buFont typeface="+mj-lt"/>
              <a:buAutoNum type="arabicPeriod" startAt="6"/>
            </a:pPr>
            <a:r>
              <a:rPr lang="en-US" altLang="zh-CN" sz="2400" dirty="0" smtClean="0"/>
              <a:t>Test </a:t>
            </a:r>
            <a:r>
              <a:rPr lang="en-US" altLang="zh-CN" sz="2400" dirty="0"/>
              <a:t>flow </a:t>
            </a:r>
            <a:r>
              <a:rPr lang="en-US" altLang="zh-CN" sz="2400" dirty="0" smtClean="0"/>
              <a:t>program and steps</a:t>
            </a:r>
          </a:p>
          <a:p>
            <a:pPr marL="0" indent="0">
              <a:buNone/>
            </a:pPr>
            <a:r>
              <a:rPr lang="en-US" altLang="zh-CN" sz="2400" dirty="0" smtClean="0"/>
              <a:t>6.4  Status </a:t>
            </a:r>
            <a:r>
              <a:rPr lang="en-US" altLang="zh-CN" sz="2400" dirty="0"/>
              <a:t>confirmation before unlock test</a:t>
            </a:r>
            <a:endParaRPr lang="zh-CN" altLang="en-US" sz="2400" dirty="0"/>
          </a:p>
          <a:p>
            <a:pPr marL="457200" indent="-457200" algn="just">
              <a:buFont typeface="+mj-lt"/>
              <a:buAutoNum type="alphaLcPeriod"/>
            </a:pPr>
            <a:r>
              <a:rPr lang="en-US" altLang="zh-CN" sz="1800" b="0" dirty="0" smtClean="0"/>
              <a:t>Connect sensor cables, and do conduct check of </a:t>
            </a:r>
            <a:r>
              <a:rPr lang="en-US" altLang="zh-CN" sz="1800" b="0" dirty="0"/>
              <a:t>shock </a:t>
            </a:r>
            <a:r>
              <a:rPr lang="en-US" altLang="zh-CN" sz="1800" b="0" dirty="0" smtClean="0"/>
              <a:t>measurement system to ensure that measurement  system works normally;</a:t>
            </a:r>
          </a:p>
          <a:p>
            <a:pPr marL="457200" indent="-457200" algn="just">
              <a:buFont typeface="+mj-lt"/>
              <a:buAutoNum type="alphaLcPeriod"/>
            </a:pPr>
            <a:r>
              <a:rPr lang="en-US" altLang="zh-CN" sz="1800" dirty="0"/>
              <a:t>Connect </a:t>
            </a:r>
            <a:r>
              <a:rPr lang="en-US" altLang="zh-CN" sz="1800" dirty="0" smtClean="0"/>
              <a:t>fire controller cable of pyro technics, and examine the circuit resistance of the whole system;</a:t>
            </a:r>
            <a:endParaRPr lang="zh-CN" altLang="en-US" sz="1800" dirty="0"/>
          </a:p>
          <a:p>
            <a:pPr marL="457200" indent="-457200" algn="just">
              <a:buFont typeface="+mj-lt"/>
              <a:buAutoNum type="alphaLcPeriod"/>
            </a:pPr>
            <a:r>
              <a:rPr lang="en-US" altLang="zh-CN" sz="1800" dirty="0" smtClean="0"/>
              <a:t>Do </a:t>
            </a:r>
            <a:r>
              <a:rPr lang="en-US" altLang="zh-CN" sz="1800" dirty="0"/>
              <a:t>s</a:t>
            </a:r>
            <a:r>
              <a:rPr lang="en-US" altLang="zh-CN" sz="1800" dirty="0" smtClean="0"/>
              <a:t>hort circuit for </a:t>
            </a:r>
            <a:r>
              <a:rPr lang="en-US" altLang="zh-CN" sz="1800" dirty="0"/>
              <a:t>pyro </a:t>
            </a:r>
            <a:r>
              <a:rPr lang="en-US" altLang="zh-CN" sz="1800" dirty="0" smtClean="0"/>
              <a:t>technics after examining </a:t>
            </a:r>
            <a:r>
              <a:rPr lang="en-US" altLang="zh-CN" sz="1800" dirty="0"/>
              <a:t>the circuit resistance of the whole </a:t>
            </a:r>
            <a:r>
              <a:rPr lang="en-US" altLang="zh-CN" sz="1800" dirty="0" smtClean="0"/>
              <a:t>system;</a:t>
            </a:r>
          </a:p>
          <a:p>
            <a:pPr marL="457200" indent="-457200" algn="just">
              <a:buFont typeface="+mj-lt"/>
              <a:buAutoNum type="alphaLcPeriod"/>
            </a:pPr>
            <a:r>
              <a:rPr lang="en-US" altLang="zh-CN" sz="1800" dirty="0" smtClean="0"/>
              <a:t>Verify whether the zero voltage output of fire controller is normal or not by LV personnel;</a:t>
            </a:r>
          </a:p>
          <a:p>
            <a:pPr marL="457200" indent="-457200" algn="just">
              <a:buFont typeface="+mj-lt"/>
              <a:buAutoNum type="alphaLcPeriod"/>
            </a:pPr>
            <a:r>
              <a:rPr lang="en-US" altLang="zh-CN" sz="1800" dirty="0" smtClean="0"/>
              <a:t>Plug in the </a:t>
            </a:r>
            <a:r>
              <a:rPr lang="en-US" altLang="zh-CN" sz="1800" dirty="0"/>
              <a:t>fire </a:t>
            </a:r>
            <a:r>
              <a:rPr lang="en-US" altLang="zh-CN" sz="1800" dirty="0" smtClean="0"/>
              <a:t>controller;</a:t>
            </a:r>
          </a:p>
          <a:p>
            <a:pPr marL="457200" indent="-457200" algn="just">
              <a:buFont typeface="+mj-lt"/>
              <a:buAutoNum type="alphaLcPeriod"/>
            </a:pPr>
            <a:r>
              <a:rPr lang="en-US" altLang="zh-CN" sz="1800" b="0" dirty="0" smtClean="0"/>
              <a:t>Hoist the </a:t>
            </a:r>
            <a:r>
              <a:rPr lang="en-US" altLang="zh-CN" sz="1800" b="0" dirty="0"/>
              <a:t>combination of </a:t>
            </a:r>
            <a:r>
              <a:rPr lang="en-US" altLang="zh-CN" sz="1800" b="0" dirty="0" smtClean="0"/>
              <a:t>satellite </a:t>
            </a:r>
            <a:r>
              <a:rPr lang="en-US" altLang="zh-CN" sz="1800" b="0" dirty="0"/>
              <a:t>and adaptor </a:t>
            </a:r>
            <a:r>
              <a:rPr lang="en-US" altLang="zh-CN" sz="1800" b="0" dirty="0" smtClean="0"/>
              <a:t>to the </a:t>
            </a:r>
            <a:r>
              <a:rPr lang="en-US" altLang="zh-CN" sz="1800" b="0" dirty="0"/>
              <a:t>0.5m</a:t>
            </a:r>
            <a:r>
              <a:rPr lang="en-US" altLang="zh-CN" sz="1800" b="0" dirty="0" smtClean="0"/>
              <a:t> position above the protect shelf;</a:t>
            </a:r>
          </a:p>
          <a:p>
            <a:pPr marL="457200" indent="-457200" algn="just">
              <a:buFont typeface="+mj-lt"/>
              <a:buAutoNum type="alphaLcPeriod"/>
            </a:pPr>
            <a:r>
              <a:rPr lang="en-US" altLang="zh-CN" sz="1800" b="0" dirty="0" smtClean="0"/>
              <a:t>Check the high-speed photograph system and verify it works normally;</a:t>
            </a:r>
          </a:p>
          <a:p>
            <a:pPr marL="457200" indent="-457200" algn="just">
              <a:buFont typeface="+mj-lt"/>
              <a:buAutoNum type="alphaLcPeriod"/>
            </a:pPr>
            <a:r>
              <a:rPr lang="en-US" altLang="zh-CN" sz="1800" dirty="0" smtClean="0"/>
              <a:t>Coordinate test order.</a:t>
            </a:r>
          </a:p>
          <a:p>
            <a:pPr marL="0" indent="0">
              <a:buNone/>
            </a:pPr>
            <a:endParaRPr lang="en-US" altLang="zh-CN" sz="2000" dirty="0" smtClean="0"/>
          </a:p>
          <a:p>
            <a:endParaRPr lang="zh-CN" altLang="en-US" sz="2000"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44</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
        <p:nvSpPr>
          <p:cNvPr id="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Tree>
    <p:extLst>
      <p:ext uri="{BB962C8B-B14F-4D97-AF65-F5344CB8AC3E}">
        <p14:creationId xmlns:p14="http://schemas.microsoft.com/office/powerpoint/2010/main" val="410876783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r>
              <a:rPr lang="en-US" altLang="zh-CN" sz="3200" dirty="0"/>
              <a:t>Satellite-launching vehicle Clamp bond unlock test introduction</a:t>
            </a:r>
            <a:endParaRPr lang="zh-CN" altLang="en-US" sz="3200" dirty="0"/>
          </a:p>
        </p:txBody>
      </p:sp>
      <p:sp>
        <p:nvSpPr>
          <p:cNvPr id="3" name="内容占位符 2"/>
          <p:cNvSpPr>
            <a:spLocks noGrp="1"/>
          </p:cNvSpPr>
          <p:nvPr>
            <p:ph idx="1"/>
          </p:nvPr>
        </p:nvSpPr>
        <p:spPr>
          <a:xfrm>
            <a:off x="86816" y="1412776"/>
            <a:ext cx="8229600" cy="4768865"/>
          </a:xfrm>
        </p:spPr>
        <p:txBody>
          <a:bodyPr>
            <a:normAutofit fontScale="85000" lnSpcReduction="10000"/>
          </a:bodyPr>
          <a:lstStyle/>
          <a:p>
            <a:pPr marL="514350" indent="-514350">
              <a:buFont typeface="+mj-lt"/>
              <a:buAutoNum type="arabicPeriod" startAt="6"/>
            </a:pPr>
            <a:r>
              <a:rPr lang="en-US" altLang="zh-CN" sz="2400" dirty="0" smtClean="0"/>
              <a:t>Test </a:t>
            </a:r>
            <a:r>
              <a:rPr lang="en-US" altLang="zh-CN" sz="2400" dirty="0"/>
              <a:t>flow </a:t>
            </a:r>
            <a:r>
              <a:rPr lang="en-US" altLang="zh-CN" sz="2400" dirty="0" smtClean="0"/>
              <a:t>program and steps</a:t>
            </a:r>
          </a:p>
          <a:p>
            <a:pPr marL="0" indent="0">
              <a:buNone/>
            </a:pPr>
            <a:r>
              <a:rPr lang="en-US" altLang="zh-CN" sz="1900" dirty="0" smtClean="0"/>
              <a:t>6.5  Unlock </a:t>
            </a:r>
            <a:r>
              <a:rPr lang="en-US" altLang="zh-CN" sz="1900" dirty="0"/>
              <a:t>test</a:t>
            </a:r>
            <a:endParaRPr lang="zh-CN" altLang="en-US" sz="1900" dirty="0"/>
          </a:p>
          <a:p>
            <a:pPr marL="457200" indent="-457200" algn="just">
              <a:buFont typeface="+mj-lt"/>
              <a:buAutoNum type="alphaLcPeriod"/>
            </a:pPr>
            <a:r>
              <a:rPr lang="en-US" altLang="zh-CN" sz="1900" b="0" dirty="0" smtClean="0"/>
              <a:t>Start the shock </a:t>
            </a:r>
            <a:r>
              <a:rPr lang="en-US" altLang="zh-CN" sz="1900" b="0" dirty="0"/>
              <a:t>measurement </a:t>
            </a:r>
            <a:r>
              <a:rPr lang="en-US" altLang="zh-CN" sz="1900" b="0" dirty="0" smtClean="0"/>
              <a:t>system and report “Measurement system is started” by satellite personnel;</a:t>
            </a:r>
          </a:p>
          <a:p>
            <a:pPr marL="457200" indent="-457200" algn="just">
              <a:buFont typeface="+mj-lt"/>
              <a:buAutoNum type="alphaLcPeriod"/>
            </a:pPr>
            <a:r>
              <a:rPr lang="en-US" altLang="zh-CN" sz="1900" b="0" dirty="0" smtClean="0"/>
              <a:t>Start the high-speed </a:t>
            </a:r>
            <a:r>
              <a:rPr lang="en-US" altLang="zh-CN" sz="1900" b="0" dirty="0"/>
              <a:t>photograph </a:t>
            </a:r>
            <a:r>
              <a:rPr lang="en-US" altLang="zh-CN" sz="1900" b="0" dirty="0" smtClean="0"/>
              <a:t>system and report “Photography works normally”;</a:t>
            </a:r>
          </a:p>
          <a:p>
            <a:pPr marL="457200" indent="-457200" algn="just">
              <a:buFont typeface="+mj-lt"/>
              <a:buAutoNum type="alphaLcPeriod"/>
            </a:pPr>
            <a:r>
              <a:rPr lang="en-US" altLang="zh-CN" sz="1900" b="0" dirty="0" smtClean="0"/>
              <a:t>Commander order “</a:t>
            </a:r>
            <a:r>
              <a:rPr lang="en-US" altLang="zh-CN" sz="1900" dirty="0" smtClean="0"/>
              <a:t>Late time starts: 5 4 3 2 1.  Unlock”</a:t>
            </a:r>
            <a:r>
              <a:rPr lang="en-US" altLang="zh-CN" sz="1900" b="0" dirty="0" smtClean="0"/>
              <a:t>;</a:t>
            </a:r>
          </a:p>
          <a:p>
            <a:pPr marL="457200" indent="-457200" algn="just">
              <a:buFont typeface="+mj-lt"/>
              <a:buAutoNum type="alphaLcPeriod"/>
            </a:pPr>
            <a:r>
              <a:rPr lang="en-US" altLang="zh-CN" sz="1900" b="0" dirty="0" smtClean="0"/>
              <a:t>Start </a:t>
            </a:r>
            <a:r>
              <a:rPr lang="en-US" altLang="zh-CN" sz="1900" b="0" dirty="0"/>
              <a:t>fire controller </a:t>
            </a:r>
            <a:r>
              <a:rPr lang="en-US" altLang="zh-CN" sz="1900" b="0" dirty="0" smtClean="0"/>
              <a:t>of </a:t>
            </a:r>
            <a:r>
              <a:rPr lang="en-US" altLang="zh-CN" sz="1900" b="0" dirty="0"/>
              <a:t>pyro </a:t>
            </a:r>
            <a:r>
              <a:rPr lang="en-US" altLang="zh-CN" sz="1900" b="0" dirty="0" smtClean="0"/>
              <a:t>technics  by LV personnel;</a:t>
            </a:r>
            <a:endParaRPr lang="zh-CN" altLang="en-US" sz="1900" b="0" dirty="0"/>
          </a:p>
          <a:p>
            <a:pPr marL="457200" indent="-457200" algn="just">
              <a:buFont typeface="+mj-lt"/>
              <a:buAutoNum type="alphaLcPeriod"/>
            </a:pPr>
            <a:r>
              <a:rPr lang="en-US" altLang="zh-CN" sz="1900" b="0" dirty="0" smtClean="0"/>
              <a:t>Record and save the photography of unlock test process;</a:t>
            </a:r>
          </a:p>
          <a:p>
            <a:pPr marL="457200" indent="-457200" algn="just">
              <a:buFont typeface="+mj-lt"/>
              <a:buAutoNum type="alphaLcPeriod"/>
            </a:pPr>
            <a:r>
              <a:rPr lang="en-US" altLang="zh-CN" sz="1900" b="0" dirty="0" smtClean="0"/>
              <a:t>Acquire the  shock response data of unlock test process;</a:t>
            </a:r>
          </a:p>
          <a:p>
            <a:pPr marL="457200" indent="-457200" algn="just">
              <a:buFont typeface="+mj-lt"/>
              <a:buAutoNum type="alphaLcPeriod"/>
            </a:pPr>
            <a:r>
              <a:rPr lang="en-US" altLang="zh-CN" sz="1900" b="0" dirty="0" smtClean="0"/>
              <a:t>Power off the </a:t>
            </a:r>
            <a:r>
              <a:rPr lang="en-US" altLang="zh-CN" sz="1900" b="0" dirty="0"/>
              <a:t>power supply of fire </a:t>
            </a:r>
            <a:r>
              <a:rPr lang="en-US" altLang="zh-CN" sz="1900" b="0" dirty="0" smtClean="0"/>
              <a:t>controller </a:t>
            </a:r>
            <a:r>
              <a:rPr lang="en-US" altLang="zh-CN" sz="1900" b="0" dirty="0"/>
              <a:t>by LV </a:t>
            </a:r>
            <a:r>
              <a:rPr lang="en-US" altLang="zh-CN" sz="1900" b="0" dirty="0" smtClean="0"/>
              <a:t>personnel;</a:t>
            </a:r>
          </a:p>
          <a:p>
            <a:pPr marL="457200" indent="-457200" algn="just">
              <a:buFont typeface="+mj-lt"/>
              <a:buAutoNum type="alphaLcPeriod"/>
            </a:pPr>
            <a:r>
              <a:rPr lang="en-US" altLang="zh-CN" sz="1900" b="0" dirty="0" smtClean="0"/>
              <a:t>Play video record and confirm the unlock and release process is normal or not;</a:t>
            </a:r>
            <a:endParaRPr lang="en-US" altLang="zh-CN" sz="1900" b="0" dirty="0"/>
          </a:p>
          <a:p>
            <a:pPr marL="457200" indent="-457200" algn="just">
              <a:buFont typeface="+mj-lt"/>
              <a:buAutoNum type="alphaLcPeriod"/>
            </a:pPr>
            <a:r>
              <a:rPr lang="en-US" altLang="zh-CN" sz="1900" b="0" dirty="0" smtClean="0"/>
              <a:t>Finish the shock response data acquisition.</a:t>
            </a:r>
            <a:endParaRPr lang="zh-CN" altLang="en-US" sz="1900"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45</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
        <p:nvSpPr>
          <p:cNvPr id="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Tree>
    <p:extLst>
      <p:ext uri="{BB962C8B-B14F-4D97-AF65-F5344CB8AC3E}">
        <p14:creationId xmlns:p14="http://schemas.microsoft.com/office/powerpoint/2010/main" val="270783848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r>
              <a:rPr lang="en-US" altLang="zh-CN" sz="3200" dirty="0"/>
              <a:t>Satellite-launching vehicle Clamp bond unlock test introduction</a:t>
            </a:r>
            <a:endParaRPr lang="zh-CN" altLang="en-US" sz="3200" dirty="0"/>
          </a:p>
        </p:txBody>
      </p:sp>
      <p:sp>
        <p:nvSpPr>
          <p:cNvPr id="3" name="内容占位符 2"/>
          <p:cNvSpPr>
            <a:spLocks noGrp="1"/>
          </p:cNvSpPr>
          <p:nvPr>
            <p:ph idx="1"/>
          </p:nvPr>
        </p:nvSpPr>
        <p:spPr>
          <a:xfrm>
            <a:off x="86816" y="1412776"/>
            <a:ext cx="8229600" cy="4768865"/>
          </a:xfrm>
        </p:spPr>
        <p:txBody>
          <a:bodyPr>
            <a:normAutofit/>
          </a:bodyPr>
          <a:lstStyle/>
          <a:p>
            <a:pPr marL="514350" indent="-514350">
              <a:buFont typeface="+mj-lt"/>
              <a:buAutoNum type="arabicPeriod" startAt="6"/>
            </a:pPr>
            <a:r>
              <a:rPr lang="en-US" altLang="zh-CN" sz="2400" dirty="0" smtClean="0"/>
              <a:t>Test </a:t>
            </a:r>
            <a:r>
              <a:rPr lang="en-US" altLang="zh-CN" sz="2400" dirty="0"/>
              <a:t>flow </a:t>
            </a:r>
            <a:r>
              <a:rPr lang="en-US" altLang="zh-CN" sz="2400" dirty="0" smtClean="0"/>
              <a:t>program and steps</a:t>
            </a:r>
          </a:p>
          <a:p>
            <a:pPr marL="0" indent="0">
              <a:buNone/>
            </a:pPr>
            <a:r>
              <a:rPr lang="en-US" altLang="zh-CN" sz="2000" dirty="0" smtClean="0"/>
              <a:t>6.6  Status </a:t>
            </a:r>
            <a:r>
              <a:rPr lang="en-US" altLang="zh-CN" sz="2000" dirty="0"/>
              <a:t>confirmation </a:t>
            </a:r>
            <a:r>
              <a:rPr lang="en-US" altLang="zh-CN" sz="2000" dirty="0" smtClean="0"/>
              <a:t>after </a:t>
            </a:r>
            <a:r>
              <a:rPr lang="en-US" altLang="zh-CN" sz="2000" dirty="0"/>
              <a:t>unlock test</a:t>
            </a:r>
            <a:endParaRPr lang="zh-CN" altLang="en-US" sz="2000" dirty="0"/>
          </a:p>
          <a:p>
            <a:pPr marL="457200" indent="-457200" algn="just">
              <a:buFont typeface="+mj-lt"/>
              <a:buAutoNum type="alphaLcPeriod"/>
            </a:pPr>
            <a:r>
              <a:rPr lang="en-US" altLang="zh-CN" sz="2000" b="0" dirty="0" smtClean="0"/>
              <a:t>Verify whether the clamp bond and satellite adaptor is normal or not by LV personnel;</a:t>
            </a:r>
          </a:p>
          <a:p>
            <a:pPr marL="457200" indent="-457200" algn="just">
              <a:buFont typeface="+mj-lt"/>
              <a:buAutoNum type="alphaLcPeriod"/>
            </a:pPr>
            <a:r>
              <a:rPr lang="en-US" altLang="zh-CN" sz="2000" b="0" dirty="0"/>
              <a:t>Verify whether </a:t>
            </a:r>
            <a:r>
              <a:rPr lang="en-US" altLang="zh-CN" sz="2000" b="0" dirty="0" smtClean="0"/>
              <a:t>satellite is </a:t>
            </a:r>
            <a:r>
              <a:rPr lang="en-US" altLang="zh-CN" sz="2000" b="0" dirty="0"/>
              <a:t>normal or not by </a:t>
            </a:r>
            <a:r>
              <a:rPr lang="en-US" altLang="zh-CN" sz="2000" b="0" dirty="0" smtClean="0"/>
              <a:t>satellite personnel;</a:t>
            </a:r>
          </a:p>
          <a:p>
            <a:pPr marL="457200" indent="-457200" algn="just">
              <a:buFont typeface="+mj-lt"/>
              <a:buAutoNum type="alphaLcPeriod"/>
            </a:pPr>
            <a:r>
              <a:rPr lang="en-US" altLang="zh-CN" sz="2000" b="0" dirty="0" smtClean="0"/>
              <a:t>Hoist satellite </a:t>
            </a:r>
            <a:r>
              <a:rPr lang="en-US" altLang="zh-CN" sz="2000" b="0" dirty="0"/>
              <a:t>and </a:t>
            </a:r>
            <a:r>
              <a:rPr lang="en-US" altLang="zh-CN" sz="2000" b="0" dirty="0" smtClean="0"/>
              <a:t>transfer it to the satellite support equipment;</a:t>
            </a:r>
          </a:p>
          <a:p>
            <a:pPr marL="457200" indent="-457200" algn="just">
              <a:buFont typeface="+mj-lt"/>
              <a:buAutoNum type="alphaLcPeriod"/>
            </a:pPr>
            <a:r>
              <a:rPr lang="en-US" altLang="zh-CN" sz="2000" b="0" dirty="0" smtClean="0"/>
              <a:t>Verify the shock response data is normal or not.</a:t>
            </a:r>
            <a:endParaRPr lang="en-US" altLang="zh-CN" sz="2000" b="0" dirty="0"/>
          </a:p>
          <a:p>
            <a:pPr marL="0" indent="0">
              <a:buNone/>
            </a:pPr>
            <a:endParaRPr lang="en-US" altLang="zh-CN" sz="2000" dirty="0" smtClean="0"/>
          </a:p>
          <a:p>
            <a:endParaRPr lang="zh-CN" altLang="en-US" sz="2000"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46</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
        <p:nvSpPr>
          <p:cNvPr id="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Tree>
    <p:extLst>
      <p:ext uri="{BB962C8B-B14F-4D97-AF65-F5344CB8AC3E}">
        <p14:creationId xmlns:p14="http://schemas.microsoft.com/office/powerpoint/2010/main" val="155508200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r>
              <a:rPr lang="en-US" altLang="zh-CN" sz="3200" dirty="0"/>
              <a:t>Satellite-launching vehicle Clamp bond unlock test introduction</a:t>
            </a:r>
            <a:endParaRPr lang="zh-CN" altLang="en-US" sz="3200" dirty="0"/>
          </a:p>
        </p:txBody>
      </p:sp>
      <p:sp>
        <p:nvSpPr>
          <p:cNvPr id="3" name="内容占位符 2"/>
          <p:cNvSpPr>
            <a:spLocks noGrp="1"/>
          </p:cNvSpPr>
          <p:nvPr>
            <p:ph idx="1"/>
          </p:nvPr>
        </p:nvSpPr>
        <p:spPr>
          <a:xfrm>
            <a:off x="86816" y="1412776"/>
            <a:ext cx="8229600" cy="4768865"/>
          </a:xfrm>
        </p:spPr>
        <p:txBody>
          <a:bodyPr>
            <a:normAutofit/>
          </a:bodyPr>
          <a:lstStyle/>
          <a:p>
            <a:pPr marL="514350" indent="-514350">
              <a:buFont typeface="+mj-lt"/>
              <a:buAutoNum type="arabicPeriod" startAt="6"/>
            </a:pPr>
            <a:r>
              <a:rPr lang="en-US" altLang="zh-CN" sz="2400" dirty="0" smtClean="0"/>
              <a:t>Test </a:t>
            </a:r>
            <a:r>
              <a:rPr lang="en-US" altLang="zh-CN" sz="2400" dirty="0"/>
              <a:t>flow </a:t>
            </a:r>
            <a:r>
              <a:rPr lang="en-US" altLang="zh-CN" sz="2400" dirty="0" smtClean="0"/>
              <a:t>program and steps</a:t>
            </a:r>
          </a:p>
          <a:p>
            <a:pPr marL="0" indent="0">
              <a:buNone/>
            </a:pPr>
            <a:r>
              <a:rPr lang="en-US" altLang="zh-CN" sz="1800" dirty="0" smtClean="0"/>
              <a:t>6.7  </a:t>
            </a:r>
            <a:r>
              <a:rPr lang="en-US" altLang="zh-CN" sz="1800" dirty="0"/>
              <a:t>Remove </a:t>
            </a:r>
            <a:r>
              <a:rPr lang="en-US" altLang="zh-CN" sz="1800" dirty="0" smtClean="0"/>
              <a:t>Sensors and withdraw products</a:t>
            </a:r>
            <a:endParaRPr lang="zh-CN" altLang="en-US" sz="1800" dirty="0"/>
          </a:p>
          <a:p>
            <a:pPr marL="457200" indent="-457200">
              <a:buFont typeface="+mj-lt"/>
              <a:buAutoNum type="alphaLcPeriod"/>
            </a:pPr>
            <a:r>
              <a:rPr lang="en-US" altLang="zh-CN" sz="1800" b="0" dirty="0" smtClean="0"/>
              <a:t>Withdraw concerned products by LV personnel;</a:t>
            </a:r>
            <a:endParaRPr lang="zh-CN" altLang="en-US" sz="1800" b="0" dirty="0"/>
          </a:p>
          <a:p>
            <a:pPr marL="457200" indent="-457200">
              <a:buFont typeface="+mj-lt"/>
              <a:buAutoNum type="alphaLcPeriod"/>
            </a:pPr>
            <a:r>
              <a:rPr lang="en-US" altLang="zh-CN" sz="1800" b="0" dirty="0" smtClean="0"/>
              <a:t>Separate satellite and remove sensors when permitted;</a:t>
            </a:r>
          </a:p>
          <a:p>
            <a:pPr marL="457200" indent="-457200">
              <a:buFont typeface="+mj-lt"/>
              <a:buAutoNum type="alphaLcPeriod"/>
            </a:pPr>
            <a:r>
              <a:rPr lang="en-US" altLang="zh-CN" sz="1800" b="0" dirty="0" smtClean="0"/>
              <a:t>Process test data and summarize test.</a:t>
            </a:r>
            <a:endParaRPr lang="en-US" altLang="zh-CN" sz="2000" dirty="0" smtClean="0"/>
          </a:p>
          <a:p>
            <a:endParaRPr lang="zh-CN" altLang="en-US" sz="2000"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47</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
        <p:nvSpPr>
          <p:cNvPr id="6"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Tree>
    <p:extLst>
      <p:ext uri="{BB962C8B-B14F-4D97-AF65-F5344CB8AC3E}">
        <p14:creationId xmlns:p14="http://schemas.microsoft.com/office/powerpoint/2010/main" val="167708926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29600" cy="1082660"/>
          </a:xfrm>
        </p:spPr>
        <p:txBody>
          <a:bodyPr>
            <a:normAutofit fontScale="90000"/>
          </a:bodyPr>
          <a:lstStyle/>
          <a:p>
            <a:r>
              <a:rPr lang="en-US" altLang="zh-CN" dirty="0"/>
              <a:t>Satellite-launching vehicle Clamp bond unlock test introduction</a:t>
            </a:r>
            <a:endParaRPr lang="zh-CN" altLang="en-US" dirty="0"/>
          </a:p>
        </p:txBody>
      </p:sp>
      <p:sp>
        <p:nvSpPr>
          <p:cNvPr id="3" name="内容占位符 2"/>
          <p:cNvSpPr>
            <a:spLocks noGrp="1"/>
          </p:cNvSpPr>
          <p:nvPr>
            <p:ph idx="1"/>
          </p:nvPr>
        </p:nvSpPr>
        <p:spPr/>
        <p:txBody>
          <a:bodyPr>
            <a:normAutofit fontScale="92500" lnSpcReduction="20000"/>
          </a:bodyPr>
          <a:lstStyle/>
          <a:p>
            <a:pPr marL="0" indent="0">
              <a:buNone/>
            </a:pPr>
            <a:r>
              <a:rPr lang="en-US" altLang="zh-CN" sz="2600" dirty="0"/>
              <a:t>7 Test responsibility distribution</a:t>
            </a:r>
          </a:p>
          <a:p>
            <a:pPr marL="0" indent="0">
              <a:buNone/>
            </a:pPr>
            <a:r>
              <a:rPr lang="en-US" altLang="zh-CN" sz="3000" b="0" dirty="0" smtClean="0"/>
              <a:t>7.1 CAST/DFH</a:t>
            </a:r>
          </a:p>
          <a:p>
            <a:pPr marL="457200" indent="-457200">
              <a:buFont typeface="+mj-lt"/>
              <a:buAutoNum type="alphaLcPeriod"/>
            </a:pPr>
            <a:r>
              <a:rPr lang="en-US" altLang="zh-CN" sz="2400" dirty="0"/>
              <a:t>Test commander and coordination</a:t>
            </a:r>
            <a:r>
              <a:rPr lang="en-US" altLang="zh-CN" sz="2400" b="0" dirty="0"/>
              <a:t>;</a:t>
            </a:r>
          </a:p>
          <a:p>
            <a:pPr marL="457200" indent="-457200">
              <a:buFont typeface="+mj-lt"/>
              <a:buAutoNum type="alphaLcPeriod"/>
            </a:pPr>
            <a:r>
              <a:rPr lang="en-US" altLang="zh-CN" sz="2400" b="0" dirty="0" smtClean="0"/>
              <a:t>Satellite status</a:t>
            </a:r>
            <a:r>
              <a:rPr lang="zh-CN" altLang="en-US" sz="2400" b="0" dirty="0" smtClean="0"/>
              <a:t>；</a:t>
            </a:r>
            <a:endParaRPr lang="en-US" altLang="zh-CN" sz="2400" b="0" dirty="0" smtClean="0"/>
          </a:p>
          <a:p>
            <a:pPr marL="457200" indent="-457200">
              <a:buFont typeface="+mj-lt"/>
              <a:buAutoNum type="alphaLcPeriod"/>
            </a:pPr>
            <a:r>
              <a:rPr lang="en-US" altLang="zh-CN" sz="2400" b="0" dirty="0" smtClean="0"/>
              <a:t>Satellite hoisting, parking, transportation;</a:t>
            </a:r>
            <a:endParaRPr lang="en-US" altLang="zh-CN" sz="2400" b="0" dirty="0"/>
          </a:p>
          <a:p>
            <a:pPr marL="457200" indent="-457200">
              <a:buFont typeface="+mj-lt"/>
              <a:buAutoNum type="alphaLcPeriod"/>
            </a:pPr>
            <a:r>
              <a:rPr lang="en-US" altLang="zh-CN" sz="2400" b="0" dirty="0" smtClean="0"/>
              <a:t>Test field, protect shelf and other concerned support equipment;</a:t>
            </a:r>
          </a:p>
          <a:p>
            <a:pPr marL="457200" indent="-457200">
              <a:buFont typeface="+mj-lt"/>
              <a:buAutoNum type="alphaLcPeriod"/>
            </a:pPr>
            <a:r>
              <a:rPr lang="en-US" altLang="zh-CN" sz="2400" b="0" dirty="0" smtClean="0"/>
              <a:t>Sensor position confirmation;</a:t>
            </a:r>
            <a:endParaRPr lang="zh-CN" altLang="en-US" sz="2400" b="0" dirty="0"/>
          </a:p>
          <a:p>
            <a:pPr marL="457200" indent="-457200">
              <a:buFont typeface="+mj-lt"/>
              <a:buAutoNum type="alphaLcPeriod"/>
            </a:pPr>
            <a:r>
              <a:rPr lang="en-US" altLang="zh-CN" sz="2400" b="0" dirty="0" smtClean="0"/>
              <a:t>Technical safety confirmation together with 511</a:t>
            </a:r>
            <a:r>
              <a:rPr lang="zh-CN" altLang="en-US" sz="2400" b="0" dirty="0" smtClean="0"/>
              <a:t>、</a:t>
            </a:r>
            <a:r>
              <a:rPr lang="en-US" altLang="zh-CN" sz="2400" b="0" dirty="0" smtClean="0"/>
              <a:t>LV</a:t>
            </a:r>
            <a:r>
              <a:rPr lang="zh-CN" altLang="en-US" sz="2400" b="0" dirty="0" smtClean="0"/>
              <a:t>；</a:t>
            </a:r>
            <a:endParaRPr lang="en-US" altLang="zh-CN" sz="2400" b="0" dirty="0" smtClean="0"/>
          </a:p>
          <a:p>
            <a:pPr marL="457200" indent="-457200">
              <a:buFont typeface="+mj-lt"/>
              <a:buAutoNum type="alphaLcPeriod"/>
            </a:pPr>
            <a:r>
              <a:rPr lang="en-US" altLang="zh-CN" sz="2400" b="0" dirty="0" smtClean="0"/>
              <a:t>Test summary report.</a:t>
            </a:r>
            <a:endParaRPr lang="zh-CN" altLang="en-US" sz="2400" b="0" dirty="0"/>
          </a:p>
          <a:p>
            <a:pPr marL="0" indent="0">
              <a:buNone/>
            </a:pPr>
            <a:endParaRPr lang="en-US" altLang="zh-CN" sz="2400" dirty="0" smtClean="0"/>
          </a:p>
          <a:p>
            <a:pPr marL="0" indent="0">
              <a:buNone/>
            </a:pPr>
            <a:endParaRPr lang="zh-CN" altLang="en-US" sz="2400"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48</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5454529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29600" cy="1082660"/>
          </a:xfrm>
        </p:spPr>
        <p:txBody>
          <a:bodyPr>
            <a:normAutofit fontScale="90000"/>
          </a:bodyPr>
          <a:lstStyle/>
          <a:p>
            <a:r>
              <a:rPr lang="en-US" altLang="zh-CN" dirty="0"/>
              <a:t>Satellite-launching vehicle Clamp bond unlock test introduction</a:t>
            </a:r>
            <a:endParaRPr lang="zh-CN" altLang="en-US" dirty="0"/>
          </a:p>
        </p:txBody>
      </p:sp>
      <p:sp>
        <p:nvSpPr>
          <p:cNvPr id="3" name="内容占位符 2"/>
          <p:cNvSpPr>
            <a:spLocks noGrp="1"/>
          </p:cNvSpPr>
          <p:nvPr>
            <p:ph idx="1"/>
          </p:nvPr>
        </p:nvSpPr>
        <p:spPr>
          <a:xfrm>
            <a:off x="457200" y="1357298"/>
            <a:ext cx="8507288" cy="4768865"/>
          </a:xfrm>
        </p:spPr>
        <p:txBody>
          <a:bodyPr>
            <a:normAutofit fontScale="85000" lnSpcReduction="20000"/>
          </a:bodyPr>
          <a:lstStyle/>
          <a:p>
            <a:pPr marL="0" indent="0">
              <a:buNone/>
            </a:pPr>
            <a:r>
              <a:rPr lang="en-US" altLang="zh-CN" sz="3000" dirty="0" smtClean="0"/>
              <a:t>7 Test responsibility distribution</a:t>
            </a:r>
          </a:p>
          <a:p>
            <a:pPr marL="0" indent="0">
              <a:buNone/>
            </a:pPr>
            <a:r>
              <a:rPr lang="en-US" altLang="zh-CN" sz="2800" b="0" dirty="0" smtClean="0"/>
              <a:t>7.2 CAST/511</a:t>
            </a:r>
          </a:p>
          <a:p>
            <a:pPr marL="457200" indent="-457200">
              <a:buFont typeface="+mj-lt"/>
              <a:buAutoNum type="alphaLcPeriod"/>
            </a:pPr>
            <a:r>
              <a:rPr lang="en-US" altLang="zh-CN" sz="2600" dirty="0" smtClean="0"/>
              <a:t>Test implementation</a:t>
            </a:r>
            <a:r>
              <a:rPr lang="en-US" altLang="zh-CN" sz="2600" b="0" dirty="0" smtClean="0"/>
              <a:t>;</a:t>
            </a:r>
          </a:p>
          <a:p>
            <a:pPr marL="457200" indent="-457200">
              <a:buFont typeface="+mj-lt"/>
              <a:buAutoNum type="alphaLcPeriod"/>
            </a:pPr>
            <a:r>
              <a:rPr lang="en-US" altLang="zh-CN" sz="2600" b="0" dirty="0" smtClean="0"/>
              <a:t> </a:t>
            </a:r>
            <a:r>
              <a:rPr lang="en-US" altLang="zh-CN" sz="2600" b="0" dirty="0"/>
              <a:t>Sensors installation and removal;</a:t>
            </a:r>
          </a:p>
          <a:p>
            <a:pPr marL="457200" lvl="0" indent="-457200">
              <a:buFont typeface="+mj-lt"/>
              <a:buAutoNum type="alphaLcPeriod"/>
            </a:pPr>
            <a:r>
              <a:rPr lang="en-US" altLang="zh-CN" sz="2600" b="0" dirty="0" smtClean="0"/>
              <a:t>Test and measurement equipment preparation and operation;</a:t>
            </a:r>
          </a:p>
          <a:p>
            <a:pPr marL="457200" lvl="0" indent="-457200">
              <a:buFont typeface="+mj-lt"/>
              <a:buAutoNum type="alphaLcPeriod"/>
            </a:pPr>
            <a:r>
              <a:rPr lang="en-US" altLang="zh-CN" sz="2600" b="0" dirty="0" smtClean="0"/>
              <a:t>High speed photography for unlock test procession;</a:t>
            </a:r>
            <a:endParaRPr lang="zh-CN" altLang="zh-CN" sz="2600" b="0" dirty="0"/>
          </a:p>
          <a:p>
            <a:pPr marL="457200" lvl="0" indent="-457200">
              <a:buFont typeface="+mj-lt"/>
              <a:buAutoNum type="alphaLcPeriod"/>
            </a:pPr>
            <a:r>
              <a:rPr lang="en-US" altLang="zh-CN" sz="2600" b="0" dirty="0" smtClean="0"/>
              <a:t>Test data acquisition and processing</a:t>
            </a:r>
            <a:r>
              <a:rPr lang="en-US" altLang="zh-CN" sz="2600" b="0" dirty="0"/>
              <a:t>;</a:t>
            </a:r>
            <a:endParaRPr lang="zh-CN" altLang="zh-CN" sz="2600" b="0" dirty="0"/>
          </a:p>
          <a:p>
            <a:pPr marL="457200" indent="-457200">
              <a:buFont typeface="+mj-lt"/>
              <a:buAutoNum type="alphaLcPeriod"/>
            </a:pPr>
            <a:r>
              <a:rPr lang="en-US" altLang="zh-CN" sz="2600" b="0" dirty="0"/>
              <a:t>Technical safety confirmation together with </a:t>
            </a:r>
            <a:r>
              <a:rPr lang="en-US" altLang="zh-CN" sz="2600" b="0" dirty="0" smtClean="0"/>
              <a:t>DFH</a:t>
            </a:r>
            <a:r>
              <a:rPr lang="zh-CN" altLang="en-US" sz="2600" b="0" dirty="0" smtClean="0"/>
              <a:t>、</a:t>
            </a:r>
            <a:r>
              <a:rPr lang="en-US" altLang="zh-CN" sz="2600" b="0" dirty="0"/>
              <a:t>LV</a:t>
            </a:r>
            <a:r>
              <a:rPr lang="zh-CN" altLang="en-US" sz="2600" b="0" dirty="0"/>
              <a:t>；</a:t>
            </a:r>
            <a:endParaRPr lang="en-US" altLang="zh-CN" sz="2600" b="0" dirty="0"/>
          </a:p>
          <a:p>
            <a:pPr marL="457200" lvl="0" indent="-457200">
              <a:buFont typeface="+mj-lt"/>
              <a:buAutoNum type="alphaLcPeriod"/>
            </a:pPr>
            <a:r>
              <a:rPr lang="en-US" altLang="zh-CN" sz="2600" b="0" dirty="0"/>
              <a:t>Test </a:t>
            </a:r>
            <a:r>
              <a:rPr lang="en-US" altLang="zh-CN" sz="2600" b="0" dirty="0" smtClean="0"/>
              <a:t>report.</a:t>
            </a:r>
            <a:endParaRPr lang="zh-CN" altLang="en-US" sz="2600"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49</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21626221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29600" cy="1082660"/>
          </a:xfrm>
        </p:spPr>
        <p:txBody>
          <a:bodyPr>
            <a:normAutofit fontScale="90000"/>
          </a:bodyPr>
          <a:lstStyle/>
          <a:p>
            <a:r>
              <a:rPr lang="en-US" altLang="zh-CN" dirty="0"/>
              <a:t>Satellite-launching vehicle Clamp bond unlock test introduction</a:t>
            </a:r>
            <a:endParaRPr lang="zh-CN" altLang="en-US" dirty="0"/>
          </a:p>
        </p:txBody>
      </p:sp>
      <p:sp>
        <p:nvSpPr>
          <p:cNvPr id="3" name="内容占位符 2"/>
          <p:cNvSpPr>
            <a:spLocks noGrp="1"/>
          </p:cNvSpPr>
          <p:nvPr>
            <p:ph idx="1"/>
          </p:nvPr>
        </p:nvSpPr>
        <p:spPr/>
        <p:txBody>
          <a:bodyPr>
            <a:normAutofit fontScale="92500" lnSpcReduction="20000"/>
          </a:bodyPr>
          <a:lstStyle/>
          <a:p>
            <a:pPr marL="0" indent="0">
              <a:buNone/>
            </a:pPr>
            <a:r>
              <a:rPr lang="en-US" altLang="zh-CN" sz="3500" dirty="0"/>
              <a:t>7</a:t>
            </a:r>
            <a:r>
              <a:rPr lang="en-US" altLang="zh-CN" sz="3500" dirty="0" smtClean="0"/>
              <a:t> Test responsibility distribution</a:t>
            </a:r>
          </a:p>
          <a:p>
            <a:pPr marL="0" indent="0">
              <a:buNone/>
            </a:pPr>
            <a:r>
              <a:rPr lang="en-US" altLang="zh-CN" sz="3000" b="0" dirty="0"/>
              <a:t>7</a:t>
            </a:r>
            <a:r>
              <a:rPr lang="en-US" altLang="zh-CN" sz="3000" b="0" dirty="0" smtClean="0"/>
              <a:t>.3 LV</a:t>
            </a:r>
          </a:p>
          <a:p>
            <a:pPr marL="457200" indent="-457200">
              <a:buFont typeface="+mj-lt"/>
              <a:buAutoNum type="alphaLcPeriod"/>
            </a:pPr>
            <a:r>
              <a:rPr lang="en-US" altLang="zh-CN" sz="2400" b="0" dirty="0" smtClean="0"/>
              <a:t>Clamp </a:t>
            </a:r>
            <a:r>
              <a:rPr lang="en-US" altLang="zh-CN" sz="2400" b="0" dirty="0"/>
              <a:t>bond </a:t>
            </a:r>
            <a:r>
              <a:rPr lang="en-US" altLang="zh-CN" sz="2400" b="0" dirty="0" smtClean="0"/>
              <a:t>installation and removal, and test status confirmation;</a:t>
            </a:r>
          </a:p>
          <a:p>
            <a:pPr marL="457200" indent="-457200">
              <a:buFont typeface="+mj-lt"/>
              <a:buAutoNum type="alphaLcPeriod"/>
            </a:pPr>
            <a:r>
              <a:rPr lang="en-US" altLang="zh-CN" sz="2400" b="0" dirty="0" smtClean="0"/>
              <a:t>Pyro technics unlock operation and measurement during test;</a:t>
            </a:r>
            <a:endParaRPr lang="en-US" altLang="zh-CN" sz="2400" b="0" dirty="0"/>
          </a:p>
          <a:p>
            <a:pPr marL="457200" indent="-457200">
              <a:buFont typeface="+mj-lt"/>
              <a:buAutoNum type="alphaLcPeriod"/>
            </a:pPr>
            <a:r>
              <a:rPr lang="en-US" altLang="zh-CN" sz="2400" b="0" dirty="0" smtClean="0"/>
              <a:t>Satellite adaptor, clamp bond, pyro technics cable and  concerned support equipment;</a:t>
            </a:r>
          </a:p>
          <a:p>
            <a:pPr marL="457200" indent="-457200">
              <a:buFont typeface="+mj-lt"/>
              <a:buAutoNum type="alphaLcPeriod"/>
            </a:pPr>
            <a:r>
              <a:rPr lang="en-US" altLang="zh-CN" sz="2400" b="0" dirty="0" smtClean="0"/>
              <a:t>Concerned </a:t>
            </a:r>
            <a:r>
              <a:rPr lang="en-US" altLang="zh-CN" sz="2400" b="0" dirty="0"/>
              <a:t>s</a:t>
            </a:r>
            <a:r>
              <a:rPr lang="en-US" altLang="zh-CN" sz="2400" b="0" dirty="0" smtClean="0"/>
              <a:t>ensor position confirmation;</a:t>
            </a:r>
            <a:endParaRPr lang="zh-CN" altLang="en-US" sz="2400" b="0" dirty="0"/>
          </a:p>
          <a:p>
            <a:pPr marL="457200" indent="-457200">
              <a:buFont typeface="+mj-lt"/>
              <a:buAutoNum type="alphaLcPeriod"/>
            </a:pPr>
            <a:r>
              <a:rPr lang="en-US" altLang="zh-CN" sz="2400" b="0" dirty="0" smtClean="0"/>
              <a:t>Technical safety confirmation together with DFH</a:t>
            </a:r>
            <a:r>
              <a:rPr lang="zh-CN" altLang="en-US" sz="2400" b="0" dirty="0" smtClean="0"/>
              <a:t>、</a:t>
            </a:r>
            <a:r>
              <a:rPr lang="en-US" altLang="zh-CN" sz="2400" b="0" dirty="0" smtClean="0"/>
              <a:t>511</a:t>
            </a:r>
            <a:r>
              <a:rPr lang="en-US" altLang="zh-CN" sz="2400" b="0" dirty="0"/>
              <a:t>.</a:t>
            </a:r>
            <a:endParaRPr lang="en-US" altLang="zh-CN" sz="2400" b="0" dirty="0" smtClean="0"/>
          </a:p>
          <a:p>
            <a:pPr marL="0" indent="0">
              <a:buNone/>
            </a:pPr>
            <a:endParaRPr lang="en-US" altLang="zh-CN" sz="2400" dirty="0" smtClean="0"/>
          </a:p>
          <a:p>
            <a:pPr marL="0" indent="0">
              <a:buNone/>
            </a:pPr>
            <a:endParaRPr lang="zh-CN" altLang="en-US" sz="2400"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50</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35506577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r>
              <a:rPr lang="en-US" altLang="zh-CN" sz="3200" dirty="0"/>
              <a:t>Satellite-launching vehicle Clamp bond unlock test introduction</a:t>
            </a:r>
            <a:endParaRPr lang="zh-CN" altLang="en-US" sz="3200" dirty="0"/>
          </a:p>
        </p:txBody>
      </p:sp>
      <p:sp>
        <p:nvSpPr>
          <p:cNvPr id="3" name="内容占位符 2"/>
          <p:cNvSpPr>
            <a:spLocks noGrp="1"/>
          </p:cNvSpPr>
          <p:nvPr>
            <p:ph idx="1"/>
          </p:nvPr>
        </p:nvSpPr>
        <p:spPr/>
        <p:txBody>
          <a:bodyPr>
            <a:normAutofit/>
          </a:bodyPr>
          <a:lstStyle/>
          <a:p>
            <a:pPr marL="514350" indent="-514350">
              <a:buFont typeface="+mj-lt"/>
              <a:buAutoNum type="arabicPeriod" startAt="8"/>
            </a:pPr>
            <a:r>
              <a:rPr lang="en-US" altLang="zh-CN" sz="2400" dirty="0" smtClean="0"/>
              <a:t>Test </a:t>
            </a:r>
            <a:r>
              <a:rPr lang="en-US" altLang="zh-CN" sz="2400" dirty="0"/>
              <a:t>data analysis and result</a:t>
            </a:r>
          </a:p>
          <a:p>
            <a:pPr>
              <a:buFont typeface="Wingdings" panose="05000000000000000000" pitchFamily="2" charset="2"/>
              <a:buChar char="Ø"/>
            </a:pPr>
            <a:r>
              <a:rPr lang="en-US" altLang="zh-CN" sz="2400" b="0" dirty="0" smtClean="0"/>
              <a:t>Shock response data table of measurement points</a:t>
            </a:r>
          </a:p>
          <a:p>
            <a:r>
              <a:rPr lang="en-US" altLang="zh-CN" sz="2400" b="0" dirty="0" smtClean="0"/>
              <a:t>Time domain data</a:t>
            </a:r>
          </a:p>
          <a:p>
            <a:pPr marL="0" indent="0">
              <a:buNone/>
            </a:pPr>
            <a:r>
              <a:rPr lang="en-US" altLang="zh-CN" sz="2400" b="0" dirty="0" smtClean="0"/>
              <a:t>    Maximum</a:t>
            </a:r>
          </a:p>
          <a:p>
            <a:r>
              <a:rPr lang="en-US" altLang="zh-CN" sz="2400" b="0" dirty="0" smtClean="0"/>
              <a:t>Frequency domain data</a:t>
            </a:r>
          </a:p>
          <a:p>
            <a:pPr marL="0" indent="0">
              <a:buNone/>
            </a:pPr>
            <a:r>
              <a:rPr lang="en-US" altLang="zh-CN" sz="2400" b="0" dirty="0" smtClean="0"/>
              <a:t>    Maximum/frequency</a:t>
            </a:r>
          </a:p>
          <a:p>
            <a:pPr marL="0" indent="0">
              <a:buNone/>
            </a:pPr>
            <a:endParaRPr lang="en-US" altLang="zh-CN" sz="2400" b="0" dirty="0"/>
          </a:p>
          <a:p>
            <a:pPr>
              <a:buFont typeface="Wingdings" panose="05000000000000000000" pitchFamily="2" charset="2"/>
              <a:buChar char="Ø"/>
            </a:pPr>
            <a:r>
              <a:rPr lang="en-US" altLang="zh-CN" sz="2400" b="0" dirty="0"/>
              <a:t>Shock response curve of typical measurement points</a:t>
            </a:r>
          </a:p>
          <a:p>
            <a:pPr marL="0" indent="0">
              <a:buNone/>
            </a:pPr>
            <a:endParaRPr lang="zh-CN" altLang="en-US" sz="2400" b="0"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51</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14838024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r>
              <a:rPr lang="en-US" altLang="zh-CN" sz="3200" dirty="0"/>
              <a:t>Satellite-launching vehicle Clamp bond unlock test introduction</a:t>
            </a:r>
            <a:endParaRPr lang="zh-CN" altLang="en-US" sz="3200" dirty="0"/>
          </a:p>
        </p:txBody>
      </p:sp>
      <p:sp>
        <p:nvSpPr>
          <p:cNvPr id="3" name="内容占位符 2"/>
          <p:cNvSpPr>
            <a:spLocks noGrp="1"/>
          </p:cNvSpPr>
          <p:nvPr>
            <p:ph idx="1"/>
          </p:nvPr>
        </p:nvSpPr>
        <p:spPr/>
        <p:txBody>
          <a:bodyPr>
            <a:normAutofit/>
          </a:bodyPr>
          <a:lstStyle/>
          <a:p>
            <a:pPr marL="514350" indent="-514350">
              <a:buFont typeface="+mj-lt"/>
              <a:buAutoNum type="arabicPeriod" startAt="8"/>
            </a:pPr>
            <a:r>
              <a:rPr lang="en-US" altLang="zh-CN" sz="2400" dirty="0" smtClean="0"/>
              <a:t>Test </a:t>
            </a:r>
            <a:r>
              <a:rPr lang="en-US" altLang="zh-CN" sz="2400" dirty="0"/>
              <a:t>data analysis and result</a:t>
            </a:r>
          </a:p>
          <a:p>
            <a:pPr marL="0" indent="0">
              <a:buNone/>
            </a:pPr>
            <a:endParaRPr lang="zh-CN" altLang="en-US" sz="2400"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52</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579248220"/>
              </p:ext>
            </p:extLst>
          </p:nvPr>
        </p:nvGraphicFramePr>
        <p:xfrm>
          <a:off x="467544" y="2060848"/>
          <a:ext cx="8229599" cy="3033458"/>
        </p:xfrm>
        <a:graphic>
          <a:graphicData uri="http://schemas.openxmlformats.org/drawingml/2006/table">
            <a:tbl>
              <a:tblPr firstRow="1" firstCol="1" bandRow="1">
                <a:tableStyleId>{5C22544A-7EE6-4342-B048-85BDC9FD1C3A}</a:tableStyleId>
              </a:tblPr>
              <a:tblGrid>
                <a:gridCol w="1175657"/>
                <a:gridCol w="1175657"/>
                <a:gridCol w="1175657"/>
                <a:gridCol w="1175657"/>
                <a:gridCol w="1175657"/>
                <a:gridCol w="1175657"/>
                <a:gridCol w="1175657"/>
              </a:tblGrid>
              <a:tr h="447829">
                <a:tc>
                  <a:txBody>
                    <a:bodyPr/>
                    <a:lstStyle/>
                    <a:p>
                      <a:pPr algn="ctr">
                        <a:spcAft>
                          <a:spcPts val="0"/>
                        </a:spcAft>
                      </a:pPr>
                      <a:r>
                        <a:rPr lang="en-US" sz="1400" kern="100" dirty="0">
                          <a:effectLst/>
                        </a:rPr>
                        <a:t>No.</a:t>
                      </a:r>
                      <a:endParaRPr lang="zh-CN" sz="1400"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400" kern="100">
                          <a:effectLst/>
                        </a:rPr>
                        <a:t>Position</a:t>
                      </a:r>
                      <a:endParaRPr lang="zh-CN" sz="1400" kern="100">
                        <a:effectLst/>
                        <a:latin typeface="Times New Roman"/>
                        <a:ea typeface="宋体"/>
                        <a:cs typeface="Times New Roman"/>
                      </a:endParaRPr>
                    </a:p>
                  </a:txBody>
                  <a:tcPr marL="68580" marR="68580" marT="0" marB="0" anchor="ctr"/>
                </a:tc>
                <a:tc>
                  <a:txBody>
                    <a:bodyPr/>
                    <a:lstStyle/>
                    <a:p>
                      <a:pPr algn="ctr">
                        <a:spcAft>
                          <a:spcPts val="0"/>
                        </a:spcAft>
                      </a:pPr>
                      <a:r>
                        <a:rPr lang="en-US" sz="1400" kern="100">
                          <a:effectLst/>
                        </a:rPr>
                        <a:t>Code</a:t>
                      </a:r>
                      <a:endParaRPr lang="zh-CN" sz="1400" kern="100">
                        <a:effectLst/>
                        <a:latin typeface="Times New Roman"/>
                        <a:ea typeface="宋体"/>
                        <a:cs typeface="Times New Roman"/>
                      </a:endParaRPr>
                    </a:p>
                  </a:txBody>
                  <a:tcPr marL="68580" marR="68580" marT="0" marB="0" anchor="ctr"/>
                </a:tc>
                <a:tc gridSpan="2">
                  <a:txBody>
                    <a:bodyPr/>
                    <a:lstStyle/>
                    <a:p>
                      <a:pPr algn="ctr">
                        <a:spcAft>
                          <a:spcPts val="0"/>
                        </a:spcAft>
                      </a:pPr>
                      <a:r>
                        <a:rPr lang="en-US" sz="1400" kern="100" dirty="0">
                          <a:effectLst/>
                        </a:rPr>
                        <a:t>Max. in time </a:t>
                      </a:r>
                      <a:r>
                        <a:rPr lang="en-US" sz="1400" kern="100" dirty="0" smtClean="0">
                          <a:effectLst/>
                        </a:rPr>
                        <a:t>domain</a:t>
                      </a:r>
                    </a:p>
                    <a:p>
                      <a:pPr algn="ctr">
                        <a:spcAft>
                          <a:spcPts val="0"/>
                        </a:spcAft>
                      </a:pPr>
                      <a:r>
                        <a:rPr lang="zh-CN" sz="1400" kern="100" dirty="0" smtClean="0">
                          <a:effectLst/>
                        </a:rPr>
                        <a:t>（</a:t>
                      </a:r>
                      <a:r>
                        <a:rPr lang="en-US" sz="1400" kern="100" dirty="0">
                          <a:effectLst/>
                        </a:rPr>
                        <a:t>g</a:t>
                      </a:r>
                      <a:r>
                        <a:rPr lang="zh-CN" sz="1400" kern="100" dirty="0">
                          <a:effectLst/>
                        </a:rPr>
                        <a:t>）</a:t>
                      </a:r>
                      <a:endParaRPr lang="zh-CN" sz="1400" kern="100" dirty="0">
                        <a:effectLst/>
                        <a:latin typeface="Times New Roman"/>
                        <a:ea typeface="宋体"/>
                        <a:cs typeface="Times New Roman"/>
                      </a:endParaRPr>
                    </a:p>
                  </a:txBody>
                  <a:tcPr marL="68580" marR="68580" marT="0" marB="0" anchor="ctr"/>
                </a:tc>
                <a:tc hMerge="1">
                  <a:txBody>
                    <a:bodyPr/>
                    <a:lstStyle/>
                    <a:p>
                      <a:endParaRPr lang="zh-CN" altLang="en-US"/>
                    </a:p>
                  </a:txBody>
                  <a:tcPr/>
                </a:tc>
                <a:tc gridSpan="2">
                  <a:txBody>
                    <a:bodyPr/>
                    <a:lstStyle/>
                    <a:p>
                      <a:pPr algn="ctr">
                        <a:spcAft>
                          <a:spcPts val="0"/>
                        </a:spcAft>
                      </a:pPr>
                      <a:r>
                        <a:rPr lang="en-US" sz="1400" kern="100">
                          <a:effectLst/>
                        </a:rPr>
                        <a:t>Max. in frequency domain</a:t>
                      </a:r>
                      <a:endParaRPr lang="zh-CN" sz="1400" kern="100">
                        <a:effectLst/>
                      </a:endParaRPr>
                    </a:p>
                    <a:p>
                      <a:pPr algn="ctr">
                        <a:spcAft>
                          <a:spcPts val="0"/>
                        </a:spcAft>
                      </a:pPr>
                      <a:r>
                        <a:rPr lang="zh-CN" sz="1400" kern="100">
                          <a:effectLst/>
                        </a:rPr>
                        <a:t>（</a:t>
                      </a:r>
                      <a:r>
                        <a:rPr lang="en-US" sz="1400" kern="100">
                          <a:effectLst/>
                        </a:rPr>
                        <a:t>g/Hz</a:t>
                      </a:r>
                      <a:r>
                        <a:rPr lang="zh-CN" sz="1400" kern="100">
                          <a:effectLst/>
                        </a:rPr>
                        <a:t>）</a:t>
                      </a:r>
                      <a:endParaRPr lang="zh-CN" sz="1400" kern="100">
                        <a:effectLst/>
                        <a:latin typeface="Times New Roman"/>
                        <a:ea typeface="宋体"/>
                        <a:cs typeface="Times New Roman"/>
                      </a:endParaRPr>
                    </a:p>
                  </a:txBody>
                  <a:tcPr marL="68580" marR="68580" marT="0" marB="0" anchor="ctr"/>
                </a:tc>
                <a:tc hMerge="1">
                  <a:txBody>
                    <a:bodyPr/>
                    <a:lstStyle/>
                    <a:p>
                      <a:endParaRPr lang="zh-CN" altLang="en-US"/>
                    </a:p>
                  </a:txBody>
                  <a:tcPr/>
                </a:tc>
              </a:tr>
              <a:tr h="344259">
                <a:tc rowSpan="3">
                  <a:txBody>
                    <a:bodyPr/>
                    <a:lstStyle/>
                    <a:p>
                      <a:pPr algn="ctr">
                        <a:spcAft>
                          <a:spcPts val="0"/>
                        </a:spcAft>
                      </a:pPr>
                      <a:r>
                        <a:rPr lang="en-US" sz="1400" kern="100" dirty="0">
                          <a:effectLst/>
                        </a:rPr>
                        <a:t>1</a:t>
                      </a:r>
                      <a:endParaRPr lang="zh-CN" sz="1400" kern="100" dirty="0">
                        <a:effectLst/>
                        <a:latin typeface="Times New Roman"/>
                        <a:ea typeface="宋体"/>
                        <a:cs typeface="Times New Roman"/>
                      </a:endParaRPr>
                    </a:p>
                  </a:txBody>
                  <a:tcPr marL="68580" marR="68580" marT="0" marB="0" anchor="ctr"/>
                </a:tc>
                <a:tc rowSpan="3">
                  <a:txBody>
                    <a:bodyPr/>
                    <a:lstStyle/>
                    <a:p>
                      <a:pPr algn="ctr">
                        <a:spcAft>
                          <a:spcPts val="0"/>
                        </a:spcAft>
                      </a:pPr>
                      <a:r>
                        <a:rPr lang="en-US" sz="1400" kern="100" dirty="0">
                          <a:effectLst/>
                        </a:rPr>
                        <a:t> </a:t>
                      </a:r>
                      <a:endParaRPr lang="zh-CN" sz="1400" kern="100" dirty="0">
                        <a:effectLst/>
                        <a:latin typeface="Times New Roman"/>
                        <a:ea typeface="宋体"/>
                        <a:cs typeface="Times New Roman"/>
                      </a:endParaRPr>
                    </a:p>
                  </a:txBody>
                  <a:tcPr marL="68580" marR="68580" marT="0" marB="0" anchor="ctr"/>
                </a:tc>
                <a:tc rowSpan="3">
                  <a:txBody>
                    <a:bodyPr/>
                    <a:lstStyle/>
                    <a:p>
                      <a:pPr algn="ctr">
                        <a:spcAft>
                          <a:spcPts val="0"/>
                        </a:spcAft>
                      </a:pPr>
                      <a:r>
                        <a:rPr lang="en-US" sz="1400" kern="100" dirty="0">
                          <a:effectLst/>
                        </a:rPr>
                        <a:t>C1</a:t>
                      </a:r>
                      <a:endParaRPr lang="zh-CN" sz="1400"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400" kern="100">
                          <a:effectLst/>
                        </a:rPr>
                        <a:t>X</a:t>
                      </a:r>
                      <a:endParaRPr lang="zh-CN" sz="1400" kern="100">
                        <a:effectLst/>
                        <a:latin typeface="Times New Roman"/>
                        <a:ea typeface="宋体"/>
                        <a:cs typeface="Times New Roman"/>
                      </a:endParaRPr>
                    </a:p>
                  </a:txBody>
                  <a:tcPr marL="68580" marR="68580" marT="0" marB="0" anchor="ctr"/>
                </a:tc>
                <a:tc>
                  <a:txBody>
                    <a:bodyPr/>
                    <a:lstStyle/>
                    <a:p>
                      <a:pPr algn="ctr">
                        <a:spcAft>
                          <a:spcPts val="0"/>
                        </a:spcAft>
                      </a:pPr>
                      <a:r>
                        <a:rPr lang="en-US" sz="1400" kern="100">
                          <a:effectLst/>
                        </a:rPr>
                        <a:t> </a:t>
                      </a:r>
                      <a:endParaRPr lang="zh-CN" sz="1400" kern="100">
                        <a:effectLst/>
                        <a:latin typeface="Times New Roman"/>
                        <a:ea typeface="宋体"/>
                        <a:cs typeface="Times New Roman"/>
                      </a:endParaRPr>
                    </a:p>
                  </a:txBody>
                  <a:tcPr marL="68580" marR="68580" marT="0" marB="0" anchor="ctr"/>
                </a:tc>
                <a:tc>
                  <a:txBody>
                    <a:bodyPr/>
                    <a:lstStyle/>
                    <a:p>
                      <a:pPr algn="ctr">
                        <a:spcAft>
                          <a:spcPts val="0"/>
                        </a:spcAft>
                      </a:pPr>
                      <a:r>
                        <a:rPr lang="en-US" sz="1400" kern="100" dirty="0">
                          <a:effectLst/>
                        </a:rPr>
                        <a:t>X</a:t>
                      </a:r>
                      <a:endParaRPr lang="zh-CN" sz="1400"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400" kern="100">
                          <a:effectLst/>
                        </a:rPr>
                        <a:t> </a:t>
                      </a:r>
                      <a:endParaRPr lang="zh-CN" sz="1400" kern="100">
                        <a:effectLst/>
                        <a:latin typeface="Times New Roman"/>
                        <a:ea typeface="宋体"/>
                        <a:cs typeface="Times New Roman"/>
                      </a:endParaRPr>
                    </a:p>
                  </a:txBody>
                  <a:tcPr marL="68580" marR="68580" marT="0" marB="0" anchor="ctr"/>
                </a:tc>
              </a:tr>
              <a:tr h="357712">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en-US" sz="1400" kern="100">
                          <a:effectLst/>
                        </a:rPr>
                        <a:t>Y</a:t>
                      </a:r>
                      <a:endParaRPr lang="zh-CN" sz="1400" kern="100">
                        <a:effectLst/>
                        <a:latin typeface="Times New Roman"/>
                        <a:ea typeface="宋体"/>
                        <a:cs typeface="Times New Roman"/>
                      </a:endParaRPr>
                    </a:p>
                  </a:txBody>
                  <a:tcPr marL="68580" marR="68580" marT="0" marB="0" anchor="ctr"/>
                </a:tc>
                <a:tc>
                  <a:txBody>
                    <a:bodyPr/>
                    <a:lstStyle/>
                    <a:p>
                      <a:pPr algn="ctr">
                        <a:spcAft>
                          <a:spcPts val="0"/>
                        </a:spcAft>
                      </a:pPr>
                      <a:r>
                        <a:rPr lang="en-US" sz="1400" kern="100" dirty="0">
                          <a:effectLst/>
                        </a:rPr>
                        <a:t> </a:t>
                      </a:r>
                      <a:endParaRPr lang="zh-CN" sz="1400"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400" kern="100">
                          <a:effectLst/>
                        </a:rPr>
                        <a:t>Y</a:t>
                      </a:r>
                      <a:endParaRPr lang="zh-CN" sz="1400" kern="100">
                        <a:effectLst/>
                        <a:latin typeface="Times New Roman"/>
                        <a:ea typeface="宋体"/>
                        <a:cs typeface="Times New Roman"/>
                      </a:endParaRPr>
                    </a:p>
                  </a:txBody>
                  <a:tcPr marL="68580" marR="68580" marT="0" marB="0" anchor="ctr"/>
                </a:tc>
                <a:tc>
                  <a:txBody>
                    <a:bodyPr/>
                    <a:lstStyle/>
                    <a:p>
                      <a:pPr algn="ctr">
                        <a:spcAft>
                          <a:spcPts val="0"/>
                        </a:spcAft>
                      </a:pPr>
                      <a:r>
                        <a:rPr lang="en-US" sz="1400" kern="100">
                          <a:effectLst/>
                        </a:rPr>
                        <a:t> </a:t>
                      </a:r>
                      <a:endParaRPr lang="zh-CN" sz="1400" kern="100">
                        <a:effectLst/>
                        <a:latin typeface="Times New Roman"/>
                        <a:ea typeface="宋体"/>
                        <a:cs typeface="Times New Roman"/>
                      </a:endParaRPr>
                    </a:p>
                  </a:txBody>
                  <a:tcPr marL="68580" marR="68580" marT="0" marB="0" anchor="ctr"/>
                </a:tc>
              </a:tr>
              <a:tr h="30228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en-US" sz="1400" kern="100" dirty="0">
                          <a:effectLst/>
                        </a:rPr>
                        <a:t>Z</a:t>
                      </a:r>
                      <a:endParaRPr lang="zh-CN" sz="1400"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400" kern="100">
                          <a:effectLst/>
                        </a:rPr>
                        <a:t> </a:t>
                      </a:r>
                      <a:endParaRPr lang="zh-CN" sz="1400" kern="100">
                        <a:effectLst/>
                        <a:latin typeface="Times New Roman"/>
                        <a:ea typeface="宋体"/>
                        <a:cs typeface="Times New Roman"/>
                      </a:endParaRPr>
                    </a:p>
                  </a:txBody>
                  <a:tcPr marL="68580" marR="68580" marT="0" marB="0" anchor="ctr"/>
                </a:tc>
                <a:tc>
                  <a:txBody>
                    <a:bodyPr/>
                    <a:lstStyle/>
                    <a:p>
                      <a:pPr algn="ctr">
                        <a:spcAft>
                          <a:spcPts val="0"/>
                        </a:spcAft>
                      </a:pPr>
                      <a:r>
                        <a:rPr lang="en-US" sz="1400" kern="100">
                          <a:effectLst/>
                        </a:rPr>
                        <a:t>Z</a:t>
                      </a:r>
                      <a:endParaRPr lang="zh-CN" sz="1400" kern="100">
                        <a:effectLst/>
                        <a:latin typeface="Times New Roman"/>
                        <a:ea typeface="宋体"/>
                        <a:cs typeface="Times New Roman"/>
                      </a:endParaRPr>
                    </a:p>
                  </a:txBody>
                  <a:tcPr marL="68580" marR="68580" marT="0" marB="0" anchor="ctr"/>
                </a:tc>
                <a:tc>
                  <a:txBody>
                    <a:bodyPr/>
                    <a:lstStyle/>
                    <a:p>
                      <a:pPr algn="ctr">
                        <a:spcAft>
                          <a:spcPts val="0"/>
                        </a:spcAft>
                      </a:pPr>
                      <a:r>
                        <a:rPr lang="en-US" sz="1400" kern="100">
                          <a:effectLst/>
                        </a:rPr>
                        <a:t> </a:t>
                      </a:r>
                      <a:endParaRPr lang="zh-CN" sz="1400" kern="100">
                        <a:effectLst/>
                        <a:latin typeface="Times New Roman"/>
                        <a:ea typeface="宋体"/>
                        <a:cs typeface="Times New Roman"/>
                      </a:endParaRPr>
                    </a:p>
                  </a:txBody>
                  <a:tcPr marL="68580" marR="68580" marT="0" marB="0" anchor="ctr"/>
                </a:tc>
              </a:tr>
              <a:tr h="302280">
                <a:tc rowSpan="3">
                  <a:txBody>
                    <a:bodyPr/>
                    <a:lstStyle/>
                    <a:p>
                      <a:pPr algn="ctr">
                        <a:spcAft>
                          <a:spcPts val="0"/>
                        </a:spcAft>
                      </a:pPr>
                      <a:r>
                        <a:rPr lang="en-US" sz="1400" kern="100">
                          <a:effectLst/>
                        </a:rPr>
                        <a:t>2</a:t>
                      </a:r>
                      <a:endParaRPr lang="zh-CN" sz="1400" kern="100">
                        <a:effectLst/>
                        <a:latin typeface="Times New Roman"/>
                        <a:ea typeface="宋体"/>
                        <a:cs typeface="Times New Roman"/>
                      </a:endParaRPr>
                    </a:p>
                  </a:txBody>
                  <a:tcPr marL="68580" marR="68580" marT="0" marB="0" anchor="ctr"/>
                </a:tc>
                <a:tc rowSpan="3">
                  <a:txBody>
                    <a:bodyPr/>
                    <a:lstStyle/>
                    <a:p>
                      <a:pPr algn="ctr">
                        <a:spcAft>
                          <a:spcPts val="0"/>
                        </a:spcAft>
                      </a:pPr>
                      <a:r>
                        <a:rPr lang="en-US" sz="1400" kern="100">
                          <a:effectLst/>
                        </a:rPr>
                        <a:t> </a:t>
                      </a:r>
                      <a:endParaRPr lang="zh-CN" sz="1400" kern="100">
                        <a:effectLst/>
                        <a:latin typeface="Times New Roman"/>
                        <a:ea typeface="宋体"/>
                        <a:cs typeface="Times New Roman"/>
                      </a:endParaRPr>
                    </a:p>
                  </a:txBody>
                  <a:tcPr marL="68580" marR="68580" marT="0" marB="0" anchor="ctr"/>
                </a:tc>
                <a:tc rowSpan="3">
                  <a:txBody>
                    <a:bodyPr/>
                    <a:lstStyle/>
                    <a:p>
                      <a:pPr algn="ctr">
                        <a:spcAft>
                          <a:spcPts val="0"/>
                        </a:spcAft>
                      </a:pPr>
                      <a:r>
                        <a:rPr lang="en-US" sz="1400" kern="100">
                          <a:effectLst/>
                        </a:rPr>
                        <a:t>C2</a:t>
                      </a:r>
                      <a:endParaRPr lang="zh-CN" sz="1400" kern="100">
                        <a:effectLst/>
                        <a:latin typeface="Times New Roman"/>
                        <a:ea typeface="宋体"/>
                        <a:cs typeface="Times New Roman"/>
                      </a:endParaRPr>
                    </a:p>
                  </a:txBody>
                  <a:tcPr marL="68580" marR="68580" marT="0" marB="0" anchor="ctr"/>
                </a:tc>
                <a:tc>
                  <a:txBody>
                    <a:bodyPr/>
                    <a:lstStyle/>
                    <a:p>
                      <a:pPr algn="ctr">
                        <a:spcAft>
                          <a:spcPts val="0"/>
                        </a:spcAft>
                      </a:pPr>
                      <a:r>
                        <a:rPr lang="en-US" sz="1400" kern="100" dirty="0">
                          <a:effectLst/>
                        </a:rPr>
                        <a:t>X</a:t>
                      </a:r>
                      <a:endParaRPr lang="zh-CN" sz="1400"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400" kern="100" dirty="0">
                          <a:effectLst/>
                        </a:rPr>
                        <a:t> </a:t>
                      </a:r>
                      <a:endParaRPr lang="zh-CN" sz="1400"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400" kern="100">
                          <a:effectLst/>
                        </a:rPr>
                        <a:t>X</a:t>
                      </a:r>
                      <a:endParaRPr lang="zh-CN" sz="1400" kern="100">
                        <a:effectLst/>
                        <a:latin typeface="Times New Roman"/>
                        <a:ea typeface="宋体"/>
                        <a:cs typeface="Times New Roman"/>
                      </a:endParaRPr>
                    </a:p>
                  </a:txBody>
                  <a:tcPr marL="68580" marR="68580" marT="0" marB="0" anchor="ctr"/>
                </a:tc>
                <a:tc>
                  <a:txBody>
                    <a:bodyPr/>
                    <a:lstStyle/>
                    <a:p>
                      <a:pPr algn="ctr">
                        <a:spcAft>
                          <a:spcPts val="0"/>
                        </a:spcAft>
                      </a:pPr>
                      <a:r>
                        <a:rPr lang="en-US" sz="1400" kern="100">
                          <a:effectLst/>
                        </a:rPr>
                        <a:t> </a:t>
                      </a:r>
                      <a:endParaRPr lang="zh-CN" sz="1400" kern="100">
                        <a:effectLst/>
                        <a:latin typeface="Times New Roman"/>
                        <a:ea typeface="宋体"/>
                        <a:cs typeface="Times New Roman"/>
                      </a:endParaRPr>
                    </a:p>
                  </a:txBody>
                  <a:tcPr marL="68580" marR="68580" marT="0" marB="0" anchor="ctr"/>
                </a:tc>
              </a:tr>
              <a:tr h="30228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en-US" sz="1400" kern="100">
                          <a:effectLst/>
                        </a:rPr>
                        <a:t>Y</a:t>
                      </a:r>
                      <a:endParaRPr lang="zh-CN" sz="1400" kern="100">
                        <a:effectLst/>
                        <a:latin typeface="Times New Roman"/>
                        <a:ea typeface="宋体"/>
                        <a:cs typeface="Times New Roman"/>
                      </a:endParaRPr>
                    </a:p>
                  </a:txBody>
                  <a:tcPr marL="68580" marR="68580" marT="0" marB="0" anchor="ctr"/>
                </a:tc>
                <a:tc>
                  <a:txBody>
                    <a:bodyPr/>
                    <a:lstStyle/>
                    <a:p>
                      <a:pPr algn="ctr">
                        <a:spcAft>
                          <a:spcPts val="0"/>
                        </a:spcAft>
                      </a:pPr>
                      <a:r>
                        <a:rPr lang="en-US" sz="1400" kern="100" dirty="0">
                          <a:effectLst/>
                        </a:rPr>
                        <a:t> </a:t>
                      </a:r>
                      <a:endParaRPr lang="zh-CN" sz="1400"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400" kern="100" dirty="0">
                          <a:effectLst/>
                        </a:rPr>
                        <a:t>Y</a:t>
                      </a:r>
                      <a:endParaRPr lang="zh-CN" sz="1400"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400" kern="100">
                          <a:effectLst/>
                        </a:rPr>
                        <a:t> </a:t>
                      </a:r>
                      <a:endParaRPr lang="zh-CN" sz="1400" kern="100">
                        <a:effectLst/>
                        <a:latin typeface="Times New Roman"/>
                        <a:ea typeface="宋体"/>
                        <a:cs typeface="Times New Roman"/>
                      </a:endParaRPr>
                    </a:p>
                  </a:txBody>
                  <a:tcPr marL="68580" marR="68580" marT="0" marB="0" anchor="ctr"/>
                </a:tc>
              </a:tr>
              <a:tr h="22391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en-US" sz="1400" kern="100">
                          <a:effectLst/>
                        </a:rPr>
                        <a:t>Z</a:t>
                      </a:r>
                      <a:endParaRPr lang="zh-CN" sz="1400" kern="100">
                        <a:effectLst/>
                        <a:latin typeface="Times New Roman"/>
                        <a:ea typeface="宋体"/>
                        <a:cs typeface="Times New Roman"/>
                      </a:endParaRPr>
                    </a:p>
                  </a:txBody>
                  <a:tcPr marL="68580" marR="68580" marT="0" marB="0" anchor="ctr"/>
                </a:tc>
                <a:tc>
                  <a:txBody>
                    <a:bodyPr/>
                    <a:lstStyle/>
                    <a:p>
                      <a:pPr algn="ctr">
                        <a:spcAft>
                          <a:spcPts val="0"/>
                        </a:spcAft>
                      </a:pPr>
                      <a:r>
                        <a:rPr lang="en-US" sz="1400" kern="100">
                          <a:effectLst/>
                        </a:rPr>
                        <a:t> </a:t>
                      </a:r>
                      <a:endParaRPr lang="zh-CN" sz="1400" kern="100">
                        <a:effectLst/>
                        <a:latin typeface="Times New Roman"/>
                        <a:ea typeface="宋体"/>
                        <a:cs typeface="Times New Roman"/>
                      </a:endParaRPr>
                    </a:p>
                  </a:txBody>
                  <a:tcPr marL="68580" marR="68580" marT="0" marB="0" anchor="ctr"/>
                </a:tc>
                <a:tc>
                  <a:txBody>
                    <a:bodyPr/>
                    <a:lstStyle/>
                    <a:p>
                      <a:pPr algn="ctr">
                        <a:spcAft>
                          <a:spcPts val="0"/>
                        </a:spcAft>
                      </a:pPr>
                      <a:r>
                        <a:rPr lang="en-US" sz="1400" kern="100" dirty="0">
                          <a:effectLst/>
                        </a:rPr>
                        <a:t>Z</a:t>
                      </a:r>
                      <a:endParaRPr lang="zh-CN" sz="1400"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400" kern="100">
                          <a:effectLst/>
                        </a:rPr>
                        <a:t> </a:t>
                      </a:r>
                      <a:endParaRPr lang="zh-CN" sz="1400" kern="100">
                        <a:effectLst/>
                        <a:latin typeface="Times New Roman"/>
                        <a:ea typeface="宋体"/>
                        <a:cs typeface="Times New Roman"/>
                      </a:endParaRPr>
                    </a:p>
                  </a:txBody>
                  <a:tcPr marL="68580" marR="68580" marT="0" marB="0" anchor="ctr"/>
                </a:tc>
              </a:tr>
              <a:tr h="305076">
                <a:tc rowSpan="3">
                  <a:txBody>
                    <a:bodyPr/>
                    <a:lstStyle/>
                    <a:p>
                      <a:pPr algn="ctr">
                        <a:spcAft>
                          <a:spcPts val="0"/>
                        </a:spcAft>
                      </a:pPr>
                      <a:r>
                        <a:rPr lang="en-US" sz="1400" kern="100">
                          <a:effectLst/>
                        </a:rPr>
                        <a:t>3</a:t>
                      </a:r>
                      <a:endParaRPr lang="zh-CN" sz="1400" kern="100">
                        <a:effectLst/>
                        <a:latin typeface="Times New Roman"/>
                        <a:ea typeface="宋体"/>
                        <a:cs typeface="Times New Roman"/>
                      </a:endParaRPr>
                    </a:p>
                  </a:txBody>
                  <a:tcPr marL="68580" marR="68580" marT="0" marB="0" anchor="ctr"/>
                </a:tc>
                <a:tc rowSpan="3">
                  <a:txBody>
                    <a:bodyPr/>
                    <a:lstStyle/>
                    <a:p>
                      <a:pPr algn="ctr">
                        <a:spcAft>
                          <a:spcPts val="0"/>
                        </a:spcAft>
                      </a:pPr>
                      <a:r>
                        <a:rPr lang="en-US" sz="1400" kern="100">
                          <a:effectLst/>
                        </a:rPr>
                        <a:t> </a:t>
                      </a:r>
                      <a:endParaRPr lang="zh-CN" sz="1400" kern="100">
                        <a:effectLst/>
                        <a:latin typeface="Times New Roman"/>
                        <a:ea typeface="宋体"/>
                        <a:cs typeface="Times New Roman"/>
                      </a:endParaRPr>
                    </a:p>
                  </a:txBody>
                  <a:tcPr marL="68580" marR="68580" marT="0" marB="0" anchor="ctr"/>
                </a:tc>
                <a:tc rowSpan="3">
                  <a:txBody>
                    <a:bodyPr/>
                    <a:lstStyle/>
                    <a:p>
                      <a:pPr algn="ctr">
                        <a:spcAft>
                          <a:spcPts val="0"/>
                        </a:spcAft>
                      </a:pPr>
                      <a:r>
                        <a:rPr lang="en-US" sz="1400" kern="100">
                          <a:effectLst/>
                        </a:rPr>
                        <a:t>C3</a:t>
                      </a:r>
                      <a:endParaRPr lang="zh-CN" sz="1400" kern="100">
                        <a:effectLst/>
                        <a:latin typeface="Times New Roman"/>
                        <a:ea typeface="宋体"/>
                        <a:cs typeface="Times New Roman"/>
                      </a:endParaRPr>
                    </a:p>
                  </a:txBody>
                  <a:tcPr marL="68580" marR="68580" marT="0" marB="0" anchor="ctr"/>
                </a:tc>
                <a:tc>
                  <a:txBody>
                    <a:bodyPr/>
                    <a:lstStyle/>
                    <a:p>
                      <a:pPr algn="ctr">
                        <a:spcAft>
                          <a:spcPts val="0"/>
                        </a:spcAft>
                      </a:pPr>
                      <a:r>
                        <a:rPr lang="en-US" sz="1400" kern="100">
                          <a:effectLst/>
                        </a:rPr>
                        <a:t>X</a:t>
                      </a:r>
                      <a:endParaRPr lang="zh-CN" sz="1400" kern="100">
                        <a:effectLst/>
                        <a:latin typeface="Times New Roman"/>
                        <a:ea typeface="宋体"/>
                        <a:cs typeface="Times New Roman"/>
                      </a:endParaRPr>
                    </a:p>
                  </a:txBody>
                  <a:tcPr marL="68580" marR="68580" marT="0" marB="0" anchor="ctr"/>
                </a:tc>
                <a:tc>
                  <a:txBody>
                    <a:bodyPr/>
                    <a:lstStyle/>
                    <a:p>
                      <a:pPr algn="ctr">
                        <a:spcAft>
                          <a:spcPts val="0"/>
                        </a:spcAft>
                      </a:pPr>
                      <a:endParaRPr lang="zh-CN" sz="1400"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400" kern="100" dirty="0">
                          <a:effectLst/>
                        </a:rPr>
                        <a:t>X</a:t>
                      </a:r>
                      <a:endParaRPr lang="zh-CN" sz="1400"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400" kern="100" dirty="0">
                          <a:effectLst/>
                        </a:rPr>
                        <a:t> </a:t>
                      </a:r>
                      <a:endParaRPr lang="zh-CN" sz="1400" kern="100" dirty="0">
                        <a:effectLst/>
                        <a:latin typeface="Times New Roman"/>
                        <a:ea typeface="宋体"/>
                        <a:cs typeface="Times New Roman"/>
                      </a:endParaRPr>
                    </a:p>
                  </a:txBody>
                  <a:tcPr marL="68580" marR="68580" marT="0" marB="0" anchor="ctr"/>
                </a:tc>
              </a:tr>
              <a:tr h="22391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en-US" sz="1400" kern="100" dirty="0">
                          <a:effectLst/>
                        </a:rPr>
                        <a:t>Y</a:t>
                      </a:r>
                      <a:endParaRPr lang="zh-CN" sz="1400" kern="100" dirty="0">
                        <a:effectLst/>
                        <a:latin typeface="Times New Roman"/>
                        <a:ea typeface="宋体"/>
                        <a:cs typeface="Times New Roman"/>
                      </a:endParaRPr>
                    </a:p>
                  </a:txBody>
                  <a:tcPr marL="68580" marR="68580" marT="0" marB="0" anchor="ctr"/>
                </a:tc>
                <a:tc>
                  <a:txBody>
                    <a:bodyPr/>
                    <a:lstStyle/>
                    <a:p>
                      <a:pPr algn="ctr">
                        <a:spcAft>
                          <a:spcPts val="0"/>
                        </a:spcAft>
                      </a:pPr>
                      <a:endParaRPr lang="zh-CN" sz="1400"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400" kern="100">
                          <a:effectLst/>
                        </a:rPr>
                        <a:t>Y</a:t>
                      </a:r>
                      <a:endParaRPr lang="zh-CN" sz="1400" kern="100">
                        <a:effectLst/>
                        <a:latin typeface="Times New Roman"/>
                        <a:ea typeface="宋体"/>
                        <a:cs typeface="Times New Roman"/>
                      </a:endParaRPr>
                    </a:p>
                  </a:txBody>
                  <a:tcPr marL="68580" marR="68580" marT="0" marB="0" anchor="ctr"/>
                </a:tc>
                <a:tc>
                  <a:txBody>
                    <a:bodyPr/>
                    <a:lstStyle/>
                    <a:p>
                      <a:pPr algn="ctr">
                        <a:spcAft>
                          <a:spcPts val="0"/>
                        </a:spcAft>
                      </a:pPr>
                      <a:r>
                        <a:rPr lang="en-US" sz="1400" kern="100" dirty="0">
                          <a:effectLst/>
                        </a:rPr>
                        <a:t> </a:t>
                      </a:r>
                      <a:endParaRPr lang="zh-CN" sz="1400" kern="100" dirty="0">
                        <a:effectLst/>
                        <a:latin typeface="Times New Roman"/>
                        <a:ea typeface="宋体"/>
                        <a:cs typeface="Times New Roman"/>
                      </a:endParaRPr>
                    </a:p>
                  </a:txBody>
                  <a:tcPr marL="68580" marR="68580" marT="0" marB="0" anchor="ctr"/>
                </a:tc>
              </a:tr>
              <a:tr h="223914">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en-US" sz="1400" kern="100">
                          <a:effectLst/>
                        </a:rPr>
                        <a:t>Z</a:t>
                      </a:r>
                      <a:endParaRPr lang="zh-CN" sz="1400" kern="100">
                        <a:effectLst/>
                        <a:latin typeface="Times New Roman"/>
                        <a:ea typeface="宋体"/>
                        <a:cs typeface="Times New Roman"/>
                      </a:endParaRPr>
                    </a:p>
                  </a:txBody>
                  <a:tcPr marL="68580" marR="68580" marT="0" marB="0" anchor="ctr"/>
                </a:tc>
                <a:tc>
                  <a:txBody>
                    <a:bodyPr/>
                    <a:lstStyle/>
                    <a:p>
                      <a:pPr algn="ctr">
                        <a:spcAft>
                          <a:spcPts val="0"/>
                        </a:spcAft>
                      </a:pPr>
                      <a:endParaRPr lang="zh-CN" sz="1400" kern="100" dirty="0">
                        <a:effectLst/>
                        <a:latin typeface="Times New Roman"/>
                        <a:ea typeface="宋体"/>
                        <a:cs typeface="Times New Roman"/>
                      </a:endParaRPr>
                    </a:p>
                  </a:txBody>
                  <a:tcPr marL="68580" marR="68580" marT="0" marB="0" anchor="ctr"/>
                </a:tc>
                <a:tc>
                  <a:txBody>
                    <a:bodyPr/>
                    <a:lstStyle/>
                    <a:p>
                      <a:pPr algn="ctr">
                        <a:spcAft>
                          <a:spcPts val="0"/>
                        </a:spcAft>
                      </a:pPr>
                      <a:r>
                        <a:rPr lang="en-US" sz="1400" kern="100">
                          <a:effectLst/>
                        </a:rPr>
                        <a:t>Z</a:t>
                      </a:r>
                      <a:endParaRPr lang="zh-CN" sz="1400" kern="100">
                        <a:effectLst/>
                        <a:latin typeface="Times New Roman"/>
                        <a:ea typeface="宋体"/>
                        <a:cs typeface="Times New Roman"/>
                      </a:endParaRPr>
                    </a:p>
                  </a:txBody>
                  <a:tcPr marL="68580" marR="68580" marT="0" marB="0" anchor="ctr"/>
                </a:tc>
                <a:tc>
                  <a:txBody>
                    <a:bodyPr/>
                    <a:lstStyle/>
                    <a:p>
                      <a:pPr algn="ctr">
                        <a:spcAft>
                          <a:spcPts val="0"/>
                        </a:spcAft>
                      </a:pPr>
                      <a:r>
                        <a:rPr lang="en-US" sz="1400" kern="100" dirty="0">
                          <a:effectLst/>
                        </a:rPr>
                        <a:t> </a:t>
                      </a:r>
                      <a:endParaRPr lang="zh-CN" sz="1400" kern="100" dirty="0">
                        <a:effectLst/>
                        <a:latin typeface="Times New Roman"/>
                        <a:ea typeface="宋体"/>
                        <a:cs typeface="Times New Roman"/>
                      </a:endParaRPr>
                    </a:p>
                  </a:txBody>
                  <a:tcPr marL="68580" marR="68580" marT="0" marB="0" anchor="ctr"/>
                </a:tc>
              </a:tr>
            </a:tbl>
          </a:graphicData>
        </a:graphic>
      </p:graphicFrame>
    </p:spTree>
    <p:extLst>
      <p:ext uri="{BB962C8B-B14F-4D97-AF65-F5344CB8AC3E}">
        <p14:creationId xmlns:p14="http://schemas.microsoft.com/office/powerpoint/2010/main" val="1853890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r>
              <a:rPr lang="en-US" altLang="zh-CN" sz="3200" dirty="0"/>
              <a:t>Satellite-launching vehicle Clamp bond unlock test introduction</a:t>
            </a:r>
            <a:endParaRPr lang="zh-CN" altLang="en-US" sz="3200" dirty="0"/>
          </a:p>
        </p:txBody>
      </p:sp>
      <p:sp>
        <p:nvSpPr>
          <p:cNvPr id="3" name="内容占位符 2"/>
          <p:cNvSpPr>
            <a:spLocks noGrp="1"/>
          </p:cNvSpPr>
          <p:nvPr>
            <p:ph idx="1"/>
          </p:nvPr>
        </p:nvSpPr>
        <p:spPr/>
        <p:txBody>
          <a:bodyPr>
            <a:normAutofit lnSpcReduction="10000"/>
          </a:bodyPr>
          <a:lstStyle/>
          <a:p>
            <a:pPr marL="514350" indent="-514350">
              <a:buFont typeface="+mj-lt"/>
              <a:buAutoNum type="arabicPeriod" startAt="8"/>
            </a:pPr>
            <a:r>
              <a:rPr lang="en-US" altLang="zh-CN" sz="2400" dirty="0" smtClean="0"/>
              <a:t>Test </a:t>
            </a:r>
            <a:r>
              <a:rPr lang="en-US" altLang="zh-CN" sz="2400" dirty="0"/>
              <a:t>data analysis and </a:t>
            </a:r>
            <a:r>
              <a:rPr lang="en-US" altLang="zh-CN" sz="2400" dirty="0" smtClean="0"/>
              <a:t>result</a:t>
            </a:r>
          </a:p>
          <a:p>
            <a:pPr marL="0" indent="0">
              <a:buNone/>
            </a:pPr>
            <a:r>
              <a:rPr lang="en-US" altLang="zh-CN" sz="2400" b="0" dirty="0" smtClean="0"/>
              <a:t>Along shock transfer routine, shock response value changes. </a:t>
            </a:r>
          </a:p>
          <a:p>
            <a:pPr marL="0" indent="0">
              <a:buNone/>
            </a:pPr>
            <a:endParaRPr lang="en-US" altLang="zh-CN" sz="2400" b="0" dirty="0" smtClean="0"/>
          </a:p>
          <a:p>
            <a:pPr marL="0" indent="0">
              <a:buNone/>
            </a:pPr>
            <a:r>
              <a:rPr lang="en-US" altLang="zh-CN" sz="2400" b="0" dirty="0" smtClean="0"/>
              <a:t>Shock source---</a:t>
            </a:r>
            <a:r>
              <a:rPr lang="en-US" altLang="zh-CN" sz="2400" b="0" dirty="0" smtClean="0">
                <a:sym typeface="Wingdings" panose="05000000000000000000" pitchFamily="2" charset="2"/>
              </a:rPr>
              <a:t>propellant cabin--- bus cabin panel --- payload cabin panel</a:t>
            </a:r>
          </a:p>
          <a:p>
            <a:pPr marL="0" indent="0">
              <a:buNone/>
            </a:pPr>
            <a:endParaRPr lang="en-US" altLang="zh-CN" sz="2400" b="0" dirty="0"/>
          </a:p>
          <a:p>
            <a:pPr marL="0" indent="0">
              <a:buNone/>
            </a:pPr>
            <a:r>
              <a:rPr lang="en-US" altLang="zh-CN" sz="2400" b="0" dirty="0" smtClean="0"/>
              <a:t>Usually with the distance increases, the shock response decreases.</a:t>
            </a:r>
            <a:endParaRPr lang="zh-CN" altLang="en-US" sz="2400" b="0"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53</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35809203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r>
              <a:rPr lang="en-US" altLang="zh-CN" sz="3200" dirty="0"/>
              <a:t>Satellite-launching vehicle Clamp bond unlock test introduction</a:t>
            </a:r>
            <a:endParaRPr lang="zh-CN" altLang="en-US" sz="3200" dirty="0"/>
          </a:p>
        </p:txBody>
      </p:sp>
      <p:sp>
        <p:nvSpPr>
          <p:cNvPr id="3" name="内容占位符 2"/>
          <p:cNvSpPr>
            <a:spLocks noGrp="1"/>
          </p:cNvSpPr>
          <p:nvPr>
            <p:ph idx="1"/>
          </p:nvPr>
        </p:nvSpPr>
        <p:spPr/>
        <p:txBody>
          <a:bodyPr>
            <a:normAutofit/>
          </a:bodyPr>
          <a:lstStyle/>
          <a:p>
            <a:pPr marL="514350" indent="-514350">
              <a:buFont typeface="+mj-lt"/>
              <a:buAutoNum type="arabicPeriod" startAt="9"/>
            </a:pPr>
            <a:r>
              <a:rPr lang="en-US" altLang="zh-CN" sz="2400" dirty="0" smtClean="0"/>
              <a:t>Test </a:t>
            </a:r>
            <a:r>
              <a:rPr lang="en-US" altLang="zh-CN" sz="2400" dirty="0"/>
              <a:t>problem record and suggestion</a:t>
            </a:r>
          </a:p>
          <a:p>
            <a:pPr marL="0" indent="0">
              <a:buNone/>
            </a:pPr>
            <a:r>
              <a:rPr lang="en-US" altLang="zh-CN" sz="2400" dirty="0"/>
              <a:t> </a:t>
            </a:r>
            <a:r>
              <a:rPr lang="en-US" altLang="zh-CN" sz="2400" dirty="0" smtClean="0"/>
              <a:t>     </a:t>
            </a:r>
            <a:r>
              <a:rPr lang="en-US" altLang="zh-CN" sz="2400" b="0" dirty="0" smtClean="0"/>
              <a:t>Yes or No</a:t>
            </a:r>
          </a:p>
          <a:p>
            <a:pPr marL="0" indent="0">
              <a:buNone/>
            </a:pPr>
            <a:r>
              <a:rPr lang="en-US" altLang="zh-CN" sz="2400" b="0" dirty="0"/>
              <a:t> </a:t>
            </a:r>
            <a:r>
              <a:rPr lang="en-US" altLang="zh-CN" sz="2400" b="0" dirty="0" smtClean="0"/>
              <a:t>      If yes,  what problem and how process it </a:t>
            </a:r>
          </a:p>
          <a:p>
            <a:pPr marL="0" indent="0">
              <a:buNone/>
            </a:pPr>
            <a:r>
              <a:rPr lang="en-US" altLang="zh-CN" sz="2400" b="0" dirty="0" smtClean="0"/>
              <a:t>       Suggestion</a:t>
            </a:r>
          </a:p>
          <a:p>
            <a:endParaRPr lang="zh-CN" altLang="en-US" sz="2400"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54</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17739266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640"/>
            <a:ext cx="8229600" cy="1082660"/>
          </a:xfrm>
        </p:spPr>
        <p:txBody>
          <a:bodyPr>
            <a:normAutofit/>
          </a:bodyPr>
          <a:lstStyle/>
          <a:p>
            <a:r>
              <a:rPr lang="en-US" altLang="zh-CN" sz="3200" dirty="0"/>
              <a:t>Satellite-launching vehicle Clamp bond unlock test introduction</a:t>
            </a:r>
            <a:endParaRPr lang="zh-CN" altLang="en-US" sz="3200" dirty="0"/>
          </a:p>
        </p:txBody>
      </p:sp>
      <p:sp>
        <p:nvSpPr>
          <p:cNvPr id="3" name="内容占位符 2"/>
          <p:cNvSpPr>
            <a:spLocks noGrp="1"/>
          </p:cNvSpPr>
          <p:nvPr>
            <p:ph idx="1"/>
          </p:nvPr>
        </p:nvSpPr>
        <p:spPr/>
        <p:txBody>
          <a:bodyPr>
            <a:normAutofit/>
          </a:bodyPr>
          <a:lstStyle/>
          <a:p>
            <a:pPr marL="514350" indent="-514350">
              <a:buFont typeface="+mj-lt"/>
              <a:buAutoNum type="arabicPeriod" startAt="10"/>
            </a:pPr>
            <a:r>
              <a:rPr lang="en-US" altLang="zh-CN" sz="2400" dirty="0" smtClean="0"/>
              <a:t>Test conclusion</a:t>
            </a:r>
            <a:endParaRPr lang="zh-CN" altLang="en-US" sz="2400" dirty="0"/>
          </a:p>
          <a:p>
            <a:pPr marL="457200" indent="-457200" algn="just">
              <a:buFont typeface="+mj-lt"/>
              <a:buAutoNum type="alphaLcParenR"/>
            </a:pPr>
            <a:r>
              <a:rPr lang="en-US" altLang="zh-CN" sz="2400" b="0" dirty="0"/>
              <a:t>Test systems and test process meet the requirements of test plan and concerned standards, test result is effective;</a:t>
            </a:r>
          </a:p>
          <a:p>
            <a:pPr marL="457200" indent="-457200" algn="just">
              <a:buFont typeface="+mj-lt"/>
              <a:buAutoNum type="alphaLcParenR"/>
            </a:pPr>
            <a:r>
              <a:rPr lang="en-US" altLang="zh-CN" sz="2400" b="0" dirty="0" smtClean="0"/>
              <a:t>Acquire </a:t>
            </a:r>
            <a:r>
              <a:rPr lang="en-US" altLang="zh-CN" sz="2400" b="0" dirty="0"/>
              <a:t>the shock </a:t>
            </a:r>
            <a:r>
              <a:rPr lang="en-US" altLang="zh-CN" sz="2400" b="0" dirty="0" smtClean="0"/>
              <a:t>responses of critical positions during </a:t>
            </a:r>
            <a:r>
              <a:rPr lang="en-US" altLang="zh-CN" sz="2400" b="0" dirty="0"/>
              <a:t>satellite-launching vehicle unlock;</a:t>
            </a:r>
          </a:p>
          <a:p>
            <a:pPr marL="457200" indent="-457200" algn="just">
              <a:buFont typeface="+mj-lt"/>
              <a:buAutoNum type="alphaLcParenR"/>
            </a:pPr>
            <a:r>
              <a:rPr lang="en-US" altLang="zh-CN" sz="2400" b="0" dirty="0"/>
              <a:t>Verify the design reliability of satellite-launching vehicle separation system.</a:t>
            </a:r>
          </a:p>
          <a:p>
            <a:pPr marL="514350" indent="-514350">
              <a:buFont typeface="+mj-lt"/>
              <a:buAutoNum type="arabicPeriod" startAt="10"/>
            </a:pPr>
            <a:endParaRPr lang="en-US" altLang="zh-CN" sz="2400" dirty="0" smtClean="0"/>
          </a:p>
          <a:p>
            <a:pPr marL="514350" indent="-514350">
              <a:buFont typeface="+mj-lt"/>
              <a:buAutoNum type="arabicPeriod" startAt="10"/>
            </a:pPr>
            <a:endParaRPr lang="en-US" altLang="zh-CN" sz="2400" dirty="0" smtClean="0"/>
          </a:p>
          <a:p>
            <a:endParaRPr lang="zh-CN" altLang="en-US" sz="2400" dirty="0"/>
          </a:p>
        </p:txBody>
      </p:sp>
      <p:sp>
        <p:nvSpPr>
          <p:cNvPr id="4" name="页脚占位符 3"/>
          <p:cNvSpPr>
            <a:spLocks noGrp="1"/>
          </p:cNvSpPr>
          <p:nvPr>
            <p:ph type="ftr" sz="quarter" idx="11"/>
          </p:nvPr>
        </p:nvSpPr>
        <p:spPr/>
        <p:txBody>
          <a:bodyPr/>
          <a:lstStyle/>
          <a:p>
            <a:r>
              <a:rPr lang="en-US" altLang="zh-CN" smtClean="0">
                <a:solidFill>
                  <a:prstClr val="black"/>
                </a:solidFill>
              </a:rPr>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solidFill>
                <a:prstClr val="black"/>
              </a:solidFill>
            </a:endParaRPr>
          </a:p>
        </p:txBody>
      </p:sp>
      <p:sp>
        <p:nvSpPr>
          <p:cNvPr id="5" name="灯片编号占位符 4"/>
          <p:cNvSpPr>
            <a:spLocks noGrp="1"/>
          </p:cNvSpPr>
          <p:nvPr>
            <p:ph type="sldNum" sz="quarter" idx="12"/>
          </p:nvPr>
        </p:nvSpPr>
        <p:spPr/>
        <p:txBody>
          <a:bodyPr/>
          <a:lstStyle/>
          <a:p>
            <a:r>
              <a:rPr lang="en-US" altLang="zh-CN" smtClean="0">
                <a:solidFill>
                  <a:prstClr val="black"/>
                </a:solidFill>
                <a:latin typeface="微软雅黑" pitchFamily="34" charset="-122"/>
                <a:ea typeface="微软雅黑" pitchFamily="34" charset="-122"/>
              </a:rPr>
              <a:t>PAGE</a:t>
            </a:r>
            <a:r>
              <a:rPr lang="zh-CN" altLang="en-US" smtClean="0">
                <a:solidFill>
                  <a:prstClr val="black"/>
                </a:solidFill>
              </a:rPr>
              <a:t> </a:t>
            </a:r>
            <a:fld id="{E1EFCB46-C834-4067-A327-0EA79FD50686}" type="slidenum">
              <a:rPr lang="zh-CN" altLang="en-US" smtClean="0">
                <a:solidFill>
                  <a:prstClr val="black"/>
                </a:solidFill>
              </a:rPr>
              <a:pPr/>
              <a:t>55</a:t>
            </a:fld>
            <a:r>
              <a:rPr lang="zh-CN" altLang="en-US" smtClean="0">
                <a:solidFill>
                  <a:prstClr val="black"/>
                </a:solidFill>
              </a:rPr>
              <a:t> </a:t>
            </a:r>
            <a:endParaRPr lang="zh-CN" altLang="en-US" dirty="0">
              <a:solidFill>
                <a:prstClr val="black"/>
              </a:solidFill>
              <a:latin typeface="微软雅黑" pitchFamily="34" charset="-122"/>
              <a:ea typeface="微软雅黑" pitchFamily="34" charset="-122"/>
            </a:endParaRPr>
          </a:p>
        </p:txBody>
      </p:sp>
    </p:spTree>
    <p:extLst>
      <p:ext uri="{BB962C8B-B14F-4D97-AF65-F5344CB8AC3E}">
        <p14:creationId xmlns:p14="http://schemas.microsoft.com/office/powerpoint/2010/main" val="28308295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endParaRPr lang="zh-CN" altLang="en-US" dirty="0"/>
          </a:p>
        </p:txBody>
      </p:sp>
      <p:sp>
        <p:nvSpPr>
          <p:cNvPr id="3" name="内容占位符 2"/>
          <p:cNvSpPr>
            <a:spLocks noGrp="1"/>
          </p:cNvSpPr>
          <p:nvPr>
            <p:ph idx="1"/>
          </p:nvPr>
        </p:nvSpPr>
        <p:spPr/>
        <p:txBody>
          <a:bodyPr/>
          <a:lstStyle/>
          <a:p>
            <a:r>
              <a:rPr lang="en-US" altLang="zh-CN" dirty="0" smtClean="0"/>
              <a:t>Q&amp;A</a:t>
            </a:r>
          </a:p>
          <a:p>
            <a:endParaRPr lang="en-US" altLang="zh-CN" dirty="0" smtClean="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56</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0384682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Pyro technics shock </a:t>
            </a:r>
            <a:r>
              <a:rPr lang="en-US" altLang="zh-CN" dirty="0" smtClean="0"/>
              <a:t>test 8</a:t>
            </a:r>
            <a:endParaRPr lang="zh-CN" altLang="en-US" dirty="0"/>
          </a:p>
        </p:txBody>
      </p:sp>
      <p:sp>
        <p:nvSpPr>
          <p:cNvPr id="3" name="内容占位符 2"/>
          <p:cNvSpPr>
            <a:spLocks noGrp="1"/>
          </p:cNvSpPr>
          <p:nvPr>
            <p:ph idx="1"/>
          </p:nvPr>
        </p:nvSpPr>
        <p:spPr/>
        <p:txBody>
          <a:bodyPr/>
          <a:lstStyle/>
          <a:p>
            <a:pPr marL="0" indent="0">
              <a:buNone/>
            </a:pPr>
            <a:endParaRPr lang="en-US" altLang="zh-CN" dirty="0" smtClean="0"/>
          </a:p>
          <a:p>
            <a:pPr marL="0" indent="0">
              <a:buNone/>
            </a:pPr>
            <a:endParaRPr lang="en-US" altLang="zh-CN" dirty="0"/>
          </a:p>
          <a:p>
            <a:pPr marL="0" indent="0" algn="ctr">
              <a:buNone/>
            </a:pPr>
            <a:r>
              <a:rPr lang="en-US" altLang="zh-CN" dirty="0" smtClean="0"/>
              <a:t>Thanks!</a:t>
            </a:r>
          </a:p>
          <a:p>
            <a:endParaRPr lang="en-US" altLang="zh-CN" dirty="0" smtClean="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57</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485414197"/>
      </p:ext>
    </p:extLst>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穿越">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6024</TotalTime>
  <Words>5923</Words>
  <Application>Microsoft Office PowerPoint</Application>
  <PresentationFormat>全屏显示(4:3)</PresentationFormat>
  <Paragraphs>581</Paragraphs>
  <Slides>57</Slides>
  <Notes>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57</vt:i4>
      </vt:variant>
    </vt:vector>
  </HeadingPairs>
  <TitlesOfParts>
    <vt:vector size="59" baseType="lpstr">
      <vt:lpstr>1_Office 主题</vt:lpstr>
      <vt:lpstr>Visio</vt:lpstr>
      <vt:lpstr>ETRSS-1  Shock Test Training</vt:lpstr>
      <vt:lpstr>PowerPoint 演示文稿</vt:lpstr>
      <vt:lpstr>PowerPoint 演示文稿</vt:lpstr>
      <vt:lpstr> </vt:lpstr>
      <vt:lpstr> </vt:lpstr>
      <vt:lpstr> </vt:lpstr>
      <vt:lpstr> </vt:lpstr>
      <vt:lpstr> </vt:lpstr>
      <vt:lpstr>Introduction of  satellite shock environment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Satellite-launching vehicle Clamp bond unlock test introduction</vt:lpstr>
      <vt:lpstr>PowerPoint 演示文稿</vt:lpstr>
      <vt:lpstr>Pyro technics shock test 8</vt:lpstr>
    </vt:vector>
  </TitlesOfParts>
  <Company>dfh</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李宁</dc:creator>
  <cp:lastModifiedBy>侯天宝</cp:lastModifiedBy>
  <cp:revision>570</cp:revision>
  <dcterms:created xsi:type="dcterms:W3CDTF">2013-04-18T01:59:38Z</dcterms:created>
  <dcterms:modified xsi:type="dcterms:W3CDTF">2019-02-27T03:29:53Z</dcterms:modified>
</cp:coreProperties>
</file>