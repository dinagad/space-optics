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Default Extension="docx" ContentType="application/vnd.openxmlformats-officedocument.wordprocessingml.document"/>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Default Extension="wdp" ContentType="image/vnd.ms-photo"/>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Layouts/slideLayout3.xml" ContentType="application/vnd.openxmlformats-officedocument.presentationml.slideLayout+xml"/>
  <Default Extension="jpeg" ContentType="image/jpeg"/>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4"/>
  </p:notesMasterIdLst>
  <p:handoutMasterIdLst>
    <p:handoutMasterId r:id="rId45"/>
  </p:handoutMasterIdLst>
  <p:sldIdLst>
    <p:sldId id="275" r:id="rId2"/>
    <p:sldId id="409" r:id="rId3"/>
    <p:sldId id="381" r:id="rId4"/>
    <p:sldId id="410" r:id="rId5"/>
    <p:sldId id="411" r:id="rId6"/>
    <p:sldId id="412" r:id="rId7"/>
    <p:sldId id="413" r:id="rId8"/>
    <p:sldId id="414" r:id="rId9"/>
    <p:sldId id="437" r:id="rId10"/>
    <p:sldId id="415" r:id="rId11"/>
    <p:sldId id="416" r:id="rId12"/>
    <p:sldId id="419" r:id="rId13"/>
    <p:sldId id="420" r:id="rId14"/>
    <p:sldId id="421" r:id="rId15"/>
    <p:sldId id="422" r:id="rId16"/>
    <p:sldId id="423" r:id="rId17"/>
    <p:sldId id="424" r:id="rId18"/>
    <p:sldId id="426" r:id="rId19"/>
    <p:sldId id="427" r:id="rId20"/>
    <p:sldId id="428" r:id="rId21"/>
    <p:sldId id="429" r:id="rId22"/>
    <p:sldId id="430" r:id="rId23"/>
    <p:sldId id="448" r:id="rId24"/>
    <p:sldId id="452" r:id="rId25"/>
    <p:sldId id="453" r:id="rId26"/>
    <p:sldId id="450" r:id="rId27"/>
    <p:sldId id="449" r:id="rId28"/>
    <p:sldId id="431" r:id="rId29"/>
    <p:sldId id="432" r:id="rId30"/>
    <p:sldId id="438" r:id="rId31"/>
    <p:sldId id="434" r:id="rId32"/>
    <p:sldId id="439" r:id="rId33"/>
    <p:sldId id="440" r:id="rId34"/>
    <p:sldId id="443" r:id="rId35"/>
    <p:sldId id="444" r:id="rId36"/>
    <p:sldId id="445" r:id="rId37"/>
    <p:sldId id="451" r:id="rId38"/>
    <p:sldId id="446" r:id="rId39"/>
    <p:sldId id="441" r:id="rId40"/>
    <p:sldId id="442" r:id="rId41"/>
    <p:sldId id="435" r:id="rId42"/>
    <p:sldId id="436" r:id="rId43"/>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xmlns="">
        <p14:section name="默认节" id="{D98E4EC8-262F-4493-A17B-40E3C335E374}">
          <p14:sldIdLst>
            <p14:sldId id="275"/>
            <p14:sldId id="409"/>
            <p14:sldId id="381"/>
            <p14:sldId id="410"/>
            <p14:sldId id="411"/>
            <p14:sldId id="412"/>
            <p14:sldId id="413"/>
            <p14:sldId id="414"/>
            <p14:sldId id="437"/>
            <p14:sldId id="415"/>
            <p14:sldId id="416"/>
            <p14:sldId id="419"/>
            <p14:sldId id="420"/>
            <p14:sldId id="421"/>
            <p14:sldId id="422"/>
            <p14:sldId id="423"/>
            <p14:sldId id="424"/>
            <p14:sldId id="426"/>
            <p14:sldId id="427"/>
            <p14:sldId id="428"/>
            <p14:sldId id="429"/>
            <p14:sldId id="430"/>
            <p14:sldId id="448"/>
            <p14:sldId id="452"/>
            <p14:sldId id="453"/>
            <p14:sldId id="450"/>
            <p14:sldId id="449"/>
            <p14:sldId id="431"/>
            <p14:sldId id="432"/>
            <p14:sldId id="438"/>
            <p14:sldId id="434"/>
            <p14:sldId id="439"/>
            <p14:sldId id="440"/>
            <p14:sldId id="443"/>
            <p14:sldId id="444"/>
            <p14:sldId id="445"/>
            <p14:sldId id="451"/>
            <p14:sldId id="446"/>
            <p14:sldId id="441"/>
            <p14:sldId id="442"/>
            <p14:sldId id="435"/>
            <p14:sldId id="436"/>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983F1"/>
    <a:srgbClr val="0099FF"/>
    <a:srgbClr val="165676"/>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2615" autoAdjust="0"/>
  </p:normalViewPr>
  <p:slideViewPr>
    <p:cSldViewPr>
      <p:cViewPr>
        <p:scale>
          <a:sx n="100" d="100"/>
          <a:sy n="100" d="100"/>
        </p:scale>
        <p:origin x="-294" y="1236"/>
      </p:cViewPr>
      <p:guideLst>
        <p:guide orient="horz" pos="2160"/>
        <p:guide pos="2880"/>
      </p:guideLst>
    </p:cSldViewPr>
  </p:slideViewPr>
  <p:notesTextViewPr>
    <p:cViewPr>
      <p:scale>
        <a:sx n="100" d="100"/>
        <a:sy n="100" d="100"/>
      </p:scale>
      <p:origin x="0" y="0"/>
    </p:cViewPr>
  </p:notesTextViewPr>
  <p:notesViewPr>
    <p:cSldViewPr>
      <p:cViewPr varScale="1">
        <p:scale>
          <a:sx n="99" d="100"/>
          <a:sy n="99" d="100"/>
        </p:scale>
        <p:origin x="-3624" y="-108"/>
      </p:cViewPr>
      <p:guideLst>
        <p:guide orient="horz" pos="2880"/>
        <p:guide pos="2160"/>
      </p:guideLst>
    </p:cSldViewPr>
  </p:notes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A22DA29-CCC5-4846-9B28-545A914610E2}" type="datetimeFigureOut">
              <a:rPr lang="zh-CN" altLang="en-US" smtClean="0"/>
              <a:pPr/>
              <a:t>2019/3/5</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AA860109-53DF-457F-AED6-1BA9F3CD28FC}" type="slidenum">
              <a:rPr lang="zh-CN" altLang="en-US" smtClean="0"/>
              <a:pPr/>
              <a:t>‹#›</a:t>
            </a:fld>
            <a:endParaRPr lang="zh-CN" altLang="en-US"/>
          </a:p>
        </p:txBody>
      </p:sp>
    </p:spTree>
    <p:extLst>
      <p:ext uri="{BB962C8B-B14F-4D97-AF65-F5344CB8AC3E}">
        <p14:creationId xmlns:p14="http://schemas.microsoft.com/office/powerpoint/2010/main" xmlns="" val="304158966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ED8E1AA-0947-4ECF-BF79-B825971169E5}" type="datetimeFigureOut">
              <a:rPr lang="zh-CN" altLang="en-US" smtClean="0"/>
              <a:pPr/>
              <a:t>2019/3/5</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4935D53-AD83-4E32-86F2-0C01B0AFA71E}" type="slidenum">
              <a:rPr lang="zh-CN" altLang="en-US" smtClean="0"/>
              <a:pPr/>
              <a:t>‹#›</a:t>
            </a:fld>
            <a:endParaRPr lang="zh-CN" altLang="en-US"/>
          </a:p>
        </p:txBody>
      </p:sp>
    </p:spTree>
    <p:extLst>
      <p:ext uri="{BB962C8B-B14F-4D97-AF65-F5344CB8AC3E}">
        <p14:creationId xmlns:p14="http://schemas.microsoft.com/office/powerpoint/2010/main" xmlns="" val="21246098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4935D53-AD83-4E32-86F2-0C01B0AFA71E}" type="slidenum">
              <a:rPr lang="zh-CN" altLang="en-US" smtClean="0"/>
              <a:pPr/>
              <a:t>11</a:t>
            </a:fld>
            <a:endParaRPr lang="zh-CN" altLang="en-US"/>
          </a:p>
        </p:txBody>
      </p:sp>
    </p:spTree>
    <p:extLst>
      <p:ext uri="{BB962C8B-B14F-4D97-AF65-F5344CB8AC3E}">
        <p14:creationId xmlns:p14="http://schemas.microsoft.com/office/powerpoint/2010/main" xmlns="" val="220508846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pic>
        <p:nvPicPr>
          <p:cNvPr id="7" name="图片 6" descr="2938668_150805002142_2.jpg"/>
          <p:cNvPicPr>
            <a:picLocks noChangeAspect="1"/>
          </p:cNvPicPr>
          <p:nvPr userDrawn="1"/>
        </p:nvPicPr>
        <p:blipFill>
          <a:blip r:embed="rId2"/>
          <a:srcRect b="4167"/>
          <a:stretch>
            <a:fillRect/>
          </a:stretch>
        </p:blipFill>
        <p:spPr>
          <a:xfrm>
            <a:off x="0" y="0"/>
            <a:ext cx="9144000" cy="6858000"/>
          </a:xfrm>
          <a:prstGeom prst="rect">
            <a:avLst/>
          </a:prstGeom>
        </p:spPr>
      </p:pic>
      <p:sp>
        <p:nvSpPr>
          <p:cNvPr id="3" name="副标题 2"/>
          <p:cNvSpPr>
            <a:spLocks noGrp="1"/>
          </p:cNvSpPr>
          <p:nvPr>
            <p:ph type="subTitle" idx="1" hasCustomPrompt="1"/>
          </p:nvPr>
        </p:nvSpPr>
        <p:spPr>
          <a:xfrm>
            <a:off x="2195736" y="5085184"/>
            <a:ext cx="4914912" cy="685808"/>
          </a:xfrm>
        </p:spPr>
        <p:txBody>
          <a:bodyPr>
            <a:noAutofit/>
          </a:bodyPr>
          <a:lstStyle>
            <a:lvl1pPr marL="0" indent="0" algn="ctr">
              <a:buNone/>
              <a:defRPr sz="3200" b="1" cap="none" spc="0">
                <a:ln>
                  <a:noFill/>
                </a:ln>
                <a:solidFill>
                  <a:schemeClr val="bg1"/>
                </a:solidFill>
                <a:effectLst>
                  <a:outerShdw blurRad="38100" dist="38100" dir="2700000" algn="tl">
                    <a:srgbClr val="000000">
                      <a:alpha val="43137"/>
                    </a:srgbClr>
                  </a:outerShdw>
                </a:effectLst>
                <a:latin typeface="微软雅黑" pitchFamily="34" charset="-122"/>
                <a:ea typeface="微软雅黑" pitchFamily="34" charset="-122"/>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dirty="0" smtClean="0"/>
              <a:t>DFH SATELLITE </a:t>
            </a:r>
            <a:r>
              <a:rPr lang="en-US" altLang="zh-CN" dirty="0" err="1" smtClean="0"/>
              <a:t>Co.,Ltd</a:t>
            </a:r>
            <a:endParaRPr lang="zh-CN" altLang="en-US" dirty="0"/>
          </a:p>
        </p:txBody>
      </p:sp>
      <p:sp>
        <p:nvSpPr>
          <p:cNvPr id="15" name="标题 14"/>
          <p:cNvSpPr>
            <a:spLocks noGrp="1"/>
          </p:cNvSpPr>
          <p:nvPr>
            <p:ph type="title"/>
          </p:nvPr>
        </p:nvSpPr>
        <p:spPr>
          <a:xfrm>
            <a:off x="714348" y="2409248"/>
            <a:ext cx="7586658" cy="1082660"/>
          </a:xfrm>
        </p:spPr>
        <p:txBody>
          <a:bodyPr>
            <a:normAutofit/>
          </a:bodyPr>
          <a:lstStyle>
            <a:lvl1pPr>
              <a:defRPr sz="4800">
                <a:solidFill>
                  <a:srgbClr val="002060"/>
                </a:solidFill>
                <a:effectLst>
                  <a:outerShdw blurRad="38100" dist="38100" dir="2700000" algn="tl">
                    <a:srgbClr val="000000">
                      <a:alpha val="43137"/>
                    </a:srgbClr>
                  </a:outerShdw>
                </a:effectLst>
              </a:defRPr>
            </a:lvl1pPr>
          </a:lstStyle>
          <a:p>
            <a:r>
              <a:rPr lang="zh-CN" altLang="en-US" dirty="0" smtClean="0"/>
              <a:t>单击此处编辑母版标题样式</a:t>
            </a:r>
            <a:endParaRPr lang="zh-CN" altLang="en-US" dirty="0"/>
          </a:p>
        </p:txBody>
      </p:sp>
      <p:pic>
        <p:nvPicPr>
          <p:cNvPr id="11267" name="Picture 3"/>
          <p:cNvPicPr>
            <a:picLocks noChangeAspect="1" noChangeArrowheads="1"/>
          </p:cNvPicPr>
          <p:nvPr userDrawn="1"/>
        </p:nvPicPr>
        <p:blipFill>
          <a:blip r:embed="rId3" cstate="print">
            <a:extLst>
              <a:ext uri="{BEBA8EAE-BF5A-486C-A8C5-ECC9F3942E4B}">
                <a14:imgProps xmlns:a14="http://schemas.microsoft.com/office/drawing/2010/main" xmlns="">
                  <a14:imgLayer r:embed="rId4">
                    <a14:imgEffect>
                      <a14:backgroundRemoval t="3196" b="99696" l="321" r="100000">
                        <a14:foregroundMark x1="7066" y1="8828" x2="16809" y2="9132"/>
                        <a14:foregroundMark x1="8565" y1="10046" x2="11242" y2="8828"/>
                        <a14:foregroundMark x1="12527" y1="7915" x2="12527" y2="7915"/>
                      </a14:backgroundRemoval>
                    </a14:imgEffect>
                  </a14:imgLayer>
                </a14:imgProps>
              </a:ext>
              <a:ext uri="{28A0092B-C50C-407E-A947-70E740481C1C}">
                <a14:useLocalDpi xmlns:a14="http://schemas.microsoft.com/office/drawing/2010/main" xmlns="" val="0"/>
              </a:ext>
            </a:extLst>
          </a:blip>
          <a:srcRect/>
          <a:stretch>
            <a:fillRect/>
          </a:stretch>
        </p:blipFill>
        <p:spPr bwMode="auto">
          <a:xfrm>
            <a:off x="7092280" y="188640"/>
            <a:ext cx="1843743" cy="12969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页脚占位符 4"/>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6" name="灯片编号占位符 5"/>
          <p:cNvSpPr>
            <a:spLocks noGrp="1"/>
          </p:cNvSpPr>
          <p:nvPr>
            <p:ph type="sldNum" sz="quarter" idx="12"/>
          </p:nvPr>
        </p:nvSpPr>
        <p:spPr/>
        <p:txBody>
          <a:bodyPr/>
          <a:lstStyle>
            <a:lvl1pPr>
              <a:defRPr sz="1200"/>
            </a:lvl1p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a:t>
            </a:fld>
            <a:r>
              <a:rPr lang="zh-CN" altLang="en-US" dirty="0" smtClean="0"/>
              <a:t> </a:t>
            </a:r>
            <a:endParaRPr lang="zh-CN" altLang="en-US"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5" name="页脚占位符 4"/>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6" name="灯片编号占位符 5"/>
          <p:cNvSpPr>
            <a:spLocks noGrp="1"/>
          </p:cNvSpPr>
          <p:nvPr>
            <p:ph type="sldNum" sz="quarter" idx="12"/>
          </p:nvPr>
        </p:nvSpPr>
        <p:spPr/>
        <p:txBody>
          <a:bodyPr/>
          <a:lstStyle>
            <a:lvl1pPr>
              <a:defRPr sz="1200"/>
            </a:lvl1p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a:t>
            </a:fld>
            <a:r>
              <a:rPr lang="zh-CN" altLang="en-US" dirty="0" smtClean="0"/>
              <a:t> </a:t>
            </a:r>
            <a:endParaRPr lang="zh-CN" altLang="en-US" dirty="0">
              <a:latin typeface="微软雅黑" pitchFamily="34" charset="-122"/>
              <a:ea typeface="微软雅黑" pitchFamily="34" charset="-122"/>
            </a:endParaRP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6" name="页脚占位符 5"/>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7" name="灯片编号占位符 6"/>
          <p:cNvSpPr>
            <a:spLocks noGrp="1"/>
          </p:cNvSpPr>
          <p:nvPr>
            <p:ph type="sldNum" sz="quarter" idx="12"/>
          </p:nvPr>
        </p:nvSpPr>
        <p:spPr/>
        <p:txBody>
          <a:bodyPr/>
          <a:lstStyle>
            <a:lvl1pPr>
              <a:defRPr sz="1200"/>
            </a:lvl1pPr>
          </a:lstStyle>
          <a:p>
            <a:r>
              <a:rPr lang="en-US" altLang="zh-CN" dirty="0" smtClean="0">
                <a:latin typeface="微软雅黑" pitchFamily="34" charset="-122"/>
                <a:ea typeface="微软雅黑" pitchFamily="34" charset="-122"/>
              </a:rPr>
              <a:t>PAGE</a:t>
            </a:r>
            <a:r>
              <a:rPr lang="zh-CN" altLang="en-US" dirty="0" smtClean="0"/>
              <a:t> </a:t>
            </a:r>
            <a:fld id="{E1EFCB46-C834-4067-A327-0EA79FD50686}" type="slidenum">
              <a:rPr lang="zh-CN" altLang="en-US" smtClean="0"/>
              <a:pPr/>
              <a:t>‹#›</a:t>
            </a:fld>
            <a:r>
              <a:rPr lang="zh-CN" altLang="en-US" dirty="0" smtClean="0"/>
              <a:t> </a:t>
            </a:r>
            <a:endParaRPr lang="zh-CN" altLang="en-US" dirty="0">
              <a:latin typeface="微软雅黑" pitchFamily="34" charset="-122"/>
              <a:ea typeface="微软雅黑" pitchFamily="3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仅标题">
    <p:spTree>
      <p:nvGrpSpPr>
        <p:cNvPr id="1" name=""/>
        <p:cNvGrpSpPr/>
        <p:nvPr/>
      </p:nvGrpSpPr>
      <p:grpSpPr>
        <a:xfrm>
          <a:off x="0" y="0"/>
          <a:ext cx="0" cy="0"/>
          <a:chOff x="0" y="0"/>
          <a:chExt cx="0" cy="0"/>
        </a:xfrm>
      </p:grpSpPr>
      <p:pic>
        <p:nvPicPr>
          <p:cNvPr id="6" name="图片 5" descr="2938668_150805002142_2.jpg"/>
          <p:cNvPicPr>
            <a:picLocks noChangeAspect="1"/>
          </p:cNvPicPr>
          <p:nvPr userDrawn="1"/>
        </p:nvPicPr>
        <p:blipFill>
          <a:blip r:embed="rId2"/>
          <a:srcRect b="4167"/>
          <a:stretch>
            <a:fillRect/>
          </a:stretch>
        </p:blipFill>
        <p:spPr>
          <a:xfrm>
            <a:off x="0" y="0"/>
            <a:ext cx="9144000" cy="6858000"/>
          </a:xfrm>
          <a:prstGeom prst="rect">
            <a:avLst/>
          </a:prstGeom>
        </p:spPr>
      </p:pic>
      <p:pic>
        <p:nvPicPr>
          <p:cNvPr id="13314" name="Picture 2"/>
          <p:cNvPicPr>
            <a:picLocks noChangeAspect="1" noChangeArrowheads="1"/>
          </p:cNvPicPr>
          <p:nvPr userDrawn="1"/>
        </p:nvPicPr>
        <p:blipFill>
          <a:blip r:embed="rId3">
            <a:extLst>
              <a:ext uri="{28A0092B-C50C-407E-A947-70E740481C1C}">
                <a14:useLocalDpi xmlns:a14="http://schemas.microsoft.com/office/drawing/2010/main" xmlns="" val="0"/>
              </a:ext>
            </a:extLst>
          </a:blip>
          <a:srcRect/>
          <a:stretch>
            <a:fillRect/>
          </a:stretch>
        </p:blipFill>
        <p:spPr bwMode="auto">
          <a:xfrm>
            <a:off x="6422410" y="0"/>
            <a:ext cx="2754307" cy="194421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图片 6" descr="2938668_150805002142_2.jpg"/>
          <p:cNvPicPr>
            <a:picLocks noChangeAspect="1"/>
          </p:cNvPicPr>
          <p:nvPr userDrawn="1"/>
        </p:nvPicPr>
        <p:blipFill>
          <a:blip r:embed="rId7"/>
          <a:srcRect t="10773" b="69020"/>
          <a:stretch>
            <a:fillRect/>
          </a:stretch>
        </p:blipFill>
        <p:spPr>
          <a:xfrm>
            <a:off x="0" y="0"/>
            <a:ext cx="9144000" cy="1214422"/>
          </a:xfrm>
          <a:prstGeom prst="rect">
            <a:avLst/>
          </a:prstGeom>
        </p:spPr>
      </p:pic>
      <p:sp>
        <p:nvSpPr>
          <p:cNvPr id="2" name="标题占位符 1"/>
          <p:cNvSpPr>
            <a:spLocks noGrp="1"/>
          </p:cNvSpPr>
          <p:nvPr>
            <p:ph type="title"/>
          </p:nvPr>
        </p:nvSpPr>
        <p:spPr>
          <a:xfrm>
            <a:off x="457200" y="274638"/>
            <a:ext cx="8229600" cy="1082660"/>
          </a:xfrm>
          <a:prstGeom prst="rect">
            <a:avLst/>
          </a:prstGeom>
        </p:spPr>
        <p:txBody>
          <a:bodyPr vert="horz" lIns="91440" tIns="45720" rIns="91440" bIns="45720" rtlCol="0" anchor="ctr">
            <a:normAutofit/>
          </a:body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457200" y="1357298"/>
            <a:ext cx="8229600" cy="4768865"/>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5" name="页脚占位符 4"/>
          <p:cNvSpPr>
            <a:spLocks noGrp="1"/>
          </p:cNvSpPr>
          <p:nvPr>
            <p:ph type="ftr" sz="quarter" idx="3"/>
          </p:nvPr>
        </p:nvSpPr>
        <p:spPr>
          <a:xfrm>
            <a:off x="971600" y="6359525"/>
            <a:ext cx="6480720" cy="363558"/>
          </a:xfrm>
          <a:prstGeom prst="rect">
            <a:avLst/>
          </a:prstGeom>
        </p:spPr>
        <p:txBody>
          <a:bodyPr vert="horz" lIns="91440" tIns="45720" rIns="91440" bIns="45720" rtlCol="0" anchor="ctr"/>
          <a:lstStyle>
            <a:lvl1pPr algn="ctr">
              <a:defRPr sz="700" b="0">
                <a:solidFill>
                  <a:schemeClr val="tx1"/>
                </a:solidFill>
                <a:latin typeface="微软雅黑" pitchFamily="34" charset="-122"/>
                <a:ea typeface="微软雅黑" pitchFamily="34" charset="-122"/>
                <a:cs typeface="Arial" pitchFamily="34" charset="0"/>
              </a:defRPr>
            </a:lvl1p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6" name="灯片编号占位符 5"/>
          <p:cNvSpPr>
            <a:spLocks noGrp="1"/>
          </p:cNvSpPr>
          <p:nvPr>
            <p:ph type="sldNum" sz="quarter" idx="4"/>
          </p:nvPr>
        </p:nvSpPr>
        <p:spPr>
          <a:xfrm>
            <a:off x="7884368" y="6356350"/>
            <a:ext cx="802432" cy="365125"/>
          </a:xfrm>
          <a:prstGeom prst="rect">
            <a:avLst/>
          </a:prstGeom>
        </p:spPr>
        <p:txBody>
          <a:bodyPr vert="horz" lIns="91440" tIns="45720" rIns="91440" bIns="45720" rtlCol="0" anchor="ctr"/>
          <a:lstStyle>
            <a:lvl1pPr algn="r">
              <a:defRPr sz="1200">
                <a:solidFill>
                  <a:schemeClr val="tx1"/>
                </a:solidFill>
                <a:latin typeface="Arial" pitchFamily="34" charset="0"/>
                <a:cs typeface="Arial" pitchFamily="34" charset="0"/>
              </a:defRPr>
            </a:lvl1pPr>
          </a:lstStyle>
          <a:p>
            <a:r>
              <a:rPr lang="en-US" altLang="zh-CN" sz="1050" dirty="0" smtClean="0">
                <a:latin typeface="微软雅黑" pitchFamily="34" charset="-122"/>
                <a:ea typeface="微软雅黑" pitchFamily="34" charset="-122"/>
              </a:rPr>
              <a:t>PAGE</a:t>
            </a:r>
            <a:r>
              <a:rPr lang="zh-CN" altLang="en-US" sz="1050" dirty="0" smtClean="0"/>
              <a:t> </a:t>
            </a:r>
            <a:fld id="{E1EFCB46-C834-4067-A327-0EA79FD50686}" type="slidenum">
              <a:rPr lang="zh-CN" altLang="en-US" sz="1050" smtClean="0"/>
              <a:pPr/>
              <a:t>‹#›</a:t>
            </a:fld>
            <a:r>
              <a:rPr lang="zh-CN" altLang="en-US" dirty="0" smtClean="0"/>
              <a:t> </a:t>
            </a:r>
            <a:endParaRPr lang="zh-CN" altLang="en-US" dirty="0">
              <a:latin typeface="微软雅黑" pitchFamily="34" charset="-122"/>
              <a:ea typeface="微软雅黑" pitchFamily="34" charset="-122"/>
            </a:endParaRPr>
          </a:p>
        </p:txBody>
      </p:sp>
      <p:pic>
        <p:nvPicPr>
          <p:cNvPr id="8" name="图片 7" descr="2938668_150805002142_2.jpg"/>
          <p:cNvPicPr>
            <a:picLocks noChangeAspect="1"/>
          </p:cNvPicPr>
          <p:nvPr userDrawn="1"/>
        </p:nvPicPr>
        <p:blipFill>
          <a:blip r:embed="rId7"/>
          <a:srcRect t="52304" b="41753"/>
          <a:stretch>
            <a:fillRect/>
          </a:stretch>
        </p:blipFill>
        <p:spPr>
          <a:xfrm>
            <a:off x="0" y="6715149"/>
            <a:ext cx="9144000" cy="321458"/>
          </a:xfrm>
          <a:prstGeom prst="rect">
            <a:avLst/>
          </a:prstGeom>
        </p:spPr>
      </p:pic>
      <p:pic>
        <p:nvPicPr>
          <p:cNvPr id="16" name="图片 15"/>
          <p:cNvPicPr>
            <a:picLocks noChangeAspect="1"/>
          </p:cNvPicPr>
          <p:nvPr userDrawn="1"/>
        </p:nvPicPr>
        <p:blipFill rotWithShape="1">
          <a:blip r:embed="rId8" cstate="print">
            <a:extLst>
              <a:ext uri="{28A0092B-C50C-407E-A947-70E740481C1C}">
                <a14:useLocalDpi xmlns:a14="http://schemas.microsoft.com/office/drawing/2010/main" xmlns="" val="0"/>
              </a:ext>
            </a:extLst>
          </a:blip>
          <a:srcRect b="34726"/>
          <a:stretch/>
        </p:blipFill>
        <p:spPr>
          <a:xfrm>
            <a:off x="171892" y="6339800"/>
            <a:ext cx="432048" cy="345317"/>
          </a:xfrm>
          <a:prstGeom prst="rect">
            <a:avLst/>
          </a:prstGeom>
        </p:spPr>
      </p:pic>
      <p:pic>
        <p:nvPicPr>
          <p:cNvPr id="12290" name="Picture 2"/>
          <p:cNvPicPr>
            <a:picLocks noChangeAspect="1" noChangeArrowheads="1"/>
          </p:cNvPicPr>
          <p:nvPr userDrawn="1"/>
        </p:nvPicPr>
        <p:blipFill>
          <a:blip r:embed="rId9">
            <a:extLst>
              <a:ext uri="{28A0092B-C50C-407E-A947-70E740481C1C}">
                <a14:useLocalDpi xmlns:a14="http://schemas.microsoft.com/office/drawing/2010/main" xmlns="" val="0"/>
              </a:ext>
            </a:extLst>
          </a:blip>
          <a:srcRect/>
          <a:stretch>
            <a:fillRect/>
          </a:stretch>
        </p:blipFill>
        <p:spPr bwMode="auto">
          <a:xfrm>
            <a:off x="7884368" y="213488"/>
            <a:ext cx="1115549" cy="78744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7" r:id="rId4"/>
    <p:sldLayoutId id="2147483654" r:id="rId5"/>
  </p:sldLayoutIdLst>
  <p:timing>
    <p:tnLst>
      <p:par>
        <p:cTn id="1" dur="indefinite" restart="never" nodeType="tmRoot"/>
      </p:par>
    </p:tnLst>
  </p:timing>
  <p:hf hdr="0"/>
  <p:txStyles>
    <p:titleStyle>
      <a:lvl1pPr algn="ctr" defTabSz="914400" rtl="0" eaLnBrk="1" latinLnBrk="0" hangingPunct="1">
        <a:spcBef>
          <a:spcPct val="0"/>
        </a:spcBef>
        <a:buNone/>
        <a:defRPr sz="4000" b="1" kern="1200">
          <a:solidFill>
            <a:schemeClr val="bg1"/>
          </a:solidFill>
          <a:latin typeface="微软雅黑" pitchFamily="34" charset="-122"/>
          <a:ea typeface="微软雅黑" pitchFamily="34" charset="-122"/>
          <a:cs typeface="+mj-cs"/>
        </a:defRPr>
      </a:lvl1pPr>
    </p:titleStyle>
    <p:bodyStyle>
      <a:lvl1pPr marL="342900" indent="-342900" algn="l" defTabSz="914400" rtl="0" eaLnBrk="1" latinLnBrk="0" hangingPunct="1">
        <a:lnSpc>
          <a:spcPct val="150000"/>
        </a:lnSpc>
        <a:spcBef>
          <a:spcPts val="0"/>
        </a:spcBef>
        <a:buFont typeface="Arial" pitchFamily="34" charset="0"/>
        <a:buChar char="•"/>
        <a:defRPr sz="3200" b="1" kern="1200">
          <a:solidFill>
            <a:schemeClr val="tx1">
              <a:lumMod val="75000"/>
              <a:lumOff val="25000"/>
            </a:schemeClr>
          </a:solidFill>
          <a:latin typeface="微软雅黑" pitchFamily="34" charset="-122"/>
          <a:ea typeface="微软雅黑" pitchFamily="34" charset="-122"/>
          <a:cs typeface="+mn-cs"/>
        </a:defRPr>
      </a:lvl1pPr>
      <a:lvl2pPr marL="742950" indent="-285750" algn="l" defTabSz="914400" rtl="0" eaLnBrk="1" latinLnBrk="0" hangingPunct="1">
        <a:lnSpc>
          <a:spcPct val="150000"/>
        </a:lnSpc>
        <a:spcBef>
          <a:spcPts val="0"/>
        </a:spcBef>
        <a:buFont typeface="Arial" pitchFamily="34" charset="0"/>
        <a:buChar char="–"/>
        <a:defRPr sz="2800" b="1" kern="1200">
          <a:solidFill>
            <a:schemeClr val="tx1">
              <a:lumMod val="75000"/>
              <a:lumOff val="25000"/>
            </a:schemeClr>
          </a:solidFill>
          <a:latin typeface="微软雅黑" pitchFamily="34" charset="-122"/>
          <a:ea typeface="微软雅黑" pitchFamily="34" charset="-122"/>
          <a:cs typeface="+mn-cs"/>
        </a:defRPr>
      </a:lvl2pPr>
      <a:lvl3pPr marL="1143000" indent="-228600" algn="l" defTabSz="914400" rtl="0" eaLnBrk="1" latinLnBrk="0" hangingPunct="1">
        <a:lnSpc>
          <a:spcPct val="150000"/>
        </a:lnSpc>
        <a:spcBef>
          <a:spcPts val="0"/>
        </a:spcBef>
        <a:buFont typeface="Arial" pitchFamily="34" charset="0"/>
        <a:buChar char="•"/>
        <a:defRPr sz="2400" b="1" kern="1200">
          <a:solidFill>
            <a:schemeClr val="tx1">
              <a:lumMod val="75000"/>
              <a:lumOff val="25000"/>
            </a:schemeClr>
          </a:solidFill>
          <a:latin typeface="微软雅黑" pitchFamily="34" charset="-122"/>
          <a:ea typeface="微软雅黑" pitchFamily="34" charset="-122"/>
          <a:cs typeface="+mn-cs"/>
        </a:defRPr>
      </a:lvl3pPr>
      <a:lvl4pPr marL="1600200" indent="-228600" algn="l" defTabSz="914400" rtl="0" eaLnBrk="1" latinLnBrk="0" hangingPunct="1">
        <a:lnSpc>
          <a:spcPct val="150000"/>
        </a:lnSpc>
        <a:spcBef>
          <a:spcPts val="0"/>
        </a:spcBef>
        <a:buFont typeface="Arial" pitchFamily="34" charset="0"/>
        <a:buChar char="–"/>
        <a:defRPr sz="2000" b="1" kern="1200">
          <a:solidFill>
            <a:schemeClr val="tx1">
              <a:lumMod val="75000"/>
              <a:lumOff val="25000"/>
            </a:schemeClr>
          </a:solidFill>
          <a:latin typeface="微软雅黑" pitchFamily="34" charset="-122"/>
          <a:ea typeface="微软雅黑" pitchFamily="34" charset="-122"/>
          <a:cs typeface="+mn-cs"/>
        </a:defRPr>
      </a:lvl4pPr>
      <a:lvl5pPr marL="2057400" indent="-228600" algn="l" defTabSz="914400" rtl="0" eaLnBrk="1" latinLnBrk="0" hangingPunct="1">
        <a:lnSpc>
          <a:spcPct val="150000"/>
        </a:lnSpc>
        <a:spcBef>
          <a:spcPts val="0"/>
        </a:spcBef>
        <a:buFont typeface="Arial" pitchFamily="34" charset="0"/>
        <a:buChar char="»"/>
        <a:defRPr sz="2000" b="1" kern="1200">
          <a:solidFill>
            <a:schemeClr val="tx1">
              <a:lumMod val="75000"/>
              <a:lumOff val="25000"/>
            </a:schemeClr>
          </a:solidFill>
          <a:latin typeface="微软雅黑" pitchFamily="34" charset="-122"/>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emf"/><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emf"/><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package" Target="../embeddings/Microsoft_Office_Word_Document1.docx"/><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package" Target="../embeddings/Microsoft_Office_Word_Document2.docx"/><Relationship Id="rId2" Type="http://schemas.openxmlformats.org/officeDocument/2006/relationships/slideLayout" Target="../slideLayouts/slideLayout2.xml"/><Relationship Id="rId1" Type="http://schemas.openxmlformats.org/officeDocument/2006/relationships/vmlDrawing" Target="../drawings/vmlDrawing2.v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p:cNvSpPr>
            <a:spLocks noGrp="1"/>
          </p:cNvSpPr>
          <p:nvPr>
            <p:ph type="subTitle" idx="1"/>
          </p:nvPr>
        </p:nvSpPr>
        <p:spPr>
          <a:xfrm>
            <a:off x="2195736" y="4797152"/>
            <a:ext cx="4914912" cy="1512168"/>
          </a:xfrm>
        </p:spPr>
        <p:txBody>
          <a:bodyPr/>
          <a:lstStyle/>
          <a:p>
            <a:r>
              <a:rPr lang="en-US" altLang="zh-CN" sz="2800" dirty="0">
                <a:solidFill>
                  <a:schemeClr val="bg1"/>
                </a:solidFill>
                <a:effectLst>
                  <a:outerShdw blurRad="38100" dist="38100" dir="2700000" algn="tl">
                    <a:srgbClr val="000000">
                      <a:alpha val="43137"/>
                    </a:srgbClr>
                  </a:outerShdw>
                </a:effectLst>
              </a:rPr>
              <a:t>DFH SATELLITE </a:t>
            </a:r>
            <a:r>
              <a:rPr lang="en-US" altLang="zh-CN" sz="2800" dirty="0" smtClean="0">
                <a:solidFill>
                  <a:schemeClr val="bg1"/>
                </a:solidFill>
                <a:effectLst>
                  <a:outerShdw blurRad="38100" dist="38100" dir="2700000" algn="tl">
                    <a:srgbClr val="000000">
                      <a:alpha val="43137"/>
                    </a:srgbClr>
                  </a:outerShdw>
                </a:effectLst>
              </a:rPr>
              <a:t>CO.,LTD</a:t>
            </a:r>
          </a:p>
          <a:p>
            <a:r>
              <a:rPr lang="en-US" altLang="zh-CN" sz="2800" dirty="0" smtClean="0"/>
              <a:t>February.</a:t>
            </a:r>
            <a:r>
              <a:rPr lang="en-US" altLang="zh-CN" sz="2800" dirty="0" smtClean="0">
                <a:solidFill>
                  <a:schemeClr val="bg1"/>
                </a:solidFill>
                <a:effectLst>
                  <a:outerShdw blurRad="38100" dist="38100" dir="2700000" algn="tl">
                    <a:srgbClr val="000000">
                      <a:alpha val="43137"/>
                    </a:srgbClr>
                  </a:outerShdw>
                </a:effectLst>
              </a:rPr>
              <a:t>2019</a:t>
            </a:r>
          </a:p>
          <a:p>
            <a:endParaRPr lang="zh-CN" altLang="en-US" dirty="0"/>
          </a:p>
          <a:p>
            <a:endParaRPr lang="zh-CN" altLang="en-US" dirty="0"/>
          </a:p>
        </p:txBody>
      </p:sp>
      <p:sp>
        <p:nvSpPr>
          <p:cNvPr id="3" name="标题 2"/>
          <p:cNvSpPr>
            <a:spLocks noGrp="1"/>
          </p:cNvSpPr>
          <p:nvPr>
            <p:ph type="title"/>
          </p:nvPr>
        </p:nvSpPr>
        <p:spPr>
          <a:xfrm>
            <a:off x="683568" y="2132856"/>
            <a:ext cx="7586658" cy="2088232"/>
          </a:xfrm>
        </p:spPr>
        <p:txBody>
          <a:bodyPr>
            <a:normAutofit fontScale="90000"/>
          </a:bodyPr>
          <a:lstStyle/>
          <a:p>
            <a:r>
              <a:rPr lang="en-US" altLang="zh-CN" dirty="0" smtClean="0">
                <a:solidFill>
                  <a:schemeClr val="tx2"/>
                </a:solidFill>
              </a:rPr>
              <a:t>ETRSS-1 </a:t>
            </a:r>
            <a:r>
              <a:rPr lang="en-US" altLang="zh-CN" dirty="0">
                <a:solidFill>
                  <a:schemeClr val="tx2"/>
                </a:solidFill>
              </a:rPr>
              <a:t>Thermal Control Subsystem Critical Design  and  Orbit Operation </a:t>
            </a:r>
            <a:r>
              <a:rPr lang="en-US" altLang="zh-CN" dirty="0" smtClean="0">
                <a:solidFill>
                  <a:schemeClr val="tx2"/>
                </a:solidFill>
              </a:rPr>
              <a:t/>
            </a:r>
            <a:br>
              <a:rPr lang="en-US" altLang="zh-CN" dirty="0" smtClean="0">
                <a:solidFill>
                  <a:schemeClr val="tx2"/>
                </a:solidFill>
              </a:rPr>
            </a:br>
            <a:r>
              <a:rPr lang="zh-CN" altLang="en-US" dirty="0" smtClean="0">
                <a:solidFill>
                  <a:schemeClr val="tx2"/>
                </a:solidFill>
              </a:rPr>
              <a:t>（</a:t>
            </a:r>
            <a:r>
              <a:rPr lang="en-US" altLang="zh-CN" dirty="0" smtClean="0">
                <a:solidFill>
                  <a:schemeClr val="tx2"/>
                </a:solidFill>
              </a:rPr>
              <a:t>Chapter 7-11</a:t>
            </a:r>
            <a:r>
              <a:rPr lang="zh-CN" altLang="en-US" dirty="0" smtClean="0">
                <a:solidFill>
                  <a:schemeClr val="tx2"/>
                </a:solidFill>
              </a:rPr>
              <a:t>）</a:t>
            </a:r>
            <a:r>
              <a:rPr lang="en-US" altLang="zh-CN" dirty="0">
                <a:solidFill>
                  <a:srgbClr val="FFFF00"/>
                </a:solidFill>
              </a:rPr>
              <a:t/>
            </a:r>
            <a:br>
              <a:rPr lang="en-US" altLang="zh-CN" dirty="0">
                <a:solidFill>
                  <a:srgbClr val="FFFF00"/>
                </a:solidFill>
              </a:rPr>
            </a:br>
            <a:endParaRPr lang="zh-CN" altLang="en-US" dirty="0">
              <a:solidFill>
                <a:srgbClr val="FFFF00"/>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xmlns="" val="345297312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a:t>
            </a:fld>
            <a:r>
              <a:rPr lang="zh-CN" altLang="en-US" smtClean="0"/>
              <a:t> </a:t>
            </a:r>
            <a:endParaRPr lang="zh-CN" altLang="en-US" dirty="0">
              <a:latin typeface="微软雅黑" pitchFamily="34" charset="-122"/>
              <a:ea typeface="微软雅黑" pitchFamily="34" charset="-122"/>
            </a:endParaRPr>
          </a:p>
        </p:txBody>
      </p:sp>
      <p:sp>
        <p:nvSpPr>
          <p:cNvPr id="6" name="矩形 5"/>
          <p:cNvSpPr/>
          <p:nvPr/>
        </p:nvSpPr>
        <p:spPr>
          <a:xfrm>
            <a:off x="3491878" y="260648"/>
            <a:ext cx="1944217" cy="801755"/>
          </a:xfrm>
          <a:prstGeom prst="rect">
            <a:avLst/>
          </a:prstGeom>
          <a:solidFill>
            <a:srgbClr val="00ADEF"/>
          </a:solidFill>
          <a:ln>
            <a:noFill/>
          </a:ln>
        </p:spPr>
        <p:style>
          <a:lnRef idx="2">
            <a:schemeClr val="accent1">
              <a:shade val="50000"/>
            </a:schemeClr>
          </a:lnRef>
          <a:fillRef idx="1">
            <a:schemeClr val="accent1"/>
          </a:fillRef>
          <a:effectRef idx="0">
            <a:schemeClr val="accent1"/>
          </a:effectRef>
          <a:fontRef idx="minor">
            <a:schemeClr val="lt1"/>
          </a:fontRef>
        </p:style>
        <p:txBody>
          <a:bodyPr lIns="162553" tIns="81276" rIns="162553" bIns="81276" rtlCol="0" anchor="ctr"/>
          <a:lstStyle/>
          <a:p>
            <a:pPr algn="ctr"/>
            <a:endParaRPr lang="zh-CN" altLang="en-US" sz="1200"/>
          </a:p>
        </p:txBody>
      </p:sp>
      <p:sp>
        <p:nvSpPr>
          <p:cNvPr id="7" name="TextBox 6"/>
          <p:cNvSpPr txBox="1"/>
          <p:nvPr/>
        </p:nvSpPr>
        <p:spPr>
          <a:xfrm>
            <a:off x="3252760" y="399916"/>
            <a:ext cx="2422452" cy="523218"/>
          </a:xfrm>
          <a:prstGeom prst="rect">
            <a:avLst/>
          </a:prstGeom>
          <a:noFill/>
        </p:spPr>
        <p:txBody>
          <a:bodyPr wrap="square" lIns="91436" tIns="45719" rIns="91436" bIns="45719" rtlCol="0">
            <a:spAutoFit/>
          </a:bodyPr>
          <a:lstStyle/>
          <a:p>
            <a:pPr algn="ctr"/>
            <a:r>
              <a:rPr lang="en-US" altLang="zh-CN" sz="2800" dirty="0" smtClean="0">
                <a:solidFill>
                  <a:schemeClr val="bg1"/>
                </a:solidFill>
                <a:latin typeface="微软雅黑" panose="020B0503020204020204" pitchFamily="34" charset="-122"/>
                <a:ea typeface="微软雅黑" panose="020B0503020204020204" pitchFamily="34" charset="-122"/>
              </a:rPr>
              <a:t>Contents</a:t>
            </a:r>
            <a:endParaRPr lang="zh-CN" altLang="en-US" sz="2800" dirty="0">
              <a:solidFill>
                <a:schemeClr val="bg1"/>
              </a:solidFill>
              <a:latin typeface="微软雅黑" panose="020B0503020204020204" pitchFamily="34" charset="-122"/>
              <a:ea typeface="微软雅黑" panose="020B0503020204020204" pitchFamily="34" charset="-122"/>
            </a:endParaRPr>
          </a:p>
        </p:txBody>
      </p:sp>
      <p:sp>
        <p:nvSpPr>
          <p:cNvPr id="8" name="TextBox 7"/>
          <p:cNvSpPr txBox="1"/>
          <p:nvPr/>
        </p:nvSpPr>
        <p:spPr>
          <a:xfrm>
            <a:off x="1835696" y="1526006"/>
            <a:ext cx="5976662" cy="7663634"/>
          </a:xfrm>
          <a:prstGeom prst="rect">
            <a:avLst/>
          </a:prstGeom>
          <a:noFill/>
        </p:spPr>
        <p:txBody>
          <a:bodyPr wrap="square" lIns="91436" tIns="45719" rIns="91436" bIns="45719" rtlCol="0">
            <a:spAutoFit/>
          </a:bodyPr>
          <a:lstStyle/>
          <a:p>
            <a:pPr marL="342900" indent="-342900" algn="just">
              <a:spcBef>
                <a:spcPts val="600"/>
              </a:spcBef>
              <a:buAutoNum type="arabicPlain"/>
            </a:pPr>
            <a:r>
              <a:rPr lang="en-US" altLang="zh-CN" sz="2200" b="1" dirty="0" smtClean="0">
                <a:latin typeface="Times New Roman" pitchFamily="18" charset="0"/>
                <a:cs typeface="Times New Roman" pitchFamily="18" charset="0"/>
              </a:rPr>
              <a:t>FOREWORD</a:t>
            </a:r>
          </a:p>
          <a:p>
            <a:pPr marL="342900" lvl="0" indent="-342900" algn="just">
              <a:spcBef>
                <a:spcPts val="600"/>
              </a:spcBef>
              <a:buAutoNum type="arabicPlain"/>
            </a:pPr>
            <a:r>
              <a:rPr lang="en-US" altLang="zh-CN" sz="2200" b="1" dirty="0" smtClean="0">
                <a:latin typeface="Times New Roman" pitchFamily="18" charset="0"/>
                <a:cs typeface="Times New Roman" pitchFamily="18" charset="0"/>
              </a:rPr>
              <a:t>TRODUCTION OF </a:t>
            </a:r>
            <a:r>
              <a:rPr lang="en-US" altLang="zh-CN" sz="2200" b="1" dirty="0">
                <a:latin typeface="Times New Roman" pitchFamily="18" charset="0"/>
                <a:cs typeface="Times New Roman" pitchFamily="18" charset="0"/>
              </a:rPr>
              <a:t>TCS</a:t>
            </a:r>
            <a:endParaRPr lang="zh-CN" altLang="en-US" sz="2200" b="1" dirty="0">
              <a:latin typeface="Times New Roman" pitchFamily="18" charset="0"/>
              <a:cs typeface="Times New Roman" pitchFamily="18" charset="0"/>
            </a:endParaRPr>
          </a:p>
          <a:p>
            <a:pPr lvl="0" algn="just">
              <a:spcBef>
                <a:spcPts val="600"/>
              </a:spcBef>
            </a:pPr>
            <a:r>
              <a:rPr lang="en-US" altLang="zh-CN" sz="2200" b="1" dirty="0" smtClean="0">
                <a:latin typeface="Times New Roman" pitchFamily="18" charset="0"/>
                <a:cs typeface="Times New Roman" pitchFamily="18" charset="0"/>
              </a:rPr>
              <a:t>3 SATELLITE </a:t>
            </a:r>
            <a:r>
              <a:rPr lang="en-US" altLang="zh-CN" sz="2200" b="1" dirty="0">
                <a:latin typeface="Times New Roman" pitchFamily="18" charset="0"/>
                <a:cs typeface="Times New Roman" pitchFamily="18" charset="0"/>
              </a:rPr>
              <a:t>DESIGN </a:t>
            </a:r>
            <a:r>
              <a:rPr lang="en-US" altLang="zh-CN" sz="2200" b="1" dirty="0" smtClean="0">
                <a:latin typeface="Times New Roman" pitchFamily="18" charset="0"/>
                <a:cs typeface="Times New Roman" pitchFamily="18" charset="0"/>
              </a:rPr>
              <a:t>ACCORDANCE</a:t>
            </a:r>
            <a:endParaRPr lang="en-US" altLang="zh-CN" sz="2200" b="1" dirty="0">
              <a:latin typeface="Times New Roman" pitchFamily="18" charset="0"/>
              <a:cs typeface="Times New Roman" pitchFamily="18" charset="0"/>
            </a:endParaRPr>
          </a:p>
          <a:p>
            <a:pPr lvl="0" algn="just">
              <a:spcBef>
                <a:spcPts val="600"/>
              </a:spcBef>
            </a:pPr>
            <a:r>
              <a:rPr lang="en-US" altLang="zh-CN" sz="2200" b="1" dirty="0" smtClean="0">
                <a:latin typeface="Times New Roman" pitchFamily="18" charset="0"/>
                <a:cs typeface="Times New Roman" pitchFamily="18" charset="0"/>
              </a:rPr>
              <a:t>4 TECHNICAL REQUIREMENTS</a:t>
            </a:r>
          </a:p>
          <a:p>
            <a:pPr algn="just">
              <a:spcBef>
                <a:spcPts val="600"/>
              </a:spcBef>
            </a:pPr>
            <a:r>
              <a:rPr lang="en-US" altLang="zh-CN" sz="2200" b="1" dirty="0" smtClean="0">
                <a:latin typeface="Times New Roman" pitchFamily="18" charset="0"/>
                <a:cs typeface="Times New Roman" pitchFamily="18" charset="0"/>
              </a:rPr>
              <a:t>5 SUBSYSTEM CRITICAL DESIGN</a:t>
            </a:r>
          </a:p>
          <a:p>
            <a:pPr marL="0" lvl="1" algn="just" fontAlgn="base">
              <a:lnSpc>
                <a:spcPct val="150000"/>
              </a:lnSpc>
              <a:spcBef>
                <a:spcPts val="600"/>
              </a:spcBef>
            </a:pPr>
            <a:r>
              <a:rPr lang="en-US" altLang="zh-CN" sz="2200" b="1" dirty="0">
                <a:latin typeface="Times New Roman" pitchFamily="18" charset="0"/>
                <a:cs typeface="Times New Roman" pitchFamily="18" charset="0"/>
              </a:rPr>
              <a:t>6 </a:t>
            </a:r>
            <a:r>
              <a:rPr lang="en-US" altLang="zh-CN" sz="2200" b="1" dirty="0" smtClean="0">
                <a:latin typeface="Times New Roman" pitchFamily="18" charset="0"/>
                <a:cs typeface="Times New Roman" pitchFamily="18" charset="0"/>
              </a:rPr>
              <a:t>SUBSYSTEM INTERFACE DESIGN</a:t>
            </a:r>
          </a:p>
          <a:p>
            <a:pPr lvl="0" algn="just">
              <a:spcBef>
                <a:spcPts val="600"/>
              </a:spcBef>
            </a:pPr>
            <a:r>
              <a:rPr lang="en-US" altLang="zh-CN" sz="2200" b="1" cap="all" dirty="0" smtClean="0">
                <a:solidFill>
                  <a:srgbClr val="FF0000"/>
                </a:solidFill>
                <a:latin typeface="Times New Roman" pitchFamily="18" charset="0"/>
                <a:cs typeface="Times New Roman" pitchFamily="18" charset="0"/>
              </a:rPr>
              <a:t>7 Thermal</a:t>
            </a:r>
            <a:r>
              <a:rPr lang="en-US" altLang="zh-CN" sz="2200" b="1" dirty="0" smtClean="0">
                <a:solidFill>
                  <a:srgbClr val="FF0000"/>
                </a:solidFill>
                <a:latin typeface="Times New Roman" pitchFamily="18" charset="0"/>
                <a:cs typeface="Times New Roman" pitchFamily="18" charset="0"/>
              </a:rPr>
              <a:t> ANALYSIS</a:t>
            </a:r>
          </a:p>
          <a:p>
            <a:pPr algn="just">
              <a:spcBef>
                <a:spcPts val="600"/>
              </a:spcBef>
            </a:pPr>
            <a:r>
              <a:rPr lang="en-US" altLang="zh-CN" sz="2200" b="1" dirty="0" smtClean="0">
                <a:solidFill>
                  <a:srgbClr val="FF0000"/>
                </a:solidFill>
                <a:latin typeface="Times New Roman" pitchFamily="18" charset="0"/>
                <a:cs typeface="Times New Roman" pitchFamily="18" charset="0"/>
              </a:rPr>
              <a:t>8 </a:t>
            </a:r>
            <a:r>
              <a:rPr lang="en-US" altLang="zh-CN" sz="2200" b="1" cap="all" dirty="0">
                <a:solidFill>
                  <a:srgbClr val="FF0000"/>
                </a:solidFill>
                <a:latin typeface="Times New Roman" pitchFamily="18" charset="0"/>
                <a:cs typeface="Times New Roman" pitchFamily="18" charset="0"/>
              </a:rPr>
              <a:t>RELIABILITY ANALYSIS </a:t>
            </a:r>
          </a:p>
          <a:p>
            <a:pPr lvl="0" algn="just">
              <a:spcBef>
                <a:spcPts val="600"/>
              </a:spcBef>
            </a:pPr>
            <a:r>
              <a:rPr lang="en-US" altLang="zh-CN" sz="2200" b="1" dirty="0">
                <a:solidFill>
                  <a:srgbClr val="FF0000"/>
                </a:solidFill>
                <a:latin typeface="Times New Roman" pitchFamily="18" charset="0"/>
                <a:cs typeface="Times New Roman" pitchFamily="18" charset="0"/>
              </a:rPr>
              <a:t>9</a:t>
            </a:r>
            <a:r>
              <a:rPr lang="en-US" altLang="zh-CN" sz="2200" b="1" dirty="0" smtClean="0">
                <a:solidFill>
                  <a:srgbClr val="FF0000"/>
                </a:solidFill>
                <a:latin typeface="Times New Roman" pitchFamily="18" charset="0"/>
                <a:cs typeface="Times New Roman" pitchFamily="18" charset="0"/>
              </a:rPr>
              <a:t> SUBSYSTEM </a:t>
            </a:r>
            <a:r>
              <a:rPr lang="en-US" altLang="zh-CN" sz="2200" b="1" dirty="0">
                <a:solidFill>
                  <a:srgbClr val="FF0000"/>
                </a:solidFill>
                <a:latin typeface="Times New Roman" pitchFamily="18" charset="0"/>
                <a:cs typeface="Times New Roman" pitchFamily="18" charset="0"/>
              </a:rPr>
              <a:t>BUDGET </a:t>
            </a:r>
            <a:r>
              <a:rPr lang="en-US" altLang="zh-CN" sz="2200" b="1" dirty="0" smtClean="0">
                <a:solidFill>
                  <a:srgbClr val="FF0000"/>
                </a:solidFill>
                <a:latin typeface="Times New Roman" pitchFamily="18" charset="0"/>
                <a:cs typeface="Times New Roman" pitchFamily="18" charset="0"/>
              </a:rPr>
              <a:t>ANALYSIS</a:t>
            </a:r>
          </a:p>
          <a:p>
            <a:pPr algn="just">
              <a:spcBef>
                <a:spcPts val="600"/>
              </a:spcBef>
            </a:pPr>
            <a:r>
              <a:rPr lang="en-US" altLang="zh-CN" sz="2200" b="1" dirty="0" smtClean="0">
                <a:solidFill>
                  <a:srgbClr val="FF0000"/>
                </a:solidFill>
                <a:latin typeface="Times New Roman" pitchFamily="18" charset="0"/>
                <a:cs typeface="Times New Roman" pitchFamily="18" charset="0"/>
              </a:rPr>
              <a:t>10 THERMAL </a:t>
            </a:r>
            <a:r>
              <a:rPr lang="en-US" altLang="zh-CN" sz="2200" b="1" dirty="0">
                <a:solidFill>
                  <a:srgbClr val="FF0000"/>
                </a:solidFill>
                <a:latin typeface="Times New Roman" pitchFamily="18" charset="0"/>
                <a:cs typeface="Times New Roman" pitchFamily="18" charset="0"/>
              </a:rPr>
              <a:t>BALANCE </a:t>
            </a:r>
            <a:r>
              <a:rPr lang="en-US" altLang="zh-CN" sz="2200" b="1" dirty="0" smtClean="0">
                <a:solidFill>
                  <a:srgbClr val="FF0000"/>
                </a:solidFill>
                <a:latin typeface="Times New Roman" pitchFamily="18" charset="0"/>
                <a:cs typeface="Times New Roman" pitchFamily="18" charset="0"/>
              </a:rPr>
              <a:t>TEST</a:t>
            </a:r>
          </a:p>
          <a:p>
            <a:pPr lvl="0" algn="just">
              <a:spcBef>
                <a:spcPts val="600"/>
              </a:spcBef>
            </a:pPr>
            <a:r>
              <a:rPr lang="en-US" altLang="zh-CN" sz="2200" b="1" dirty="0" smtClean="0">
                <a:solidFill>
                  <a:srgbClr val="FF0000"/>
                </a:solidFill>
                <a:latin typeface="Times New Roman" pitchFamily="18" charset="0"/>
                <a:cs typeface="Times New Roman" pitchFamily="18" charset="0"/>
              </a:rPr>
              <a:t>11 DESIGN </a:t>
            </a:r>
            <a:r>
              <a:rPr lang="en-US" altLang="zh-CN" sz="2200" b="1" dirty="0">
                <a:solidFill>
                  <a:srgbClr val="FF0000"/>
                </a:solidFill>
                <a:latin typeface="Times New Roman" pitchFamily="18" charset="0"/>
                <a:cs typeface="Times New Roman" pitchFamily="18" charset="0"/>
              </a:rPr>
              <a:t>CONCLUSION</a:t>
            </a:r>
            <a:endParaRPr lang="zh-CN" altLang="zh-CN" sz="2200" b="1" dirty="0">
              <a:solidFill>
                <a:srgbClr val="FF0000"/>
              </a:solidFill>
              <a:latin typeface="Times New Roman" pitchFamily="18" charset="0"/>
              <a:cs typeface="Times New Roman" pitchFamily="18" charset="0"/>
            </a:endParaRPr>
          </a:p>
          <a:p>
            <a:pPr marL="342900" indent="-342900" algn="just">
              <a:lnSpc>
                <a:spcPct val="150000"/>
              </a:lnSpc>
              <a:buFontTx/>
              <a:buAutoNum type="arabicPlain" startAt="2"/>
            </a:pPr>
            <a:endParaRPr lang="en-US" altLang="zh-CN" dirty="0" smtClean="0">
              <a:latin typeface="Times New Roman" pitchFamily="18" charset="0"/>
              <a:cs typeface="Times New Roman" pitchFamily="18" charset="0"/>
            </a:endParaRPr>
          </a:p>
          <a:p>
            <a:pPr marL="342900" indent="-342900" algn="just">
              <a:lnSpc>
                <a:spcPct val="150000"/>
              </a:lnSpc>
            </a:pPr>
            <a:endParaRPr lang="en-US" altLang="zh-CN" kern="1800" dirty="0" smtClean="0">
              <a:latin typeface="Times New Roman" pitchFamily="18" charset="0"/>
              <a:cs typeface="Times New Roman" pitchFamily="18" charset="0"/>
            </a:endParaRPr>
          </a:p>
          <a:p>
            <a:pPr marL="342900" indent="-342900" algn="just">
              <a:lnSpc>
                <a:spcPct val="150000"/>
              </a:lnSpc>
              <a:buAutoNum type="arabicPlain" startAt="8"/>
            </a:pPr>
            <a:endParaRPr lang="en-US" altLang="zh-CN" kern="1800" dirty="0" smtClean="0">
              <a:latin typeface="Times New Roman" pitchFamily="18" charset="0"/>
              <a:cs typeface="Times New Roman" pitchFamily="18" charset="0"/>
            </a:endParaRPr>
          </a:p>
          <a:p>
            <a:pPr marL="342900" indent="-342900" algn="just">
              <a:lnSpc>
                <a:spcPct val="150000"/>
              </a:lnSpc>
              <a:buAutoNum type="arabicPlain" startAt="8"/>
            </a:pPr>
            <a:endParaRPr lang="en-US" altLang="zh-CN" kern="1800" dirty="0" smtClean="0">
              <a:latin typeface="Times New Roman" pitchFamily="18" charset="0"/>
              <a:cs typeface="Times New Roman" pitchFamily="18" charset="0"/>
            </a:endParaRPr>
          </a:p>
          <a:p>
            <a:pPr algn="just">
              <a:lnSpc>
                <a:spcPct val="150000"/>
              </a:lnSpc>
            </a:pPr>
            <a:endParaRPr lang="en-US" altLang="zh-CN" kern="1800" dirty="0" smtClean="0">
              <a:latin typeface="Times New Roman" pitchFamily="18" charset="0"/>
              <a:cs typeface="Times New Roman" pitchFamily="18" charset="0"/>
            </a:endParaRPr>
          </a:p>
          <a:p>
            <a:pPr algn="just">
              <a:lnSpc>
                <a:spcPct val="150000"/>
              </a:lnSpc>
            </a:pPr>
            <a:endParaRPr lang="zh-CN" altLang="en-US" kern="1800" dirty="0" smtClean="0">
              <a:latin typeface="Times New Roman" pitchFamily="18" charset="0"/>
              <a:cs typeface="Times New Roman" pitchFamily="18" charset="0"/>
            </a:endParaRPr>
          </a:p>
          <a:p>
            <a:pPr algn="just">
              <a:lnSpc>
                <a:spcPct val="150000"/>
              </a:lnSpc>
            </a:pPr>
            <a:endParaRPr lang="zh-CN" altLang="en-US" kern="1800" dirty="0">
              <a:latin typeface="Times New Roman" pitchFamily="18" charset="0"/>
              <a:cs typeface="Times New Roman" pitchFamily="18" charset="0"/>
            </a:endParaRPr>
          </a:p>
        </p:txBody>
      </p:sp>
    </p:spTree>
    <p:extLst>
      <p:ext uri="{BB962C8B-B14F-4D97-AF65-F5344CB8AC3E}">
        <p14:creationId xmlns:p14="http://schemas.microsoft.com/office/powerpoint/2010/main" xmlns="" val="305047275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a:t>
            </a:fld>
            <a:r>
              <a:rPr lang="zh-CN" altLang="en-US" smtClean="0"/>
              <a:t> </a:t>
            </a:r>
            <a:endParaRPr lang="zh-CN" altLang="en-US" dirty="0">
              <a:latin typeface="微软雅黑" pitchFamily="34" charset="-122"/>
              <a:ea typeface="微软雅黑" pitchFamily="34" charset="-122"/>
            </a:endParaRPr>
          </a:p>
        </p:txBody>
      </p:sp>
      <p:sp>
        <p:nvSpPr>
          <p:cNvPr id="6" name="矩形 5"/>
          <p:cNvSpPr/>
          <p:nvPr/>
        </p:nvSpPr>
        <p:spPr>
          <a:xfrm>
            <a:off x="251520" y="116632"/>
            <a:ext cx="8064896" cy="1015663"/>
          </a:xfrm>
          <a:prstGeom prst="rect">
            <a:avLst/>
          </a:prstGeom>
        </p:spPr>
        <p:txBody>
          <a:bodyPr wrap="square">
            <a:spAutoFit/>
          </a:bodyPr>
          <a:lstStyle/>
          <a:p>
            <a:pPr lvl="1" fontAlgn="base"/>
            <a:r>
              <a:rPr lang="en-US" altLang="zh-CN" sz="2800" dirty="0" smtClean="0">
                <a:solidFill>
                  <a:schemeClr val="bg1"/>
                </a:solidFill>
                <a:latin typeface="微软雅黑" panose="020B0503020204020204" pitchFamily="34" charset="-122"/>
                <a:ea typeface="微软雅黑" panose="020B0503020204020204" pitchFamily="34" charset="-122"/>
              </a:rPr>
              <a:t>7  </a:t>
            </a:r>
            <a:r>
              <a:rPr lang="en-US" altLang="zh-CN" sz="2800" dirty="0" smtClean="0">
                <a:solidFill>
                  <a:schemeClr val="bg1"/>
                </a:solidFill>
              </a:rPr>
              <a:t>Thermal Analysis </a:t>
            </a:r>
          </a:p>
          <a:p>
            <a:pPr algn="ctr" fontAlgn="base"/>
            <a:r>
              <a:rPr lang="en-US" altLang="zh-CN" sz="3200" dirty="0" smtClean="0">
                <a:solidFill>
                  <a:prstClr val="black"/>
                </a:solidFill>
              </a:rPr>
              <a:t>              </a:t>
            </a:r>
            <a:r>
              <a:rPr lang="en-US" altLang="zh-CN" sz="3200" dirty="0" smtClean="0">
                <a:solidFill>
                  <a:schemeClr val="bg1"/>
                </a:solidFill>
              </a:rPr>
              <a:t>------ </a:t>
            </a:r>
            <a:r>
              <a:rPr lang="en-US" altLang="zh-CN" sz="2400" dirty="0">
                <a:solidFill>
                  <a:schemeClr val="bg1"/>
                </a:solidFill>
              </a:rPr>
              <a:t>Software And Nodal Network</a:t>
            </a:r>
            <a:endParaRPr lang="zh-CN" altLang="zh-CN" sz="2400" dirty="0">
              <a:solidFill>
                <a:schemeClr val="bg1"/>
              </a:solidFill>
            </a:endParaRPr>
          </a:p>
        </p:txBody>
      </p:sp>
      <p:sp>
        <p:nvSpPr>
          <p:cNvPr id="7" name="矩形 6"/>
          <p:cNvSpPr/>
          <p:nvPr/>
        </p:nvSpPr>
        <p:spPr>
          <a:xfrm>
            <a:off x="253083" y="1385576"/>
            <a:ext cx="3888432" cy="2308324"/>
          </a:xfrm>
          <a:prstGeom prst="rect">
            <a:avLst/>
          </a:prstGeom>
        </p:spPr>
        <p:txBody>
          <a:bodyPr wrap="square">
            <a:spAutoFit/>
          </a:bodyPr>
          <a:lstStyle/>
          <a:p>
            <a:pPr marL="285750" indent="-285750" algn="just">
              <a:spcAft>
                <a:spcPts val="0"/>
              </a:spcAft>
              <a:buFont typeface="Wingdings" pitchFamily="2" charset="2"/>
              <a:buChar char="Ø"/>
            </a:pPr>
            <a:r>
              <a:rPr lang="en-US" altLang="zh-CN" kern="100" dirty="0">
                <a:solidFill>
                  <a:srgbClr val="000000"/>
                </a:solidFill>
                <a:latin typeface="Times New Roman"/>
                <a:cs typeface="Times New Roman"/>
              </a:rPr>
              <a:t>The software Thermal Desktop is used to accomplish satellite analysis</a:t>
            </a:r>
            <a:r>
              <a:rPr lang="en-US" altLang="zh-CN" kern="100" dirty="0" smtClean="0">
                <a:solidFill>
                  <a:srgbClr val="000000"/>
                </a:solidFill>
                <a:latin typeface="Times New Roman"/>
                <a:cs typeface="Times New Roman"/>
              </a:rPr>
              <a:t>.</a:t>
            </a:r>
          </a:p>
          <a:p>
            <a:pPr marL="285750" indent="-285750" algn="just">
              <a:buFont typeface="Wingdings" pitchFamily="2" charset="2"/>
              <a:buChar char="Ø"/>
            </a:pPr>
            <a:r>
              <a:rPr lang="en-US" altLang="zh-CN" kern="100" dirty="0">
                <a:solidFill>
                  <a:srgbClr val="000000"/>
                </a:solidFill>
                <a:latin typeface="Times New Roman"/>
                <a:cs typeface="Times New Roman"/>
              </a:rPr>
              <a:t>Thermal model algorithm is used the finite difference method.</a:t>
            </a:r>
            <a:endParaRPr lang="zh-CN" altLang="zh-CN" kern="100" dirty="0">
              <a:solidFill>
                <a:srgbClr val="000000"/>
              </a:solidFill>
              <a:latin typeface="Times New Roman"/>
              <a:cs typeface="Times New Roman"/>
            </a:endParaRPr>
          </a:p>
          <a:p>
            <a:pPr marL="285750" indent="-285750" algn="just">
              <a:spcAft>
                <a:spcPts val="0"/>
              </a:spcAft>
              <a:buFont typeface="Wingdings" pitchFamily="2" charset="2"/>
              <a:buChar char="Ø"/>
            </a:pPr>
            <a:r>
              <a:rPr lang="en-US" altLang="zh-CN" kern="100" dirty="0">
                <a:solidFill>
                  <a:srgbClr val="000000"/>
                </a:solidFill>
                <a:latin typeface="Times New Roman"/>
                <a:cs typeface="Times New Roman"/>
              </a:rPr>
              <a:t>Space environment temperature is 4K.</a:t>
            </a:r>
            <a:endParaRPr lang="zh-CN" altLang="zh-CN" sz="1400" dirty="0">
              <a:latin typeface="宋体"/>
              <a:cs typeface="Times New Roman"/>
            </a:endParaRPr>
          </a:p>
          <a:p>
            <a:pPr marL="285750" indent="-285750" algn="just">
              <a:spcAft>
                <a:spcPts val="0"/>
              </a:spcAft>
              <a:buFont typeface="Wingdings" pitchFamily="2" charset="2"/>
              <a:buChar char="Ø"/>
            </a:pPr>
            <a:r>
              <a:rPr lang="en-US" altLang="zh-CN" kern="100" dirty="0">
                <a:solidFill>
                  <a:srgbClr val="000000"/>
                </a:solidFill>
                <a:latin typeface="Times New Roman"/>
                <a:cs typeface="Times New Roman"/>
              </a:rPr>
              <a:t>Analysis model nodal number is about 1690.</a:t>
            </a:r>
            <a:endParaRPr lang="zh-CN" altLang="zh-CN" sz="1400" dirty="0">
              <a:effectLst/>
              <a:latin typeface="宋体"/>
              <a:cs typeface="Times New Roman"/>
            </a:endParaRPr>
          </a:p>
        </p:txBody>
      </p:sp>
      <p:sp>
        <p:nvSpPr>
          <p:cNvPr id="9" name="矩形 8"/>
          <p:cNvSpPr/>
          <p:nvPr/>
        </p:nvSpPr>
        <p:spPr>
          <a:xfrm>
            <a:off x="5436095" y="3784039"/>
            <a:ext cx="3210881" cy="276999"/>
          </a:xfrm>
          <a:prstGeom prst="rect">
            <a:avLst/>
          </a:prstGeom>
        </p:spPr>
        <p:txBody>
          <a:bodyPr wrap="square">
            <a:spAutoFit/>
          </a:bodyPr>
          <a:lstStyle/>
          <a:p>
            <a:r>
              <a:rPr lang="en-US" altLang="zh-CN" sz="1200" kern="100" dirty="0">
                <a:latin typeface="Times New Roman"/>
              </a:rPr>
              <a:t>The External Surface Thermal Analysis Model</a:t>
            </a:r>
            <a:endParaRPr lang="zh-CN" altLang="en-US" sz="1200" dirty="0"/>
          </a:p>
        </p:txBody>
      </p:sp>
      <p:pic>
        <p:nvPicPr>
          <p:cNvPr id="10" name="Picture 4"/>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907704" y="6114298"/>
            <a:ext cx="5265737" cy="198437"/>
          </a:xfrm>
          <a:prstGeom prst="rect">
            <a:avLst/>
          </a:prstGeom>
          <a:noFill/>
          <a:extLst>
            <a:ext uri="{909E8E84-426E-40DD-AFC4-6F175D3DCCD1}">
              <a14:hiddenFill xmlns:a14="http://schemas.microsoft.com/office/drawing/2010/main" xmlns="">
                <a:solidFill>
                  <a:srgbClr val="FFFFFF"/>
                </a:solidFill>
              </a14:hiddenFill>
            </a:ext>
          </a:extLst>
        </p:spPr>
      </p:pic>
      <p:pic>
        <p:nvPicPr>
          <p:cNvPr id="4098" name="图片 1"/>
          <p:cNvPicPr>
            <a:picLocks noChangeAspect="1" noChangeArrowheads="1"/>
          </p:cNvPicPr>
          <p:nvPr/>
        </p:nvPicPr>
        <p:blipFill>
          <a:blip r:embed="rId3" cstate="print">
            <a:extLst>
              <a:ext uri="{28A0092B-C50C-407E-A947-70E740481C1C}">
                <a14:useLocalDpi xmlns:a14="http://schemas.microsoft.com/office/drawing/2010/main" xmlns="" val="0"/>
              </a:ext>
            </a:extLst>
          </a:blip>
          <a:srcRect l="60764" t="23611" r="7832" b="17619"/>
          <a:stretch>
            <a:fillRect/>
          </a:stretch>
        </p:blipFill>
        <p:spPr bwMode="auto">
          <a:xfrm>
            <a:off x="5251628" y="1264676"/>
            <a:ext cx="3579813" cy="25193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2" name="Picture 2"/>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2881536" y="3845978"/>
            <a:ext cx="2190143" cy="21308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611560" y="3845978"/>
            <a:ext cx="2088232" cy="220739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83119404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a:t>
            </a:fld>
            <a:r>
              <a:rPr lang="zh-CN" altLang="en-US" smtClean="0"/>
              <a:t> </a:t>
            </a:r>
            <a:endParaRPr lang="zh-CN" altLang="en-US" dirty="0">
              <a:latin typeface="微软雅黑" pitchFamily="34" charset="-122"/>
              <a:ea typeface="微软雅黑" pitchFamily="34" charset="-122"/>
            </a:endParaRPr>
          </a:p>
        </p:txBody>
      </p:sp>
      <p:sp>
        <p:nvSpPr>
          <p:cNvPr id="6" name="矩形 5"/>
          <p:cNvSpPr/>
          <p:nvPr/>
        </p:nvSpPr>
        <p:spPr>
          <a:xfrm>
            <a:off x="251520" y="116632"/>
            <a:ext cx="8064896" cy="1015663"/>
          </a:xfrm>
          <a:prstGeom prst="rect">
            <a:avLst/>
          </a:prstGeom>
        </p:spPr>
        <p:txBody>
          <a:bodyPr wrap="square">
            <a:spAutoFit/>
          </a:bodyPr>
          <a:lstStyle/>
          <a:p>
            <a:pPr lvl="1" fontAlgn="base"/>
            <a:r>
              <a:rPr lang="en-US" altLang="zh-CN" sz="2800" dirty="0" smtClean="0">
                <a:solidFill>
                  <a:schemeClr val="bg1"/>
                </a:solidFill>
                <a:latin typeface="微软雅黑" panose="020B0503020204020204" pitchFamily="34" charset="-122"/>
                <a:ea typeface="微软雅黑" panose="020B0503020204020204" pitchFamily="34" charset="-122"/>
              </a:rPr>
              <a:t>7  </a:t>
            </a:r>
            <a:r>
              <a:rPr lang="en-US" altLang="zh-CN" sz="2800" dirty="0" smtClean="0">
                <a:solidFill>
                  <a:schemeClr val="bg1"/>
                </a:solidFill>
              </a:rPr>
              <a:t>Thermal Analysis </a:t>
            </a:r>
          </a:p>
          <a:p>
            <a:pPr algn="ctr" fontAlgn="base"/>
            <a:r>
              <a:rPr lang="en-US" altLang="zh-CN" sz="3200" dirty="0" smtClean="0">
                <a:solidFill>
                  <a:prstClr val="black"/>
                </a:solidFill>
              </a:rPr>
              <a:t>              </a:t>
            </a:r>
            <a:r>
              <a:rPr lang="en-US" altLang="zh-CN" sz="3200" dirty="0" smtClean="0">
                <a:solidFill>
                  <a:schemeClr val="bg1"/>
                </a:solidFill>
              </a:rPr>
              <a:t>------ </a:t>
            </a:r>
            <a:r>
              <a:rPr lang="en-US" altLang="zh-CN" sz="2400" kern="100" dirty="0">
                <a:solidFill>
                  <a:schemeClr val="bg1"/>
                </a:solidFill>
                <a:latin typeface="Times New Roman"/>
              </a:rPr>
              <a:t>Thermal Physical Model Description</a:t>
            </a:r>
            <a:endParaRPr lang="zh-CN" altLang="zh-CN" sz="2400" dirty="0">
              <a:solidFill>
                <a:schemeClr val="bg1"/>
              </a:solidFill>
            </a:endParaRPr>
          </a:p>
        </p:txBody>
      </p:sp>
      <p:sp>
        <p:nvSpPr>
          <p:cNvPr id="7" name="矩形 6"/>
          <p:cNvSpPr/>
          <p:nvPr/>
        </p:nvSpPr>
        <p:spPr>
          <a:xfrm>
            <a:off x="576164" y="1628800"/>
            <a:ext cx="7704856" cy="2535566"/>
          </a:xfrm>
          <a:prstGeom prst="rect">
            <a:avLst/>
          </a:prstGeom>
        </p:spPr>
        <p:txBody>
          <a:bodyPr wrap="square">
            <a:spAutoFit/>
          </a:bodyPr>
          <a:lstStyle/>
          <a:p>
            <a:pPr marL="342900" lvl="0" indent="-342900" algn="just">
              <a:lnSpc>
                <a:spcPct val="150000"/>
              </a:lnSpc>
              <a:spcAft>
                <a:spcPts val="0"/>
              </a:spcAft>
              <a:buFont typeface="Wingdings" pitchFamily="2" charset="2"/>
              <a:buChar char="Ø"/>
              <a:tabLst>
                <a:tab pos="266700" algn="l"/>
              </a:tabLst>
            </a:pPr>
            <a:r>
              <a:rPr lang="en-US" altLang="zh-CN" kern="100" dirty="0" smtClean="0">
                <a:latin typeface="Times New Roman"/>
              </a:rPr>
              <a:t>Each </a:t>
            </a:r>
            <a:r>
              <a:rPr lang="en-US" altLang="zh-CN" kern="100" dirty="0">
                <a:latin typeface="Times New Roman"/>
              </a:rPr>
              <a:t>unit </a:t>
            </a:r>
            <a:r>
              <a:rPr lang="en-US" altLang="zh-CN" kern="100" dirty="0" smtClean="0">
                <a:latin typeface="Times New Roman"/>
              </a:rPr>
              <a:t>except for  power control unit is </a:t>
            </a:r>
            <a:r>
              <a:rPr lang="en-US" altLang="zh-CN" kern="100" dirty="0">
                <a:latin typeface="Times New Roman"/>
              </a:rPr>
              <a:t>modeled as a single node.</a:t>
            </a:r>
            <a:endParaRPr lang="zh-CN" altLang="zh-CN" sz="1400" kern="100" dirty="0">
              <a:latin typeface="Times New Roman"/>
            </a:endParaRPr>
          </a:p>
          <a:p>
            <a:pPr marL="342900" lvl="0" indent="-342900" algn="just">
              <a:lnSpc>
                <a:spcPct val="150000"/>
              </a:lnSpc>
              <a:spcAft>
                <a:spcPts val="0"/>
              </a:spcAft>
              <a:buFont typeface="Wingdings" pitchFamily="2" charset="2"/>
              <a:buChar char="Ø"/>
              <a:tabLst>
                <a:tab pos="266700" algn="l"/>
              </a:tabLst>
            </a:pPr>
            <a:r>
              <a:rPr lang="en-US" altLang="zh-CN" kern="100" dirty="0">
                <a:latin typeface="Times New Roman"/>
              </a:rPr>
              <a:t>The conductance between unit and its mounted surface is considered as contact conductance, neglecting other conductance form.</a:t>
            </a:r>
            <a:endParaRPr lang="zh-CN" altLang="zh-CN" sz="1400" kern="100" dirty="0">
              <a:latin typeface="Times New Roman"/>
            </a:endParaRPr>
          </a:p>
          <a:p>
            <a:pPr marL="342900" lvl="0" indent="-342900" algn="just">
              <a:lnSpc>
                <a:spcPct val="150000"/>
              </a:lnSpc>
              <a:spcAft>
                <a:spcPts val="0"/>
              </a:spcAft>
              <a:buFont typeface="Wingdings" pitchFamily="2" charset="2"/>
              <a:buChar char="Ø"/>
              <a:tabLst>
                <a:tab pos="266700" algn="l"/>
              </a:tabLst>
            </a:pPr>
            <a:r>
              <a:rPr lang="en-US" altLang="zh-CN" kern="100" dirty="0">
                <a:latin typeface="Times New Roman"/>
              </a:rPr>
              <a:t>Cameras is simplified in the model and is set by a boundary temperature of 20</a:t>
            </a:r>
            <a:r>
              <a:rPr lang="zh-CN" altLang="zh-CN" kern="100" dirty="0">
                <a:latin typeface="Times New Roman"/>
                <a:cs typeface="宋体"/>
              </a:rPr>
              <a:t>℃</a:t>
            </a:r>
            <a:r>
              <a:rPr lang="en-US" altLang="zh-CN" kern="100" dirty="0">
                <a:latin typeface="Times New Roman"/>
              </a:rPr>
              <a:t>.</a:t>
            </a:r>
            <a:endParaRPr lang="zh-CN" altLang="zh-CN" sz="1400" kern="100" dirty="0">
              <a:latin typeface="Times New Roman"/>
            </a:endParaRPr>
          </a:p>
          <a:p>
            <a:pPr marL="342900" lvl="0" indent="-342900" algn="just">
              <a:lnSpc>
                <a:spcPct val="150000"/>
              </a:lnSpc>
              <a:spcAft>
                <a:spcPts val="0"/>
              </a:spcAft>
              <a:buFont typeface="Wingdings" pitchFamily="2" charset="2"/>
              <a:buChar char="Ø"/>
              <a:tabLst>
                <a:tab pos="266700" algn="l"/>
              </a:tabLst>
            </a:pPr>
            <a:r>
              <a:rPr lang="en-US" altLang="zh-CN" kern="100" dirty="0">
                <a:latin typeface="Times New Roman"/>
              </a:rPr>
              <a:t>Ignore the effect </a:t>
            </a:r>
            <a:r>
              <a:rPr lang="en-US" altLang="zh-CN" kern="100" dirty="0" smtClean="0">
                <a:latin typeface="Times New Roman"/>
              </a:rPr>
              <a:t>of </a:t>
            </a:r>
            <a:r>
              <a:rPr lang="en-US" altLang="zh-CN" kern="100" dirty="0">
                <a:latin typeface="Times New Roman"/>
              </a:rPr>
              <a:t>pipelines</a:t>
            </a:r>
            <a:r>
              <a:rPr lang="en-US" altLang="zh-CN" kern="100" dirty="0" smtClean="0">
                <a:latin typeface="Times New Roman"/>
              </a:rPr>
              <a:t>.</a:t>
            </a:r>
            <a:endParaRPr lang="zh-CN" altLang="zh-CN" sz="1400" kern="100" dirty="0">
              <a:latin typeface="Times New Roman"/>
            </a:endParaRPr>
          </a:p>
        </p:txBody>
      </p:sp>
    </p:spTree>
    <p:extLst>
      <p:ext uri="{BB962C8B-B14F-4D97-AF65-F5344CB8AC3E}">
        <p14:creationId xmlns:p14="http://schemas.microsoft.com/office/powerpoint/2010/main" xmlns="" val="133567964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5</a:t>
            </a:fld>
            <a:r>
              <a:rPr lang="zh-CN" altLang="en-US" smtClean="0"/>
              <a:t> </a:t>
            </a:r>
            <a:endParaRPr lang="zh-CN" altLang="en-US" dirty="0">
              <a:latin typeface="微软雅黑" pitchFamily="34" charset="-122"/>
              <a:ea typeface="微软雅黑" pitchFamily="34" charset="-122"/>
            </a:endParaRPr>
          </a:p>
        </p:txBody>
      </p:sp>
      <p:sp>
        <p:nvSpPr>
          <p:cNvPr id="6" name="矩形 5"/>
          <p:cNvSpPr/>
          <p:nvPr/>
        </p:nvSpPr>
        <p:spPr>
          <a:xfrm>
            <a:off x="1259632" y="116632"/>
            <a:ext cx="7056784" cy="1692771"/>
          </a:xfrm>
          <a:prstGeom prst="rect">
            <a:avLst/>
          </a:prstGeom>
        </p:spPr>
        <p:txBody>
          <a:bodyPr wrap="square">
            <a:spAutoFit/>
          </a:bodyPr>
          <a:lstStyle/>
          <a:p>
            <a:pPr lvl="1" fontAlgn="base"/>
            <a:r>
              <a:rPr lang="en-US" altLang="zh-CN" sz="2800" dirty="0" smtClean="0">
                <a:solidFill>
                  <a:schemeClr val="bg1"/>
                </a:solidFill>
                <a:latin typeface="微软雅黑" panose="020B0503020204020204" pitchFamily="34" charset="-122"/>
                <a:ea typeface="微软雅黑" panose="020B0503020204020204" pitchFamily="34" charset="-122"/>
              </a:rPr>
              <a:t>7  </a:t>
            </a:r>
            <a:r>
              <a:rPr lang="en-US" altLang="zh-CN" sz="2800" dirty="0" smtClean="0">
                <a:solidFill>
                  <a:schemeClr val="bg1"/>
                </a:solidFill>
              </a:rPr>
              <a:t>Thermal Analysis </a:t>
            </a:r>
          </a:p>
          <a:p>
            <a:pPr marL="0" lvl="1" algn="ctr" fontAlgn="base">
              <a:lnSpc>
                <a:spcPct val="150000"/>
              </a:lnSpc>
              <a:spcAft>
                <a:spcPts val="0"/>
              </a:spcAft>
              <a:tabLst>
                <a:tab pos="365760" algn="l"/>
              </a:tabLst>
            </a:pPr>
            <a:r>
              <a:rPr lang="en-US" altLang="zh-CN" sz="3200" dirty="0" smtClean="0">
                <a:solidFill>
                  <a:schemeClr val="bg1"/>
                </a:solidFill>
              </a:rPr>
              <a:t>            ------ </a:t>
            </a:r>
            <a:r>
              <a:rPr lang="en-US" altLang="zh-CN" sz="2400" kern="100" dirty="0">
                <a:solidFill>
                  <a:schemeClr val="bg1"/>
                </a:solidFill>
                <a:latin typeface="Times New Roman"/>
              </a:rPr>
              <a:t>Thermal Network Model Description</a:t>
            </a:r>
            <a:endParaRPr lang="zh-CN" altLang="zh-CN" sz="2400" kern="100" dirty="0">
              <a:solidFill>
                <a:schemeClr val="bg1"/>
              </a:solidFill>
              <a:latin typeface="Times New Roman"/>
            </a:endParaRPr>
          </a:p>
          <a:p>
            <a:pPr algn="ctr" fontAlgn="base"/>
            <a:endParaRPr lang="zh-CN" altLang="zh-CN" sz="2400" dirty="0">
              <a:solidFill>
                <a:schemeClr val="bg1"/>
              </a:solidFill>
            </a:endParaRPr>
          </a:p>
        </p:txBody>
      </p:sp>
      <p:pic>
        <p:nvPicPr>
          <p:cNvPr id="7"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827584" y="1556792"/>
            <a:ext cx="7802064" cy="10081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8" name="Picture 35"/>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327809" y="2687027"/>
            <a:ext cx="6412544" cy="362229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3356796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6</a:t>
            </a:fld>
            <a:r>
              <a:rPr lang="zh-CN" altLang="en-US" smtClean="0"/>
              <a:t> </a:t>
            </a:r>
            <a:endParaRPr lang="zh-CN" altLang="en-US" dirty="0">
              <a:latin typeface="微软雅黑" pitchFamily="34" charset="-122"/>
              <a:ea typeface="微软雅黑" pitchFamily="34" charset="-122"/>
            </a:endParaRPr>
          </a:p>
        </p:txBody>
      </p:sp>
      <p:sp>
        <p:nvSpPr>
          <p:cNvPr id="6" name="矩形 5"/>
          <p:cNvSpPr/>
          <p:nvPr/>
        </p:nvSpPr>
        <p:spPr>
          <a:xfrm>
            <a:off x="1259632" y="116632"/>
            <a:ext cx="7056784" cy="1692771"/>
          </a:xfrm>
          <a:prstGeom prst="rect">
            <a:avLst/>
          </a:prstGeom>
        </p:spPr>
        <p:txBody>
          <a:bodyPr wrap="square">
            <a:spAutoFit/>
          </a:bodyPr>
          <a:lstStyle/>
          <a:p>
            <a:pPr lvl="1" fontAlgn="base"/>
            <a:r>
              <a:rPr lang="en-US" altLang="zh-CN" sz="2800" dirty="0" smtClean="0">
                <a:solidFill>
                  <a:schemeClr val="bg1"/>
                </a:solidFill>
                <a:latin typeface="微软雅黑" panose="020B0503020204020204" pitchFamily="34" charset="-122"/>
                <a:ea typeface="微软雅黑" panose="020B0503020204020204" pitchFamily="34" charset="-122"/>
              </a:rPr>
              <a:t>7 </a:t>
            </a:r>
            <a:r>
              <a:rPr lang="en-US" altLang="zh-CN" sz="2800" dirty="0" smtClean="0">
                <a:solidFill>
                  <a:schemeClr val="bg1"/>
                </a:solidFill>
              </a:rPr>
              <a:t>Thermal Analysis </a:t>
            </a:r>
          </a:p>
          <a:p>
            <a:pPr marL="0" lvl="1" algn="ctr" fontAlgn="base">
              <a:lnSpc>
                <a:spcPct val="150000"/>
              </a:lnSpc>
              <a:tabLst>
                <a:tab pos="365760" algn="l"/>
              </a:tabLst>
            </a:pPr>
            <a:r>
              <a:rPr lang="en-US" altLang="zh-CN" sz="3200" dirty="0" smtClean="0">
                <a:solidFill>
                  <a:schemeClr val="bg1"/>
                </a:solidFill>
              </a:rPr>
              <a:t>            ------ </a:t>
            </a:r>
            <a:r>
              <a:rPr lang="en-US" altLang="zh-CN" sz="2400" kern="100" dirty="0">
                <a:solidFill>
                  <a:schemeClr val="bg1"/>
                </a:solidFill>
                <a:latin typeface="Times New Roman"/>
              </a:rPr>
              <a:t>MODELLING DATA</a:t>
            </a:r>
            <a:endParaRPr lang="zh-CN" altLang="zh-CN" sz="2400" kern="100" dirty="0">
              <a:solidFill>
                <a:schemeClr val="bg1"/>
              </a:solidFill>
              <a:latin typeface="Times New Roman"/>
            </a:endParaRPr>
          </a:p>
          <a:p>
            <a:pPr algn="ctr" fontAlgn="base"/>
            <a:endParaRPr lang="zh-CN" altLang="zh-CN" sz="2400" dirty="0">
              <a:solidFill>
                <a:schemeClr val="bg1"/>
              </a:solidFill>
            </a:endParaRPr>
          </a:p>
        </p:txBody>
      </p:sp>
      <p:sp>
        <p:nvSpPr>
          <p:cNvPr id="7" name="内容占位符 15363"/>
          <p:cNvSpPr>
            <a:spLocks noGrp="1"/>
          </p:cNvSpPr>
          <p:nvPr>
            <p:ph idx="1"/>
          </p:nvPr>
        </p:nvSpPr>
        <p:spPr>
          <a:xfrm>
            <a:off x="467544" y="1268760"/>
            <a:ext cx="8229600" cy="4824536"/>
          </a:xfrm>
        </p:spPr>
        <p:txBody>
          <a:bodyPr>
            <a:normAutofit fontScale="85000" lnSpcReduction="10000"/>
          </a:bodyPr>
          <a:lstStyle/>
          <a:p>
            <a:r>
              <a:rPr lang="en-US" altLang="zh-CN" sz="2400" kern="100" dirty="0">
                <a:latin typeface="Times New Roman"/>
              </a:rPr>
              <a:t>Conductive Properties</a:t>
            </a:r>
            <a:endParaRPr lang="zh-CN" altLang="en-US" sz="2400" kern="100" dirty="0">
              <a:latin typeface="Times New Roman"/>
            </a:endParaRPr>
          </a:p>
          <a:p>
            <a:pPr marL="0" indent="0">
              <a:buNone/>
            </a:pPr>
            <a:endParaRPr lang="en-US" altLang="zh-CN" sz="2100" b="1" dirty="0" smtClean="0">
              <a:latin typeface="Gulim" pitchFamily="34" charset="-127"/>
              <a:ea typeface="Gulim" pitchFamily="34" charset="-127"/>
            </a:endParaRPr>
          </a:p>
          <a:p>
            <a:pPr marL="0" indent="0">
              <a:buNone/>
            </a:pPr>
            <a:endParaRPr lang="en-US" altLang="zh-CN" sz="2100" b="1" dirty="0" smtClean="0">
              <a:latin typeface="Gulim" pitchFamily="34" charset="-127"/>
              <a:ea typeface="Gulim" pitchFamily="34" charset="-127"/>
            </a:endParaRPr>
          </a:p>
          <a:p>
            <a:pPr marL="0" indent="0">
              <a:buNone/>
            </a:pPr>
            <a:endParaRPr lang="en-US" altLang="zh-CN" sz="2100" b="1" dirty="0" smtClean="0">
              <a:latin typeface="Gulim" pitchFamily="34" charset="-127"/>
              <a:ea typeface="Gulim" pitchFamily="34" charset="-127"/>
            </a:endParaRPr>
          </a:p>
          <a:p>
            <a:pPr marL="0" indent="0">
              <a:buNone/>
            </a:pPr>
            <a:endParaRPr lang="en-US" altLang="zh-CN" sz="2400" kern="100" dirty="0" smtClean="0">
              <a:latin typeface="Times New Roman"/>
            </a:endParaRPr>
          </a:p>
          <a:p>
            <a:r>
              <a:rPr lang="en-US" altLang="zh-CN" sz="2400" kern="100" dirty="0">
                <a:latin typeface="Times New Roman"/>
              </a:rPr>
              <a:t>Heat Capacities</a:t>
            </a:r>
          </a:p>
          <a:p>
            <a:pPr marL="163180" indent="0" algn="just">
              <a:lnSpc>
                <a:spcPct val="160000"/>
              </a:lnSpc>
              <a:spcAft>
                <a:spcPts val="0"/>
              </a:spcAft>
              <a:buNone/>
            </a:pPr>
            <a:r>
              <a:rPr lang="en-US" altLang="zh-CN" sz="1900" b="0" kern="100" dirty="0" smtClean="0">
                <a:latin typeface="Times New Roman"/>
              </a:rPr>
              <a:t>            ---910J/Kg</a:t>
            </a:r>
            <a:r>
              <a:rPr lang="zh-CN" altLang="zh-CN" sz="1900" b="0" kern="100" dirty="0">
                <a:latin typeface="Times New Roman"/>
                <a:cs typeface="宋体"/>
              </a:rPr>
              <a:t>℃</a:t>
            </a:r>
            <a:r>
              <a:rPr lang="en-US" altLang="zh-CN" sz="1900" b="0" kern="100" dirty="0">
                <a:latin typeface="Times New Roman"/>
              </a:rPr>
              <a:t> for aluminum structure thermal capacity</a:t>
            </a:r>
            <a:endParaRPr lang="zh-CN" altLang="zh-CN" sz="1900" b="0" kern="100" dirty="0">
              <a:latin typeface="Times New Roman"/>
            </a:endParaRPr>
          </a:p>
          <a:p>
            <a:pPr marL="0" indent="0">
              <a:lnSpc>
                <a:spcPct val="160000"/>
              </a:lnSpc>
              <a:buNone/>
            </a:pPr>
            <a:r>
              <a:rPr lang="en-US" altLang="zh-CN" sz="1900" b="0" kern="100" dirty="0">
                <a:latin typeface="Times New Roman"/>
              </a:rPr>
              <a:t>          </a:t>
            </a:r>
            <a:r>
              <a:rPr lang="en-US" altLang="zh-CN" sz="1900" b="0" kern="100" dirty="0" smtClean="0">
                <a:latin typeface="Times New Roman"/>
              </a:rPr>
              <a:t>     ---Unit </a:t>
            </a:r>
            <a:r>
              <a:rPr lang="en-US" altLang="zh-CN" sz="1900" b="0" kern="100" dirty="0">
                <a:latin typeface="Times New Roman"/>
              </a:rPr>
              <a:t>thermal capacities coming from </a:t>
            </a:r>
            <a:r>
              <a:rPr lang="en-US" altLang="zh-CN" sz="1900" b="0" kern="100" dirty="0" smtClean="0">
                <a:latin typeface="Times New Roman"/>
              </a:rPr>
              <a:t>IDS</a:t>
            </a:r>
          </a:p>
          <a:p>
            <a:pPr>
              <a:lnSpc>
                <a:spcPct val="160000"/>
              </a:lnSpc>
            </a:pPr>
            <a:r>
              <a:rPr lang="en-US" altLang="zh-CN" sz="2400" kern="100" dirty="0" smtClean="0">
                <a:latin typeface="Times New Roman"/>
              </a:rPr>
              <a:t>Contacting  Heat Transfer Coefficient</a:t>
            </a:r>
          </a:p>
          <a:p>
            <a:pPr marL="0" indent="0">
              <a:lnSpc>
                <a:spcPct val="160000"/>
              </a:lnSpc>
              <a:spcAft>
                <a:spcPts val="0"/>
              </a:spcAft>
              <a:buNone/>
            </a:pPr>
            <a:r>
              <a:rPr lang="en-US" altLang="zh-CN" sz="1900" b="0" kern="100" dirty="0" smtClean="0">
                <a:latin typeface="Times New Roman"/>
              </a:rPr>
              <a:t>               </a:t>
            </a:r>
            <a:r>
              <a:rPr lang="en-US" altLang="zh-CN" sz="1900" b="0" kern="100" dirty="0">
                <a:solidFill>
                  <a:prstClr val="black"/>
                </a:solidFill>
                <a:latin typeface="Times New Roman"/>
              </a:rPr>
              <a:t>--- </a:t>
            </a:r>
            <a:r>
              <a:rPr lang="en-US" altLang="zh-CN" sz="1900" b="0" kern="100" dirty="0" smtClean="0">
                <a:latin typeface="Times New Roman"/>
              </a:rPr>
              <a:t>Contact </a:t>
            </a:r>
            <a:r>
              <a:rPr lang="en-US" altLang="zh-CN" sz="1900" b="0" kern="100" dirty="0">
                <a:latin typeface="Times New Roman"/>
              </a:rPr>
              <a:t>(no inter-filler)</a:t>
            </a:r>
            <a:r>
              <a:rPr lang="zh-CN" altLang="zh-CN" sz="1900" b="0" kern="100" dirty="0">
                <a:latin typeface="Times New Roman"/>
              </a:rPr>
              <a:t>：</a:t>
            </a:r>
            <a:r>
              <a:rPr lang="en-US" altLang="zh-CN" sz="1900" b="0" kern="100" dirty="0">
                <a:latin typeface="Times New Roman"/>
              </a:rPr>
              <a:t>           </a:t>
            </a:r>
            <a:r>
              <a:rPr lang="en-US" altLang="zh-CN" sz="1900" b="0" kern="100" dirty="0" smtClean="0">
                <a:latin typeface="Times New Roman"/>
              </a:rPr>
              <a:t>          </a:t>
            </a:r>
            <a:r>
              <a:rPr lang="en-US" altLang="zh-CN" sz="1900" b="0" kern="100" dirty="0">
                <a:latin typeface="Times New Roman"/>
              </a:rPr>
              <a:t>h=100W/ (m</a:t>
            </a:r>
            <a:r>
              <a:rPr lang="en-US" altLang="zh-CN" sz="1900" b="0" kern="100" baseline="30000" dirty="0">
                <a:latin typeface="Times New Roman"/>
              </a:rPr>
              <a:t>2</a:t>
            </a:r>
            <a:r>
              <a:rPr lang="en-US" altLang="zh-CN" sz="1900" b="0" kern="100" dirty="0">
                <a:latin typeface="Times New Roman"/>
              </a:rPr>
              <a:t>K)</a:t>
            </a:r>
            <a:endParaRPr lang="zh-CN" altLang="zh-CN" sz="1900" b="0" kern="100" dirty="0">
              <a:latin typeface="Times New Roman"/>
            </a:endParaRPr>
          </a:p>
          <a:p>
            <a:pPr marL="0" indent="0">
              <a:lnSpc>
                <a:spcPct val="160000"/>
              </a:lnSpc>
              <a:spcAft>
                <a:spcPts val="0"/>
              </a:spcAft>
              <a:buNone/>
            </a:pPr>
            <a:r>
              <a:rPr lang="en-US" altLang="zh-CN" sz="1900" b="0" kern="100" dirty="0" smtClean="0">
                <a:solidFill>
                  <a:prstClr val="black"/>
                </a:solidFill>
                <a:latin typeface="Times New Roman"/>
              </a:rPr>
              <a:t>               </a:t>
            </a:r>
            <a:r>
              <a:rPr lang="en-US" altLang="zh-CN" sz="1900" b="0" kern="100" dirty="0">
                <a:solidFill>
                  <a:prstClr val="black"/>
                </a:solidFill>
                <a:latin typeface="Times New Roman"/>
              </a:rPr>
              <a:t>--- </a:t>
            </a:r>
            <a:r>
              <a:rPr lang="en-US" altLang="zh-CN" sz="1900" b="0" kern="100" dirty="0" smtClean="0">
                <a:latin typeface="Times New Roman"/>
              </a:rPr>
              <a:t>Full </a:t>
            </a:r>
            <a:r>
              <a:rPr lang="en-US" altLang="zh-CN" sz="1900" b="0" kern="100" dirty="0">
                <a:latin typeface="Times New Roman"/>
              </a:rPr>
              <a:t>Contact (with inter-filler)</a:t>
            </a:r>
            <a:r>
              <a:rPr lang="zh-CN" altLang="zh-CN" sz="1900" b="0" kern="100" dirty="0">
                <a:latin typeface="Times New Roman"/>
              </a:rPr>
              <a:t>：</a:t>
            </a:r>
            <a:r>
              <a:rPr lang="en-US" altLang="zh-CN" sz="1900" b="0" kern="100" dirty="0">
                <a:latin typeface="Times New Roman"/>
              </a:rPr>
              <a:t>      </a:t>
            </a:r>
            <a:r>
              <a:rPr lang="en-US" altLang="zh-CN" sz="1900" b="0" kern="100" dirty="0" smtClean="0">
                <a:latin typeface="Times New Roman"/>
              </a:rPr>
              <a:t>     </a:t>
            </a:r>
            <a:r>
              <a:rPr lang="en-US" altLang="zh-CN" sz="1900" b="0" kern="100" dirty="0">
                <a:latin typeface="Times New Roman"/>
              </a:rPr>
              <a:t>h=1000W/ (m</a:t>
            </a:r>
            <a:r>
              <a:rPr lang="en-US" altLang="zh-CN" sz="1900" b="0" kern="100" baseline="30000" dirty="0">
                <a:latin typeface="Times New Roman"/>
              </a:rPr>
              <a:t>2</a:t>
            </a:r>
            <a:r>
              <a:rPr lang="en-US" altLang="zh-CN" sz="1900" b="0" kern="100" dirty="0">
                <a:latin typeface="Times New Roman"/>
              </a:rPr>
              <a:t>K)</a:t>
            </a:r>
            <a:endParaRPr lang="zh-CN" altLang="zh-CN" sz="1900" b="0" kern="100" dirty="0">
              <a:latin typeface="Times New Roman"/>
            </a:endParaRPr>
          </a:p>
          <a:p>
            <a:pPr marL="0" indent="0">
              <a:lnSpc>
                <a:spcPct val="160000"/>
              </a:lnSpc>
              <a:spcAft>
                <a:spcPts val="0"/>
              </a:spcAft>
              <a:buNone/>
            </a:pPr>
            <a:r>
              <a:rPr lang="en-US" altLang="zh-CN" sz="1900" b="0" kern="100" dirty="0" smtClean="0">
                <a:latin typeface="Times New Roman"/>
              </a:rPr>
              <a:t>               ---Heat </a:t>
            </a:r>
            <a:r>
              <a:rPr lang="en-US" altLang="zh-CN" sz="1900" b="0" kern="100" dirty="0">
                <a:latin typeface="Times New Roman"/>
              </a:rPr>
              <a:t>pipe/Heat pipe(with inter-filler)</a:t>
            </a:r>
            <a:r>
              <a:rPr lang="zh-CN" altLang="zh-CN" sz="1900" b="0" kern="100" dirty="0">
                <a:latin typeface="Times New Roman"/>
              </a:rPr>
              <a:t>：</a:t>
            </a:r>
            <a:r>
              <a:rPr lang="en-US" altLang="zh-CN" sz="1900" b="0" kern="100" dirty="0">
                <a:latin typeface="Times New Roman"/>
              </a:rPr>
              <a:t> h=1000W/ (m</a:t>
            </a:r>
            <a:r>
              <a:rPr lang="en-US" altLang="zh-CN" sz="1900" b="0" kern="100" baseline="30000" dirty="0">
                <a:latin typeface="Times New Roman"/>
              </a:rPr>
              <a:t>2</a:t>
            </a:r>
            <a:r>
              <a:rPr lang="en-US" altLang="zh-CN" sz="1900" b="0" kern="100" dirty="0">
                <a:latin typeface="Times New Roman"/>
              </a:rPr>
              <a:t>K</a:t>
            </a:r>
            <a:r>
              <a:rPr lang="en-US" altLang="zh-CN" sz="1900" b="0" kern="100" dirty="0" smtClean="0">
                <a:latin typeface="Times New Roman"/>
              </a:rPr>
              <a:t>)</a:t>
            </a:r>
          </a:p>
          <a:p>
            <a:pPr algn="just">
              <a:lnSpc>
                <a:spcPct val="150000"/>
              </a:lnSpc>
              <a:spcAft>
                <a:spcPts val="0"/>
              </a:spcAft>
            </a:pPr>
            <a:endParaRPr lang="zh-CN" altLang="zh-CN" sz="1800" kern="100" dirty="0">
              <a:latin typeface="Times New Roman"/>
            </a:endParaRPr>
          </a:p>
          <a:p>
            <a:endParaRPr lang="en-US" altLang="zh-CN" sz="2100" b="1" dirty="0">
              <a:latin typeface="Gulim" pitchFamily="34" charset="-127"/>
              <a:ea typeface="Gulim" pitchFamily="34" charset="-127"/>
            </a:endParaRPr>
          </a:p>
        </p:txBody>
      </p:sp>
      <p:graphicFrame>
        <p:nvGraphicFramePr>
          <p:cNvPr id="8" name="表格 7"/>
          <p:cNvGraphicFramePr>
            <a:graphicFrameLocks noGrp="1"/>
          </p:cNvGraphicFramePr>
          <p:nvPr>
            <p:extLst>
              <p:ext uri="{D42A27DB-BD31-4B8C-83A1-F6EECF244321}">
                <p14:modId xmlns:p14="http://schemas.microsoft.com/office/powerpoint/2010/main" xmlns="" val="3835670964"/>
              </p:ext>
            </p:extLst>
          </p:nvPr>
        </p:nvGraphicFramePr>
        <p:xfrm>
          <a:off x="1475656" y="1916834"/>
          <a:ext cx="5760639" cy="1512167"/>
        </p:xfrm>
        <a:graphic>
          <a:graphicData uri="http://schemas.openxmlformats.org/drawingml/2006/table">
            <a:tbl>
              <a:tblPr/>
              <a:tblGrid>
                <a:gridCol w="2289278"/>
                <a:gridCol w="1755843"/>
                <a:gridCol w="1715518"/>
              </a:tblGrid>
              <a:tr h="302433">
                <a:tc rowSpan="2">
                  <a:txBody>
                    <a:bodyPr/>
                    <a:lstStyle/>
                    <a:p>
                      <a:pPr algn="just">
                        <a:spcAft>
                          <a:spcPts val="0"/>
                        </a:spcAft>
                      </a:pPr>
                      <a:r>
                        <a:rPr lang="en-US" sz="1600" kern="100" dirty="0">
                          <a:effectLst/>
                          <a:latin typeface="Times New Roman"/>
                          <a:ea typeface="宋体"/>
                        </a:rPr>
                        <a:t>Definition</a:t>
                      </a:r>
                      <a:endParaRPr lang="zh-CN" sz="1600" kern="100" dirty="0">
                        <a:effectLst/>
                        <a:latin typeface="Times New Roman"/>
                        <a:ea typeface="宋体"/>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spcAft>
                          <a:spcPts val="0"/>
                        </a:spcAft>
                      </a:pPr>
                      <a:r>
                        <a:rPr lang="en-US" sz="1600" kern="100" dirty="0">
                          <a:effectLst/>
                          <a:latin typeface="Times New Roman"/>
                          <a:ea typeface="宋体"/>
                        </a:rPr>
                        <a:t>Conductive properties</a:t>
                      </a:r>
                      <a:r>
                        <a:rPr lang="zh-CN" sz="1600" kern="100" dirty="0">
                          <a:effectLst/>
                          <a:latin typeface="Times New Roman"/>
                          <a:ea typeface="宋体"/>
                        </a:rPr>
                        <a:t>（</a:t>
                      </a:r>
                      <a:r>
                        <a:rPr lang="en-US" sz="1600" kern="100" dirty="0">
                          <a:effectLst/>
                          <a:latin typeface="Times New Roman"/>
                          <a:ea typeface="宋体"/>
                        </a:rPr>
                        <a:t>W/(</a:t>
                      </a:r>
                      <a:r>
                        <a:rPr lang="en-US" sz="1600" kern="100" dirty="0" err="1">
                          <a:effectLst/>
                          <a:latin typeface="Times New Roman"/>
                          <a:ea typeface="宋体"/>
                        </a:rPr>
                        <a:t>m·K</a:t>
                      </a:r>
                      <a:r>
                        <a:rPr lang="en-US" sz="1600" kern="100" dirty="0">
                          <a:effectLst/>
                          <a:latin typeface="Times New Roman"/>
                          <a:ea typeface="宋体"/>
                        </a:rPr>
                        <a:t>)</a:t>
                      </a:r>
                      <a:r>
                        <a:rPr lang="zh-CN" sz="1600" kern="100" dirty="0">
                          <a:effectLst/>
                          <a:latin typeface="Times New Roman"/>
                          <a:ea typeface="宋体"/>
                        </a:rPr>
                        <a:t>）</a:t>
                      </a: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r>
              <a:tr h="302433">
                <a:tc vMerge="1">
                  <a:txBody>
                    <a:bodyPr/>
                    <a:lstStyle/>
                    <a:p>
                      <a:endParaRPr lang="zh-CN" altLang="en-US"/>
                    </a:p>
                  </a:txBody>
                  <a:tcPr/>
                </a:tc>
                <a:tc>
                  <a:txBody>
                    <a:bodyPr/>
                    <a:lstStyle/>
                    <a:p>
                      <a:pPr algn="ctr">
                        <a:spcAft>
                          <a:spcPts val="0"/>
                        </a:spcAft>
                      </a:pPr>
                      <a:r>
                        <a:rPr lang="en-US" sz="1600" kern="100" dirty="0" err="1" smtClean="0">
                          <a:effectLst/>
                          <a:latin typeface="Times New Roman"/>
                          <a:ea typeface="宋体"/>
                        </a:rPr>
                        <a:t>λxy</a:t>
                      </a:r>
                      <a:endParaRPr lang="zh-CN" sz="1600" kern="100" dirty="0">
                        <a:effectLst/>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a:effectLst/>
                          <a:latin typeface="Times New Roman"/>
                          <a:ea typeface="宋体"/>
                        </a:rPr>
                        <a:t>λz</a:t>
                      </a:r>
                      <a:endParaRPr lang="zh-CN" sz="1600" kern="100">
                        <a:effectLst/>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04868">
                <a:tc>
                  <a:txBody>
                    <a:bodyPr/>
                    <a:lstStyle/>
                    <a:p>
                      <a:pPr algn="just">
                        <a:spcAft>
                          <a:spcPts val="0"/>
                        </a:spcAft>
                      </a:pPr>
                      <a:r>
                        <a:rPr lang="en-US" sz="1600" kern="100" dirty="0">
                          <a:effectLst/>
                          <a:latin typeface="Times New Roman"/>
                          <a:ea typeface="宋体"/>
                        </a:rPr>
                        <a:t>Aluminum Honeycomb Panel</a:t>
                      </a:r>
                      <a:endParaRPr lang="zh-CN" sz="1600" kern="100" dirty="0">
                        <a:effectLst/>
                        <a:latin typeface="Times New Roman"/>
                        <a:ea typeface="宋体"/>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dirty="0">
                          <a:effectLst/>
                          <a:latin typeface="Times New Roman"/>
                          <a:ea typeface="宋体"/>
                        </a:rPr>
                        <a:t>1.4</a:t>
                      </a:r>
                      <a:endParaRPr lang="zh-CN" sz="1600" kern="100" dirty="0">
                        <a:effectLst/>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600" kern="100" dirty="0">
                          <a:effectLst/>
                          <a:latin typeface="Times New Roman"/>
                          <a:ea typeface="宋体"/>
                        </a:rPr>
                        <a:t>1.5</a:t>
                      </a:r>
                      <a:endParaRPr lang="zh-CN" sz="1600" kern="100" dirty="0">
                        <a:effectLst/>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2433">
                <a:tc>
                  <a:txBody>
                    <a:bodyPr/>
                    <a:lstStyle/>
                    <a:p>
                      <a:pPr algn="just">
                        <a:spcAft>
                          <a:spcPts val="0"/>
                        </a:spcAft>
                      </a:pPr>
                      <a:r>
                        <a:rPr lang="en-US" sz="1600" kern="100" dirty="0">
                          <a:effectLst/>
                          <a:latin typeface="Times New Roman"/>
                          <a:ea typeface="宋体"/>
                        </a:rPr>
                        <a:t>Aluminum LY12</a:t>
                      </a:r>
                      <a:endParaRPr lang="zh-CN" sz="1600" kern="100" dirty="0">
                        <a:effectLst/>
                        <a:latin typeface="Times New Roman"/>
                        <a:ea typeface="宋体"/>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gridSpan="2">
                  <a:txBody>
                    <a:bodyPr/>
                    <a:lstStyle/>
                    <a:p>
                      <a:pPr algn="ctr">
                        <a:spcAft>
                          <a:spcPts val="0"/>
                        </a:spcAft>
                      </a:pPr>
                      <a:r>
                        <a:rPr lang="en-US" sz="1600" kern="100" dirty="0">
                          <a:effectLst/>
                          <a:latin typeface="Times New Roman"/>
                          <a:ea typeface="宋体"/>
                        </a:rPr>
                        <a:t>121</a:t>
                      </a:r>
                      <a:endParaRPr lang="zh-CN" sz="1600" kern="100" dirty="0">
                        <a:effectLst/>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hMerge="1">
                  <a:txBody>
                    <a:bodyPr/>
                    <a:lstStyle/>
                    <a:p>
                      <a:endParaRPr lang="zh-CN" altLang="en-US"/>
                    </a:p>
                  </a:txBody>
                  <a:tcPr/>
                </a:tc>
              </a:tr>
            </a:tbl>
          </a:graphicData>
        </a:graphic>
      </p:graphicFrame>
    </p:spTree>
    <p:extLst>
      <p:ext uri="{BB962C8B-B14F-4D97-AF65-F5344CB8AC3E}">
        <p14:creationId xmlns:p14="http://schemas.microsoft.com/office/powerpoint/2010/main" xmlns="" val="133567964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7</a:t>
            </a:fld>
            <a:r>
              <a:rPr lang="zh-CN" altLang="en-US" smtClean="0"/>
              <a:t> </a:t>
            </a:r>
            <a:endParaRPr lang="zh-CN" altLang="en-US" dirty="0">
              <a:latin typeface="微软雅黑" pitchFamily="34" charset="-122"/>
              <a:ea typeface="微软雅黑" pitchFamily="34" charset="-122"/>
            </a:endParaRPr>
          </a:p>
        </p:txBody>
      </p:sp>
      <p:sp>
        <p:nvSpPr>
          <p:cNvPr id="6" name="矩形 5"/>
          <p:cNvSpPr/>
          <p:nvPr/>
        </p:nvSpPr>
        <p:spPr>
          <a:xfrm>
            <a:off x="827584" y="116632"/>
            <a:ext cx="7488832" cy="2246769"/>
          </a:xfrm>
          <a:prstGeom prst="rect">
            <a:avLst/>
          </a:prstGeom>
        </p:spPr>
        <p:txBody>
          <a:bodyPr wrap="square">
            <a:spAutoFit/>
          </a:bodyPr>
          <a:lstStyle/>
          <a:p>
            <a:pPr lvl="1" fontAlgn="base"/>
            <a:r>
              <a:rPr lang="en-US" altLang="zh-CN" sz="2800" dirty="0" smtClean="0">
                <a:solidFill>
                  <a:schemeClr val="bg1"/>
                </a:solidFill>
                <a:latin typeface="微软雅黑" panose="020B0503020204020204" pitchFamily="34" charset="-122"/>
                <a:ea typeface="微软雅黑" panose="020B0503020204020204" pitchFamily="34" charset="-122"/>
              </a:rPr>
              <a:t>7 </a:t>
            </a:r>
            <a:r>
              <a:rPr lang="en-US" altLang="zh-CN" sz="2800" dirty="0" smtClean="0">
                <a:solidFill>
                  <a:schemeClr val="bg1"/>
                </a:solidFill>
              </a:rPr>
              <a:t>Thermal Analysis </a:t>
            </a:r>
          </a:p>
          <a:p>
            <a:pPr marL="457200" lvl="1" algn="just">
              <a:lnSpc>
                <a:spcPct val="150000"/>
              </a:lnSpc>
              <a:spcAft>
                <a:spcPts val="0"/>
              </a:spcAft>
              <a:tabLst>
                <a:tab pos="365760" algn="l"/>
              </a:tabLst>
            </a:pPr>
            <a:r>
              <a:rPr lang="en-US" altLang="zh-CN" sz="3200" dirty="0" smtClean="0">
                <a:solidFill>
                  <a:schemeClr val="bg1"/>
                </a:solidFill>
              </a:rPr>
              <a:t>             ------ </a:t>
            </a:r>
            <a:r>
              <a:rPr lang="en-US" altLang="zh-CN" sz="2400" kern="100" dirty="0">
                <a:solidFill>
                  <a:schemeClr val="bg1"/>
                </a:solidFill>
                <a:latin typeface="Times New Roman"/>
              </a:rPr>
              <a:t>Thermal Optical Properties</a:t>
            </a:r>
            <a:endParaRPr lang="zh-CN" altLang="zh-CN" sz="2400" kern="100" dirty="0">
              <a:solidFill>
                <a:schemeClr val="bg1"/>
              </a:solidFill>
              <a:latin typeface="Times New Roman"/>
            </a:endParaRPr>
          </a:p>
          <a:p>
            <a:pPr marL="0" lvl="1" algn="ctr" fontAlgn="base">
              <a:lnSpc>
                <a:spcPct val="150000"/>
              </a:lnSpc>
              <a:tabLst>
                <a:tab pos="365760" algn="l"/>
              </a:tabLst>
            </a:pPr>
            <a:endParaRPr lang="zh-CN" altLang="zh-CN" sz="2400" kern="100" dirty="0">
              <a:solidFill>
                <a:schemeClr val="bg1"/>
              </a:solidFill>
              <a:latin typeface="Times New Roman"/>
            </a:endParaRPr>
          </a:p>
          <a:p>
            <a:pPr algn="ctr" fontAlgn="base"/>
            <a:endParaRPr lang="zh-CN" altLang="zh-CN" sz="2400" dirty="0">
              <a:solidFill>
                <a:schemeClr val="bg1"/>
              </a:solidFill>
            </a:endParaRPr>
          </a:p>
        </p:txBody>
      </p:sp>
      <p:sp>
        <p:nvSpPr>
          <p:cNvPr id="7" name="Rectangle 1"/>
          <p:cNvSpPr>
            <a:spLocks noChangeArrowheads="1"/>
          </p:cNvSpPr>
          <p:nvPr/>
        </p:nvSpPr>
        <p:spPr bwMode="auto">
          <a:xfrm>
            <a:off x="2699792" y="1412776"/>
            <a:ext cx="3744416" cy="6771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000" b="0" i="0" u="none" strike="noStrike" cap="none" normalizeH="0" baseline="0" dirty="0" smtClean="0">
                <a:ln>
                  <a:noFill/>
                </a:ln>
                <a:solidFill>
                  <a:schemeClr val="tx1"/>
                </a:solidFill>
                <a:effectLst/>
                <a:latin typeface="Times New Roman" pitchFamily="18" charset="0"/>
                <a:ea typeface="宋体" pitchFamily="2" charset="-122"/>
                <a:cs typeface="Times New Roman" pitchFamily="18" charset="0"/>
              </a:rPr>
              <a:t>     Thermal Optical Properties </a:t>
            </a:r>
            <a:endParaRPr kumimoji="0" lang="en-US" altLang="zh-CN" sz="2000" b="0" i="0" u="none" strike="noStrike" cap="none" normalizeH="0" baseline="0" dirty="0" smtClean="0">
              <a:ln>
                <a:noFill/>
              </a:ln>
              <a:solidFill>
                <a:schemeClr val="tx1"/>
              </a:solidFill>
              <a:effectLst/>
              <a:latin typeface="Arial" pitchFamily="34" charset="0"/>
              <a:ea typeface="宋体" pitchFamily="2" charset="-122"/>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zh-CN" sz="1800" b="0" i="0" u="none" strike="noStrike" cap="none" normalizeH="0" baseline="0" dirty="0" smtClean="0">
              <a:ln>
                <a:noFill/>
              </a:ln>
              <a:solidFill>
                <a:schemeClr val="tx1"/>
              </a:solidFill>
              <a:effectLst/>
              <a:latin typeface="Arial" pitchFamily="34" charset="0"/>
              <a:ea typeface="宋体" pitchFamily="2" charset="-122"/>
            </a:endParaRPr>
          </a:p>
        </p:txBody>
      </p:sp>
      <p:graphicFrame>
        <p:nvGraphicFramePr>
          <p:cNvPr id="9" name="表格 8"/>
          <p:cNvGraphicFramePr>
            <a:graphicFrameLocks noGrp="1"/>
          </p:cNvGraphicFramePr>
          <p:nvPr>
            <p:extLst>
              <p:ext uri="{D42A27DB-BD31-4B8C-83A1-F6EECF244321}">
                <p14:modId xmlns:p14="http://schemas.microsoft.com/office/powerpoint/2010/main" xmlns="" val="2807368047"/>
              </p:ext>
            </p:extLst>
          </p:nvPr>
        </p:nvGraphicFramePr>
        <p:xfrm>
          <a:off x="611560" y="1988840"/>
          <a:ext cx="7367155" cy="4104458"/>
        </p:xfrm>
        <a:graphic>
          <a:graphicData uri="http://schemas.openxmlformats.org/drawingml/2006/table">
            <a:tbl>
              <a:tblPr/>
              <a:tblGrid>
                <a:gridCol w="2386188"/>
                <a:gridCol w="2127972"/>
                <a:gridCol w="877262"/>
                <a:gridCol w="877262"/>
                <a:gridCol w="1098471"/>
              </a:tblGrid>
              <a:tr h="752586">
                <a:tc rowSpan="2">
                  <a:txBody>
                    <a:bodyPr/>
                    <a:lstStyle/>
                    <a:p>
                      <a:pPr algn="ctr">
                        <a:lnSpc>
                          <a:spcPct val="115000"/>
                        </a:lnSpc>
                        <a:spcAft>
                          <a:spcPts val="0"/>
                        </a:spcAft>
                      </a:pPr>
                      <a:r>
                        <a:rPr lang="en-US" sz="1600" kern="100" dirty="0">
                          <a:effectLst/>
                          <a:latin typeface="Times New Roman"/>
                          <a:ea typeface="宋体"/>
                        </a:rPr>
                        <a:t>Coatings</a:t>
                      </a:r>
                      <a:endParaRPr lang="zh-CN" sz="1200" kern="100" dirty="0">
                        <a:effectLst/>
                        <a:latin typeface="Times New Roman"/>
                        <a:ea typeface="宋体"/>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ctr">
                        <a:lnSpc>
                          <a:spcPct val="115000"/>
                        </a:lnSpc>
                        <a:spcAft>
                          <a:spcPts val="0"/>
                        </a:spcAft>
                      </a:pPr>
                      <a:r>
                        <a:rPr lang="en-US" sz="1600" kern="100">
                          <a:effectLst/>
                          <a:latin typeface="Times New Roman"/>
                          <a:ea typeface="宋体"/>
                        </a:rPr>
                        <a:t>Location</a:t>
                      </a:r>
                      <a:endParaRPr lang="zh-CN" sz="1200" kern="100">
                        <a:effectLst/>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2">
                  <a:txBody>
                    <a:bodyPr/>
                    <a:lstStyle/>
                    <a:p>
                      <a:pPr algn="ctr">
                        <a:lnSpc>
                          <a:spcPct val="115000"/>
                        </a:lnSpc>
                        <a:spcAft>
                          <a:spcPts val="0"/>
                        </a:spcAft>
                      </a:pPr>
                      <a:r>
                        <a:rPr lang="en-US" sz="1600" kern="100">
                          <a:effectLst/>
                          <a:latin typeface="Times New Roman"/>
                          <a:ea typeface="宋体"/>
                        </a:rPr>
                        <a:t>Solar absorptance</a:t>
                      </a:r>
                      <a:endParaRPr lang="zh-CN" sz="1200" kern="100">
                        <a:effectLst/>
                        <a:latin typeface="Times New Roman"/>
                        <a:ea typeface="宋体"/>
                      </a:endParaRPr>
                    </a:p>
                    <a:p>
                      <a:pPr algn="ctr">
                        <a:lnSpc>
                          <a:spcPct val="115000"/>
                        </a:lnSpc>
                        <a:spcAft>
                          <a:spcPts val="0"/>
                        </a:spcAft>
                      </a:pPr>
                      <a:r>
                        <a:rPr lang="zh-CN" sz="1600" kern="100">
                          <a:effectLst/>
                          <a:latin typeface="Times New Roman"/>
                          <a:ea typeface="宋体"/>
                        </a:rPr>
                        <a:t>α</a:t>
                      </a:r>
                      <a:r>
                        <a:rPr lang="en-US" sz="1600" kern="100" baseline="-25000">
                          <a:effectLst/>
                          <a:latin typeface="Times New Roman"/>
                          <a:ea typeface="宋体"/>
                        </a:rPr>
                        <a:t>S</a:t>
                      </a:r>
                      <a:endParaRPr lang="zh-CN" sz="1200" kern="100">
                        <a:effectLst/>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rowSpan="2">
                  <a:txBody>
                    <a:bodyPr/>
                    <a:lstStyle/>
                    <a:p>
                      <a:pPr algn="ctr">
                        <a:lnSpc>
                          <a:spcPct val="115000"/>
                        </a:lnSpc>
                        <a:spcAft>
                          <a:spcPts val="0"/>
                        </a:spcAft>
                      </a:pPr>
                      <a:r>
                        <a:rPr lang="en-US" sz="1600" kern="100" dirty="0" err="1">
                          <a:effectLst/>
                          <a:latin typeface="Times New Roman"/>
                          <a:ea typeface="宋体"/>
                        </a:rPr>
                        <a:t>Emittance</a:t>
                      </a:r>
                      <a:endParaRPr lang="zh-CN" sz="1200" kern="100" dirty="0">
                        <a:effectLst/>
                        <a:latin typeface="Times New Roman"/>
                        <a:ea typeface="宋体"/>
                      </a:endParaRPr>
                    </a:p>
                    <a:p>
                      <a:pPr algn="ctr">
                        <a:lnSpc>
                          <a:spcPct val="115000"/>
                        </a:lnSpc>
                        <a:spcAft>
                          <a:spcPts val="0"/>
                        </a:spcAft>
                      </a:pPr>
                      <a:r>
                        <a:rPr lang="zh-CN" sz="1600" kern="100" dirty="0">
                          <a:effectLst/>
                          <a:latin typeface="Times New Roman"/>
                          <a:ea typeface="宋体"/>
                        </a:rPr>
                        <a:t>ε</a:t>
                      </a:r>
                      <a:r>
                        <a:rPr lang="en-US" sz="1600" kern="100" baseline="-25000" dirty="0">
                          <a:effectLst/>
                          <a:latin typeface="Times New Roman"/>
                          <a:ea typeface="宋体"/>
                        </a:rPr>
                        <a:t>h</a:t>
                      </a:r>
                      <a:endParaRPr lang="zh-CN" sz="1200" kern="100" dirty="0">
                        <a:effectLst/>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4716">
                <a:tc vMerge="1">
                  <a:txBody>
                    <a:bodyPr/>
                    <a:lstStyle/>
                    <a:p>
                      <a:endParaRPr lang="zh-CN" altLang="en-US"/>
                    </a:p>
                  </a:txBody>
                  <a:tcPr/>
                </a:tc>
                <a:tc vMerge="1">
                  <a:txBody>
                    <a:bodyPr/>
                    <a:lstStyle/>
                    <a:p>
                      <a:endParaRPr lang="zh-CN" altLang="en-US"/>
                    </a:p>
                  </a:txBody>
                  <a:tcPr/>
                </a:tc>
                <a:tc>
                  <a:txBody>
                    <a:bodyPr/>
                    <a:lstStyle/>
                    <a:p>
                      <a:pPr algn="ctr">
                        <a:lnSpc>
                          <a:spcPct val="115000"/>
                        </a:lnSpc>
                        <a:spcAft>
                          <a:spcPts val="0"/>
                        </a:spcAft>
                      </a:pPr>
                      <a:r>
                        <a:rPr lang="en-US" sz="1600" kern="100" dirty="0">
                          <a:effectLst/>
                          <a:latin typeface="Times New Roman"/>
                          <a:ea typeface="宋体"/>
                        </a:rPr>
                        <a:t>BOL</a:t>
                      </a:r>
                      <a:endParaRPr lang="zh-CN" sz="1200" kern="100" dirty="0">
                        <a:effectLst/>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kern="100">
                          <a:effectLst/>
                          <a:latin typeface="Times New Roman"/>
                          <a:ea typeface="宋体"/>
                        </a:rPr>
                        <a:t>EOL</a:t>
                      </a:r>
                      <a:endParaRPr lang="zh-CN" sz="1200" kern="100">
                        <a:effectLst/>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ltLang="en-US"/>
                    </a:p>
                  </a:txBody>
                  <a:tcPr/>
                </a:tc>
              </a:tr>
              <a:tr h="304716">
                <a:tc>
                  <a:txBody>
                    <a:bodyPr/>
                    <a:lstStyle/>
                    <a:p>
                      <a:pPr algn="ctr">
                        <a:lnSpc>
                          <a:spcPct val="115000"/>
                        </a:lnSpc>
                        <a:spcAft>
                          <a:spcPts val="0"/>
                        </a:spcAft>
                      </a:pPr>
                      <a:r>
                        <a:rPr lang="en-US" sz="1600" kern="100" dirty="0">
                          <a:effectLst/>
                          <a:latin typeface="Times New Roman"/>
                          <a:ea typeface="宋体"/>
                        </a:rPr>
                        <a:t>Aluminum</a:t>
                      </a:r>
                      <a:endParaRPr lang="zh-CN" sz="1200" kern="100" dirty="0">
                        <a:effectLst/>
                        <a:latin typeface="Times New Roman"/>
                        <a:ea typeface="宋体"/>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kern="100" dirty="0">
                          <a:effectLst/>
                          <a:latin typeface="Times New Roman"/>
                          <a:ea typeface="宋体"/>
                        </a:rPr>
                        <a:t>Structure panels</a:t>
                      </a:r>
                      <a:endParaRPr lang="zh-CN" sz="1200" kern="100" dirty="0">
                        <a:effectLst/>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kern="100">
                          <a:effectLst/>
                          <a:latin typeface="Times New Roman"/>
                          <a:ea typeface="宋体"/>
                        </a:rPr>
                        <a:t>-</a:t>
                      </a:r>
                      <a:endParaRPr lang="zh-CN" sz="1200" kern="100">
                        <a:effectLst/>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kern="100">
                          <a:effectLst/>
                          <a:latin typeface="Times New Roman"/>
                          <a:ea typeface="宋体"/>
                        </a:rPr>
                        <a:t>-</a:t>
                      </a:r>
                      <a:endParaRPr lang="zh-CN" sz="1200" kern="100">
                        <a:effectLst/>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kern="100">
                          <a:effectLst/>
                          <a:latin typeface="Times New Roman"/>
                          <a:ea typeface="宋体"/>
                        </a:rPr>
                        <a:t>0.1</a:t>
                      </a:r>
                      <a:endParaRPr lang="zh-CN" sz="1200" kern="100">
                        <a:effectLst/>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4716">
                <a:tc>
                  <a:txBody>
                    <a:bodyPr/>
                    <a:lstStyle/>
                    <a:p>
                      <a:pPr algn="ctr">
                        <a:lnSpc>
                          <a:spcPct val="115000"/>
                        </a:lnSpc>
                        <a:spcAft>
                          <a:spcPts val="0"/>
                        </a:spcAft>
                      </a:pPr>
                      <a:r>
                        <a:rPr lang="en-US" sz="1600" kern="100">
                          <a:effectLst/>
                          <a:latin typeface="Times New Roman"/>
                          <a:ea typeface="宋体"/>
                        </a:rPr>
                        <a:t>Black paint</a:t>
                      </a:r>
                      <a:endParaRPr lang="zh-CN" sz="1200" kern="100">
                        <a:effectLst/>
                        <a:latin typeface="Times New Roman"/>
                        <a:ea typeface="宋体"/>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kern="100" dirty="0">
                          <a:effectLst/>
                          <a:latin typeface="Times New Roman"/>
                          <a:ea typeface="宋体"/>
                        </a:rPr>
                        <a:t>Surface of equipment</a:t>
                      </a:r>
                      <a:endParaRPr lang="zh-CN" sz="1200" kern="100" dirty="0">
                        <a:effectLst/>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kern="100">
                          <a:effectLst/>
                          <a:latin typeface="Times New Roman"/>
                          <a:ea typeface="宋体"/>
                        </a:rPr>
                        <a:t>0.93</a:t>
                      </a:r>
                      <a:endParaRPr lang="zh-CN" sz="1200" kern="100">
                        <a:effectLst/>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kern="100">
                          <a:effectLst/>
                          <a:latin typeface="Times New Roman"/>
                          <a:ea typeface="宋体"/>
                        </a:rPr>
                        <a:t>0.93</a:t>
                      </a:r>
                      <a:endParaRPr lang="zh-CN" sz="1200" kern="100">
                        <a:effectLst/>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kern="100">
                          <a:effectLst/>
                          <a:latin typeface="Times New Roman"/>
                          <a:ea typeface="宋体"/>
                        </a:rPr>
                        <a:t>0.88</a:t>
                      </a:r>
                      <a:endParaRPr lang="zh-CN" sz="1200" kern="100">
                        <a:effectLst/>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4716">
                <a:tc>
                  <a:txBody>
                    <a:bodyPr/>
                    <a:lstStyle/>
                    <a:p>
                      <a:pPr algn="ctr">
                        <a:lnSpc>
                          <a:spcPct val="115000"/>
                        </a:lnSpc>
                        <a:spcAft>
                          <a:spcPts val="0"/>
                        </a:spcAft>
                      </a:pPr>
                      <a:r>
                        <a:rPr lang="en-US" sz="1600" kern="100">
                          <a:effectLst/>
                          <a:latin typeface="Times New Roman"/>
                          <a:ea typeface="宋体"/>
                        </a:rPr>
                        <a:t>Black anodized aluminum</a:t>
                      </a:r>
                      <a:endParaRPr lang="zh-CN" sz="1200" kern="100">
                        <a:effectLst/>
                        <a:latin typeface="Times New Roman"/>
                        <a:ea typeface="宋体"/>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kern="100" dirty="0">
                          <a:effectLst/>
                          <a:latin typeface="Times New Roman"/>
                          <a:ea typeface="宋体"/>
                        </a:rPr>
                        <a:t>Surface of equipment</a:t>
                      </a:r>
                      <a:endParaRPr lang="zh-CN" sz="1200" kern="100" dirty="0">
                        <a:effectLst/>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kern="100">
                          <a:effectLst/>
                          <a:latin typeface="Times New Roman"/>
                          <a:ea typeface="宋体"/>
                        </a:rPr>
                        <a:t>0.90</a:t>
                      </a:r>
                      <a:endParaRPr lang="zh-CN" sz="1200" kern="100">
                        <a:effectLst/>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kern="100">
                          <a:effectLst/>
                          <a:latin typeface="Times New Roman"/>
                          <a:ea typeface="宋体"/>
                        </a:rPr>
                        <a:t>0.90</a:t>
                      </a:r>
                      <a:endParaRPr lang="zh-CN" sz="1200" kern="100">
                        <a:effectLst/>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kern="100">
                          <a:effectLst/>
                          <a:latin typeface="Times New Roman"/>
                          <a:ea typeface="宋体"/>
                        </a:rPr>
                        <a:t>0.88</a:t>
                      </a:r>
                      <a:endParaRPr lang="zh-CN" sz="1200" kern="100">
                        <a:effectLst/>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09430">
                <a:tc>
                  <a:txBody>
                    <a:bodyPr/>
                    <a:lstStyle/>
                    <a:p>
                      <a:pPr algn="ctr">
                        <a:lnSpc>
                          <a:spcPct val="115000"/>
                        </a:lnSpc>
                        <a:spcAft>
                          <a:spcPts val="0"/>
                        </a:spcAft>
                      </a:pPr>
                      <a:r>
                        <a:rPr lang="en-US" sz="1600" kern="100">
                          <a:effectLst/>
                          <a:latin typeface="Times New Roman"/>
                          <a:ea typeface="宋体"/>
                        </a:rPr>
                        <a:t>White paint</a:t>
                      </a:r>
                      <a:endParaRPr lang="zh-CN" sz="1200" kern="100">
                        <a:effectLst/>
                        <a:latin typeface="Times New Roman"/>
                        <a:ea typeface="宋体"/>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kern="100" dirty="0">
                          <a:effectLst/>
                          <a:latin typeface="Times New Roman"/>
                          <a:ea typeface="宋体"/>
                        </a:rPr>
                        <a:t>Selected spacecraft interior</a:t>
                      </a:r>
                      <a:endParaRPr lang="zh-CN" sz="1200" kern="100" dirty="0">
                        <a:effectLst/>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kern="100">
                          <a:effectLst/>
                          <a:latin typeface="Times New Roman"/>
                          <a:ea typeface="宋体"/>
                        </a:rPr>
                        <a:t>-</a:t>
                      </a:r>
                      <a:endParaRPr lang="zh-CN" sz="1200" kern="100">
                        <a:effectLst/>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kern="100">
                          <a:effectLst/>
                          <a:latin typeface="Times New Roman"/>
                          <a:ea typeface="宋体"/>
                        </a:rPr>
                        <a:t>-</a:t>
                      </a:r>
                      <a:endParaRPr lang="zh-CN" sz="1200" kern="100">
                        <a:effectLst/>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kern="100">
                          <a:effectLst/>
                          <a:latin typeface="Times New Roman"/>
                          <a:ea typeface="宋体"/>
                        </a:rPr>
                        <a:t>0.87</a:t>
                      </a:r>
                      <a:endParaRPr lang="zh-CN" sz="1200" kern="100">
                        <a:effectLst/>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609430">
                <a:tc>
                  <a:txBody>
                    <a:bodyPr/>
                    <a:lstStyle/>
                    <a:p>
                      <a:pPr algn="ctr">
                        <a:lnSpc>
                          <a:spcPct val="115000"/>
                        </a:lnSpc>
                        <a:spcAft>
                          <a:spcPts val="0"/>
                        </a:spcAft>
                      </a:pPr>
                      <a:r>
                        <a:rPr lang="en-US" sz="1600" kern="100" dirty="0">
                          <a:effectLst/>
                          <a:latin typeface="Times New Roman"/>
                          <a:ea typeface="宋体"/>
                        </a:rPr>
                        <a:t>Single aluminized </a:t>
                      </a:r>
                      <a:r>
                        <a:rPr lang="en-US" sz="1600" kern="100" dirty="0" err="1">
                          <a:effectLst/>
                          <a:latin typeface="Times New Roman"/>
                          <a:ea typeface="宋体"/>
                        </a:rPr>
                        <a:t>Kapton</a:t>
                      </a:r>
                      <a:endParaRPr lang="zh-CN" sz="1200" kern="100" dirty="0">
                        <a:effectLst/>
                        <a:latin typeface="Times New Roman"/>
                        <a:ea typeface="宋体"/>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kern="100" dirty="0">
                          <a:effectLst/>
                          <a:latin typeface="Times New Roman"/>
                          <a:ea typeface="宋体"/>
                        </a:rPr>
                        <a:t>MLI blanket (outer layer)</a:t>
                      </a:r>
                      <a:endParaRPr lang="zh-CN" sz="1200" kern="100" dirty="0">
                        <a:effectLst/>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kern="100" dirty="0">
                          <a:effectLst/>
                          <a:latin typeface="Times New Roman"/>
                          <a:ea typeface="宋体"/>
                        </a:rPr>
                        <a:t>0.35</a:t>
                      </a:r>
                      <a:endParaRPr lang="zh-CN" sz="1200" kern="100" dirty="0">
                        <a:effectLst/>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kern="100">
                          <a:effectLst/>
                          <a:latin typeface="Times New Roman"/>
                          <a:ea typeface="宋体"/>
                        </a:rPr>
                        <a:t>0.65</a:t>
                      </a:r>
                      <a:endParaRPr lang="zh-CN" sz="1200" kern="100">
                        <a:effectLst/>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kern="100">
                          <a:effectLst/>
                          <a:latin typeface="Times New Roman"/>
                          <a:ea typeface="宋体"/>
                        </a:rPr>
                        <a:t>0.67</a:t>
                      </a:r>
                      <a:endParaRPr lang="zh-CN" sz="1200" kern="100">
                        <a:effectLst/>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4716">
                <a:tc>
                  <a:txBody>
                    <a:bodyPr/>
                    <a:lstStyle/>
                    <a:p>
                      <a:pPr algn="ctr">
                        <a:lnSpc>
                          <a:spcPct val="115000"/>
                        </a:lnSpc>
                        <a:spcAft>
                          <a:spcPts val="0"/>
                        </a:spcAft>
                      </a:pPr>
                      <a:r>
                        <a:rPr lang="en-US" sz="1600" kern="100" dirty="0">
                          <a:effectLst/>
                          <a:latin typeface="Times New Roman"/>
                          <a:ea typeface="宋体"/>
                        </a:rPr>
                        <a:t>Clear anodized aluminum</a:t>
                      </a:r>
                      <a:endParaRPr lang="zh-CN" sz="1200" kern="100" dirty="0">
                        <a:effectLst/>
                        <a:latin typeface="Times New Roman"/>
                        <a:ea typeface="宋体"/>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kern="100" dirty="0">
                          <a:effectLst/>
                          <a:latin typeface="Times New Roman"/>
                          <a:ea typeface="宋体"/>
                        </a:rPr>
                        <a:t>External components </a:t>
                      </a:r>
                      <a:endParaRPr lang="zh-CN" sz="1200" kern="100" dirty="0">
                        <a:effectLst/>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kern="100">
                          <a:effectLst/>
                          <a:latin typeface="Times New Roman"/>
                          <a:ea typeface="宋体"/>
                        </a:rPr>
                        <a:t>0.15</a:t>
                      </a:r>
                      <a:endParaRPr lang="zh-CN" sz="1200" kern="100">
                        <a:effectLst/>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kern="100" dirty="0">
                          <a:effectLst/>
                          <a:latin typeface="Times New Roman"/>
                          <a:ea typeface="宋体"/>
                        </a:rPr>
                        <a:t>0.50</a:t>
                      </a:r>
                      <a:endParaRPr lang="zh-CN" sz="1200" kern="100" dirty="0">
                        <a:effectLst/>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kern="100">
                          <a:effectLst/>
                          <a:latin typeface="Times New Roman"/>
                          <a:ea typeface="宋体"/>
                        </a:rPr>
                        <a:t>0.65</a:t>
                      </a:r>
                      <a:endParaRPr lang="zh-CN" sz="1200" kern="100">
                        <a:effectLst/>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4716">
                <a:tc>
                  <a:txBody>
                    <a:bodyPr/>
                    <a:lstStyle/>
                    <a:p>
                      <a:pPr algn="ctr">
                        <a:lnSpc>
                          <a:spcPct val="115000"/>
                        </a:lnSpc>
                        <a:spcAft>
                          <a:spcPts val="0"/>
                        </a:spcAft>
                      </a:pPr>
                      <a:r>
                        <a:rPr lang="en-US" sz="1600" kern="100">
                          <a:effectLst/>
                          <a:latin typeface="Times New Roman"/>
                          <a:ea typeface="宋体"/>
                        </a:rPr>
                        <a:t>OSR</a:t>
                      </a:r>
                      <a:endParaRPr lang="zh-CN" sz="1200" kern="100">
                        <a:effectLst/>
                        <a:latin typeface="Times New Roman"/>
                        <a:ea typeface="宋体"/>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kern="100">
                          <a:effectLst/>
                          <a:latin typeface="Times New Roman"/>
                          <a:ea typeface="宋体"/>
                        </a:rPr>
                        <a:t>External radiator </a:t>
                      </a:r>
                      <a:endParaRPr lang="zh-CN" sz="1200" kern="100">
                        <a:effectLst/>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kern="100">
                          <a:effectLst/>
                          <a:latin typeface="Times New Roman"/>
                          <a:ea typeface="宋体"/>
                        </a:rPr>
                        <a:t>0.135</a:t>
                      </a:r>
                      <a:endParaRPr lang="zh-CN" sz="1200" kern="100">
                        <a:effectLst/>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kern="100" dirty="0">
                          <a:effectLst/>
                          <a:latin typeface="Times New Roman"/>
                          <a:ea typeface="宋体"/>
                        </a:rPr>
                        <a:t>0.26</a:t>
                      </a:r>
                      <a:endParaRPr lang="zh-CN" sz="1200" kern="100" dirty="0">
                        <a:effectLst/>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kern="100" dirty="0">
                          <a:effectLst/>
                          <a:latin typeface="Times New Roman"/>
                          <a:ea typeface="宋体"/>
                        </a:rPr>
                        <a:t>0.79</a:t>
                      </a:r>
                      <a:endParaRPr lang="zh-CN" sz="1200" kern="100" dirty="0">
                        <a:effectLst/>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304716">
                <a:tc>
                  <a:txBody>
                    <a:bodyPr/>
                    <a:lstStyle/>
                    <a:p>
                      <a:pPr algn="ctr">
                        <a:lnSpc>
                          <a:spcPct val="115000"/>
                        </a:lnSpc>
                        <a:spcAft>
                          <a:spcPts val="0"/>
                        </a:spcAft>
                      </a:pPr>
                      <a:r>
                        <a:rPr lang="en-US" sz="1600" kern="100">
                          <a:effectLst/>
                          <a:latin typeface="Times New Roman"/>
                          <a:ea typeface="宋体"/>
                        </a:rPr>
                        <a:t>Silvered Teflon film </a:t>
                      </a:r>
                      <a:endParaRPr lang="zh-CN" sz="1200" kern="100">
                        <a:effectLst/>
                        <a:latin typeface="Times New Roman"/>
                        <a:ea typeface="宋体"/>
                      </a:endParaRPr>
                    </a:p>
                  </a:txBody>
                  <a:tcPr marL="68580" marR="6858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kern="100">
                          <a:effectLst/>
                          <a:latin typeface="Times New Roman"/>
                          <a:ea typeface="宋体"/>
                        </a:rPr>
                        <a:t>External surface</a:t>
                      </a:r>
                      <a:endParaRPr lang="zh-CN" sz="1200" kern="100">
                        <a:effectLst/>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kern="100">
                          <a:effectLst/>
                          <a:latin typeface="Times New Roman"/>
                          <a:ea typeface="宋体"/>
                        </a:rPr>
                        <a:t>0.15</a:t>
                      </a:r>
                      <a:endParaRPr lang="zh-CN" sz="1200" kern="100">
                        <a:effectLst/>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kern="100">
                          <a:effectLst/>
                          <a:latin typeface="Times New Roman"/>
                          <a:ea typeface="宋体"/>
                        </a:rPr>
                        <a:t>0.40</a:t>
                      </a:r>
                      <a:endParaRPr lang="zh-CN" sz="1200" kern="100">
                        <a:effectLst/>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ct val="115000"/>
                        </a:lnSpc>
                        <a:spcAft>
                          <a:spcPts val="0"/>
                        </a:spcAft>
                      </a:pPr>
                      <a:r>
                        <a:rPr lang="en-US" sz="1600" kern="100" dirty="0">
                          <a:effectLst/>
                          <a:latin typeface="Times New Roman"/>
                          <a:ea typeface="宋体"/>
                        </a:rPr>
                        <a:t>0.68</a:t>
                      </a:r>
                      <a:endParaRPr lang="zh-CN" sz="1200" kern="100" dirty="0">
                        <a:effectLst/>
                        <a:latin typeface="Times New Roman"/>
                        <a:ea typeface="宋体"/>
                      </a:endParaRPr>
                    </a:p>
                  </a:txBody>
                  <a:tcPr marL="68580" marR="6858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xmlns="" val="133567964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8</a:t>
            </a:fld>
            <a:r>
              <a:rPr lang="zh-CN" altLang="en-US" smtClean="0"/>
              <a:t> </a:t>
            </a:r>
            <a:endParaRPr lang="zh-CN" altLang="en-US" dirty="0">
              <a:latin typeface="微软雅黑" pitchFamily="34" charset="-122"/>
              <a:ea typeface="微软雅黑" pitchFamily="34" charset="-122"/>
            </a:endParaRPr>
          </a:p>
        </p:txBody>
      </p:sp>
      <p:sp>
        <p:nvSpPr>
          <p:cNvPr id="6" name="矩形 5"/>
          <p:cNvSpPr/>
          <p:nvPr/>
        </p:nvSpPr>
        <p:spPr>
          <a:xfrm>
            <a:off x="1259632" y="116632"/>
            <a:ext cx="5976664" cy="1015663"/>
          </a:xfrm>
          <a:prstGeom prst="rect">
            <a:avLst/>
          </a:prstGeom>
        </p:spPr>
        <p:txBody>
          <a:bodyPr wrap="square">
            <a:spAutoFit/>
          </a:bodyPr>
          <a:lstStyle/>
          <a:p>
            <a:pPr lvl="1" fontAlgn="base"/>
            <a:r>
              <a:rPr lang="en-US" altLang="zh-CN" sz="2800" dirty="0" smtClean="0">
                <a:solidFill>
                  <a:schemeClr val="bg1"/>
                </a:solidFill>
                <a:latin typeface="微软雅黑" panose="020B0503020204020204" pitchFamily="34" charset="-122"/>
                <a:ea typeface="微软雅黑" panose="020B0503020204020204" pitchFamily="34" charset="-122"/>
              </a:rPr>
              <a:t>7 </a:t>
            </a:r>
            <a:r>
              <a:rPr lang="en-US" altLang="zh-CN" sz="2800" dirty="0" smtClean="0">
                <a:solidFill>
                  <a:schemeClr val="bg1"/>
                </a:solidFill>
              </a:rPr>
              <a:t>Thermal Analysis </a:t>
            </a:r>
          </a:p>
          <a:p>
            <a:pPr algn="ctr" fontAlgn="base"/>
            <a:r>
              <a:rPr lang="en-US" altLang="zh-CN" sz="3200" dirty="0" smtClean="0">
                <a:solidFill>
                  <a:schemeClr val="bg1"/>
                </a:solidFill>
              </a:rPr>
              <a:t>              ------ </a:t>
            </a:r>
            <a:r>
              <a:rPr lang="en-US" altLang="zh-CN" sz="2400" dirty="0">
                <a:solidFill>
                  <a:schemeClr val="bg1"/>
                </a:solidFill>
              </a:rPr>
              <a:t>Critical cases</a:t>
            </a:r>
            <a:endParaRPr lang="zh-CN" altLang="zh-CN" sz="2400" dirty="0">
              <a:solidFill>
                <a:schemeClr val="bg1"/>
              </a:solidFill>
            </a:endParaRPr>
          </a:p>
        </p:txBody>
      </p:sp>
      <p:sp>
        <p:nvSpPr>
          <p:cNvPr id="7" name="矩形 6"/>
          <p:cNvSpPr/>
          <p:nvPr/>
        </p:nvSpPr>
        <p:spPr>
          <a:xfrm>
            <a:off x="765970" y="1988840"/>
            <a:ext cx="7424666" cy="3831818"/>
          </a:xfrm>
          <a:prstGeom prst="rect">
            <a:avLst/>
          </a:prstGeom>
        </p:spPr>
        <p:txBody>
          <a:bodyPr wrap="square">
            <a:spAutoFit/>
          </a:bodyPr>
          <a:lstStyle/>
          <a:p>
            <a:pPr marL="285750" indent="-285750">
              <a:lnSpc>
                <a:spcPct val="150000"/>
              </a:lnSpc>
              <a:buFont typeface="Wingdings" pitchFamily="2" charset="2"/>
              <a:buChar char="Ø"/>
            </a:pPr>
            <a:r>
              <a:rPr lang="en-US" altLang="zh-CN" b="1" dirty="0">
                <a:solidFill>
                  <a:srgbClr val="00B050"/>
                </a:solidFill>
                <a:latin typeface="Times New Roman" pitchFamily="18" charset="0"/>
                <a:cs typeface="Times New Roman" pitchFamily="18" charset="0"/>
              </a:rPr>
              <a:t>Case 1(Safe mode).</a:t>
            </a:r>
            <a:r>
              <a:rPr lang="en-US" altLang="zh-CN" dirty="0">
                <a:solidFill>
                  <a:prstClr val="black"/>
                </a:solidFill>
                <a:latin typeface="Times New Roman" pitchFamily="18" charset="0"/>
                <a:cs typeface="Times New Roman" pitchFamily="18" charset="0"/>
              </a:rPr>
              <a:t> BOL, on </a:t>
            </a:r>
            <a:r>
              <a:rPr lang="en-US" altLang="zh-CN" dirty="0" smtClean="0">
                <a:solidFill>
                  <a:prstClr val="black"/>
                </a:solidFill>
                <a:latin typeface="Times New Roman" pitchFamily="18" charset="0"/>
                <a:cs typeface="Times New Roman" pitchFamily="18" charset="0"/>
              </a:rPr>
              <a:t>June 2th</a:t>
            </a:r>
            <a:r>
              <a:rPr lang="en-US" altLang="zh-CN" dirty="0">
                <a:solidFill>
                  <a:prstClr val="black"/>
                </a:solidFill>
                <a:latin typeface="Times New Roman" pitchFamily="18" charset="0"/>
                <a:cs typeface="Times New Roman" pitchFamily="18" charset="0"/>
              </a:rPr>
              <a:t>. Satellite is in attitude safe model with -Z axis points to sun. All the payloads are switched off and heaters are on</a:t>
            </a:r>
            <a:r>
              <a:rPr lang="en-US" altLang="zh-CN" dirty="0" smtClean="0">
                <a:solidFill>
                  <a:prstClr val="black"/>
                </a:solidFill>
                <a:latin typeface="Times New Roman" pitchFamily="18" charset="0"/>
                <a:cs typeface="Times New Roman" pitchFamily="18" charset="0"/>
              </a:rPr>
              <a:t>.</a:t>
            </a:r>
          </a:p>
          <a:p>
            <a:pPr>
              <a:lnSpc>
                <a:spcPct val="150000"/>
              </a:lnSpc>
            </a:pPr>
            <a:endParaRPr lang="zh-CN" altLang="zh-CN" dirty="0">
              <a:solidFill>
                <a:prstClr val="black"/>
              </a:solidFill>
              <a:latin typeface="Times New Roman" pitchFamily="18" charset="0"/>
              <a:cs typeface="Times New Roman" pitchFamily="18" charset="0"/>
            </a:endParaRPr>
          </a:p>
          <a:p>
            <a:pPr marL="285750" indent="-285750">
              <a:lnSpc>
                <a:spcPct val="150000"/>
              </a:lnSpc>
              <a:buFont typeface="Wingdings" pitchFamily="2" charset="2"/>
              <a:buChar char="Ø"/>
            </a:pPr>
            <a:r>
              <a:rPr lang="en-US" altLang="zh-CN" b="1" dirty="0">
                <a:solidFill>
                  <a:srgbClr val="00B050"/>
                </a:solidFill>
                <a:latin typeface="Times New Roman" pitchFamily="18" charset="0"/>
                <a:cs typeface="Times New Roman" pitchFamily="18" charset="0"/>
              </a:rPr>
              <a:t>Case 2(Worst cold): </a:t>
            </a:r>
            <a:r>
              <a:rPr lang="en-US" altLang="zh-CN" dirty="0" smtClean="0">
                <a:solidFill>
                  <a:prstClr val="black"/>
                </a:solidFill>
                <a:latin typeface="Times New Roman" pitchFamily="18" charset="0"/>
                <a:cs typeface="Times New Roman" pitchFamily="18" charset="0"/>
              </a:rPr>
              <a:t>Satellite </a:t>
            </a:r>
            <a:r>
              <a:rPr lang="en-US" altLang="zh-CN" dirty="0">
                <a:solidFill>
                  <a:prstClr val="black"/>
                </a:solidFill>
                <a:latin typeface="Times New Roman" pitchFamily="18" charset="0"/>
                <a:cs typeface="Times New Roman" pitchFamily="18" charset="0"/>
              </a:rPr>
              <a:t>is in normal 3-axis stabilized </a:t>
            </a:r>
            <a:r>
              <a:rPr lang="en-US" altLang="zh-CN" dirty="0" smtClean="0">
                <a:solidFill>
                  <a:prstClr val="black"/>
                </a:solidFill>
                <a:latin typeface="Times New Roman" pitchFamily="18" charset="0"/>
                <a:cs typeface="Times New Roman" pitchFamily="18" charset="0"/>
              </a:rPr>
              <a:t>state, and </a:t>
            </a:r>
            <a:r>
              <a:rPr lang="en-US" altLang="zh-CN" dirty="0">
                <a:solidFill>
                  <a:prstClr val="black"/>
                </a:solidFill>
                <a:latin typeface="Times New Roman" pitchFamily="18" charset="0"/>
                <a:cs typeface="Times New Roman" pitchFamily="18" charset="0"/>
              </a:rPr>
              <a:t>the satellite is in </a:t>
            </a:r>
            <a:r>
              <a:rPr lang="en-US" altLang="zh-CN" dirty="0" smtClean="0">
                <a:solidFill>
                  <a:prstClr val="black"/>
                </a:solidFill>
                <a:latin typeface="Times New Roman" pitchFamily="18" charset="0"/>
                <a:cs typeface="Times New Roman" pitchFamily="18" charset="0"/>
              </a:rPr>
              <a:t>attitude with </a:t>
            </a:r>
            <a:r>
              <a:rPr lang="en-US" altLang="zh-CN" dirty="0">
                <a:solidFill>
                  <a:prstClr val="black"/>
                </a:solidFill>
                <a:latin typeface="Times New Roman" pitchFamily="18" charset="0"/>
                <a:cs typeface="Times New Roman" pitchFamily="18" charset="0"/>
              </a:rPr>
              <a:t>-Z axis points to </a:t>
            </a:r>
            <a:r>
              <a:rPr lang="en-US" altLang="zh-CN" dirty="0" smtClean="0">
                <a:solidFill>
                  <a:prstClr val="black"/>
                </a:solidFill>
                <a:latin typeface="Times New Roman" pitchFamily="18" charset="0"/>
                <a:cs typeface="Times New Roman" pitchFamily="18" charset="0"/>
              </a:rPr>
              <a:t>sun in sunshine zone, with +Z </a:t>
            </a:r>
            <a:r>
              <a:rPr lang="en-US" altLang="zh-CN" dirty="0">
                <a:solidFill>
                  <a:prstClr val="black"/>
                </a:solidFill>
                <a:latin typeface="Times New Roman" pitchFamily="18" charset="0"/>
                <a:cs typeface="Times New Roman" pitchFamily="18" charset="0"/>
              </a:rPr>
              <a:t>axis points to </a:t>
            </a:r>
            <a:r>
              <a:rPr lang="en-US" altLang="zh-CN" dirty="0" smtClean="0">
                <a:solidFill>
                  <a:prstClr val="black"/>
                </a:solidFill>
                <a:latin typeface="Times New Roman" pitchFamily="18" charset="0"/>
                <a:cs typeface="Times New Roman" pitchFamily="18" charset="0"/>
              </a:rPr>
              <a:t>earth </a:t>
            </a:r>
            <a:r>
              <a:rPr lang="en-US" altLang="zh-CN" dirty="0">
                <a:solidFill>
                  <a:prstClr val="black"/>
                </a:solidFill>
                <a:latin typeface="Times New Roman" pitchFamily="18" charset="0"/>
                <a:cs typeface="Times New Roman" pitchFamily="18" charset="0"/>
              </a:rPr>
              <a:t>in </a:t>
            </a:r>
            <a:r>
              <a:rPr lang="en-US" altLang="zh-CN" dirty="0" smtClean="0">
                <a:solidFill>
                  <a:prstClr val="black"/>
                </a:solidFill>
                <a:latin typeface="Times New Roman" pitchFamily="18" charset="0"/>
                <a:cs typeface="Times New Roman" pitchFamily="18" charset="0"/>
              </a:rPr>
              <a:t>Shadow . All </a:t>
            </a:r>
            <a:r>
              <a:rPr lang="en-US" altLang="zh-CN" dirty="0">
                <a:solidFill>
                  <a:prstClr val="black"/>
                </a:solidFill>
                <a:latin typeface="Times New Roman" pitchFamily="18" charset="0"/>
                <a:cs typeface="Times New Roman" pitchFamily="18" charset="0"/>
              </a:rPr>
              <a:t>the payloads are switched off and heaters are on.</a:t>
            </a:r>
            <a:endParaRPr lang="zh-CN" altLang="zh-CN" dirty="0">
              <a:solidFill>
                <a:prstClr val="black"/>
              </a:solidFill>
              <a:latin typeface="Times New Roman" pitchFamily="18" charset="0"/>
              <a:cs typeface="Times New Roman" pitchFamily="18" charset="0"/>
            </a:endParaRPr>
          </a:p>
          <a:p>
            <a:pPr>
              <a:lnSpc>
                <a:spcPct val="150000"/>
              </a:lnSpc>
            </a:pPr>
            <a:endParaRPr lang="zh-CN" altLang="zh-CN" dirty="0">
              <a:solidFill>
                <a:prstClr val="black"/>
              </a:solidFill>
            </a:endParaRPr>
          </a:p>
        </p:txBody>
      </p:sp>
      <p:sp>
        <p:nvSpPr>
          <p:cNvPr id="2" name="TextBox 1"/>
          <p:cNvSpPr txBox="1"/>
          <p:nvPr/>
        </p:nvSpPr>
        <p:spPr>
          <a:xfrm>
            <a:off x="899592" y="1340768"/>
            <a:ext cx="4392488" cy="523220"/>
          </a:xfrm>
          <a:prstGeom prst="rect">
            <a:avLst/>
          </a:prstGeom>
          <a:noFill/>
        </p:spPr>
        <p:txBody>
          <a:bodyPr wrap="square" rtlCol="0">
            <a:spAutoFit/>
          </a:bodyPr>
          <a:lstStyle/>
          <a:p>
            <a:r>
              <a:rPr lang="en-US" altLang="zh-CN" sz="2800" b="1" dirty="0" smtClean="0">
                <a:solidFill>
                  <a:srgbClr val="00B050"/>
                </a:solidFill>
                <a:latin typeface="Times New Roman" pitchFamily="18" charset="0"/>
                <a:cs typeface="Times New Roman" pitchFamily="18" charset="0"/>
              </a:rPr>
              <a:t>Cold Case</a:t>
            </a:r>
            <a:endParaRPr lang="zh-CN" altLang="en-US" sz="2800" b="1" dirty="0">
              <a:solidFill>
                <a:srgbClr val="00B050"/>
              </a:solidFill>
              <a:latin typeface="Times New Roman" pitchFamily="18" charset="0"/>
              <a:cs typeface="Times New Roman" pitchFamily="18" charset="0"/>
            </a:endParaRPr>
          </a:p>
        </p:txBody>
      </p:sp>
    </p:spTree>
    <p:extLst>
      <p:ext uri="{BB962C8B-B14F-4D97-AF65-F5344CB8AC3E}">
        <p14:creationId xmlns:p14="http://schemas.microsoft.com/office/powerpoint/2010/main" xmlns="" val="133567964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9</a:t>
            </a:fld>
            <a:r>
              <a:rPr lang="zh-CN" altLang="en-US" smtClean="0"/>
              <a:t> </a:t>
            </a:r>
            <a:endParaRPr lang="zh-CN" altLang="en-US" dirty="0">
              <a:latin typeface="微软雅黑" pitchFamily="34" charset="-122"/>
              <a:ea typeface="微软雅黑" pitchFamily="34" charset="-122"/>
            </a:endParaRPr>
          </a:p>
        </p:txBody>
      </p:sp>
      <p:sp>
        <p:nvSpPr>
          <p:cNvPr id="6" name="矩形 5"/>
          <p:cNvSpPr/>
          <p:nvPr/>
        </p:nvSpPr>
        <p:spPr>
          <a:xfrm>
            <a:off x="461492" y="1628800"/>
            <a:ext cx="8208912" cy="5909310"/>
          </a:xfrm>
          <a:prstGeom prst="rect">
            <a:avLst/>
          </a:prstGeom>
        </p:spPr>
        <p:txBody>
          <a:bodyPr wrap="square">
            <a:spAutoFit/>
          </a:bodyPr>
          <a:lstStyle/>
          <a:p>
            <a:pPr marL="285750" indent="-285750">
              <a:lnSpc>
                <a:spcPct val="150000"/>
              </a:lnSpc>
              <a:buFont typeface="Wingdings" pitchFamily="2" charset="2"/>
              <a:buChar char="Ø"/>
            </a:pPr>
            <a:r>
              <a:rPr lang="en-US" altLang="zh-CN" b="1" dirty="0">
                <a:solidFill>
                  <a:srgbClr val="FF0000"/>
                </a:solidFill>
                <a:latin typeface="Times New Roman" pitchFamily="18" charset="0"/>
                <a:cs typeface="Times New Roman" pitchFamily="18" charset="0"/>
              </a:rPr>
              <a:t>Case 3(Worst hot </a:t>
            </a:r>
            <a:r>
              <a:rPr lang="en-US" altLang="zh-CN" b="1" dirty="0" smtClean="0">
                <a:solidFill>
                  <a:srgbClr val="FF0000"/>
                </a:solidFill>
                <a:latin typeface="Times New Roman" pitchFamily="18" charset="0"/>
                <a:cs typeface="Times New Roman" pitchFamily="18" charset="0"/>
              </a:rPr>
              <a:t>1, Playback Mode): </a:t>
            </a:r>
            <a:r>
              <a:rPr lang="en-US" altLang="zh-CN" dirty="0">
                <a:solidFill>
                  <a:prstClr val="black"/>
                </a:solidFill>
                <a:latin typeface="Times New Roman" pitchFamily="18" charset="0"/>
                <a:cs typeface="Times New Roman" pitchFamily="18" charset="0"/>
              </a:rPr>
              <a:t>Attitude similar to Case2, on </a:t>
            </a:r>
            <a:r>
              <a:rPr lang="en-US" altLang="zh-CN" dirty="0" smtClean="0">
                <a:solidFill>
                  <a:prstClr val="black"/>
                </a:solidFill>
                <a:latin typeface="Times New Roman" pitchFamily="18" charset="0"/>
                <a:cs typeface="Times New Roman" pitchFamily="18" charset="0"/>
              </a:rPr>
              <a:t>Feb 9th</a:t>
            </a:r>
            <a:r>
              <a:rPr lang="en-US" altLang="zh-CN" dirty="0">
                <a:solidFill>
                  <a:prstClr val="black"/>
                </a:solidFill>
                <a:latin typeface="Times New Roman" pitchFamily="18" charset="0"/>
                <a:cs typeface="Times New Roman" pitchFamily="18" charset="0"/>
              </a:rPr>
              <a:t>, EOL, </a:t>
            </a:r>
            <a:r>
              <a:rPr lang="en-US" altLang="zh-CN" dirty="0" smtClean="0">
                <a:solidFill>
                  <a:prstClr val="black"/>
                </a:solidFill>
                <a:latin typeface="Times New Roman" pitchFamily="18" charset="0"/>
                <a:cs typeface="Times New Roman" pitchFamily="18" charset="0"/>
              </a:rPr>
              <a:t>work time</a:t>
            </a:r>
            <a:r>
              <a:rPr lang="en-US" altLang="zh-CN" dirty="0">
                <a:solidFill>
                  <a:prstClr val="black"/>
                </a:solidFill>
                <a:latin typeface="Times New Roman" pitchFamily="18" charset="0"/>
                <a:cs typeface="Times New Roman" pitchFamily="18" charset="0"/>
              </a:rPr>
              <a:t> </a:t>
            </a:r>
            <a:r>
              <a:rPr lang="en-US" altLang="zh-CN" dirty="0" smtClean="0">
                <a:solidFill>
                  <a:prstClr val="black"/>
                </a:solidFill>
                <a:latin typeface="Times New Roman" pitchFamily="18" charset="0"/>
                <a:cs typeface="Times New Roman" pitchFamily="18" charset="0"/>
              </a:rPr>
              <a:t>of playback mode is shorter than 10 min on one orbit.</a:t>
            </a:r>
            <a:endParaRPr lang="zh-CN" altLang="zh-CN" dirty="0">
              <a:solidFill>
                <a:prstClr val="black"/>
              </a:solidFill>
              <a:latin typeface="Times New Roman" pitchFamily="18" charset="0"/>
              <a:cs typeface="Times New Roman" pitchFamily="18" charset="0"/>
            </a:endParaRPr>
          </a:p>
          <a:p>
            <a:pPr marL="285750" indent="-285750">
              <a:lnSpc>
                <a:spcPct val="150000"/>
              </a:lnSpc>
              <a:buFont typeface="Wingdings" pitchFamily="2" charset="2"/>
              <a:buChar char="Ø"/>
            </a:pPr>
            <a:r>
              <a:rPr lang="en-US" altLang="zh-CN" b="1" dirty="0">
                <a:solidFill>
                  <a:srgbClr val="FF0000"/>
                </a:solidFill>
                <a:latin typeface="Times New Roman" pitchFamily="18" charset="0"/>
                <a:cs typeface="Times New Roman" pitchFamily="18" charset="0"/>
              </a:rPr>
              <a:t>Case 4(Worst hot </a:t>
            </a:r>
            <a:r>
              <a:rPr lang="en-US" altLang="zh-CN" b="1" dirty="0" smtClean="0">
                <a:solidFill>
                  <a:srgbClr val="FF0000"/>
                </a:solidFill>
                <a:latin typeface="Times New Roman" pitchFamily="18" charset="0"/>
                <a:cs typeface="Times New Roman" pitchFamily="18" charset="0"/>
              </a:rPr>
              <a:t>2, Record Mode):</a:t>
            </a:r>
            <a:r>
              <a:rPr lang="en-US" altLang="zh-CN" dirty="0">
                <a:solidFill>
                  <a:prstClr val="black"/>
                </a:solidFill>
                <a:latin typeface="Times New Roman" pitchFamily="18" charset="0"/>
                <a:cs typeface="Times New Roman" pitchFamily="18" charset="0"/>
              </a:rPr>
              <a:t> Attitude similar to Case2, on Feb 9th, EOL, work time of </a:t>
            </a:r>
            <a:r>
              <a:rPr lang="en-US" altLang="zh-CN" dirty="0" smtClean="0">
                <a:solidFill>
                  <a:prstClr val="black"/>
                </a:solidFill>
                <a:latin typeface="Times New Roman" pitchFamily="18" charset="0"/>
                <a:cs typeface="Times New Roman" pitchFamily="18" charset="0"/>
              </a:rPr>
              <a:t>Record </a:t>
            </a:r>
            <a:r>
              <a:rPr lang="en-US" altLang="zh-CN" dirty="0">
                <a:solidFill>
                  <a:prstClr val="black"/>
                </a:solidFill>
                <a:latin typeface="Times New Roman" pitchFamily="18" charset="0"/>
                <a:cs typeface="Times New Roman" pitchFamily="18" charset="0"/>
              </a:rPr>
              <a:t>mode is shorter than 10 min on one orbit</a:t>
            </a:r>
            <a:r>
              <a:rPr lang="en-US" altLang="zh-CN" dirty="0" smtClean="0">
                <a:solidFill>
                  <a:prstClr val="black"/>
                </a:solidFill>
                <a:latin typeface="Times New Roman" pitchFamily="18" charset="0"/>
                <a:cs typeface="Times New Roman" pitchFamily="18" charset="0"/>
              </a:rPr>
              <a:t>.</a:t>
            </a:r>
          </a:p>
          <a:p>
            <a:pPr marL="285750" indent="-285750">
              <a:lnSpc>
                <a:spcPct val="150000"/>
              </a:lnSpc>
              <a:buFont typeface="Wingdings" pitchFamily="2" charset="2"/>
              <a:buChar char="Ø"/>
            </a:pPr>
            <a:r>
              <a:rPr lang="en-US" altLang="zh-CN" b="1" dirty="0">
                <a:solidFill>
                  <a:srgbClr val="FF0000"/>
                </a:solidFill>
                <a:latin typeface="Times New Roman" pitchFamily="18" charset="0"/>
                <a:cs typeface="Times New Roman" pitchFamily="18" charset="0"/>
              </a:rPr>
              <a:t>Case </a:t>
            </a:r>
            <a:r>
              <a:rPr lang="en-US" altLang="zh-CN" b="1" dirty="0" smtClean="0">
                <a:solidFill>
                  <a:srgbClr val="FF0000"/>
                </a:solidFill>
                <a:latin typeface="Times New Roman" pitchFamily="18" charset="0"/>
                <a:cs typeface="Times New Roman" pitchFamily="18" charset="0"/>
              </a:rPr>
              <a:t>5(Worst </a:t>
            </a:r>
            <a:r>
              <a:rPr lang="en-US" altLang="zh-CN" b="1" dirty="0">
                <a:solidFill>
                  <a:srgbClr val="FF0000"/>
                </a:solidFill>
                <a:latin typeface="Times New Roman" pitchFamily="18" charset="0"/>
                <a:cs typeface="Times New Roman" pitchFamily="18" charset="0"/>
              </a:rPr>
              <a:t>hot </a:t>
            </a:r>
            <a:r>
              <a:rPr lang="en-US" altLang="zh-CN" b="1" dirty="0" smtClean="0">
                <a:solidFill>
                  <a:srgbClr val="FF0000"/>
                </a:solidFill>
                <a:latin typeface="Times New Roman" pitchFamily="18" charset="0"/>
                <a:cs typeface="Times New Roman" pitchFamily="18" charset="0"/>
              </a:rPr>
              <a:t>3, Record and Replay </a:t>
            </a:r>
            <a:r>
              <a:rPr lang="en-US" altLang="zh-CN" b="1" dirty="0">
                <a:solidFill>
                  <a:srgbClr val="FF0000"/>
                </a:solidFill>
                <a:latin typeface="Times New Roman" pitchFamily="18" charset="0"/>
                <a:cs typeface="Times New Roman" pitchFamily="18" charset="0"/>
              </a:rPr>
              <a:t>Mode):</a:t>
            </a:r>
            <a:r>
              <a:rPr lang="en-US" altLang="zh-CN" dirty="0">
                <a:solidFill>
                  <a:prstClr val="black"/>
                </a:solidFill>
                <a:latin typeface="Times New Roman" pitchFamily="18" charset="0"/>
                <a:cs typeface="Times New Roman" pitchFamily="18" charset="0"/>
              </a:rPr>
              <a:t> Attitude similar to Case2, on Feb 9th, EOL, work time Record and </a:t>
            </a:r>
            <a:r>
              <a:rPr lang="en-US" altLang="zh-CN" dirty="0" smtClean="0">
                <a:solidFill>
                  <a:prstClr val="black"/>
                </a:solidFill>
                <a:latin typeface="Times New Roman" pitchFamily="18" charset="0"/>
                <a:cs typeface="Times New Roman" pitchFamily="18" charset="0"/>
              </a:rPr>
              <a:t>Replay </a:t>
            </a:r>
            <a:r>
              <a:rPr lang="en-US" altLang="zh-CN" dirty="0">
                <a:solidFill>
                  <a:prstClr val="black"/>
                </a:solidFill>
                <a:latin typeface="Times New Roman" pitchFamily="18" charset="0"/>
                <a:cs typeface="Times New Roman" pitchFamily="18" charset="0"/>
              </a:rPr>
              <a:t>Mode is shorter than 10 min on one orbit.</a:t>
            </a:r>
          </a:p>
          <a:p>
            <a:pPr marL="285750" indent="-285750">
              <a:lnSpc>
                <a:spcPct val="150000"/>
              </a:lnSpc>
              <a:buFont typeface="Wingdings" pitchFamily="2" charset="2"/>
              <a:buChar char="Ø"/>
            </a:pPr>
            <a:r>
              <a:rPr lang="en-US" altLang="zh-CN" b="1" dirty="0">
                <a:solidFill>
                  <a:srgbClr val="FF0000"/>
                </a:solidFill>
                <a:latin typeface="Times New Roman" pitchFamily="18" charset="0"/>
                <a:cs typeface="Times New Roman" pitchFamily="18" charset="0"/>
              </a:rPr>
              <a:t>Case </a:t>
            </a:r>
            <a:r>
              <a:rPr lang="en-US" altLang="zh-CN" b="1" dirty="0" smtClean="0">
                <a:solidFill>
                  <a:srgbClr val="FF0000"/>
                </a:solidFill>
                <a:latin typeface="Times New Roman" pitchFamily="18" charset="0"/>
                <a:cs typeface="Times New Roman" pitchFamily="18" charset="0"/>
              </a:rPr>
              <a:t>6(Worst </a:t>
            </a:r>
            <a:r>
              <a:rPr lang="en-US" altLang="zh-CN" b="1" dirty="0">
                <a:solidFill>
                  <a:srgbClr val="FF0000"/>
                </a:solidFill>
                <a:latin typeface="Times New Roman" pitchFamily="18" charset="0"/>
                <a:cs typeface="Times New Roman" pitchFamily="18" charset="0"/>
              </a:rPr>
              <a:t>hot </a:t>
            </a:r>
            <a:r>
              <a:rPr lang="en-US" altLang="zh-CN" b="1" dirty="0" smtClean="0">
                <a:solidFill>
                  <a:srgbClr val="FF0000"/>
                </a:solidFill>
                <a:latin typeface="Times New Roman" pitchFamily="18" charset="0"/>
                <a:cs typeface="Times New Roman" pitchFamily="18" charset="0"/>
              </a:rPr>
              <a:t>4, Real-Time Transport </a:t>
            </a:r>
            <a:r>
              <a:rPr lang="en-US" altLang="zh-CN" b="1" dirty="0">
                <a:solidFill>
                  <a:srgbClr val="FF0000"/>
                </a:solidFill>
                <a:latin typeface="Times New Roman" pitchFamily="18" charset="0"/>
                <a:cs typeface="Times New Roman" pitchFamily="18" charset="0"/>
              </a:rPr>
              <a:t>Mode):</a:t>
            </a:r>
            <a:r>
              <a:rPr lang="en-US" altLang="zh-CN" dirty="0">
                <a:solidFill>
                  <a:prstClr val="black"/>
                </a:solidFill>
                <a:latin typeface="Times New Roman" pitchFamily="18" charset="0"/>
                <a:cs typeface="Times New Roman" pitchFamily="18" charset="0"/>
              </a:rPr>
              <a:t> Attitude similar to Case2, on Feb 9th, EOL, work time of Real-Time Transport </a:t>
            </a:r>
            <a:r>
              <a:rPr lang="en-US" altLang="zh-CN" dirty="0" smtClean="0">
                <a:solidFill>
                  <a:prstClr val="black"/>
                </a:solidFill>
                <a:latin typeface="Times New Roman" pitchFamily="18" charset="0"/>
                <a:cs typeface="Times New Roman" pitchFamily="18" charset="0"/>
              </a:rPr>
              <a:t>Mode is </a:t>
            </a:r>
            <a:r>
              <a:rPr lang="en-US" altLang="zh-CN" dirty="0">
                <a:solidFill>
                  <a:prstClr val="black"/>
                </a:solidFill>
                <a:latin typeface="Times New Roman" pitchFamily="18" charset="0"/>
                <a:cs typeface="Times New Roman" pitchFamily="18" charset="0"/>
              </a:rPr>
              <a:t>shorter than 10 min on one orbit.</a:t>
            </a:r>
          </a:p>
          <a:p>
            <a:pPr marL="285750" indent="-285750">
              <a:lnSpc>
                <a:spcPct val="150000"/>
              </a:lnSpc>
              <a:buFont typeface="Wingdings" pitchFamily="2" charset="2"/>
              <a:buChar char="Ø"/>
            </a:pPr>
            <a:endParaRPr lang="en-US" altLang="zh-CN" dirty="0" smtClean="0">
              <a:solidFill>
                <a:prstClr val="black"/>
              </a:solidFill>
              <a:latin typeface="Times New Roman" pitchFamily="18" charset="0"/>
              <a:cs typeface="Times New Roman" pitchFamily="18" charset="0"/>
            </a:endParaRPr>
          </a:p>
          <a:p>
            <a:pPr marL="285750" indent="-285750">
              <a:lnSpc>
                <a:spcPct val="150000"/>
              </a:lnSpc>
              <a:buFont typeface="Wingdings" pitchFamily="2" charset="2"/>
              <a:buChar char="Ø"/>
            </a:pPr>
            <a:endParaRPr lang="en-US" altLang="zh-CN" dirty="0" smtClean="0">
              <a:solidFill>
                <a:prstClr val="black"/>
              </a:solidFill>
              <a:latin typeface="Times New Roman" pitchFamily="18" charset="0"/>
              <a:cs typeface="Times New Roman" pitchFamily="18" charset="0"/>
            </a:endParaRPr>
          </a:p>
          <a:p>
            <a:pPr marL="285750" indent="-285750">
              <a:lnSpc>
                <a:spcPct val="150000"/>
              </a:lnSpc>
              <a:buFont typeface="Wingdings" pitchFamily="2" charset="2"/>
              <a:buChar char="Ø"/>
            </a:pPr>
            <a:endParaRPr lang="zh-CN" altLang="zh-CN" dirty="0">
              <a:solidFill>
                <a:prstClr val="black"/>
              </a:solidFill>
              <a:latin typeface="Times New Roman" pitchFamily="18" charset="0"/>
              <a:cs typeface="Times New Roman" pitchFamily="18" charset="0"/>
            </a:endParaRPr>
          </a:p>
          <a:p>
            <a:pPr>
              <a:lnSpc>
                <a:spcPct val="150000"/>
              </a:lnSpc>
            </a:pPr>
            <a:endParaRPr lang="en-US" altLang="zh-CN" dirty="0">
              <a:solidFill>
                <a:prstClr val="black"/>
              </a:solidFill>
              <a:latin typeface="Times New Roman" pitchFamily="18" charset="0"/>
              <a:cs typeface="Times New Roman" pitchFamily="18" charset="0"/>
            </a:endParaRPr>
          </a:p>
          <a:p>
            <a:pPr marL="285750" indent="-285750">
              <a:lnSpc>
                <a:spcPct val="150000"/>
              </a:lnSpc>
              <a:buFont typeface="Wingdings" pitchFamily="2" charset="2"/>
              <a:buChar char="Ø"/>
            </a:pPr>
            <a:endParaRPr lang="zh-CN" altLang="en-US" dirty="0"/>
          </a:p>
        </p:txBody>
      </p:sp>
      <p:sp>
        <p:nvSpPr>
          <p:cNvPr id="7" name="标题 6"/>
          <p:cNvSpPr>
            <a:spLocks noGrp="1"/>
          </p:cNvSpPr>
          <p:nvPr>
            <p:ph type="title"/>
          </p:nvPr>
        </p:nvSpPr>
        <p:spPr>
          <a:prstGeom prst="rect">
            <a:avLst/>
          </a:prstGeom>
        </p:spPr>
        <p:txBody>
          <a:bodyPr wrap="square">
            <a:spAutoFit/>
          </a:bodyPr>
          <a:lstStyle/>
          <a:p>
            <a:pPr lvl="1" fontAlgn="base"/>
            <a:r>
              <a:rPr lang="en-US" altLang="zh-CN" sz="2800" dirty="0" smtClean="0">
                <a:solidFill>
                  <a:schemeClr val="bg1"/>
                </a:solidFill>
                <a:latin typeface="微软雅黑" panose="020B0503020204020204" pitchFamily="34" charset="-122"/>
                <a:ea typeface="微软雅黑" panose="020B0503020204020204" pitchFamily="34" charset="-122"/>
              </a:rPr>
              <a:t>7 </a:t>
            </a:r>
            <a:r>
              <a:rPr lang="en-US" altLang="zh-CN" sz="2800" dirty="0" smtClean="0">
                <a:solidFill>
                  <a:schemeClr val="bg1"/>
                </a:solidFill>
              </a:rPr>
              <a:t>Thermal Analysis </a:t>
            </a:r>
          </a:p>
          <a:p>
            <a:pPr algn="ctr" fontAlgn="base"/>
            <a:r>
              <a:rPr lang="en-US" altLang="zh-CN" sz="3200" dirty="0" smtClean="0">
                <a:solidFill>
                  <a:schemeClr val="bg1"/>
                </a:solidFill>
              </a:rPr>
              <a:t>              ------ </a:t>
            </a:r>
            <a:r>
              <a:rPr lang="en-US" altLang="zh-CN" sz="2400" dirty="0">
                <a:solidFill>
                  <a:schemeClr val="bg1"/>
                </a:solidFill>
              </a:rPr>
              <a:t>Critical cases</a:t>
            </a:r>
            <a:endParaRPr lang="zh-CN" altLang="zh-CN" sz="2400" dirty="0">
              <a:solidFill>
                <a:schemeClr val="bg1"/>
              </a:solidFill>
            </a:endParaRPr>
          </a:p>
        </p:txBody>
      </p:sp>
      <p:sp>
        <p:nvSpPr>
          <p:cNvPr id="8" name="TextBox 7"/>
          <p:cNvSpPr txBox="1"/>
          <p:nvPr/>
        </p:nvSpPr>
        <p:spPr>
          <a:xfrm>
            <a:off x="461492" y="1196752"/>
            <a:ext cx="4392488" cy="523220"/>
          </a:xfrm>
          <a:prstGeom prst="rect">
            <a:avLst/>
          </a:prstGeom>
          <a:noFill/>
        </p:spPr>
        <p:txBody>
          <a:bodyPr wrap="square" rtlCol="0">
            <a:spAutoFit/>
          </a:bodyPr>
          <a:lstStyle/>
          <a:p>
            <a:r>
              <a:rPr lang="en-US" altLang="zh-CN" sz="2800" b="1" dirty="0" smtClean="0">
                <a:solidFill>
                  <a:srgbClr val="FF0000"/>
                </a:solidFill>
                <a:latin typeface="Times New Roman" pitchFamily="18" charset="0"/>
                <a:cs typeface="Times New Roman" pitchFamily="18" charset="0"/>
              </a:rPr>
              <a:t>Hot Case</a:t>
            </a:r>
            <a:endParaRPr lang="zh-CN" altLang="en-US" sz="2800" b="1" dirty="0">
              <a:solidFill>
                <a:srgbClr val="FF0000"/>
              </a:solidFill>
              <a:latin typeface="Times New Roman" pitchFamily="18" charset="0"/>
              <a:cs typeface="Times New Roman" pitchFamily="18" charset="0"/>
            </a:endParaRPr>
          </a:p>
        </p:txBody>
      </p:sp>
    </p:spTree>
    <p:extLst>
      <p:ext uri="{BB962C8B-B14F-4D97-AF65-F5344CB8AC3E}">
        <p14:creationId xmlns:p14="http://schemas.microsoft.com/office/powerpoint/2010/main" xmlns="" val="159092512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10</a:t>
            </a:fld>
            <a:r>
              <a:rPr lang="zh-CN" altLang="en-US" smtClean="0"/>
              <a:t> </a:t>
            </a:r>
            <a:endParaRPr lang="zh-CN" altLang="en-US" dirty="0">
              <a:latin typeface="微软雅黑" pitchFamily="34" charset="-122"/>
              <a:ea typeface="微软雅黑" pitchFamily="34" charset="-122"/>
            </a:endParaRPr>
          </a:p>
        </p:txBody>
      </p:sp>
      <p:sp>
        <p:nvSpPr>
          <p:cNvPr id="6" name="矩形 5"/>
          <p:cNvSpPr/>
          <p:nvPr/>
        </p:nvSpPr>
        <p:spPr>
          <a:xfrm>
            <a:off x="1259632" y="116632"/>
            <a:ext cx="7064626" cy="1261884"/>
          </a:xfrm>
          <a:prstGeom prst="rect">
            <a:avLst/>
          </a:prstGeom>
        </p:spPr>
        <p:txBody>
          <a:bodyPr wrap="square">
            <a:spAutoFit/>
          </a:bodyPr>
          <a:lstStyle/>
          <a:p>
            <a:pPr lvl="1" fontAlgn="base"/>
            <a:r>
              <a:rPr lang="en-US" altLang="zh-CN" sz="2800" dirty="0" smtClean="0">
                <a:solidFill>
                  <a:schemeClr val="bg1"/>
                </a:solidFill>
                <a:latin typeface="微软雅黑" panose="020B0503020204020204" pitchFamily="34" charset="-122"/>
                <a:ea typeface="微软雅黑" panose="020B0503020204020204" pitchFamily="34" charset="-122"/>
              </a:rPr>
              <a:t>7 </a:t>
            </a:r>
            <a:r>
              <a:rPr lang="en-US" altLang="zh-CN" sz="2800" dirty="0" smtClean="0">
                <a:solidFill>
                  <a:schemeClr val="bg1"/>
                </a:solidFill>
              </a:rPr>
              <a:t>Thermal Analysis </a:t>
            </a:r>
          </a:p>
          <a:p>
            <a:pPr marL="457200" lvl="1" algn="just">
              <a:lnSpc>
                <a:spcPct val="150000"/>
              </a:lnSpc>
              <a:tabLst>
                <a:tab pos="365760" algn="l"/>
              </a:tabLst>
            </a:pPr>
            <a:r>
              <a:rPr lang="en-US" altLang="zh-CN" sz="3200" dirty="0">
                <a:solidFill>
                  <a:schemeClr val="bg1"/>
                </a:solidFill>
              </a:rPr>
              <a:t> </a:t>
            </a:r>
            <a:r>
              <a:rPr lang="en-US" altLang="zh-CN" sz="3200" dirty="0" smtClean="0">
                <a:solidFill>
                  <a:schemeClr val="bg1"/>
                </a:solidFill>
              </a:rPr>
              <a:t>                  ------ </a:t>
            </a:r>
            <a:r>
              <a:rPr lang="en-US" altLang="zh-CN" sz="2400" dirty="0" smtClean="0">
                <a:solidFill>
                  <a:schemeClr val="bg1"/>
                </a:solidFill>
              </a:rPr>
              <a:t>Orbit  </a:t>
            </a:r>
            <a:r>
              <a:rPr lang="en-US" altLang="zh-CN" sz="2400" dirty="0">
                <a:solidFill>
                  <a:schemeClr val="bg1"/>
                </a:solidFill>
              </a:rPr>
              <a:t>Fluxes </a:t>
            </a:r>
            <a:r>
              <a:rPr lang="en-US" altLang="zh-CN" sz="2400" dirty="0" smtClean="0">
                <a:solidFill>
                  <a:schemeClr val="bg1"/>
                </a:solidFill>
              </a:rPr>
              <a:t> Parameter</a:t>
            </a:r>
            <a:endParaRPr lang="zh-CN" altLang="zh-CN" sz="2400" dirty="0">
              <a:solidFill>
                <a:schemeClr val="bg1"/>
              </a:solidFill>
            </a:endParaRPr>
          </a:p>
        </p:txBody>
      </p:sp>
      <p:sp>
        <p:nvSpPr>
          <p:cNvPr id="7" name="矩形 6"/>
          <p:cNvSpPr/>
          <p:nvPr/>
        </p:nvSpPr>
        <p:spPr>
          <a:xfrm>
            <a:off x="611560" y="1700808"/>
            <a:ext cx="7920880" cy="2923877"/>
          </a:xfrm>
          <a:prstGeom prst="rect">
            <a:avLst/>
          </a:prstGeom>
        </p:spPr>
        <p:txBody>
          <a:bodyPr wrap="square">
            <a:spAutoFit/>
          </a:bodyPr>
          <a:lstStyle/>
          <a:p>
            <a:pPr marL="285750" indent="-285750" algn="just">
              <a:lnSpc>
                <a:spcPct val="150000"/>
              </a:lnSpc>
              <a:spcAft>
                <a:spcPts val="0"/>
              </a:spcAft>
              <a:buFont typeface="Wingdings" pitchFamily="2" charset="2"/>
              <a:buChar char="Ø"/>
            </a:pPr>
            <a:r>
              <a:rPr lang="en-US" altLang="zh-CN" kern="100" dirty="0" smtClean="0">
                <a:latin typeface="Times New Roman"/>
              </a:rPr>
              <a:t>Cold </a:t>
            </a:r>
            <a:r>
              <a:rPr lang="en-US" altLang="zh-CN" kern="100" dirty="0">
                <a:latin typeface="Times New Roman"/>
              </a:rPr>
              <a:t>Case </a:t>
            </a:r>
            <a:r>
              <a:rPr lang="zh-CN" altLang="zh-CN" kern="100" dirty="0">
                <a:latin typeface="Times New Roman"/>
              </a:rPr>
              <a:t>：</a:t>
            </a:r>
            <a:r>
              <a:rPr lang="en-US" altLang="zh-CN" kern="100" dirty="0">
                <a:latin typeface="Times New Roman"/>
              </a:rPr>
              <a:t> S=1323W/m</a:t>
            </a:r>
            <a:r>
              <a:rPr lang="en-US" altLang="zh-CN" kern="100" baseline="30000" dirty="0">
                <a:latin typeface="Times New Roman"/>
              </a:rPr>
              <a:t>2</a:t>
            </a:r>
            <a:r>
              <a:rPr lang="en-US" altLang="zh-CN" kern="100" dirty="0">
                <a:latin typeface="Times New Roman"/>
              </a:rPr>
              <a:t>     </a:t>
            </a:r>
            <a:r>
              <a:rPr lang="en-US" altLang="zh-CN" kern="100" dirty="0">
                <a:solidFill>
                  <a:srgbClr val="000000"/>
                </a:solidFill>
                <a:latin typeface="Times New Roman"/>
              </a:rPr>
              <a:t>The orbit beta angle</a:t>
            </a:r>
            <a:r>
              <a:rPr lang="en-US" altLang="zh-CN" kern="100" dirty="0">
                <a:latin typeface="Times New Roman"/>
              </a:rPr>
              <a:t> </a:t>
            </a:r>
            <a:r>
              <a:rPr lang="zh-CN" altLang="zh-CN" kern="100" dirty="0">
                <a:latin typeface="Times New Roman"/>
              </a:rPr>
              <a:t>β</a:t>
            </a:r>
            <a:r>
              <a:rPr lang="en-US" altLang="zh-CN" kern="100" dirty="0" smtClean="0">
                <a:latin typeface="Times New Roman"/>
              </a:rPr>
              <a:t>=16.98</a:t>
            </a:r>
            <a:r>
              <a:rPr lang="zh-CN" altLang="zh-CN" kern="100" dirty="0" smtClean="0">
                <a:latin typeface="Times New Roman"/>
              </a:rPr>
              <a:t>°</a:t>
            </a:r>
            <a:r>
              <a:rPr lang="en-US" altLang="zh-CN" kern="100" dirty="0" smtClean="0">
                <a:latin typeface="Times New Roman"/>
              </a:rPr>
              <a:t> June 2th  </a:t>
            </a:r>
            <a:endParaRPr lang="zh-CN" altLang="zh-CN" sz="1400" kern="100" dirty="0">
              <a:latin typeface="Times New Roman"/>
            </a:endParaRPr>
          </a:p>
          <a:p>
            <a:pPr algn="just">
              <a:lnSpc>
                <a:spcPct val="150000"/>
              </a:lnSpc>
              <a:spcAft>
                <a:spcPts val="0"/>
              </a:spcAft>
            </a:pPr>
            <a:r>
              <a:rPr lang="en-US" altLang="zh-CN" kern="100" dirty="0" smtClean="0">
                <a:latin typeface="Times New Roman"/>
              </a:rPr>
              <a:t>           </a:t>
            </a:r>
            <a:r>
              <a:rPr lang="en-US" altLang="zh-CN" kern="100" dirty="0">
                <a:latin typeface="Times New Roman"/>
              </a:rPr>
              <a:t>Albedo Radiation Value=0.3  Planet shine Radiation </a:t>
            </a:r>
            <a:r>
              <a:rPr lang="en-US" altLang="zh-CN" kern="100" dirty="0" smtClean="0">
                <a:latin typeface="Times New Roman"/>
              </a:rPr>
              <a:t>value=231.53W/m</a:t>
            </a:r>
            <a:r>
              <a:rPr lang="en-US" altLang="zh-CN" kern="100" baseline="30000" dirty="0" smtClean="0">
                <a:latin typeface="Times New Roman"/>
              </a:rPr>
              <a:t>2</a:t>
            </a:r>
          </a:p>
          <a:p>
            <a:pPr algn="just">
              <a:lnSpc>
                <a:spcPct val="150000"/>
              </a:lnSpc>
              <a:spcAft>
                <a:spcPts val="0"/>
              </a:spcAft>
            </a:pPr>
            <a:endParaRPr lang="en-US" altLang="zh-CN" sz="1400" kern="100" baseline="30000" dirty="0">
              <a:latin typeface="Times New Roman"/>
            </a:endParaRPr>
          </a:p>
          <a:p>
            <a:pPr algn="just">
              <a:lnSpc>
                <a:spcPct val="150000"/>
              </a:lnSpc>
              <a:spcAft>
                <a:spcPts val="0"/>
              </a:spcAft>
            </a:pPr>
            <a:endParaRPr lang="en-US" altLang="zh-CN" sz="1400" kern="100" baseline="30000" dirty="0" smtClean="0">
              <a:latin typeface="Times New Roman"/>
            </a:endParaRPr>
          </a:p>
          <a:p>
            <a:pPr algn="just">
              <a:lnSpc>
                <a:spcPct val="150000"/>
              </a:lnSpc>
              <a:spcAft>
                <a:spcPts val="0"/>
              </a:spcAft>
            </a:pPr>
            <a:endParaRPr lang="zh-CN" altLang="zh-CN" sz="1400" kern="100" dirty="0">
              <a:latin typeface="Times New Roman"/>
            </a:endParaRPr>
          </a:p>
          <a:p>
            <a:pPr marL="285750" indent="-285750" algn="just">
              <a:lnSpc>
                <a:spcPct val="150000"/>
              </a:lnSpc>
              <a:spcAft>
                <a:spcPts val="0"/>
              </a:spcAft>
              <a:buFont typeface="Wingdings" pitchFamily="2" charset="2"/>
              <a:buChar char="Ø"/>
            </a:pPr>
            <a:r>
              <a:rPr lang="en-US" altLang="zh-CN" kern="100" dirty="0">
                <a:latin typeface="Times New Roman"/>
              </a:rPr>
              <a:t>Hot Case</a:t>
            </a:r>
            <a:r>
              <a:rPr lang="zh-CN" altLang="zh-CN" kern="100" dirty="0">
                <a:latin typeface="Times New Roman"/>
              </a:rPr>
              <a:t>：</a:t>
            </a:r>
            <a:r>
              <a:rPr lang="en-US" altLang="zh-CN" kern="100" dirty="0">
                <a:latin typeface="Times New Roman"/>
              </a:rPr>
              <a:t>   S=1414W/m</a:t>
            </a:r>
            <a:r>
              <a:rPr lang="en-US" altLang="zh-CN" kern="100" baseline="30000" dirty="0">
                <a:latin typeface="Times New Roman"/>
              </a:rPr>
              <a:t>2</a:t>
            </a:r>
            <a:r>
              <a:rPr lang="en-US" altLang="zh-CN" kern="100" dirty="0">
                <a:latin typeface="Times New Roman"/>
              </a:rPr>
              <a:t>     </a:t>
            </a:r>
            <a:r>
              <a:rPr lang="en-US" altLang="zh-CN" kern="100" dirty="0">
                <a:solidFill>
                  <a:srgbClr val="000000"/>
                </a:solidFill>
                <a:latin typeface="Times New Roman"/>
              </a:rPr>
              <a:t>The orbit beta angle</a:t>
            </a:r>
            <a:r>
              <a:rPr lang="en-US" altLang="zh-CN" kern="100" dirty="0">
                <a:latin typeface="Times New Roman"/>
              </a:rPr>
              <a:t> </a:t>
            </a:r>
            <a:r>
              <a:rPr lang="zh-CN" altLang="zh-CN" kern="100" dirty="0">
                <a:latin typeface="Times New Roman"/>
              </a:rPr>
              <a:t>β</a:t>
            </a:r>
            <a:r>
              <a:rPr lang="en-US" altLang="zh-CN" kern="100" dirty="0">
                <a:latin typeface="Times New Roman"/>
              </a:rPr>
              <a:t>=26.18</a:t>
            </a:r>
            <a:r>
              <a:rPr lang="zh-CN" altLang="zh-CN" kern="100" dirty="0">
                <a:latin typeface="Times New Roman"/>
              </a:rPr>
              <a:t>°</a:t>
            </a:r>
            <a:r>
              <a:rPr lang="en-US" altLang="zh-CN" kern="100" dirty="0">
                <a:latin typeface="Times New Roman"/>
              </a:rPr>
              <a:t> </a:t>
            </a:r>
            <a:r>
              <a:rPr lang="en-US" altLang="zh-CN" kern="100" dirty="0" smtClean="0">
                <a:latin typeface="Times New Roman"/>
              </a:rPr>
              <a:t>Feb 9th  </a:t>
            </a:r>
            <a:endParaRPr lang="zh-CN" altLang="zh-CN" sz="1400" kern="100" dirty="0">
              <a:latin typeface="Times New Roman"/>
            </a:endParaRPr>
          </a:p>
          <a:p>
            <a:pPr algn="just">
              <a:lnSpc>
                <a:spcPct val="150000"/>
              </a:lnSpc>
              <a:spcAft>
                <a:spcPts val="0"/>
              </a:spcAft>
            </a:pPr>
            <a:r>
              <a:rPr lang="en-US" altLang="zh-CN" kern="100" dirty="0" smtClean="0">
                <a:latin typeface="Times New Roman"/>
              </a:rPr>
              <a:t>           Albedo </a:t>
            </a:r>
            <a:r>
              <a:rPr lang="en-US" altLang="zh-CN" kern="100" dirty="0">
                <a:latin typeface="Times New Roman"/>
              </a:rPr>
              <a:t>Radiation </a:t>
            </a:r>
            <a:r>
              <a:rPr lang="en-US" altLang="zh-CN" kern="100" dirty="0" smtClean="0">
                <a:latin typeface="Times New Roman"/>
              </a:rPr>
              <a:t>Value=0.35  </a:t>
            </a:r>
            <a:r>
              <a:rPr lang="en-US" altLang="zh-CN" kern="100" dirty="0">
                <a:latin typeface="Times New Roman"/>
              </a:rPr>
              <a:t>Planet shine Radiation value=247.45W/m</a:t>
            </a:r>
            <a:r>
              <a:rPr lang="en-US" altLang="zh-CN" kern="100" baseline="30000" dirty="0">
                <a:latin typeface="Times New Roman"/>
              </a:rPr>
              <a:t>2</a:t>
            </a:r>
            <a:endParaRPr lang="zh-CN" altLang="zh-CN" sz="1400" kern="100" dirty="0">
              <a:latin typeface="Times New Roman"/>
            </a:endParaRPr>
          </a:p>
          <a:p>
            <a:pPr marL="285750" indent="-285750">
              <a:lnSpc>
                <a:spcPct val="150000"/>
              </a:lnSpc>
              <a:buFont typeface="Wingdings" pitchFamily="2" charset="2"/>
              <a:buChar char="Ø"/>
            </a:pPr>
            <a:endParaRPr lang="zh-CN" altLang="zh-CN" dirty="0">
              <a:solidFill>
                <a:prstClr val="black"/>
              </a:solidFill>
            </a:endParaRPr>
          </a:p>
        </p:txBody>
      </p:sp>
    </p:spTree>
    <p:extLst>
      <p:ext uri="{BB962C8B-B14F-4D97-AF65-F5344CB8AC3E}">
        <p14:creationId xmlns:p14="http://schemas.microsoft.com/office/powerpoint/2010/main" xmlns="" val="133567964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11</a:t>
            </a:fld>
            <a:r>
              <a:rPr lang="zh-CN" altLang="en-US" smtClean="0"/>
              <a:t> </a:t>
            </a:r>
            <a:endParaRPr lang="zh-CN" altLang="en-US" dirty="0">
              <a:latin typeface="微软雅黑" pitchFamily="34" charset="-122"/>
              <a:ea typeface="微软雅黑" pitchFamily="34" charset="-122"/>
            </a:endParaRPr>
          </a:p>
        </p:txBody>
      </p:sp>
      <p:sp>
        <p:nvSpPr>
          <p:cNvPr id="7" name="矩形 6"/>
          <p:cNvSpPr/>
          <p:nvPr/>
        </p:nvSpPr>
        <p:spPr>
          <a:xfrm>
            <a:off x="1259632" y="116632"/>
            <a:ext cx="7064626" cy="1261884"/>
          </a:xfrm>
          <a:prstGeom prst="rect">
            <a:avLst/>
          </a:prstGeom>
        </p:spPr>
        <p:txBody>
          <a:bodyPr wrap="square">
            <a:spAutoFit/>
          </a:bodyPr>
          <a:lstStyle/>
          <a:p>
            <a:pPr lvl="1" fontAlgn="base"/>
            <a:r>
              <a:rPr lang="en-US" altLang="zh-CN" sz="2800" dirty="0" smtClean="0">
                <a:solidFill>
                  <a:schemeClr val="bg1"/>
                </a:solidFill>
                <a:latin typeface="微软雅黑" panose="020B0503020204020204" pitchFamily="34" charset="-122"/>
                <a:ea typeface="微软雅黑" panose="020B0503020204020204" pitchFamily="34" charset="-122"/>
              </a:rPr>
              <a:t>7 </a:t>
            </a:r>
            <a:r>
              <a:rPr lang="en-US" altLang="zh-CN" sz="2800" dirty="0" smtClean="0">
                <a:solidFill>
                  <a:schemeClr val="bg1"/>
                </a:solidFill>
              </a:rPr>
              <a:t>Thermal Analysis </a:t>
            </a:r>
          </a:p>
          <a:p>
            <a:pPr marL="457200" lvl="1" algn="just">
              <a:lnSpc>
                <a:spcPct val="150000"/>
              </a:lnSpc>
              <a:tabLst>
                <a:tab pos="365760" algn="l"/>
              </a:tabLst>
            </a:pPr>
            <a:r>
              <a:rPr lang="en-US" altLang="zh-CN" sz="3200" dirty="0">
                <a:solidFill>
                  <a:schemeClr val="bg1"/>
                </a:solidFill>
              </a:rPr>
              <a:t> </a:t>
            </a:r>
            <a:r>
              <a:rPr lang="en-US" altLang="zh-CN" sz="3200" dirty="0" smtClean="0">
                <a:solidFill>
                  <a:schemeClr val="bg1"/>
                </a:solidFill>
              </a:rPr>
              <a:t>                  ------ </a:t>
            </a:r>
            <a:r>
              <a:rPr lang="en-US" altLang="zh-CN" sz="2400" dirty="0" smtClean="0">
                <a:solidFill>
                  <a:schemeClr val="bg1"/>
                </a:solidFill>
              </a:rPr>
              <a:t>Payload </a:t>
            </a:r>
            <a:r>
              <a:rPr lang="en-US" altLang="zh-CN" sz="2400" dirty="0">
                <a:solidFill>
                  <a:schemeClr val="bg1"/>
                </a:solidFill>
              </a:rPr>
              <a:t>Operation Status</a:t>
            </a:r>
            <a:endParaRPr lang="zh-CN" altLang="zh-CN" sz="2400" dirty="0">
              <a:solidFill>
                <a:schemeClr val="bg1"/>
              </a:solidFill>
            </a:endParaRPr>
          </a:p>
        </p:txBody>
      </p:sp>
      <p:sp>
        <p:nvSpPr>
          <p:cNvPr id="8" name="矩形 7"/>
          <p:cNvSpPr/>
          <p:nvPr/>
        </p:nvSpPr>
        <p:spPr>
          <a:xfrm>
            <a:off x="520527" y="1399501"/>
            <a:ext cx="7920880" cy="1338828"/>
          </a:xfrm>
          <a:prstGeom prst="rect">
            <a:avLst/>
          </a:prstGeom>
        </p:spPr>
        <p:txBody>
          <a:bodyPr wrap="square">
            <a:spAutoFit/>
          </a:bodyPr>
          <a:lstStyle/>
          <a:p>
            <a:pPr marL="285750" indent="-285750" algn="just">
              <a:buFont typeface="Wingdings" pitchFamily="2" charset="2"/>
              <a:buChar char="Ø"/>
            </a:pPr>
            <a:r>
              <a:rPr lang="en-US" altLang="zh-CN" kern="100" dirty="0">
                <a:solidFill>
                  <a:prstClr val="black"/>
                </a:solidFill>
                <a:latin typeface="Times New Roman"/>
              </a:rPr>
              <a:t>All the payloads are switched off in cold cases. </a:t>
            </a:r>
            <a:endParaRPr lang="en-US" altLang="zh-CN" kern="100" dirty="0" smtClean="0">
              <a:solidFill>
                <a:prstClr val="black"/>
              </a:solidFill>
              <a:latin typeface="Times New Roman"/>
            </a:endParaRPr>
          </a:p>
          <a:p>
            <a:pPr algn="just"/>
            <a:endParaRPr lang="en-US" altLang="zh-CN" kern="100" dirty="0">
              <a:solidFill>
                <a:prstClr val="black"/>
              </a:solidFill>
              <a:latin typeface="Times New Roman"/>
            </a:endParaRPr>
          </a:p>
          <a:p>
            <a:pPr marL="285750" indent="-285750" algn="just">
              <a:buFont typeface="Wingdings" pitchFamily="2" charset="2"/>
              <a:buChar char="Ø"/>
            </a:pPr>
            <a:r>
              <a:rPr lang="en-US" altLang="zh-CN" kern="100" dirty="0">
                <a:solidFill>
                  <a:prstClr val="black"/>
                </a:solidFill>
                <a:latin typeface="Times New Roman"/>
              </a:rPr>
              <a:t>Payload work time and mode is shown in Table8-1 in hot cases.</a:t>
            </a:r>
          </a:p>
          <a:p>
            <a:pPr algn="just">
              <a:lnSpc>
                <a:spcPct val="150000"/>
              </a:lnSpc>
            </a:pPr>
            <a:r>
              <a:rPr lang="en-US" altLang="zh-CN" kern="100" dirty="0" smtClean="0">
                <a:solidFill>
                  <a:prstClr val="black"/>
                </a:solidFill>
                <a:latin typeface="Times New Roman"/>
              </a:rPr>
              <a:t>           </a:t>
            </a:r>
            <a:endParaRPr lang="zh-CN" altLang="zh-CN" dirty="0">
              <a:solidFill>
                <a:prstClr val="black"/>
              </a:solidFill>
            </a:endParaRPr>
          </a:p>
        </p:txBody>
      </p:sp>
      <p:sp>
        <p:nvSpPr>
          <p:cNvPr id="9" name="矩形 8"/>
          <p:cNvSpPr/>
          <p:nvPr/>
        </p:nvSpPr>
        <p:spPr>
          <a:xfrm>
            <a:off x="1691680" y="2852936"/>
            <a:ext cx="5805863" cy="376834"/>
          </a:xfrm>
          <a:prstGeom prst="rect">
            <a:avLst/>
          </a:prstGeom>
        </p:spPr>
        <p:txBody>
          <a:bodyPr wrap="square">
            <a:spAutoFit/>
          </a:bodyPr>
          <a:lstStyle/>
          <a:p>
            <a:pPr lvl="0" algn="ctr">
              <a:lnSpc>
                <a:spcPct val="150000"/>
              </a:lnSpc>
            </a:pPr>
            <a:r>
              <a:rPr lang="en-US" altLang="zh-CN" sz="1400" kern="100" dirty="0">
                <a:solidFill>
                  <a:prstClr val="black"/>
                </a:solidFill>
                <a:latin typeface="Times New Roman"/>
              </a:rPr>
              <a:t>Table 8-1 Payload Operation Time in Hot Cases</a:t>
            </a:r>
          </a:p>
        </p:txBody>
      </p:sp>
      <p:graphicFrame>
        <p:nvGraphicFramePr>
          <p:cNvPr id="10" name="表格 9"/>
          <p:cNvGraphicFramePr>
            <a:graphicFrameLocks noGrp="1"/>
          </p:cNvGraphicFramePr>
          <p:nvPr>
            <p:extLst>
              <p:ext uri="{D42A27DB-BD31-4B8C-83A1-F6EECF244321}">
                <p14:modId xmlns:p14="http://schemas.microsoft.com/office/powerpoint/2010/main" xmlns="" val="991918865"/>
              </p:ext>
            </p:extLst>
          </p:nvPr>
        </p:nvGraphicFramePr>
        <p:xfrm>
          <a:off x="611560" y="3356992"/>
          <a:ext cx="7416824" cy="2526713"/>
        </p:xfrm>
        <a:graphic>
          <a:graphicData uri="http://schemas.openxmlformats.org/drawingml/2006/table">
            <a:tbl>
              <a:tblPr firstRow="1" firstCol="1" bandRow="1"/>
              <a:tblGrid>
                <a:gridCol w="1069416"/>
                <a:gridCol w="1666888"/>
                <a:gridCol w="2376264"/>
                <a:gridCol w="2304256"/>
              </a:tblGrid>
              <a:tr h="393043">
                <a:tc>
                  <a:txBody>
                    <a:bodyPr/>
                    <a:lstStyle/>
                    <a:p>
                      <a:pPr algn="just">
                        <a:spcAft>
                          <a:spcPts val="0"/>
                        </a:spcAft>
                        <a:tabLst>
                          <a:tab pos="457200" algn="l"/>
                        </a:tabLst>
                      </a:pPr>
                      <a:endParaRPr lang="zh-CN" sz="1600" kern="100" dirty="0">
                        <a:effectLst/>
                        <a:latin typeface="Times New Roman"/>
                        <a:ea typeface="宋体"/>
                      </a:endParaRPr>
                    </a:p>
                  </a:txBody>
                  <a:tcPr marL="0" marR="0"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D9F1"/>
                    </a:solidFill>
                  </a:tcPr>
                </a:tc>
                <a:tc>
                  <a:txBody>
                    <a:bodyPr/>
                    <a:lstStyle/>
                    <a:p>
                      <a:pPr algn="ctr">
                        <a:spcAft>
                          <a:spcPts val="0"/>
                        </a:spcAft>
                        <a:tabLst>
                          <a:tab pos="457200" algn="l"/>
                        </a:tabLst>
                      </a:pPr>
                      <a:r>
                        <a:rPr lang="en-US" sz="1600" kern="100" dirty="0" smtClean="0">
                          <a:effectLst/>
                          <a:latin typeface="Times New Roman"/>
                          <a:ea typeface="宋体"/>
                        </a:rPr>
                        <a:t>Case </a:t>
                      </a:r>
                      <a:r>
                        <a:rPr lang="en-US" sz="1600" kern="100" dirty="0">
                          <a:effectLst/>
                          <a:latin typeface="Times New Roman"/>
                          <a:ea typeface="宋体"/>
                        </a:rPr>
                        <a:t>No.</a:t>
                      </a:r>
                      <a:endParaRPr lang="zh-CN" sz="1600" kern="100" dirty="0">
                        <a:effectLst/>
                        <a:latin typeface="Times New Roman"/>
                        <a:ea typeface="宋体"/>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D9F1"/>
                    </a:solidFill>
                  </a:tcPr>
                </a:tc>
                <a:tc>
                  <a:txBody>
                    <a:bodyPr/>
                    <a:lstStyle/>
                    <a:p>
                      <a:pPr algn="ctr">
                        <a:spcAft>
                          <a:spcPts val="0"/>
                        </a:spcAft>
                        <a:tabLst>
                          <a:tab pos="457200" algn="l"/>
                        </a:tabLst>
                      </a:pPr>
                      <a:r>
                        <a:rPr lang="en-US" sz="1600" kern="100" dirty="0">
                          <a:effectLst/>
                          <a:latin typeface="Times New Roman"/>
                          <a:ea typeface="宋体"/>
                        </a:rPr>
                        <a:t>Case3</a:t>
                      </a:r>
                      <a:endParaRPr lang="zh-CN" sz="1600" kern="100" dirty="0">
                        <a:effectLst/>
                        <a:latin typeface="Times New Roman"/>
                        <a:ea typeface="宋体"/>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D9F1"/>
                    </a:solidFill>
                  </a:tcPr>
                </a:tc>
                <a:tc>
                  <a:txBody>
                    <a:bodyPr/>
                    <a:lstStyle/>
                    <a:p>
                      <a:pPr algn="ctr">
                        <a:spcAft>
                          <a:spcPts val="0"/>
                        </a:spcAft>
                        <a:tabLst>
                          <a:tab pos="457200" algn="l"/>
                        </a:tabLst>
                      </a:pPr>
                      <a:r>
                        <a:rPr lang="en-US" sz="1600" kern="100" dirty="0" smtClean="0">
                          <a:effectLst/>
                          <a:latin typeface="Times New Roman"/>
                          <a:ea typeface="宋体"/>
                        </a:rPr>
                        <a:t>Orbit</a:t>
                      </a:r>
                      <a:endParaRPr lang="zh-CN" sz="1600" kern="100" dirty="0">
                        <a:effectLst/>
                        <a:latin typeface="Times New Roman"/>
                        <a:ea typeface="宋体"/>
                      </a:endParaRPr>
                    </a:p>
                  </a:txBody>
                  <a:tcPr marL="0" marR="0"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D9F1"/>
                    </a:solidFill>
                  </a:tcPr>
                </a:tc>
              </a:tr>
              <a:tr h="477486">
                <a:tc rowSpan="4">
                  <a:txBody>
                    <a:bodyPr/>
                    <a:lstStyle/>
                    <a:p>
                      <a:pPr algn="just">
                        <a:spcAft>
                          <a:spcPts val="0"/>
                        </a:spcAft>
                        <a:tabLst>
                          <a:tab pos="457200" algn="l"/>
                        </a:tabLst>
                      </a:pPr>
                      <a:r>
                        <a:rPr lang="en-US" altLang="zh-CN" sz="1600" kern="100" dirty="0" smtClean="0">
                          <a:effectLst/>
                          <a:latin typeface="Times New Roman"/>
                          <a:ea typeface="宋体"/>
                        </a:rPr>
                        <a:t>Hot Case</a:t>
                      </a:r>
                      <a:endParaRPr lang="zh-CN" sz="1600" kern="100" dirty="0">
                        <a:effectLst/>
                        <a:latin typeface="Times New Roman"/>
                        <a:ea typeface="宋体"/>
                      </a:endParaRPr>
                    </a:p>
                  </a:txBody>
                  <a:tcPr marL="0" marR="0"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457200" algn="l"/>
                        </a:tabLst>
                      </a:pPr>
                      <a:r>
                        <a:rPr lang="en-US" sz="1600" kern="100" dirty="0" smtClean="0">
                          <a:effectLst/>
                          <a:latin typeface="Times New Roman"/>
                          <a:ea typeface="宋体"/>
                        </a:rPr>
                        <a:t>Worst hot 1</a:t>
                      </a:r>
                      <a:endParaRPr lang="zh-CN" sz="1600" kern="100" dirty="0">
                        <a:effectLst/>
                        <a:latin typeface="Times New Roman"/>
                        <a:ea typeface="宋体"/>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457200" algn="l"/>
                        </a:tabLst>
                      </a:pPr>
                      <a:r>
                        <a:rPr lang="en-US" sz="1600" kern="100" dirty="0" smtClean="0">
                          <a:solidFill>
                            <a:srgbClr val="000000"/>
                          </a:solidFill>
                          <a:effectLst/>
                          <a:latin typeface="Times New Roman"/>
                          <a:ea typeface="宋体"/>
                        </a:rPr>
                        <a:t>Replaying</a:t>
                      </a:r>
                      <a:r>
                        <a:rPr lang="en-US" sz="1600" kern="100" dirty="0" smtClean="0">
                          <a:effectLst/>
                          <a:latin typeface="Times New Roman"/>
                          <a:ea typeface="宋体"/>
                        </a:rPr>
                        <a:t> </a:t>
                      </a:r>
                      <a:r>
                        <a:rPr lang="en-US" sz="1600" kern="100" dirty="0">
                          <a:effectLst/>
                          <a:latin typeface="Times New Roman"/>
                          <a:ea typeface="宋体"/>
                        </a:rPr>
                        <a:t>10min</a:t>
                      </a:r>
                      <a:r>
                        <a:rPr lang="zh-CN" sz="1600" kern="100" dirty="0">
                          <a:effectLst/>
                          <a:latin typeface="Times New Roman"/>
                          <a:ea typeface="宋体"/>
                        </a:rPr>
                        <a: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4">
                  <a:txBody>
                    <a:bodyPr/>
                    <a:lstStyle/>
                    <a:p>
                      <a:pPr algn="just">
                        <a:spcAft>
                          <a:spcPts val="0"/>
                        </a:spcAft>
                        <a:tabLst>
                          <a:tab pos="457200" algn="l"/>
                        </a:tabLst>
                      </a:pPr>
                      <a:r>
                        <a:rPr lang="en-US" sz="1600" kern="100" dirty="0">
                          <a:effectLst/>
                          <a:latin typeface="Times New Roman"/>
                          <a:ea typeface="宋体"/>
                        </a:rPr>
                        <a:t> </a:t>
                      </a:r>
                      <a:endParaRPr lang="zh-CN" sz="1600" kern="100" dirty="0">
                        <a:effectLst/>
                        <a:latin typeface="Times New Roman"/>
                        <a:ea typeface="宋体"/>
                      </a:endParaRPr>
                    </a:p>
                    <a:p>
                      <a:pPr algn="just">
                        <a:spcAft>
                          <a:spcPts val="0"/>
                        </a:spcAft>
                        <a:tabLst>
                          <a:tab pos="457200" algn="l"/>
                        </a:tabLst>
                      </a:pPr>
                      <a:r>
                        <a:rPr lang="en-US" sz="1600" kern="100" dirty="0">
                          <a:effectLst/>
                          <a:latin typeface="Times New Roman"/>
                          <a:ea typeface="宋体"/>
                        </a:rPr>
                        <a:t> </a:t>
                      </a:r>
                      <a:endParaRPr lang="zh-CN" sz="1600" kern="100" dirty="0">
                        <a:effectLst/>
                        <a:latin typeface="Times New Roman"/>
                        <a:ea typeface="宋体"/>
                      </a:endParaRPr>
                    </a:p>
                    <a:p>
                      <a:pPr algn="just">
                        <a:spcAft>
                          <a:spcPts val="0"/>
                        </a:spcAft>
                        <a:tabLst>
                          <a:tab pos="457200" algn="l"/>
                        </a:tabLst>
                      </a:pPr>
                      <a:r>
                        <a:rPr lang="en-US" sz="1600" kern="100" dirty="0">
                          <a:effectLst/>
                          <a:latin typeface="Times New Roman"/>
                          <a:ea typeface="宋体"/>
                        </a:rPr>
                        <a:t> </a:t>
                      </a:r>
                      <a:endParaRPr lang="zh-CN" sz="1600" kern="100" dirty="0">
                        <a:effectLst/>
                        <a:latin typeface="Times New Roman"/>
                        <a:ea typeface="宋体"/>
                      </a:endParaRPr>
                    </a:p>
                    <a:p>
                      <a:pPr algn="just">
                        <a:spcAft>
                          <a:spcPts val="0"/>
                        </a:spcAft>
                        <a:tabLst>
                          <a:tab pos="457200" algn="l"/>
                        </a:tabLst>
                      </a:pPr>
                      <a:r>
                        <a:rPr lang="en-US" sz="1600" kern="100" dirty="0">
                          <a:effectLst/>
                          <a:latin typeface="Times New Roman"/>
                          <a:ea typeface="宋体"/>
                        </a:rPr>
                        <a:t> </a:t>
                      </a:r>
                      <a:r>
                        <a:rPr lang="el-GR" sz="1600" kern="100" dirty="0" smtClean="0">
                          <a:effectLst/>
                          <a:latin typeface="Times New Roman"/>
                          <a:ea typeface="宋体"/>
                        </a:rPr>
                        <a:t>β</a:t>
                      </a:r>
                      <a:r>
                        <a:rPr lang="zh-CN" altLang="en-US" sz="1600" kern="100" dirty="0" smtClean="0">
                          <a:effectLst/>
                          <a:latin typeface="Times New Roman"/>
                          <a:ea typeface="+mn-ea"/>
                        </a:rPr>
                        <a:t>  </a:t>
                      </a:r>
                      <a:r>
                        <a:rPr lang="en-US" altLang="zh-CN" sz="1600" kern="100" dirty="0" smtClean="0">
                          <a:effectLst/>
                          <a:latin typeface="Times New Roman"/>
                          <a:ea typeface="+mn-ea"/>
                        </a:rPr>
                        <a:t>=27.1°(2020.2.9)</a:t>
                      </a:r>
                      <a:endParaRPr lang="zh-CN" sz="1600" kern="100" dirty="0">
                        <a:effectLst/>
                        <a:latin typeface="Times New Roman"/>
                        <a:ea typeface="宋体"/>
                      </a:endParaRPr>
                    </a:p>
                  </a:txBody>
                  <a:tcPr marL="0" marR="0"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76064">
                <a:tc vMerge="1">
                  <a:txBody>
                    <a:bodyPr/>
                    <a:lstStyle/>
                    <a:p>
                      <a:pPr algn="just">
                        <a:spcAft>
                          <a:spcPts val="0"/>
                        </a:spcAft>
                        <a:tabLst>
                          <a:tab pos="457200" algn="l"/>
                        </a:tabLst>
                      </a:pPr>
                      <a:endParaRPr lang="zh-CN" sz="1600" kern="100" dirty="0">
                        <a:effectLst/>
                        <a:latin typeface="Times New Roman"/>
                        <a:ea typeface="宋体"/>
                      </a:endParaRPr>
                    </a:p>
                  </a:txBody>
                  <a:tcPr marL="0" marR="0"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457200" algn="l"/>
                        </a:tabLst>
                      </a:pPr>
                      <a:r>
                        <a:rPr lang="en-US" altLang="zh-CN" sz="1600" kern="100" dirty="0" smtClean="0">
                          <a:effectLst/>
                          <a:latin typeface="Times New Roman"/>
                          <a:ea typeface="宋体"/>
                        </a:rPr>
                        <a:t>Worst hot 2</a:t>
                      </a:r>
                      <a:endParaRPr lang="zh-CN" altLang="zh-CN" sz="1600" kern="100" dirty="0">
                        <a:effectLst/>
                        <a:latin typeface="Times New Roman"/>
                        <a:ea typeface="宋体"/>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600" kern="100" dirty="0" smtClean="0">
                          <a:solidFill>
                            <a:srgbClr val="000000"/>
                          </a:solidFill>
                          <a:effectLst/>
                          <a:latin typeface="Times New Roman"/>
                          <a:ea typeface="宋体"/>
                        </a:rPr>
                        <a:t>Recording 8</a:t>
                      </a:r>
                      <a:r>
                        <a:rPr lang="en-US" sz="1600" kern="100" dirty="0" smtClean="0">
                          <a:effectLst/>
                          <a:latin typeface="Times New Roman"/>
                          <a:ea typeface="宋体"/>
                        </a:rPr>
                        <a:t>min</a:t>
                      </a:r>
                      <a:r>
                        <a:rPr lang="zh-CN" sz="1600" kern="100" dirty="0">
                          <a:effectLst/>
                          <a:latin typeface="Times New Roman"/>
                          <a:ea typeface="宋体"/>
                        </a:rPr>
                        <a: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pPr algn="just">
                        <a:spcAft>
                          <a:spcPts val="0"/>
                        </a:spcAft>
                        <a:tabLst>
                          <a:tab pos="457200" algn="l"/>
                        </a:tabLst>
                      </a:pPr>
                      <a:endParaRPr lang="zh-CN" sz="1600" kern="100" dirty="0">
                        <a:effectLst/>
                        <a:latin typeface="Times New Roman"/>
                        <a:ea typeface="宋体"/>
                      </a:endParaRPr>
                    </a:p>
                  </a:txBody>
                  <a:tcPr marL="0" marR="0"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76064">
                <a:tc vMerge="1">
                  <a:txBody>
                    <a:bodyPr/>
                    <a:lstStyle/>
                    <a:p>
                      <a:pPr algn="just">
                        <a:spcAft>
                          <a:spcPts val="0"/>
                        </a:spcAft>
                        <a:tabLst>
                          <a:tab pos="457200" algn="l"/>
                        </a:tabLst>
                      </a:pPr>
                      <a:endParaRPr lang="zh-CN" sz="1600" kern="100" dirty="0">
                        <a:effectLst/>
                        <a:latin typeface="Times New Roman"/>
                        <a:ea typeface="宋体"/>
                      </a:endParaRPr>
                    </a:p>
                  </a:txBody>
                  <a:tcPr marL="0" marR="0"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457200" algn="l"/>
                        </a:tabLst>
                      </a:pPr>
                      <a:r>
                        <a:rPr lang="en-US" altLang="zh-CN" sz="1600" kern="100" dirty="0" smtClean="0">
                          <a:effectLst/>
                          <a:latin typeface="Times New Roman"/>
                          <a:ea typeface="宋体"/>
                        </a:rPr>
                        <a:t>Worst hot 3</a:t>
                      </a:r>
                      <a:endParaRPr lang="zh-CN" altLang="zh-CN" sz="1600" kern="100" dirty="0">
                        <a:effectLst/>
                        <a:latin typeface="Times New Roman"/>
                        <a:ea typeface="宋体"/>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pPr>
                      <a:r>
                        <a:rPr lang="en-US" sz="1600" kern="100" dirty="0" smtClean="0">
                          <a:solidFill>
                            <a:srgbClr val="000000"/>
                          </a:solidFill>
                          <a:effectLst/>
                          <a:latin typeface="Times New Roman"/>
                          <a:ea typeface="宋体"/>
                        </a:rPr>
                        <a:t>Recording 3.5min </a:t>
                      </a:r>
                      <a:r>
                        <a:rPr lang="en-US" sz="1600" kern="100" dirty="0">
                          <a:solidFill>
                            <a:srgbClr val="000000"/>
                          </a:solidFill>
                          <a:effectLst/>
                          <a:latin typeface="Times New Roman"/>
                          <a:ea typeface="宋体"/>
                        </a:rPr>
                        <a:t>&amp; Replaying</a:t>
                      </a:r>
                      <a:r>
                        <a:rPr lang="en-US" sz="1600" kern="100" dirty="0">
                          <a:effectLst/>
                          <a:latin typeface="Times New Roman"/>
                          <a:ea typeface="宋体"/>
                        </a:rPr>
                        <a:t> </a:t>
                      </a:r>
                      <a:r>
                        <a:rPr lang="en-US" sz="1600" kern="100" dirty="0" smtClean="0">
                          <a:effectLst/>
                          <a:latin typeface="Times New Roman"/>
                          <a:ea typeface="宋体"/>
                        </a:rPr>
                        <a:t>5min</a:t>
                      </a:r>
                      <a:r>
                        <a:rPr lang="zh-CN" sz="1600" kern="100" dirty="0">
                          <a:effectLst/>
                          <a:latin typeface="Times New Roman"/>
                          <a:ea typeface="宋体"/>
                        </a:rPr>
                        <a:t>；</a:t>
                      </a: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pPr algn="just">
                        <a:spcAft>
                          <a:spcPts val="0"/>
                        </a:spcAft>
                        <a:tabLst>
                          <a:tab pos="457200" algn="l"/>
                        </a:tabLst>
                      </a:pPr>
                      <a:endParaRPr lang="zh-CN" sz="1600" kern="100" dirty="0">
                        <a:effectLst/>
                        <a:latin typeface="Times New Roman"/>
                        <a:ea typeface="宋体"/>
                      </a:endParaRPr>
                    </a:p>
                  </a:txBody>
                  <a:tcPr marL="0" marR="0"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504056">
                <a:tc vMerge="1">
                  <a:txBody>
                    <a:bodyPr/>
                    <a:lstStyle/>
                    <a:p>
                      <a:pPr algn="just">
                        <a:spcAft>
                          <a:spcPts val="0"/>
                        </a:spcAft>
                        <a:tabLst>
                          <a:tab pos="457200" algn="l"/>
                        </a:tabLst>
                      </a:pPr>
                      <a:endParaRPr lang="zh-CN" sz="1600" kern="100" dirty="0">
                        <a:effectLst/>
                        <a:latin typeface="Times New Roman"/>
                        <a:ea typeface="宋体"/>
                      </a:endParaRPr>
                    </a:p>
                  </a:txBody>
                  <a:tcPr marL="0" marR="0" marT="0" marB="0">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457200" algn="l"/>
                        </a:tabLst>
                      </a:pPr>
                      <a:r>
                        <a:rPr lang="en-US" altLang="zh-CN" sz="1600" kern="100" dirty="0" smtClean="0">
                          <a:effectLst/>
                          <a:latin typeface="Times New Roman"/>
                          <a:ea typeface="宋体"/>
                        </a:rPr>
                        <a:t>Worst hot 4</a:t>
                      </a:r>
                      <a:endParaRPr lang="zh-CN" altLang="zh-CN" sz="1600" kern="100" dirty="0">
                        <a:effectLst/>
                        <a:latin typeface="Times New Roman"/>
                        <a:ea typeface="宋体"/>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spcAft>
                          <a:spcPts val="0"/>
                        </a:spcAft>
                        <a:tabLst>
                          <a:tab pos="457200" algn="l"/>
                        </a:tabLst>
                      </a:pPr>
                      <a:r>
                        <a:rPr lang="en-US" sz="1600" kern="100" dirty="0" smtClean="0">
                          <a:effectLst/>
                          <a:latin typeface="Times New Roman"/>
                          <a:ea typeface="宋体"/>
                        </a:rPr>
                        <a:t>Real-Time Transport 4min</a:t>
                      </a:r>
                      <a:endParaRPr lang="zh-CN" sz="1600" kern="100" dirty="0">
                        <a:effectLst/>
                        <a:latin typeface="Times New Roman"/>
                        <a:ea typeface="宋体"/>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pPr algn="just">
                        <a:spcAft>
                          <a:spcPts val="0"/>
                        </a:spcAft>
                        <a:tabLst>
                          <a:tab pos="457200" algn="l"/>
                        </a:tabLst>
                      </a:pPr>
                      <a:endParaRPr lang="zh-CN" sz="1600" kern="100" dirty="0">
                        <a:effectLst/>
                        <a:latin typeface="Times New Roman"/>
                        <a:ea typeface="宋体"/>
                      </a:endParaRPr>
                    </a:p>
                  </a:txBody>
                  <a:tcPr marL="0" marR="0"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xmlns="" val="133567964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12</a:t>
            </a:fld>
            <a:r>
              <a:rPr lang="zh-CN" altLang="en-US" smtClean="0"/>
              <a:t> </a:t>
            </a:r>
            <a:endParaRPr lang="zh-CN" altLang="en-US" dirty="0">
              <a:latin typeface="微软雅黑" pitchFamily="34" charset="-122"/>
              <a:ea typeface="微软雅黑" pitchFamily="34" charset="-122"/>
            </a:endParaRPr>
          </a:p>
        </p:txBody>
      </p:sp>
      <p:sp>
        <p:nvSpPr>
          <p:cNvPr id="6" name="矩形 5"/>
          <p:cNvSpPr/>
          <p:nvPr/>
        </p:nvSpPr>
        <p:spPr>
          <a:xfrm>
            <a:off x="1259632" y="116632"/>
            <a:ext cx="7128792" cy="1015663"/>
          </a:xfrm>
          <a:prstGeom prst="rect">
            <a:avLst/>
          </a:prstGeom>
        </p:spPr>
        <p:txBody>
          <a:bodyPr wrap="square">
            <a:spAutoFit/>
          </a:bodyPr>
          <a:lstStyle/>
          <a:p>
            <a:pPr lvl="1" fontAlgn="base"/>
            <a:r>
              <a:rPr lang="en-US" altLang="zh-CN" sz="2800" dirty="0" smtClean="0">
                <a:solidFill>
                  <a:schemeClr val="bg1"/>
                </a:solidFill>
                <a:latin typeface="微软雅黑" panose="020B0503020204020204" pitchFamily="34" charset="-122"/>
                <a:ea typeface="微软雅黑" panose="020B0503020204020204" pitchFamily="34" charset="-122"/>
              </a:rPr>
              <a:t>7 </a:t>
            </a:r>
            <a:r>
              <a:rPr lang="en-US" altLang="zh-CN" sz="2800" dirty="0">
                <a:solidFill>
                  <a:schemeClr val="bg1"/>
                </a:solidFill>
              </a:rPr>
              <a:t>Thermal Analysis</a:t>
            </a:r>
            <a:r>
              <a:rPr lang="en-US" altLang="zh-CN" sz="2800" dirty="0" smtClean="0">
                <a:solidFill>
                  <a:schemeClr val="bg1"/>
                </a:solidFill>
              </a:rPr>
              <a:t> </a:t>
            </a:r>
          </a:p>
          <a:p>
            <a:pPr marL="0" lvl="1" algn="ctr" fontAlgn="base"/>
            <a:r>
              <a:rPr lang="en-US" altLang="zh-CN" sz="3200" dirty="0">
                <a:solidFill>
                  <a:schemeClr val="bg1"/>
                </a:solidFill>
              </a:rPr>
              <a:t> </a:t>
            </a:r>
            <a:r>
              <a:rPr lang="en-US" altLang="zh-CN" sz="3200" dirty="0" smtClean="0">
                <a:solidFill>
                  <a:schemeClr val="bg1"/>
                </a:solidFill>
              </a:rPr>
              <a:t>             ------ </a:t>
            </a:r>
            <a:r>
              <a:rPr lang="en-US" altLang="zh-CN" sz="2400" dirty="0">
                <a:solidFill>
                  <a:schemeClr val="bg1"/>
                </a:solidFill>
              </a:rPr>
              <a:t>Temperature Prediction</a:t>
            </a:r>
            <a:endParaRPr lang="zh-CN" altLang="zh-CN" sz="2400" dirty="0">
              <a:solidFill>
                <a:schemeClr val="bg1"/>
              </a:solidFill>
            </a:endParaRPr>
          </a:p>
        </p:txBody>
      </p:sp>
      <p:sp>
        <p:nvSpPr>
          <p:cNvPr id="7" name="矩形 6"/>
          <p:cNvSpPr/>
          <p:nvPr/>
        </p:nvSpPr>
        <p:spPr>
          <a:xfrm>
            <a:off x="395536" y="1179522"/>
            <a:ext cx="7704856" cy="5139869"/>
          </a:xfrm>
          <a:prstGeom prst="rect">
            <a:avLst/>
          </a:prstGeom>
        </p:spPr>
        <p:txBody>
          <a:bodyPr wrap="square">
            <a:spAutoFit/>
          </a:bodyPr>
          <a:lstStyle/>
          <a:p>
            <a:pPr algn="just">
              <a:lnSpc>
                <a:spcPct val="125000"/>
              </a:lnSpc>
              <a:spcAft>
                <a:spcPts val="0"/>
              </a:spcAft>
            </a:pPr>
            <a:r>
              <a:rPr lang="en-US" altLang="zh-CN" sz="2000" b="1" kern="100" dirty="0" smtClean="0">
                <a:latin typeface="Times New Roman"/>
                <a:cs typeface="Times New Roman"/>
              </a:rPr>
              <a:t>Thermal Analysis </a:t>
            </a:r>
            <a:r>
              <a:rPr lang="en-US" altLang="zh-CN" sz="2000" b="1" kern="100" dirty="0" err="1" smtClean="0">
                <a:latin typeface="Times New Roman"/>
                <a:cs typeface="Times New Roman"/>
              </a:rPr>
              <a:t>Reasults</a:t>
            </a:r>
            <a:endParaRPr lang="en-US" altLang="zh-CN" sz="2000" b="1" kern="100" dirty="0" smtClean="0">
              <a:latin typeface="Times New Roman"/>
              <a:cs typeface="Times New Roman"/>
            </a:endParaRPr>
          </a:p>
          <a:p>
            <a:pPr marL="285750" indent="-285750" algn="just">
              <a:lnSpc>
                <a:spcPct val="125000"/>
              </a:lnSpc>
              <a:spcAft>
                <a:spcPts val="0"/>
              </a:spcAft>
              <a:buFont typeface="Wingdings" pitchFamily="2" charset="2"/>
              <a:buChar char="Ø"/>
            </a:pPr>
            <a:r>
              <a:rPr lang="en-US" altLang="zh-CN" b="1" kern="100" dirty="0" smtClean="0">
                <a:solidFill>
                  <a:srgbClr val="00B050"/>
                </a:solidFill>
                <a:latin typeface="Times New Roman"/>
                <a:cs typeface="Times New Roman"/>
              </a:rPr>
              <a:t>In </a:t>
            </a:r>
            <a:r>
              <a:rPr lang="en-US" altLang="zh-CN" b="1" kern="100" dirty="0">
                <a:solidFill>
                  <a:srgbClr val="00B050"/>
                </a:solidFill>
                <a:latin typeface="Times New Roman"/>
                <a:cs typeface="Times New Roman"/>
              </a:rPr>
              <a:t>cold cases</a:t>
            </a:r>
            <a:r>
              <a:rPr lang="en-US" altLang="zh-CN" kern="100" dirty="0">
                <a:solidFill>
                  <a:srgbClr val="000000"/>
                </a:solidFill>
                <a:latin typeface="Times New Roman"/>
                <a:cs typeface="Times New Roman"/>
              </a:rPr>
              <a:t>, all the payloads are off. Satellite units temperature are in the range of </a:t>
            </a:r>
            <a:r>
              <a:rPr lang="en-US" altLang="zh-CN" kern="100" dirty="0" smtClean="0">
                <a:solidFill>
                  <a:srgbClr val="000000"/>
                </a:solidFill>
                <a:latin typeface="Times New Roman"/>
                <a:cs typeface="Times New Roman"/>
              </a:rPr>
              <a:t>-5.8</a:t>
            </a:r>
            <a:r>
              <a:rPr lang="zh-CN" altLang="zh-CN" kern="100" dirty="0" smtClean="0">
                <a:solidFill>
                  <a:srgbClr val="000000"/>
                </a:solidFill>
                <a:latin typeface="宋体"/>
                <a:cs typeface="宋体"/>
              </a:rPr>
              <a:t>℃</a:t>
            </a:r>
            <a:r>
              <a:rPr lang="en-US" altLang="zh-CN" kern="100" dirty="0" smtClean="0">
                <a:solidFill>
                  <a:srgbClr val="000000"/>
                </a:solidFill>
                <a:latin typeface="Times New Roman"/>
                <a:cs typeface="Times New Roman"/>
              </a:rPr>
              <a:t>~31.8</a:t>
            </a:r>
            <a:r>
              <a:rPr lang="zh-CN" altLang="zh-CN" kern="100" dirty="0" smtClean="0">
                <a:solidFill>
                  <a:srgbClr val="000000"/>
                </a:solidFill>
                <a:latin typeface="宋体"/>
                <a:cs typeface="宋体"/>
              </a:rPr>
              <a:t>℃</a:t>
            </a:r>
            <a:r>
              <a:rPr lang="en-US" altLang="zh-CN" kern="100" dirty="0">
                <a:solidFill>
                  <a:srgbClr val="000000"/>
                </a:solidFill>
                <a:latin typeface="Times New Roman"/>
                <a:cs typeface="Times New Roman"/>
              </a:rPr>
              <a:t>. The battery temperature is in the range of </a:t>
            </a:r>
            <a:r>
              <a:rPr lang="en-US" altLang="zh-CN" kern="100" dirty="0" smtClean="0">
                <a:solidFill>
                  <a:srgbClr val="000000"/>
                </a:solidFill>
                <a:latin typeface="Times New Roman"/>
                <a:cs typeface="Times New Roman"/>
              </a:rPr>
              <a:t>17</a:t>
            </a:r>
            <a:r>
              <a:rPr lang="zh-CN" altLang="zh-CN" kern="100" dirty="0" smtClean="0">
                <a:solidFill>
                  <a:srgbClr val="000000"/>
                </a:solidFill>
                <a:latin typeface="宋体"/>
                <a:cs typeface="宋体"/>
              </a:rPr>
              <a:t>℃</a:t>
            </a:r>
            <a:r>
              <a:rPr lang="en-US" altLang="zh-CN" kern="100" dirty="0" smtClean="0">
                <a:solidFill>
                  <a:srgbClr val="000000"/>
                </a:solidFill>
                <a:latin typeface="Times New Roman"/>
                <a:cs typeface="Times New Roman"/>
              </a:rPr>
              <a:t>~19</a:t>
            </a:r>
            <a:r>
              <a:rPr lang="zh-CN" altLang="zh-CN" kern="100" dirty="0" smtClean="0">
                <a:solidFill>
                  <a:srgbClr val="000000"/>
                </a:solidFill>
                <a:latin typeface="宋体"/>
                <a:cs typeface="宋体"/>
              </a:rPr>
              <a:t>℃</a:t>
            </a:r>
            <a:r>
              <a:rPr lang="en-US" altLang="zh-CN" kern="100" dirty="0" smtClean="0">
                <a:solidFill>
                  <a:srgbClr val="000000"/>
                </a:solidFill>
                <a:latin typeface="Times New Roman"/>
                <a:cs typeface="Times New Roman"/>
              </a:rPr>
              <a:t>. DCDC </a:t>
            </a:r>
            <a:r>
              <a:rPr lang="en-US" altLang="zh-CN" kern="100" dirty="0">
                <a:solidFill>
                  <a:srgbClr val="000000"/>
                </a:solidFill>
                <a:latin typeface="Times New Roman"/>
                <a:cs typeface="Times New Roman"/>
              </a:rPr>
              <a:t>units temperature is </a:t>
            </a:r>
            <a:r>
              <a:rPr lang="en-US" altLang="zh-CN" kern="100" dirty="0" smtClean="0">
                <a:solidFill>
                  <a:srgbClr val="000000"/>
                </a:solidFill>
                <a:latin typeface="Times New Roman"/>
                <a:cs typeface="Times New Roman"/>
              </a:rPr>
              <a:t>-2.8</a:t>
            </a:r>
            <a:r>
              <a:rPr lang="zh-CN" altLang="zh-CN" kern="100" dirty="0" smtClean="0">
                <a:solidFill>
                  <a:srgbClr val="000000"/>
                </a:solidFill>
                <a:latin typeface="宋体"/>
                <a:cs typeface="宋体"/>
              </a:rPr>
              <a:t>℃</a:t>
            </a:r>
            <a:r>
              <a:rPr lang="en-US" altLang="zh-CN" kern="100" dirty="0" smtClean="0">
                <a:solidFill>
                  <a:srgbClr val="000000"/>
                </a:solidFill>
                <a:latin typeface="Times New Roman"/>
                <a:cs typeface="Times New Roman"/>
              </a:rPr>
              <a:t>~12.6</a:t>
            </a:r>
            <a:r>
              <a:rPr lang="zh-CN" altLang="zh-CN" kern="100" dirty="0">
                <a:solidFill>
                  <a:srgbClr val="000000"/>
                </a:solidFill>
                <a:latin typeface="宋体"/>
                <a:cs typeface="宋体"/>
              </a:rPr>
              <a:t>℃</a:t>
            </a:r>
            <a:r>
              <a:rPr lang="en-US" altLang="zh-CN" kern="100" dirty="0">
                <a:solidFill>
                  <a:srgbClr val="000000"/>
                </a:solidFill>
                <a:latin typeface="Times New Roman"/>
                <a:cs typeface="Times New Roman"/>
              </a:rPr>
              <a:t>. </a:t>
            </a:r>
            <a:r>
              <a:rPr lang="en-US" altLang="zh-CN" kern="100" dirty="0" smtClean="0">
                <a:solidFill>
                  <a:srgbClr val="000000"/>
                </a:solidFill>
                <a:latin typeface="Times New Roman"/>
                <a:cs typeface="Times New Roman"/>
              </a:rPr>
              <a:t>Star Sensor </a:t>
            </a:r>
            <a:r>
              <a:rPr lang="en-US" altLang="zh-CN" kern="100" dirty="0">
                <a:solidFill>
                  <a:srgbClr val="000000"/>
                </a:solidFill>
                <a:latin typeface="Times New Roman"/>
                <a:cs typeface="Times New Roman"/>
              </a:rPr>
              <a:t>units temperature is </a:t>
            </a:r>
            <a:r>
              <a:rPr lang="en-US" altLang="zh-CN" kern="100" dirty="0" smtClean="0">
                <a:solidFill>
                  <a:srgbClr val="000000"/>
                </a:solidFill>
                <a:latin typeface="Times New Roman"/>
                <a:cs typeface="Times New Roman"/>
              </a:rPr>
              <a:t>-5.8</a:t>
            </a:r>
            <a:r>
              <a:rPr lang="zh-CN" altLang="zh-CN" kern="100" dirty="0" smtClean="0">
                <a:solidFill>
                  <a:srgbClr val="000000"/>
                </a:solidFill>
                <a:latin typeface="宋体"/>
                <a:cs typeface="宋体"/>
              </a:rPr>
              <a:t>℃</a:t>
            </a:r>
            <a:r>
              <a:rPr lang="en-US" altLang="zh-CN" kern="100" dirty="0" smtClean="0">
                <a:solidFill>
                  <a:srgbClr val="000000"/>
                </a:solidFill>
                <a:latin typeface="Times New Roman"/>
                <a:cs typeface="Times New Roman"/>
              </a:rPr>
              <a:t>~11.3</a:t>
            </a:r>
            <a:r>
              <a:rPr lang="zh-CN" altLang="zh-CN" kern="100" dirty="0" smtClean="0">
                <a:solidFill>
                  <a:srgbClr val="000000"/>
                </a:solidFill>
                <a:latin typeface="宋体"/>
                <a:cs typeface="宋体"/>
              </a:rPr>
              <a:t>℃</a:t>
            </a:r>
            <a:r>
              <a:rPr lang="en-US" altLang="zh-CN" kern="100" dirty="0" smtClean="0">
                <a:solidFill>
                  <a:srgbClr val="000000"/>
                </a:solidFill>
                <a:latin typeface="Times New Roman"/>
                <a:cs typeface="Times New Roman"/>
              </a:rPr>
              <a:t>The temperature where Camera contact </a:t>
            </a:r>
            <a:r>
              <a:rPr lang="en-US" altLang="zh-CN" kern="100" dirty="0">
                <a:solidFill>
                  <a:srgbClr val="000000"/>
                </a:solidFill>
                <a:latin typeface="Times New Roman"/>
                <a:cs typeface="Times New Roman"/>
              </a:rPr>
              <a:t>is </a:t>
            </a:r>
            <a:r>
              <a:rPr lang="en-US" altLang="zh-CN" kern="100" dirty="0" smtClean="0">
                <a:solidFill>
                  <a:srgbClr val="000000"/>
                </a:solidFill>
                <a:latin typeface="Times New Roman"/>
                <a:cs typeface="Times New Roman"/>
              </a:rPr>
              <a:t>-2.5</a:t>
            </a:r>
            <a:r>
              <a:rPr lang="zh-CN" altLang="zh-CN" kern="100" dirty="0">
                <a:solidFill>
                  <a:srgbClr val="000000"/>
                </a:solidFill>
                <a:latin typeface="宋体"/>
                <a:cs typeface="宋体"/>
              </a:rPr>
              <a:t>℃</a:t>
            </a:r>
            <a:r>
              <a:rPr lang="en-US" altLang="zh-CN" kern="100" dirty="0" smtClean="0">
                <a:solidFill>
                  <a:srgbClr val="000000"/>
                </a:solidFill>
                <a:latin typeface="Times New Roman"/>
                <a:cs typeface="Times New Roman"/>
              </a:rPr>
              <a:t>~9.5</a:t>
            </a:r>
            <a:r>
              <a:rPr lang="zh-CN" altLang="zh-CN" kern="100" dirty="0" smtClean="0">
                <a:solidFill>
                  <a:srgbClr val="000000"/>
                </a:solidFill>
                <a:latin typeface="宋体"/>
                <a:cs typeface="宋体"/>
              </a:rPr>
              <a:t>℃</a:t>
            </a:r>
            <a:r>
              <a:rPr lang="en-US" altLang="zh-CN" kern="100" dirty="0" smtClean="0">
                <a:solidFill>
                  <a:srgbClr val="000000"/>
                </a:solidFill>
                <a:latin typeface="Times New Roman"/>
                <a:cs typeface="Times New Roman"/>
              </a:rPr>
              <a:t>.</a:t>
            </a:r>
            <a:r>
              <a:rPr lang="en-US" altLang="zh-CN" kern="100" dirty="0">
                <a:solidFill>
                  <a:srgbClr val="000000"/>
                </a:solidFill>
                <a:latin typeface="Times New Roman"/>
                <a:cs typeface="Times New Roman"/>
              </a:rPr>
              <a:t>There is at least 10</a:t>
            </a:r>
            <a:r>
              <a:rPr lang="zh-CN" altLang="zh-CN" kern="100" dirty="0">
                <a:solidFill>
                  <a:srgbClr val="000000"/>
                </a:solidFill>
                <a:latin typeface="宋体"/>
                <a:cs typeface="宋体"/>
              </a:rPr>
              <a:t>℃</a:t>
            </a:r>
            <a:r>
              <a:rPr lang="en-US" altLang="zh-CN" kern="100" dirty="0">
                <a:solidFill>
                  <a:srgbClr val="000000"/>
                </a:solidFill>
                <a:latin typeface="Times New Roman"/>
                <a:cs typeface="Times New Roman"/>
              </a:rPr>
              <a:t> margin between flight predicted temperature and design temperature. </a:t>
            </a:r>
            <a:endParaRPr lang="en-US" altLang="zh-CN" kern="100" dirty="0" smtClean="0">
              <a:solidFill>
                <a:srgbClr val="000000"/>
              </a:solidFill>
              <a:latin typeface="Times New Roman"/>
              <a:cs typeface="Times New Roman"/>
            </a:endParaRPr>
          </a:p>
          <a:p>
            <a:pPr algn="just">
              <a:lnSpc>
                <a:spcPct val="125000"/>
              </a:lnSpc>
              <a:spcAft>
                <a:spcPts val="0"/>
              </a:spcAft>
            </a:pPr>
            <a:endParaRPr lang="zh-CN" altLang="zh-CN" sz="1400" dirty="0">
              <a:latin typeface="宋体"/>
              <a:cs typeface="Times New Roman"/>
            </a:endParaRPr>
          </a:p>
          <a:p>
            <a:pPr marL="285750" indent="-285750" algn="just">
              <a:lnSpc>
                <a:spcPct val="125000"/>
              </a:lnSpc>
              <a:spcAft>
                <a:spcPts val="0"/>
              </a:spcAft>
              <a:buFont typeface="Wingdings" pitchFamily="2" charset="2"/>
              <a:buChar char="Ø"/>
            </a:pPr>
            <a:r>
              <a:rPr lang="en-US" altLang="zh-CN" b="1" kern="100" dirty="0">
                <a:solidFill>
                  <a:srgbClr val="FF0000"/>
                </a:solidFill>
                <a:latin typeface="Times New Roman"/>
                <a:cs typeface="Times New Roman"/>
              </a:rPr>
              <a:t>In hot cases</a:t>
            </a:r>
            <a:r>
              <a:rPr lang="en-US" altLang="zh-CN" kern="100" dirty="0">
                <a:solidFill>
                  <a:srgbClr val="000000"/>
                </a:solidFill>
                <a:latin typeface="Times New Roman"/>
                <a:cs typeface="Times New Roman"/>
              </a:rPr>
              <a:t>, all the payloads work according with procedure. Satellite units temperature are in the range of -</a:t>
            </a:r>
            <a:r>
              <a:rPr lang="en-US" altLang="zh-CN" kern="100" dirty="0" smtClean="0">
                <a:solidFill>
                  <a:srgbClr val="000000"/>
                </a:solidFill>
                <a:latin typeface="Times New Roman"/>
                <a:cs typeface="Times New Roman"/>
              </a:rPr>
              <a:t>5.5℃~40.1℃</a:t>
            </a:r>
            <a:r>
              <a:rPr lang="en-US" altLang="zh-CN" kern="100" dirty="0">
                <a:solidFill>
                  <a:srgbClr val="000000"/>
                </a:solidFill>
                <a:latin typeface="Times New Roman"/>
                <a:cs typeface="Times New Roman"/>
              </a:rPr>
              <a:t>. The battery temperature is in the range of </a:t>
            </a:r>
            <a:r>
              <a:rPr lang="en-US" altLang="zh-CN" kern="100" dirty="0" smtClean="0">
                <a:solidFill>
                  <a:srgbClr val="000000"/>
                </a:solidFill>
                <a:latin typeface="Times New Roman"/>
                <a:cs typeface="Times New Roman"/>
              </a:rPr>
              <a:t>17.6℃</a:t>
            </a:r>
            <a:r>
              <a:rPr lang="en-US" altLang="zh-CN" kern="100" dirty="0">
                <a:solidFill>
                  <a:srgbClr val="000000"/>
                </a:solidFill>
                <a:latin typeface="Times New Roman"/>
                <a:cs typeface="Times New Roman"/>
              </a:rPr>
              <a:t>~</a:t>
            </a:r>
            <a:r>
              <a:rPr lang="en-US" altLang="zh-CN" kern="100" dirty="0" smtClean="0">
                <a:solidFill>
                  <a:srgbClr val="000000"/>
                </a:solidFill>
                <a:latin typeface="Times New Roman"/>
                <a:cs typeface="Times New Roman"/>
              </a:rPr>
              <a:t>19.5℃</a:t>
            </a:r>
            <a:r>
              <a:rPr lang="en-US" altLang="zh-CN" kern="100" dirty="0">
                <a:solidFill>
                  <a:srgbClr val="000000"/>
                </a:solidFill>
                <a:latin typeface="Times New Roman"/>
                <a:cs typeface="Times New Roman"/>
              </a:rPr>
              <a:t>. DCDC units temperature is </a:t>
            </a:r>
            <a:r>
              <a:rPr lang="en-US" altLang="zh-CN" kern="100" dirty="0" smtClean="0">
                <a:solidFill>
                  <a:srgbClr val="000000"/>
                </a:solidFill>
                <a:latin typeface="Times New Roman"/>
                <a:cs typeface="Times New Roman"/>
              </a:rPr>
              <a:t>10℃~26.4℃</a:t>
            </a:r>
            <a:r>
              <a:rPr lang="en-US" altLang="zh-CN" kern="100" dirty="0">
                <a:solidFill>
                  <a:srgbClr val="000000"/>
                </a:solidFill>
                <a:latin typeface="Times New Roman"/>
                <a:cs typeface="Times New Roman"/>
              </a:rPr>
              <a:t>. Star Sensor units temperature is </a:t>
            </a:r>
            <a:r>
              <a:rPr lang="en-US" altLang="zh-CN" kern="100" dirty="0" smtClean="0">
                <a:solidFill>
                  <a:srgbClr val="000000"/>
                </a:solidFill>
                <a:latin typeface="Times New Roman"/>
                <a:cs typeface="Times New Roman"/>
              </a:rPr>
              <a:t>-7.5℃~28℃,The </a:t>
            </a:r>
            <a:r>
              <a:rPr lang="en-US" altLang="zh-CN" kern="100" dirty="0">
                <a:solidFill>
                  <a:srgbClr val="000000"/>
                </a:solidFill>
                <a:latin typeface="Times New Roman"/>
                <a:cs typeface="Times New Roman"/>
              </a:rPr>
              <a:t>temperature where Camera contact is </a:t>
            </a:r>
            <a:r>
              <a:rPr lang="en-US" altLang="zh-CN" kern="100" dirty="0" smtClean="0">
                <a:solidFill>
                  <a:srgbClr val="000000"/>
                </a:solidFill>
                <a:latin typeface="Times New Roman"/>
                <a:cs typeface="Times New Roman"/>
              </a:rPr>
              <a:t>3.2℃~19.7℃.</a:t>
            </a:r>
            <a:r>
              <a:rPr lang="en-US" altLang="zh-CN" kern="100" dirty="0">
                <a:solidFill>
                  <a:srgbClr val="000000"/>
                </a:solidFill>
                <a:latin typeface="Times New Roman"/>
                <a:cs typeface="Times New Roman"/>
              </a:rPr>
              <a:t>There is at least 10℃ margin between flight predicted temperature and design temperature. </a:t>
            </a:r>
          </a:p>
          <a:p>
            <a:pPr marL="285750" indent="-285750" algn="just">
              <a:spcAft>
                <a:spcPts val="0"/>
              </a:spcAft>
              <a:buFont typeface="Wingdings" pitchFamily="2" charset="2"/>
              <a:buChar char="Ø"/>
            </a:pPr>
            <a:endParaRPr lang="en-US" altLang="zh-CN" kern="100" dirty="0" smtClean="0">
              <a:solidFill>
                <a:srgbClr val="000000"/>
              </a:solidFill>
              <a:latin typeface="Times New Roman"/>
              <a:cs typeface="Times New Roman"/>
            </a:endParaRPr>
          </a:p>
        </p:txBody>
      </p:sp>
    </p:spTree>
    <p:extLst>
      <p:ext uri="{BB962C8B-B14F-4D97-AF65-F5344CB8AC3E}">
        <p14:creationId xmlns:p14="http://schemas.microsoft.com/office/powerpoint/2010/main" xmlns="" val="133567964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13</a:t>
            </a:fld>
            <a:r>
              <a:rPr lang="zh-CN" altLang="en-US" smtClean="0"/>
              <a:t> </a:t>
            </a:r>
            <a:endParaRPr lang="zh-CN" altLang="en-US" dirty="0">
              <a:latin typeface="微软雅黑" pitchFamily="34" charset="-122"/>
              <a:ea typeface="微软雅黑" pitchFamily="34" charset="-122"/>
            </a:endParaRPr>
          </a:p>
        </p:txBody>
      </p:sp>
      <p:sp>
        <p:nvSpPr>
          <p:cNvPr id="6" name="矩形 5"/>
          <p:cNvSpPr/>
          <p:nvPr/>
        </p:nvSpPr>
        <p:spPr>
          <a:xfrm>
            <a:off x="179512" y="253097"/>
            <a:ext cx="8496944" cy="1015663"/>
          </a:xfrm>
          <a:prstGeom prst="rect">
            <a:avLst/>
          </a:prstGeom>
        </p:spPr>
        <p:txBody>
          <a:bodyPr wrap="square">
            <a:spAutoFit/>
          </a:bodyPr>
          <a:lstStyle/>
          <a:p>
            <a:pPr lvl="1" fontAlgn="base"/>
            <a:r>
              <a:rPr lang="en-US" altLang="zh-CN" sz="2800" dirty="0" smtClean="0">
                <a:solidFill>
                  <a:schemeClr val="bg1"/>
                </a:solidFill>
                <a:latin typeface="微软雅黑" panose="020B0503020204020204" pitchFamily="34" charset="-122"/>
                <a:ea typeface="微软雅黑" panose="020B0503020204020204" pitchFamily="34" charset="-122"/>
              </a:rPr>
              <a:t>7 </a:t>
            </a:r>
            <a:r>
              <a:rPr lang="en-US" altLang="zh-CN" sz="2800" dirty="0">
                <a:solidFill>
                  <a:schemeClr val="bg1"/>
                </a:solidFill>
              </a:rPr>
              <a:t>Thermal Analysis</a:t>
            </a:r>
            <a:r>
              <a:rPr lang="en-US" altLang="zh-CN" sz="2800" dirty="0" smtClean="0">
                <a:solidFill>
                  <a:schemeClr val="bg1"/>
                </a:solidFill>
              </a:rPr>
              <a:t> </a:t>
            </a:r>
          </a:p>
          <a:p>
            <a:pPr lvl="1" fontAlgn="base"/>
            <a:r>
              <a:rPr lang="en-US" altLang="zh-CN" sz="3200" dirty="0">
                <a:solidFill>
                  <a:schemeClr val="bg1"/>
                </a:solidFill>
              </a:rPr>
              <a:t> </a:t>
            </a:r>
            <a:r>
              <a:rPr lang="en-US" altLang="zh-CN" sz="3200" dirty="0" smtClean="0">
                <a:solidFill>
                  <a:schemeClr val="bg1"/>
                </a:solidFill>
              </a:rPr>
              <a:t>             ------ </a:t>
            </a:r>
            <a:r>
              <a:rPr lang="en-US" altLang="zh-CN" sz="2400" dirty="0">
                <a:solidFill>
                  <a:schemeClr val="bg1"/>
                </a:solidFill>
              </a:rPr>
              <a:t>Temperature </a:t>
            </a:r>
            <a:r>
              <a:rPr lang="en-US" altLang="zh-CN" sz="2400" dirty="0" smtClean="0">
                <a:solidFill>
                  <a:schemeClr val="bg1"/>
                </a:solidFill>
              </a:rPr>
              <a:t>Prediction in </a:t>
            </a:r>
            <a:r>
              <a:rPr lang="en-US" altLang="zh-CN" sz="2400" kern="100" dirty="0">
                <a:solidFill>
                  <a:schemeClr val="bg1"/>
                </a:solidFill>
                <a:latin typeface="Times New Roman"/>
              </a:rPr>
              <a:t>attitude maneuver</a:t>
            </a:r>
            <a:endParaRPr lang="zh-CN" altLang="zh-CN" sz="2400" dirty="0">
              <a:solidFill>
                <a:schemeClr val="bg1"/>
              </a:solidFill>
            </a:endParaRPr>
          </a:p>
        </p:txBody>
      </p:sp>
      <p:sp>
        <p:nvSpPr>
          <p:cNvPr id="7" name="矩形 6"/>
          <p:cNvSpPr/>
          <p:nvPr/>
        </p:nvSpPr>
        <p:spPr>
          <a:xfrm>
            <a:off x="611560" y="1772816"/>
            <a:ext cx="7488832" cy="2677656"/>
          </a:xfrm>
          <a:prstGeom prst="rect">
            <a:avLst/>
          </a:prstGeom>
        </p:spPr>
        <p:txBody>
          <a:bodyPr wrap="square">
            <a:spAutoFit/>
          </a:bodyPr>
          <a:lstStyle/>
          <a:p>
            <a:pPr marL="285750" indent="-285750" algn="just">
              <a:buFont typeface="Wingdings" pitchFamily="2" charset="2"/>
              <a:buChar char="Ø"/>
            </a:pPr>
            <a:r>
              <a:rPr lang="en-US" altLang="zh-CN" sz="2400" kern="100" dirty="0">
                <a:solidFill>
                  <a:srgbClr val="000000"/>
                </a:solidFill>
                <a:latin typeface="Times New Roman"/>
                <a:cs typeface="Times New Roman"/>
              </a:rPr>
              <a:t>Because the duration of attitude maneuver is shorter than </a:t>
            </a:r>
            <a:r>
              <a:rPr lang="en-US" altLang="zh-CN" sz="2400" kern="100" dirty="0" smtClean="0">
                <a:solidFill>
                  <a:srgbClr val="000000"/>
                </a:solidFill>
                <a:latin typeface="Times New Roman"/>
                <a:cs typeface="Times New Roman"/>
              </a:rPr>
              <a:t>4 </a:t>
            </a:r>
            <a:r>
              <a:rPr lang="en-US" altLang="zh-CN" sz="2400" kern="100" dirty="0">
                <a:solidFill>
                  <a:srgbClr val="000000"/>
                </a:solidFill>
                <a:latin typeface="Times New Roman"/>
                <a:cs typeface="Times New Roman"/>
              </a:rPr>
              <a:t>min. The temperature deviation of the satellite units is less than 3</a:t>
            </a:r>
            <a:r>
              <a:rPr lang="zh-CN" altLang="zh-CN" sz="2400" kern="100" dirty="0">
                <a:solidFill>
                  <a:srgbClr val="000000"/>
                </a:solidFill>
                <a:latin typeface="Times New Roman"/>
                <a:cs typeface="Times New Roman"/>
              </a:rPr>
              <a:t>℃，</a:t>
            </a:r>
            <a:r>
              <a:rPr lang="en-US" altLang="zh-CN" sz="2400" kern="100" dirty="0">
                <a:solidFill>
                  <a:srgbClr val="000000"/>
                </a:solidFill>
                <a:latin typeface="Times New Roman"/>
                <a:cs typeface="Times New Roman"/>
              </a:rPr>
              <a:t>according to the flight experience of other satellites</a:t>
            </a:r>
            <a:r>
              <a:rPr lang="en-US" altLang="zh-CN" sz="2400" kern="100" dirty="0" smtClean="0">
                <a:solidFill>
                  <a:srgbClr val="000000"/>
                </a:solidFill>
                <a:latin typeface="Times New Roman"/>
                <a:cs typeface="Times New Roman"/>
              </a:rPr>
              <a:t>.</a:t>
            </a:r>
          </a:p>
          <a:p>
            <a:pPr marL="285750" indent="-285750" algn="just">
              <a:buFont typeface="Wingdings" pitchFamily="2" charset="2"/>
              <a:buChar char="Ø"/>
            </a:pPr>
            <a:endParaRPr lang="zh-CN" altLang="zh-CN" sz="2400" kern="100" dirty="0">
              <a:solidFill>
                <a:srgbClr val="000000"/>
              </a:solidFill>
              <a:latin typeface="Times New Roman"/>
              <a:cs typeface="Times New Roman"/>
            </a:endParaRPr>
          </a:p>
          <a:p>
            <a:pPr marL="285750" indent="-285750" algn="just">
              <a:buFont typeface="Wingdings" pitchFamily="2" charset="2"/>
              <a:buChar char="Ø"/>
            </a:pPr>
            <a:r>
              <a:rPr lang="en-US" altLang="zh-CN" sz="2400" kern="100" dirty="0">
                <a:solidFill>
                  <a:srgbClr val="000000"/>
                </a:solidFill>
                <a:latin typeface="Times New Roman"/>
                <a:cs typeface="Times New Roman"/>
              </a:rPr>
              <a:t>Thermal design satisfies temperature requirements and has enough temperature margins.</a:t>
            </a:r>
          </a:p>
        </p:txBody>
      </p:sp>
    </p:spTree>
    <p:extLst>
      <p:ext uri="{BB962C8B-B14F-4D97-AF65-F5344CB8AC3E}">
        <p14:creationId xmlns:p14="http://schemas.microsoft.com/office/powerpoint/2010/main" xmlns="" val="133567964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14</a:t>
            </a:fld>
            <a:r>
              <a:rPr lang="zh-CN" altLang="en-US" smtClean="0"/>
              <a:t> </a:t>
            </a:r>
            <a:endParaRPr lang="zh-CN" altLang="en-US" dirty="0">
              <a:latin typeface="微软雅黑" pitchFamily="34" charset="-122"/>
              <a:ea typeface="微软雅黑" pitchFamily="34" charset="-122"/>
            </a:endParaRPr>
          </a:p>
        </p:txBody>
      </p:sp>
      <p:sp>
        <p:nvSpPr>
          <p:cNvPr id="6" name="矩形 5"/>
          <p:cNvSpPr/>
          <p:nvPr/>
        </p:nvSpPr>
        <p:spPr>
          <a:xfrm>
            <a:off x="626106" y="-99392"/>
            <a:ext cx="7128792" cy="1292662"/>
          </a:xfrm>
          <a:prstGeom prst="rect">
            <a:avLst/>
          </a:prstGeom>
        </p:spPr>
        <p:txBody>
          <a:bodyPr wrap="square">
            <a:spAutoFit/>
          </a:bodyPr>
          <a:lstStyle/>
          <a:p>
            <a:pPr lvl="1" fontAlgn="base">
              <a:lnSpc>
                <a:spcPct val="150000"/>
              </a:lnSpc>
            </a:pPr>
            <a:r>
              <a:rPr lang="en-US" altLang="zh-CN" sz="2800" dirty="0" smtClean="0">
                <a:solidFill>
                  <a:schemeClr val="bg1"/>
                </a:solidFill>
                <a:latin typeface="微软雅黑" panose="020B0503020204020204" pitchFamily="34" charset="-122"/>
                <a:ea typeface="微软雅黑" panose="020B0503020204020204" pitchFamily="34" charset="-122"/>
              </a:rPr>
              <a:t>8 </a:t>
            </a:r>
            <a:r>
              <a:rPr lang="en-US" altLang="zh-CN" sz="2800" dirty="0">
                <a:solidFill>
                  <a:schemeClr val="bg1"/>
                </a:solidFill>
              </a:rPr>
              <a:t>RELIABILITY ANALYSIS</a:t>
            </a:r>
            <a:r>
              <a:rPr lang="en-US" altLang="zh-CN" sz="2800" dirty="0" smtClean="0">
                <a:solidFill>
                  <a:schemeClr val="bg1"/>
                </a:solidFill>
              </a:rPr>
              <a:t> </a:t>
            </a:r>
          </a:p>
          <a:p>
            <a:pPr lvl="1" fontAlgn="base">
              <a:lnSpc>
                <a:spcPct val="150000"/>
              </a:lnSpc>
            </a:pPr>
            <a:r>
              <a:rPr lang="en-US" altLang="zh-CN" sz="2400" dirty="0">
                <a:solidFill>
                  <a:schemeClr val="bg1"/>
                </a:solidFill>
              </a:rPr>
              <a:t> </a:t>
            </a:r>
            <a:r>
              <a:rPr lang="en-US" altLang="zh-CN" sz="2400" dirty="0" smtClean="0">
                <a:solidFill>
                  <a:schemeClr val="bg1"/>
                </a:solidFill>
              </a:rPr>
              <a:t>           </a:t>
            </a:r>
            <a:r>
              <a:rPr lang="en-US" altLang="zh-CN" sz="2400" dirty="0">
                <a:solidFill>
                  <a:schemeClr val="bg1"/>
                </a:solidFill>
              </a:rPr>
              <a:t> </a:t>
            </a:r>
            <a:r>
              <a:rPr lang="en-US" altLang="zh-CN" sz="2400" dirty="0" smtClean="0">
                <a:solidFill>
                  <a:schemeClr val="bg1"/>
                </a:solidFill>
              </a:rPr>
              <a:t>                            ------ </a:t>
            </a:r>
            <a:r>
              <a:rPr lang="en-US" altLang="zh-CN" sz="2400" dirty="0">
                <a:solidFill>
                  <a:schemeClr val="bg1"/>
                </a:solidFill>
              </a:rPr>
              <a:t>TCS </a:t>
            </a:r>
            <a:r>
              <a:rPr lang="en-US" altLang="zh-CN" sz="2400" dirty="0" smtClean="0">
                <a:solidFill>
                  <a:schemeClr val="bg1"/>
                </a:solidFill>
              </a:rPr>
              <a:t>Reliability</a:t>
            </a:r>
            <a:endParaRPr lang="zh-CN" altLang="zh-CN" sz="2400" dirty="0">
              <a:solidFill>
                <a:schemeClr val="bg1"/>
              </a:solidFill>
            </a:endParaRPr>
          </a:p>
        </p:txBody>
      </p:sp>
      <p:sp>
        <p:nvSpPr>
          <p:cNvPr id="7" name="矩形 6"/>
          <p:cNvSpPr/>
          <p:nvPr/>
        </p:nvSpPr>
        <p:spPr>
          <a:xfrm>
            <a:off x="609760" y="1282987"/>
            <a:ext cx="7956376" cy="2954655"/>
          </a:xfrm>
          <a:prstGeom prst="rect">
            <a:avLst/>
          </a:prstGeom>
        </p:spPr>
        <p:txBody>
          <a:bodyPr wrap="square">
            <a:spAutoFit/>
          </a:bodyPr>
          <a:lstStyle/>
          <a:p>
            <a:endParaRPr lang="en-US" altLang="zh-CN" dirty="0"/>
          </a:p>
          <a:p>
            <a:pPr marL="285750" indent="-285750">
              <a:buFont typeface="Wingdings" pitchFamily="2" charset="2"/>
              <a:buChar char="Ø"/>
            </a:pPr>
            <a:endParaRPr lang="en-US" altLang="zh-CN" dirty="0" smtClean="0"/>
          </a:p>
          <a:p>
            <a:pPr marL="285750" lvl="2" indent="-285750">
              <a:buFont typeface="Wingdings" pitchFamily="2" charset="2"/>
              <a:buChar char="Ø"/>
            </a:pPr>
            <a:r>
              <a:rPr lang="en-US" altLang="zh-CN" sz="2000" dirty="0">
                <a:latin typeface="Times New Roman" pitchFamily="18" charset="0"/>
                <a:cs typeface="Times New Roman" pitchFamily="18" charset="0"/>
              </a:rPr>
              <a:t>The reliability value of all the heaters</a:t>
            </a:r>
          </a:p>
          <a:p>
            <a:pPr marL="0" lvl="2"/>
            <a:endParaRPr lang="en-US" altLang="zh-CN" dirty="0"/>
          </a:p>
          <a:p>
            <a:pPr marL="0" lvl="2"/>
            <a:endParaRPr lang="en-US" altLang="zh-CN" dirty="0" smtClean="0"/>
          </a:p>
          <a:p>
            <a:pPr marL="0" lvl="2"/>
            <a:endParaRPr lang="en-US" altLang="zh-CN" dirty="0"/>
          </a:p>
          <a:p>
            <a:pPr marL="0" lvl="2"/>
            <a:endParaRPr lang="en-US" altLang="zh-CN" dirty="0" smtClean="0"/>
          </a:p>
          <a:p>
            <a:pPr marL="285750" lvl="2" indent="-285750">
              <a:buFont typeface="Wingdings" pitchFamily="2" charset="2"/>
              <a:buChar char="Ø"/>
            </a:pPr>
            <a:r>
              <a:rPr lang="en-US" altLang="zh-CN" sz="2000" dirty="0">
                <a:latin typeface="Times New Roman" pitchFamily="18" charset="0"/>
                <a:cs typeface="Times New Roman" pitchFamily="18" charset="0"/>
              </a:rPr>
              <a:t>Thermal control subsystem reliability: </a:t>
            </a:r>
          </a:p>
          <a:p>
            <a:pPr marL="0" lvl="2"/>
            <a:endParaRPr lang="zh-CN" altLang="zh-CN" dirty="0"/>
          </a:p>
          <a:p>
            <a:pPr marL="285750" indent="-285750">
              <a:buFont typeface="Wingdings" pitchFamily="2" charset="2"/>
              <a:buChar char="Ø"/>
            </a:pPr>
            <a:endParaRPr lang="en-US" altLang="zh-CN" dirty="0" smtClean="0">
              <a:solidFill>
                <a:prstClr val="black"/>
              </a:solidFill>
            </a:endParaRPr>
          </a:p>
        </p:txBody>
      </p:sp>
      <p:pic>
        <p:nvPicPr>
          <p:cNvPr id="9" name="Picture 2"/>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907704" y="2585420"/>
            <a:ext cx="3980577" cy="3350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0" name="Picture 5"/>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2411760" y="3861048"/>
            <a:ext cx="2531587" cy="70648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1" name="Picture 6"/>
          <p:cNvPicPr>
            <a:picLocks noChangeAspect="1" noChangeArrowheads="1"/>
          </p:cNvPicPr>
          <p:nvPr/>
        </p:nvPicPr>
        <p:blipFill>
          <a:blip r:embed="rId4">
            <a:extLst>
              <a:ext uri="{28A0092B-C50C-407E-A947-70E740481C1C}">
                <a14:useLocalDpi xmlns:a14="http://schemas.microsoft.com/office/drawing/2010/main" xmlns="" val="0"/>
              </a:ext>
            </a:extLst>
          </a:blip>
          <a:srcRect/>
          <a:stretch>
            <a:fillRect/>
          </a:stretch>
        </p:blipFill>
        <p:spPr bwMode="auto">
          <a:xfrm>
            <a:off x="2903730" y="4797152"/>
            <a:ext cx="1756995" cy="36004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33567964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15</a:t>
            </a:fld>
            <a:r>
              <a:rPr lang="zh-CN" altLang="en-US" smtClean="0"/>
              <a:t> </a:t>
            </a:r>
            <a:endParaRPr lang="zh-CN" altLang="en-US" dirty="0">
              <a:latin typeface="微软雅黑" pitchFamily="34" charset="-122"/>
              <a:ea typeface="微软雅黑" pitchFamily="34" charset="-122"/>
            </a:endParaRPr>
          </a:p>
        </p:txBody>
      </p:sp>
      <p:sp>
        <p:nvSpPr>
          <p:cNvPr id="6" name="矩形 5"/>
          <p:cNvSpPr/>
          <p:nvPr/>
        </p:nvSpPr>
        <p:spPr>
          <a:xfrm>
            <a:off x="1259632" y="116632"/>
            <a:ext cx="7128792" cy="1015663"/>
          </a:xfrm>
          <a:prstGeom prst="rect">
            <a:avLst/>
          </a:prstGeom>
        </p:spPr>
        <p:txBody>
          <a:bodyPr wrap="square">
            <a:spAutoFit/>
          </a:bodyPr>
          <a:lstStyle/>
          <a:p>
            <a:pPr lvl="1" fontAlgn="base"/>
            <a:r>
              <a:rPr lang="en-US" altLang="zh-CN" sz="2800" dirty="0" smtClean="0">
                <a:solidFill>
                  <a:schemeClr val="bg1"/>
                </a:solidFill>
                <a:latin typeface="微软雅黑" panose="020B0503020204020204" pitchFamily="34" charset="-122"/>
                <a:ea typeface="微软雅黑" panose="020B0503020204020204" pitchFamily="34" charset="-122"/>
              </a:rPr>
              <a:t>8 </a:t>
            </a:r>
            <a:r>
              <a:rPr lang="en-US" altLang="zh-CN" sz="2800" dirty="0">
                <a:solidFill>
                  <a:schemeClr val="bg1"/>
                </a:solidFill>
              </a:rPr>
              <a:t>RELIABILITY ANALYSIS</a:t>
            </a:r>
            <a:r>
              <a:rPr lang="en-US" altLang="zh-CN" sz="2800" dirty="0" smtClean="0">
                <a:solidFill>
                  <a:schemeClr val="bg1"/>
                </a:solidFill>
              </a:rPr>
              <a:t> </a:t>
            </a:r>
          </a:p>
          <a:p>
            <a:pPr lvl="1" fontAlgn="base"/>
            <a:r>
              <a:rPr lang="en-US" altLang="zh-CN" sz="3200" dirty="0">
                <a:solidFill>
                  <a:schemeClr val="bg1"/>
                </a:solidFill>
              </a:rPr>
              <a:t> </a:t>
            </a:r>
            <a:r>
              <a:rPr lang="en-US" altLang="zh-CN" sz="3200" dirty="0" smtClean="0">
                <a:solidFill>
                  <a:schemeClr val="bg1"/>
                </a:solidFill>
              </a:rPr>
              <a:t>                                   </a:t>
            </a:r>
            <a:r>
              <a:rPr lang="en-US" altLang="zh-CN" sz="2400" dirty="0" smtClean="0">
                <a:solidFill>
                  <a:schemeClr val="bg1"/>
                </a:solidFill>
              </a:rPr>
              <a:t>------ FMEA</a:t>
            </a:r>
            <a:endParaRPr lang="zh-CN" altLang="zh-CN" sz="2400" dirty="0">
              <a:solidFill>
                <a:schemeClr val="bg1"/>
              </a:solidFill>
            </a:endParaRPr>
          </a:p>
        </p:txBody>
      </p:sp>
      <p:sp>
        <p:nvSpPr>
          <p:cNvPr id="7" name="矩形 6"/>
          <p:cNvSpPr/>
          <p:nvPr/>
        </p:nvSpPr>
        <p:spPr>
          <a:xfrm>
            <a:off x="683568" y="1442576"/>
            <a:ext cx="7272808" cy="4202882"/>
          </a:xfrm>
          <a:prstGeom prst="rect">
            <a:avLst/>
          </a:prstGeom>
        </p:spPr>
        <p:txBody>
          <a:bodyPr wrap="square">
            <a:spAutoFit/>
          </a:bodyPr>
          <a:lstStyle/>
          <a:p>
            <a:pPr marL="285750" indent="-285750" algn="just">
              <a:lnSpc>
                <a:spcPct val="150000"/>
              </a:lnSpc>
              <a:spcAft>
                <a:spcPts val="0"/>
              </a:spcAft>
              <a:buFont typeface="Wingdings" pitchFamily="2" charset="2"/>
              <a:buChar char="Ø"/>
            </a:pPr>
            <a:r>
              <a:rPr lang="en-US" altLang="zh-CN" kern="100" dirty="0">
                <a:latin typeface="Times New Roman"/>
              </a:rPr>
              <a:t>Random failure with catastrophic consequences are not expected for thermal components (OSR, MLI, Thermal Control Coatings), but only gradual degradations. Aging effects on these elements are introduced in thermal analysis which considers end of life conservative values.</a:t>
            </a:r>
            <a:endParaRPr lang="zh-CN" altLang="zh-CN" kern="100" dirty="0">
              <a:latin typeface="Times New Roman"/>
            </a:endParaRPr>
          </a:p>
          <a:p>
            <a:pPr marL="285750" indent="-285750" algn="just">
              <a:lnSpc>
                <a:spcPct val="150000"/>
              </a:lnSpc>
              <a:spcAft>
                <a:spcPts val="0"/>
              </a:spcAft>
              <a:buFont typeface="Wingdings" pitchFamily="2" charset="2"/>
              <a:buChar char="Ø"/>
            </a:pPr>
            <a:r>
              <a:rPr lang="en-US" altLang="zh-CN" kern="100" dirty="0" smtClean="0">
                <a:latin typeface="Times New Roman"/>
              </a:rPr>
              <a:t>Concerning </a:t>
            </a:r>
            <a:r>
              <a:rPr lang="en-US" altLang="zh-CN" kern="100" dirty="0">
                <a:latin typeface="Times New Roman"/>
              </a:rPr>
              <a:t>HP. they are grouped into batches so that it is possible to have a complete loss of one HP at any place with acceptable degradation of the thermal performance. </a:t>
            </a:r>
            <a:endParaRPr lang="zh-CN" altLang="zh-CN" kern="100" dirty="0">
              <a:latin typeface="Times New Roman"/>
            </a:endParaRPr>
          </a:p>
          <a:p>
            <a:pPr marL="285750" indent="-285750" algn="just">
              <a:lnSpc>
                <a:spcPct val="150000"/>
              </a:lnSpc>
              <a:spcAft>
                <a:spcPts val="0"/>
              </a:spcAft>
              <a:buFont typeface="Wingdings" pitchFamily="2" charset="2"/>
              <a:buChar char="Ø"/>
            </a:pPr>
            <a:r>
              <a:rPr lang="en-US" altLang="zh-CN" kern="100" dirty="0">
                <a:latin typeface="Times New Roman"/>
              </a:rPr>
              <a:t> </a:t>
            </a:r>
            <a:r>
              <a:rPr lang="en-US" altLang="zh-CN" kern="100" dirty="0" smtClean="0">
                <a:latin typeface="Times New Roman"/>
              </a:rPr>
              <a:t>Concerning </a:t>
            </a:r>
            <a:r>
              <a:rPr lang="en-US" altLang="zh-CN" kern="100" dirty="0">
                <a:latin typeface="Times New Roman"/>
              </a:rPr>
              <a:t>Heaters, the failures in the FMEA sheet which cause ‘permanent heating’ or ‘no heating’ have consequently a low probability of occurrence. </a:t>
            </a:r>
            <a:endParaRPr lang="en-US" altLang="zh-CN" dirty="0" smtClean="0">
              <a:solidFill>
                <a:prstClr val="black"/>
              </a:solidFill>
            </a:endParaRPr>
          </a:p>
        </p:txBody>
      </p:sp>
    </p:spTree>
    <p:extLst>
      <p:ext uri="{BB962C8B-B14F-4D97-AF65-F5344CB8AC3E}">
        <p14:creationId xmlns:p14="http://schemas.microsoft.com/office/powerpoint/2010/main" xmlns="" val="133567964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16</a:t>
            </a:fld>
            <a:r>
              <a:rPr lang="zh-CN" altLang="en-US" smtClean="0"/>
              <a:t> </a:t>
            </a:r>
            <a:endParaRPr lang="zh-CN" altLang="en-US" dirty="0">
              <a:latin typeface="微软雅黑" pitchFamily="34" charset="-122"/>
              <a:ea typeface="微软雅黑" pitchFamily="34" charset="-122"/>
            </a:endParaRPr>
          </a:p>
        </p:txBody>
      </p:sp>
      <p:sp>
        <p:nvSpPr>
          <p:cNvPr id="6" name="矩形 5"/>
          <p:cNvSpPr/>
          <p:nvPr/>
        </p:nvSpPr>
        <p:spPr>
          <a:xfrm>
            <a:off x="395536" y="116632"/>
            <a:ext cx="7992888" cy="1015663"/>
          </a:xfrm>
          <a:prstGeom prst="rect">
            <a:avLst/>
          </a:prstGeom>
        </p:spPr>
        <p:txBody>
          <a:bodyPr wrap="square">
            <a:spAutoFit/>
          </a:bodyPr>
          <a:lstStyle/>
          <a:p>
            <a:pPr lvl="1" fontAlgn="base"/>
            <a:r>
              <a:rPr lang="en-US" altLang="zh-CN" sz="2800" dirty="0" smtClean="0">
                <a:solidFill>
                  <a:schemeClr val="bg1"/>
                </a:solidFill>
                <a:latin typeface="微软雅黑" panose="020B0503020204020204" pitchFamily="34" charset="-122"/>
                <a:ea typeface="微软雅黑" panose="020B0503020204020204" pitchFamily="34" charset="-122"/>
              </a:rPr>
              <a:t>8 </a:t>
            </a:r>
            <a:r>
              <a:rPr lang="en-US" altLang="zh-CN" sz="2800" dirty="0">
                <a:solidFill>
                  <a:schemeClr val="bg1"/>
                </a:solidFill>
              </a:rPr>
              <a:t>RELIABILITY ANALYSIS</a:t>
            </a:r>
            <a:r>
              <a:rPr lang="en-US" altLang="zh-CN" sz="2800" dirty="0" smtClean="0">
                <a:solidFill>
                  <a:schemeClr val="bg1"/>
                </a:solidFill>
              </a:rPr>
              <a:t> </a:t>
            </a:r>
          </a:p>
          <a:p>
            <a:pPr lvl="1" fontAlgn="base"/>
            <a:r>
              <a:rPr lang="en-US" altLang="zh-CN" sz="3200" dirty="0">
                <a:solidFill>
                  <a:schemeClr val="bg1"/>
                </a:solidFill>
              </a:rPr>
              <a:t> </a:t>
            </a:r>
            <a:r>
              <a:rPr lang="en-US" altLang="zh-CN" sz="3200" dirty="0" smtClean="0">
                <a:solidFill>
                  <a:schemeClr val="bg1"/>
                </a:solidFill>
              </a:rPr>
              <a:t>             ------ </a:t>
            </a:r>
            <a:r>
              <a:rPr lang="en-US" altLang="zh-CN" sz="2000" dirty="0" err="1" smtClean="0">
                <a:solidFill>
                  <a:schemeClr val="bg1"/>
                </a:solidFill>
              </a:rPr>
              <a:t>Derating</a:t>
            </a:r>
            <a:r>
              <a:rPr lang="en-US" altLang="zh-CN" sz="2000" dirty="0" smtClean="0">
                <a:solidFill>
                  <a:schemeClr val="bg1"/>
                </a:solidFill>
              </a:rPr>
              <a:t>  Properties of  Thermal Hardware</a:t>
            </a:r>
            <a:endParaRPr lang="zh-CN" altLang="zh-CN" sz="2000" dirty="0">
              <a:solidFill>
                <a:schemeClr val="bg1"/>
              </a:solidFill>
            </a:endParaRPr>
          </a:p>
        </p:txBody>
      </p:sp>
      <p:graphicFrame>
        <p:nvGraphicFramePr>
          <p:cNvPr id="7" name="对象 6"/>
          <p:cNvGraphicFramePr>
            <a:graphicFrameLocks noChangeAspect="1"/>
          </p:cNvGraphicFramePr>
          <p:nvPr>
            <p:extLst>
              <p:ext uri="{D42A27DB-BD31-4B8C-83A1-F6EECF244321}">
                <p14:modId xmlns:p14="http://schemas.microsoft.com/office/powerpoint/2010/main" xmlns="" val="2707122317"/>
              </p:ext>
            </p:extLst>
          </p:nvPr>
        </p:nvGraphicFramePr>
        <p:xfrm>
          <a:off x="190500" y="1638300"/>
          <a:ext cx="8305800" cy="3581400"/>
        </p:xfrm>
        <a:graphic>
          <a:graphicData uri="http://schemas.openxmlformats.org/presentationml/2006/ole">
            <p:oleObj spid="_x0000_s2181" name="文档" r:id="rId3" imgW="5420928" imgH="2339199" progId="Word.Document.12">
              <p:embed/>
            </p:oleObj>
          </a:graphicData>
        </a:graphic>
      </p:graphicFrame>
    </p:spTree>
    <p:extLst>
      <p:ext uri="{BB962C8B-B14F-4D97-AF65-F5344CB8AC3E}">
        <p14:creationId xmlns:p14="http://schemas.microsoft.com/office/powerpoint/2010/main" xmlns="" val="133567964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17</a:t>
            </a:fld>
            <a:r>
              <a:rPr lang="zh-CN" altLang="en-US" smtClean="0"/>
              <a:t> </a:t>
            </a:r>
            <a:endParaRPr lang="zh-CN" altLang="en-US" dirty="0">
              <a:latin typeface="微软雅黑" pitchFamily="34" charset="-122"/>
              <a:ea typeface="微软雅黑" pitchFamily="34" charset="-122"/>
            </a:endParaRPr>
          </a:p>
        </p:txBody>
      </p:sp>
      <p:sp>
        <p:nvSpPr>
          <p:cNvPr id="6" name="矩形 5"/>
          <p:cNvSpPr/>
          <p:nvPr/>
        </p:nvSpPr>
        <p:spPr>
          <a:xfrm>
            <a:off x="395536" y="188640"/>
            <a:ext cx="7992888" cy="1015663"/>
          </a:xfrm>
          <a:prstGeom prst="rect">
            <a:avLst/>
          </a:prstGeom>
        </p:spPr>
        <p:txBody>
          <a:bodyPr wrap="square">
            <a:spAutoFit/>
          </a:bodyPr>
          <a:lstStyle/>
          <a:p>
            <a:pPr lvl="1" fontAlgn="base"/>
            <a:r>
              <a:rPr lang="en-US" altLang="zh-CN" sz="2800" dirty="0" smtClean="0">
                <a:solidFill>
                  <a:schemeClr val="bg1"/>
                </a:solidFill>
                <a:latin typeface="微软雅黑" panose="020B0503020204020204" pitchFamily="34" charset="-122"/>
                <a:ea typeface="微软雅黑" panose="020B0503020204020204" pitchFamily="34" charset="-122"/>
              </a:rPr>
              <a:t>8 </a:t>
            </a:r>
            <a:r>
              <a:rPr lang="en-US" altLang="zh-CN" sz="2800" dirty="0">
                <a:solidFill>
                  <a:schemeClr val="bg1"/>
                </a:solidFill>
              </a:rPr>
              <a:t>RELIABILITY ANALYSIS</a:t>
            </a:r>
            <a:r>
              <a:rPr lang="en-US" altLang="zh-CN" sz="2800" dirty="0" smtClean="0">
                <a:solidFill>
                  <a:schemeClr val="bg1"/>
                </a:solidFill>
              </a:rPr>
              <a:t> </a:t>
            </a:r>
          </a:p>
          <a:p>
            <a:pPr lvl="1" fontAlgn="base"/>
            <a:r>
              <a:rPr lang="en-US" altLang="zh-CN" sz="3200" dirty="0">
                <a:solidFill>
                  <a:schemeClr val="bg1"/>
                </a:solidFill>
              </a:rPr>
              <a:t> </a:t>
            </a:r>
            <a:r>
              <a:rPr lang="en-US" altLang="zh-CN" sz="3200" dirty="0" smtClean="0">
                <a:solidFill>
                  <a:schemeClr val="bg1"/>
                </a:solidFill>
              </a:rPr>
              <a:t>             ------ </a:t>
            </a:r>
            <a:r>
              <a:rPr lang="en-US" altLang="zh-CN" sz="2000" dirty="0">
                <a:solidFill>
                  <a:schemeClr val="bg1"/>
                </a:solidFill>
              </a:rPr>
              <a:t>Redundancy-Single Point Failure</a:t>
            </a:r>
            <a:endParaRPr lang="zh-CN" altLang="zh-CN" sz="2000" dirty="0">
              <a:solidFill>
                <a:schemeClr val="bg1"/>
              </a:solidFill>
            </a:endParaRPr>
          </a:p>
        </p:txBody>
      </p:sp>
      <p:sp>
        <p:nvSpPr>
          <p:cNvPr id="7" name="矩形 6"/>
          <p:cNvSpPr/>
          <p:nvPr/>
        </p:nvSpPr>
        <p:spPr>
          <a:xfrm>
            <a:off x="683568" y="1556792"/>
            <a:ext cx="7200800" cy="3693319"/>
          </a:xfrm>
          <a:prstGeom prst="rect">
            <a:avLst/>
          </a:prstGeom>
        </p:spPr>
        <p:txBody>
          <a:bodyPr wrap="square">
            <a:spAutoFit/>
          </a:bodyPr>
          <a:lstStyle/>
          <a:p>
            <a:pPr marL="285750" lvl="2" indent="-285750">
              <a:lnSpc>
                <a:spcPct val="150000"/>
              </a:lnSpc>
              <a:buFont typeface="Wingdings" pitchFamily="2" charset="2"/>
              <a:buChar char="Ø"/>
            </a:pPr>
            <a:r>
              <a:rPr lang="en-US" altLang="zh-CN" b="1" dirty="0" smtClean="0">
                <a:latin typeface="Times New Roman" pitchFamily="18" charset="0"/>
                <a:cs typeface="Times New Roman" pitchFamily="18" charset="0"/>
              </a:rPr>
              <a:t>Redundancy</a:t>
            </a:r>
            <a:endParaRPr lang="zh-CN" altLang="zh-CN" b="1" dirty="0">
              <a:latin typeface="Times New Roman" pitchFamily="18" charset="0"/>
              <a:cs typeface="Times New Roman" pitchFamily="18" charset="0"/>
            </a:endParaRPr>
          </a:p>
          <a:p>
            <a:pPr>
              <a:lnSpc>
                <a:spcPct val="150000"/>
              </a:lnSpc>
            </a:pPr>
            <a:r>
              <a:rPr lang="en-US" altLang="zh-CN" dirty="0" smtClean="0">
                <a:latin typeface="Times New Roman" pitchFamily="18" charset="0"/>
                <a:cs typeface="Times New Roman" pitchFamily="18" charset="0"/>
              </a:rPr>
              <a:t>         Each </a:t>
            </a:r>
            <a:r>
              <a:rPr lang="en-US" altLang="zh-CN" dirty="0">
                <a:latin typeface="Times New Roman" pitchFamily="18" charset="0"/>
                <a:cs typeface="Times New Roman" pitchFamily="18" charset="0"/>
              </a:rPr>
              <a:t>heater has redundancy and so does thermistors used for temperature monitoring and </a:t>
            </a:r>
            <a:r>
              <a:rPr lang="en-US" altLang="zh-CN" dirty="0" smtClean="0">
                <a:latin typeface="Times New Roman" pitchFamily="18" charset="0"/>
                <a:cs typeface="Times New Roman" pitchFamily="18" charset="0"/>
              </a:rPr>
              <a:t>control</a:t>
            </a:r>
          </a:p>
          <a:p>
            <a:pPr marL="285750" indent="-285750">
              <a:lnSpc>
                <a:spcPct val="150000"/>
              </a:lnSpc>
              <a:buFont typeface="Wingdings" pitchFamily="2" charset="2"/>
              <a:buChar char="Ø"/>
            </a:pPr>
            <a:r>
              <a:rPr lang="en-US" altLang="zh-CN" b="1" dirty="0" smtClean="0">
                <a:latin typeface="Times New Roman" pitchFamily="18" charset="0"/>
                <a:cs typeface="Times New Roman" pitchFamily="18" charset="0"/>
              </a:rPr>
              <a:t>Single </a:t>
            </a:r>
            <a:r>
              <a:rPr lang="en-US" altLang="zh-CN" b="1" dirty="0">
                <a:latin typeface="Times New Roman" pitchFamily="18" charset="0"/>
                <a:cs typeface="Times New Roman" pitchFamily="18" charset="0"/>
              </a:rPr>
              <a:t>point failure modes</a:t>
            </a:r>
            <a:endParaRPr lang="zh-CN" altLang="zh-CN" b="1" dirty="0">
              <a:latin typeface="Times New Roman" pitchFamily="18" charset="0"/>
              <a:cs typeface="Times New Roman" pitchFamily="18" charset="0"/>
            </a:endParaRPr>
          </a:p>
          <a:p>
            <a:pPr>
              <a:lnSpc>
                <a:spcPct val="150000"/>
              </a:lnSpc>
            </a:pPr>
            <a:r>
              <a:rPr lang="en-US" altLang="zh-CN" dirty="0" smtClean="0">
                <a:latin typeface="Times New Roman" pitchFamily="18" charset="0"/>
                <a:cs typeface="Times New Roman" pitchFamily="18" charset="0"/>
              </a:rPr>
              <a:t>         The </a:t>
            </a:r>
            <a:r>
              <a:rPr lang="en-US" altLang="zh-CN" dirty="0">
                <a:latin typeface="Times New Roman" pitchFamily="18" charset="0"/>
                <a:cs typeface="Times New Roman" pitchFamily="18" charset="0"/>
              </a:rPr>
              <a:t>SPF shall be </a:t>
            </a:r>
            <a:r>
              <a:rPr lang="en-US" altLang="zh-CN" dirty="0" smtClean="0">
                <a:latin typeface="Times New Roman" pitchFamily="18" charset="0"/>
                <a:cs typeface="Times New Roman" pitchFamily="18" charset="0"/>
              </a:rPr>
              <a:t>eliminated.</a:t>
            </a:r>
          </a:p>
          <a:p>
            <a:pPr marL="285750" indent="-285750">
              <a:lnSpc>
                <a:spcPct val="150000"/>
              </a:lnSpc>
              <a:buFont typeface="Wingdings" pitchFamily="2" charset="2"/>
              <a:buChar char="Ø"/>
            </a:pPr>
            <a:r>
              <a:rPr lang="en-US" altLang="zh-CN" b="1" dirty="0" smtClean="0">
                <a:latin typeface="Times New Roman" pitchFamily="18" charset="0"/>
                <a:cs typeface="Times New Roman" pitchFamily="18" charset="0"/>
              </a:rPr>
              <a:t>Failure </a:t>
            </a:r>
            <a:r>
              <a:rPr lang="en-US" altLang="zh-CN" b="1" dirty="0">
                <a:latin typeface="Times New Roman" pitchFamily="18" charset="0"/>
                <a:cs typeface="Times New Roman" pitchFamily="18" charset="0"/>
              </a:rPr>
              <a:t>safety</a:t>
            </a:r>
            <a:endParaRPr lang="zh-CN" altLang="zh-CN" b="1" dirty="0">
              <a:latin typeface="Times New Roman" pitchFamily="18" charset="0"/>
              <a:cs typeface="Times New Roman" pitchFamily="18" charset="0"/>
            </a:endParaRPr>
          </a:p>
          <a:p>
            <a:pPr>
              <a:lnSpc>
                <a:spcPct val="150000"/>
              </a:lnSpc>
            </a:pPr>
            <a:r>
              <a:rPr lang="en-US" altLang="zh-CN" dirty="0" smtClean="0">
                <a:latin typeface="Times New Roman" pitchFamily="18" charset="0"/>
                <a:cs typeface="Times New Roman" pitchFamily="18" charset="0"/>
              </a:rPr>
              <a:t>         The </a:t>
            </a:r>
            <a:r>
              <a:rPr lang="en-US" altLang="zh-CN" dirty="0">
                <a:latin typeface="Times New Roman" pitchFamily="18" charset="0"/>
                <a:cs typeface="Times New Roman" pitchFamily="18" charset="0"/>
              </a:rPr>
              <a:t>effects of failure of equipment elements upon other elements shall be minimized.</a:t>
            </a:r>
            <a:endParaRPr lang="zh-CN" altLang="zh-CN" dirty="0">
              <a:latin typeface="Times New Roman" pitchFamily="18" charset="0"/>
              <a:cs typeface="Times New Roman" pitchFamily="18" charset="0"/>
            </a:endParaRPr>
          </a:p>
          <a:p>
            <a:endParaRPr lang="zh-CN" altLang="zh-CN" dirty="0"/>
          </a:p>
        </p:txBody>
      </p:sp>
    </p:spTree>
    <p:extLst>
      <p:ext uri="{BB962C8B-B14F-4D97-AF65-F5344CB8AC3E}">
        <p14:creationId xmlns:p14="http://schemas.microsoft.com/office/powerpoint/2010/main" xmlns="" val="133567964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18</a:t>
            </a:fld>
            <a:r>
              <a:rPr lang="zh-CN" altLang="en-US" smtClean="0"/>
              <a:t> </a:t>
            </a:r>
            <a:endParaRPr lang="zh-CN" altLang="en-US" dirty="0">
              <a:latin typeface="微软雅黑" pitchFamily="34" charset="-122"/>
              <a:ea typeface="微软雅黑" pitchFamily="34" charset="-122"/>
            </a:endParaRPr>
          </a:p>
        </p:txBody>
      </p:sp>
      <p:sp>
        <p:nvSpPr>
          <p:cNvPr id="6" name="矩形 5"/>
          <p:cNvSpPr/>
          <p:nvPr/>
        </p:nvSpPr>
        <p:spPr>
          <a:xfrm>
            <a:off x="395536" y="116632"/>
            <a:ext cx="7992888" cy="1015663"/>
          </a:xfrm>
          <a:prstGeom prst="rect">
            <a:avLst/>
          </a:prstGeom>
        </p:spPr>
        <p:txBody>
          <a:bodyPr wrap="square">
            <a:spAutoFit/>
          </a:bodyPr>
          <a:lstStyle/>
          <a:p>
            <a:pPr lvl="0" algn="just">
              <a:spcBef>
                <a:spcPts val="1560"/>
              </a:spcBef>
              <a:spcAft>
                <a:spcPts val="0"/>
              </a:spcAft>
              <a:buSzPts val="1400"/>
              <a:tabLst>
                <a:tab pos="274320" algn="l"/>
              </a:tabLst>
            </a:pPr>
            <a:r>
              <a:rPr lang="en-US" altLang="zh-CN" sz="2800" dirty="0" smtClean="0">
                <a:solidFill>
                  <a:schemeClr val="bg1"/>
                </a:solidFill>
                <a:latin typeface="+mn-ea"/>
              </a:rPr>
              <a:t>9 </a:t>
            </a:r>
            <a:r>
              <a:rPr lang="en-US" altLang="zh-CN" sz="2800" b="1" kern="2200" dirty="0" smtClean="0">
                <a:solidFill>
                  <a:schemeClr val="bg1"/>
                </a:solidFill>
                <a:latin typeface="+mn-ea"/>
              </a:rPr>
              <a:t>BUDGET </a:t>
            </a:r>
            <a:r>
              <a:rPr lang="en-US" altLang="zh-CN" sz="2800" b="1" kern="2200" dirty="0">
                <a:solidFill>
                  <a:schemeClr val="bg1"/>
                </a:solidFill>
                <a:latin typeface="+mn-ea"/>
              </a:rPr>
              <a:t>ANALYSIS</a:t>
            </a:r>
            <a:endParaRPr lang="zh-CN" altLang="zh-CN" sz="2800" b="1" kern="2200" dirty="0">
              <a:solidFill>
                <a:schemeClr val="bg1"/>
              </a:solidFill>
              <a:latin typeface="+mn-ea"/>
            </a:endParaRPr>
          </a:p>
          <a:p>
            <a:pPr lvl="1" fontAlgn="base"/>
            <a:r>
              <a:rPr lang="en-US" altLang="zh-CN" sz="3200" dirty="0" smtClean="0">
                <a:solidFill>
                  <a:schemeClr val="bg1"/>
                </a:solidFill>
              </a:rPr>
              <a:t>                                  ------ </a:t>
            </a:r>
            <a:r>
              <a:rPr lang="en-US" altLang="zh-CN" sz="2000" dirty="0">
                <a:solidFill>
                  <a:schemeClr val="bg1"/>
                </a:solidFill>
              </a:rPr>
              <a:t>Mass </a:t>
            </a:r>
            <a:r>
              <a:rPr lang="en-US" altLang="zh-CN" sz="2000" dirty="0" smtClean="0">
                <a:solidFill>
                  <a:schemeClr val="bg1"/>
                </a:solidFill>
              </a:rPr>
              <a:t>Budget</a:t>
            </a:r>
            <a:endParaRPr lang="zh-CN" altLang="zh-CN" sz="2000" dirty="0">
              <a:solidFill>
                <a:schemeClr val="bg1"/>
              </a:solidFill>
            </a:endParaRPr>
          </a:p>
        </p:txBody>
      </p:sp>
      <p:graphicFrame>
        <p:nvGraphicFramePr>
          <p:cNvPr id="7" name="对象 6"/>
          <p:cNvGraphicFramePr>
            <a:graphicFrameLocks noChangeAspect="1"/>
          </p:cNvGraphicFramePr>
          <p:nvPr>
            <p:extLst>
              <p:ext uri="{D42A27DB-BD31-4B8C-83A1-F6EECF244321}">
                <p14:modId xmlns:p14="http://schemas.microsoft.com/office/powerpoint/2010/main" xmlns="" val="18397218"/>
              </p:ext>
            </p:extLst>
          </p:nvPr>
        </p:nvGraphicFramePr>
        <p:xfrm>
          <a:off x="549349" y="1628800"/>
          <a:ext cx="7839075" cy="4600575"/>
        </p:xfrm>
        <a:graphic>
          <a:graphicData uri="http://schemas.openxmlformats.org/presentationml/2006/ole">
            <p:oleObj spid="_x0000_s3205" name="文档" r:id="rId3" imgW="5322170" imgH="3128396" progId="Word.Document.12">
              <p:embed/>
            </p:oleObj>
          </a:graphicData>
        </a:graphic>
      </p:graphicFrame>
    </p:spTree>
    <p:extLst>
      <p:ext uri="{BB962C8B-B14F-4D97-AF65-F5344CB8AC3E}">
        <p14:creationId xmlns:p14="http://schemas.microsoft.com/office/powerpoint/2010/main" xmlns="" val="133567964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19</a:t>
            </a:fld>
            <a:r>
              <a:rPr lang="zh-CN" altLang="en-US" smtClean="0"/>
              <a:t> </a:t>
            </a:r>
            <a:endParaRPr lang="zh-CN" altLang="en-US" dirty="0">
              <a:latin typeface="微软雅黑" pitchFamily="34" charset="-122"/>
              <a:ea typeface="微软雅黑" pitchFamily="34" charset="-122"/>
            </a:endParaRPr>
          </a:p>
        </p:txBody>
      </p:sp>
      <p:sp>
        <p:nvSpPr>
          <p:cNvPr id="6" name="矩形 5"/>
          <p:cNvSpPr/>
          <p:nvPr/>
        </p:nvSpPr>
        <p:spPr>
          <a:xfrm>
            <a:off x="395536" y="116632"/>
            <a:ext cx="7992888" cy="1015663"/>
          </a:xfrm>
          <a:prstGeom prst="rect">
            <a:avLst/>
          </a:prstGeom>
        </p:spPr>
        <p:txBody>
          <a:bodyPr wrap="square">
            <a:spAutoFit/>
          </a:bodyPr>
          <a:lstStyle/>
          <a:p>
            <a:pPr lvl="1" fontAlgn="base">
              <a:spcBef>
                <a:spcPts val="1560"/>
              </a:spcBef>
              <a:buSzPts val="1400"/>
              <a:tabLst>
                <a:tab pos="274320" algn="l"/>
              </a:tabLst>
            </a:pPr>
            <a:r>
              <a:rPr lang="en-US" altLang="zh-CN" sz="2800" dirty="0" smtClean="0">
                <a:solidFill>
                  <a:schemeClr val="bg1"/>
                </a:solidFill>
                <a:latin typeface="微软雅黑" panose="020B0503020204020204" pitchFamily="34" charset="-122"/>
                <a:ea typeface="微软雅黑" panose="020B0503020204020204" pitchFamily="34" charset="-122"/>
              </a:rPr>
              <a:t>9 </a:t>
            </a:r>
            <a:r>
              <a:rPr lang="en-US" altLang="zh-CN" sz="2800" dirty="0">
                <a:solidFill>
                  <a:schemeClr val="bg1"/>
                </a:solidFill>
                <a:latin typeface="微软雅黑" panose="020B0503020204020204" pitchFamily="34" charset="-122"/>
                <a:ea typeface="微软雅黑" panose="020B0503020204020204" pitchFamily="34" charset="-122"/>
              </a:rPr>
              <a:t>BUDGET ANALYSIS</a:t>
            </a:r>
            <a:endParaRPr lang="zh-CN" altLang="zh-CN" sz="2800" dirty="0">
              <a:solidFill>
                <a:schemeClr val="bg1"/>
              </a:solidFill>
              <a:latin typeface="微软雅黑" panose="020B0503020204020204" pitchFamily="34" charset="-122"/>
              <a:ea typeface="微软雅黑" panose="020B0503020204020204" pitchFamily="34" charset="-122"/>
            </a:endParaRPr>
          </a:p>
          <a:p>
            <a:pPr lvl="1" fontAlgn="base"/>
            <a:r>
              <a:rPr lang="en-US" altLang="zh-CN" sz="3200" dirty="0" smtClean="0">
                <a:solidFill>
                  <a:schemeClr val="bg1"/>
                </a:solidFill>
              </a:rPr>
              <a:t>                                  ------ </a:t>
            </a:r>
            <a:r>
              <a:rPr lang="en-US" altLang="zh-CN" sz="2000" kern="100" dirty="0">
                <a:solidFill>
                  <a:schemeClr val="bg1"/>
                </a:solidFill>
                <a:latin typeface="Times New Roman"/>
              </a:rPr>
              <a:t>Power Consumption </a:t>
            </a:r>
            <a:r>
              <a:rPr lang="en-US" altLang="zh-CN" sz="2000" kern="100" dirty="0" smtClean="0">
                <a:solidFill>
                  <a:schemeClr val="bg1"/>
                </a:solidFill>
                <a:latin typeface="Times New Roman"/>
              </a:rPr>
              <a:t>Budget</a:t>
            </a:r>
            <a:endParaRPr lang="zh-CN" altLang="zh-CN" sz="2000" dirty="0">
              <a:solidFill>
                <a:schemeClr val="bg1"/>
              </a:solidFill>
            </a:endParaRPr>
          </a:p>
        </p:txBody>
      </p:sp>
      <p:graphicFrame>
        <p:nvGraphicFramePr>
          <p:cNvPr id="8" name="表格 7"/>
          <p:cNvGraphicFramePr>
            <a:graphicFrameLocks noGrp="1"/>
          </p:cNvGraphicFramePr>
          <p:nvPr>
            <p:extLst>
              <p:ext uri="{D42A27DB-BD31-4B8C-83A1-F6EECF244321}">
                <p14:modId xmlns:p14="http://schemas.microsoft.com/office/powerpoint/2010/main" xmlns="" val="2065614698"/>
              </p:ext>
            </p:extLst>
          </p:nvPr>
        </p:nvGraphicFramePr>
        <p:xfrm>
          <a:off x="395533" y="1844823"/>
          <a:ext cx="8294832" cy="3723105"/>
        </p:xfrm>
        <a:graphic>
          <a:graphicData uri="http://schemas.openxmlformats.org/drawingml/2006/table">
            <a:tbl>
              <a:tblPr firstRow="1" firstCol="1" bandRow="1" bandCol="1"/>
              <a:tblGrid>
                <a:gridCol w="1440163"/>
                <a:gridCol w="936104"/>
                <a:gridCol w="1249910"/>
                <a:gridCol w="686214"/>
                <a:gridCol w="671296"/>
                <a:gridCol w="674783"/>
                <a:gridCol w="674783"/>
                <a:gridCol w="601551"/>
                <a:gridCol w="563191"/>
                <a:gridCol w="796837"/>
              </a:tblGrid>
              <a:tr h="310530">
                <a:tc rowSpan="2">
                  <a:txBody>
                    <a:bodyPr/>
                    <a:lstStyle/>
                    <a:p>
                      <a:pPr algn="ctr">
                        <a:spcAft>
                          <a:spcPts val="0"/>
                        </a:spcAft>
                      </a:pPr>
                      <a:r>
                        <a:rPr lang="en-US" sz="1400" kern="100" dirty="0">
                          <a:effectLst/>
                          <a:latin typeface="Times New Roman"/>
                          <a:ea typeface="宋体"/>
                        </a:rPr>
                        <a:t>Heater Location</a:t>
                      </a:r>
                      <a:endParaRPr lang="zh-CN" sz="1400" kern="100" dirty="0">
                        <a:effectLst/>
                        <a:latin typeface="Times New Roman"/>
                        <a:ea typeface="宋体"/>
                      </a:endParaRP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ctr">
                        <a:spcAft>
                          <a:spcPts val="0"/>
                        </a:spcAft>
                      </a:pPr>
                      <a:r>
                        <a:rPr lang="en-US" sz="1400" kern="100" dirty="0">
                          <a:effectLst/>
                          <a:latin typeface="Times New Roman"/>
                          <a:ea typeface="宋体"/>
                        </a:rPr>
                        <a:t>Number of Heater</a:t>
                      </a:r>
                      <a:endParaRPr lang="zh-CN" sz="1400" kern="100" dirty="0">
                        <a:effectLst/>
                        <a:latin typeface="Times New Roman"/>
                        <a:ea typeface="宋体"/>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rowSpan="2">
                  <a:txBody>
                    <a:bodyPr/>
                    <a:lstStyle/>
                    <a:p>
                      <a:pPr algn="ctr" fontAlgn="auto">
                        <a:lnSpc>
                          <a:spcPts val="1560"/>
                        </a:lnSpc>
                        <a:spcAft>
                          <a:spcPts val="0"/>
                        </a:spcAft>
                      </a:pPr>
                      <a:r>
                        <a:rPr lang="en-US" sz="1400" dirty="0">
                          <a:effectLst/>
                          <a:latin typeface="Times New Roman"/>
                          <a:ea typeface="宋体"/>
                        </a:rPr>
                        <a:t>Heater Power(designed)</a:t>
                      </a:r>
                      <a:r>
                        <a:rPr lang="zh-CN" sz="1400" dirty="0">
                          <a:effectLst/>
                          <a:latin typeface="Times New Roman"/>
                          <a:ea typeface="宋体"/>
                        </a:rPr>
                        <a:t>（</a:t>
                      </a:r>
                      <a:r>
                        <a:rPr lang="en-US" sz="1400" dirty="0">
                          <a:effectLst/>
                          <a:latin typeface="Times New Roman"/>
                          <a:ea typeface="宋体"/>
                        </a:rPr>
                        <a:t>w</a:t>
                      </a:r>
                      <a:r>
                        <a:rPr lang="zh-CN" sz="1400" dirty="0">
                          <a:effectLst/>
                          <a:latin typeface="Times New Roman"/>
                          <a:ea typeface="宋体"/>
                        </a:rPr>
                        <a:t>）</a:t>
                      </a: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gridSpan="6">
                  <a:txBody>
                    <a:bodyPr/>
                    <a:lstStyle/>
                    <a:p>
                      <a:pPr algn="ctr" fontAlgn="auto">
                        <a:lnSpc>
                          <a:spcPts val="1560"/>
                        </a:lnSpc>
                        <a:spcAft>
                          <a:spcPts val="0"/>
                        </a:spcAft>
                      </a:pPr>
                      <a:r>
                        <a:rPr lang="en-US" sz="800">
                          <a:effectLst/>
                          <a:latin typeface="Times New Roman"/>
                          <a:ea typeface="宋体"/>
                        </a:rPr>
                        <a:t>Heater Power(actual worked)</a:t>
                      </a:r>
                      <a:r>
                        <a:rPr lang="zh-CN" sz="800">
                          <a:effectLst/>
                          <a:latin typeface="Times New Roman"/>
                          <a:ea typeface="宋体"/>
                        </a:rPr>
                        <a:t>（</a:t>
                      </a:r>
                      <a:r>
                        <a:rPr lang="en-US" sz="800">
                          <a:effectLst/>
                          <a:latin typeface="Times New Roman"/>
                          <a:ea typeface="宋体"/>
                        </a:rPr>
                        <a:t>w</a:t>
                      </a:r>
                      <a:r>
                        <a:rPr lang="zh-CN" sz="800">
                          <a:effectLst/>
                          <a:latin typeface="Times New Roman"/>
                          <a:ea typeface="宋体"/>
                        </a:rPr>
                        <a:t>）</a:t>
                      </a:r>
                    </a:p>
                  </a:txBody>
                  <a:tcPr marL="52351" marR="5235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rowSpan="2">
                  <a:txBody>
                    <a:bodyPr/>
                    <a:lstStyle/>
                    <a:p>
                      <a:pPr algn="ctr" fontAlgn="auto">
                        <a:lnSpc>
                          <a:spcPts val="1560"/>
                        </a:lnSpc>
                        <a:spcAft>
                          <a:spcPts val="0"/>
                        </a:spcAft>
                      </a:pPr>
                      <a:r>
                        <a:rPr lang="en-US" sz="1400" kern="100">
                          <a:effectLst/>
                          <a:latin typeface="Times New Roman"/>
                          <a:ea typeface="宋体"/>
                        </a:rPr>
                        <a:t>Remark</a:t>
                      </a:r>
                      <a:endParaRPr lang="zh-CN" sz="1400">
                        <a:effectLst/>
                        <a:latin typeface="Times New Roman"/>
                        <a:ea typeface="宋体"/>
                      </a:endParaRPr>
                    </a:p>
                  </a:txBody>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1242118">
                <a:tc vMerge="1">
                  <a:txBody>
                    <a:bodyPr/>
                    <a:lstStyle/>
                    <a:p>
                      <a:endParaRPr lang="zh-CN" altLang="en-US"/>
                    </a:p>
                  </a:txBody>
                  <a:tcPr/>
                </a:tc>
                <a:tc vMerge="1">
                  <a:txBody>
                    <a:bodyPr/>
                    <a:lstStyle/>
                    <a:p>
                      <a:endParaRPr lang="zh-CN" altLang="en-US"/>
                    </a:p>
                  </a:txBody>
                  <a:tcPr/>
                </a:tc>
                <a:tc vMerge="1">
                  <a:txBody>
                    <a:bodyPr/>
                    <a:lstStyle/>
                    <a:p>
                      <a:endParaRPr lang="zh-CN" altLang="en-US"/>
                    </a:p>
                  </a:txBody>
                  <a:tcPr/>
                </a:tc>
                <a:tc>
                  <a:txBody>
                    <a:bodyPr/>
                    <a:lstStyle/>
                    <a:p>
                      <a:pPr algn="ctr">
                        <a:spcAft>
                          <a:spcPts val="0"/>
                        </a:spcAft>
                      </a:pPr>
                      <a:r>
                        <a:rPr lang="en-US" sz="1400" kern="100" dirty="0">
                          <a:effectLst/>
                          <a:latin typeface="Times New Roman"/>
                          <a:ea typeface="宋体"/>
                        </a:rPr>
                        <a:t>Case1</a:t>
                      </a:r>
                      <a:endParaRPr lang="zh-CN" sz="1400" kern="100" dirty="0">
                        <a:effectLst/>
                        <a:latin typeface="Times New Roman"/>
                        <a:ea typeface="宋体"/>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effectLst/>
                          <a:latin typeface="Times New Roman"/>
                          <a:ea typeface="宋体"/>
                        </a:rPr>
                        <a:t>Case2</a:t>
                      </a:r>
                      <a:endParaRPr lang="zh-CN" sz="1400" kern="100" dirty="0">
                        <a:effectLst/>
                        <a:latin typeface="Times New Roman"/>
                        <a:ea typeface="宋体"/>
                      </a:endParaRPr>
                    </a:p>
                  </a:txBody>
                  <a:tcPr marL="52351" marR="523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effectLst/>
                          <a:latin typeface="Times New Roman"/>
                          <a:ea typeface="宋体"/>
                        </a:rPr>
                        <a:t>Case3</a:t>
                      </a:r>
                      <a:endParaRPr lang="zh-CN" sz="1400" kern="100">
                        <a:effectLst/>
                        <a:latin typeface="Times New Roman"/>
                        <a:ea typeface="宋体"/>
                      </a:endParaRPr>
                    </a:p>
                  </a:txBody>
                  <a:tcPr marL="52351" marR="523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effectLst/>
                          <a:latin typeface="Times New Roman"/>
                          <a:ea typeface="宋体"/>
                        </a:rPr>
                        <a:t>Case4</a:t>
                      </a:r>
                      <a:endParaRPr lang="zh-CN" sz="1400" kern="100">
                        <a:effectLst/>
                        <a:latin typeface="Times New Roman"/>
                        <a:ea typeface="宋体"/>
                      </a:endParaRPr>
                    </a:p>
                  </a:txBody>
                  <a:tcPr marL="52351" marR="523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effectLst/>
                          <a:latin typeface="Times New Roman"/>
                          <a:ea typeface="宋体"/>
                        </a:rPr>
                        <a:t>Case5</a:t>
                      </a:r>
                      <a:endParaRPr lang="zh-CN" sz="1400" kern="100">
                        <a:effectLst/>
                        <a:latin typeface="Times New Roman"/>
                        <a:ea typeface="宋体"/>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effectLst/>
                          <a:latin typeface="Times New Roman"/>
                          <a:ea typeface="宋体"/>
                        </a:rPr>
                        <a:t>Case6</a:t>
                      </a:r>
                      <a:endParaRPr lang="zh-CN" sz="1400" kern="100">
                        <a:effectLst/>
                        <a:latin typeface="Times New Roman"/>
                        <a:ea typeface="宋体"/>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vMerge="1">
                  <a:txBody>
                    <a:bodyPr/>
                    <a:lstStyle/>
                    <a:p>
                      <a:endParaRPr lang="zh-CN" altLang="en-US"/>
                    </a:p>
                  </a:txBody>
                  <a:tcPr/>
                </a:tc>
              </a:tr>
              <a:tr h="463577">
                <a:tc>
                  <a:txBody>
                    <a:bodyPr/>
                    <a:lstStyle/>
                    <a:p>
                      <a:pPr algn="ctr">
                        <a:spcAft>
                          <a:spcPts val="0"/>
                        </a:spcAft>
                      </a:pPr>
                      <a:r>
                        <a:rPr lang="en-GB" sz="1400" kern="100">
                          <a:effectLst/>
                          <a:latin typeface="Times New Roman"/>
                          <a:ea typeface="宋体"/>
                        </a:rPr>
                        <a:t>Battery1</a:t>
                      </a:r>
                      <a:endParaRPr lang="zh-CN" sz="1400" kern="100">
                        <a:effectLst/>
                        <a:latin typeface="Times New Roman"/>
                        <a:ea typeface="宋体"/>
                      </a:endParaRP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400" kern="100">
                          <a:effectLst/>
                          <a:latin typeface="Times New Roman"/>
                          <a:ea typeface="宋体"/>
                        </a:rPr>
                        <a:t>1</a:t>
                      </a:r>
                      <a:r>
                        <a:rPr lang="zh-CN" sz="1400" kern="100">
                          <a:effectLst/>
                          <a:latin typeface="Times New Roman"/>
                          <a:ea typeface="宋体"/>
                        </a:rPr>
                        <a:t>＋</a:t>
                      </a:r>
                      <a:r>
                        <a:rPr lang="en-US" sz="1400" kern="100">
                          <a:effectLst/>
                          <a:latin typeface="Times New Roman"/>
                          <a:ea typeface="宋体"/>
                        </a:rPr>
                        <a:t>1(R)</a:t>
                      </a:r>
                      <a:endParaRPr lang="zh-CN" sz="1400" kern="100">
                        <a:effectLst/>
                        <a:latin typeface="Times New Roman"/>
                        <a:ea typeface="宋体"/>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400" kern="100">
                          <a:effectLst/>
                          <a:latin typeface="Times New Roman"/>
                          <a:ea typeface="宋体"/>
                        </a:rPr>
                        <a:t>5</a:t>
                      </a:r>
                      <a:endParaRPr lang="zh-CN" sz="1400" kern="100">
                        <a:effectLst/>
                        <a:latin typeface="Times New Roman"/>
                        <a:ea typeface="宋体"/>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400" kern="100">
                          <a:effectLst/>
                          <a:latin typeface="Times New Roman"/>
                          <a:ea typeface="宋体"/>
                        </a:rPr>
                        <a:t>45%</a:t>
                      </a:r>
                      <a:endParaRPr lang="zh-CN" sz="1400" kern="100">
                        <a:effectLst/>
                        <a:latin typeface="Times New Roman"/>
                        <a:ea typeface="宋体"/>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400" kern="100">
                          <a:effectLst/>
                          <a:latin typeface="Times New Roman"/>
                          <a:ea typeface="宋体"/>
                        </a:rPr>
                        <a:t>36%</a:t>
                      </a:r>
                      <a:endParaRPr lang="zh-CN" sz="1400" kern="100">
                        <a:effectLst/>
                        <a:latin typeface="Times New Roman"/>
                        <a:ea typeface="宋体"/>
                      </a:endParaRPr>
                    </a:p>
                  </a:txBody>
                  <a:tcPr marL="52351" marR="523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400" kern="100" dirty="0">
                          <a:effectLst/>
                          <a:latin typeface="Times New Roman"/>
                          <a:ea typeface="宋体"/>
                        </a:rPr>
                        <a:t>0</a:t>
                      </a:r>
                      <a:endParaRPr lang="zh-CN" sz="1400" kern="100" dirty="0">
                        <a:effectLst/>
                        <a:latin typeface="Times New Roman"/>
                        <a:ea typeface="宋体"/>
                      </a:endParaRPr>
                    </a:p>
                  </a:txBody>
                  <a:tcPr marL="52351" marR="523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400" kern="100">
                          <a:effectLst/>
                          <a:latin typeface="Times New Roman"/>
                          <a:ea typeface="宋体"/>
                        </a:rPr>
                        <a:t>0</a:t>
                      </a:r>
                      <a:endParaRPr lang="zh-CN" sz="1400" kern="100">
                        <a:effectLst/>
                        <a:latin typeface="Times New Roman"/>
                        <a:ea typeface="宋体"/>
                      </a:endParaRPr>
                    </a:p>
                  </a:txBody>
                  <a:tcPr marL="52351" marR="523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400" kern="100">
                          <a:effectLst/>
                          <a:latin typeface="Times New Roman"/>
                          <a:ea typeface="宋体"/>
                        </a:rPr>
                        <a:t>0</a:t>
                      </a:r>
                      <a:endParaRPr lang="zh-CN" sz="1400" kern="100">
                        <a:effectLst/>
                        <a:latin typeface="Times New Roman"/>
                        <a:ea typeface="宋体"/>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400" kern="100" dirty="0">
                          <a:effectLst/>
                          <a:latin typeface="Times New Roman"/>
                          <a:ea typeface="宋体"/>
                        </a:rPr>
                        <a:t>5%</a:t>
                      </a:r>
                      <a:endParaRPr lang="zh-CN" sz="1400" kern="100" dirty="0">
                        <a:effectLst/>
                        <a:latin typeface="Times New Roman"/>
                        <a:ea typeface="宋体"/>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400" kern="100">
                          <a:effectLst/>
                          <a:latin typeface="Times New Roman"/>
                          <a:ea typeface="宋体"/>
                        </a:rPr>
                        <a:t>Long term power</a:t>
                      </a:r>
                      <a:endParaRPr lang="zh-CN" sz="1400" kern="100">
                        <a:effectLst/>
                        <a:latin typeface="Times New Roman"/>
                        <a:ea typeface="宋体"/>
                      </a:endParaRPr>
                    </a:p>
                  </a:txBody>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r>
              <a:tr h="211119">
                <a:tc>
                  <a:txBody>
                    <a:bodyPr/>
                    <a:lstStyle/>
                    <a:p>
                      <a:pPr algn="ctr">
                        <a:spcAft>
                          <a:spcPts val="0"/>
                        </a:spcAft>
                      </a:pPr>
                      <a:r>
                        <a:rPr lang="en-GB" sz="1400" kern="100">
                          <a:effectLst/>
                          <a:latin typeface="Times New Roman"/>
                          <a:ea typeface="宋体"/>
                        </a:rPr>
                        <a:t>Star Sensor</a:t>
                      </a:r>
                      <a:endParaRPr lang="zh-CN" sz="1400" kern="100">
                        <a:effectLst/>
                        <a:latin typeface="Times New Roman"/>
                        <a:ea typeface="宋体"/>
                      </a:endParaRP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400" kern="100">
                          <a:effectLst/>
                          <a:latin typeface="Times New Roman"/>
                          <a:ea typeface="宋体"/>
                        </a:rPr>
                        <a:t>1</a:t>
                      </a:r>
                      <a:r>
                        <a:rPr lang="zh-CN" sz="1400" kern="100">
                          <a:effectLst/>
                          <a:latin typeface="Times New Roman"/>
                          <a:ea typeface="宋体"/>
                        </a:rPr>
                        <a:t>＋</a:t>
                      </a:r>
                      <a:r>
                        <a:rPr lang="en-US" sz="1400" kern="100">
                          <a:effectLst/>
                          <a:latin typeface="Times New Roman"/>
                          <a:ea typeface="宋体"/>
                        </a:rPr>
                        <a:t>1(R)</a:t>
                      </a:r>
                      <a:endParaRPr lang="zh-CN" sz="1400" kern="100">
                        <a:effectLst/>
                        <a:latin typeface="Times New Roman"/>
                        <a:ea typeface="宋体"/>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400" kern="100">
                          <a:effectLst/>
                          <a:latin typeface="Times New Roman"/>
                          <a:ea typeface="宋体"/>
                        </a:rPr>
                        <a:t>5</a:t>
                      </a:r>
                      <a:endParaRPr lang="zh-CN" sz="1400" kern="100">
                        <a:effectLst/>
                        <a:latin typeface="Times New Roman"/>
                        <a:ea typeface="宋体"/>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400" kern="100">
                          <a:effectLst/>
                          <a:latin typeface="Times New Roman"/>
                          <a:ea typeface="宋体"/>
                        </a:rPr>
                        <a:t>5</a:t>
                      </a:r>
                      <a:endParaRPr lang="zh-CN" sz="1400" kern="100">
                        <a:effectLst/>
                        <a:latin typeface="Times New Roman"/>
                        <a:ea typeface="宋体"/>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400" kern="100">
                          <a:effectLst/>
                          <a:latin typeface="Times New Roman"/>
                          <a:ea typeface="宋体"/>
                        </a:rPr>
                        <a:t>50%</a:t>
                      </a:r>
                      <a:endParaRPr lang="zh-CN" sz="1400" kern="100">
                        <a:effectLst/>
                        <a:latin typeface="Times New Roman"/>
                        <a:ea typeface="宋体"/>
                      </a:endParaRPr>
                    </a:p>
                  </a:txBody>
                  <a:tcPr marL="52351" marR="523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400" kern="100" dirty="0">
                          <a:effectLst/>
                          <a:latin typeface="Times New Roman"/>
                          <a:ea typeface="宋体"/>
                        </a:rPr>
                        <a:t>42.1%</a:t>
                      </a:r>
                      <a:endParaRPr lang="zh-CN" sz="1400" kern="100" dirty="0">
                        <a:effectLst/>
                        <a:latin typeface="Times New Roman"/>
                        <a:ea typeface="宋体"/>
                      </a:endParaRPr>
                    </a:p>
                  </a:txBody>
                  <a:tcPr marL="52351" marR="523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400" kern="100" dirty="0">
                          <a:effectLst/>
                          <a:latin typeface="Times New Roman"/>
                          <a:ea typeface="宋体"/>
                        </a:rPr>
                        <a:t>0</a:t>
                      </a:r>
                      <a:endParaRPr lang="zh-CN" sz="1400" kern="100" dirty="0">
                        <a:effectLst/>
                        <a:latin typeface="Times New Roman"/>
                        <a:ea typeface="宋体"/>
                      </a:endParaRPr>
                    </a:p>
                  </a:txBody>
                  <a:tcPr marL="52351" marR="523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400" kern="100">
                          <a:effectLst/>
                          <a:latin typeface="Times New Roman"/>
                          <a:ea typeface="宋体"/>
                        </a:rPr>
                        <a:t>0</a:t>
                      </a:r>
                      <a:endParaRPr lang="zh-CN" sz="1400" kern="100">
                        <a:effectLst/>
                        <a:latin typeface="Times New Roman"/>
                        <a:ea typeface="宋体"/>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sz="1400" kern="100">
                          <a:effectLst/>
                          <a:latin typeface="Times New Roman"/>
                          <a:ea typeface="宋体"/>
                        </a:rPr>
                        <a:t>0</a:t>
                      </a:r>
                      <a:endParaRPr lang="zh-CN" sz="1400" kern="100">
                        <a:effectLst/>
                        <a:latin typeface="Times New Roman"/>
                        <a:ea typeface="宋体"/>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c>
                  <a:txBody>
                    <a:bodyPr/>
                    <a:lstStyle/>
                    <a:p>
                      <a:pPr algn="ctr">
                        <a:spcAft>
                          <a:spcPts val="0"/>
                        </a:spcAft>
                      </a:pPr>
                      <a:r>
                        <a:rPr lang="en-US" altLang="zh-CN" sz="1400" kern="100" dirty="0" smtClean="0">
                          <a:effectLst/>
                          <a:latin typeface="Times New Roman"/>
                          <a:ea typeface="+mn-ea"/>
                        </a:rPr>
                        <a:t>Short term power</a:t>
                      </a:r>
                      <a:endParaRPr lang="zh-CN" altLang="zh-CN" sz="1400" kern="100" dirty="0">
                        <a:effectLst/>
                        <a:latin typeface="Times New Roman"/>
                        <a:ea typeface="+mn-ea"/>
                      </a:endParaRPr>
                    </a:p>
                  </a:txBody>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D9D9D9"/>
                    </a:solidFill>
                  </a:tcPr>
                </a:tc>
              </a:tr>
              <a:tr h="211119">
                <a:tc>
                  <a:txBody>
                    <a:bodyPr/>
                    <a:lstStyle/>
                    <a:p>
                      <a:pPr algn="ctr">
                        <a:spcAft>
                          <a:spcPts val="0"/>
                        </a:spcAft>
                      </a:pPr>
                      <a:r>
                        <a:rPr lang="en-US" sz="1400" kern="0" dirty="0">
                          <a:effectLst/>
                          <a:latin typeface="Times New Roman"/>
                          <a:ea typeface="宋体"/>
                        </a:rPr>
                        <a:t>Data transmission</a:t>
                      </a:r>
                      <a:endParaRPr lang="zh-CN" sz="1400" kern="100" dirty="0">
                        <a:effectLst/>
                        <a:latin typeface="Times New Roman"/>
                        <a:ea typeface="宋体"/>
                      </a:endParaRP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effectLst/>
                          <a:latin typeface="Times New Roman"/>
                          <a:ea typeface="宋体"/>
                        </a:rPr>
                        <a:t>1</a:t>
                      </a:r>
                      <a:r>
                        <a:rPr lang="zh-CN" sz="1400" kern="100">
                          <a:effectLst/>
                          <a:latin typeface="Times New Roman"/>
                          <a:ea typeface="宋体"/>
                        </a:rPr>
                        <a:t>＋</a:t>
                      </a:r>
                      <a:r>
                        <a:rPr lang="en-US" sz="1400" kern="100">
                          <a:effectLst/>
                          <a:latin typeface="Times New Roman"/>
                          <a:ea typeface="宋体"/>
                        </a:rPr>
                        <a:t>1(R)</a:t>
                      </a:r>
                      <a:endParaRPr lang="zh-CN" sz="1400" kern="100">
                        <a:effectLst/>
                        <a:latin typeface="Times New Roman"/>
                        <a:ea typeface="宋体"/>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effectLst/>
                          <a:latin typeface="Times New Roman"/>
                          <a:ea typeface="宋体"/>
                        </a:rPr>
                        <a:t>5</a:t>
                      </a:r>
                      <a:endParaRPr lang="zh-CN" sz="1400" kern="100">
                        <a:effectLst/>
                        <a:latin typeface="Times New Roman"/>
                        <a:ea typeface="宋体"/>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effectLst/>
                          <a:latin typeface="Times New Roman"/>
                          <a:ea typeface="宋体"/>
                        </a:rPr>
                        <a:t>59.6%</a:t>
                      </a:r>
                      <a:endParaRPr lang="zh-CN" sz="1400" kern="100">
                        <a:effectLst/>
                        <a:latin typeface="Times New Roman"/>
                        <a:ea typeface="宋体"/>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effectLst/>
                          <a:latin typeface="Times New Roman"/>
                          <a:ea typeface="宋体"/>
                        </a:rPr>
                        <a:t>61.9%</a:t>
                      </a:r>
                      <a:endParaRPr lang="zh-CN" sz="1400" kern="100">
                        <a:effectLst/>
                        <a:latin typeface="Times New Roman"/>
                        <a:ea typeface="宋体"/>
                      </a:endParaRPr>
                    </a:p>
                  </a:txBody>
                  <a:tcPr marL="52351" marR="523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effectLst/>
                          <a:latin typeface="Times New Roman"/>
                          <a:ea typeface="宋体"/>
                        </a:rPr>
                        <a:t>0</a:t>
                      </a:r>
                      <a:endParaRPr lang="zh-CN" sz="1400" kern="100">
                        <a:effectLst/>
                        <a:latin typeface="Times New Roman"/>
                        <a:ea typeface="宋体"/>
                      </a:endParaRPr>
                    </a:p>
                  </a:txBody>
                  <a:tcPr marL="52351" marR="523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effectLst/>
                          <a:latin typeface="Times New Roman"/>
                          <a:ea typeface="宋体"/>
                        </a:rPr>
                        <a:t>0</a:t>
                      </a:r>
                      <a:endParaRPr lang="zh-CN" sz="1400" kern="100">
                        <a:effectLst/>
                        <a:latin typeface="Times New Roman"/>
                        <a:ea typeface="宋体"/>
                      </a:endParaRPr>
                    </a:p>
                  </a:txBody>
                  <a:tcPr marL="52351" marR="523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effectLst/>
                          <a:latin typeface="Times New Roman"/>
                          <a:ea typeface="宋体"/>
                        </a:rPr>
                        <a:t>0</a:t>
                      </a:r>
                      <a:endParaRPr lang="zh-CN" sz="1400" kern="100" dirty="0">
                        <a:effectLst/>
                        <a:latin typeface="Times New Roman"/>
                        <a:ea typeface="宋体"/>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effectLst/>
                          <a:latin typeface="Times New Roman"/>
                          <a:ea typeface="宋体"/>
                        </a:rPr>
                        <a:t>0</a:t>
                      </a:r>
                      <a:endParaRPr lang="zh-CN" sz="1400" kern="100">
                        <a:effectLst/>
                        <a:latin typeface="Times New Roman"/>
                        <a:ea typeface="宋体"/>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effectLst/>
                          <a:latin typeface="Times New Roman"/>
                          <a:ea typeface="宋体"/>
                        </a:rPr>
                        <a:t>Short term power</a:t>
                      </a:r>
                      <a:endParaRPr lang="zh-CN" sz="1400" kern="100" dirty="0">
                        <a:effectLst/>
                        <a:latin typeface="Times New Roman"/>
                        <a:ea typeface="宋体"/>
                      </a:endParaRPr>
                    </a:p>
                  </a:txBody>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1119">
                <a:tc>
                  <a:txBody>
                    <a:bodyPr/>
                    <a:lstStyle/>
                    <a:p>
                      <a:pPr algn="ctr">
                        <a:spcAft>
                          <a:spcPts val="0"/>
                        </a:spcAft>
                      </a:pPr>
                      <a:r>
                        <a:rPr lang="en-US" sz="1400" kern="0">
                          <a:effectLst/>
                          <a:latin typeface="Times New Roman"/>
                          <a:ea typeface="宋体"/>
                        </a:rPr>
                        <a:t>Antenna</a:t>
                      </a:r>
                      <a:endParaRPr lang="zh-CN" sz="1400" kern="100">
                        <a:effectLst/>
                        <a:latin typeface="Times New Roman"/>
                        <a:ea typeface="宋体"/>
                      </a:endParaRP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effectLst/>
                          <a:latin typeface="Times New Roman"/>
                          <a:ea typeface="宋体"/>
                        </a:rPr>
                        <a:t>1</a:t>
                      </a:r>
                      <a:r>
                        <a:rPr lang="zh-CN" sz="1400" kern="100">
                          <a:effectLst/>
                          <a:latin typeface="Times New Roman"/>
                          <a:ea typeface="宋体"/>
                        </a:rPr>
                        <a:t>＋</a:t>
                      </a:r>
                      <a:r>
                        <a:rPr lang="en-US" sz="1400" kern="100">
                          <a:effectLst/>
                          <a:latin typeface="Times New Roman"/>
                          <a:ea typeface="宋体"/>
                        </a:rPr>
                        <a:t>1(R)</a:t>
                      </a:r>
                      <a:endParaRPr lang="zh-CN" sz="1400" kern="100">
                        <a:effectLst/>
                        <a:latin typeface="Times New Roman"/>
                        <a:ea typeface="宋体"/>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effectLst/>
                          <a:latin typeface="Times New Roman"/>
                          <a:ea typeface="宋体"/>
                        </a:rPr>
                        <a:t>5</a:t>
                      </a:r>
                      <a:endParaRPr lang="zh-CN" sz="1400" kern="100">
                        <a:effectLst/>
                        <a:latin typeface="Times New Roman"/>
                        <a:ea typeface="宋体"/>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effectLst/>
                          <a:latin typeface="Times New Roman"/>
                          <a:ea typeface="宋体"/>
                        </a:rPr>
                        <a:t>0</a:t>
                      </a:r>
                      <a:endParaRPr lang="zh-CN" sz="1400" kern="100">
                        <a:effectLst/>
                        <a:latin typeface="Times New Roman"/>
                        <a:ea typeface="宋体"/>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effectLst/>
                          <a:latin typeface="Times New Roman"/>
                          <a:ea typeface="宋体"/>
                        </a:rPr>
                        <a:t>0</a:t>
                      </a:r>
                      <a:endParaRPr lang="zh-CN" sz="1400" kern="100">
                        <a:effectLst/>
                        <a:latin typeface="Times New Roman"/>
                        <a:ea typeface="宋体"/>
                      </a:endParaRPr>
                    </a:p>
                  </a:txBody>
                  <a:tcPr marL="52351" marR="523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effectLst/>
                          <a:latin typeface="Times New Roman"/>
                          <a:ea typeface="宋体"/>
                        </a:rPr>
                        <a:t>0</a:t>
                      </a:r>
                      <a:endParaRPr lang="zh-CN" sz="1400" kern="100">
                        <a:effectLst/>
                        <a:latin typeface="Times New Roman"/>
                        <a:ea typeface="宋体"/>
                      </a:endParaRPr>
                    </a:p>
                  </a:txBody>
                  <a:tcPr marL="52351" marR="523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effectLst/>
                          <a:latin typeface="Times New Roman"/>
                          <a:ea typeface="宋体"/>
                        </a:rPr>
                        <a:t>0</a:t>
                      </a:r>
                      <a:endParaRPr lang="zh-CN" sz="1400" kern="100">
                        <a:effectLst/>
                        <a:latin typeface="Times New Roman"/>
                        <a:ea typeface="宋体"/>
                      </a:endParaRPr>
                    </a:p>
                  </a:txBody>
                  <a:tcPr marL="52351" marR="523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effectLst/>
                          <a:latin typeface="Times New Roman"/>
                          <a:ea typeface="宋体"/>
                        </a:rPr>
                        <a:t>0</a:t>
                      </a:r>
                      <a:endParaRPr lang="zh-CN" sz="1400" kern="100" dirty="0">
                        <a:effectLst/>
                        <a:latin typeface="Times New Roman"/>
                        <a:ea typeface="宋体"/>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dirty="0">
                          <a:effectLst/>
                          <a:latin typeface="Times New Roman"/>
                          <a:ea typeface="宋体"/>
                        </a:rPr>
                        <a:t>0</a:t>
                      </a:r>
                      <a:endParaRPr lang="zh-CN" sz="1400" kern="100" dirty="0">
                        <a:effectLst/>
                        <a:latin typeface="Times New Roman"/>
                        <a:ea typeface="宋体"/>
                      </a:endParaRPr>
                    </a:p>
                  </a:txBody>
                  <a:tcPr marL="0" marR="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spcAft>
                          <a:spcPts val="0"/>
                        </a:spcAft>
                      </a:pPr>
                      <a:r>
                        <a:rPr lang="en-US" sz="1400" kern="100">
                          <a:effectLst/>
                          <a:latin typeface="Times New Roman"/>
                          <a:ea typeface="宋体"/>
                        </a:rPr>
                        <a:t>Short term power</a:t>
                      </a:r>
                      <a:endParaRPr lang="zh-CN" sz="1400" kern="100">
                        <a:effectLst/>
                        <a:latin typeface="Times New Roman"/>
                        <a:ea typeface="宋体"/>
                      </a:endParaRPr>
                    </a:p>
                  </a:txBody>
                  <a:tcPr marL="0" marR="0" marT="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r>
              <a:tr h="211119">
                <a:tc rowSpan="2">
                  <a:txBody>
                    <a:bodyPr/>
                    <a:lstStyle/>
                    <a:p>
                      <a:pPr algn="ctr">
                        <a:spcAft>
                          <a:spcPts val="0"/>
                        </a:spcAft>
                      </a:pPr>
                      <a:r>
                        <a:rPr lang="en-US" sz="1400" kern="100">
                          <a:effectLst/>
                          <a:latin typeface="Times New Roman"/>
                          <a:ea typeface="宋体"/>
                        </a:rPr>
                        <a:t>Requirement</a:t>
                      </a:r>
                      <a:endParaRPr lang="zh-CN" sz="1400" kern="100">
                        <a:effectLst/>
                        <a:latin typeface="Times New Roman"/>
                        <a:ea typeface="宋体"/>
                      </a:endParaRPr>
                    </a:p>
                  </a:txBody>
                  <a:tcPr marL="0" marR="0" marT="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gridSpan="9">
                  <a:txBody>
                    <a:bodyPr/>
                    <a:lstStyle/>
                    <a:p>
                      <a:pPr algn="ctr">
                        <a:spcAft>
                          <a:spcPts val="0"/>
                        </a:spcAft>
                      </a:pPr>
                      <a:r>
                        <a:rPr lang="en-US" sz="1400" kern="100" dirty="0" smtClean="0">
                          <a:effectLst/>
                          <a:latin typeface="Times New Roman"/>
                          <a:ea typeface="宋体"/>
                        </a:rPr>
                        <a:t>Long </a:t>
                      </a:r>
                      <a:r>
                        <a:rPr lang="en-US" sz="1400" kern="100" dirty="0">
                          <a:effectLst/>
                          <a:latin typeface="Times New Roman"/>
                          <a:ea typeface="宋体"/>
                        </a:rPr>
                        <a:t>term power≤8.8W(Average Power)</a:t>
                      </a:r>
                      <a:endParaRPr lang="zh-CN" sz="1400" kern="100" dirty="0">
                        <a:effectLst/>
                        <a:latin typeface="Times New Roman"/>
                        <a:ea typeface="宋体"/>
                      </a:endParaRPr>
                    </a:p>
                  </a:txBody>
                  <a:tcPr marL="52351" marR="52351"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pPr algn="ctr">
                        <a:spcAft>
                          <a:spcPts val="0"/>
                        </a:spcAft>
                      </a:pPr>
                      <a:endParaRPr lang="zh-CN" sz="1400" kern="100" dirty="0">
                        <a:effectLst/>
                        <a:latin typeface="Times New Roman"/>
                        <a:ea typeface="宋体"/>
                      </a:endParaRPr>
                    </a:p>
                  </a:txBody>
                  <a:tcPr marL="52351" marR="5235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r h="211119">
                <a:tc vMerge="1">
                  <a:txBody>
                    <a:bodyPr/>
                    <a:lstStyle/>
                    <a:p>
                      <a:endParaRPr lang="zh-CN" altLang="en-US"/>
                    </a:p>
                  </a:txBody>
                  <a:tcPr/>
                </a:tc>
                <a:tc gridSpan="9">
                  <a:txBody>
                    <a:bodyPr/>
                    <a:lstStyle/>
                    <a:p>
                      <a:pPr algn="ctr">
                        <a:spcAft>
                          <a:spcPts val="0"/>
                        </a:spcAft>
                      </a:pPr>
                      <a:r>
                        <a:rPr lang="en-US" sz="1400" kern="100" dirty="0" smtClean="0">
                          <a:effectLst/>
                          <a:latin typeface="Times New Roman"/>
                          <a:ea typeface="宋体"/>
                        </a:rPr>
                        <a:t>short </a:t>
                      </a:r>
                      <a:r>
                        <a:rPr lang="en-US" sz="1400" kern="100" dirty="0">
                          <a:effectLst/>
                          <a:latin typeface="Times New Roman"/>
                          <a:ea typeface="宋体"/>
                        </a:rPr>
                        <a:t>term power ≤20W</a:t>
                      </a:r>
                      <a:endParaRPr lang="zh-CN" sz="1400" kern="100" dirty="0">
                        <a:effectLst/>
                        <a:latin typeface="Times New Roman"/>
                        <a:ea typeface="宋体"/>
                      </a:endParaRPr>
                    </a:p>
                  </a:txBody>
                  <a:tcPr marL="52351" marR="52351" marT="0" marB="0">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hMerge="1">
                  <a:txBody>
                    <a:bodyPr/>
                    <a:lstStyle/>
                    <a:p>
                      <a:pPr algn="ctr">
                        <a:spcAft>
                          <a:spcPts val="0"/>
                        </a:spcAft>
                      </a:pPr>
                      <a:endParaRPr lang="zh-CN" sz="1400" kern="100" dirty="0">
                        <a:effectLst/>
                        <a:latin typeface="Times New Roman"/>
                        <a:ea typeface="宋体"/>
                      </a:endParaRPr>
                    </a:p>
                  </a:txBody>
                  <a:tcPr marL="52351" marR="52351"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c hMerge="1">
                  <a:txBody>
                    <a:bodyPr/>
                    <a:lstStyle/>
                    <a:p>
                      <a:endParaRPr lang="zh-CN" altLang="en-US"/>
                    </a:p>
                  </a:txBody>
                  <a:tcPr/>
                </a:tc>
              </a:tr>
            </a:tbl>
          </a:graphicData>
        </a:graphic>
      </p:graphicFrame>
      <p:sp>
        <p:nvSpPr>
          <p:cNvPr id="9" name="Rectangle 75"/>
          <p:cNvSpPr>
            <a:spLocks noChangeArrowheads="1"/>
          </p:cNvSpPr>
          <p:nvPr/>
        </p:nvSpPr>
        <p:spPr bwMode="auto">
          <a:xfrm>
            <a:off x="454025" y="2819400"/>
            <a:ext cx="9144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zh-CN" altLang="zh-CN" sz="1800" b="0" i="0" u="none" strike="noStrike" cap="none" normalizeH="0" baseline="0" smtClean="0">
              <a:ln>
                <a:noFill/>
              </a:ln>
              <a:solidFill>
                <a:schemeClr val="tx1"/>
              </a:solidFill>
              <a:effectLst/>
              <a:latin typeface="Arial" pitchFamily="34" charset="0"/>
              <a:ea typeface="宋体" pitchFamily="2" charset="-122"/>
              <a:cs typeface="宋体" pitchFamily="2" charset="-122"/>
            </a:endParaRPr>
          </a:p>
        </p:txBody>
      </p:sp>
    </p:spTree>
    <p:extLst>
      <p:ext uri="{BB962C8B-B14F-4D97-AF65-F5344CB8AC3E}">
        <p14:creationId xmlns:p14="http://schemas.microsoft.com/office/powerpoint/2010/main" xmlns="" val="133567964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20</a:t>
            </a:fld>
            <a:r>
              <a:rPr lang="zh-CN" altLang="en-US" smtClean="0"/>
              <a:t> </a:t>
            </a:r>
            <a:endParaRPr lang="zh-CN" altLang="en-US" dirty="0">
              <a:latin typeface="微软雅黑" pitchFamily="34" charset="-122"/>
              <a:ea typeface="微软雅黑" pitchFamily="34" charset="-122"/>
            </a:endParaRPr>
          </a:p>
        </p:txBody>
      </p:sp>
      <p:sp>
        <p:nvSpPr>
          <p:cNvPr id="6" name="矩形 5"/>
          <p:cNvSpPr/>
          <p:nvPr/>
        </p:nvSpPr>
        <p:spPr>
          <a:xfrm>
            <a:off x="395536" y="116632"/>
            <a:ext cx="7992888" cy="954107"/>
          </a:xfrm>
          <a:prstGeom prst="rect">
            <a:avLst/>
          </a:prstGeom>
        </p:spPr>
        <p:txBody>
          <a:bodyPr wrap="square">
            <a:spAutoFit/>
          </a:bodyPr>
          <a:lstStyle/>
          <a:p>
            <a:pPr lvl="1" fontAlgn="base">
              <a:spcBef>
                <a:spcPts val="1560"/>
              </a:spcBef>
              <a:buSzPts val="1400"/>
              <a:tabLst>
                <a:tab pos="274320" algn="l"/>
              </a:tabLst>
            </a:pPr>
            <a:r>
              <a:rPr lang="en-US" altLang="zh-CN" sz="2400" dirty="0" smtClean="0">
                <a:solidFill>
                  <a:schemeClr val="bg1"/>
                </a:solidFill>
                <a:latin typeface="微软雅黑" panose="020B0503020204020204" pitchFamily="34" charset="-122"/>
                <a:ea typeface="微软雅黑" panose="020B0503020204020204" pitchFamily="34" charset="-122"/>
              </a:rPr>
              <a:t>9 </a:t>
            </a:r>
            <a:r>
              <a:rPr lang="en-US" altLang="zh-CN" sz="2400" dirty="0">
                <a:solidFill>
                  <a:schemeClr val="bg1"/>
                </a:solidFill>
                <a:latin typeface="微软雅黑" panose="020B0503020204020204" pitchFamily="34" charset="-122"/>
                <a:ea typeface="微软雅黑" panose="020B0503020204020204" pitchFamily="34" charset="-122"/>
              </a:rPr>
              <a:t>BUDGET ANALYSIS</a:t>
            </a:r>
            <a:endParaRPr lang="zh-CN" altLang="zh-CN" sz="2400" dirty="0">
              <a:solidFill>
                <a:schemeClr val="bg1"/>
              </a:solidFill>
              <a:latin typeface="微软雅黑" panose="020B0503020204020204" pitchFamily="34" charset="-122"/>
              <a:ea typeface="微软雅黑" panose="020B0503020204020204" pitchFamily="34" charset="-122"/>
            </a:endParaRPr>
          </a:p>
          <a:p>
            <a:pPr lvl="1" fontAlgn="base"/>
            <a:r>
              <a:rPr lang="en-US" altLang="zh-CN" sz="3200" dirty="0" smtClean="0">
                <a:solidFill>
                  <a:schemeClr val="bg1"/>
                </a:solidFill>
              </a:rPr>
              <a:t>                                  ------ </a:t>
            </a:r>
            <a:r>
              <a:rPr lang="en-US" altLang="zh-CN" sz="2000" kern="100" dirty="0">
                <a:solidFill>
                  <a:schemeClr val="bg1"/>
                </a:solidFill>
                <a:latin typeface="Times New Roman"/>
              </a:rPr>
              <a:t>Specification Compliance </a:t>
            </a:r>
            <a:endParaRPr lang="zh-CN" altLang="zh-CN" sz="2000" dirty="0">
              <a:solidFill>
                <a:schemeClr val="bg1"/>
              </a:solidFill>
            </a:endParaRPr>
          </a:p>
        </p:txBody>
      </p:sp>
      <p:graphicFrame>
        <p:nvGraphicFramePr>
          <p:cNvPr id="2" name="表格 1"/>
          <p:cNvGraphicFramePr>
            <a:graphicFrameLocks noGrp="1"/>
          </p:cNvGraphicFramePr>
          <p:nvPr>
            <p:extLst>
              <p:ext uri="{D42A27DB-BD31-4B8C-83A1-F6EECF244321}">
                <p14:modId xmlns:p14="http://schemas.microsoft.com/office/powerpoint/2010/main" xmlns="" val="3422838155"/>
              </p:ext>
            </p:extLst>
          </p:nvPr>
        </p:nvGraphicFramePr>
        <p:xfrm>
          <a:off x="539552" y="1844824"/>
          <a:ext cx="8064895" cy="3994761"/>
        </p:xfrm>
        <a:graphic>
          <a:graphicData uri="http://schemas.openxmlformats.org/drawingml/2006/table">
            <a:tbl>
              <a:tblPr firstRow="1" bandRow="1">
                <a:tableStyleId>{5940675A-B579-460E-94D1-54222C63F5DA}</a:tableStyleId>
              </a:tblPr>
              <a:tblGrid>
                <a:gridCol w="1612979"/>
                <a:gridCol w="1612979"/>
                <a:gridCol w="1612979"/>
                <a:gridCol w="1612979"/>
                <a:gridCol w="1612979"/>
              </a:tblGrid>
              <a:tr h="600067">
                <a:tc>
                  <a:txBody>
                    <a:bodyPr/>
                    <a:lstStyle/>
                    <a:p>
                      <a:pPr algn="ctr"/>
                      <a:r>
                        <a:rPr lang="en-US" altLang="zh-CN" dirty="0" smtClean="0">
                          <a:latin typeface="Times New Roman" pitchFamily="18" charset="0"/>
                          <a:cs typeface="Times New Roman" pitchFamily="18" charset="0"/>
                        </a:rPr>
                        <a:t>Content</a:t>
                      </a:r>
                      <a:endParaRPr lang="zh-CN" altLang="en-US" dirty="0">
                        <a:latin typeface="Times New Roman" pitchFamily="18" charset="0"/>
                        <a:cs typeface="Times New Roman" pitchFamily="18" charset="0"/>
                      </a:endParaRPr>
                    </a:p>
                  </a:txBody>
                  <a:tcPr/>
                </a:tc>
                <a:tc>
                  <a:txBody>
                    <a:bodyPr/>
                    <a:lstStyle/>
                    <a:p>
                      <a:pPr algn="ctr"/>
                      <a:r>
                        <a:rPr lang="en-US" altLang="zh-CN" dirty="0" smtClean="0">
                          <a:latin typeface="Times New Roman" pitchFamily="18" charset="0"/>
                          <a:cs typeface="Times New Roman" pitchFamily="18" charset="0"/>
                        </a:rPr>
                        <a:t>Technical</a:t>
                      </a:r>
                      <a:r>
                        <a:rPr lang="en-US" altLang="zh-CN" baseline="0" dirty="0" smtClean="0">
                          <a:latin typeface="Times New Roman" pitchFamily="18" charset="0"/>
                          <a:cs typeface="Times New Roman" pitchFamily="18" charset="0"/>
                        </a:rPr>
                        <a:t> Requirements</a:t>
                      </a:r>
                      <a:endParaRPr lang="zh-CN" altLang="en-US" dirty="0">
                        <a:latin typeface="Times New Roman" pitchFamily="18" charset="0"/>
                        <a:cs typeface="Times New Roman" pitchFamily="18" charset="0"/>
                      </a:endParaRPr>
                    </a:p>
                  </a:txBody>
                  <a:tcPr/>
                </a:tc>
                <a:tc>
                  <a:txBody>
                    <a:bodyPr/>
                    <a:lstStyle/>
                    <a:p>
                      <a:pPr algn="ctr"/>
                      <a:r>
                        <a:rPr lang="en-US" altLang="zh-CN" dirty="0" smtClean="0">
                          <a:latin typeface="Times New Roman" pitchFamily="18" charset="0"/>
                          <a:cs typeface="Times New Roman" pitchFamily="18" charset="0"/>
                        </a:rPr>
                        <a:t>Thermal Design</a:t>
                      </a:r>
                      <a:endParaRPr lang="zh-CN" altLang="en-US" dirty="0">
                        <a:latin typeface="Times New Roman" pitchFamily="18" charset="0"/>
                        <a:cs typeface="Times New Roman" pitchFamily="18" charset="0"/>
                      </a:endParaRPr>
                    </a:p>
                  </a:txBody>
                  <a:tcPr/>
                </a:tc>
                <a:tc>
                  <a:txBody>
                    <a:bodyPr/>
                    <a:lstStyle/>
                    <a:p>
                      <a:pPr algn="ctr"/>
                      <a:r>
                        <a:rPr lang="en-US" altLang="zh-CN" dirty="0" smtClean="0">
                          <a:latin typeface="Times New Roman" pitchFamily="18" charset="0"/>
                          <a:cs typeface="Times New Roman" pitchFamily="18" charset="0"/>
                        </a:rPr>
                        <a:t>Compliance</a:t>
                      </a:r>
                      <a:endParaRPr lang="zh-CN" altLang="en-US" dirty="0">
                        <a:latin typeface="Times New Roman" pitchFamily="18" charset="0"/>
                        <a:cs typeface="Times New Roman" pitchFamily="18" charset="0"/>
                      </a:endParaRPr>
                    </a:p>
                  </a:txBody>
                  <a:tcPr/>
                </a:tc>
                <a:tc>
                  <a:txBody>
                    <a:bodyPr/>
                    <a:lstStyle/>
                    <a:p>
                      <a:pPr algn="ctr"/>
                      <a:r>
                        <a:rPr lang="en-US" altLang="zh-CN" dirty="0" smtClean="0">
                          <a:latin typeface="Times New Roman" pitchFamily="18" charset="0"/>
                          <a:cs typeface="Times New Roman" pitchFamily="18" charset="0"/>
                        </a:rPr>
                        <a:t>Remark</a:t>
                      </a:r>
                      <a:endParaRPr lang="zh-CN" altLang="en-US" dirty="0">
                        <a:latin typeface="Times New Roman" pitchFamily="18" charset="0"/>
                        <a:cs typeface="Times New Roman" pitchFamily="18" charset="0"/>
                      </a:endParaRPr>
                    </a:p>
                  </a:txBody>
                  <a:tcPr/>
                </a:tc>
              </a:tr>
              <a:tr h="600067">
                <a:tc>
                  <a:txBody>
                    <a:bodyPr/>
                    <a:lstStyle/>
                    <a:p>
                      <a:pPr algn="ctr"/>
                      <a:r>
                        <a:rPr lang="en-US" altLang="zh-CN" dirty="0" smtClean="0">
                          <a:latin typeface="Times New Roman" pitchFamily="18" charset="0"/>
                          <a:cs typeface="Times New Roman" pitchFamily="18" charset="0"/>
                        </a:rPr>
                        <a:t>Component Operational</a:t>
                      </a:r>
                      <a:r>
                        <a:rPr lang="en-US" altLang="zh-CN" baseline="0" dirty="0" smtClean="0">
                          <a:latin typeface="Times New Roman" pitchFamily="18" charset="0"/>
                          <a:cs typeface="Times New Roman" pitchFamily="18" charset="0"/>
                        </a:rPr>
                        <a:t> Temperature</a:t>
                      </a:r>
                      <a:endParaRPr lang="zh-CN" altLang="en-US" dirty="0">
                        <a:latin typeface="Times New Roman" pitchFamily="18" charset="0"/>
                        <a:cs typeface="Times New Roman" pitchFamily="18" charset="0"/>
                      </a:endParaRPr>
                    </a:p>
                  </a:txBody>
                  <a:tcPr/>
                </a:tc>
                <a:tc>
                  <a:txBody>
                    <a:bodyPr/>
                    <a:lstStyle/>
                    <a:p>
                      <a:pPr algn="ctr"/>
                      <a:r>
                        <a:rPr lang="en-US" altLang="zh-CN" dirty="0" smtClean="0">
                          <a:latin typeface="Times New Roman" pitchFamily="18" charset="0"/>
                          <a:cs typeface="Times New Roman" pitchFamily="18" charset="0"/>
                        </a:rPr>
                        <a:t>According</a:t>
                      </a:r>
                      <a:r>
                        <a:rPr lang="en-US" altLang="zh-CN" baseline="0" dirty="0" smtClean="0">
                          <a:latin typeface="Times New Roman" pitchFamily="18" charset="0"/>
                          <a:cs typeface="Times New Roman" pitchFamily="18" charset="0"/>
                        </a:rPr>
                        <a:t> to the requirement</a:t>
                      </a:r>
                      <a:endParaRPr lang="zh-CN" altLang="en-US" dirty="0">
                        <a:latin typeface="Times New Roman" pitchFamily="18" charset="0"/>
                        <a:cs typeface="Times New Roman" pitchFamily="18" charset="0"/>
                      </a:endParaRPr>
                    </a:p>
                  </a:txBody>
                  <a:tcPr/>
                </a:tc>
                <a:tc>
                  <a:txBody>
                    <a:bodyPr/>
                    <a:lstStyle/>
                    <a:p>
                      <a:pPr algn="ctr"/>
                      <a:r>
                        <a:rPr lang="en-US" altLang="zh-CN" dirty="0" smtClean="0">
                          <a:latin typeface="Times New Roman" pitchFamily="18" charset="0"/>
                          <a:cs typeface="Times New Roman" pitchFamily="18" charset="0"/>
                        </a:rPr>
                        <a:t>Shown in Tab 7</a:t>
                      </a:r>
                      <a:endParaRPr lang="zh-CN" altLang="en-US" dirty="0">
                        <a:latin typeface="Times New Roman" pitchFamily="18" charset="0"/>
                        <a:cs typeface="Times New Roman" pitchFamily="18" charset="0"/>
                      </a:endParaRPr>
                    </a:p>
                  </a:txBody>
                  <a:tcPr/>
                </a:tc>
                <a:tc>
                  <a:txBody>
                    <a:bodyPr/>
                    <a:lstStyle/>
                    <a:p>
                      <a:pPr algn="ctr"/>
                      <a:r>
                        <a:rPr lang="en-US" altLang="zh-CN" dirty="0" smtClean="0">
                          <a:latin typeface="Times New Roman" pitchFamily="18" charset="0"/>
                          <a:cs typeface="Times New Roman" pitchFamily="18" charset="0"/>
                        </a:rPr>
                        <a:t>C</a:t>
                      </a:r>
                      <a:endParaRPr lang="zh-CN" altLang="en-US" dirty="0">
                        <a:latin typeface="Times New Roman" pitchFamily="18" charset="0"/>
                        <a:cs typeface="Times New Roman" pitchFamily="18" charset="0"/>
                      </a:endParaRPr>
                    </a:p>
                  </a:txBody>
                  <a:tcPr/>
                </a:tc>
                <a:tc>
                  <a:txBody>
                    <a:bodyPr/>
                    <a:lstStyle/>
                    <a:p>
                      <a:pPr algn="ctr"/>
                      <a:r>
                        <a:rPr lang="en-US" altLang="zh-CN" dirty="0" smtClean="0">
                          <a:latin typeface="Times New Roman" pitchFamily="18" charset="0"/>
                          <a:cs typeface="Times New Roman" pitchFamily="18" charset="0"/>
                        </a:rPr>
                        <a:t>Analysis</a:t>
                      </a:r>
                      <a:endParaRPr lang="zh-CN" altLang="en-US" dirty="0">
                        <a:latin typeface="Times New Roman" pitchFamily="18" charset="0"/>
                        <a:cs typeface="Times New Roman" pitchFamily="18" charset="0"/>
                      </a:endParaRPr>
                    </a:p>
                  </a:txBody>
                  <a:tcPr/>
                </a:tc>
              </a:tr>
              <a:tr h="600067">
                <a:tc>
                  <a:txBody>
                    <a:bodyPr/>
                    <a:lstStyle/>
                    <a:p>
                      <a:pPr algn="ctr"/>
                      <a:r>
                        <a:rPr lang="en-US" altLang="zh-CN" dirty="0" smtClean="0">
                          <a:latin typeface="Times New Roman" pitchFamily="18" charset="0"/>
                          <a:cs typeface="Times New Roman" pitchFamily="18" charset="0"/>
                        </a:rPr>
                        <a:t>weight</a:t>
                      </a:r>
                      <a:endParaRPr lang="zh-CN" altLang="en-US" dirty="0">
                        <a:latin typeface="Times New Roman" pitchFamily="18" charset="0"/>
                        <a:cs typeface="Times New Roman" pitchFamily="18" charset="0"/>
                      </a:endParaRPr>
                    </a:p>
                  </a:txBody>
                  <a:tcPr/>
                </a:tc>
                <a:tc>
                  <a:txBody>
                    <a:bodyPr/>
                    <a:lstStyle/>
                    <a:p>
                      <a:pPr algn="ctr"/>
                      <a:r>
                        <a:rPr lang="zh-CN" altLang="en-US" dirty="0" smtClean="0">
                          <a:latin typeface="Times New Roman" pitchFamily="18" charset="0"/>
                          <a:cs typeface="Times New Roman" pitchFamily="18" charset="0"/>
                        </a:rPr>
                        <a:t>≤</a:t>
                      </a:r>
                      <a:r>
                        <a:rPr lang="en-US" altLang="zh-CN" dirty="0" smtClean="0">
                          <a:latin typeface="Times New Roman" pitchFamily="18" charset="0"/>
                          <a:cs typeface="Times New Roman" pitchFamily="18" charset="0"/>
                        </a:rPr>
                        <a:t>3.5Kg</a:t>
                      </a:r>
                      <a:endParaRPr lang="zh-CN" altLang="en-US" dirty="0">
                        <a:latin typeface="Times New Roman" pitchFamily="18" charset="0"/>
                        <a:cs typeface="Times New Roman" pitchFamily="18" charset="0"/>
                      </a:endParaRPr>
                    </a:p>
                  </a:txBody>
                  <a:tcPr/>
                </a:tc>
                <a:tc>
                  <a:txBody>
                    <a:bodyPr/>
                    <a:lstStyle/>
                    <a:p>
                      <a:pPr algn="ctr"/>
                      <a:r>
                        <a:rPr lang="en-US" altLang="zh-CN" dirty="0" smtClean="0">
                          <a:latin typeface="Times New Roman" pitchFamily="18" charset="0"/>
                          <a:cs typeface="Times New Roman" pitchFamily="18" charset="0"/>
                        </a:rPr>
                        <a:t>3.4Kg</a:t>
                      </a:r>
                      <a:endParaRPr lang="zh-CN" altLang="en-US" dirty="0">
                        <a:latin typeface="Times New Roman" pitchFamily="18" charset="0"/>
                        <a:cs typeface="Times New Roman" pitchFamily="18" charset="0"/>
                      </a:endParaRPr>
                    </a:p>
                  </a:txBody>
                  <a:tcPr/>
                </a:tc>
                <a:tc>
                  <a:txBody>
                    <a:bodyPr/>
                    <a:lstStyle/>
                    <a:p>
                      <a:pPr algn="ctr"/>
                      <a:r>
                        <a:rPr lang="en-US" altLang="zh-CN" smtClean="0">
                          <a:latin typeface="Times New Roman" pitchFamily="18" charset="0"/>
                          <a:cs typeface="Times New Roman" pitchFamily="18" charset="0"/>
                        </a:rPr>
                        <a:t>C</a:t>
                      </a:r>
                      <a:endParaRPr lang="zh-CN" altLang="en-US" dirty="0">
                        <a:latin typeface="Times New Roman" pitchFamily="18" charset="0"/>
                        <a:cs typeface="Times New Roman" pitchFamily="18" charset="0"/>
                      </a:endParaRPr>
                    </a:p>
                  </a:txBody>
                  <a:tcPr/>
                </a:tc>
                <a:tc>
                  <a:txBody>
                    <a:bodyPr/>
                    <a:lstStyle/>
                    <a:p>
                      <a:pPr algn="ctr"/>
                      <a:r>
                        <a:rPr lang="en-US" altLang="zh-CN" dirty="0" smtClean="0">
                          <a:latin typeface="Times New Roman" pitchFamily="18" charset="0"/>
                          <a:cs typeface="Times New Roman" pitchFamily="18" charset="0"/>
                        </a:rPr>
                        <a:t>Budget</a:t>
                      </a:r>
                      <a:endParaRPr lang="zh-CN" altLang="en-US" dirty="0">
                        <a:latin typeface="Times New Roman" pitchFamily="18" charset="0"/>
                        <a:cs typeface="Times New Roman" pitchFamily="18" charset="0"/>
                      </a:endParaRPr>
                    </a:p>
                  </a:txBody>
                  <a:tcPr/>
                </a:tc>
              </a:tr>
              <a:tr h="600067">
                <a:tc>
                  <a:txBody>
                    <a:bodyPr/>
                    <a:lstStyle/>
                    <a:p>
                      <a:pPr algn="ctr"/>
                      <a:r>
                        <a:rPr lang="en-US" altLang="zh-CN" dirty="0" smtClean="0">
                          <a:latin typeface="Times New Roman" pitchFamily="18" charset="0"/>
                          <a:cs typeface="Times New Roman" pitchFamily="18" charset="0"/>
                        </a:rPr>
                        <a:t>Heat Power Consumption</a:t>
                      </a:r>
                      <a:endParaRPr lang="zh-CN" altLang="en-US" dirty="0">
                        <a:latin typeface="Times New Roman" pitchFamily="18" charset="0"/>
                        <a:cs typeface="Times New Roman"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dirty="0" smtClean="0">
                          <a:latin typeface="Times New Roman" pitchFamily="18" charset="0"/>
                          <a:cs typeface="Times New Roman" pitchFamily="18" charset="0"/>
                        </a:rPr>
                        <a:t>≤</a:t>
                      </a:r>
                      <a:r>
                        <a:rPr lang="en-US" altLang="zh-CN" dirty="0" smtClean="0">
                          <a:latin typeface="Times New Roman" pitchFamily="18" charset="0"/>
                          <a:cs typeface="Times New Roman" pitchFamily="18" charset="0"/>
                        </a:rPr>
                        <a:t>20W</a:t>
                      </a:r>
                      <a:endParaRPr lang="zh-CN" altLang="en-US" dirty="0" smtClean="0">
                        <a:latin typeface="Times New Roman" pitchFamily="18" charset="0"/>
                        <a:cs typeface="Times New Roman" pitchFamily="18" charset="0"/>
                      </a:endParaRPr>
                    </a:p>
                    <a:p>
                      <a:pPr algn="ctr"/>
                      <a:endParaRPr lang="zh-CN" altLang="en-US" dirty="0">
                        <a:latin typeface="Times New Roman" pitchFamily="18" charset="0"/>
                        <a:cs typeface="Times New Roman" pitchFamily="18" charset="0"/>
                      </a:endParaRP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dirty="0" smtClean="0">
                          <a:latin typeface="Times New Roman" pitchFamily="18" charset="0"/>
                          <a:cs typeface="Times New Roman" pitchFamily="18" charset="0"/>
                        </a:rPr>
                        <a:t>≤</a:t>
                      </a:r>
                      <a:r>
                        <a:rPr lang="en-US" altLang="zh-CN" dirty="0" smtClean="0">
                          <a:latin typeface="Times New Roman" pitchFamily="18" charset="0"/>
                          <a:cs typeface="Times New Roman" pitchFamily="18" charset="0"/>
                        </a:rPr>
                        <a:t>20W</a:t>
                      </a:r>
                      <a:endParaRPr lang="zh-CN" altLang="en-US" dirty="0" smtClean="0">
                        <a:latin typeface="Times New Roman" pitchFamily="18" charset="0"/>
                        <a:cs typeface="Times New Roman" pitchFamily="18" charset="0"/>
                      </a:endParaRPr>
                    </a:p>
                    <a:p>
                      <a:pPr algn="ctr"/>
                      <a:endParaRPr lang="zh-CN" altLang="en-US" dirty="0">
                        <a:latin typeface="Times New Roman" pitchFamily="18" charset="0"/>
                        <a:cs typeface="Times New Roman" pitchFamily="18" charset="0"/>
                      </a:endParaRPr>
                    </a:p>
                  </a:txBody>
                  <a:tcPr/>
                </a:tc>
                <a:tc>
                  <a:txBody>
                    <a:bodyPr/>
                    <a:lstStyle/>
                    <a:p>
                      <a:pPr algn="ctr"/>
                      <a:r>
                        <a:rPr lang="en-US" altLang="zh-CN" smtClean="0">
                          <a:latin typeface="Times New Roman" pitchFamily="18" charset="0"/>
                          <a:cs typeface="Times New Roman" pitchFamily="18" charset="0"/>
                        </a:rPr>
                        <a:t>C</a:t>
                      </a:r>
                      <a:endParaRPr lang="zh-CN" altLang="en-US" dirty="0">
                        <a:latin typeface="Times New Roman" pitchFamily="18" charset="0"/>
                        <a:cs typeface="Times New Roman" pitchFamily="18" charset="0"/>
                      </a:endParaRPr>
                    </a:p>
                  </a:txBody>
                  <a:tcPr/>
                </a:tc>
                <a:tc>
                  <a:txBody>
                    <a:bodyPr/>
                    <a:lstStyle/>
                    <a:p>
                      <a:pPr algn="ctr"/>
                      <a:r>
                        <a:rPr lang="en-US" altLang="zh-CN" smtClean="0">
                          <a:latin typeface="Times New Roman" pitchFamily="18" charset="0"/>
                          <a:cs typeface="Times New Roman" pitchFamily="18" charset="0"/>
                        </a:rPr>
                        <a:t>Analysis</a:t>
                      </a:r>
                      <a:endParaRPr lang="zh-CN" altLang="en-US" dirty="0">
                        <a:latin typeface="Times New Roman" pitchFamily="18" charset="0"/>
                        <a:cs typeface="Times New Roman" pitchFamily="18" charset="0"/>
                      </a:endParaRPr>
                    </a:p>
                  </a:txBody>
                  <a:tcPr/>
                </a:tc>
              </a:tr>
              <a:tr h="600067">
                <a:tc>
                  <a:txBody>
                    <a:bodyPr/>
                    <a:lstStyle/>
                    <a:p>
                      <a:pPr algn="ctr"/>
                      <a:r>
                        <a:rPr lang="en-US" altLang="zh-CN" dirty="0" smtClean="0">
                          <a:latin typeface="Times New Roman" pitchFamily="18" charset="0"/>
                          <a:cs typeface="Times New Roman" pitchFamily="18" charset="0"/>
                        </a:rPr>
                        <a:t>Reliability</a:t>
                      </a:r>
                      <a:endParaRPr lang="zh-CN" altLang="en-US" dirty="0">
                        <a:latin typeface="Times New Roman" pitchFamily="18" charset="0"/>
                        <a:cs typeface="Times New Roman" pitchFamily="18" charset="0"/>
                      </a:endParaRPr>
                    </a:p>
                  </a:txBody>
                  <a:tcPr/>
                </a:tc>
                <a:tc>
                  <a:txBody>
                    <a:bodyPr/>
                    <a:lstStyle/>
                    <a:p>
                      <a:pPr algn="ctr"/>
                      <a:r>
                        <a:rPr lang="zh-CN" altLang="en-US" dirty="0" smtClean="0">
                          <a:latin typeface="Times New Roman" pitchFamily="18" charset="0"/>
                          <a:cs typeface="Times New Roman" pitchFamily="18" charset="0"/>
                        </a:rPr>
                        <a:t>≥</a:t>
                      </a:r>
                      <a:r>
                        <a:rPr lang="en-US" altLang="zh-CN" dirty="0" smtClean="0">
                          <a:latin typeface="Times New Roman" pitchFamily="18" charset="0"/>
                          <a:cs typeface="Times New Roman" pitchFamily="18" charset="0"/>
                        </a:rPr>
                        <a:t>0.995</a:t>
                      </a:r>
                      <a:endParaRPr lang="zh-CN" altLang="en-US" dirty="0">
                        <a:latin typeface="Times New Roman" pitchFamily="18" charset="0"/>
                        <a:cs typeface="Times New Roman" pitchFamily="18" charset="0"/>
                      </a:endParaRPr>
                    </a:p>
                  </a:txBody>
                  <a:tcPr/>
                </a:tc>
                <a:tc>
                  <a:txBody>
                    <a:bodyPr/>
                    <a:lstStyle/>
                    <a:p>
                      <a:pPr algn="ctr"/>
                      <a:r>
                        <a:rPr lang="en-US" altLang="zh-CN" dirty="0" smtClean="0">
                          <a:latin typeface="Times New Roman" pitchFamily="18" charset="0"/>
                          <a:cs typeface="Times New Roman" pitchFamily="18" charset="0"/>
                        </a:rPr>
                        <a:t>0.99522</a:t>
                      </a:r>
                      <a:endParaRPr lang="zh-CN" altLang="en-US" dirty="0">
                        <a:latin typeface="Times New Roman" pitchFamily="18" charset="0"/>
                        <a:cs typeface="Times New Roman" pitchFamily="18" charset="0"/>
                      </a:endParaRPr>
                    </a:p>
                  </a:txBody>
                  <a:tcPr/>
                </a:tc>
                <a:tc>
                  <a:txBody>
                    <a:bodyPr/>
                    <a:lstStyle/>
                    <a:p>
                      <a:pPr algn="ctr"/>
                      <a:r>
                        <a:rPr lang="en-US" altLang="zh-CN" smtClean="0">
                          <a:latin typeface="Times New Roman" pitchFamily="18" charset="0"/>
                          <a:cs typeface="Times New Roman" pitchFamily="18" charset="0"/>
                        </a:rPr>
                        <a:t>C</a:t>
                      </a:r>
                      <a:endParaRPr lang="zh-CN" altLang="en-US" dirty="0">
                        <a:latin typeface="Times New Roman" pitchFamily="18" charset="0"/>
                        <a:cs typeface="Times New Roman" pitchFamily="18" charset="0"/>
                      </a:endParaRPr>
                    </a:p>
                  </a:txBody>
                  <a:tcPr/>
                </a:tc>
                <a:tc>
                  <a:txBody>
                    <a:bodyPr/>
                    <a:lstStyle/>
                    <a:p>
                      <a:pPr algn="ctr"/>
                      <a:r>
                        <a:rPr lang="en-US" altLang="zh-CN" dirty="0" smtClean="0">
                          <a:latin typeface="Times New Roman" pitchFamily="18" charset="0"/>
                          <a:cs typeface="Times New Roman" pitchFamily="18" charset="0"/>
                        </a:rPr>
                        <a:t>Analysis</a:t>
                      </a:r>
                      <a:endParaRPr lang="zh-CN" altLang="en-US" dirty="0">
                        <a:latin typeface="Times New Roman" pitchFamily="18" charset="0"/>
                        <a:cs typeface="Times New Roman" pitchFamily="18" charset="0"/>
                      </a:endParaRPr>
                    </a:p>
                  </a:txBody>
                  <a:tcPr/>
                </a:tc>
              </a:tr>
              <a:tr h="600067">
                <a:tc>
                  <a:txBody>
                    <a:bodyPr/>
                    <a:lstStyle/>
                    <a:p>
                      <a:pPr algn="ctr"/>
                      <a:r>
                        <a:rPr lang="en-US" altLang="zh-CN" dirty="0" smtClean="0">
                          <a:latin typeface="Times New Roman" pitchFamily="18" charset="0"/>
                          <a:cs typeface="Times New Roman" pitchFamily="18" charset="0"/>
                        </a:rPr>
                        <a:t>Design Life</a:t>
                      </a:r>
                      <a:endParaRPr lang="zh-CN" altLang="en-US" dirty="0">
                        <a:latin typeface="Times New Roman" pitchFamily="18" charset="0"/>
                        <a:cs typeface="Times New Roman" pitchFamily="18" charset="0"/>
                      </a:endParaRPr>
                    </a:p>
                  </a:txBody>
                  <a:tcPr/>
                </a:tc>
                <a:tc>
                  <a:txBody>
                    <a:bodyPr/>
                    <a:lstStyle/>
                    <a:p>
                      <a:pPr algn="ctr"/>
                      <a:r>
                        <a:rPr lang="en-US" altLang="zh-CN" dirty="0" smtClean="0">
                          <a:latin typeface="Times New Roman" pitchFamily="18" charset="0"/>
                          <a:cs typeface="Times New Roman" pitchFamily="18" charset="0"/>
                        </a:rPr>
                        <a:t>2</a:t>
                      </a:r>
                      <a:r>
                        <a:rPr lang="en-US" altLang="zh-CN" baseline="0" dirty="0" smtClean="0">
                          <a:latin typeface="Times New Roman" pitchFamily="18" charset="0"/>
                          <a:cs typeface="Times New Roman" pitchFamily="18" charset="0"/>
                        </a:rPr>
                        <a:t> years</a:t>
                      </a:r>
                      <a:endParaRPr lang="zh-CN" altLang="en-US" dirty="0">
                        <a:latin typeface="Times New Roman" pitchFamily="18" charset="0"/>
                        <a:cs typeface="Times New Roman" pitchFamily="18" charset="0"/>
                      </a:endParaRPr>
                    </a:p>
                  </a:txBody>
                  <a:tcPr/>
                </a:tc>
                <a:tc>
                  <a:txBody>
                    <a:bodyPr/>
                    <a:lstStyle/>
                    <a:p>
                      <a:pPr algn="ctr"/>
                      <a:r>
                        <a:rPr lang="en-US" altLang="zh-CN" dirty="0" smtClean="0">
                          <a:latin typeface="Times New Roman" pitchFamily="18" charset="0"/>
                          <a:cs typeface="Times New Roman" pitchFamily="18" charset="0"/>
                        </a:rPr>
                        <a:t>2.3years</a:t>
                      </a:r>
                      <a:endParaRPr lang="zh-CN" altLang="en-US" dirty="0">
                        <a:latin typeface="Times New Roman" pitchFamily="18" charset="0"/>
                        <a:cs typeface="Times New Roman" pitchFamily="18" charset="0"/>
                      </a:endParaRPr>
                    </a:p>
                  </a:txBody>
                  <a:tcPr/>
                </a:tc>
                <a:tc>
                  <a:txBody>
                    <a:bodyPr/>
                    <a:lstStyle/>
                    <a:p>
                      <a:pPr algn="ctr"/>
                      <a:r>
                        <a:rPr lang="en-US" altLang="zh-CN" dirty="0" smtClean="0">
                          <a:latin typeface="Times New Roman" pitchFamily="18" charset="0"/>
                          <a:cs typeface="Times New Roman" pitchFamily="18" charset="0"/>
                        </a:rPr>
                        <a:t>C</a:t>
                      </a:r>
                      <a:endParaRPr lang="zh-CN" altLang="en-US" dirty="0">
                        <a:latin typeface="Times New Roman" pitchFamily="18" charset="0"/>
                        <a:cs typeface="Times New Roman" pitchFamily="18" charset="0"/>
                      </a:endParaRPr>
                    </a:p>
                  </a:txBody>
                  <a:tcPr/>
                </a:tc>
                <a:tc>
                  <a:txBody>
                    <a:bodyPr/>
                    <a:lstStyle/>
                    <a:p>
                      <a:pPr algn="ctr"/>
                      <a:r>
                        <a:rPr lang="en-US" altLang="zh-CN" dirty="0" smtClean="0">
                          <a:latin typeface="Times New Roman" pitchFamily="18" charset="0"/>
                          <a:cs typeface="Times New Roman" pitchFamily="18" charset="0"/>
                        </a:rPr>
                        <a:t>Analysis</a:t>
                      </a:r>
                      <a:endParaRPr lang="zh-CN" altLang="en-US" dirty="0">
                        <a:latin typeface="Times New Roman" pitchFamily="18" charset="0"/>
                        <a:cs typeface="Times New Roman" pitchFamily="18" charset="0"/>
                      </a:endParaRPr>
                    </a:p>
                  </a:txBody>
                  <a:tcPr/>
                </a:tc>
              </a:tr>
            </a:tbl>
          </a:graphicData>
        </a:graphic>
      </p:graphicFrame>
    </p:spTree>
    <p:extLst>
      <p:ext uri="{BB962C8B-B14F-4D97-AF65-F5344CB8AC3E}">
        <p14:creationId xmlns:p14="http://schemas.microsoft.com/office/powerpoint/2010/main" xmlns="" val="259180200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21</a:t>
            </a:fld>
            <a:r>
              <a:rPr lang="zh-CN" altLang="en-US" smtClean="0"/>
              <a:t> </a:t>
            </a:r>
            <a:endParaRPr lang="zh-CN" altLang="en-US" dirty="0">
              <a:latin typeface="微软雅黑" pitchFamily="34" charset="-122"/>
              <a:ea typeface="微软雅黑" pitchFamily="34" charset="-122"/>
            </a:endParaRPr>
          </a:p>
        </p:txBody>
      </p:sp>
      <p:sp>
        <p:nvSpPr>
          <p:cNvPr id="6" name="矩形 5"/>
          <p:cNvSpPr/>
          <p:nvPr/>
        </p:nvSpPr>
        <p:spPr>
          <a:xfrm>
            <a:off x="395535" y="1173471"/>
            <a:ext cx="8383161" cy="6278642"/>
          </a:xfrm>
          <a:prstGeom prst="rect">
            <a:avLst/>
          </a:prstGeom>
        </p:spPr>
        <p:txBody>
          <a:bodyPr wrap="square">
            <a:spAutoFit/>
          </a:bodyPr>
          <a:lstStyle/>
          <a:p>
            <a:pPr marL="457200" lvl="1" indent="-342900" algn="just" fontAlgn="base">
              <a:lnSpc>
                <a:spcPct val="150000"/>
              </a:lnSpc>
              <a:spcBef>
                <a:spcPct val="20000"/>
              </a:spcBef>
              <a:buSzPts val="750"/>
              <a:buFontTx/>
              <a:buChar char="•"/>
            </a:pPr>
            <a:r>
              <a:rPr lang="en-US" altLang="zh-CN" sz="2400" b="1" dirty="0">
                <a:latin typeface="Times New Roman"/>
              </a:rPr>
              <a:t>Object:</a:t>
            </a:r>
          </a:p>
          <a:p>
            <a:pPr marL="742950" lvl="1" indent="-285750" fontAlgn="base">
              <a:lnSpc>
                <a:spcPct val="150000"/>
              </a:lnSpc>
              <a:spcBef>
                <a:spcPct val="0"/>
              </a:spcBef>
              <a:spcAft>
                <a:spcPct val="0"/>
              </a:spcAft>
              <a:buFont typeface="Wingdings" pitchFamily="2" charset="2"/>
              <a:buChar char="p"/>
            </a:pPr>
            <a:r>
              <a:rPr lang="en-US" altLang="zh-CN" sz="2000" dirty="0">
                <a:solidFill>
                  <a:srgbClr val="404040"/>
                </a:solidFill>
                <a:latin typeface="Times New Roman" pitchFamily="18" charset="0"/>
                <a:ea typeface="微软雅黑" pitchFamily="34" charset="-122"/>
                <a:cs typeface="Times New Roman" pitchFamily="18" charset="0"/>
              </a:rPr>
              <a:t>Verify the thermal design,</a:t>
            </a:r>
            <a:r>
              <a:rPr lang="zh-CN" altLang="en-US" sz="2000" dirty="0">
                <a:solidFill>
                  <a:srgbClr val="404040"/>
                </a:solidFill>
                <a:latin typeface="Times New Roman" pitchFamily="18" charset="0"/>
                <a:ea typeface="微软雅黑" pitchFamily="34" charset="-122"/>
                <a:cs typeface="Times New Roman" pitchFamily="18" charset="0"/>
              </a:rPr>
              <a:t> </a:t>
            </a:r>
            <a:r>
              <a:rPr lang="en-US" altLang="zh-CN" sz="2000" dirty="0">
                <a:solidFill>
                  <a:srgbClr val="404040"/>
                </a:solidFill>
                <a:latin typeface="Times New Roman" pitchFamily="18" charset="0"/>
                <a:ea typeface="微软雅黑" pitchFamily="34" charset="-122"/>
                <a:cs typeface="Times New Roman" pitchFamily="18" charset="0"/>
              </a:rPr>
              <a:t>examine the performance of TCS</a:t>
            </a:r>
          </a:p>
          <a:p>
            <a:pPr marL="1143000" lvl="2" indent="-228600" fontAlgn="base">
              <a:lnSpc>
                <a:spcPct val="150000"/>
              </a:lnSpc>
              <a:spcBef>
                <a:spcPct val="0"/>
              </a:spcBef>
              <a:spcAft>
                <a:spcPct val="0"/>
              </a:spcAft>
              <a:buFont typeface="Wingdings" pitchFamily="2" charset="2"/>
              <a:buChar char="p"/>
            </a:pPr>
            <a:r>
              <a:rPr lang="en-US" altLang="zh-CN" dirty="0">
                <a:solidFill>
                  <a:srgbClr val="404040"/>
                </a:solidFill>
                <a:latin typeface="Times New Roman" pitchFamily="18" charset="0"/>
                <a:ea typeface="微软雅黑" pitchFamily="34" charset="-122"/>
                <a:cs typeface="Times New Roman" pitchFamily="18" charset="0"/>
              </a:rPr>
              <a:t>Thermal design mainly depends on numerical simulation</a:t>
            </a:r>
          </a:p>
          <a:p>
            <a:pPr marL="1143000" lvl="2" indent="-228600" fontAlgn="base">
              <a:lnSpc>
                <a:spcPct val="150000"/>
              </a:lnSpc>
              <a:spcBef>
                <a:spcPct val="0"/>
              </a:spcBef>
              <a:spcAft>
                <a:spcPct val="0"/>
              </a:spcAft>
              <a:buFont typeface="Wingdings" pitchFamily="2" charset="2"/>
              <a:buChar char="p"/>
            </a:pPr>
            <a:r>
              <a:rPr lang="en-US" altLang="zh-CN" dirty="0">
                <a:solidFill>
                  <a:srgbClr val="404040"/>
                </a:solidFill>
                <a:latin typeface="Times New Roman" pitchFamily="18" charset="0"/>
                <a:ea typeface="微软雅黑" pitchFamily="34" charset="-122"/>
                <a:cs typeface="Times New Roman" pitchFamily="18" charset="0"/>
              </a:rPr>
              <a:t>The correctness and rationality of the simplified model and assumption ?</a:t>
            </a:r>
          </a:p>
          <a:p>
            <a:pPr marL="1143000" lvl="2" indent="-228600" fontAlgn="base">
              <a:lnSpc>
                <a:spcPct val="150000"/>
              </a:lnSpc>
              <a:spcBef>
                <a:spcPct val="0"/>
              </a:spcBef>
              <a:spcAft>
                <a:spcPct val="0"/>
              </a:spcAft>
              <a:buFont typeface="Wingdings" pitchFamily="2" charset="2"/>
              <a:buChar char="p"/>
            </a:pPr>
            <a:r>
              <a:rPr lang="en-US" altLang="zh-CN" dirty="0">
                <a:solidFill>
                  <a:srgbClr val="404040"/>
                </a:solidFill>
                <a:latin typeface="Times New Roman" pitchFamily="18" charset="0"/>
                <a:ea typeface="微软雅黑" pitchFamily="34" charset="-122"/>
                <a:cs typeface="Times New Roman" pitchFamily="18" charset="0"/>
              </a:rPr>
              <a:t>Errors of the simulation: model simplification, inaccuracy of the input parameters, not all the influence factors are considered</a:t>
            </a:r>
          </a:p>
          <a:p>
            <a:pPr marL="1143000" lvl="2" indent="-228600" fontAlgn="base">
              <a:lnSpc>
                <a:spcPct val="150000"/>
              </a:lnSpc>
              <a:spcBef>
                <a:spcPct val="0"/>
              </a:spcBef>
              <a:spcAft>
                <a:spcPct val="0"/>
              </a:spcAft>
              <a:buFont typeface="Wingdings" pitchFamily="2" charset="2"/>
              <a:buChar char="p"/>
            </a:pPr>
            <a:r>
              <a:rPr lang="en-US" altLang="zh-CN" dirty="0">
                <a:solidFill>
                  <a:srgbClr val="404040"/>
                </a:solidFill>
                <a:latin typeface="Times New Roman" pitchFamily="18" charset="0"/>
                <a:ea typeface="微软雅黑" pitchFamily="34" charset="-122"/>
                <a:cs typeface="Times New Roman" pitchFamily="18" charset="0"/>
              </a:rPr>
              <a:t>Real products will be more complicated</a:t>
            </a:r>
          </a:p>
          <a:p>
            <a:pPr marL="1143000" lvl="2" indent="-228600" fontAlgn="base">
              <a:lnSpc>
                <a:spcPct val="150000"/>
              </a:lnSpc>
              <a:spcBef>
                <a:spcPct val="0"/>
              </a:spcBef>
              <a:spcAft>
                <a:spcPct val="0"/>
              </a:spcAft>
              <a:buFont typeface="Wingdings" pitchFamily="2" charset="2"/>
              <a:buChar char="p"/>
            </a:pPr>
            <a:r>
              <a:rPr lang="en-US" altLang="zh-CN" dirty="0">
                <a:solidFill>
                  <a:srgbClr val="404040"/>
                </a:solidFill>
                <a:latin typeface="Times New Roman" pitchFamily="18" charset="0"/>
                <a:ea typeface="微软雅黑" pitchFamily="34" charset="-122"/>
                <a:cs typeface="Times New Roman" pitchFamily="18" charset="0"/>
              </a:rPr>
              <a:t>So the function and performance of TCS should be examined</a:t>
            </a:r>
          </a:p>
          <a:p>
            <a:pPr marL="742950" lvl="1" indent="-285750" fontAlgn="base">
              <a:lnSpc>
                <a:spcPct val="150000"/>
              </a:lnSpc>
              <a:spcBef>
                <a:spcPct val="0"/>
              </a:spcBef>
              <a:spcAft>
                <a:spcPct val="0"/>
              </a:spcAft>
              <a:buFont typeface="Wingdings" pitchFamily="2" charset="2"/>
              <a:buChar char="p"/>
            </a:pPr>
            <a:r>
              <a:rPr lang="en-US" altLang="zh-CN" sz="2000" dirty="0">
                <a:solidFill>
                  <a:srgbClr val="404040"/>
                </a:solidFill>
                <a:latin typeface="Times New Roman" pitchFamily="18" charset="0"/>
                <a:ea typeface="微软雅黑" pitchFamily="34" charset="-122"/>
                <a:cs typeface="Times New Roman" pitchFamily="18" charset="0"/>
              </a:rPr>
              <a:t>Obtain the satellite temperature and modify the thermal analysis model</a:t>
            </a:r>
          </a:p>
          <a:p>
            <a:pPr marL="1143000" lvl="2" indent="-228600" fontAlgn="base">
              <a:lnSpc>
                <a:spcPct val="150000"/>
              </a:lnSpc>
              <a:spcBef>
                <a:spcPct val="0"/>
              </a:spcBef>
              <a:spcAft>
                <a:spcPct val="0"/>
              </a:spcAft>
              <a:buFont typeface="Wingdings" pitchFamily="2" charset="2"/>
              <a:buChar char="p"/>
            </a:pPr>
            <a:r>
              <a:rPr lang="en-US" altLang="zh-CN" dirty="0">
                <a:solidFill>
                  <a:srgbClr val="404040"/>
                </a:solidFill>
                <a:latin typeface="Times New Roman" pitchFamily="18" charset="0"/>
                <a:ea typeface="微软雅黑" pitchFamily="34" charset="-122"/>
                <a:cs typeface="Times New Roman" pitchFamily="18" charset="0"/>
              </a:rPr>
              <a:t>Modify the numerical model according to the tested results</a:t>
            </a:r>
          </a:p>
          <a:p>
            <a:pPr marL="1143000" lvl="2" indent="-228600" fontAlgn="base">
              <a:lnSpc>
                <a:spcPct val="150000"/>
              </a:lnSpc>
              <a:spcBef>
                <a:spcPct val="0"/>
              </a:spcBef>
              <a:spcAft>
                <a:spcPct val="0"/>
              </a:spcAft>
              <a:buFont typeface="Wingdings" pitchFamily="2" charset="2"/>
              <a:buChar char="p"/>
            </a:pPr>
            <a:r>
              <a:rPr lang="en-US" altLang="zh-CN" dirty="0">
                <a:solidFill>
                  <a:srgbClr val="404040"/>
                </a:solidFill>
                <a:latin typeface="Times New Roman" pitchFamily="18" charset="0"/>
                <a:ea typeface="微软雅黑" pitchFamily="34" charset="-122"/>
                <a:cs typeface="Times New Roman" pitchFamily="18" charset="0"/>
              </a:rPr>
              <a:t>Predict the temperature distribution more accurately</a:t>
            </a:r>
          </a:p>
          <a:p>
            <a:pPr marL="742950" lvl="1" indent="-285750" algn="just">
              <a:lnSpc>
                <a:spcPct val="150000"/>
              </a:lnSpc>
              <a:buSzPts val="750"/>
              <a:buFont typeface="Wingdings"/>
              <a:buChar char=""/>
            </a:pPr>
            <a:endParaRPr lang="zh-CN" altLang="zh-CN" sz="2400" kern="100" dirty="0">
              <a:solidFill>
                <a:prstClr val="black"/>
              </a:solidFill>
              <a:latin typeface="Times New Roman"/>
            </a:endParaRPr>
          </a:p>
          <a:p>
            <a:pPr marL="742950" lvl="1" indent="-285750" algn="just">
              <a:spcAft>
                <a:spcPts val="0"/>
              </a:spcAft>
              <a:buSzPts val="750"/>
              <a:buFont typeface="Wingdings"/>
              <a:buChar char=""/>
            </a:pPr>
            <a:endParaRPr lang="en-US" altLang="zh-CN" kern="100" dirty="0">
              <a:latin typeface="Times New Roman"/>
            </a:endParaRPr>
          </a:p>
          <a:p>
            <a:pPr marL="742950" lvl="1" indent="-285750" algn="just">
              <a:spcAft>
                <a:spcPts val="0"/>
              </a:spcAft>
              <a:buSzPts val="750"/>
              <a:buFont typeface="Wingdings"/>
              <a:buChar char=""/>
            </a:pPr>
            <a:endParaRPr lang="en-US" altLang="zh-CN" kern="100" dirty="0" smtClean="0">
              <a:latin typeface="Times New Roman"/>
            </a:endParaRPr>
          </a:p>
          <a:p>
            <a:pPr marL="742950" lvl="1" indent="-285750" algn="just">
              <a:spcAft>
                <a:spcPts val="0"/>
              </a:spcAft>
              <a:buSzPts val="750"/>
              <a:buFont typeface="Wingdings"/>
              <a:buChar char=""/>
            </a:pPr>
            <a:endParaRPr lang="zh-CN" altLang="en-US" dirty="0"/>
          </a:p>
        </p:txBody>
      </p:sp>
      <p:sp>
        <p:nvSpPr>
          <p:cNvPr id="7" name="矩形 6"/>
          <p:cNvSpPr/>
          <p:nvPr/>
        </p:nvSpPr>
        <p:spPr>
          <a:xfrm>
            <a:off x="179512" y="116632"/>
            <a:ext cx="7992888" cy="1015663"/>
          </a:xfrm>
          <a:prstGeom prst="rect">
            <a:avLst/>
          </a:prstGeom>
        </p:spPr>
        <p:txBody>
          <a:bodyPr wrap="square">
            <a:spAutoFit/>
          </a:bodyPr>
          <a:lstStyle/>
          <a:p>
            <a:pPr lvl="1" fontAlgn="base">
              <a:spcBef>
                <a:spcPts val="1560"/>
              </a:spcBef>
              <a:buSzPts val="1400"/>
              <a:tabLst>
                <a:tab pos="274320" algn="l"/>
              </a:tabLst>
            </a:pPr>
            <a:r>
              <a:rPr lang="en-US" altLang="zh-CN" sz="2800" dirty="0" smtClean="0">
                <a:solidFill>
                  <a:schemeClr val="bg1"/>
                </a:solidFill>
                <a:latin typeface="微软雅黑" panose="020B0503020204020204" pitchFamily="34" charset="-122"/>
                <a:ea typeface="微软雅黑" panose="020B0503020204020204" pitchFamily="34" charset="-122"/>
              </a:rPr>
              <a:t>10 </a:t>
            </a:r>
            <a:r>
              <a:rPr lang="en-US" altLang="zh-CN" sz="2800" dirty="0">
                <a:solidFill>
                  <a:schemeClr val="bg1"/>
                </a:solidFill>
                <a:latin typeface="微软雅黑" panose="020B0503020204020204" pitchFamily="34" charset="-122"/>
                <a:ea typeface="微软雅黑" panose="020B0503020204020204" pitchFamily="34" charset="-122"/>
              </a:rPr>
              <a:t>THERMAL BALANCE TEST</a:t>
            </a:r>
            <a:endParaRPr lang="zh-CN" altLang="zh-CN" sz="2800" dirty="0">
              <a:solidFill>
                <a:schemeClr val="bg1"/>
              </a:solidFill>
              <a:latin typeface="微软雅黑" panose="020B0503020204020204" pitchFamily="34" charset="-122"/>
              <a:ea typeface="微软雅黑" panose="020B0503020204020204" pitchFamily="34" charset="-122"/>
            </a:endParaRPr>
          </a:p>
          <a:p>
            <a:pPr lvl="1" fontAlgn="base"/>
            <a:r>
              <a:rPr lang="en-US" altLang="zh-CN" sz="3200" dirty="0" smtClean="0">
                <a:solidFill>
                  <a:schemeClr val="bg1"/>
                </a:solidFill>
              </a:rPr>
              <a:t>              ------</a:t>
            </a:r>
            <a:r>
              <a:rPr lang="en-GB" altLang="zh-CN" sz="2400" dirty="0" smtClean="0">
                <a:solidFill>
                  <a:schemeClr val="bg1"/>
                </a:solidFill>
                <a:latin typeface="Times New Roman"/>
              </a:rPr>
              <a:t>Satellite Configuration And </a:t>
            </a:r>
            <a:r>
              <a:rPr lang="en-GB" altLang="zh-CN" sz="2400" dirty="0" smtClean="0">
                <a:solidFill>
                  <a:schemeClr val="bg1"/>
                </a:solidFill>
              </a:rPr>
              <a:t>Criteria of Test</a:t>
            </a:r>
            <a:r>
              <a:rPr lang="en-GB" altLang="zh-CN" sz="2400" dirty="0" smtClean="0">
                <a:solidFill>
                  <a:schemeClr val="bg1"/>
                </a:solidFill>
                <a:latin typeface="Times New Roman"/>
              </a:rPr>
              <a:t> </a:t>
            </a:r>
            <a:endParaRPr lang="zh-CN" altLang="zh-CN" sz="2400" dirty="0">
              <a:solidFill>
                <a:schemeClr val="bg1"/>
              </a:solidFill>
            </a:endParaRPr>
          </a:p>
        </p:txBody>
      </p:sp>
    </p:spTree>
    <p:extLst>
      <p:ext uri="{BB962C8B-B14F-4D97-AF65-F5344CB8AC3E}">
        <p14:creationId xmlns:p14="http://schemas.microsoft.com/office/powerpoint/2010/main" xmlns="" val="259180200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22</a:t>
            </a:fld>
            <a:r>
              <a:rPr lang="zh-CN" altLang="en-US" smtClean="0"/>
              <a:t> </a:t>
            </a:r>
            <a:endParaRPr lang="zh-CN" altLang="en-US" dirty="0">
              <a:latin typeface="微软雅黑" pitchFamily="34" charset="-122"/>
              <a:ea typeface="微软雅黑" pitchFamily="34" charset="-122"/>
            </a:endParaRPr>
          </a:p>
        </p:txBody>
      </p:sp>
      <p:sp>
        <p:nvSpPr>
          <p:cNvPr id="6" name="矩形 5"/>
          <p:cNvSpPr/>
          <p:nvPr/>
        </p:nvSpPr>
        <p:spPr>
          <a:xfrm>
            <a:off x="179512" y="1160039"/>
            <a:ext cx="7812360" cy="5909310"/>
          </a:xfrm>
          <a:prstGeom prst="rect">
            <a:avLst/>
          </a:prstGeom>
        </p:spPr>
        <p:txBody>
          <a:bodyPr wrap="square">
            <a:spAutoFit/>
          </a:bodyPr>
          <a:lstStyle/>
          <a:p>
            <a:pPr marL="457200" lvl="1" algn="just">
              <a:lnSpc>
                <a:spcPct val="150000"/>
              </a:lnSpc>
              <a:spcAft>
                <a:spcPts val="0"/>
              </a:spcAft>
              <a:buSzPts val="750"/>
            </a:pPr>
            <a:r>
              <a:rPr lang="en-GB" altLang="zh-CN" sz="2400" b="1" dirty="0">
                <a:latin typeface="Times New Roman"/>
              </a:rPr>
              <a:t>Satellite Configuration</a:t>
            </a:r>
            <a:endParaRPr lang="en-US" altLang="zh-CN" sz="2400" b="1" kern="100" dirty="0" smtClean="0">
              <a:latin typeface="Times New Roman"/>
            </a:endParaRPr>
          </a:p>
          <a:p>
            <a:pPr marL="742950" lvl="1" indent="-285750" algn="just">
              <a:lnSpc>
                <a:spcPct val="150000"/>
              </a:lnSpc>
              <a:spcAft>
                <a:spcPts val="0"/>
              </a:spcAft>
              <a:buSzPts val="750"/>
              <a:buFont typeface="Wingdings" pitchFamily="2" charset="2"/>
              <a:buChar char="Ø"/>
            </a:pPr>
            <a:r>
              <a:rPr lang="en-US" altLang="zh-CN" dirty="0">
                <a:solidFill>
                  <a:srgbClr val="404040"/>
                </a:solidFill>
                <a:latin typeface="Times New Roman" pitchFamily="18" charset="0"/>
                <a:ea typeface="微软雅黑" pitchFamily="34" charset="-122"/>
                <a:cs typeface="Times New Roman" pitchFamily="18" charset="0"/>
              </a:rPr>
              <a:t>Flight thermal control hardware</a:t>
            </a:r>
            <a:endParaRPr lang="zh-CN" altLang="zh-CN" dirty="0">
              <a:solidFill>
                <a:srgbClr val="404040"/>
              </a:solidFill>
              <a:latin typeface="Times New Roman" pitchFamily="18" charset="0"/>
              <a:ea typeface="微软雅黑" pitchFamily="34" charset="-122"/>
              <a:cs typeface="Times New Roman" pitchFamily="18" charset="0"/>
            </a:endParaRPr>
          </a:p>
          <a:p>
            <a:pPr marL="742950" lvl="1" indent="-285750" algn="just">
              <a:lnSpc>
                <a:spcPct val="150000"/>
              </a:lnSpc>
              <a:spcAft>
                <a:spcPts val="0"/>
              </a:spcAft>
              <a:buSzPts val="750"/>
              <a:buFont typeface="Wingdings" pitchFamily="2" charset="2"/>
              <a:buChar char="Ø"/>
            </a:pPr>
            <a:r>
              <a:rPr lang="en-US" altLang="zh-CN" dirty="0">
                <a:solidFill>
                  <a:srgbClr val="404040"/>
                </a:solidFill>
                <a:latin typeface="Times New Roman" pitchFamily="18" charset="0"/>
                <a:ea typeface="微软雅黑" pitchFamily="34" charset="-122"/>
                <a:cs typeface="Times New Roman" pitchFamily="18" charset="0"/>
              </a:rPr>
              <a:t>Flight equipment units</a:t>
            </a:r>
            <a:endParaRPr lang="zh-CN" altLang="zh-CN" dirty="0">
              <a:solidFill>
                <a:srgbClr val="404040"/>
              </a:solidFill>
              <a:latin typeface="Times New Roman" pitchFamily="18" charset="0"/>
              <a:ea typeface="微软雅黑" pitchFamily="34" charset="-122"/>
              <a:cs typeface="Times New Roman" pitchFamily="18" charset="0"/>
            </a:endParaRPr>
          </a:p>
          <a:p>
            <a:pPr marL="742950" lvl="1" indent="-285750" algn="just">
              <a:lnSpc>
                <a:spcPct val="150000"/>
              </a:lnSpc>
              <a:spcAft>
                <a:spcPts val="0"/>
              </a:spcAft>
              <a:buSzPts val="750"/>
              <a:buFont typeface="Wingdings" pitchFamily="2" charset="2"/>
              <a:buChar char="Ø"/>
            </a:pPr>
            <a:r>
              <a:rPr lang="en-US" altLang="zh-CN" dirty="0">
                <a:solidFill>
                  <a:srgbClr val="404040"/>
                </a:solidFill>
                <a:latin typeface="Times New Roman" pitchFamily="18" charset="0"/>
                <a:ea typeface="微软雅黑" pitchFamily="34" charset="-122"/>
                <a:cs typeface="Times New Roman" pitchFamily="18" charset="0"/>
              </a:rPr>
              <a:t>Tanks are empty </a:t>
            </a:r>
            <a:endParaRPr lang="zh-CN" altLang="zh-CN" dirty="0">
              <a:solidFill>
                <a:srgbClr val="404040"/>
              </a:solidFill>
              <a:latin typeface="Times New Roman" pitchFamily="18" charset="0"/>
              <a:ea typeface="微软雅黑" pitchFamily="34" charset="-122"/>
              <a:cs typeface="Times New Roman" pitchFamily="18" charset="0"/>
            </a:endParaRPr>
          </a:p>
          <a:p>
            <a:pPr marL="742950" lvl="1" indent="-285750" algn="just">
              <a:lnSpc>
                <a:spcPct val="150000"/>
              </a:lnSpc>
              <a:spcAft>
                <a:spcPts val="0"/>
              </a:spcAft>
              <a:buSzPts val="750"/>
              <a:buFont typeface="Wingdings" pitchFamily="2" charset="2"/>
              <a:buChar char="Ø"/>
            </a:pPr>
            <a:r>
              <a:rPr lang="en-US" altLang="zh-CN" dirty="0">
                <a:solidFill>
                  <a:srgbClr val="404040"/>
                </a:solidFill>
                <a:latin typeface="Times New Roman" pitchFamily="18" charset="0"/>
                <a:ea typeface="微软雅黑" pitchFamily="34" charset="-122"/>
                <a:cs typeface="Times New Roman" pitchFamily="18" charset="0"/>
              </a:rPr>
              <a:t>No antenna </a:t>
            </a:r>
          </a:p>
          <a:p>
            <a:pPr marL="742950" lvl="1" indent="-285750" algn="just">
              <a:lnSpc>
                <a:spcPct val="150000"/>
              </a:lnSpc>
              <a:spcAft>
                <a:spcPts val="0"/>
              </a:spcAft>
              <a:buSzPts val="750"/>
              <a:buFont typeface="Wingdings" pitchFamily="2" charset="2"/>
              <a:buChar char="Ø"/>
            </a:pPr>
            <a:r>
              <a:rPr lang="en-US" altLang="zh-CN" dirty="0">
                <a:solidFill>
                  <a:srgbClr val="404040"/>
                </a:solidFill>
                <a:latin typeface="Times New Roman" pitchFamily="18" charset="0"/>
                <a:ea typeface="微软雅黑" pitchFamily="34" charset="-122"/>
                <a:cs typeface="Times New Roman" pitchFamily="18" charset="0"/>
              </a:rPr>
              <a:t>No Solar Array</a:t>
            </a:r>
          </a:p>
          <a:p>
            <a:pPr marL="457200" lvl="1" algn="just">
              <a:spcAft>
                <a:spcPts val="0"/>
              </a:spcAft>
              <a:buSzPts val="750"/>
            </a:pPr>
            <a:r>
              <a:rPr lang="en-GB" altLang="zh-CN" sz="2400" b="1" dirty="0" smtClean="0">
                <a:latin typeface="Times New Roman"/>
              </a:rPr>
              <a:t>Criteria </a:t>
            </a:r>
            <a:r>
              <a:rPr lang="en-GB" altLang="zh-CN" sz="2400" b="1" dirty="0">
                <a:latin typeface="Times New Roman"/>
              </a:rPr>
              <a:t>of </a:t>
            </a:r>
            <a:r>
              <a:rPr lang="en-GB" altLang="zh-CN" sz="2400" b="1" dirty="0" smtClean="0">
                <a:latin typeface="Times New Roman"/>
              </a:rPr>
              <a:t>Stability </a:t>
            </a:r>
            <a:r>
              <a:rPr lang="en-GB" altLang="zh-CN" sz="2400" b="1" dirty="0">
                <a:latin typeface="Times New Roman"/>
              </a:rPr>
              <a:t>for </a:t>
            </a:r>
            <a:r>
              <a:rPr lang="en-GB" altLang="zh-CN" sz="2400" b="1" dirty="0" smtClean="0">
                <a:latin typeface="Times New Roman"/>
              </a:rPr>
              <a:t>Thermal Balance Tests </a:t>
            </a:r>
            <a:endParaRPr lang="zh-CN" altLang="zh-CN" sz="2400" b="1" dirty="0">
              <a:latin typeface="Times New Roman"/>
            </a:endParaRPr>
          </a:p>
          <a:p>
            <a:pPr marL="742950" lvl="1" indent="-285750" algn="just">
              <a:lnSpc>
                <a:spcPct val="150000"/>
              </a:lnSpc>
              <a:buSzPts val="750"/>
              <a:buFont typeface="Wingdings"/>
              <a:buChar char=""/>
            </a:pPr>
            <a:r>
              <a:rPr lang="en-US" altLang="zh-CN" kern="100" dirty="0">
                <a:solidFill>
                  <a:prstClr val="black"/>
                </a:solidFill>
                <a:latin typeface="Times New Roman"/>
              </a:rPr>
              <a:t>for steady state and for </a:t>
            </a:r>
            <a:r>
              <a:rPr lang="en-US" altLang="zh-CN" kern="100" dirty="0" smtClean="0">
                <a:solidFill>
                  <a:prstClr val="black"/>
                </a:solidFill>
                <a:latin typeface="Times New Roman"/>
              </a:rPr>
              <a:t>85% of all supervisory thermocouples on units :</a:t>
            </a:r>
            <a:r>
              <a:rPr lang="en-US" altLang="zh-CN" kern="100" dirty="0" err="1" smtClean="0">
                <a:solidFill>
                  <a:prstClr val="black"/>
                </a:solidFill>
                <a:latin typeface="Times New Roman"/>
              </a:rPr>
              <a:t>dT</a:t>
            </a:r>
            <a:r>
              <a:rPr lang="en-US" altLang="zh-CN" kern="100" dirty="0" smtClean="0">
                <a:solidFill>
                  <a:prstClr val="black"/>
                </a:solidFill>
                <a:latin typeface="Times New Roman"/>
              </a:rPr>
              <a:t>/</a:t>
            </a:r>
            <a:r>
              <a:rPr lang="en-US" altLang="zh-CN" kern="100" dirty="0" err="1" smtClean="0">
                <a:solidFill>
                  <a:prstClr val="black"/>
                </a:solidFill>
                <a:latin typeface="Times New Roman"/>
              </a:rPr>
              <a:t>dt</a:t>
            </a:r>
            <a:r>
              <a:rPr lang="en-US" altLang="zh-CN" kern="100" dirty="0" smtClean="0">
                <a:solidFill>
                  <a:prstClr val="black"/>
                </a:solidFill>
                <a:latin typeface="Times New Roman"/>
              </a:rPr>
              <a:t> </a:t>
            </a:r>
            <a:r>
              <a:rPr lang="en-US" altLang="zh-CN" kern="100" dirty="0">
                <a:solidFill>
                  <a:prstClr val="black"/>
                </a:solidFill>
                <a:latin typeface="Times New Roman"/>
              </a:rPr>
              <a:t>&lt;0.1</a:t>
            </a:r>
            <a:r>
              <a:rPr lang="zh-CN" altLang="zh-CN" kern="100" dirty="0">
                <a:solidFill>
                  <a:prstClr val="black"/>
                </a:solidFill>
                <a:latin typeface="Times New Roman"/>
              </a:rPr>
              <a:t>℃</a:t>
            </a:r>
            <a:r>
              <a:rPr lang="en-US" altLang="zh-CN" kern="100" dirty="0">
                <a:solidFill>
                  <a:prstClr val="black"/>
                </a:solidFill>
                <a:latin typeface="Times New Roman"/>
              </a:rPr>
              <a:t>/hour during </a:t>
            </a:r>
            <a:r>
              <a:rPr lang="en-US" altLang="zh-CN" kern="100" dirty="0" smtClean="0">
                <a:solidFill>
                  <a:prstClr val="black"/>
                </a:solidFill>
                <a:latin typeface="Times New Roman"/>
              </a:rPr>
              <a:t>4hours</a:t>
            </a:r>
          </a:p>
          <a:p>
            <a:pPr marL="742950" lvl="1" indent="-285750" algn="just">
              <a:lnSpc>
                <a:spcPct val="150000"/>
              </a:lnSpc>
              <a:buSzPts val="750"/>
              <a:buFont typeface="Wingdings"/>
              <a:buChar char=""/>
            </a:pPr>
            <a:r>
              <a:rPr lang="en-US" altLang="zh-CN" kern="100" dirty="0">
                <a:solidFill>
                  <a:prstClr val="black"/>
                </a:solidFill>
                <a:latin typeface="Times New Roman"/>
              </a:rPr>
              <a:t>for </a:t>
            </a:r>
            <a:r>
              <a:rPr lang="en-US" altLang="zh-CN" kern="100" dirty="0" smtClean="0">
                <a:solidFill>
                  <a:prstClr val="black"/>
                </a:solidFill>
                <a:latin typeface="Times New Roman"/>
              </a:rPr>
              <a:t>transient </a:t>
            </a:r>
            <a:r>
              <a:rPr lang="en-US" altLang="zh-CN" kern="100" dirty="0">
                <a:solidFill>
                  <a:prstClr val="black"/>
                </a:solidFill>
                <a:latin typeface="Times New Roman"/>
              </a:rPr>
              <a:t>state and for 85% of all supervisor</a:t>
            </a:r>
            <a:r>
              <a:rPr lang="en-US" altLang="zh-CN" kern="100" dirty="0" smtClean="0">
                <a:solidFill>
                  <a:prstClr val="black"/>
                </a:solidFill>
                <a:latin typeface="Times New Roman"/>
              </a:rPr>
              <a:t> </a:t>
            </a:r>
            <a:r>
              <a:rPr lang="en-US" altLang="zh-CN" kern="100" dirty="0">
                <a:solidFill>
                  <a:prstClr val="black"/>
                </a:solidFill>
                <a:latin typeface="Times New Roman"/>
              </a:rPr>
              <a:t>thermocouples on units </a:t>
            </a:r>
            <a:r>
              <a:rPr lang="en-US" altLang="zh-CN" kern="100" dirty="0" smtClean="0">
                <a:solidFill>
                  <a:prstClr val="black"/>
                </a:solidFill>
                <a:latin typeface="Times New Roman"/>
              </a:rPr>
              <a:t>:&lt;1</a:t>
            </a:r>
            <a:r>
              <a:rPr lang="zh-CN" altLang="zh-CN" kern="100" dirty="0" smtClean="0">
                <a:solidFill>
                  <a:prstClr val="black"/>
                </a:solidFill>
                <a:latin typeface="Times New Roman"/>
              </a:rPr>
              <a:t>℃</a:t>
            </a:r>
            <a:r>
              <a:rPr lang="en-US" altLang="zh-CN" kern="100" dirty="0" smtClean="0">
                <a:solidFill>
                  <a:prstClr val="black"/>
                </a:solidFill>
                <a:latin typeface="Times New Roman"/>
              </a:rPr>
              <a:t>at same time in every period</a:t>
            </a:r>
            <a:endParaRPr lang="en-US" altLang="zh-CN" kern="100" dirty="0">
              <a:solidFill>
                <a:prstClr val="black"/>
              </a:solidFill>
              <a:latin typeface="Times New Roman"/>
            </a:endParaRPr>
          </a:p>
          <a:p>
            <a:pPr marL="742950" lvl="1" indent="-285750" algn="just">
              <a:lnSpc>
                <a:spcPct val="150000"/>
              </a:lnSpc>
              <a:buSzPts val="750"/>
              <a:buFont typeface="Wingdings"/>
              <a:buChar char=""/>
            </a:pPr>
            <a:endParaRPr lang="zh-CN" altLang="zh-CN" sz="1400" kern="100" dirty="0">
              <a:solidFill>
                <a:prstClr val="black"/>
              </a:solidFill>
              <a:latin typeface="Times New Roman"/>
            </a:endParaRPr>
          </a:p>
          <a:p>
            <a:pPr marL="742950" lvl="1" indent="-285750" algn="just">
              <a:spcAft>
                <a:spcPts val="0"/>
              </a:spcAft>
              <a:buSzPts val="750"/>
              <a:buFont typeface="Wingdings"/>
              <a:buChar char=""/>
            </a:pPr>
            <a:endParaRPr lang="en-US" altLang="zh-CN" kern="100" dirty="0">
              <a:latin typeface="Times New Roman"/>
            </a:endParaRPr>
          </a:p>
          <a:p>
            <a:pPr marL="742950" lvl="1" indent="-285750" algn="just">
              <a:spcAft>
                <a:spcPts val="0"/>
              </a:spcAft>
              <a:buSzPts val="750"/>
              <a:buFont typeface="Wingdings"/>
              <a:buChar char=""/>
            </a:pPr>
            <a:endParaRPr lang="en-US" altLang="zh-CN" kern="100" dirty="0" smtClean="0">
              <a:latin typeface="Times New Roman"/>
            </a:endParaRPr>
          </a:p>
          <a:p>
            <a:pPr marL="742950" lvl="1" indent="-285750" algn="just">
              <a:spcAft>
                <a:spcPts val="0"/>
              </a:spcAft>
              <a:buSzPts val="750"/>
              <a:buFont typeface="Wingdings"/>
              <a:buChar char=""/>
            </a:pPr>
            <a:endParaRPr lang="zh-CN" altLang="en-US" dirty="0"/>
          </a:p>
        </p:txBody>
      </p:sp>
      <p:sp>
        <p:nvSpPr>
          <p:cNvPr id="7" name="矩形 6"/>
          <p:cNvSpPr/>
          <p:nvPr/>
        </p:nvSpPr>
        <p:spPr>
          <a:xfrm>
            <a:off x="395536" y="116632"/>
            <a:ext cx="7992888" cy="1015663"/>
          </a:xfrm>
          <a:prstGeom prst="rect">
            <a:avLst/>
          </a:prstGeom>
        </p:spPr>
        <p:txBody>
          <a:bodyPr wrap="square">
            <a:spAutoFit/>
          </a:bodyPr>
          <a:lstStyle/>
          <a:p>
            <a:pPr lvl="1" fontAlgn="base">
              <a:spcBef>
                <a:spcPts val="1560"/>
              </a:spcBef>
              <a:buSzPts val="1400"/>
              <a:tabLst>
                <a:tab pos="274320" algn="l"/>
              </a:tabLst>
            </a:pPr>
            <a:r>
              <a:rPr lang="en-US" altLang="zh-CN" sz="2800" dirty="0" smtClean="0">
                <a:solidFill>
                  <a:schemeClr val="bg1"/>
                </a:solidFill>
                <a:latin typeface="微软雅黑" panose="020B0503020204020204" pitchFamily="34" charset="-122"/>
                <a:ea typeface="微软雅黑" panose="020B0503020204020204" pitchFamily="34" charset="-122"/>
              </a:rPr>
              <a:t>10 </a:t>
            </a:r>
            <a:r>
              <a:rPr lang="en-US" altLang="zh-CN" sz="2800" dirty="0">
                <a:solidFill>
                  <a:schemeClr val="bg1"/>
                </a:solidFill>
                <a:latin typeface="微软雅黑" panose="020B0503020204020204" pitchFamily="34" charset="-122"/>
                <a:ea typeface="微软雅黑" panose="020B0503020204020204" pitchFamily="34" charset="-122"/>
              </a:rPr>
              <a:t>THERMAL BALANCE TEST</a:t>
            </a:r>
            <a:endParaRPr lang="zh-CN" altLang="zh-CN" sz="2800" dirty="0">
              <a:solidFill>
                <a:schemeClr val="bg1"/>
              </a:solidFill>
              <a:latin typeface="微软雅黑" panose="020B0503020204020204" pitchFamily="34" charset="-122"/>
              <a:ea typeface="微软雅黑" panose="020B0503020204020204" pitchFamily="34" charset="-122"/>
            </a:endParaRPr>
          </a:p>
          <a:p>
            <a:pPr lvl="1" fontAlgn="base"/>
            <a:r>
              <a:rPr lang="en-US" altLang="zh-CN" sz="3200" dirty="0" smtClean="0">
                <a:solidFill>
                  <a:schemeClr val="bg1"/>
                </a:solidFill>
              </a:rPr>
              <a:t>              ------</a:t>
            </a:r>
            <a:r>
              <a:rPr lang="en-GB" altLang="zh-CN" sz="2400" dirty="0" smtClean="0">
                <a:solidFill>
                  <a:schemeClr val="bg1"/>
                </a:solidFill>
                <a:latin typeface="Times New Roman"/>
              </a:rPr>
              <a:t>Satellite Configuration And </a:t>
            </a:r>
            <a:r>
              <a:rPr lang="en-GB" altLang="zh-CN" sz="2400" dirty="0" smtClean="0">
                <a:solidFill>
                  <a:schemeClr val="bg1"/>
                </a:solidFill>
              </a:rPr>
              <a:t>Criteria of Test</a:t>
            </a:r>
            <a:r>
              <a:rPr lang="en-GB" altLang="zh-CN" sz="2400" dirty="0" smtClean="0">
                <a:solidFill>
                  <a:schemeClr val="bg1"/>
                </a:solidFill>
                <a:latin typeface="Times New Roman"/>
              </a:rPr>
              <a:t> </a:t>
            </a:r>
            <a:endParaRPr lang="zh-CN" altLang="zh-CN" sz="2400" dirty="0">
              <a:solidFill>
                <a:schemeClr val="bg1"/>
              </a:solidFill>
            </a:endParaRPr>
          </a:p>
        </p:txBody>
      </p:sp>
    </p:spTree>
    <p:extLst>
      <p:ext uri="{BB962C8B-B14F-4D97-AF65-F5344CB8AC3E}">
        <p14:creationId xmlns:p14="http://schemas.microsoft.com/office/powerpoint/2010/main" xmlns="" val="259180200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23</a:t>
            </a:fld>
            <a:r>
              <a:rPr lang="zh-CN" altLang="en-US" smtClean="0"/>
              <a:t> </a:t>
            </a:r>
            <a:endParaRPr lang="zh-CN" altLang="en-US" dirty="0">
              <a:latin typeface="微软雅黑" pitchFamily="34" charset="-122"/>
              <a:ea typeface="微软雅黑" pitchFamily="34" charset="-122"/>
            </a:endParaRPr>
          </a:p>
        </p:txBody>
      </p:sp>
      <p:sp>
        <p:nvSpPr>
          <p:cNvPr id="6" name="内容占位符 2"/>
          <p:cNvSpPr>
            <a:spLocks noGrp="1"/>
          </p:cNvSpPr>
          <p:nvPr>
            <p:ph idx="1"/>
          </p:nvPr>
        </p:nvSpPr>
        <p:spPr>
          <a:xfrm>
            <a:off x="107950" y="1357313"/>
            <a:ext cx="9036050" cy="2863775"/>
          </a:xfrm>
        </p:spPr>
        <p:txBody>
          <a:bodyPr>
            <a:normAutofit fontScale="92500" lnSpcReduction="20000"/>
          </a:bodyPr>
          <a:lstStyle/>
          <a:p>
            <a:pPr>
              <a:buFont typeface="Wingdings" pitchFamily="2" charset="2"/>
              <a:buChar char="p"/>
            </a:pPr>
            <a:r>
              <a:rPr lang="en-US" altLang="zh-CN" sz="2400" b="0" dirty="0">
                <a:latin typeface="Times New Roman" pitchFamily="18" charset="0"/>
                <a:cs typeface="Times New Roman" pitchFamily="18" charset="0"/>
              </a:rPr>
              <a:t>Satellite TBT is a high price ground test, the tested cases will influence the testing period, developing process and </a:t>
            </a:r>
            <a:r>
              <a:rPr lang="en-US" altLang="zh-CN" sz="2400" b="0" dirty="0" smtClean="0">
                <a:latin typeface="Times New Roman" pitchFamily="18" charset="0"/>
                <a:cs typeface="Times New Roman" pitchFamily="18" charset="0"/>
              </a:rPr>
              <a:t>cost</a:t>
            </a:r>
          </a:p>
          <a:p>
            <a:pPr marL="0" indent="0">
              <a:buNone/>
            </a:pPr>
            <a:endParaRPr lang="en-US" altLang="zh-CN" sz="2400" b="0" dirty="0">
              <a:latin typeface="Times New Roman" pitchFamily="18" charset="0"/>
              <a:cs typeface="Times New Roman" pitchFamily="18" charset="0"/>
            </a:endParaRPr>
          </a:p>
          <a:p>
            <a:pPr>
              <a:buFont typeface="Wingdings" pitchFamily="2" charset="2"/>
              <a:buChar char="p"/>
            </a:pPr>
            <a:r>
              <a:rPr lang="en-US" altLang="zh-CN" sz="2400" b="0" dirty="0">
                <a:latin typeface="Times New Roman" pitchFamily="18" charset="0"/>
                <a:cs typeface="Times New Roman" pitchFamily="18" charset="0"/>
              </a:rPr>
              <a:t>Sufficient analysis is required to determine the tested cases for TBT of thermal control model and flight model. Only if the testing objective can be satisfied, the fewer cases, the better.</a:t>
            </a:r>
          </a:p>
          <a:p>
            <a:pPr eaLnBrk="1" hangingPunct="1">
              <a:buFont typeface="Wingdings" pitchFamily="2" charset="2"/>
              <a:buChar char="p"/>
              <a:defRPr/>
            </a:pPr>
            <a:endParaRPr lang="en-US" altLang="zh-CN" sz="1800" b="0" dirty="0" smtClean="0">
              <a:latin typeface="Times New Roman" pitchFamily="18" charset="0"/>
              <a:cs typeface="Times New Roman" pitchFamily="18" charset="0"/>
            </a:endParaRPr>
          </a:p>
        </p:txBody>
      </p:sp>
      <p:sp>
        <p:nvSpPr>
          <p:cNvPr id="8" name="矩形 7"/>
          <p:cNvSpPr/>
          <p:nvPr/>
        </p:nvSpPr>
        <p:spPr>
          <a:xfrm>
            <a:off x="395536" y="116632"/>
            <a:ext cx="7992888" cy="1015663"/>
          </a:xfrm>
          <a:prstGeom prst="rect">
            <a:avLst/>
          </a:prstGeom>
        </p:spPr>
        <p:txBody>
          <a:bodyPr wrap="square">
            <a:spAutoFit/>
          </a:bodyPr>
          <a:lstStyle/>
          <a:p>
            <a:pPr lvl="1" fontAlgn="base">
              <a:spcBef>
                <a:spcPts val="1560"/>
              </a:spcBef>
              <a:buSzPts val="1400"/>
              <a:tabLst>
                <a:tab pos="274320" algn="l"/>
              </a:tabLst>
            </a:pPr>
            <a:r>
              <a:rPr lang="en-US" altLang="zh-CN" sz="2800" dirty="0" smtClean="0">
                <a:solidFill>
                  <a:schemeClr val="bg1"/>
                </a:solidFill>
                <a:latin typeface="微软雅黑" panose="020B0503020204020204" pitchFamily="34" charset="-122"/>
                <a:ea typeface="微软雅黑" panose="020B0503020204020204" pitchFamily="34" charset="-122"/>
              </a:rPr>
              <a:t>10  </a:t>
            </a:r>
            <a:r>
              <a:rPr lang="en-US" altLang="zh-CN" sz="2800" dirty="0">
                <a:solidFill>
                  <a:schemeClr val="bg1"/>
                </a:solidFill>
                <a:latin typeface="微软雅黑" panose="020B0503020204020204" pitchFamily="34" charset="-122"/>
                <a:ea typeface="微软雅黑" panose="020B0503020204020204" pitchFamily="34" charset="-122"/>
              </a:rPr>
              <a:t>THERMAL BALANCE TEST</a:t>
            </a:r>
            <a:endParaRPr lang="zh-CN" altLang="zh-CN" sz="2800" dirty="0">
              <a:solidFill>
                <a:schemeClr val="bg1"/>
              </a:solidFill>
              <a:latin typeface="微软雅黑" panose="020B0503020204020204" pitchFamily="34" charset="-122"/>
              <a:ea typeface="微软雅黑" panose="020B0503020204020204" pitchFamily="34" charset="-122"/>
            </a:endParaRPr>
          </a:p>
          <a:p>
            <a:pPr lvl="1" fontAlgn="base"/>
            <a:r>
              <a:rPr lang="en-US" altLang="zh-CN" sz="3200" dirty="0" smtClean="0">
                <a:solidFill>
                  <a:schemeClr val="bg1"/>
                </a:solidFill>
              </a:rPr>
              <a:t>                                            ------</a:t>
            </a:r>
            <a:r>
              <a:rPr lang="zh-CN" altLang="zh-CN" sz="2400" dirty="0" smtClean="0">
                <a:solidFill>
                  <a:schemeClr val="bg1"/>
                </a:solidFill>
                <a:ea typeface="Times New Roman"/>
              </a:rPr>
              <a:t> </a:t>
            </a:r>
            <a:r>
              <a:rPr lang="en-GB" altLang="zh-CN" sz="2400" dirty="0" smtClean="0">
                <a:solidFill>
                  <a:schemeClr val="bg1"/>
                </a:solidFill>
                <a:ea typeface="Times New Roman"/>
              </a:rPr>
              <a:t>Test Cases</a:t>
            </a:r>
            <a:endParaRPr lang="zh-CN" altLang="zh-CN" sz="2400" dirty="0">
              <a:solidFill>
                <a:schemeClr val="bg1"/>
              </a:solidFill>
            </a:endParaRPr>
          </a:p>
        </p:txBody>
      </p:sp>
    </p:spTree>
    <p:extLst>
      <p:ext uri="{BB962C8B-B14F-4D97-AF65-F5344CB8AC3E}">
        <p14:creationId xmlns:p14="http://schemas.microsoft.com/office/powerpoint/2010/main" xmlns="" val="114108322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4" name="灯片编号占位符 3"/>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24</a:t>
            </a:fld>
            <a:r>
              <a:rPr lang="zh-CN" altLang="en-US" smtClean="0"/>
              <a:t> </a:t>
            </a:r>
            <a:endParaRPr lang="zh-CN" altLang="en-US" dirty="0">
              <a:latin typeface="微软雅黑" pitchFamily="34" charset="-122"/>
              <a:ea typeface="微软雅黑" pitchFamily="34" charset="-122"/>
            </a:endParaRPr>
          </a:p>
        </p:txBody>
      </p:sp>
      <p:sp>
        <p:nvSpPr>
          <p:cNvPr id="5" name="矩形 4"/>
          <p:cNvSpPr/>
          <p:nvPr/>
        </p:nvSpPr>
        <p:spPr>
          <a:xfrm>
            <a:off x="418059" y="2276872"/>
            <a:ext cx="8352928" cy="2739211"/>
          </a:xfrm>
          <a:prstGeom prst="rect">
            <a:avLst/>
          </a:prstGeom>
        </p:spPr>
        <p:txBody>
          <a:bodyPr wrap="square">
            <a:spAutoFit/>
          </a:bodyPr>
          <a:lstStyle/>
          <a:p>
            <a:pPr>
              <a:buFont typeface="Wingdings" pitchFamily="2" charset="2"/>
              <a:buChar char="p"/>
            </a:pPr>
            <a:r>
              <a:rPr lang="en-US" altLang="zh-CN" sz="2800" dirty="0">
                <a:solidFill>
                  <a:schemeClr val="tx1">
                    <a:lumMod val="75000"/>
                    <a:lumOff val="25000"/>
                  </a:schemeClr>
                </a:solidFill>
                <a:latin typeface="Times New Roman" pitchFamily="18" charset="0"/>
                <a:ea typeface="微软雅黑" pitchFamily="34" charset="-122"/>
                <a:cs typeface="Times New Roman" pitchFamily="18" charset="0"/>
              </a:rPr>
              <a:t>Mainly stage included below in the whole procedure</a:t>
            </a:r>
          </a:p>
          <a:p>
            <a:pPr marL="914400" lvl="1" indent="-457200">
              <a:lnSpc>
                <a:spcPct val="150000"/>
              </a:lnSpc>
              <a:buFont typeface="Wingdings" pitchFamily="2" charset="2"/>
              <a:buChar char="Ø"/>
            </a:pPr>
            <a:r>
              <a:rPr lang="en-US" altLang="zh-CN" sz="2400" dirty="0">
                <a:solidFill>
                  <a:srgbClr val="404040"/>
                </a:solidFill>
                <a:latin typeface="Times New Roman" pitchFamily="18" charset="0"/>
                <a:ea typeface="微软雅黑" pitchFamily="34" charset="-122"/>
                <a:cs typeface="Times New Roman" pitchFamily="18" charset="0"/>
              </a:rPr>
              <a:t>Designing Stage of TBT</a:t>
            </a:r>
          </a:p>
          <a:p>
            <a:pPr marL="914400" lvl="1" indent="-457200">
              <a:lnSpc>
                <a:spcPct val="150000"/>
              </a:lnSpc>
              <a:buFont typeface="Wingdings" pitchFamily="2" charset="2"/>
              <a:buChar char="Ø"/>
            </a:pPr>
            <a:r>
              <a:rPr lang="en-US" altLang="zh-CN" sz="2400" dirty="0">
                <a:solidFill>
                  <a:srgbClr val="404040"/>
                </a:solidFill>
                <a:latin typeface="Times New Roman" pitchFamily="18" charset="0"/>
                <a:ea typeface="微软雅黑" pitchFamily="34" charset="-122"/>
                <a:cs typeface="Times New Roman" pitchFamily="18" charset="0"/>
              </a:rPr>
              <a:t>Preparing stage before TBT</a:t>
            </a:r>
          </a:p>
          <a:p>
            <a:pPr marL="914400" lvl="1" indent="-457200">
              <a:lnSpc>
                <a:spcPct val="150000"/>
              </a:lnSpc>
              <a:buFont typeface="Wingdings" pitchFamily="2" charset="2"/>
              <a:buChar char="Ø"/>
            </a:pPr>
            <a:r>
              <a:rPr lang="en-US" altLang="zh-CN" sz="2400" dirty="0">
                <a:solidFill>
                  <a:srgbClr val="404040"/>
                </a:solidFill>
                <a:latin typeface="Times New Roman" pitchFamily="18" charset="0"/>
                <a:ea typeface="微软雅黑" pitchFamily="34" charset="-122"/>
                <a:cs typeface="Times New Roman" pitchFamily="18" charset="0"/>
              </a:rPr>
              <a:t>Testing stage of TBT</a:t>
            </a:r>
          </a:p>
          <a:p>
            <a:pPr marL="914400" lvl="1" indent="-457200">
              <a:lnSpc>
                <a:spcPct val="150000"/>
              </a:lnSpc>
              <a:buFont typeface="Wingdings" pitchFamily="2" charset="2"/>
              <a:buChar char="Ø"/>
            </a:pPr>
            <a:r>
              <a:rPr lang="en-US" altLang="zh-CN" sz="2400" dirty="0">
                <a:solidFill>
                  <a:srgbClr val="404040"/>
                </a:solidFill>
                <a:latin typeface="Times New Roman" pitchFamily="18" charset="0"/>
                <a:ea typeface="微软雅黑" pitchFamily="34" charset="-122"/>
                <a:cs typeface="Times New Roman" pitchFamily="18" charset="0"/>
              </a:rPr>
              <a:t>Checking and analysis stages after TBT</a:t>
            </a:r>
          </a:p>
        </p:txBody>
      </p:sp>
      <p:sp>
        <p:nvSpPr>
          <p:cNvPr id="6" name="矩形 5"/>
          <p:cNvSpPr/>
          <p:nvPr/>
        </p:nvSpPr>
        <p:spPr>
          <a:xfrm>
            <a:off x="395536" y="116632"/>
            <a:ext cx="7992888" cy="1015663"/>
          </a:xfrm>
          <a:prstGeom prst="rect">
            <a:avLst/>
          </a:prstGeom>
        </p:spPr>
        <p:txBody>
          <a:bodyPr wrap="square">
            <a:spAutoFit/>
          </a:bodyPr>
          <a:lstStyle/>
          <a:p>
            <a:pPr lvl="1" fontAlgn="base">
              <a:spcBef>
                <a:spcPts val="1560"/>
              </a:spcBef>
              <a:buSzPts val="1400"/>
              <a:tabLst>
                <a:tab pos="274320" algn="l"/>
              </a:tabLst>
            </a:pPr>
            <a:r>
              <a:rPr lang="en-US" altLang="zh-CN" sz="2800" dirty="0" smtClean="0">
                <a:solidFill>
                  <a:schemeClr val="bg1"/>
                </a:solidFill>
                <a:latin typeface="微软雅黑" panose="020B0503020204020204" pitchFamily="34" charset="-122"/>
                <a:ea typeface="微软雅黑" panose="020B0503020204020204" pitchFamily="34" charset="-122"/>
              </a:rPr>
              <a:t>10  </a:t>
            </a:r>
            <a:r>
              <a:rPr lang="en-US" altLang="zh-CN" sz="2800" dirty="0">
                <a:solidFill>
                  <a:schemeClr val="bg1"/>
                </a:solidFill>
                <a:latin typeface="微软雅黑" panose="020B0503020204020204" pitchFamily="34" charset="-122"/>
                <a:ea typeface="微软雅黑" panose="020B0503020204020204" pitchFamily="34" charset="-122"/>
              </a:rPr>
              <a:t>THERMAL BALANCE TEST</a:t>
            </a:r>
            <a:endParaRPr lang="zh-CN" altLang="zh-CN" sz="2800" dirty="0">
              <a:solidFill>
                <a:schemeClr val="bg1"/>
              </a:solidFill>
              <a:latin typeface="微软雅黑" panose="020B0503020204020204" pitchFamily="34" charset="-122"/>
              <a:ea typeface="微软雅黑" panose="020B0503020204020204" pitchFamily="34" charset="-122"/>
            </a:endParaRPr>
          </a:p>
          <a:p>
            <a:pPr lvl="1" fontAlgn="base"/>
            <a:r>
              <a:rPr lang="en-US" altLang="zh-CN" sz="3200" dirty="0" smtClean="0">
                <a:solidFill>
                  <a:schemeClr val="bg1"/>
                </a:solidFill>
              </a:rPr>
              <a:t>                                            ------</a:t>
            </a:r>
            <a:r>
              <a:rPr lang="zh-CN" altLang="zh-CN" sz="2400" dirty="0" smtClean="0">
                <a:solidFill>
                  <a:schemeClr val="bg1"/>
                </a:solidFill>
                <a:ea typeface="Times New Roman"/>
              </a:rPr>
              <a:t> </a:t>
            </a:r>
            <a:r>
              <a:rPr lang="en-GB" altLang="zh-CN" sz="2400" dirty="0">
                <a:solidFill>
                  <a:schemeClr val="bg1"/>
                </a:solidFill>
                <a:ea typeface="Times New Roman"/>
              </a:rPr>
              <a:t>Procedure of TBT</a:t>
            </a:r>
            <a:endParaRPr lang="zh-CN" altLang="zh-CN" sz="2400" dirty="0">
              <a:solidFill>
                <a:schemeClr val="bg1"/>
              </a:solidFill>
            </a:endParaRPr>
          </a:p>
        </p:txBody>
      </p:sp>
      <p:sp>
        <p:nvSpPr>
          <p:cNvPr id="7" name="矩形 6"/>
          <p:cNvSpPr/>
          <p:nvPr/>
        </p:nvSpPr>
        <p:spPr>
          <a:xfrm>
            <a:off x="539552" y="1483668"/>
            <a:ext cx="3161335" cy="523220"/>
          </a:xfrm>
          <a:prstGeom prst="rect">
            <a:avLst/>
          </a:prstGeom>
        </p:spPr>
        <p:txBody>
          <a:bodyPr wrap="square">
            <a:spAutoFit/>
          </a:bodyPr>
          <a:lstStyle/>
          <a:p>
            <a:r>
              <a:rPr lang="en-US" altLang="zh-CN" sz="2800" dirty="0">
                <a:latin typeface="Times New Roman" pitchFamily="18" charset="0"/>
                <a:cs typeface="Times New Roman" pitchFamily="18" charset="0"/>
              </a:rPr>
              <a:t>Procedure of TBT</a:t>
            </a:r>
            <a:endParaRPr lang="zh-CN" alt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xmlns="" val="322611506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页脚占位符 2"/>
          <p:cNvSpPr>
            <a:spLocks noGrp="1"/>
          </p:cNvSpPr>
          <p:nvPr>
            <p:ph type="ftr" sz="quarter" idx="11"/>
          </p:nvPr>
        </p:nvSpPr>
        <p:spPr/>
        <p:txBody>
          <a:bodyPr/>
          <a:lstStyle/>
          <a:p>
            <a:r>
              <a:rPr lang="en-US" altLang="zh-CN" smtClean="0"/>
              <a:t>THIS DOCUMENT CONTAINS PROPRIETARY INFORMATION OF CHINA ACADEMY OF SPACE TECHNOLOGY, AND MAY NOT BE REPRODUCED, COPIED, DISCLOSED, UTILIZED, PLACED OR TRANSMITTED ON INTERNET, IN WHOLE OR IN PART, WITHOUT PRIOR WRITTEN AUTHORIZATION.</a:t>
            </a:r>
            <a:endParaRPr lang="en-US" altLang="zh-CN" dirty="0" smtClean="0"/>
          </a:p>
        </p:txBody>
      </p:sp>
      <p:sp>
        <p:nvSpPr>
          <p:cNvPr id="4" name="灯片编号占位符 3"/>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25</a:t>
            </a:fld>
            <a:r>
              <a:rPr lang="zh-CN" altLang="en-US" smtClean="0"/>
              <a:t> </a:t>
            </a:r>
            <a:endParaRPr lang="zh-CN" altLang="en-US" dirty="0">
              <a:latin typeface="微软雅黑" pitchFamily="34" charset="-122"/>
              <a:ea typeface="微软雅黑" pitchFamily="34" charset="-122"/>
            </a:endParaRPr>
          </a:p>
        </p:txBody>
      </p:sp>
      <p:sp>
        <p:nvSpPr>
          <p:cNvPr id="6" name="矩形 5"/>
          <p:cNvSpPr/>
          <p:nvPr/>
        </p:nvSpPr>
        <p:spPr>
          <a:xfrm>
            <a:off x="395536" y="116632"/>
            <a:ext cx="7992888" cy="1015663"/>
          </a:xfrm>
          <a:prstGeom prst="rect">
            <a:avLst/>
          </a:prstGeom>
        </p:spPr>
        <p:txBody>
          <a:bodyPr wrap="square">
            <a:spAutoFit/>
          </a:bodyPr>
          <a:lstStyle/>
          <a:p>
            <a:pPr lvl="1" fontAlgn="base">
              <a:spcBef>
                <a:spcPts val="1560"/>
              </a:spcBef>
              <a:buSzPts val="1400"/>
              <a:tabLst>
                <a:tab pos="274320" algn="l"/>
              </a:tabLst>
            </a:pPr>
            <a:r>
              <a:rPr lang="en-US" altLang="zh-CN" sz="2800" dirty="0" smtClean="0">
                <a:solidFill>
                  <a:schemeClr val="bg1"/>
                </a:solidFill>
                <a:latin typeface="微软雅黑" panose="020B0503020204020204" pitchFamily="34" charset="-122"/>
                <a:ea typeface="微软雅黑" panose="020B0503020204020204" pitchFamily="34" charset="-122"/>
              </a:rPr>
              <a:t>10  </a:t>
            </a:r>
            <a:r>
              <a:rPr lang="en-US" altLang="zh-CN" sz="2800" dirty="0">
                <a:solidFill>
                  <a:schemeClr val="bg1"/>
                </a:solidFill>
                <a:latin typeface="微软雅黑" panose="020B0503020204020204" pitchFamily="34" charset="-122"/>
                <a:ea typeface="微软雅黑" panose="020B0503020204020204" pitchFamily="34" charset="-122"/>
              </a:rPr>
              <a:t>THERMAL BALANCE TEST</a:t>
            </a:r>
            <a:endParaRPr lang="zh-CN" altLang="zh-CN" sz="2800" dirty="0">
              <a:solidFill>
                <a:schemeClr val="bg1"/>
              </a:solidFill>
              <a:latin typeface="微软雅黑" panose="020B0503020204020204" pitchFamily="34" charset="-122"/>
              <a:ea typeface="微软雅黑" panose="020B0503020204020204" pitchFamily="34" charset="-122"/>
            </a:endParaRPr>
          </a:p>
          <a:p>
            <a:pPr lvl="1" fontAlgn="base"/>
            <a:r>
              <a:rPr lang="en-US" altLang="zh-CN" sz="3200" dirty="0" smtClean="0">
                <a:solidFill>
                  <a:schemeClr val="bg1"/>
                </a:solidFill>
              </a:rPr>
              <a:t>                                            ------</a:t>
            </a:r>
            <a:r>
              <a:rPr lang="zh-CN" altLang="zh-CN" sz="2400" dirty="0" smtClean="0">
                <a:solidFill>
                  <a:schemeClr val="bg1"/>
                </a:solidFill>
                <a:ea typeface="Times New Roman"/>
              </a:rPr>
              <a:t> </a:t>
            </a:r>
            <a:r>
              <a:rPr lang="en-GB" altLang="zh-CN" sz="2400" dirty="0">
                <a:solidFill>
                  <a:schemeClr val="bg1"/>
                </a:solidFill>
                <a:ea typeface="Times New Roman"/>
              </a:rPr>
              <a:t>Procedure of TBT</a:t>
            </a:r>
            <a:endParaRPr lang="zh-CN" altLang="zh-CN" sz="2400" dirty="0">
              <a:solidFill>
                <a:schemeClr val="bg1"/>
              </a:solidFill>
            </a:endParaRPr>
          </a:p>
        </p:txBody>
      </p:sp>
      <p:sp>
        <p:nvSpPr>
          <p:cNvPr id="7" name="矩形 6"/>
          <p:cNvSpPr/>
          <p:nvPr/>
        </p:nvSpPr>
        <p:spPr>
          <a:xfrm>
            <a:off x="323528" y="1222058"/>
            <a:ext cx="3161335" cy="523220"/>
          </a:xfrm>
          <a:prstGeom prst="rect">
            <a:avLst/>
          </a:prstGeom>
        </p:spPr>
        <p:txBody>
          <a:bodyPr wrap="square">
            <a:spAutoFit/>
          </a:bodyPr>
          <a:lstStyle/>
          <a:p>
            <a:r>
              <a:rPr lang="en-US" altLang="zh-CN" sz="2800" dirty="0">
                <a:latin typeface="Times New Roman" pitchFamily="18" charset="0"/>
                <a:cs typeface="Times New Roman" pitchFamily="18" charset="0"/>
              </a:rPr>
              <a:t>Procedure of TBT</a:t>
            </a:r>
            <a:endParaRPr lang="zh-CN" altLang="en-US" sz="2800" dirty="0">
              <a:latin typeface="Times New Roman" pitchFamily="18" charset="0"/>
              <a:cs typeface="Times New Roman" pitchFamily="18" charset="0"/>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323528" y="2060848"/>
            <a:ext cx="8292811" cy="38439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808847321"/>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26</a:t>
            </a:fld>
            <a:r>
              <a:rPr lang="zh-CN" altLang="en-US" smtClean="0"/>
              <a:t> </a:t>
            </a:r>
            <a:endParaRPr lang="zh-CN" altLang="en-US" dirty="0">
              <a:latin typeface="微软雅黑" pitchFamily="34" charset="-122"/>
              <a:ea typeface="微软雅黑" pitchFamily="34" charset="-122"/>
            </a:endParaRPr>
          </a:p>
        </p:txBody>
      </p:sp>
      <p:sp>
        <p:nvSpPr>
          <p:cNvPr id="8" name="内容占位符 7"/>
          <p:cNvSpPr>
            <a:spLocks noGrp="1"/>
          </p:cNvSpPr>
          <p:nvPr>
            <p:ph idx="1"/>
          </p:nvPr>
        </p:nvSpPr>
        <p:spPr>
          <a:xfrm>
            <a:off x="107950" y="1357313"/>
            <a:ext cx="9036050" cy="3508653"/>
          </a:xfrm>
          <a:prstGeom prst="rect">
            <a:avLst/>
          </a:prstGeom>
        </p:spPr>
        <p:txBody>
          <a:bodyPr wrap="square">
            <a:spAutoFit/>
          </a:bodyPr>
          <a:lstStyle/>
          <a:p>
            <a:pPr>
              <a:buFont typeface="Wingdings" pitchFamily="2" charset="2"/>
              <a:buChar char="p"/>
            </a:pPr>
            <a:r>
              <a:rPr lang="en-US" altLang="zh-CN" sz="2800" b="0" dirty="0">
                <a:latin typeface="Times New Roman" pitchFamily="18" charset="0"/>
                <a:cs typeface="Times New Roman" pitchFamily="18" charset="0"/>
              </a:rPr>
              <a:t>Working cases are complex during in-orbit flight</a:t>
            </a:r>
          </a:p>
          <a:p>
            <a:pPr lvl="1">
              <a:buFont typeface="Wingdings" pitchFamily="2" charset="2"/>
              <a:buChar char="p"/>
            </a:pPr>
            <a:r>
              <a:rPr lang="en-US" altLang="zh-CN" sz="2400" b="0" dirty="0">
                <a:solidFill>
                  <a:srgbClr val="404040"/>
                </a:solidFill>
                <a:latin typeface="Times New Roman" pitchFamily="18" charset="0"/>
                <a:cs typeface="Times New Roman" pitchFamily="18" charset="0"/>
              </a:rPr>
              <a:t>Orbit, attitude, configuration</a:t>
            </a:r>
          </a:p>
          <a:p>
            <a:pPr lvl="1">
              <a:buFont typeface="Wingdings" pitchFamily="2" charset="2"/>
              <a:buChar char="p"/>
            </a:pPr>
            <a:r>
              <a:rPr lang="en-US" altLang="zh-CN" sz="2400" b="0" dirty="0">
                <a:solidFill>
                  <a:srgbClr val="404040"/>
                </a:solidFill>
                <a:latin typeface="Times New Roman" pitchFamily="18" charset="0"/>
                <a:cs typeface="Times New Roman" pitchFamily="18" charset="0"/>
              </a:rPr>
              <a:t>Equipment heat consumption, working modes</a:t>
            </a:r>
          </a:p>
          <a:p>
            <a:pPr lvl="1">
              <a:buFont typeface="Wingdings" pitchFamily="2" charset="2"/>
              <a:buChar char="p"/>
            </a:pPr>
            <a:r>
              <a:rPr lang="en-US" altLang="zh-CN" sz="2400" b="0" dirty="0">
                <a:solidFill>
                  <a:srgbClr val="404040"/>
                </a:solidFill>
                <a:latin typeface="Times New Roman" pitchFamily="18" charset="0"/>
                <a:cs typeface="Times New Roman" pitchFamily="18" charset="0"/>
              </a:rPr>
              <a:t>Positions and directions of </a:t>
            </a:r>
            <a:r>
              <a:rPr lang="en-US" altLang="zh-CN" sz="2400" b="0" dirty="0" err="1">
                <a:solidFill>
                  <a:srgbClr val="404040"/>
                </a:solidFill>
                <a:latin typeface="Times New Roman" pitchFamily="18" charset="0"/>
                <a:cs typeface="Times New Roman" pitchFamily="18" charset="0"/>
              </a:rPr>
              <a:t>radiative</a:t>
            </a:r>
            <a:r>
              <a:rPr lang="en-US" altLang="zh-CN" sz="2400" b="0" dirty="0">
                <a:solidFill>
                  <a:srgbClr val="404040"/>
                </a:solidFill>
                <a:latin typeface="Times New Roman" pitchFamily="18" charset="0"/>
                <a:cs typeface="Times New Roman" pitchFamily="18" charset="0"/>
              </a:rPr>
              <a:t> heat dissipation surface</a:t>
            </a:r>
          </a:p>
          <a:p>
            <a:pPr lvl="1">
              <a:buFont typeface="Wingdings" pitchFamily="2" charset="2"/>
              <a:buChar char="p"/>
            </a:pPr>
            <a:r>
              <a:rPr lang="en-US" altLang="zh-CN" sz="2400" b="0" dirty="0">
                <a:solidFill>
                  <a:srgbClr val="404040"/>
                </a:solidFill>
                <a:latin typeface="Times New Roman" pitchFamily="18" charset="0"/>
                <a:cs typeface="Times New Roman" pitchFamily="18" charset="0"/>
              </a:rPr>
              <a:t>Optical properties of the thermal control coatings</a:t>
            </a:r>
          </a:p>
          <a:p>
            <a:pPr lvl="1">
              <a:buFont typeface="Wingdings" pitchFamily="2" charset="2"/>
              <a:buChar char="p"/>
            </a:pPr>
            <a:r>
              <a:rPr lang="en-US" altLang="zh-CN" sz="2400" b="0" dirty="0">
                <a:solidFill>
                  <a:srgbClr val="404040"/>
                </a:solidFill>
                <a:latin typeface="Times New Roman" pitchFamily="18" charset="0"/>
                <a:cs typeface="Times New Roman" pitchFamily="18" charset="0"/>
              </a:rPr>
              <a:t>Coating degradation in space</a:t>
            </a:r>
          </a:p>
        </p:txBody>
      </p:sp>
      <p:sp>
        <p:nvSpPr>
          <p:cNvPr id="9" name="矩形 8"/>
          <p:cNvSpPr/>
          <p:nvPr/>
        </p:nvSpPr>
        <p:spPr>
          <a:xfrm>
            <a:off x="395536" y="116632"/>
            <a:ext cx="7992888" cy="1015663"/>
          </a:xfrm>
          <a:prstGeom prst="rect">
            <a:avLst/>
          </a:prstGeom>
        </p:spPr>
        <p:txBody>
          <a:bodyPr wrap="square">
            <a:spAutoFit/>
          </a:bodyPr>
          <a:lstStyle/>
          <a:p>
            <a:pPr lvl="1" fontAlgn="base">
              <a:spcBef>
                <a:spcPts val="1560"/>
              </a:spcBef>
              <a:buSzPts val="1400"/>
              <a:tabLst>
                <a:tab pos="274320" algn="l"/>
              </a:tabLst>
            </a:pPr>
            <a:r>
              <a:rPr lang="en-US" altLang="zh-CN" sz="2800" dirty="0" smtClean="0">
                <a:solidFill>
                  <a:schemeClr val="bg1"/>
                </a:solidFill>
                <a:latin typeface="微软雅黑" panose="020B0503020204020204" pitchFamily="34" charset="-122"/>
                <a:ea typeface="微软雅黑" panose="020B0503020204020204" pitchFamily="34" charset="-122"/>
              </a:rPr>
              <a:t>10  </a:t>
            </a:r>
            <a:r>
              <a:rPr lang="en-US" altLang="zh-CN" sz="2800" dirty="0">
                <a:solidFill>
                  <a:schemeClr val="bg1"/>
                </a:solidFill>
                <a:latin typeface="微软雅黑" panose="020B0503020204020204" pitchFamily="34" charset="-122"/>
                <a:ea typeface="微软雅黑" panose="020B0503020204020204" pitchFamily="34" charset="-122"/>
              </a:rPr>
              <a:t>THERMAL BALANCE TEST</a:t>
            </a:r>
            <a:endParaRPr lang="zh-CN" altLang="zh-CN" sz="2800" dirty="0">
              <a:solidFill>
                <a:schemeClr val="bg1"/>
              </a:solidFill>
              <a:latin typeface="微软雅黑" panose="020B0503020204020204" pitchFamily="34" charset="-122"/>
              <a:ea typeface="微软雅黑" panose="020B0503020204020204" pitchFamily="34" charset="-122"/>
            </a:endParaRPr>
          </a:p>
          <a:p>
            <a:pPr lvl="1" fontAlgn="base"/>
            <a:r>
              <a:rPr lang="en-US" altLang="zh-CN" sz="3200" dirty="0" smtClean="0">
                <a:solidFill>
                  <a:schemeClr val="bg1"/>
                </a:solidFill>
              </a:rPr>
              <a:t>                                            ------</a:t>
            </a:r>
            <a:r>
              <a:rPr lang="zh-CN" altLang="zh-CN" sz="2400" dirty="0" smtClean="0">
                <a:solidFill>
                  <a:schemeClr val="bg1"/>
                </a:solidFill>
                <a:ea typeface="Times New Roman"/>
              </a:rPr>
              <a:t> </a:t>
            </a:r>
            <a:r>
              <a:rPr lang="en-GB" altLang="zh-CN" sz="2400" dirty="0" smtClean="0">
                <a:solidFill>
                  <a:schemeClr val="bg1"/>
                </a:solidFill>
                <a:ea typeface="Times New Roman"/>
              </a:rPr>
              <a:t>Test Cases</a:t>
            </a:r>
            <a:endParaRPr lang="zh-CN" altLang="zh-CN" sz="2400" dirty="0">
              <a:solidFill>
                <a:schemeClr val="bg1"/>
              </a:solidFill>
            </a:endParaRPr>
          </a:p>
        </p:txBody>
      </p:sp>
    </p:spTree>
    <p:extLst>
      <p:ext uri="{BB962C8B-B14F-4D97-AF65-F5344CB8AC3E}">
        <p14:creationId xmlns:p14="http://schemas.microsoft.com/office/powerpoint/2010/main" xmlns="" val="114108322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27</a:t>
            </a:fld>
            <a:r>
              <a:rPr lang="zh-CN" altLang="en-US" smtClean="0"/>
              <a:t> </a:t>
            </a:r>
            <a:endParaRPr lang="zh-CN" altLang="en-US" dirty="0">
              <a:latin typeface="微软雅黑" pitchFamily="34" charset="-122"/>
              <a:ea typeface="微软雅黑" pitchFamily="34" charset="-122"/>
            </a:endParaRPr>
          </a:p>
        </p:txBody>
      </p:sp>
      <p:sp>
        <p:nvSpPr>
          <p:cNvPr id="6" name="内容占位符 2"/>
          <p:cNvSpPr>
            <a:spLocks noGrp="1"/>
          </p:cNvSpPr>
          <p:nvPr>
            <p:ph idx="1"/>
          </p:nvPr>
        </p:nvSpPr>
        <p:spPr>
          <a:xfrm>
            <a:off x="107950" y="1357313"/>
            <a:ext cx="9036050" cy="4951412"/>
          </a:xfrm>
        </p:spPr>
        <p:txBody>
          <a:bodyPr>
            <a:normAutofit fontScale="92500" lnSpcReduction="20000"/>
          </a:bodyPr>
          <a:lstStyle/>
          <a:p>
            <a:pPr>
              <a:buFont typeface="Wingdings" pitchFamily="2" charset="2"/>
              <a:buChar char="p"/>
            </a:pPr>
            <a:r>
              <a:rPr lang="en-US" altLang="zh-CN" sz="2800" b="0" dirty="0">
                <a:latin typeface="Times New Roman" pitchFamily="18" charset="0"/>
                <a:cs typeface="Times New Roman" pitchFamily="18" charset="0"/>
              </a:rPr>
              <a:t>Worst hot case</a:t>
            </a:r>
          </a:p>
          <a:p>
            <a:pPr lvl="1">
              <a:buFont typeface="Wingdings" pitchFamily="2" charset="2"/>
              <a:buChar char="l"/>
            </a:pPr>
            <a:r>
              <a:rPr lang="en-US" altLang="zh-CN" sz="2400" b="0" dirty="0">
                <a:solidFill>
                  <a:srgbClr val="404040"/>
                </a:solidFill>
                <a:latin typeface="Times New Roman" pitchFamily="18" charset="0"/>
                <a:cs typeface="Times New Roman" pitchFamily="18" charset="0"/>
              </a:rPr>
              <a:t>Orbit: full sun</a:t>
            </a:r>
          </a:p>
          <a:p>
            <a:pPr lvl="1">
              <a:buFont typeface="Wingdings" pitchFamily="2" charset="2"/>
              <a:buChar char="l"/>
            </a:pPr>
            <a:r>
              <a:rPr lang="en-US" altLang="zh-CN" sz="2400" b="0" dirty="0">
                <a:solidFill>
                  <a:srgbClr val="404040"/>
                </a:solidFill>
                <a:latin typeface="Times New Roman" pitchFamily="18" charset="0"/>
                <a:cs typeface="Times New Roman" pitchFamily="18" charset="0"/>
              </a:rPr>
              <a:t>Attitude: Pointing to the sun</a:t>
            </a:r>
          </a:p>
          <a:p>
            <a:pPr lvl="1">
              <a:buFont typeface="Wingdings" pitchFamily="2" charset="2"/>
              <a:buChar char="l"/>
            </a:pPr>
            <a:r>
              <a:rPr lang="en-US" altLang="zh-CN" sz="2400" b="0" dirty="0">
                <a:solidFill>
                  <a:srgbClr val="404040"/>
                </a:solidFill>
                <a:latin typeface="Times New Roman" pitchFamily="18" charset="0"/>
                <a:cs typeface="Times New Roman" pitchFamily="18" charset="0"/>
              </a:rPr>
              <a:t>Working mode: max heat consumption</a:t>
            </a:r>
          </a:p>
          <a:p>
            <a:pPr lvl="1">
              <a:buFont typeface="Wingdings" pitchFamily="2" charset="2"/>
              <a:buChar char="l"/>
            </a:pPr>
            <a:r>
              <a:rPr lang="en-US" altLang="zh-CN" sz="2400" b="0" dirty="0">
                <a:solidFill>
                  <a:srgbClr val="404040"/>
                </a:solidFill>
                <a:latin typeface="Times New Roman" pitchFamily="18" charset="0"/>
                <a:cs typeface="Times New Roman" pitchFamily="18" charset="0"/>
              </a:rPr>
              <a:t>Degradation: performance of thermal control coatings (EOL)</a:t>
            </a:r>
          </a:p>
          <a:p>
            <a:pPr>
              <a:buFont typeface="Wingdings" pitchFamily="2" charset="2"/>
              <a:buChar char="p"/>
            </a:pPr>
            <a:r>
              <a:rPr lang="en-US" altLang="zh-CN" sz="2800" b="0" dirty="0">
                <a:latin typeface="Times New Roman" pitchFamily="18" charset="0"/>
                <a:cs typeface="Times New Roman" pitchFamily="18" charset="0"/>
              </a:rPr>
              <a:t>Worst cold case</a:t>
            </a:r>
          </a:p>
          <a:p>
            <a:pPr lvl="1">
              <a:buFont typeface="Wingdings" pitchFamily="2" charset="2"/>
              <a:buChar char="l"/>
            </a:pPr>
            <a:r>
              <a:rPr lang="en-US" altLang="zh-CN" sz="2400" b="0" dirty="0">
                <a:solidFill>
                  <a:srgbClr val="404040"/>
                </a:solidFill>
                <a:latin typeface="Times New Roman" pitchFamily="18" charset="0"/>
                <a:cs typeface="Times New Roman" pitchFamily="18" charset="0"/>
              </a:rPr>
              <a:t>Orbit: longest shadow period</a:t>
            </a:r>
          </a:p>
          <a:p>
            <a:pPr lvl="1">
              <a:buFont typeface="Wingdings" pitchFamily="2" charset="2"/>
              <a:buChar char="l"/>
            </a:pPr>
            <a:r>
              <a:rPr lang="en-US" altLang="zh-CN" sz="2400" b="0" dirty="0">
                <a:solidFill>
                  <a:srgbClr val="404040"/>
                </a:solidFill>
                <a:latin typeface="Times New Roman" pitchFamily="18" charset="0"/>
                <a:cs typeface="Times New Roman" pitchFamily="18" charset="0"/>
              </a:rPr>
              <a:t>Attitude: back towards the sun</a:t>
            </a:r>
          </a:p>
          <a:p>
            <a:pPr lvl="1">
              <a:buFont typeface="Wingdings" pitchFamily="2" charset="2"/>
              <a:buChar char="l"/>
            </a:pPr>
            <a:r>
              <a:rPr lang="en-US" altLang="zh-CN" sz="2400" b="0" dirty="0">
                <a:solidFill>
                  <a:srgbClr val="404040"/>
                </a:solidFill>
                <a:latin typeface="Times New Roman" pitchFamily="18" charset="0"/>
                <a:cs typeface="Times New Roman" pitchFamily="18" charset="0"/>
              </a:rPr>
              <a:t>Working mode: min heat consumption or powered off</a:t>
            </a:r>
          </a:p>
          <a:p>
            <a:pPr lvl="1">
              <a:buFont typeface="Wingdings" pitchFamily="2" charset="2"/>
              <a:buChar char="l"/>
            </a:pPr>
            <a:r>
              <a:rPr lang="en-US" altLang="zh-CN" sz="2400" b="0" dirty="0">
                <a:solidFill>
                  <a:srgbClr val="404040"/>
                </a:solidFill>
                <a:latin typeface="Times New Roman" pitchFamily="18" charset="0"/>
                <a:cs typeface="Times New Roman" pitchFamily="18" charset="0"/>
              </a:rPr>
              <a:t>Degradation: Beginning of the lifetime (BOL)</a:t>
            </a:r>
          </a:p>
          <a:p>
            <a:pPr eaLnBrk="1" hangingPunct="1">
              <a:buFont typeface="Wingdings" pitchFamily="2" charset="2"/>
              <a:buChar char="p"/>
              <a:defRPr/>
            </a:pPr>
            <a:endParaRPr lang="en-US" altLang="zh-CN" sz="1800" b="0" dirty="0" smtClean="0">
              <a:latin typeface="Times New Roman" pitchFamily="18" charset="0"/>
              <a:cs typeface="Times New Roman" pitchFamily="18" charset="0"/>
            </a:endParaRPr>
          </a:p>
        </p:txBody>
      </p:sp>
      <p:sp>
        <p:nvSpPr>
          <p:cNvPr id="8" name="矩形 7"/>
          <p:cNvSpPr/>
          <p:nvPr/>
        </p:nvSpPr>
        <p:spPr>
          <a:xfrm>
            <a:off x="395536" y="116632"/>
            <a:ext cx="7992888" cy="1015663"/>
          </a:xfrm>
          <a:prstGeom prst="rect">
            <a:avLst/>
          </a:prstGeom>
        </p:spPr>
        <p:txBody>
          <a:bodyPr wrap="square">
            <a:spAutoFit/>
          </a:bodyPr>
          <a:lstStyle/>
          <a:p>
            <a:pPr lvl="1" fontAlgn="base">
              <a:spcBef>
                <a:spcPts val="1560"/>
              </a:spcBef>
              <a:buSzPts val="1400"/>
              <a:tabLst>
                <a:tab pos="274320" algn="l"/>
              </a:tabLst>
            </a:pPr>
            <a:r>
              <a:rPr lang="en-US" altLang="zh-CN" sz="2800" dirty="0" smtClean="0">
                <a:solidFill>
                  <a:schemeClr val="bg1"/>
                </a:solidFill>
                <a:latin typeface="微软雅黑" panose="020B0503020204020204" pitchFamily="34" charset="-122"/>
                <a:ea typeface="微软雅黑" panose="020B0503020204020204" pitchFamily="34" charset="-122"/>
              </a:rPr>
              <a:t>10  </a:t>
            </a:r>
            <a:r>
              <a:rPr lang="en-US" altLang="zh-CN" sz="2800" dirty="0">
                <a:solidFill>
                  <a:schemeClr val="bg1"/>
                </a:solidFill>
                <a:latin typeface="微软雅黑" panose="020B0503020204020204" pitchFamily="34" charset="-122"/>
                <a:ea typeface="微软雅黑" panose="020B0503020204020204" pitchFamily="34" charset="-122"/>
              </a:rPr>
              <a:t>THERMAL BALANCE TEST</a:t>
            </a:r>
            <a:endParaRPr lang="zh-CN" altLang="zh-CN" sz="2800" dirty="0">
              <a:solidFill>
                <a:schemeClr val="bg1"/>
              </a:solidFill>
              <a:latin typeface="微软雅黑" panose="020B0503020204020204" pitchFamily="34" charset="-122"/>
              <a:ea typeface="微软雅黑" panose="020B0503020204020204" pitchFamily="34" charset="-122"/>
            </a:endParaRPr>
          </a:p>
          <a:p>
            <a:pPr lvl="1" fontAlgn="base"/>
            <a:r>
              <a:rPr lang="en-US" altLang="zh-CN" sz="3200" dirty="0" smtClean="0">
                <a:solidFill>
                  <a:schemeClr val="bg1"/>
                </a:solidFill>
              </a:rPr>
              <a:t>                                            ------</a:t>
            </a:r>
            <a:r>
              <a:rPr lang="zh-CN" altLang="zh-CN" sz="2400" dirty="0" smtClean="0">
                <a:solidFill>
                  <a:schemeClr val="bg1"/>
                </a:solidFill>
                <a:ea typeface="Times New Roman"/>
              </a:rPr>
              <a:t> </a:t>
            </a:r>
            <a:r>
              <a:rPr lang="en-GB" altLang="zh-CN" sz="2400" dirty="0" smtClean="0">
                <a:solidFill>
                  <a:schemeClr val="bg1"/>
                </a:solidFill>
                <a:ea typeface="Times New Roman"/>
              </a:rPr>
              <a:t>Test Cases</a:t>
            </a:r>
            <a:endParaRPr lang="zh-CN" altLang="zh-CN" sz="2400" dirty="0">
              <a:solidFill>
                <a:schemeClr val="bg1"/>
              </a:solidFill>
            </a:endParaRPr>
          </a:p>
        </p:txBody>
      </p:sp>
    </p:spTree>
    <p:extLst>
      <p:ext uri="{BB962C8B-B14F-4D97-AF65-F5344CB8AC3E}">
        <p14:creationId xmlns:p14="http://schemas.microsoft.com/office/powerpoint/2010/main" xmlns="" val="114108322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28</a:t>
            </a:fld>
            <a:r>
              <a:rPr lang="zh-CN" altLang="en-US" smtClean="0"/>
              <a:t> </a:t>
            </a:r>
            <a:endParaRPr lang="zh-CN" altLang="en-US" dirty="0">
              <a:latin typeface="微软雅黑" pitchFamily="34" charset="-122"/>
              <a:ea typeface="微软雅黑" pitchFamily="34" charset="-122"/>
            </a:endParaRPr>
          </a:p>
        </p:txBody>
      </p:sp>
      <p:sp>
        <p:nvSpPr>
          <p:cNvPr id="6" name="矩形 5"/>
          <p:cNvSpPr/>
          <p:nvPr/>
        </p:nvSpPr>
        <p:spPr>
          <a:xfrm>
            <a:off x="395536" y="116632"/>
            <a:ext cx="7992888" cy="1015663"/>
          </a:xfrm>
          <a:prstGeom prst="rect">
            <a:avLst/>
          </a:prstGeom>
        </p:spPr>
        <p:txBody>
          <a:bodyPr wrap="square">
            <a:spAutoFit/>
          </a:bodyPr>
          <a:lstStyle/>
          <a:p>
            <a:pPr lvl="1" fontAlgn="base">
              <a:spcBef>
                <a:spcPts val="1560"/>
              </a:spcBef>
              <a:buSzPts val="1400"/>
              <a:tabLst>
                <a:tab pos="274320" algn="l"/>
              </a:tabLst>
            </a:pPr>
            <a:r>
              <a:rPr lang="en-US" altLang="zh-CN" sz="2800" dirty="0" smtClean="0">
                <a:solidFill>
                  <a:schemeClr val="bg1"/>
                </a:solidFill>
                <a:latin typeface="微软雅黑" panose="020B0503020204020204" pitchFamily="34" charset="-122"/>
                <a:ea typeface="微软雅黑" panose="020B0503020204020204" pitchFamily="34" charset="-122"/>
              </a:rPr>
              <a:t>10  </a:t>
            </a:r>
            <a:r>
              <a:rPr lang="en-US" altLang="zh-CN" sz="2800" dirty="0">
                <a:solidFill>
                  <a:schemeClr val="bg1"/>
                </a:solidFill>
                <a:latin typeface="微软雅黑" panose="020B0503020204020204" pitchFamily="34" charset="-122"/>
                <a:ea typeface="微软雅黑" panose="020B0503020204020204" pitchFamily="34" charset="-122"/>
              </a:rPr>
              <a:t>THERMAL BALANCE TEST</a:t>
            </a:r>
            <a:endParaRPr lang="zh-CN" altLang="zh-CN" sz="2800" dirty="0">
              <a:solidFill>
                <a:schemeClr val="bg1"/>
              </a:solidFill>
              <a:latin typeface="微软雅黑" panose="020B0503020204020204" pitchFamily="34" charset="-122"/>
              <a:ea typeface="微软雅黑" panose="020B0503020204020204" pitchFamily="34" charset="-122"/>
            </a:endParaRPr>
          </a:p>
          <a:p>
            <a:pPr lvl="1" fontAlgn="base"/>
            <a:r>
              <a:rPr lang="en-US" altLang="zh-CN" sz="3200" dirty="0" smtClean="0">
                <a:solidFill>
                  <a:schemeClr val="bg1"/>
                </a:solidFill>
              </a:rPr>
              <a:t>                                            ------</a:t>
            </a:r>
            <a:r>
              <a:rPr lang="zh-CN" altLang="zh-CN" sz="2400" dirty="0" smtClean="0">
                <a:solidFill>
                  <a:schemeClr val="bg1"/>
                </a:solidFill>
                <a:ea typeface="Times New Roman"/>
              </a:rPr>
              <a:t> </a:t>
            </a:r>
            <a:r>
              <a:rPr lang="en-GB" altLang="zh-CN" sz="2400" dirty="0" smtClean="0">
                <a:solidFill>
                  <a:schemeClr val="bg1"/>
                </a:solidFill>
                <a:ea typeface="Times New Roman"/>
              </a:rPr>
              <a:t>Test Cases</a:t>
            </a:r>
            <a:endParaRPr lang="zh-CN" altLang="zh-CN" sz="2400" dirty="0">
              <a:solidFill>
                <a:schemeClr val="bg1"/>
              </a:solidFill>
            </a:endParaRPr>
          </a:p>
        </p:txBody>
      </p:sp>
      <p:sp>
        <p:nvSpPr>
          <p:cNvPr id="7" name="矩形 6"/>
          <p:cNvSpPr/>
          <p:nvPr/>
        </p:nvSpPr>
        <p:spPr>
          <a:xfrm>
            <a:off x="720080" y="1484784"/>
            <a:ext cx="7812360" cy="4832092"/>
          </a:xfrm>
          <a:prstGeom prst="rect">
            <a:avLst/>
          </a:prstGeom>
        </p:spPr>
        <p:txBody>
          <a:bodyPr wrap="square">
            <a:spAutoFit/>
          </a:bodyPr>
          <a:lstStyle/>
          <a:p>
            <a:pPr algn="just">
              <a:spcBef>
                <a:spcPts val="500"/>
              </a:spcBef>
              <a:buSzPts val="750"/>
            </a:pPr>
            <a:r>
              <a:rPr lang="en-GB" altLang="zh-CN" sz="2400" kern="0" dirty="0">
                <a:solidFill>
                  <a:prstClr val="black"/>
                </a:solidFill>
                <a:latin typeface="Times New Roman"/>
              </a:rPr>
              <a:t>Case 1 - Safe Mode, BOL, </a:t>
            </a:r>
            <a:r>
              <a:rPr lang="en-GB" altLang="zh-CN" sz="2400" kern="0" dirty="0" smtClean="0">
                <a:solidFill>
                  <a:prstClr val="black"/>
                </a:solidFill>
                <a:latin typeface="Times New Roman"/>
              </a:rPr>
              <a:t>Steady State</a:t>
            </a:r>
          </a:p>
          <a:p>
            <a:pPr indent="-457200" algn="just">
              <a:spcBef>
                <a:spcPts val="500"/>
              </a:spcBef>
              <a:buSzPct val="50000"/>
              <a:buFont typeface="Wingdings" pitchFamily="2" charset="2"/>
              <a:buChar char="Ø"/>
            </a:pPr>
            <a:r>
              <a:rPr lang="en-US" altLang="zh-CN" kern="0" dirty="0">
                <a:solidFill>
                  <a:prstClr val="black"/>
                </a:solidFill>
                <a:latin typeface="Times New Roman"/>
              </a:rPr>
              <a:t>Satellite -Z- axis points to the Sun. </a:t>
            </a:r>
          </a:p>
          <a:p>
            <a:pPr indent="-457200" algn="just">
              <a:spcBef>
                <a:spcPts val="500"/>
              </a:spcBef>
              <a:buSzPct val="50000"/>
              <a:buFont typeface="Wingdings" pitchFamily="2" charset="2"/>
              <a:buChar char="Ø"/>
            </a:pPr>
            <a:r>
              <a:rPr lang="en-US" altLang="zh-CN" kern="0" dirty="0">
                <a:solidFill>
                  <a:prstClr val="black"/>
                </a:solidFill>
                <a:latin typeface="Times New Roman"/>
              </a:rPr>
              <a:t>Solar absorptivity of thermal coatings shall be taken normal value. </a:t>
            </a:r>
          </a:p>
          <a:p>
            <a:pPr indent="-457200" algn="just">
              <a:spcBef>
                <a:spcPts val="500"/>
              </a:spcBef>
              <a:buSzPct val="50000"/>
              <a:buFont typeface="Wingdings" pitchFamily="2" charset="2"/>
              <a:buChar char="Ø"/>
            </a:pPr>
            <a:r>
              <a:rPr lang="en-US" altLang="zh-CN" kern="0" dirty="0">
                <a:solidFill>
                  <a:prstClr val="black"/>
                </a:solidFill>
                <a:latin typeface="Times New Roman"/>
              </a:rPr>
              <a:t>Payloads including cameras and DTS are turned off.</a:t>
            </a:r>
          </a:p>
          <a:p>
            <a:pPr indent="-457200" algn="just">
              <a:spcBef>
                <a:spcPts val="500"/>
              </a:spcBef>
              <a:buSzPct val="50000"/>
              <a:buFont typeface="Wingdings" pitchFamily="2" charset="2"/>
              <a:buChar char="Ø"/>
            </a:pPr>
            <a:r>
              <a:rPr lang="en-US" altLang="zh-CN" kern="0" dirty="0">
                <a:solidFill>
                  <a:prstClr val="black"/>
                </a:solidFill>
                <a:latin typeface="Times New Roman"/>
              </a:rPr>
              <a:t> Heaters are enable.</a:t>
            </a:r>
          </a:p>
          <a:p>
            <a:pPr indent="-457200" algn="just">
              <a:spcBef>
                <a:spcPts val="500"/>
              </a:spcBef>
              <a:buSzPts val="750"/>
              <a:buFont typeface="Wingdings" pitchFamily="2" charset="2"/>
              <a:buChar char="Ø"/>
            </a:pPr>
            <a:endParaRPr lang="en-GB" altLang="zh-CN" kern="0" dirty="0" smtClean="0">
              <a:solidFill>
                <a:prstClr val="black"/>
              </a:solidFill>
              <a:latin typeface="Times New Roman"/>
            </a:endParaRPr>
          </a:p>
          <a:p>
            <a:pPr algn="just">
              <a:spcBef>
                <a:spcPts val="500"/>
              </a:spcBef>
              <a:buSzPts val="750"/>
            </a:pPr>
            <a:r>
              <a:rPr lang="en-GB" altLang="zh-CN" sz="2400" kern="0" dirty="0" smtClean="0">
                <a:solidFill>
                  <a:prstClr val="black"/>
                </a:solidFill>
                <a:latin typeface="Times New Roman"/>
              </a:rPr>
              <a:t>Case </a:t>
            </a:r>
            <a:r>
              <a:rPr lang="en-GB" altLang="zh-CN" sz="2400" kern="0" dirty="0">
                <a:solidFill>
                  <a:prstClr val="black"/>
                </a:solidFill>
                <a:latin typeface="Times New Roman"/>
              </a:rPr>
              <a:t>2 - </a:t>
            </a:r>
            <a:r>
              <a:rPr lang="en-US" altLang="zh-CN" sz="2400" kern="0" dirty="0" smtClean="0">
                <a:solidFill>
                  <a:prstClr val="black"/>
                </a:solidFill>
                <a:latin typeface="Times New Roman"/>
              </a:rPr>
              <a:t>Cold</a:t>
            </a:r>
            <a:r>
              <a:rPr lang="en-GB" altLang="zh-CN" sz="2400" kern="0" dirty="0" smtClean="0">
                <a:solidFill>
                  <a:prstClr val="black"/>
                </a:solidFill>
                <a:latin typeface="Times New Roman"/>
              </a:rPr>
              <a:t> </a:t>
            </a:r>
            <a:r>
              <a:rPr lang="en-GB" altLang="zh-CN" sz="2400" kern="0" dirty="0">
                <a:solidFill>
                  <a:prstClr val="black"/>
                </a:solidFill>
                <a:latin typeface="Times New Roman"/>
              </a:rPr>
              <a:t>Mode, BOL, </a:t>
            </a:r>
            <a:r>
              <a:rPr lang="en-GB" altLang="zh-CN" sz="2400" kern="0" dirty="0" smtClean="0">
                <a:solidFill>
                  <a:prstClr val="black"/>
                </a:solidFill>
                <a:latin typeface="Times New Roman"/>
              </a:rPr>
              <a:t>Steady State</a:t>
            </a:r>
          </a:p>
          <a:p>
            <a:pPr lvl="0" indent="-457200" algn="just">
              <a:spcBef>
                <a:spcPts val="500"/>
              </a:spcBef>
              <a:buSzPts val="750"/>
              <a:buFont typeface="Wingdings" pitchFamily="2" charset="2"/>
              <a:buChar char="Ø"/>
            </a:pPr>
            <a:r>
              <a:rPr lang="en-GB" altLang="zh-CN" kern="0" dirty="0" smtClean="0">
                <a:solidFill>
                  <a:prstClr val="black"/>
                </a:solidFill>
                <a:latin typeface="Times New Roman"/>
              </a:rPr>
              <a:t>Solar </a:t>
            </a:r>
            <a:r>
              <a:rPr lang="en-GB" altLang="zh-CN" kern="0" dirty="0">
                <a:solidFill>
                  <a:prstClr val="black"/>
                </a:solidFill>
                <a:latin typeface="Times New Roman"/>
              </a:rPr>
              <a:t>absorptivity of thermal coatings shall be taken normal  value. </a:t>
            </a:r>
          </a:p>
          <a:p>
            <a:pPr lvl="0" indent="-457200" algn="just">
              <a:spcBef>
                <a:spcPts val="500"/>
              </a:spcBef>
              <a:buSzPts val="750"/>
              <a:buFont typeface="Wingdings" pitchFamily="2" charset="2"/>
              <a:buChar char="Ø"/>
            </a:pPr>
            <a:r>
              <a:rPr lang="en-GB" altLang="zh-CN" kern="0" dirty="0">
                <a:solidFill>
                  <a:prstClr val="black"/>
                </a:solidFill>
                <a:latin typeface="Times New Roman"/>
              </a:rPr>
              <a:t>External heat fluxes are simulated as average of orbit period.</a:t>
            </a:r>
          </a:p>
          <a:p>
            <a:pPr lvl="0" indent="-457200" algn="just">
              <a:spcBef>
                <a:spcPts val="500"/>
              </a:spcBef>
              <a:buSzPts val="750"/>
              <a:buFont typeface="Wingdings" pitchFamily="2" charset="2"/>
              <a:buChar char="Ø"/>
            </a:pPr>
            <a:r>
              <a:rPr lang="en-GB" altLang="zh-CN" kern="0" dirty="0">
                <a:solidFill>
                  <a:prstClr val="black"/>
                </a:solidFill>
                <a:latin typeface="Times New Roman"/>
              </a:rPr>
              <a:t>Payloads including cameras and DTS are turned off.</a:t>
            </a:r>
          </a:p>
          <a:p>
            <a:pPr lvl="0" indent="-457200" algn="just">
              <a:spcBef>
                <a:spcPts val="500"/>
              </a:spcBef>
              <a:buSzPts val="750"/>
              <a:buFont typeface="Wingdings" pitchFamily="2" charset="2"/>
              <a:buChar char="Ø"/>
            </a:pPr>
            <a:r>
              <a:rPr lang="en-GB" altLang="zh-CN" kern="0" dirty="0">
                <a:solidFill>
                  <a:prstClr val="black"/>
                </a:solidFill>
                <a:latin typeface="Times New Roman"/>
              </a:rPr>
              <a:t>Other instruments shall be operating at their smallest heat dissipation mode.</a:t>
            </a:r>
          </a:p>
          <a:p>
            <a:pPr lvl="0" indent="-457200" algn="just">
              <a:spcBef>
                <a:spcPts val="500"/>
              </a:spcBef>
              <a:buSzPts val="750"/>
              <a:buFont typeface="Wingdings" pitchFamily="2" charset="2"/>
              <a:buChar char="Ø"/>
            </a:pPr>
            <a:r>
              <a:rPr lang="en-GB" altLang="zh-CN" kern="0" dirty="0">
                <a:solidFill>
                  <a:prstClr val="black"/>
                </a:solidFill>
                <a:latin typeface="Times New Roman"/>
              </a:rPr>
              <a:t>Heaters are </a:t>
            </a:r>
            <a:r>
              <a:rPr lang="en-US" altLang="zh-CN" kern="0" dirty="0">
                <a:solidFill>
                  <a:prstClr val="black"/>
                </a:solidFill>
                <a:latin typeface="Times New Roman"/>
              </a:rPr>
              <a:t>enable</a:t>
            </a:r>
            <a:r>
              <a:rPr lang="en-GB" altLang="zh-CN" kern="0" dirty="0">
                <a:solidFill>
                  <a:prstClr val="black"/>
                </a:solidFill>
                <a:latin typeface="Times New Roman"/>
              </a:rPr>
              <a:t>. </a:t>
            </a:r>
            <a:endParaRPr lang="zh-CN" altLang="zh-CN" kern="0" dirty="0">
              <a:solidFill>
                <a:prstClr val="black"/>
              </a:solidFill>
              <a:latin typeface="Times New Roman"/>
            </a:endParaRPr>
          </a:p>
          <a:p>
            <a:pPr algn="just">
              <a:spcBef>
                <a:spcPts val="500"/>
              </a:spcBef>
              <a:buSzPts val="750"/>
            </a:pPr>
            <a:endParaRPr lang="en-GB" altLang="zh-CN" sz="2400" kern="0" dirty="0" smtClean="0">
              <a:solidFill>
                <a:prstClr val="black"/>
              </a:solidFill>
              <a:latin typeface="Times New Roman"/>
            </a:endParaRPr>
          </a:p>
        </p:txBody>
      </p:sp>
    </p:spTree>
    <p:extLst>
      <p:ext uri="{BB962C8B-B14F-4D97-AF65-F5344CB8AC3E}">
        <p14:creationId xmlns:p14="http://schemas.microsoft.com/office/powerpoint/2010/main" xmlns="" val="259180200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29</a:t>
            </a:fld>
            <a:r>
              <a:rPr lang="zh-CN" altLang="en-US" smtClean="0"/>
              <a:t> </a:t>
            </a:r>
            <a:endParaRPr lang="zh-CN" altLang="en-US" dirty="0">
              <a:latin typeface="微软雅黑" pitchFamily="34" charset="-122"/>
              <a:ea typeface="微软雅黑" pitchFamily="34" charset="-122"/>
            </a:endParaRPr>
          </a:p>
        </p:txBody>
      </p:sp>
      <p:sp>
        <p:nvSpPr>
          <p:cNvPr id="6" name="矩形 5"/>
          <p:cNvSpPr/>
          <p:nvPr/>
        </p:nvSpPr>
        <p:spPr>
          <a:xfrm>
            <a:off x="390625" y="116632"/>
            <a:ext cx="7992888" cy="1015663"/>
          </a:xfrm>
          <a:prstGeom prst="rect">
            <a:avLst/>
          </a:prstGeom>
        </p:spPr>
        <p:txBody>
          <a:bodyPr wrap="square">
            <a:spAutoFit/>
          </a:bodyPr>
          <a:lstStyle/>
          <a:p>
            <a:pPr algn="just">
              <a:spcBef>
                <a:spcPts val="1560"/>
              </a:spcBef>
              <a:buSzPts val="1400"/>
              <a:tabLst>
                <a:tab pos="274320" algn="l"/>
              </a:tabLst>
            </a:pPr>
            <a:r>
              <a:rPr lang="en-US" altLang="zh-CN" sz="2800" dirty="0" smtClean="0">
                <a:solidFill>
                  <a:schemeClr val="bg1"/>
                </a:solidFill>
                <a:latin typeface="微软雅黑" panose="020B0503020204020204" pitchFamily="34" charset="-122"/>
                <a:ea typeface="微软雅黑" panose="020B0503020204020204" pitchFamily="34" charset="-122"/>
              </a:rPr>
              <a:t>10  </a:t>
            </a:r>
            <a:r>
              <a:rPr lang="en-US" altLang="zh-CN" sz="2800" dirty="0">
                <a:solidFill>
                  <a:schemeClr val="bg1"/>
                </a:solidFill>
                <a:latin typeface="微软雅黑" panose="020B0503020204020204" pitchFamily="34" charset="-122"/>
                <a:ea typeface="微软雅黑" panose="020B0503020204020204" pitchFamily="34" charset="-122"/>
              </a:rPr>
              <a:t>THERMAL BALANCE TEST</a:t>
            </a:r>
            <a:endParaRPr lang="zh-CN" altLang="zh-CN" sz="2800" dirty="0">
              <a:solidFill>
                <a:schemeClr val="bg1"/>
              </a:solidFill>
              <a:latin typeface="微软雅黑" panose="020B0503020204020204" pitchFamily="34" charset="-122"/>
              <a:ea typeface="微软雅黑" panose="020B0503020204020204" pitchFamily="34" charset="-122"/>
            </a:endParaRPr>
          </a:p>
          <a:p>
            <a:pPr lvl="1" fontAlgn="base"/>
            <a:r>
              <a:rPr lang="en-US" altLang="zh-CN" sz="3200" dirty="0" smtClean="0">
                <a:solidFill>
                  <a:schemeClr val="bg1"/>
                </a:solidFill>
              </a:rPr>
              <a:t>                                            ------</a:t>
            </a:r>
            <a:r>
              <a:rPr lang="zh-CN" altLang="zh-CN" sz="2400" dirty="0" smtClean="0">
                <a:solidFill>
                  <a:schemeClr val="bg1"/>
                </a:solidFill>
                <a:ea typeface="Times New Roman"/>
              </a:rPr>
              <a:t> </a:t>
            </a:r>
            <a:r>
              <a:rPr lang="en-GB" altLang="zh-CN" sz="2400" dirty="0" smtClean="0">
                <a:solidFill>
                  <a:schemeClr val="bg1"/>
                </a:solidFill>
                <a:ea typeface="Times New Roman"/>
              </a:rPr>
              <a:t>Test Cases</a:t>
            </a:r>
            <a:endParaRPr lang="zh-CN" altLang="zh-CN" sz="2400" dirty="0">
              <a:solidFill>
                <a:schemeClr val="bg1"/>
              </a:solidFill>
            </a:endParaRPr>
          </a:p>
        </p:txBody>
      </p:sp>
      <p:sp>
        <p:nvSpPr>
          <p:cNvPr id="7" name="矩形 6"/>
          <p:cNvSpPr/>
          <p:nvPr/>
        </p:nvSpPr>
        <p:spPr>
          <a:xfrm>
            <a:off x="576064" y="1597243"/>
            <a:ext cx="8028384" cy="4583306"/>
          </a:xfrm>
          <a:prstGeom prst="rect">
            <a:avLst/>
          </a:prstGeom>
        </p:spPr>
        <p:txBody>
          <a:bodyPr wrap="square">
            <a:spAutoFit/>
          </a:bodyPr>
          <a:lstStyle/>
          <a:p>
            <a:pPr lvl="0" algn="just">
              <a:spcBef>
                <a:spcPts val="500"/>
              </a:spcBef>
              <a:spcAft>
                <a:spcPts val="0"/>
              </a:spcAft>
              <a:buSzPts val="750"/>
            </a:pPr>
            <a:r>
              <a:rPr lang="en-GB" altLang="zh-CN" sz="2400" kern="0" dirty="0" smtClean="0">
                <a:latin typeface="Times New Roman"/>
              </a:rPr>
              <a:t>Case </a:t>
            </a:r>
            <a:r>
              <a:rPr lang="en-GB" altLang="zh-CN" sz="2400" kern="0" dirty="0">
                <a:latin typeface="Times New Roman"/>
              </a:rPr>
              <a:t>3 - Hot </a:t>
            </a:r>
            <a:r>
              <a:rPr lang="en-GB" altLang="zh-CN" sz="2400" kern="0" dirty="0" smtClean="0">
                <a:latin typeface="Times New Roman"/>
              </a:rPr>
              <a:t>Case1</a:t>
            </a:r>
            <a:r>
              <a:rPr lang="zh-CN" altLang="en-US" sz="2400" kern="0" dirty="0" smtClean="0">
                <a:latin typeface="Times New Roman"/>
              </a:rPr>
              <a:t>，</a:t>
            </a:r>
            <a:r>
              <a:rPr lang="en-GB" altLang="zh-CN" sz="2400" kern="0" dirty="0" smtClean="0">
                <a:latin typeface="Times New Roman"/>
              </a:rPr>
              <a:t> EOL</a:t>
            </a:r>
            <a:r>
              <a:rPr lang="en-GB" altLang="zh-CN" sz="2400" kern="0" dirty="0">
                <a:latin typeface="Times New Roman"/>
              </a:rPr>
              <a:t>, </a:t>
            </a:r>
            <a:r>
              <a:rPr lang="en-GB" altLang="zh-CN" sz="2400" dirty="0">
                <a:latin typeface="Times New Roman"/>
              </a:rPr>
              <a:t>Steady</a:t>
            </a:r>
            <a:r>
              <a:rPr lang="en-GB" altLang="zh-CN" sz="2400" kern="0" dirty="0" smtClean="0">
                <a:latin typeface="Times New Roman"/>
              </a:rPr>
              <a:t> State</a:t>
            </a:r>
          </a:p>
          <a:p>
            <a:pPr marL="285750" indent="-285750" algn="just">
              <a:spcBef>
                <a:spcPts val="500"/>
              </a:spcBef>
              <a:buSzPts val="750"/>
              <a:buFont typeface="Wingdings" pitchFamily="2" charset="2"/>
              <a:buChar char="Ø"/>
            </a:pPr>
            <a:r>
              <a:rPr lang="en-GB" altLang="zh-CN" kern="0" dirty="0" smtClean="0">
                <a:latin typeface="Times New Roman"/>
              </a:rPr>
              <a:t>Solar absorptivity of thermal coatings shall be taken 2.3-year-degradation value.</a:t>
            </a:r>
          </a:p>
          <a:p>
            <a:pPr marL="285750" indent="-285750" algn="just">
              <a:spcBef>
                <a:spcPts val="500"/>
              </a:spcBef>
              <a:buSzPts val="750"/>
              <a:buFont typeface="Wingdings" pitchFamily="2" charset="2"/>
              <a:buChar char="Ø"/>
            </a:pPr>
            <a:r>
              <a:rPr lang="en-GB" altLang="zh-CN" kern="0" dirty="0" smtClean="0">
                <a:latin typeface="Times New Roman"/>
              </a:rPr>
              <a:t>Payloads </a:t>
            </a:r>
            <a:r>
              <a:rPr lang="en-GB" altLang="zh-CN" kern="0" dirty="0">
                <a:latin typeface="Times New Roman"/>
              </a:rPr>
              <a:t>including cameras and DTS work according to procedure. </a:t>
            </a:r>
          </a:p>
          <a:p>
            <a:pPr marL="285750" lvl="0" indent="-285750" algn="just">
              <a:spcBef>
                <a:spcPts val="500"/>
              </a:spcBef>
              <a:spcAft>
                <a:spcPts val="0"/>
              </a:spcAft>
              <a:buSzPts val="750"/>
              <a:buFont typeface="Wingdings" pitchFamily="2" charset="2"/>
              <a:buChar char="Ø"/>
            </a:pPr>
            <a:r>
              <a:rPr lang="en-GB" altLang="zh-CN" kern="0" dirty="0" smtClean="0">
                <a:latin typeface="Times New Roman"/>
              </a:rPr>
              <a:t>External </a:t>
            </a:r>
            <a:r>
              <a:rPr lang="en-GB" altLang="zh-CN" kern="0" dirty="0">
                <a:latin typeface="Times New Roman"/>
              </a:rPr>
              <a:t>heat fluxes are simulated as average of orbit period. </a:t>
            </a:r>
            <a:endParaRPr lang="en-GB" altLang="zh-CN" kern="0" dirty="0" smtClean="0">
              <a:latin typeface="Times New Roman"/>
            </a:endParaRPr>
          </a:p>
          <a:p>
            <a:pPr marL="285750" lvl="0" indent="-285750" algn="just">
              <a:spcBef>
                <a:spcPts val="500"/>
              </a:spcBef>
              <a:spcAft>
                <a:spcPts val="0"/>
              </a:spcAft>
              <a:buSzPts val="750"/>
              <a:buFont typeface="Wingdings" pitchFamily="2" charset="2"/>
              <a:buChar char="Ø"/>
            </a:pPr>
            <a:r>
              <a:rPr lang="en-GB" altLang="zh-CN" kern="0" dirty="0" smtClean="0">
                <a:latin typeface="Times New Roman"/>
              </a:rPr>
              <a:t>Heaters </a:t>
            </a:r>
            <a:r>
              <a:rPr lang="en-GB" altLang="zh-CN" kern="0" dirty="0">
                <a:latin typeface="Times New Roman"/>
              </a:rPr>
              <a:t>are </a:t>
            </a:r>
            <a:r>
              <a:rPr lang="en-US" altLang="zh-CN" dirty="0">
                <a:solidFill>
                  <a:prstClr val="black"/>
                </a:solidFill>
                <a:latin typeface="Times New Roman"/>
              </a:rPr>
              <a:t>enable</a:t>
            </a:r>
            <a:r>
              <a:rPr lang="en-GB" altLang="zh-CN" kern="0" dirty="0" smtClean="0">
                <a:latin typeface="Times New Roman"/>
              </a:rPr>
              <a:t>.</a:t>
            </a:r>
          </a:p>
          <a:p>
            <a:pPr marL="285750" lvl="0" indent="-285750" algn="just">
              <a:spcBef>
                <a:spcPts val="500"/>
              </a:spcBef>
              <a:spcAft>
                <a:spcPts val="0"/>
              </a:spcAft>
              <a:buSzPts val="750"/>
              <a:buFont typeface="Wingdings" pitchFamily="2" charset="2"/>
              <a:buChar char="Ø"/>
            </a:pPr>
            <a:r>
              <a:rPr lang="en-GB" altLang="zh-CN" kern="0" dirty="0" smtClean="0">
                <a:latin typeface="Times New Roman"/>
              </a:rPr>
              <a:t>Recording 3.5 </a:t>
            </a:r>
            <a:r>
              <a:rPr lang="en-US" altLang="zh-CN" kern="0" dirty="0" smtClean="0">
                <a:latin typeface="Times New Roman"/>
              </a:rPr>
              <a:t>min &amp; Replaying 5 min</a:t>
            </a:r>
            <a:endParaRPr lang="en-GB" altLang="zh-CN" kern="0" dirty="0" smtClean="0">
              <a:latin typeface="Times New Roman"/>
            </a:endParaRPr>
          </a:p>
          <a:p>
            <a:pPr algn="just">
              <a:spcBef>
                <a:spcPts val="500"/>
              </a:spcBef>
              <a:buSzPts val="750"/>
            </a:pPr>
            <a:r>
              <a:rPr lang="en-GB" altLang="zh-CN" sz="2400" kern="0" dirty="0">
                <a:latin typeface="Times New Roman"/>
              </a:rPr>
              <a:t>Case 4 - Hot Case2</a:t>
            </a:r>
            <a:r>
              <a:rPr lang="zh-CN" altLang="en-US" sz="2400" kern="0" dirty="0">
                <a:latin typeface="Times New Roman"/>
              </a:rPr>
              <a:t>，</a:t>
            </a:r>
            <a:r>
              <a:rPr lang="en-GB" altLang="zh-CN" sz="2400" kern="0" dirty="0">
                <a:latin typeface="Times New Roman"/>
              </a:rPr>
              <a:t> EOL, </a:t>
            </a:r>
            <a:r>
              <a:rPr lang="en-GB" altLang="zh-CN" sz="2400" dirty="0">
                <a:latin typeface="Times New Roman"/>
              </a:rPr>
              <a:t>Steady</a:t>
            </a:r>
            <a:r>
              <a:rPr lang="en-GB" altLang="zh-CN" sz="2400" kern="0" dirty="0" smtClean="0">
                <a:latin typeface="Times New Roman"/>
              </a:rPr>
              <a:t> State </a:t>
            </a:r>
            <a:endParaRPr lang="en-GB" altLang="zh-CN" sz="2400" kern="0" dirty="0">
              <a:latin typeface="Times New Roman"/>
            </a:endParaRPr>
          </a:p>
          <a:p>
            <a:pPr marL="285750" lvl="0" indent="-285750" algn="just">
              <a:spcBef>
                <a:spcPts val="500"/>
              </a:spcBef>
              <a:spcAft>
                <a:spcPts val="0"/>
              </a:spcAft>
              <a:buSzPts val="750"/>
              <a:buFont typeface="Wingdings" pitchFamily="2" charset="2"/>
              <a:buChar char="Ø"/>
            </a:pPr>
            <a:r>
              <a:rPr lang="en-GB" altLang="zh-CN" dirty="0" smtClean="0">
                <a:latin typeface="Times New Roman"/>
              </a:rPr>
              <a:t>Solar </a:t>
            </a:r>
            <a:r>
              <a:rPr lang="en-GB" altLang="zh-CN" dirty="0">
                <a:latin typeface="Times New Roman"/>
              </a:rPr>
              <a:t>absorptivity of thermal coatings shall be taken </a:t>
            </a:r>
            <a:r>
              <a:rPr lang="en-GB" altLang="zh-CN" dirty="0" smtClean="0">
                <a:latin typeface="Times New Roman"/>
              </a:rPr>
              <a:t>2.3-year-degradation </a:t>
            </a:r>
            <a:r>
              <a:rPr lang="en-GB" altLang="zh-CN" dirty="0">
                <a:latin typeface="Times New Roman"/>
              </a:rPr>
              <a:t>value. Payloads including cameras and DTS work according with procedure. </a:t>
            </a:r>
            <a:endParaRPr lang="en-GB" altLang="zh-CN" dirty="0" smtClean="0">
              <a:latin typeface="Times New Roman"/>
            </a:endParaRPr>
          </a:p>
          <a:p>
            <a:pPr marL="285750" lvl="0" indent="-285750" algn="just">
              <a:spcBef>
                <a:spcPts val="500"/>
              </a:spcBef>
              <a:spcAft>
                <a:spcPts val="0"/>
              </a:spcAft>
              <a:buSzPts val="750"/>
              <a:buFont typeface="Wingdings" pitchFamily="2" charset="2"/>
              <a:buChar char="Ø"/>
            </a:pPr>
            <a:r>
              <a:rPr lang="en-GB" altLang="zh-CN" dirty="0" smtClean="0">
                <a:latin typeface="Times New Roman"/>
              </a:rPr>
              <a:t>External </a:t>
            </a:r>
            <a:r>
              <a:rPr lang="en-GB" altLang="zh-CN" dirty="0">
                <a:latin typeface="Times New Roman"/>
              </a:rPr>
              <a:t>heat fluxes are simulated as average of orbit period. </a:t>
            </a:r>
            <a:endParaRPr lang="en-GB" altLang="zh-CN" dirty="0" smtClean="0">
              <a:latin typeface="Times New Roman"/>
            </a:endParaRPr>
          </a:p>
          <a:p>
            <a:pPr marL="285750" lvl="0" indent="-285750" algn="just">
              <a:spcBef>
                <a:spcPts val="500"/>
              </a:spcBef>
              <a:spcAft>
                <a:spcPts val="0"/>
              </a:spcAft>
              <a:buSzPts val="750"/>
              <a:buFont typeface="Wingdings" pitchFamily="2" charset="2"/>
              <a:buChar char="Ø"/>
            </a:pPr>
            <a:r>
              <a:rPr lang="en-GB" altLang="zh-CN" dirty="0" smtClean="0">
                <a:latin typeface="Times New Roman"/>
              </a:rPr>
              <a:t>Heaters are </a:t>
            </a:r>
            <a:r>
              <a:rPr lang="en-US" altLang="zh-CN" dirty="0" smtClean="0">
                <a:latin typeface="Times New Roman"/>
              </a:rPr>
              <a:t>enable</a:t>
            </a:r>
            <a:r>
              <a:rPr lang="en-GB" altLang="zh-CN" dirty="0" smtClean="0">
                <a:latin typeface="Times New Roman"/>
              </a:rPr>
              <a:t>.</a:t>
            </a:r>
          </a:p>
          <a:p>
            <a:pPr marL="285750" lvl="0" indent="-285750" algn="just">
              <a:spcBef>
                <a:spcPts val="500"/>
              </a:spcBef>
              <a:spcAft>
                <a:spcPts val="0"/>
              </a:spcAft>
              <a:buSzPts val="750"/>
              <a:buFont typeface="Wingdings" pitchFamily="2" charset="2"/>
              <a:buChar char="Ø"/>
            </a:pPr>
            <a:r>
              <a:rPr lang="en-GB" altLang="zh-CN" dirty="0" smtClean="0">
                <a:latin typeface="Times New Roman"/>
              </a:rPr>
              <a:t>Real-Time Transport 4 </a:t>
            </a:r>
            <a:r>
              <a:rPr lang="en-US" altLang="zh-CN" dirty="0" smtClean="0">
                <a:latin typeface="Times New Roman"/>
              </a:rPr>
              <a:t>min</a:t>
            </a:r>
            <a:endParaRPr lang="en-GB" altLang="zh-CN" dirty="0" smtClean="0">
              <a:latin typeface="Times New Roman"/>
            </a:endParaRPr>
          </a:p>
          <a:p>
            <a:pPr marL="285750" lvl="0" indent="-285750" algn="just">
              <a:spcBef>
                <a:spcPts val="500"/>
              </a:spcBef>
              <a:spcAft>
                <a:spcPts val="0"/>
              </a:spcAft>
              <a:buSzPts val="750"/>
              <a:buFont typeface="Wingdings" pitchFamily="2" charset="2"/>
              <a:buChar char="Ø"/>
            </a:pPr>
            <a:endParaRPr lang="zh-CN" altLang="en-US" dirty="0">
              <a:solidFill>
                <a:prstClr val="black"/>
              </a:solidFill>
            </a:endParaRPr>
          </a:p>
        </p:txBody>
      </p:sp>
    </p:spTree>
    <p:extLst>
      <p:ext uri="{BB962C8B-B14F-4D97-AF65-F5344CB8AC3E}">
        <p14:creationId xmlns:p14="http://schemas.microsoft.com/office/powerpoint/2010/main" xmlns="" val="259180200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30</a:t>
            </a:fld>
            <a:r>
              <a:rPr lang="zh-CN" altLang="en-US" smtClean="0"/>
              <a:t> </a:t>
            </a:r>
            <a:endParaRPr lang="zh-CN" altLang="en-US" dirty="0">
              <a:latin typeface="微软雅黑" pitchFamily="34" charset="-122"/>
              <a:ea typeface="微软雅黑" pitchFamily="34" charset="-122"/>
            </a:endParaRPr>
          </a:p>
        </p:txBody>
      </p:sp>
      <p:pic>
        <p:nvPicPr>
          <p:cNvPr id="7" name="Picture 2"/>
          <p:cNvPicPr>
            <a:picLocks noChangeAspect="1" noChangeArrowheads="1"/>
          </p:cNvPicPr>
          <p:nvPr/>
        </p:nvPicPr>
        <p:blipFill>
          <a:blip r:embed="rId2"/>
          <a:srcRect/>
          <a:stretch>
            <a:fillRect/>
          </a:stretch>
        </p:blipFill>
        <p:spPr bwMode="auto">
          <a:xfrm>
            <a:off x="5868144" y="3257922"/>
            <a:ext cx="3078162" cy="2808287"/>
          </a:xfrm>
          <a:prstGeom prst="rect">
            <a:avLst/>
          </a:prstGeom>
          <a:noFill/>
          <a:ln w="9525" cap="flat" cmpd="sng" algn="ctr">
            <a:noFill/>
            <a:prstDash val="solid"/>
            <a:miter lim="800000"/>
            <a:headEnd/>
            <a:tailEnd/>
          </a:ln>
          <a:effectLst>
            <a:prstShdw prst="shdw17" dist="17961" dir="2700000">
              <a:schemeClr val="accent1">
                <a:gamma/>
                <a:shade val="60000"/>
                <a:invGamma/>
              </a:schemeClr>
            </a:prstShdw>
          </a:effectLst>
        </p:spPr>
      </p:pic>
      <p:sp>
        <p:nvSpPr>
          <p:cNvPr id="8" name="内容占位符 2"/>
          <p:cNvSpPr txBox="1">
            <a:spLocks/>
          </p:cNvSpPr>
          <p:nvPr/>
        </p:nvSpPr>
        <p:spPr bwMode="auto">
          <a:xfrm>
            <a:off x="134938" y="2060575"/>
            <a:ext cx="5876925" cy="41052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marL="342900" indent="-342900" algn="l" rtl="0" eaLnBrk="0" fontAlgn="base" hangingPunct="0">
              <a:lnSpc>
                <a:spcPct val="150000"/>
              </a:lnSpc>
              <a:spcBef>
                <a:spcPct val="0"/>
              </a:spcBef>
              <a:spcAft>
                <a:spcPct val="0"/>
              </a:spcAft>
              <a:buFont typeface="Arial" charset="0"/>
              <a:buChar char="•"/>
              <a:defRPr sz="3200" b="1" kern="1200">
                <a:solidFill>
                  <a:srgbClr val="404040"/>
                </a:solidFill>
                <a:latin typeface="微软雅黑" pitchFamily="34" charset="-122"/>
                <a:ea typeface="微软雅黑" pitchFamily="34" charset="-122"/>
                <a:cs typeface="+mn-cs"/>
              </a:defRPr>
            </a:lvl1pPr>
            <a:lvl2pPr marL="742950" indent="-285750" algn="l" rtl="0" eaLnBrk="0" fontAlgn="base" hangingPunct="0">
              <a:lnSpc>
                <a:spcPct val="150000"/>
              </a:lnSpc>
              <a:spcBef>
                <a:spcPct val="0"/>
              </a:spcBef>
              <a:spcAft>
                <a:spcPct val="0"/>
              </a:spcAft>
              <a:buFont typeface="Arial" charset="0"/>
              <a:buChar char="–"/>
              <a:defRPr sz="2800" b="1" kern="1200">
                <a:solidFill>
                  <a:srgbClr val="404040"/>
                </a:solidFill>
                <a:latin typeface="微软雅黑" pitchFamily="34" charset="-122"/>
                <a:ea typeface="微软雅黑" pitchFamily="34" charset="-122"/>
                <a:cs typeface="+mn-cs"/>
              </a:defRPr>
            </a:lvl2pPr>
            <a:lvl3pPr marL="1143000" indent="-228600" algn="l" rtl="0" eaLnBrk="0" fontAlgn="base" hangingPunct="0">
              <a:lnSpc>
                <a:spcPct val="150000"/>
              </a:lnSpc>
              <a:spcBef>
                <a:spcPct val="0"/>
              </a:spcBef>
              <a:spcAft>
                <a:spcPct val="0"/>
              </a:spcAft>
              <a:buFont typeface="Arial" charset="0"/>
              <a:buChar char="•"/>
              <a:defRPr sz="2400" b="1" kern="1200">
                <a:solidFill>
                  <a:srgbClr val="404040"/>
                </a:solidFill>
                <a:latin typeface="微软雅黑" pitchFamily="34" charset="-122"/>
                <a:ea typeface="微软雅黑" pitchFamily="34" charset="-122"/>
                <a:cs typeface="+mn-cs"/>
              </a:defRPr>
            </a:lvl3pPr>
            <a:lvl4pPr marL="1600200" indent="-228600" algn="l" rtl="0" eaLnBrk="0" fontAlgn="base" hangingPunct="0">
              <a:lnSpc>
                <a:spcPct val="150000"/>
              </a:lnSpc>
              <a:spcBef>
                <a:spcPct val="0"/>
              </a:spcBef>
              <a:spcAft>
                <a:spcPct val="0"/>
              </a:spcAft>
              <a:buFont typeface="Arial" charset="0"/>
              <a:buChar char="–"/>
              <a:defRPr sz="2000" b="1" kern="1200">
                <a:solidFill>
                  <a:srgbClr val="404040"/>
                </a:solidFill>
                <a:latin typeface="微软雅黑" pitchFamily="34" charset="-122"/>
                <a:ea typeface="微软雅黑" pitchFamily="34" charset="-122"/>
                <a:cs typeface="+mn-cs"/>
              </a:defRPr>
            </a:lvl4pPr>
            <a:lvl5pPr marL="2057400" indent="-228600" algn="l" rtl="0" eaLnBrk="0" fontAlgn="base" hangingPunct="0">
              <a:lnSpc>
                <a:spcPct val="150000"/>
              </a:lnSpc>
              <a:spcBef>
                <a:spcPct val="0"/>
              </a:spcBef>
              <a:spcAft>
                <a:spcPct val="0"/>
              </a:spcAft>
              <a:buFont typeface="Arial" charset="0"/>
              <a:buChar char="»"/>
              <a:defRPr sz="2000" b="1" kern="1200">
                <a:solidFill>
                  <a:srgbClr val="404040"/>
                </a:solidFill>
                <a:latin typeface="微软雅黑" pitchFamily="34" charset="-122"/>
                <a:ea typeface="微软雅黑" pitchFamily="34"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530225" lvl="1" eaLnBrk="1" hangingPunct="1">
              <a:buFont typeface="Wingdings" pitchFamily="2" charset="2"/>
              <a:buChar char="p"/>
              <a:defRPr/>
            </a:pPr>
            <a:r>
              <a:rPr lang="en-US" altLang="zh-CN" sz="2000" b="0" dirty="0" smtClean="0">
                <a:latin typeface="Times New Roman" pitchFamily="18" charset="0"/>
                <a:cs typeface="Times New Roman" pitchFamily="18" charset="0"/>
              </a:rPr>
              <a:t>Characteristics of space environment</a:t>
            </a:r>
          </a:p>
          <a:p>
            <a:pPr marL="803275" lvl="1" eaLnBrk="1" hangingPunct="1">
              <a:buFont typeface="Wingdings" pitchFamily="2" charset="2"/>
              <a:buChar char="Ø"/>
              <a:defRPr/>
            </a:pPr>
            <a:r>
              <a:rPr lang="en-US" altLang="zh-CN" sz="2000" b="0" dirty="0" smtClean="0">
                <a:latin typeface="Times New Roman" pitchFamily="18" charset="0"/>
                <a:cs typeface="Times New Roman" pitchFamily="18" charset="0"/>
              </a:rPr>
              <a:t>Vacuum</a:t>
            </a:r>
            <a:r>
              <a:rPr lang="zh-CN" altLang="en-US" sz="2000" b="0" dirty="0" smtClean="0">
                <a:latin typeface="Times New Roman" pitchFamily="18" charset="0"/>
                <a:cs typeface="Times New Roman" pitchFamily="18" charset="0"/>
              </a:rPr>
              <a:t> </a:t>
            </a:r>
            <a:endParaRPr lang="en-US" altLang="zh-CN" sz="2000" b="0" dirty="0" smtClean="0">
              <a:latin typeface="Times New Roman" pitchFamily="18" charset="0"/>
              <a:cs typeface="Times New Roman" pitchFamily="18" charset="0"/>
            </a:endParaRPr>
          </a:p>
          <a:p>
            <a:pPr marL="803275" lvl="1" eaLnBrk="1" hangingPunct="1">
              <a:buFont typeface="Wingdings" pitchFamily="2" charset="2"/>
              <a:buChar char="Ø"/>
              <a:defRPr/>
            </a:pPr>
            <a:r>
              <a:rPr lang="en-US" altLang="zh-CN" sz="2000" b="0" dirty="0" smtClean="0">
                <a:latin typeface="Times New Roman" pitchFamily="18" charset="0"/>
                <a:cs typeface="Times New Roman" pitchFamily="18" charset="0"/>
              </a:rPr>
              <a:t>Extremely low temperature and black background</a:t>
            </a:r>
          </a:p>
          <a:p>
            <a:pPr marL="803275" lvl="1" eaLnBrk="1" hangingPunct="1">
              <a:buFont typeface="Wingdings" pitchFamily="2" charset="2"/>
              <a:buChar char="Ø"/>
              <a:defRPr/>
            </a:pPr>
            <a:r>
              <a:rPr lang="en-US" altLang="zh-CN" sz="2000" b="0" dirty="0" smtClean="0">
                <a:latin typeface="Times New Roman" pitchFamily="18" charset="0"/>
                <a:cs typeface="Times New Roman" pitchFamily="18" charset="0"/>
              </a:rPr>
              <a:t> In-orbit external heat flux</a:t>
            </a:r>
          </a:p>
          <a:p>
            <a:pPr marL="530225" lvl="1" eaLnBrk="1" hangingPunct="1">
              <a:buFont typeface="Wingdings" pitchFamily="2" charset="2"/>
              <a:buChar char="p"/>
              <a:defRPr/>
            </a:pPr>
            <a:r>
              <a:rPr lang="en-US" altLang="zh-CN" sz="2000" b="0" dirty="0" smtClean="0">
                <a:latin typeface="Times New Roman" pitchFamily="18" charset="0"/>
                <a:cs typeface="Times New Roman" pitchFamily="18" charset="0"/>
              </a:rPr>
              <a:t>It is difficult and not necessary to accurately simulate the in-orbit environment</a:t>
            </a:r>
          </a:p>
          <a:p>
            <a:pPr marL="530225" lvl="1" eaLnBrk="1" hangingPunct="1">
              <a:buFont typeface="Wingdings" pitchFamily="2" charset="2"/>
              <a:buChar char="p"/>
              <a:defRPr/>
            </a:pPr>
            <a:r>
              <a:rPr lang="en-US" altLang="zh-CN" sz="2000" b="0" dirty="0" smtClean="0">
                <a:latin typeface="Times New Roman" pitchFamily="18" charset="0"/>
                <a:cs typeface="Times New Roman" pitchFamily="18" charset="0"/>
              </a:rPr>
              <a:t>Appropriate simplification is required</a:t>
            </a:r>
          </a:p>
          <a:p>
            <a:pPr lvl="1" eaLnBrk="1" hangingPunct="1">
              <a:buFont typeface="Wingdings" pitchFamily="2" charset="2"/>
              <a:buChar char="p"/>
              <a:defRPr/>
            </a:pPr>
            <a:endParaRPr lang="en-US" altLang="zh-CN" sz="1800" dirty="0" smtClean="0">
              <a:latin typeface="Times New Roman" pitchFamily="18" charset="0"/>
              <a:cs typeface="Times New Roman" pitchFamily="18" charset="0"/>
            </a:endParaRPr>
          </a:p>
        </p:txBody>
      </p:sp>
      <p:sp>
        <p:nvSpPr>
          <p:cNvPr id="9" name="内容占位符 2"/>
          <p:cNvSpPr>
            <a:spLocks noGrp="1"/>
          </p:cNvSpPr>
          <p:nvPr>
            <p:ph idx="1"/>
          </p:nvPr>
        </p:nvSpPr>
        <p:spPr>
          <a:xfrm>
            <a:off x="390625" y="1357312"/>
            <a:ext cx="7210425" cy="703263"/>
          </a:xfrm>
        </p:spPr>
        <p:txBody>
          <a:bodyPr/>
          <a:lstStyle/>
          <a:p>
            <a:pPr marL="0" indent="0" eaLnBrk="1" hangingPunct="1">
              <a:buNone/>
            </a:pPr>
            <a:r>
              <a:rPr lang="en-US" altLang="zh-CN" sz="2400" b="0" dirty="0" smtClean="0">
                <a:latin typeface="Times New Roman" pitchFamily="18" charset="0"/>
                <a:cs typeface="Times New Roman" pitchFamily="18" charset="0"/>
              </a:rPr>
              <a:t>Space environment simulation equipment</a:t>
            </a:r>
          </a:p>
        </p:txBody>
      </p:sp>
      <p:sp>
        <p:nvSpPr>
          <p:cNvPr id="10" name="矩形 9"/>
          <p:cNvSpPr/>
          <p:nvPr/>
        </p:nvSpPr>
        <p:spPr>
          <a:xfrm>
            <a:off x="390625" y="116632"/>
            <a:ext cx="7992888" cy="1015663"/>
          </a:xfrm>
          <a:prstGeom prst="rect">
            <a:avLst/>
          </a:prstGeom>
        </p:spPr>
        <p:txBody>
          <a:bodyPr wrap="square">
            <a:spAutoFit/>
          </a:bodyPr>
          <a:lstStyle/>
          <a:p>
            <a:pPr algn="just">
              <a:spcBef>
                <a:spcPts val="1560"/>
              </a:spcBef>
              <a:buSzPts val="1400"/>
              <a:tabLst>
                <a:tab pos="274320" algn="l"/>
              </a:tabLst>
            </a:pPr>
            <a:r>
              <a:rPr lang="en-US" altLang="zh-CN" sz="2800" dirty="0" smtClean="0">
                <a:solidFill>
                  <a:schemeClr val="bg1"/>
                </a:solidFill>
                <a:latin typeface="微软雅黑" panose="020B0503020204020204" pitchFamily="34" charset="-122"/>
                <a:ea typeface="微软雅黑" panose="020B0503020204020204" pitchFamily="34" charset="-122"/>
              </a:rPr>
              <a:t>10  </a:t>
            </a:r>
            <a:r>
              <a:rPr lang="en-US" altLang="zh-CN" sz="2800" dirty="0">
                <a:solidFill>
                  <a:schemeClr val="bg1"/>
                </a:solidFill>
                <a:latin typeface="微软雅黑" panose="020B0503020204020204" pitchFamily="34" charset="-122"/>
                <a:ea typeface="微软雅黑" panose="020B0503020204020204" pitchFamily="34" charset="-122"/>
              </a:rPr>
              <a:t>THERMAL BALANCE TEST</a:t>
            </a:r>
            <a:endParaRPr lang="zh-CN" altLang="zh-CN" sz="2800" dirty="0">
              <a:solidFill>
                <a:schemeClr val="bg1"/>
              </a:solidFill>
              <a:latin typeface="微软雅黑" panose="020B0503020204020204" pitchFamily="34" charset="-122"/>
              <a:ea typeface="微软雅黑" panose="020B0503020204020204" pitchFamily="34" charset="-122"/>
            </a:endParaRPr>
          </a:p>
          <a:p>
            <a:pPr lvl="1" fontAlgn="base"/>
            <a:r>
              <a:rPr lang="en-US" altLang="zh-CN" sz="3200" dirty="0" smtClean="0">
                <a:solidFill>
                  <a:schemeClr val="bg1"/>
                </a:solidFill>
              </a:rPr>
              <a:t>                                            ------</a:t>
            </a:r>
            <a:r>
              <a:rPr lang="zh-CN" altLang="zh-CN" sz="2400" dirty="0" smtClean="0">
                <a:solidFill>
                  <a:schemeClr val="bg1"/>
                </a:solidFill>
                <a:ea typeface="Times New Roman"/>
              </a:rPr>
              <a:t> </a:t>
            </a:r>
            <a:r>
              <a:rPr lang="en-GB" altLang="zh-CN" sz="2400" dirty="0" smtClean="0">
                <a:solidFill>
                  <a:schemeClr val="bg1"/>
                </a:solidFill>
                <a:ea typeface="Times New Roman"/>
              </a:rPr>
              <a:t>Test </a:t>
            </a:r>
            <a:r>
              <a:rPr lang="en-US" altLang="zh-CN" sz="2400" dirty="0" smtClean="0">
                <a:solidFill>
                  <a:schemeClr val="bg1"/>
                </a:solidFill>
                <a:ea typeface="Times New Roman"/>
              </a:rPr>
              <a:t>Method</a:t>
            </a:r>
            <a:endParaRPr lang="zh-CN" altLang="zh-CN" sz="2400" dirty="0">
              <a:solidFill>
                <a:schemeClr val="bg1"/>
              </a:solidFill>
            </a:endParaRPr>
          </a:p>
        </p:txBody>
      </p:sp>
    </p:spTree>
    <p:extLst>
      <p:ext uri="{BB962C8B-B14F-4D97-AF65-F5344CB8AC3E}">
        <p14:creationId xmlns:p14="http://schemas.microsoft.com/office/powerpoint/2010/main" xmlns="" val="1716492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31</a:t>
            </a:fld>
            <a:r>
              <a:rPr lang="zh-CN" altLang="en-US" smtClean="0"/>
              <a:t> </a:t>
            </a:r>
            <a:endParaRPr lang="zh-CN" altLang="en-US" dirty="0">
              <a:latin typeface="微软雅黑" pitchFamily="34" charset="-122"/>
              <a:ea typeface="微软雅黑" pitchFamily="34" charset="-122"/>
            </a:endParaRPr>
          </a:p>
        </p:txBody>
      </p:sp>
      <p:pic>
        <p:nvPicPr>
          <p:cNvPr id="6"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812800" y="1435100"/>
            <a:ext cx="7516813" cy="3987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9" name="矩形 8"/>
          <p:cNvSpPr/>
          <p:nvPr/>
        </p:nvSpPr>
        <p:spPr>
          <a:xfrm>
            <a:off x="390625" y="116632"/>
            <a:ext cx="7992888" cy="1015663"/>
          </a:xfrm>
          <a:prstGeom prst="rect">
            <a:avLst/>
          </a:prstGeom>
        </p:spPr>
        <p:txBody>
          <a:bodyPr wrap="square">
            <a:spAutoFit/>
          </a:bodyPr>
          <a:lstStyle/>
          <a:p>
            <a:pPr algn="just">
              <a:spcBef>
                <a:spcPts val="1560"/>
              </a:spcBef>
              <a:buSzPts val="1400"/>
              <a:tabLst>
                <a:tab pos="274320" algn="l"/>
              </a:tabLst>
            </a:pPr>
            <a:r>
              <a:rPr lang="en-US" altLang="zh-CN" sz="2800" dirty="0" smtClean="0">
                <a:solidFill>
                  <a:schemeClr val="bg1"/>
                </a:solidFill>
                <a:latin typeface="微软雅黑" panose="020B0503020204020204" pitchFamily="34" charset="-122"/>
                <a:ea typeface="微软雅黑" panose="020B0503020204020204" pitchFamily="34" charset="-122"/>
              </a:rPr>
              <a:t>10  </a:t>
            </a:r>
            <a:r>
              <a:rPr lang="en-US" altLang="zh-CN" sz="2800" dirty="0">
                <a:solidFill>
                  <a:schemeClr val="bg1"/>
                </a:solidFill>
                <a:latin typeface="微软雅黑" panose="020B0503020204020204" pitchFamily="34" charset="-122"/>
                <a:ea typeface="微软雅黑" panose="020B0503020204020204" pitchFamily="34" charset="-122"/>
              </a:rPr>
              <a:t>THERMAL BALANCE TEST</a:t>
            </a:r>
            <a:endParaRPr lang="zh-CN" altLang="zh-CN" sz="2800" dirty="0">
              <a:solidFill>
                <a:schemeClr val="bg1"/>
              </a:solidFill>
              <a:latin typeface="微软雅黑" panose="020B0503020204020204" pitchFamily="34" charset="-122"/>
              <a:ea typeface="微软雅黑" panose="020B0503020204020204" pitchFamily="34" charset="-122"/>
            </a:endParaRPr>
          </a:p>
          <a:p>
            <a:pPr lvl="1" fontAlgn="base"/>
            <a:r>
              <a:rPr lang="en-US" altLang="zh-CN" sz="3200" dirty="0" smtClean="0">
                <a:solidFill>
                  <a:schemeClr val="bg1"/>
                </a:solidFill>
              </a:rPr>
              <a:t>                                            ------</a:t>
            </a:r>
            <a:r>
              <a:rPr lang="zh-CN" altLang="zh-CN" sz="2400" dirty="0" smtClean="0">
                <a:solidFill>
                  <a:schemeClr val="bg1"/>
                </a:solidFill>
                <a:ea typeface="Times New Roman"/>
              </a:rPr>
              <a:t> </a:t>
            </a:r>
            <a:r>
              <a:rPr lang="en-GB" altLang="zh-CN" sz="2400" dirty="0" smtClean="0">
                <a:solidFill>
                  <a:schemeClr val="bg1"/>
                </a:solidFill>
                <a:ea typeface="Times New Roman"/>
              </a:rPr>
              <a:t>Test </a:t>
            </a:r>
            <a:r>
              <a:rPr lang="en-US" altLang="zh-CN" sz="2400" dirty="0" smtClean="0">
                <a:solidFill>
                  <a:schemeClr val="bg1"/>
                </a:solidFill>
                <a:ea typeface="Times New Roman"/>
              </a:rPr>
              <a:t>Method</a:t>
            </a:r>
            <a:endParaRPr lang="zh-CN" altLang="zh-CN" sz="2400" dirty="0">
              <a:solidFill>
                <a:schemeClr val="bg1"/>
              </a:solidFill>
            </a:endParaRPr>
          </a:p>
        </p:txBody>
      </p:sp>
    </p:spTree>
    <p:extLst>
      <p:ext uri="{BB962C8B-B14F-4D97-AF65-F5344CB8AC3E}">
        <p14:creationId xmlns:p14="http://schemas.microsoft.com/office/powerpoint/2010/main" xmlns="" val="259180200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32</a:t>
            </a:fld>
            <a:r>
              <a:rPr lang="zh-CN" altLang="en-US" smtClean="0"/>
              <a:t> </a:t>
            </a:r>
            <a:endParaRPr lang="zh-CN" altLang="en-US" dirty="0">
              <a:latin typeface="微软雅黑" pitchFamily="34" charset="-122"/>
              <a:ea typeface="微软雅黑" pitchFamily="34" charset="-122"/>
            </a:endParaRPr>
          </a:p>
        </p:txBody>
      </p:sp>
      <p:sp>
        <p:nvSpPr>
          <p:cNvPr id="7" name="矩形 6"/>
          <p:cNvSpPr/>
          <p:nvPr/>
        </p:nvSpPr>
        <p:spPr>
          <a:xfrm>
            <a:off x="390625" y="116632"/>
            <a:ext cx="7992888" cy="1015663"/>
          </a:xfrm>
          <a:prstGeom prst="rect">
            <a:avLst/>
          </a:prstGeom>
        </p:spPr>
        <p:txBody>
          <a:bodyPr wrap="square">
            <a:spAutoFit/>
          </a:bodyPr>
          <a:lstStyle/>
          <a:p>
            <a:pPr algn="just">
              <a:spcBef>
                <a:spcPts val="1560"/>
              </a:spcBef>
              <a:buSzPts val="1400"/>
              <a:tabLst>
                <a:tab pos="274320" algn="l"/>
              </a:tabLst>
            </a:pPr>
            <a:r>
              <a:rPr lang="en-US" altLang="zh-CN" sz="2800" dirty="0" smtClean="0">
                <a:solidFill>
                  <a:schemeClr val="bg1"/>
                </a:solidFill>
                <a:latin typeface="微软雅黑" panose="020B0503020204020204" pitchFamily="34" charset="-122"/>
                <a:ea typeface="微软雅黑" panose="020B0503020204020204" pitchFamily="34" charset="-122"/>
              </a:rPr>
              <a:t>10  </a:t>
            </a:r>
            <a:r>
              <a:rPr lang="en-US" altLang="zh-CN" sz="2800" dirty="0">
                <a:solidFill>
                  <a:schemeClr val="bg1"/>
                </a:solidFill>
                <a:latin typeface="微软雅黑" panose="020B0503020204020204" pitchFamily="34" charset="-122"/>
                <a:ea typeface="微软雅黑" panose="020B0503020204020204" pitchFamily="34" charset="-122"/>
              </a:rPr>
              <a:t>THERMAL BALANCE TEST</a:t>
            </a:r>
            <a:endParaRPr lang="zh-CN" altLang="zh-CN" sz="2800" dirty="0">
              <a:solidFill>
                <a:schemeClr val="bg1"/>
              </a:solidFill>
              <a:latin typeface="微软雅黑" panose="020B0503020204020204" pitchFamily="34" charset="-122"/>
              <a:ea typeface="微软雅黑" panose="020B0503020204020204" pitchFamily="34" charset="-122"/>
            </a:endParaRPr>
          </a:p>
          <a:p>
            <a:pPr lvl="1" fontAlgn="base"/>
            <a:r>
              <a:rPr lang="en-US" altLang="zh-CN" sz="3200" dirty="0" smtClean="0">
                <a:solidFill>
                  <a:schemeClr val="bg1"/>
                </a:solidFill>
              </a:rPr>
              <a:t>                                            ------</a:t>
            </a:r>
            <a:r>
              <a:rPr lang="zh-CN" altLang="zh-CN" sz="2400" dirty="0" smtClean="0">
                <a:solidFill>
                  <a:schemeClr val="bg1"/>
                </a:solidFill>
                <a:ea typeface="Times New Roman"/>
              </a:rPr>
              <a:t> </a:t>
            </a:r>
            <a:r>
              <a:rPr lang="en-GB" altLang="zh-CN" sz="2400" dirty="0" smtClean="0">
                <a:solidFill>
                  <a:schemeClr val="bg1"/>
                </a:solidFill>
                <a:ea typeface="Times New Roman"/>
              </a:rPr>
              <a:t>Test </a:t>
            </a:r>
            <a:r>
              <a:rPr lang="en-US" altLang="zh-CN" sz="2400" dirty="0" smtClean="0">
                <a:solidFill>
                  <a:schemeClr val="bg1"/>
                </a:solidFill>
                <a:ea typeface="Times New Roman"/>
              </a:rPr>
              <a:t>Method</a:t>
            </a:r>
            <a:endParaRPr lang="zh-CN" altLang="zh-CN" sz="2400" dirty="0">
              <a:solidFill>
                <a:schemeClr val="bg1"/>
              </a:solidFill>
            </a:endParaRPr>
          </a:p>
        </p:txBody>
      </p:sp>
      <p:sp>
        <p:nvSpPr>
          <p:cNvPr id="8" name="内容占位符 2"/>
          <p:cNvSpPr>
            <a:spLocks noGrp="1"/>
          </p:cNvSpPr>
          <p:nvPr>
            <p:ph idx="1"/>
          </p:nvPr>
        </p:nvSpPr>
        <p:spPr>
          <a:xfrm>
            <a:off x="179388" y="1196975"/>
            <a:ext cx="8964612" cy="4951413"/>
          </a:xfrm>
        </p:spPr>
        <p:txBody>
          <a:bodyPr/>
          <a:lstStyle/>
          <a:p>
            <a:pPr eaLnBrk="1" hangingPunct="1">
              <a:buFont typeface="Wingdings" pitchFamily="2" charset="2"/>
              <a:buChar char="p"/>
              <a:defRPr/>
            </a:pPr>
            <a:r>
              <a:rPr lang="en-US" altLang="zh-CN" sz="2400" b="0" dirty="0" smtClean="0">
                <a:latin typeface="Times New Roman" pitchFamily="18" charset="0"/>
                <a:cs typeface="Times New Roman" pitchFamily="18" charset="0"/>
              </a:rPr>
              <a:t>Vacuum simulation</a:t>
            </a:r>
          </a:p>
          <a:p>
            <a:pPr lvl="1" eaLnBrk="1" hangingPunct="1">
              <a:buFont typeface="Wingdings" pitchFamily="2" charset="2"/>
              <a:buChar char="Ø"/>
              <a:defRPr/>
            </a:pPr>
            <a:r>
              <a:rPr lang="en-US" altLang="zh-CN" sz="1800" b="0" dirty="0" smtClean="0">
                <a:latin typeface="Times New Roman" pitchFamily="18" charset="0"/>
                <a:cs typeface="Times New Roman" pitchFamily="18" charset="0"/>
              </a:rPr>
              <a:t>Pressure </a:t>
            </a:r>
            <a:r>
              <a:rPr lang="zh-CN" altLang="en-US" sz="1800" b="0" dirty="0" smtClean="0">
                <a:latin typeface="Times New Roman" pitchFamily="18" charset="0"/>
                <a:cs typeface="Times New Roman" pitchFamily="18" charset="0"/>
              </a:rPr>
              <a:t>≤ </a:t>
            </a:r>
            <a:r>
              <a:rPr lang="en-US" altLang="zh-CN" sz="1800" b="0" dirty="0" smtClean="0">
                <a:latin typeface="Times New Roman" pitchFamily="18" charset="0"/>
                <a:cs typeface="Times New Roman" pitchFamily="18" charset="0"/>
              </a:rPr>
              <a:t>10</a:t>
            </a:r>
            <a:r>
              <a:rPr lang="en-US" altLang="zh-CN" sz="1800" b="0" baseline="30000" dirty="0" smtClean="0">
                <a:latin typeface="Times New Roman" pitchFamily="18" charset="0"/>
                <a:cs typeface="Times New Roman" pitchFamily="18" charset="0"/>
              </a:rPr>
              <a:t>-5</a:t>
            </a:r>
            <a:r>
              <a:rPr lang="en-US" altLang="zh-CN" sz="1800" b="0" dirty="0" smtClean="0">
                <a:latin typeface="Times New Roman" pitchFamily="18" charset="0"/>
                <a:cs typeface="Times New Roman" pitchFamily="18" charset="0"/>
              </a:rPr>
              <a:t>Pa at the altitude of 300km</a:t>
            </a:r>
          </a:p>
          <a:p>
            <a:pPr lvl="1" eaLnBrk="1" hangingPunct="1">
              <a:buFont typeface="Wingdings" pitchFamily="2" charset="2"/>
              <a:buChar char="Ø"/>
              <a:defRPr/>
            </a:pPr>
            <a:r>
              <a:rPr lang="en-US" altLang="zh-CN" sz="1800" b="0" dirty="0" smtClean="0">
                <a:latin typeface="Times New Roman" pitchFamily="18" charset="0"/>
                <a:cs typeface="Times New Roman" pitchFamily="18" charset="0"/>
              </a:rPr>
              <a:t>Heat transfer:</a:t>
            </a:r>
            <a:r>
              <a:rPr lang="zh-CN" altLang="en-US" sz="1800" b="0" dirty="0" smtClean="0">
                <a:latin typeface="Times New Roman" pitchFamily="18" charset="0"/>
                <a:cs typeface="Times New Roman" pitchFamily="18" charset="0"/>
              </a:rPr>
              <a:t> </a:t>
            </a:r>
            <a:r>
              <a:rPr lang="en-US" altLang="zh-CN" sz="1800" b="0" dirty="0" smtClean="0">
                <a:latin typeface="Times New Roman" pitchFamily="18" charset="0"/>
                <a:cs typeface="Times New Roman" pitchFamily="18" charset="0"/>
              </a:rPr>
              <a:t>pressure = 10</a:t>
            </a:r>
            <a:r>
              <a:rPr lang="en-US" altLang="zh-CN" sz="1800" b="0" baseline="30000" dirty="0" smtClean="0">
                <a:latin typeface="Times New Roman" pitchFamily="18" charset="0"/>
                <a:cs typeface="Times New Roman" pitchFamily="18" charset="0"/>
              </a:rPr>
              <a:t>-3</a:t>
            </a:r>
            <a:r>
              <a:rPr lang="en-US" altLang="zh-CN" sz="1800" b="0" dirty="0" smtClean="0">
                <a:latin typeface="Times New Roman" pitchFamily="18" charset="0"/>
                <a:cs typeface="Times New Roman" pitchFamily="18" charset="0"/>
              </a:rPr>
              <a:t>Pa, Satellite surface temperature=300K</a:t>
            </a:r>
            <a:r>
              <a:rPr lang="zh-CN" altLang="en-US" sz="1800" b="0" dirty="0" smtClean="0">
                <a:latin typeface="Times New Roman" pitchFamily="18" charset="0"/>
                <a:cs typeface="Times New Roman" pitchFamily="18" charset="0"/>
              </a:rPr>
              <a:t> </a:t>
            </a:r>
            <a:r>
              <a:rPr lang="en-US" altLang="zh-CN" sz="1800" b="0" dirty="0" smtClean="0">
                <a:latin typeface="Times New Roman" pitchFamily="18" charset="0"/>
                <a:cs typeface="Times New Roman" pitchFamily="18" charset="0"/>
              </a:rPr>
              <a:t>Conductive heat transfer = 0.33% </a:t>
            </a:r>
            <a:r>
              <a:rPr lang="en-US" altLang="zh-CN" sz="1800" b="0" dirty="0" err="1" smtClean="0">
                <a:latin typeface="Times New Roman" pitchFamily="18" charset="0"/>
                <a:cs typeface="Times New Roman" pitchFamily="18" charset="0"/>
              </a:rPr>
              <a:t>Radiative</a:t>
            </a:r>
            <a:r>
              <a:rPr lang="en-US" altLang="zh-CN" sz="1800" b="0" dirty="0" smtClean="0">
                <a:latin typeface="Times New Roman" pitchFamily="18" charset="0"/>
                <a:cs typeface="Times New Roman" pitchFamily="18" charset="0"/>
              </a:rPr>
              <a:t> heat transfer (ε=0.1)</a:t>
            </a:r>
          </a:p>
          <a:p>
            <a:pPr lvl="1" eaLnBrk="1" hangingPunct="1">
              <a:buFont typeface="Wingdings" pitchFamily="2" charset="2"/>
              <a:buChar char="Ø"/>
              <a:defRPr/>
            </a:pPr>
            <a:r>
              <a:rPr lang="en-US" altLang="zh-CN" sz="1800" b="0" dirty="0" smtClean="0">
                <a:latin typeface="Times New Roman" pitchFamily="18" charset="0"/>
                <a:cs typeface="Times New Roman" pitchFamily="18" charset="0"/>
              </a:rPr>
              <a:t>”Pressure ~ 10</a:t>
            </a:r>
            <a:r>
              <a:rPr lang="en-US" altLang="zh-CN" sz="1800" b="0" baseline="30000" dirty="0" smtClean="0">
                <a:latin typeface="Times New Roman" pitchFamily="18" charset="0"/>
                <a:cs typeface="Times New Roman" pitchFamily="18" charset="0"/>
              </a:rPr>
              <a:t>-3</a:t>
            </a:r>
            <a:r>
              <a:rPr lang="en-US" altLang="zh-CN" sz="1800" b="0" dirty="0" smtClean="0">
                <a:latin typeface="Times New Roman" pitchFamily="18" charset="0"/>
                <a:cs typeface="Times New Roman" pitchFamily="18" charset="0"/>
              </a:rPr>
              <a:t>Pa </a:t>
            </a:r>
            <a:r>
              <a:rPr lang="zh-CN" altLang="en-US" sz="1800" b="0" dirty="0" smtClean="0">
                <a:latin typeface="Times New Roman" pitchFamily="18" charset="0"/>
                <a:cs typeface="Times New Roman" pitchFamily="18" charset="0"/>
              </a:rPr>
              <a:t>→ </a:t>
            </a:r>
            <a:r>
              <a:rPr lang="en-US" altLang="zh-CN" sz="1800" b="0" dirty="0" smtClean="0">
                <a:latin typeface="Times New Roman" pitchFamily="18" charset="0"/>
                <a:cs typeface="Times New Roman" pitchFamily="18" charset="0"/>
              </a:rPr>
              <a:t>vacuum space” can be accepted</a:t>
            </a:r>
          </a:p>
          <a:p>
            <a:pPr marL="457200" lvl="1" indent="0" eaLnBrk="1" hangingPunct="1">
              <a:buFont typeface="Arial" charset="0"/>
              <a:buNone/>
              <a:defRPr/>
            </a:pPr>
            <a:endParaRPr lang="en-US" altLang="zh-CN" sz="1800" dirty="0" smtClean="0"/>
          </a:p>
        </p:txBody>
      </p:sp>
      <p:pic>
        <p:nvPicPr>
          <p:cNvPr id="9"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900113" y="3573463"/>
            <a:ext cx="6959600" cy="29813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 name="矩形 9"/>
          <p:cNvSpPr/>
          <p:nvPr/>
        </p:nvSpPr>
        <p:spPr>
          <a:xfrm>
            <a:off x="4357688" y="4983163"/>
            <a:ext cx="2143125" cy="357187"/>
          </a:xfrm>
          <a:prstGeom prst="rect">
            <a:avLst/>
          </a:prstGeom>
          <a:noFill/>
          <a:ln>
            <a:solidFill>
              <a:srgbClr val="FF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extLst>
      <p:ext uri="{BB962C8B-B14F-4D97-AF65-F5344CB8AC3E}">
        <p14:creationId xmlns:p14="http://schemas.microsoft.com/office/powerpoint/2010/main" xmlns="" val="1716492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33</a:t>
            </a:fld>
            <a:r>
              <a:rPr lang="zh-CN" altLang="en-US" smtClean="0"/>
              <a:t> </a:t>
            </a:r>
            <a:endParaRPr lang="zh-CN" altLang="en-US" dirty="0">
              <a:latin typeface="微软雅黑" pitchFamily="34" charset="-122"/>
              <a:ea typeface="微软雅黑" pitchFamily="34" charset="-122"/>
            </a:endParaRPr>
          </a:p>
        </p:txBody>
      </p:sp>
      <p:sp>
        <p:nvSpPr>
          <p:cNvPr id="7" name="矩形 6"/>
          <p:cNvSpPr/>
          <p:nvPr/>
        </p:nvSpPr>
        <p:spPr>
          <a:xfrm>
            <a:off x="390625" y="116632"/>
            <a:ext cx="7992888" cy="1015663"/>
          </a:xfrm>
          <a:prstGeom prst="rect">
            <a:avLst/>
          </a:prstGeom>
        </p:spPr>
        <p:txBody>
          <a:bodyPr wrap="square">
            <a:spAutoFit/>
          </a:bodyPr>
          <a:lstStyle/>
          <a:p>
            <a:pPr algn="just">
              <a:spcBef>
                <a:spcPts val="1560"/>
              </a:spcBef>
              <a:buSzPts val="1400"/>
              <a:tabLst>
                <a:tab pos="274320" algn="l"/>
              </a:tabLst>
            </a:pPr>
            <a:r>
              <a:rPr lang="en-US" altLang="zh-CN" sz="2800" dirty="0" smtClean="0">
                <a:solidFill>
                  <a:schemeClr val="bg1"/>
                </a:solidFill>
                <a:latin typeface="微软雅黑" panose="020B0503020204020204" pitchFamily="34" charset="-122"/>
                <a:ea typeface="微软雅黑" panose="020B0503020204020204" pitchFamily="34" charset="-122"/>
              </a:rPr>
              <a:t>10  </a:t>
            </a:r>
            <a:r>
              <a:rPr lang="en-US" altLang="zh-CN" sz="2800" dirty="0">
                <a:solidFill>
                  <a:schemeClr val="bg1"/>
                </a:solidFill>
                <a:latin typeface="微软雅黑" panose="020B0503020204020204" pitchFamily="34" charset="-122"/>
                <a:ea typeface="微软雅黑" panose="020B0503020204020204" pitchFamily="34" charset="-122"/>
              </a:rPr>
              <a:t>THERMAL BALANCE TEST</a:t>
            </a:r>
            <a:endParaRPr lang="zh-CN" altLang="zh-CN" sz="2800" dirty="0">
              <a:solidFill>
                <a:schemeClr val="bg1"/>
              </a:solidFill>
              <a:latin typeface="微软雅黑" panose="020B0503020204020204" pitchFamily="34" charset="-122"/>
              <a:ea typeface="微软雅黑" panose="020B0503020204020204" pitchFamily="34" charset="-122"/>
            </a:endParaRPr>
          </a:p>
          <a:p>
            <a:pPr lvl="1" fontAlgn="base"/>
            <a:r>
              <a:rPr lang="en-US" altLang="zh-CN" sz="3200" dirty="0" smtClean="0">
                <a:solidFill>
                  <a:schemeClr val="bg1"/>
                </a:solidFill>
              </a:rPr>
              <a:t>                                            ------</a:t>
            </a:r>
            <a:r>
              <a:rPr lang="zh-CN" altLang="zh-CN" sz="2400" dirty="0" smtClean="0">
                <a:solidFill>
                  <a:schemeClr val="bg1"/>
                </a:solidFill>
                <a:ea typeface="Times New Roman"/>
              </a:rPr>
              <a:t> </a:t>
            </a:r>
            <a:r>
              <a:rPr lang="en-GB" altLang="zh-CN" sz="2400" dirty="0" smtClean="0">
                <a:solidFill>
                  <a:schemeClr val="bg1"/>
                </a:solidFill>
                <a:ea typeface="Times New Roman"/>
              </a:rPr>
              <a:t>Test </a:t>
            </a:r>
            <a:r>
              <a:rPr lang="en-US" altLang="zh-CN" sz="2400" dirty="0" smtClean="0">
                <a:solidFill>
                  <a:schemeClr val="bg1"/>
                </a:solidFill>
                <a:ea typeface="Times New Roman"/>
              </a:rPr>
              <a:t>Method</a:t>
            </a:r>
            <a:endParaRPr lang="zh-CN" altLang="zh-CN" sz="2400" dirty="0">
              <a:solidFill>
                <a:schemeClr val="bg1"/>
              </a:solidFill>
            </a:endParaRPr>
          </a:p>
        </p:txBody>
      </p:sp>
      <p:sp>
        <p:nvSpPr>
          <p:cNvPr id="6" name="内容占位符 2"/>
          <p:cNvSpPr>
            <a:spLocks noGrp="1"/>
          </p:cNvSpPr>
          <p:nvPr>
            <p:ph idx="1"/>
          </p:nvPr>
        </p:nvSpPr>
        <p:spPr>
          <a:xfrm>
            <a:off x="107950" y="1357313"/>
            <a:ext cx="9036050" cy="4951412"/>
          </a:xfrm>
        </p:spPr>
        <p:txBody>
          <a:bodyPr/>
          <a:lstStyle/>
          <a:p>
            <a:pPr eaLnBrk="1" hangingPunct="1">
              <a:buFont typeface="Wingdings" pitchFamily="2" charset="2"/>
              <a:buChar char="p"/>
              <a:defRPr/>
            </a:pPr>
            <a:r>
              <a:rPr lang="en-US" altLang="zh-CN" sz="2400" b="0" dirty="0" smtClean="0">
                <a:latin typeface="Times New Roman" pitchFamily="18" charset="0"/>
                <a:cs typeface="Times New Roman" pitchFamily="18" charset="0"/>
              </a:rPr>
              <a:t>Extremely low temperature simulation</a:t>
            </a:r>
          </a:p>
          <a:p>
            <a:pPr lvl="1" eaLnBrk="1" hangingPunct="1">
              <a:buFont typeface="Wingdings" pitchFamily="2" charset="2"/>
              <a:buChar char="Ø"/>
              <a:defRPr/>
            </a:pPr>
            <a:r>
              <a:rPr lang="en-US" altLang="zh-CN" sz="1800" b="0" dirty="0" smtClean="0">
                <a:latin typeface="Times New Roman" pitchFamily="18" charset="0"/>
                <a:cs typeface="Times New Roman" pitchFamily="18" charset="0"/>
              </a:rPr>
              <a:t>Effective radiative temperature of space=4K, difficult to simulate</a:t>
            </a:r>
          </a:p>
          <a:p>
            <a:pPr lvl="1" eaLnBrk="1" hangingPunct="1">
              <a:buFont typeface="Wingdings" pitchFamily="2" charset="2"/>
              <a:buChar char="Ø"/>
              <a:defRPr/>
            </a:pPr>
            <a:r>
              <a:rPr lang="en-US" altLang="zh-CN" sz="1800" b="0" dirty="0" smtClean="0">
                <a:latin typeface="Times New Roman" pitchFamily="18" charset="0"/>
                <a:cs typeface="Times New Roman" pitchFamily="18" charset="0"/>
              </a:rPr>
              <a:t>Liquid nitrogen is usually adapted to simulate the low temperature environment</a:t>
            </a:r>
          </a:p>
          <a:p>
            <a:pPr lvl="1" eaLnBrk="1" hangingPunct="1">
              <a:buFont typeface="Wingdings" pitchFamily="2" charset="2"/>
              <a:buChar char="Ø"/>
              <a:defRPr/>
            </a:pPr>
            <a:r>
              <a:rPr lang="en-US" altLang="zh-CN" sz="1800" b="0" dirty="0" smtClean="0">
                <a:latin typeface="Times New Roman" pitchFamily="18" charset="0"/>
                <a:cs typeface="Times New Roman" pitchFamily="18" charset="0"/>
              </a:rPr>
              <a:t>Saturated temperature of liquid nitrogen at 1 bar is 77K. </a:t>
            </a:r>
          </a:p>
          <a:p>
            <a:pPr lvl="1" eaLnBrk="1" hangingPunct="1">
              <a:buFont typeface="Wingdings" pitchFamily="2" charset="2"/>
              <a:buChar char="Ø"/>
              <a:defRPr/>
            </a:pPr>
            <a:r>
              <a:rPr lang="en-US" altLang="zh-CN" sz="1800" b="0" dirty="0">
                <a:latin typeface="Times New Roman" pitchFamily="18" charset="0"/>
                <a:cs typeface="Times New Roman" pitchFamily="18" charset="0"/>
              </a:rPr>
              <a:t> </a:t>
            </a:r>
            <a:r>
              <a:rPr lang="en-US" altLang="zh-CN" sz="1800" b="0" dirty="0" smtClean="0">
                <a:latin typeface="Times New Roman" pitchFamily="18" charset="0"/>
                <a:cs typeface="Times New Roman" pitchFamily="18" charset="0"/>
              </a:rPr>
              <a:t>The equivalent radiative heat flux is 2W/m</a:t>
            </a:r>
            <a:r>
              <a:rPr lang="en-US" altLang="zh-CN" sz="1800" b="0" baseline="30000" dirty="0" smtClean="0">
                <a:latin typeface="Times New Roman" pitchFamily="18" charset="0"/>
                <a:cs typeface="Times New Roman" pitchFamily="18" charset="0"/>
              </a:rPr>
              <a:t>2</a:t>
            </a:r>
          </a:p>
          <a:p>
            <a:pPr lvl="1" eaLnBrk="1" hangingPunct="1">
              <a:buFont typeface="Wingdings" pitchFamily="2" charset="2"/>
              <a:buChar char="Ø"/>
              <a:defRPr/>
            </a:pPr>
            <a:r>
              <a:rPr lang="en-US" altLang="zh-CN" sz="1800" b="0" dirty="0" smtClean="0">
                <a:latin typeface="Times New Roman" pitchFamily="18" charset="0"/>
                <a:cs typeface="Times New Roman" pitchFamily="18" charset="0"/>
              </a:rPr>
              <a:t>0.14% of solar constant,  1% of the average IR heat flux of Earth</a:t>
            </a:r>
          </a:p>
          <a:p>
            <a:pPr lvl="1" eaLnBrk="1" hangingPunct="1">
              <a:buFont typeface="Wingdings" pitchFamily="2" charset="2"/>
              <a:buChar char="Ø"/>
              <a:defRPr/>
            </a:pPr>
            <a:r>
              <a:rPr lang="en-US" altLang="zh-CN" sz="1800" b="0" dirty="0" smtClean="0">
                <a:latin typeface="Times New Roman" pitchFamily="18" charset="0"/>
                <a:cs typeface="Times New Roman" pitchFamily="18" charset="0"/>
              </a:rPr>
              <a:t>The inaccuracy can be neglected in engineering fields</a:t>
            </a:r>
          </a:p>
        </p:txBody>
      </p:sp>
    </p:spTree>
    <p:extLst>
      <p:ext uri="{BB962C8B-B14F-4D97-AF65-F5344CB8AC3E}">
        <p14:creationId xmlns:p14="http://schemas.microsoft.com/office/powerpoint/2010/main" xmlns="" val="349613703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34</a:t>
            </a:fld>
            <a:r>
              <a:rPr lang="zh-CN" altLang="en-US" smtClean="0"/>
              <a:t> </a:t>
            </a:r>
            <a:endParaRPr lang="zh-CN" altLang="en-US" dirty="0">
              <a:latin typeface="微软雅黑" pitchFamily="34" charset="-122"/>
              <a:ea typeface="微软雅黑" pitchFamily="34" charset="-122"/>
            </a:endParaRPr>
          </a:p>
        </p:txBody>
      </p:sp>
      <p:sp>
        <p:nvSpPr>
          <p:cNvPr id="7" name="矩形 6"/>
          <p:cNvSpPr/>
          <p:nvPr/>
        </p:nvSpPr>
        <p:spPr>
          <a:xfrm>
            <a:off x="390625" y="116632"/>
            <a:ext cx="7992888" cy="1015663"/>
          </a:xfrm>
          <a:prstGeom prst="rect">
            <a:avLst/>
          </a:prstGeom>
        </p:spPr>
        <p:txBody>
          <a:bodyPr wrap="square">
            <a:spAutoFit/>
          </a:bodyPr>
          <a:lstStyle/>
          <a:p>
            <a:pPr algn="just">
              <a:spcBef>
                <a:spcPts val="1560"/>
              </a:spcBef>
              <a:buSzPts val="1400"/>
              <a:tabLst>
                <a:tab pos="274320" algn="l"/>
              </a:tabLst>
            </a:pPr>
            <a:r>
              <a:rPr lang="en-US" altLang="zh-CN" sz="2800" dirty="0" smtClean="0">
                <a:solidFill>
                  <a:schemeClr val="bg1"/>
                </a:solidFill>
                <a:latin typeface="微软雅黑" panose="020B0503020204020204" pitchFamily="34" charset="-122"/>
                <a:ea typeface="微软雅黑" panose="020B0503020204020204" pitchFamily="34" charset="-122"/>
              </a:rPr>
              <a:t>10  </a:t>
            </a:r>
            <a:r>
              <a:rPr lang="en-US" altLang="zh-CN" sz="2800" dirty="0">
                <a:solidFill>
                  <a:schemeClr val="bg1"/>
                </a:solidFill>
                <a:latin typeface="微软雅黑" panose="020B0503020204020204" pitchFamily="34" charset="-122"/>
                <a:ea typeface="微软雅黑" panose="020B0503020204020204" pitchFamily="34" charset="-122"/>
              </a:rPr>
              <a:t>THERMAL BALANCE TEST</a:t>
            </a:r>
            <a:endParaRPr lang="zh-CN" altLang="zh-CN" sz="2800" dirty="0">
              <a:solidFill>
                <a:schemeClr val="bg1"/>
              </a:solidFill>
              <a:latin typeface="微软雅黑" panose="020B0503020204020204" pitchFamily="34" charset="-122"/>
              <a:ea typeface="微软雅黑" panose="020B0503020204020204" pitchFamily="34" charset="-122"/>
            </a:endParaRPr>
          </a:p>
          <a:p>
            <a:pPr lvl="1" fontAlgn="base"/>
            <a:r>
              <a:rPr lang="en-US" altLang="zh-CN" sz="3200" dirty="0" smtClean="0">
                <a:solidFill>
                  <a:schemeClr val="bg1"/>
                </a:solidFill>
              </a:rPr>
              <a:t>                                            ------</a:t>
            </a:r>
            <a:r>
              <a:rPr lang="zh-CN" altLang="zh-CN" sz="2400" dirty="0" smtClean="0">
                <a:solidFill>
                  <a:schemeClr val="bg1"/>
                </a:solidFill>
                <a:ea typeface="Times New Roman"/>
              </a:rPr>
              <a:t> </a:t>
            </a:r>
            <a:r>
              <a:rPr lang="en-GB" altLang="zh-CN" sz="2400" dirty="0" smtClean="0">
                <a:solidFill>
                  <a:schemeClr val="bg1"/>
                </a:solidFill>
                <a:ea typeface="Times New Roman"/>
              </a:rPr>
              <a:t>Test </a:t>
            </a:r>
            <a:r>
              <a:rPr lang="en-US" altLang="zh-CN" sz="2400" dirty="0" smtClean="0">
                <a:solidFill>
                  <a:schemeClr val="bg1"/>
                </a:solidFill>
                <a:ea typeface="Times New Roman"/>
              </a:rPr>
              <a:t>Method</a:t>
            </a:r>
            <a:endParaRPr lang="zh-CN" altLang="zh-CN" sz="2400" dirty="0">
              <a:solidFill>
                <a:schemeClr val="bg1"/>
              </a:solidFill>
            </a:endParaRPr>
          </a:p>
        </p:txBody>
      </p:sp>
      <p:sp>
        <p:nvSpPr>
          <p:cNvPr id="6" name="内容占位符 2"/>
          <p:cNvSpPr>
            <a:spLocks noGrp="1"/>
          </p:cNvSpPr>
          <p:nvPr>
            <p:ph idx="1"/>
          </p:nvPr>
        </p:nvSpPr>
        <p:spPr>
          <a:xfrm>
            <a:off x="107950" y="1357313"/>
            <a:ext cx="9036050" cy="4951412"/>
          </a:xfrm>
        </p:spPr>
        <p:txBody>
          <a:bodyPr>
            <a:normAutofit lnSpcReduction="10000"/>
          </a:bodyPr>
          <a:lstStyle/>
          <a:p>
            <a:pPr>
              <a:buFont typeface="Wingdings" pitchFamily="2" charset="2"/>
              <a:buChar char="p"/>
            </a:pPr>
            <a:r>
              <a:rPr lang="en-US" altLang="zh-CN" sz="2400" b="0" dirty="0">
                <a:latin typeface="Times New Roman" pitchFamily="18" charset="0"/>
                <a:cs typeface="Times New Roman" pitchFamily="18" charset="0"/>
              </a:rPr>
              <a:t>Black background simulation</a:t>
            </a:r>
          </a:p>
          <a:p>
            <a:pPr lvl="1">
              <a:buFont typeface="Wingdings" pitchFamily="2" charset="2"/>
              <a:buChar char="p"/>
            </a:pPr>
            <a:r>
              <a:rPr lang="en-US" altLang="zh-CN" sz="2000" b="0" dirty="0">
                <a:latin typeface="Times New Roman" pitchFamily="18" charset="0"/>
                <a:cs typeface="Times New Roman" pitchFamily="18" charset="0"/>
              </a:rPr>
              <a:t>Black background: No radiation can be reflected by space as long as it goes into space. In other words, all of the radiation of the satellite will be absorbed by the black ground.</a:t>
            </a:r>
          </a:p>
          <a:p>
            <a:pPr lvl="1">
              <a:buFont typeface="Wingdings" pitchFamily="2" charset="2"/>
              <a:buChar char="p"/>
            </a:pPr>
            <a:r>
              <a:rPr lang="en-US" altLang="zh-CN" sz="2000" b="0" dirty="0">
                <a:latin typeface="Times New Roman" pitchFamily="18" charset="0"/>
                <a:cs typeface="Times New Roman" pitchFamily="18" charset="0"/>
              </a:rPr>
              <a:t>Heat sink made from Al</a:t>
            </a:r>
            <a:r>
              <a:rPr lang="zh-CN" altLang="en-US" sz="2000" b="0" dirty="0">
                <a:latin typeface="Times New Roman" pitchFamily="18" charset="0"/>
                <a:cs typeface="Times New Roman" pitchFamily="18" charset="0"/>
              </a:rPr>
              <a:t>（</a:t>
            </a:r>
            <a:r>
              <a:rPr lang="en-US" altLang="zh-CN" sz="2000" b="0" dirty="0" err="1">
                <a:latin typeface="Times New Roman" pitchFamily="18" charset="0"/>
                <a:cs typeface="Times New Roman" pitchFamily="18" charset="0"/>
              </a:rPr>
              <a:t>aluminium</a:t>
            </a:r>
            <a:r>
              <a:rPr lang="zh-CN" altLang="en-US" sz="2000" b="0" dirty="0">
                <a:latin typeface="Times New Roman" pitchFamily="18" charset="0"/>
                <a:cs typeface="Times New Roman" pitchFamily="18" charset="0"/>
              </a:rPr>
              <a:t>）</a:t>
            </a:r>
            <a:r>
              <a:rPr lang="en-US" altLang="zh-CN" sz="2000" b="0" dirty="0">
                <a:latin typeface="Times New Roman" pitchFamily="18" charset="0"/>
                <a:cs typeface="Times New Roman" pitchFamily="18" charset="0"/>
              </a:rPr>
              <a:t>, Cu</a:t>
            </a:r>
            <a:r>
              <a:rPr lang="zh-CN" altLang="en-US" sz="2000" b="0" dirty="0">
                <a:latin typeface="Times New Roman" pitchFamily="18" charset="0"/>
                <a:cs typeface="Times New Roman" pitchFamily="18" charset="0"/>
              </a:rPr>
              <a:t>（</a:t>
            </a:r>
            <a:r>
              <a:rPr lang="en-US" altLang="zh-CN" sz="2000" b="0" dirty="0">
                <a:latin typeface="Times New Roman" pitchFamily="18" charset="0"/>
                <a:cs typeface="Times New Roman" pitchFamily="18" charset="0"/>
              </a:rPr>
              <a:t>cuprum</a:t>
            </a:r>
            <a:r>
              <a:rPr lang="zh-CN" altLang="en-US" sz="2000" b="0" dirty="0">
                <a:latin typeface="Times New Roman" pitchFamily="18" charset="0"/>
                <a:cs typeface="Times New Roman" pitchFamily="18" charset="0"/>
              </a:rPr>
              <a:t>）</a:t>
            </a:r>
            <a:r>
              <a:rPr lang="en-US" altLang="zh-CN" sz="2000" b="0" dirty="0">
                <a:latin typeface="Times New Roman" pitchFamily="18" charset="0"/>
                <a:cs typeface="Times New Roman" pitchFamily="18" charset="0"/>
              </a:rPr>
              <a:t>, Stainless material </a:t>
            </a:r>
            <a:r>
              <a:rPr lang="zh-CN" altLang="en-US" sz="2000" b="0" dirty="0">
                <a:latin typeface="Times New Roman" pitchFamily="18" charset="0"/>
                <a:cs typeface="Times New Roman" pitchFamily="18" charset="0"/>
              </a:rPr>
              <a:t>→ </a:t>
            </a:r>
            <a:r>
              <a:rPr lang="en-US" altLang="zh-CN" sz="2000" b="0" dirty="0">
                <a:latin typeface="Times New Roman" pitchFamily="18" charset="0"/>
                <a:cs typeface="Times New Roman" pitchFamily="18" charset="0"/>
              </a:rPr>
              <a:t>space</a:t>
            </a:r>
          </a:p>
          <a:p>
            <a:pPr lvl="1">
              <a:buFont typeface="Wingdings" pitchFamily="2" charset="2"/>
              <a:buChar char="p"/>
            </a:pPr>
            <a:r>
              <a:rPr lang="en-US" altLang="zh-CN" sz="2000" b="0" dirty="0">
                <a:latin typeface="Times New Roman" pitchFamily="18" charset="0"/>
                <a:cs typeface="Times New Roman" pitchFamily="18" charset="0"/>
              </a:rPr>
              <a:t>Pipes filled with cooling medium will be jointed to the inner surface of heat sink. The pipe surface is covered by black paintings (emissivity &gt; 0.9)</a:t>
            </a:r>
          </a:p>
          <a:p>
            <a:pPr lvl="1">
              <a:buFont typeface="Wingdings" pitchFamily="2" charset="2"/>
              <a:buChar char="p"/>
            </a:pPr>
            <a:r>
              <a:rPr lang="en-US" altLang="zh-CN" sz="2000" b="0" dirty="0">
                <a:latin typeface="Times New Roman" pitchFamily="18" charset="0"/>
                <a:cs typeface="Times New Roman" pitchFamily="18" charset="0"/>
              </a:rPr>
              <a:t>Simulation error can be controlled within ± 1% at the temperature of</a:t>
            </a:r>
            <a:r>
              <a:rPr lang="zh-CN" altLang="en-US" sz="2000" b="0" dirty="0">
                <a:latin typeface="Times New Roman" pitchFamily="18" charset="0"/>
                <a:cs typeface="Times New Roman" pitchFamily="18" charset="0"/>
              </a:rPr>
              <a:t> </a:t>
            </a:r>
            <a:r>
              <a:rPr lang="en-US" altLang="zh-CN" sz="2000" b="0" dirty="0">
                <a:latin typeface="Times New Roman" pitchFamily="18" charset="0"/>
                <a:cs typeface="Times New Roman" pitchFamily="18" charset="0"/>
              </a:rPr>
              <a:t>about 20 </a:t>
            </a:r>
            <a:r>
              <a:rPr lang="zh-CN" altLang="en-US" sz="2000" b="0" dirty="0">
                <a:latin typeface="Times New Roman" pitchFamily="18" charset="0"/>
                <a:cs typeface="Times New Roman" pitchFamily="18" charset="0"/>
              </a:rPr>
              <a:t>℃ </a:t>
            </a:r>
            <a:endParaRPr lang="en-US" altLang="zh-CN" sz="2000" b="0" dirty="0">
              <a:latin typeface="Times New Roman" pitchFamily="18" charset="0"/>
              <a:cs typeface="Times New Roman" pitchFamily="18" charset="0"/>
            </a:endParaRPr>
          </a:p>
          <a:p>
            <a:pPr lvl="1">
              <a:buFont typeface="Wingdings" pitchFamily="2" charset="2"/>
              <a:buChar char="p"/>
            </a:pPr>
            <a:r>
              <a:rPr lang="en-US" altLang="zh-CN" sz="2000" b="0" dirty="0">
                <a:latin typeface="Times New Roman" pitchFamily="18" charset="0"/>
                <a:cs typeface="Times New Roman" pitchFamily="18" charset="0"/>
              </a:rPr>
              <a:t>Error will be larger at low temperatures</a:t>
            </a:r>
          </a:p>
          <a:p>
            <a:pPr eaLnBrk="1" hangingPunct="1">
              <a:buFont typeface="Wingdings" pitchFamily="2" charset="2"/>
              <a:buChar char="p"/>
              <a:defRPr/>
            </a:pPr>
            <a:endParaRPr lang="en-US" altLang="zh-CN" sz="1800" b="0" dirty="0" smtClean="0">
              <a:latin typeface="Times New Roman" pitchFamily="18" charset="0"/>
              <a:cs typeface="Times New Roman" pitchFamily="18" charset="0"/>
            </a:endParaRPr>
          </a:p>
        </p:txBody>
      </p:sp>
    </p:spTree>
    <p:extLst>
      <p:ext uri="{BB962C8B-B14F-4D97-AF65-F5344CB8AC3E}">
        <p14:creationId xmlns:p14="http://schemas.microsoft.com/office/powerpoint/2010/main" xmlns="" val="1297300681"/>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35</a:t>
            </a:fld>
            <a:r>
              <a:rPr lang="zh-CN" altLang="en-US" smtClean="0"/>
              <a:t> </a:t>
            </a:r>
            <a:endParaRPr lang="zh-CN" altLang="en-US" dirty="0">
              <a:latin typeface="微软雅黑" pitchFamily="34" charset="-122"/>
              <a:ea typeface="微软雅黑" pitchFamily="34" charset="-122"/>
            </a:endParaRPr>
          </a:p>
        </p:txBody>
      </p:sp>
      <p:sp>
        <p:nvSpPr>
          <p:cNvPr id="7" name="矩形 6"/>
          <p:cNvSpPr/>
          <p:nvPr/>
        </p:nvSpPr>
        <p:spPr>
          <a:xfrm>
            <a:off x="390625" y="116632"/>
            <a:ext cx="7992888" cy="1015663"/>
          </a:xfrm>
          <a:prstGeom prst="rect">
            <a:avLst/>
          </a:prstGeom>
        </p:spPr>
        <p:txBody>
          <a:bodyPr wrap="square">
            <a:spAutoFit/>
          </a:bodyPr>
          <a:lstStyle/>
          <a:p>
            <a:pPr algn="just">
              <a:spcBef>
                <a:spcPts val="1560"/>
              </a:spcBef>
              <a:buSzPts val="1400"/>
              <a:tabLst>
                <a:tab pos="274320" algn="l"/>
              </a:tabLst>
            </a:pPr>
            <a:r>
              <a:rPr lang="en-US" altLang="zh-CN" sz="2800" dirty="0" smtClean="0">
                <a:solidFill>
                  <a:schemeClr val="bg1"/>
                </a:solidFill>
                <a:latin typeface="微软雅黑" panose="020B0503020204020204" pitchFamily="34" charset="-122"/>
                <a:ea typeface="微软雅黑" panose="020B0503020204020204" pitchFamily="34" charset="-122"/>
              </a:rPr>
              <a:t>10  </a:t>
            </a:r>
            <a:r>
              <a:rPr lang="en-US" altLang="zh-CN" sz="2800" dirty="0">
                <a:solidFill>
                  <a:schemeClr val="bg1"/>
                </a:solidFill>
                <a:latin typeface="微软雅黑" panose="020B0503020204020204" pitchFamily="34" charset="-122"/>
                <a:ea typeface="微软雅黑" panose="020B0503020204020204" pitchFamily="34" charset="-122"/>
              </a:rPr>
              <a:t>THERMAL BALANCE TEST</a:t>
            </a:r>
            <a:endParaRPr lang="zh-CN" altLang="zh-CN" sz="2800" dirty="0">
              <a:solidFill>
                <a:schemeClr val="bg1"/>
              </a:solidFill>
              <a:latin typeface="微软雅黑" panose="020B0503020204020204" pitchFamily="34" charset="-122"/>
              <a:ea typeface="微软雅黑" panose="020B0503020204020204" pitchFamily="34" charset="-122"/>
            </a:endParaRPr>
          </a:p>
          <a:p>
            <a:pPr lvl="1" fontAlgn="base"/>
            <a:r>
              <a:rPr lang="en-US" altLang="zh-CN" sz="3200" dirty="0" smtClean="0">
                <a:solidFill>
                  <a:schemeClr val="bg1"/>
                </a:solidFill>
              </a:rPr>
              <a:t>                                            ------</a:t>
            </a:r>
            <a:r>
              <a:rPr lang="zh-CN" altLang="zh-CN" sz="2400" dirty="0" smtClean="0">
                <a:solidFill>
                  <a:schemeClr val="bg1"/>
                </a:solidFill>
                <a:ea typeface="Times New Roman"/>
              </a:rPr>
              <a:t> </a:t>
            </a:r>
            <a:r>
              <a:rPr lang="en-GB" altLang="zh-CN" sz="2400" dirty="0" smtClean="0">
                <a:solidFill>
                  <a:schemeClr val="bg1"/>
                </a:solidFill>
                <a:ea typeface="Times New Roman"/>
              </a:rPr>
              <a:t>Test </a:t>
            </a:r>
            <a:r>
              <a:rPr lang="en-US" altLang="zh-CN" sz="2400" dirty="0" smtClean="0">
                <a:solidFill>
                  <a:schemeClr val="bg1"/>
                </a:solidFill>
                <a:ea typeface="Times New Roman"/>
              </a:rPr>
              <a:t>Method</a:t>
            </a:r>
            <a:endParaRPr lang="zh-CN" altLang="zh-CN" sz="2400" dirty="0">
              <a:solidFill>
                <a:schemeClr val="bg1"/>
              </a:solidFill>
            </a:endParaRPr>
          </a:p>
        </p:txBody>
      </p:sp>
      <p:sp>
        <p:nvSpPr>
          <p:cNvPr id="6" name="内容占位符 2"/>
          <p:cNvSpPr>
            <a:spLocks noGrp="1"/>
          </p:cNvSpPr>
          <p:nvPr>
            <p:ph idx="1"/>
          </p:nvPr>
        </p:nvSpPr>
        <p:spPr>
          <a:xfrm>
            <a:off x="107950" y="1357313"/>
            <a:ext cx="9036050" cy="4951412"/>
          </a:xfrm>
        </p:spPr>
        <p:txBody>
          <a:bodyPr>
            <a:normAutofit/>
          </a:bodyPr>
          <a:lstStyle/>
          <a:p>
            <a:pPr>
              <a:buFont typeface="Wingdings" pitchFamily="2" charset="2"/>
              <a:buChar char="p"/>
            </a:pPr>
            <a:r>
              <a:rPr lang="en-US" altLang="zh-CN" sz="2400" b="0" dirty="0">
                <a:latin typeface="Times New Roman" pitchFamily="18" charset="0"/>
                <a:cs typeface="Times New Roman" pitchFamily="18" charset="0"/>
              </a:rPr>
              <a:t>External heat flux</a:t>
            </a:r>
          </a:p>
          <a:p>
            <a:pPr lvl="1">
              <a:buFont typeface="Wingdings" pitchFamily="2" charset="2"/>
              <a:buChar char="p"/>
            </a:pPr>
            <a:r>
              <a:rPr lang="en-US" altLang="zh-CN" sz="2000" b="0" dirty="0">
                <a:latin typeface="Times New Roman" pitchFamily="18" charset="0"/>
                <a:cs typeface="Times New Roman" pitchFamily="18" charset="0"/>
              </a:rPr>
              <a:t>For low-altitude spacecraft</a:t>
            </a:r>
            <a:r>
              <a:rPr lang="en-US" altLang="zh-CN" sz="1800" dirty="0"/>
              <a:t>:</a:t>
            </a:r>
          </a:p>
          <a:p>
            <a:pPr lvl="1">
              <a:buFont typeface="Wingdings" pitchFamily="2" charset="2"/>
              <a:buChar char="Ø"/>
            </a:pPr>
            <a:r>
              <a:rPr lang="en-US" altLang="zh-CN" sz="2000" b="0" dirty="0">
                <a:latin typeface="Times New Roman" pitchFamily="18" charset="0"/>
                <a:cs typeface="Times New Roman" pitchFamily="18" charset="0"/>
              </a:rPr>
              <a:t>Direct solar irradiation</a:t>
            </a:r>
          </a:p>
          <a:p>
            <a:pPr marL="914400" lvl="2" indent="0">
              <a:buNone/>
            </a:pPr>
            <a:r>
              <a:rPr lang="en-US" altLang="zh-CN" sz="2000" b="0" dirty="0">
                <a:latin typeface="Times New Roman" pitchFamily="18" charset="0"/>
                <a:cs typeface="Times New Roman" pitchFamily="18" charset="0"/>
              </a:rPr>
              <a:t>Solar spectral range: visible and near IR range</a:t>
            </a:r>
          </a:p>
          <a:p>
            <a:pPr lvl="1">
              <a:buFont typeface="Wingdings" pitchFamily="2" charset="2"/>
              <a:buChar char="Ø"/>
            </a:pPr>
            <a:r>
              <a:rPr lang="en-US" altLang="zh-CN" sz="2000" b="0" dirty="0">
                <a:latin typeface="Times New Roman" pitchFamily="18" charset="0"/>
                <a:cs typeface="Times New Roman" pitchFamily="18" charset="0"/>
              </a:rPr>
              <a:t>Reflected solar heat flux from the earth</a:t>
            </a:r>
          </a:p>
          <a:p>
            <a:pPr marL="914400" lvl="2" indent="0">
              <a:buNone/>
            </a:pPr>
            <a:r>
              <a:rPr lang="en-US" altLang="zh-CN" sz="2000" b="0" dirty="0">
                <a:latin typeface="Times New Roman" pitchFamily="18" charset="0"/>
                <a:cs typeface="Times New Roman" pitchFamily="18" charset="0"/>
              </a:rPr>
              <a:t>Solar spectral range</a:t>
            </a:r>
          </a:p>
          <a:p>
            <a:pPr lvl="1">
              <a:buFont typeface="Wingdings" pitchFamily="2" charset="2"/>
              <a:buChar char="Ø"/>
            </a:pPr>
            <a:r>
              <a:rPr lang="en-US" altLang="zh-CN" sz="2000" b="0" dirty="0">
                <a:latin typeface="Times New Roman" pitchFamily="18" charset="0"/>
                <a:cs typeface="Times New Roman" pitchFamily="18" charset="0"/>
              </a:rPr>
              <a:t>IR radiation heat flux from the earth</a:t>
            </a:r>
          </a:p>
          <a:p>
            <a:pPr marL="914400" lvl="2" indent="0">
              <a:buNone/>
            </a:pPr>
            <a:r>
              <a:rPr lang="en-US" altLang="zh-CN" sz="2000" b="0" dirty="0">
                <a:latin typeface="Times New Roman" pitchFamily="18" charset="0"/>
                <a:cs typeface="Times New Roman" pitchFamily="18" charset="0"/>
              </a:rPr>
              <a:t>Middle IR and far-IR spectral range</a:t>
            </a:r>
          </a:p>
          <a:p>
            <a:pPr eaLnBrk="1" hangingPunct="1">
              <a:buFont typeface="Wingdings" pitchFamily="2" charset="2"/>
              <a:buChar char="p"/>
              <a:defRPr/>
            </a:pPr>
            <a:endParaRPr lang="en-US" altLang="zh-CN" sz="1800" b="0" dirty="0" smtClean="0">
              <a:latin typeface="Times New Roman" pitchFamily="18" charset="0"/>
              <a:cs typeface="Times New Roman" pitchFamily="18" charset="0"/>
            </a:endParaRPr>
          </a:p>
        </p:txBody>
      </p:sp>
    </p:spTree>
    <p:extLst>
      <p:ext uri="{BB962C8B-B14F-4D97-AF65-F5344CB8AC3E}">
        <p14:creationId xmlns:p14="http://schemas.microsoft.com/office/powerpoint/2010/main" xmlns="" val="63776091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36</a:t>
            </a:fld>
            <a:r>
              <a:rPr lang="zh-CN" altLang="en-US" smtClean="0"/>
              <a:t> </a:t>
            </a:r>
            <a:endParaRPr lang="zh-CN" altLang="en-US" dirty="0">
              <a:latin typeface="微软雅黑" pitchFamily="34" charset="-122"/>
              <a:ea typeface="微软雅黑" pitchFamily="34" charset="-122"/>
            </a:endParaRPr>
          </a:p>
        </p:txBody>
      </p:sp>
      <p:sp>
        <p:nvSpPr>
          <p:cNvPr id="7" name="矩形 6"/>
          <p:cNvSpPr/>
          <p:nvPr/>
        </p:nvSpPr>
        <p:spPr>
          <a:xfrm>
            <a:off x="390625" y="116632"/>
            <a:ext cx="7992888" cy="1015663"/>
          </a:xfrm>
          <a:prstGeom prst="rect">
            <a:avLst/>
          </a:prstGeom>
        </p:spPr>
        <p:txBody>
          <a:bodyPr wrap="square">
            <a:spAutoFit/>
          </a:bodyPr>
          <a:lstStyle/>
          <a:p>
            <a:pPr algn="just">
              <a:spcBef>
                <a:spcPts val="1560"/>
              </a:spcBef>
              <a:buSzPts val="1400"/>
              <a:tabLst>
                <a:tab pos="274320" algn="l"/>
              </a:tabLst>
            </a:pPr>
            <a:r>
              <a:rPr lang="en-US" altLang="zh-CN" sz="2800" dirty="0" smtClean="0">
                <a:solidFill>
                  <a:schemeClr val="bg1"/>
                </a:solidFill>
                <a:latin typeface="微软雅黑" panose="020B0503020204020204" pitchFamily="34" charset="-122"/>
                <a:ea typeface="微软雅黑" panose="020B0503020204020204" pitchFamily="34" charset="-122"/>
              </a:rPr>
              <a:t>10  </a:t>
            </a:r>
            <a:r>
              <a:rPr lang="en-US" altLang="zh-CN" sz="2800" dirty="0">
                <a:solidFill>
                  <a:schemeClr val="bg1"/>
                </a:solidFill>
                <a:latin typeface="微软雅黑" panose="020B0503020204020204" pitchFamily="34" charset="-122"/>
                <a:ea typeface="微软雅黑" panose="020B0503020204020204" pitchFamily="34" charset="-122"/>
              </a:rPr>
              <a:t>THERMAL BALANCE TEST</a:t>
            </a:r>
            <a:endParaRPr lang="zh-CN" altLang="zh-CN" sz="2800" dirty="0">
              <a:solidFill>
                <a:schemeClr val="bg1"/>
              </a:solidFill>
              <a:latin typeface="微软雅黑" panose="020B0503020204020204" pitchFamily="34" charset="-122"/>
              <a:ea typeface="微软雅黑" panose="020B0503020204020204" pitchFamily="34" charset="-122"/>
            </a:endParaRPr>
          </a:p>
          <a:p>
            <a:pPr lvl="1" fontAlgn="base"/>
            <a:r>
              <a:rPr lang="en-US" altLang="zh-CN" sz="3200" dirty="0" smtClean="0">
                <a:solidFill>
                  <a:schemeClr val="bg1"/>
                </a:solidFill>
              </a:rPr>
              <a:t>                                            ------</a:t>
            </a:r>
            <a:r>
              <a:rPr lang="zh-CN" altLang="zh-CN" sz="2400" dirty="0" smtClean="0">
                <a:solidFill>
                  <a:schemeClr val="bg1"/>
                </a:solidFill>
                <a:ea typeface="Times New Roman"/>
              </a:rPr>
              <a:t> </a:t>
            </a:r>
            <a:r>
              <a:rPr lang="en-GB" altLang="zh-CN" sz="2400" dirty="0" smtClean="0">
                <a:solidFill>
                  <a:schemeClr val="bg1"/>
                </a:solidFill>
                <a:ea typeface="Times New Roman"/>
              </a:rPr>
              <a:t>Test </a:t>
            </a:r>
            <a:r>
              <a:rPr lang="en-US" altLang="zh-CN" sz="2400" dirty="0" smtClean="0">
                <a:solidFill>
                  <a:schemeClr val="bg1"/>
                </a:solidFill>
                <a:ea typeface="Times New Roman"/>
              </a:rPr>
              <a:t>Method</a:t>
            </a:r>
            <a:endParaRPr lang="zh-CN" altLang="zh-CN" sz="2400" dirty="0">
              <a:solidFill>
                <a:schemeClr val="bg1"/>
              </a:solidFill>
            </a:endParaRPr>
          </a:p>
        </p:txBody>
      </p:sp>
      <p:sp>
        <p:nvSpPr>
          <p:cNvPr id="6" name="内容占位符 2"/>
          <p:cNvSpPr>
            <a:spLocks noGrp="1"/>
          </p:cNvSpPr>
          <p:nvPr>
            <p:ph idx="1"/>
          </p:nvPr>
        </p:nvSpPr>
        <p:spPr>
          <a:xfrm>
            <a:off x="107950" y="1357313"/>
            <a:ext cx="9036050" cy="1639639"/>
          </a:xfrm>
        </p:spPr>
        <p:txBody>
          <a:bodyPr>
            <a:normAutofit/>
          </a:bodyPr>
          <a:lstStyle/>
          <a:p>
            <a:pPr>
              <a:buFont typeface="Wingdings" pitchFamily="2" charset="2"/>
              <a:buChar char="p"/>
              <a:defRPr/>
            </a:pPr>
            <a:r>
              <a:rPr lang="en-US" altLang="zh-CN" sz="2400" b="0" dirty="0">
                <a:latin typeface="Times New Roman" pitchFamily="18" charset="0"/>
                <a:cs typeface="Times New Roman" pitchFamily="18" charset="0"/>
              </a:rPr>
              <a:t>Simulation method of external heat flux</a:t>
            </a:r>
          </a:p>
          <a:p>
            <a:pPr marL="800100" lvl="1" indent="-342900">
              <a:buFont typeface="+mj-lt"/>
              <a:buAutoNum type="arabicPeriod"/>
              <a:defRPr/>
            </a:pPr>
            <a:r>
              <a:rPr lang="en-US" altLang="zh-CN" sz="2000" b="0" dirty="0">
                <a:latin typeface="Times New Roman" pitchFamily="18" charset="0"/>
                <a:cs typeface="Times New Roman" pitchFamily="18" charset="0"/>
              </a:rPr>
              <a:t>Irradiation heat flux method</a:t>
            </a:r>
            <a:r>
              <a:rPr lang="en-US" altLang="zh-CN" sz="1800" dirty="0"/>
              <a:t>:</a:t>
            </a:r>
          </a:p>
          <a:p>
            <a:pPr marL="914400" lvl="2" indent="0">
              <a:buNone/>
              <a:defRPr/>
            </a:pPr>
            <a:r>
              <a:rPr lang="en-US" altLang="zh-CN" sz="1800" b="0" dirty="0">
                <a:latin typeface="Times New Roman" pitchFamily="18" charset="0"/>
                <a:cs typeface="Times New Roman" pitchFamily="18" charset="0"/>
              </a:rPr>
              <a:t>Simulate the radiation intensity, direction and spectral characteristic (sun simulator</a:t>
            </a:r>
            <a:r>
              <a:rPr lang="en-US" altLang="zh-CN" sz="1800" b="0" dirty="0" smtClean="0">
                <a:latin typeface="Times New Roman" pitchFamily="18" charset="0"/>
                <a:cs typeface="Times New Roman" pitchFamily="18" charset="0"/>
              </a:rPr>
              <a:t>)</a:t>
            </a:r>
          </a:p>
          <a:p>
            <a:pPr marL="914400" lvl="2" indent="0">
              <a:buNone/>
              <a:defRPr/>
            </a:pPr>
            <a:endParaRPr lang="en-US" altLang="zh-CN" sz="1800" b="0" dirty="0" smtClean="0">
              <a:latin typeface="Times New Roman" pitchFamily="18" charset="0"/>
              <a:cs typeface="Times New Roman" pitchFamily="18" charset="0"/>
            </a:endParaRPr>
          </a:p>
          <a:p>
            <a:pPr marL="914400" lvl="2" indent="0">
              <a:buNone/>
              <a:defRPr/>
            </a:pPr>
            <a:endParaRPr lang="en-US" altLang="zh-CN" sz="1800" b="0" dirty="0">
              <a:latin typeface="Times New Roman" pitchFamily="18" charset="0"/>
              <a:cs typeface="Times New Roman" pitchFamily="18" charset="0"/>
            </a:endParaRPr>
          </a:p>
          <a:p>
            <a:pPr marL="914400" lvl="2" indent="0">
              <a:buNone/>
              <a:defRPr/>
            </a:pPr>
            <a:endParaRPr lang="en-US" altLang="zh-CN" sz="1800" b="0" dirty="0" smtClean="0">
              <a:latin typeface="Times New Roman" pitchFamily="18" charset="0"/>
              <a:cs typeface="Times New Roman" pitchFamily="18" charset="0"/>
            </a:endParaRPr>
          </a:p>
          <a:p>
            <a:pPr marL="914400" lvl="2" indent="0">
              <a:buNone/>
              <a:defRPr/>
            </a:pPr>
            <a:endParaRPr lang="en-US" altLang="zh-CN" sz="1800" b="0" dirty="0" smtClean="0">
              <a:latin typeface="Times New Roman" pitchFamily="18" charset="0"/>
              <a:cs typeface="Times New Roman" pitchFamily="18" charset="0"/>
            </a:endParaRPr>
          </a:p>
          <a:p>
            <a:pPr marL="914400" lvl="2" indent="0">
              <a:buNone/>
              <a:defRPr/>
            </a:pPr>
            <a:endParaRPr lang="en-US" altLang="zh-CN" sz="1800" b="0" dirty="0" smtClean="0">
              <a:latin typeface="Times New Roman" pitchFamily="18" charset="0"/>
              <a:cs typeface="Times New Roman" pitchFamily="18" charset="0"/>
            </a:endParaRPr>
          </a:p>
          <a:p>
            <a:pPr eaLnBrk="1" hangingPunct="1">
              <a:buFont typeface="Wingdings" pitchFamily="2" charset="2"/>
              <a:buChar char="p"/>
              <a:defRPr/>
            </a:pPr>
            <a:endParaRPr lang="en-US" altLang="zh-CN" sz="1800" b="0" dirty="0" smtClean="0">
              <a:latin typeface="Times New Roman" pitchFamily="18" charset="0"/>
              <a:cs typeface="Times New Roman" pitchFamily="18" charset="0"/>
            </a:endParaRPr>
          </a:p>
        </p:txBody>
      </p:sp>
      <p:pic>
        <p:nvPicPr>
          <p:cNvPr id="8" name="图片 51" descr="IMG_0005"/>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00547" y="2996952"/>
            <a:ext cx="3384376" cy="25261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2" name="TextBox 1"/>
          <p:cNvSpPr txBox="1"/>
          <p:nvPr/>
        </p:nvSpPr>
        <p:spPr>
          <a:xfrm>
            <a:off x="3819203" y="3020194"/>
            <a:ext cx="4929261" cy="2062103"/>
          </a:xfrm>
          <a:prstGeom prst="rect">
            <a:avLst/>
          </a:prstGeom>
          <a:noFill/>
        </p:spPr>
        <p:txBody>
          <a:bodyPr wrap="square" rtlCol="0">
            <a:spAutoFit/>
          </a:bodyPr>
          <a:lstStyle/>
          <a:p>
            <a:r>
              <a:rPr lang="en-US" altLang="zh-CN" sz="2000" b="1" dirty="0">
                <a:solidFill>
                  <a:schemeClr val="tx1">
                    <a:lumMod val="75000"/>
                    <a:lumOff val="25000"/>
                  </a:schemeClr>
                </a:solidFill>
                <a:latin typeface="Times New Roman" pitchFamily="18" charset="0"/>
                <a:ea typeface="微软雅黑" pitchFamily="34" charset="-122"/>
                <a:cs typeface="Times New Roman" pitchFamily="18" charset="0"/>
              </a:rPr>
              <a:t>Sun simulator</a:t>
            </a:r>
          </a:p>
          <a:p>
            <a:pPr marL="285750" indent="-285750">
              <a:lnSpc>
                <a:spcPct val="150000"/>
              </a:lnSpc>
              <a:buFont typeface="Wingdings" pitchFamily="2" charset="2"/>
              <a:buChar char="u"/>
            </a:pPr>
            <a:r>
              <a:rPr lang="en-US" altLang="zh-CN" dirty="0">
                <a:solidFill>
                  <a:schemeClr val="tx1">
                    <a:lumMod val="75000"/>
                    <a:lumOff val="25000"/>
                  </a:schemeClr>
                </a:solidFill>
                <a:latin typeface="Times New Roman" pitchFamily="18" charset="0"/>
                <a:ea typeface="微软雅黑" pitchFamily="34" charset="-122"/>
                <a:cs typeface="Times New Roman" pitchFamily="18" charset="0"/>
              </a:rPr>
              <a:t>Includes: light source, optical system, </a:t>
            </a:r>
            <a:r>
              <a:rPr lang="en-US" altLang="zh-CN" dirty="0" smtClean="0">
                <a:solidFill>
                  <a:schemeClr val="tx1">
                    <a:lumMod val="75000"/>
                    <a:lumOff val="25000"/>
                  </a:schemeClr>
                </a:solidFill>
                <a:latin typeface="Times New Roman" pitchFamily="18" charset="0"/>
                <a:ea typeface="微软雅黑" pitchFamily="34" charset="-122"/>
                <a:cs typeface="Times New Roman" pitchFamily="18" charset="0"/>
              </a:rPr>
              <a:t>cooling system</a:t>
            </a:r>
            <a:r>
              <a:rPr lang="en-US" altLang="zh-CN" dirty="0">
                <a:solidFill>
                  <a:schemeClr val="tx1">
                    <a:lumMod val="75000"/>
                    <a:lumOff val="25000"/>
                  </a:schemeClr>
                </a:solidFill>
                <a:latin typeface="Times New Roman" pitchFamily="18" charset="0"/>
                <a:ea typeface="微软雅黑" pitchFamily="34" charset="-122"/>
                <a:cs typeface="Times New Roman" pitchFamily="18" charset="0"/>
              </a:rPr>
              <a:t>, control system</a:t>
            </a:r>
          </a:p>
          <a:p>
            <a:pPr marL="285750" indent="-285750">
              <a:lnSpc>
                <a:spcPct val="150000"/>
              </a:lnSpc>
              <a:buFont typeface="Wingdings" pitchFamily="2" charset="2"/>
              <a:buChar char="u"/>
            </a:pPr>
            <a:r>
              <a:rPr lang="en-US" altLang="zh-CN" dirty="0">
                <a:solidFill>
                  <a:schemeClr val="tx1">
                    <a:lumMod val="75000"/>
                    <a:lumOff val="25000"/>
                  </a:schemeClr>
                </a:solidFill>
                <a:latin typeface="Times New Roman" pitchFamily="18" charset="0"/>
                <a:ea typeface="微软雅黑" pitchFamily="34" charset="-122"/>
                <a:cs typeface="Times New Roman" pitchFamily="18" charset="0"/>
              </a:rPr>
              <a:t>Light source: Xenon lamp → spectral filter → solar spectra</a:t>
            </a:r>
          </a:p>
        </p:txBody>
      </p:sp>
    </p:spTree>
    <p:extLst>
      <p:ext uri="{BB962C8B-B14F-4D97-AF65-F5344CB8AC3E}">
        <p14:creationId xmlns:p14="http://schemas.microsoft.com/office/powerpoint/2010/main" xmlns="" val="1689407373"/>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37</a:t>
            </a:fld>
            <a:r>
              <a:rPr lang="zh-CN" altLang="en-US" smtClean="0"/>
              <a:t> </a:t>
            </a:r>
            <a:endParaRPr lang="zh-CN" altLang="en-US" dirty="0">
              <a:latin typeface="微软雅黑" pitchFamily="34" charset="-122"/>
              <a:ea typeface="微软雅黑" pitchFamily="34" charset="-122"/>
            </a:endParaRPr>
          </a:p>
        </p:txBody>
      </p:sp>
      <p:sp>
        <p:nvSpPr>
          <p:cNvPr id="7" name="矩形 6"/>
          <p:cNvSpPr/>
          <p:nvPr/>
        </p:nvSpPr>
        <p:spPr>
          <a:xfrm>
            <a:off x="390625" y="116632"/>
            <a:ext cx="7992888" cy="1015663"/>
          </a:xfrm>
          <a:prstGeom prst="rect">
            <a:avLst/>
          </a:prstGeom>
        </p:spPr>
        <p:txBody>
          <a:bodyPr wrap="square">
            <a:spAutoFit/>
          </a:bodyPr>
          <a:lstStyle/>
          <a:p>
            <a:pPr algn="just">
              <a:spcBef>
                <a:spcPts val="1560"/>
              </a:spcBef>
              <a:buSzPts val="1400"/>
              <a:tabLst>
                <a:tab pos="274320" algn="l"/>
              </a:tabLst>
            </a:pPr>
            <a:r>
              <a:rPr lang="en-US" altLang="zh-CN" sz="2800" dirty="0" smtClean="0">
                <a:solidFill>
                  <a:schemeClr val="bg1"/>
                </a:solidFill>
                <a:latin typeface="微软雅黑" panose="020B0503020204020204" pitchFamily="34" charset="-122"/>
                <a:ea typeface="微软雅黑" panose="020B0503020204020204" pitchFamily="34" charset="-122"/>
              </a:rPr>
              <a:t>10  </a:t>
            </a:r>
            <a:r>
              <a:rPr lang="en-US" altLang="zh-CN" sz="2800" dirty="0">
                <a:solidFill>
                  <a:schemeClr val="bg1"/>
                </a:solidFill>
                <a:latin typeface="微软雅黑" panose="020B0503020204020204" pitchFamily="34" charset="-122"/>
                <a:ea typeface="微软雅黑" panose="020B0503020204020204" pitchFamily="34" charset="-122"/>
              </a:rPr>
              <a:t>THERMAL BALANCE TEST</a:t>
            </a:r>
            <a:endParaRPr lang="zh-CN" altLang="zh-CN" sz="2800" dirty="0">
              <a:solidFill>
                <a:schemeClr val="bg1"/>
              </a:solidFill>
              <a:latin typeface="微软雅黑" panose="020B0503020204020204" pitchFamily="34" charset="-122"/>
              <a:ea typeface="微软雅黑" panose="020B0503020204020204" pitchFamily="34" charset="-122"/>
            </a:endParaRPr>
          </a:p>
          <a:p>
            <a:pPr lvl="1" fontAlgn="base"/>
            <a:r>
              <a:rPr lang="en-US" altLang="zh-CN" sz="3200" dirty="0" smtClean="0">
                <a:solidFill>
                  <a:schemeClr val="bg1"/>
                </a:solidFill>
              </a:rPr>
              <a:t>                                            ------</a:t>
            </a:r>
            <a:r>
              <a:rPr lang="zh-CN" altLang="zh-CN" sz="2400" dirty="0" smtClean="0">
                <a:solidFill>
                  <a:schemeClr val="bg1"/>
                </a:solidFill>
                <a:ea typeface="Times New Roman"/>
              </a:rPr>
              <a:t> </a:t>
            </a:r>
            <a:r>
              <a:rPr lang="en-GB" altLang="zh-CN" sz="2400" dirty="0" smtClean="0">
                <a:solidFill>
                  <a:schemeClr val="bg1"/>
                </a:solidFill>
                <a:ea typeface="Times New Roman"/>
              </a:rPr>
              <a:t>Test </a:t>
            </a:r>
            <a:r>
              <a:rPr lang="en-US" altLang="zh-CN" sz="2400" dirty="0" smtClean="0">
                <a:solidFill>
                  <a:schemeClr val="bg1"/>
                </a:solidFill>
                <a:ea typeface="Times New Roman"/>
              </a:rPr>
              <a:t>Method</a:t>
            </a:r>
            <a:endParaRPr lang="zh-CN" altLang="zh-CN" sz="2400" dirty="0">
              <a:solidFill>
                <a:schemeClr val="bg1"/>
              </a:solidFill>
            </a:endParaRPr>
          </a:p>
        </p:txBody>
      </p:sp>
      <p:sp>
        <p:nvSpPr>
          <p:cNvPr id="6" name="内容占位符 2"/>
          <p:cNvSpPr>
            <a:spLocks noGrp="1"/>
          </p:cNvSpPr>
          <p:nvPr>
            <p:ph idx="1"/>
          </p:nvPr>
        </p:nvSpPr>
        <p:spPr>
          <a:xfrm>
            <a:off x="107950" y="1357313"/>
            <a:ext cx="9036050" cy="4951412"/>
          </a:xfrm>
        </p:spPr>
        <p:txBody>
          <a:bodyPr>
            <a:normAutofit lnSpcReduction="10000"/>
          </a:bodyPr>
          <a:lstStyle/>
          <a:p>
            <a:pPr>
              <a:buFont typeface="Wingdings" pitchFamily="2" charset="2"/>
              <a:buChar char="p"/>
              <a:defRPr/>
            </a:pPr>
            <a:r>
              <a:rPr lang="en-US" altLang="zh-CN" sz="2400" b="0" dirty="0">
                <a:latin typeface="Times New Roman" pitchFamily="18" charset="0"/>
                <a:cs typeface="Times New Roman" pitchFamily="18" charset="0"/>
              </a:rPr>
              <a:t>Absorbed heat flux method:</a:t>
            </a:r>
          </a:p>
          <a:p>
            <a:pPr marL="0" indent="0">
              <a:buNone/>
              <a:defRPr/>
            </a:pPr>
            <a:r>
              <a:rPr lang="en-US" altLang="zh-CN" sz="2100" b="0" dirty="0" smtClean="0">
                <a:latin typeface="Times New Roman" pitchFamily="18" charset="0"/>
                <a:cs typeface="Times New Roman" pitchFamily="18" charset="0"/>
              </a:rPr>
              <a:t>       Make </a:t>
            </a:r>
            <a:r>
              <a:rPr lang="en-US" altLang="zh-CN" sz="2100" b="0" dirty="0">
                <a:latin typeface="Times New Roman" pitchFamily="18" charset="0"/>
                <a:cs typeface="Times New Roman" pitchFamily="18" charset="0"/>
              </a:rPr>
              <a:t>the absorbed heat flux at ground equals the external heat flux in-orbit by heating the spacecraft such as IR cage, IR lamp array, and electric resistant heaters. The spectral characteristic of the external heat flux in orbit will not be considered.</a:t>
            </a:r>
          </a:p>
          <a:p>
            <a:pPr>
              <a:buFont typeface="Wingdings" pitchFamily="2" charset="2"/>
              <a:buChar char="p"/>
              <a:defRPr/>
            </a:pPr>
            <a:endParaRPr lang="en-US" altLang="zh-CN" sz="2400" b="0" dirty="0" smtClean="0">
              <a:latin typeface="Times New Roman" pitchFamily="18" charset="0"/>
              <a:cs typeface="Times New Roman" pitchFamily="18" charset="0"/>
            </a:endParaRPr>
          </a:p>
          <a:p>
            <a:pPr>
              <a:buFont typeface="Wingdings" pitchFamily="2" charset="2"/>
              <a:buChar char="p"/>
              <a:defRPr/>
            </a:pPr>
            <a:r>
              <a:rPr lang="en-US" altLang="zh-CN" sz="2400" b="0" dirty="0" smtClean="0">
                <a:latin typeface="Times New Roman" pitchFamily="18" charset="0"/>
                <a:cs typeface="Times New Roman" pitchFamily="18" charset="0"/>
              </a:rPr>
              <a:t>External </a:t>
            </a:r>
            <a:r>
              <a:rPr lang="en-US" altLang="zh-CN" sz="2400" b="0" dirty="0">
                <a:latin typeface="Times New Roman" pitchFamily="18" charset="0"/>
                <a:cs typeface="Times New Roman" pitchFamily="18" charset="0"/>
              </a:rPr>
              <a:t>heat flux simulation equipment</a:t>
            </a:r>
          </a:p>
          <a:p>
            <a:pPr marL="914400" lvl="1" indent="-457200">
              <a:buFont typeface="+mj-lt"/>
              <a:buAutoNum type="arabicPeriod"/>
              <a:defRPr/>
            </a:pPr>
            <a:r>
              <a:rPr lang="en-US" altLang="zh-CN" sz="2000" b="0" dirty="0" err="1">
                <a:latin typeface="Times New Roman" pitchFamily="18" charset="0"/>
                <a:cs typeface="Times New Roman" pitchFamily="18" charset="0"/>
              </a:rPr>
              <a:t>Radiative</a:t>
            </a:r>
            <a:r>
              <a:rPr lang="en-US" altLang="zh-CN" sz="2000" b="0" dirty="0">
                <a:latin typeface="Times New Roman" pitchFamily="18" charset="0"/>
                <a:cs typeface="Times New Roman" pitchFamily="18" charset="0"/>
              </a:rPr>
              <a:t> equipment: Sun simulator, IR lamp array, IR cage, </a:t>
            </a:r>
            <a:r>
              <a:rPr lang="en-US" altLang="zh-CN" sz="2000" b="0" dirty="0" err="1">
                <a:latin typeface="Times New Roman" pitchFamily="18" charset="0"/>
                <a:cs typeface="Times New Roman" pitchFamily="18" charset="0"/>
              </a:rPr>
              <a:t>Radiative</a:t>
            </a:r>
            <a:r>
              <a:rPr lang="en-US" altLang="zh-CN" sz="2000" b="0" dirty="0">
                <a:latin typeface="Times New Roman" pitchFamily="18" charset="0"/>
                <a:cs typeface="Times New Roman" pitchFamily="18" charset="0"/>
              </a:rPr>
              <a:t> heating panel</a:t>
            </a:r>
          </a:p>
          <a:p>
            <a:pPr marL="914400" lvl="1" indent="-457200">
              <a:buFont typeface="+mj-lt"/>
              <a:buAutoNum type="arabicPeriod"/>
              <a:defRPr/>
            </a:pPr>
            <a:r>
              <a:rPr lang="en-US" altLang="zh-CN" sz="2000" b="0" dirty="0">
                <a:latin typeface="Times New Roman" pitchFamily="18" charset="0"/>
                <a:cs typeface="Times New Roman" pitchFamily="18" charset="0"/>
              </a:rPr>
              <a:t>Conductive equipment: surface electric resistant heater</a:t>
            </a:r>
          </a:p>
          <a:p>
            <a:pPr eaLnBrk="1" hangingPunct="1">
              <a:buFont typeface="Wingdings" pitchFamily="2" charset="2"/>
              <a:buChar char="p"/>
              <a:defRPr/>
            </a:pPr>
            <a:endParaRPr lang="en-US" altLang="zh-CN" sz="1800" b="0" dirty="0" smtClean="0">
              <a:latin typeface="Times New Roman" pitchFamily="18" charset="0"/>
              <a:cs typeface="Times New Roman" pitchFamily="18" charset="0"/>
            </a:endParaRPr>
          </a:p>
        </p:txBody>
      </p:sp>
    </p:spTree>
    <p:extLst>
      <p:ext uri="{BB962C8B-B14F-4D97-AF65-F5344CB8AC3E}">
        <p14:creationId xmlns:p14="http://schemas.microsoft.com/office/powerpoint/2010/main" xmlns="" val="4264786970"/>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38</a:t>
            </a:fld>
            <a:r>
              <a:rPr lang="zh-CN" altLang="en-US" smtClean="0"/>
              <a:t> </a:t>
            </a:r>
            <a:endParaRPr lang="zh-CN" altLang="en-US" dirty="0">
              <a:latin typeface="微软雅黑" pitchFamily="34" charset="-122"/>
              <a:ea typeface="微软雅黑" pitchFamily="34" charset="-122"/>
            </a:endParaRPr>
          </a:p>
        </p:txBody>
      </p:sp>
      <p:sp>
        <p:nvSpPr>
          <p:cNvPr id="7" name="矩形 6"/>
          <p:cNvSpPr/>
          <p:nvPr/>
        </p:nvSpPr>
        <p:spPr>
          <a:xfrm>
            <a:off x="390625" y="116632"/>
            <a:ext cx="7992888" cy="1015663"/>
          </a:xfrm>
          <a:prstGeom prst="rect">
            <a:avLst/>
          </a:prstGeom>
        </p:spPr>
        <p:txBody>
          <a:bodyPr wrap="square">
            <a:spAutoFit/>
          </a:bodyPr>
          <a:lstStyle/>
          <a:p>
            <a:pPr algn="just">
              <a:spcBef>
                <a:spcPts val="1560"/>
              </a:spcBef>
              <a:buSzPts val="1400"/>
              <a:tabLst>
                <a:tab pos="274320" algn="l"/>
              </a:tabLst>
            </a:pPr>
            <a:r>
              <a:rPr lang="en-US" altLang="zh-CN" sz="2800" dirty="0" smtClean="0">
                <a:solidFill>
                  <a:schemeClr val="bg1"/>
                </a:solidFill>
                <a:latin typeface="微软雅黑" panose="020B0503020204020204" pitchFamily="34" charset="-122"/>
                <a:ea typeface="微软雅黑" panose="020B0503020204020204" pitchFamily="34" charset="-122"/>
              </a:rPr>
              <a:t>10  </a:t>
            </a:r>
            <a:r>
              <a:rPr lang="en-US" altLang="zh-CN" sz="2800" dirty="0">
                <a:solidFill>
                  <a:schemeClr val="bg1"/>
                </a:solidFill>
                <a:latin typeface="微软雅黑" panose="020B0503020204020204" pitchFamily="34" charset="-122"/>
                <a:ea typeface="微软雅黑" panose="020B0503020204020204" pitchFamily="34" charset="-122"/>
              </a:rPr>
              <a:t>THERMAL BALANCE TEST</a:t>
            </a:r>
            <a:endParaRPr lang="zh-CN" altLang="zh-CN" sz="2800" dirty="0">
              <a:solidFill>
                <a:schemeClr val="bg1"/>
              </a:solidFill>
              <a:latin typeface="微软雅黑" panose="020B0503020204020204" pitchFamily="34" charset="-122"/>
              <a:ea typeface="微软雅黑" panose="020B0503020204020204" pitchFamily="34" charset="-122"/>
            </a:endParaRPr>
          </a:p>
          <a:p>
            <a:pPr lvl="1" fontAlgn="base"/>
            <a:r>
              <a:rPr lang="en-US" altLang="zh-CN" sz="3200" dirty="0" smtClean="0">
                <a:solidFill>
                  <a:schemeClr val="bg1"/>
                </a:solidFill>
              </a:rPr>
              <a:t>                                            ------</a:t>
            </a:r>
            <a:r>
              <a:rPr lang="zh-CN" altLang="zh-CN" sz="2400" dirty="0" smtClean="0">
                <a:solidFill>
                  <a:schemeClr val="bg1"/>
                </a:solidFill>
                <a:ea typeface="Times New Roman"/>
              </a:rPr>
              <a:t> </a:t>
            </a:r>
            <a:r>
              <a:rPr lang="en-GB" altLang="zh-CN" sz="2400" dirty="0" smtClean="0">
                <a:solidFill>
                  <a:schemeClr val="bg1"/>
                </a:solidFill>
                <a:ea typeface="Times New Roman"/>
              </a:rPr>
              <a:t>Test </a:t>
            </a:r>
            <a:r>
              <a:rPr lang="en-US" altLang="zh-CN" sz="2400" dirty="0" smtClean="0">
                <a:solidFill>
                  <a:schemeClr val="bg1"/>
                </a:solidFill>
                <a:ea typeface="Times New Roman"/>
              </a:rPr>
              <a:t>Method</a:t>
            </a:r>
            <a:endParaRPr lang="zh-CN" altLang="zh-CN" sz="2400" dirty="0">
              <a:solidFill>
                <a:schemeClr val="bg1"/>
              </a:solidFill>
            </a:endParaRPr>
          </a:p>
        </p:txBody>
      </p:sp>
      <p:sp>
        <p:nvSpPr>
          <p:cNvPr id="6" name="内容占位符 2"/>
          <p:cNvSpPr>
            <a:spLocks noGrp="1"/>
          </p:cNvSpPr>
          <p:nvPr>
            <p:ph idx="1"/>
          </p:nvPr>
        </p:nvSpPr>
        <p:spPr>
          <a:xfrm>
            <a:off x="107950" y="1357313"/>
            <a:ext cx="9036050" cy="4951412"/>
          </a:xfrm>
        </p:spPr>
        <p:txBody>
          <a:bodyPr>
            <a:normAutofit/>
          </a:bodyPr>
          <a:lstStyle/>
          <a:p>
            <a:pPr marL="342900" lvl="1" indent="-342900">
              <a:buFont typeface="Wingdings" pitchFamily="2" charset="2"/>
              <a:buChar char="p"/>
              <a:defRPr/>
            </a:pPr>
            <a:r>
              <a:rPr lang="en-US" altLang="zh-CN" sz="2400" b="0" dirty="0">
                <a:latin typeface="Times New Roman" pitchFamily="18" charset="0"/>
                <a:cs typeface="Times New Roman" pitchFamily="18" charset="0"/>
              </a:rPr>
              <a:t>According to the characteristic</a:t>
            </a:r>
            <a:r>
              <a:rPr lang="zh-CN" altLang="en-US" sz="2400" b="0" dirty="0">
                <a:latin typeface="Times New Roman" pitchFamily="18" charset="0"/>
                <a:cs typeface="Times New Roman" pitchFamily="18" charset="0"/>
              </a:rPr>
              <a:t>，</a:t>
            </a:r>
            <a:r>
              <a:rPr lang="en-US" altLang="zh-CN" sz="2400" b="0" dirty="0">
                <a:latin typeface="Times New Roman" pitchFamily="18" charset="0"/>
                <a:cs typeface="Times New Roman" pitchFamily="18" charset="0"/>
              </a:rPr>
              <a:t>plan and cost of </a:t>
            </a:r>
            <a:r>
              <a:rPr lang="en-US" altLang="zh-CN" sz="2400" b="0" dirty="0" smtClean="0">
                <a:latin typeface="Times New Roman" pitchFamily="18" charset="0"/>
                <a:cs typeface="Times New Roman" pitchFamily="18" charset="0"/>
              </a:rPr>
              <a:t>ETRSS-1</a:t>
            </a:r>
            <a:r>
              <a:rPr lang="en-US" altLang="zh-CN" sz="2400" b="0" dirty="0">
                <a:latin typeface="Times New Roman" pitchFamily="18" charset="0"/>
                <a:cs typeface="Times New Roman" pitchFamily="18" charset="0"/>
              </a:rPr>
              <a:t>,  IR cage method is chosen as external heat flux simulation .</a:t>
            </a:r>
          </a:p>
          <a:p>
            <a:pPr marL="342900" lvl="1" indent="-342900">
              <a:buFont typeface="Wingdings" pitchFamily="2" charset="2"/>
              <a:buChar char="p"/>
              <a:defRPr/>
            </a:pPr>
            <a:r>
              <a:rPr lang="en-US" altLang="zh-CN" sz="2400" b="0" dirty="0">
                <a:latin typeface="Times New Roman" pitchFamily="18" charset="0"/>
                <a:cs typeface="Times New Roman" pitchFamily="18" charset="0"/>
              </a:rPr>
              <a:t>The following contents are introduced about IR cage.</a:t>
            </a:r>
          </a:p>
          <a:p>
            <a:pPr>
              <a:buFont typeface="Wingdings" pitchFamily="2" charset="2"/>
              <a:buChar char="p"/>
              <a:defRPr/>
            </a:pPr>
            <a:r>
              <a:rPr lang="en-US" altLang="zh-CN" sz="2400" b="0" dirty="0">
                <a:latin typeface="Times New Roman" pitchFamily="18" charset="0"/>
                <a:cs typeface="Times New Roman" pitchFamily="18" charset="0"/>
              </a:rPr>
              <a:t>Far IR heating cage (IR cage)</a:t>
            </a:r>
          </a:p>
          <a:p>
            <a:pPr marL="914400" lvl="1" indent="-457200">
              <a:buFont typeface="+mj-lt"/>
              <a:buAutoNum type="arabicPeriod"/>
              <a:defRPr/>
            </a:pPr>
            <a:r>
              <a:rPr lang="en-US" altLang="zh-CN" sz="2000" b="0" dirty="0">
                <a:latin typeface="Times New Roman" pitchFamily="18" charset="0"/>
                <a:cs typeface="Times New Roman" pitchFamily="18" charset="0"/>
              </a:rPr>
              <a:t>Multiple heating loops are included in IR cage. Each heating loop can be controlled independently.</a:t>
            </a:r>
          </a:p>
          <a:p>
            <a:pPr marL="914400" lvl="1" indent="-457200">
              <a:buFont typeface="+mj-lt"/>
              <a:buAutoNum type="arabicPeriod"/>
              <a:defRPr/>
            </a:pPr>
            <a:r>
              <a:rPr lang="en-US" altLang="zh-CN" sz="2000" b="0" dirty="0">
                <a:latin typeface="Times New Roman" pitchFamily="18" charset="0"/>
                <a:cs typeface="Times New Roman" pitchFamily="18" charset="0"/>
              </a:rPr>
              <a:t>IR cage is constructed by heating belts (width = 10mm). The side facing satellite is covered by black paintings to obtain high heating efficiency.</a:t>
            </a:r>
          </a:p>
          <a:p>
            <a:pPr marL="914400" lvl="1" indent="-457200">
              <a:buFont typeface="+mj-lt"/>
              <a:buAutoNum type="arabicPeriod"/>
              <a:defRPr/>
            </a:pPr>
            <a:r>
              <a:rPr lang="en-US" altLang="zh-CN" sz="2000" b="0" dirty="0">
                <a:latin typeface="Times New Roman" pitchFamily="18" charset="0"/>
                <a:cs typeface="Times New Roman" pitchFamily="18" charset="0"/>
              </a:rPr>
              <a:t>Heating belts are connected by metal frame, so it looks like a cage</a:t>
            </a:r>
          </a:p>
          <a:p>
            <a:pPr eaLnBrk="1" hangingPunct="1">
              <a:buFont typeface="Wingdings" pitchFamily="2" charset="2"/>
              <a:buChar char="p"/>
              <a:defRPr/>
            </a:pPr>
            <a:endParaRPr lang="en-US" altLang="zh-CN" sz="1800" b="0" dirty="0" smtClean="0">
              <a:latin typeface="Times New Roman" pitchFamily="18" charset="0"/>
              <a:cs typeface="Times New Roman" pitchFamily="18" charset="0"/>
            </a:endParaRPr>
          </a:p>
        </p:txBody>
      </p:sp>
    </p:spTree>
    <p:extLst>
      <p:ext uri="{BB962C8B-B14F-4D97-AF65-F5344CB8AC3E}">
        <p14:creationId xmlns:p14="http://schemas.microsoft.com/office/powerpoint/2010/main" xmlns="" val="1689407373"/>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39</a:t>
            </a:fld>
            <a:r>
              <a:rPr lang="zh-CN" altLang="en-US" smtClean="0"/>
              <a:t> </a:t>
            </a:r>
            <a:endParaRPr lang="zh-CN" altLang="en-US" dirty="0">
              <a:latin typeface="微软雅黑" pitchFamily="34" charset="-122"/>
              <a:ea typeface="微软雅黑" pitchFamily="34" charset="-122"/>
            </a:endParaRPr>
          </a:p>
        </p:txBody>
      </p:sp>
      <p:sp>
        <p:nvSpPr>
          <p:cNvPr id="7" name="矩形 6"/>
          <p:cNvSpPr/>
          <p:nvPr/>
        </p:nvSpPr>
        <p:spPr>
          <a:xfrm>
            <a:off x="390625" y="116632"/>
            <a:ext cx="7992888" cy="1015663"/>
          </a:xfrm>
          <a:prstGeom prst="rect">
            <a:avLst/>
          </a:prstGeom>
        </p:spPr>
        <p:txBody>
          <a:bodyPr wrap="square">
            <a:spAutoFit/>
          </a:bodyPr>
          <a:lstStyle/>
          <a:p>
            <a:pPr algn="just">
              <a:spcBef>
                <a:spcPts val="1560"/>
              </a:spcBef>
              <a:buSzPts val="1400"/>
              <a:tabLst>
                <a:tab pos="274320" algn="l"/>
              </a:tabLst>
            </a:pPr>
            <a:r>
              <a:rPr lang="en-US" altLang="zh-CN" sz="2800" dirty="0" smtClean="0">
                <a:solidFill>
                  <a:schemeClr val="bg1"/>
                </a:solidFill>
                <a:latin typeface="微软雅黑" panose="020B0503020204020204" pitchFamily="34" charset="-122"/>
                <a:ea typeface="微软雅黑" panose="020B0503020204020204" pitchFamily="34" charset="-122"/>
              </a:rPr>
              <a:t>10  </a:t>
            </a:r>
            <a:r>
              <a:rPr lang="en-US" altLang="zh-CN" sz="2800" dirty="0">
                <a:solidFill>
                  <a:schemeClr val="bg1"/>
                </a:solidFill>
                <a:latin typeface="微软雅黑" panose="020B0503020204020204" pitchFamily="34" charset="-122"/>
                <a:ea typeface="微软雅黑" panose="020B0503020204020204" pitchFamily="34" charset="-122"/>
              </a:rPr>
              <a:t>THERMAL BALANCE TEST</a:t>
            </a:r>
            <a:endParaRPr lang="zh-CN" altLang="zh-CN" sz="2800" dirty="0">
              <a:solidFill>
                <a:schemeClr val="bg1"/>
              </a:solidFill>
              <a:latin typeface="微软雅黑" panose="020B0503020204020204" pitchFamily="34" charset="-122"/>
              <a:ea typeface="微软雅黑" panose="020B0503020204020204" pitchFamily="34" charset="-122"/>
            </a:endParaRPr>
          </a:p>
          <a:p>
            <a:pPr lvl="1" fontAlgn="base"/>
            <a:r>
              <a:rPr lang="en-US" altLang="zh-CN" sz="3200" dirty="0" smtClean="0">
                <a:solidFill>
                  <a:schemeClr val="bg1"/>
                </a:solidFill>
              </a:rPr>
              <a:t>                                            ------</a:t>
            </a:r>
            <a:r>
              <a:rPr lang="zh-CN" altLang="zh-CN" sz="2400" dirty="0" smtClean="0">
                <a:solidFill>
                  <a:schemeClr val="bg1"/>
                </a:solidFill>
                <a:ea typeface="Times New Roman"/>
              </a:rPr>
              <a:t> </a:t>
            </a:r>
            <a:r>
              <a:rPr lang="en-GB" altLang="zh-CN" sz="2400" dirty="0" smtClean="0">
                <a:solidFill>
                  <a:schemeClr val="bg1"/>
                </a:solidFill>
                <a:ea typeface="Times New Roman"/>
              </a:rPr>
              <a:t>Test </a:t>
            </a:r>
            <a:r>
              <a:rPr lang="en-US" altLang="zh-CN" sz="2400" dirty="0" smtClean="0">
                <a:solidFill>
                  <a:schemeClr val="bg1"/>
                </a:solidFill>
                <a:ea typeface="Times New Roman"/>
              </a:rPr>
              <a:t>Method</a:t>
            </a:r>
            <a:endParaRPr lang="zh-CN" altLang="zh-CN" sz="2400" dirty="0">
              <a:solidFill>
                <a:schemeClr val="bg1"/>
              </a:solidFill>
            </a:endParaRPr>
          </a:p>
        </p:txBody>
      </p:sp>
      <p:sp>
        <p:nvSpPr>
          <p:cNvPr id="6" name="内容占位符 2"/>
          <p:cNvSpPr>
            <a:spLocks noGrp="1"/>
          </p:cNvSpPr>
          <p:nvPr>
            <p:ph idx="1"/>
          </p:nvPr>
        </p:nvSpPr>
        <p:spPr>
          <a:xfrm>
            <a:off x="251520" y="1340768"/>
            <a:ext cx="8686800" cy="4951412"/>
          </a:xfrm>
        </p:spPr>
        <p:txBody>
          <a:bodyPr/>
          <a:lstStyle/>
          <a:p>
            <a:pPr marL="0" indent="0">
              <a:buNone/>
            </a:pPr>
            <a:r>
              <a:rPr lang="en-US" altLang="zh-CN" sz="2400" b="0" dirty="0" smtClean="0">
                <a:latin typeface="Times New Roman" pitchFamily="18" charset="0"/>
                <a:cs typeface="Times New Roman" pitchFamily="18" charset="0"/>
              </a:rPr>
              <a:t>IR cage (</a:t>
            </a:r>
            <a:r>
              <a:rPr lang="en-US" altLang="zh-CN" sz="2400" b="0" dirty="0">
                <a:latin typeface="Times New Roman" pitchFamily="18" charset="0"/>
                <a:cs typeface="Times New Roman" pitchFamily="18" charset="0"/>
              </a:rPr>
              <a:t>External heat flux simulation </a:t>
            </a:r>
            <a:r>
              <a:rPr lang="en-US" altLang="zh-CN" sz="2400" b="0" dirty="0" smtClean="0">
                <a:latin typeface="Times New Roman" pitchFamily="18" charset="0"/>
                <a:cs typeface="Times New Roman" pitchFamily="18" charset="0"/>
              </a:rPr>
              <a:t>equipment)</a:t>
            </a:r>
            <a:endParaRPr lang="en-US" altLang="zh-CN" sz="2400" b="0" dirty="0">
              <a:latin typeface="Times New Roman" pitchFamily="18" charset="0"/>
              <a:cs typeface="Times New Roman" pitchFamily="18" charset="0"/>
            </a:endParaRPr>
          </a:p>
          <a:p>
            <a:pPr lvl="1" eaLnBrk="1" hangingPunct="1">
              <a:buFont typeface="Wingdings" pitchFamily="2" charset="2"/>
              <a:buChar char="Ø"/>
            </a:pPr>
            <a:r>
              <a:rPr lang="en-US" altLang="zh-CN" sz="1800" b="0" dirty="0" smtClean="0">
                <a:latin typeface="Times New Roman" pitchFamily="18" charset="0"/>
                <a:cs typeface="Times New Roman" pitchFamily="18" charset="0"/>
              </a:rPr>
              <a:t>The external heat flux absorbed by the spacecraft is large, so that the temperature of IR cage is high, which brings some difficult in the manufacturing, assembling and running.</a:t>
            </a:r>
          </a:p>
          <a:p>
            <a:pPr lvl="1" eaLnBrk="1" hangingPunct="1">
              <a:buFont typeface="Wingdings" pitchFamily="2" charset="2"/>
              <a:buChar char="Ø"/>
            </a:pPr>
            <a:r>
              <a:rPr lang="en-US" altLang="zh-CN" sz="1800" b="0" dirty="0" smtClean="0">
                <a:latin typeface="Times New Roman" pitchFamily="18" charset="0"/>
                <a:cs typeface="Times New Roman" pitchFamily="18" charset="0"/>
              </a:rPr>
              <a:t>In order to solve the high-temperature and transient-running problems, integral average method is adapted for the in-orbit external heat flux simulation</a:t>
            </a: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2339752" y="4005064"/>
            <a:ext cx="3093740" cy="22878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cxnSp>
        <p:nvCxnSpPr>
          <p:cNvPr id="3" name="直接箭头连接符 2"/>
          <p:cNvCxnSpPr/>
          <p:nvPr/>
        </p:nvCxnSpPr>
        <p:spPr>
          <a:xfrm flipH="1">
            <a:off x="4211960" y="4221088"/>
            <a:ext cx="1692000" cy="720000"/>
          </a:xfrm>
          <a:prstGeom prst="straightConnector1">
            <a:avLst/>
          </a:prstGeom>
          <a:ln>
            <a:solidFill>
              <a:srgbClr val="FF0000"/>
            </a:solidFill>
            <a:tailEnd type="arrow"/>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6012160" y="4221088"/>
            <a:ext cx="2232248" cy="369332"/>
          </a:xfrm>
          <a:prstGeom prst="rect">
            <a:avLst/>
          </a:prstGeom>
          <a:noFill/>
        </p:spPr>
        <p:txBody>
          <a:bodyPr wrap="square" rtlCol="0">
            <a:spAutoFit/>
          </a:bodyPr>
          <a:lstStyle/>
          <a:p>
            <a:r>
              <a:rPr lang="en-US" altLang="zh-CN" dirty="0" smtClean="0"/>
              <a:t>IR Cage</a:t>
            </a:r>
            <a:endParaRPr lang="zh-CN" altLang="en-US" dirty="0"/>
          </a:p>
        </p:txBody>
      </p:sp>
    </p:spTree>
    <p:extLst>
      <p:ext uri="{BB962C8B-B14F-4D97-AF65-F5344CB8AC3E}">
        <p14:creationId xmlns:p14="http://schemas.microsoft.com/office/powerpoint/2010/main" xmlns="" val="349613703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40</a:t>
            </a:fld>
            <a:r>
              <a:rPr lang="zh-CN" altLang="en-US" smtClean="0"/>
              <a:t> </a:t>
            </a:r>
            <a:endParaRPr lang="zh-CN" altLang="en-US" dirty="0">
              <a:latin typeface="微软雅黑" pitchFamily="34" charset="-122"/>
              <a:ea typeface="微软雅黑" pitchFamily="34" charset="-122"/>
            </a:endParaRPr>
          </a:p>
        </p:txBody>
      </p:sp>
      <p:sp>
        <p:nvSpPr>
          <p:cNvPr id="7" name="矩形 6"/>
          <p:cNvSpPr/>
          <p:nvPr/>
        </p:nvSpPr>
        <p:spPr>
          <a:xfrm>
            <a:off x="390625" y="116632"/>
            <a:ext cx="7992888" cy="1015663"/>
          </a:xfrm>
          <a:prstGeom prst="rect">
            <a:avLst/>
          </a:prstGeom>
        </p:spPr>
        <p:txBody>
          <a:bodyPr wrap="square">
            <a:spAutoFit/>
          </a:bodyPr>
          <a:lstStyle/>
          <a:p>
            <a:pPr algn="just">
              <a:spcBef>
                <a:spcPts val="1560"/>
              </a:spcBef>
              <a:buSzPts val="1400"/>
              <a:tabLst>
                <a:tab pos="274320" algn="l"/>
              </a:tabLst>
            </a:pPr>
            <a:r>
              <a:rPr lang="en-US" altLang="zh-CN" sz="2800" dirty="0" smtClean="0">
                <a:solidFill>
                  <a:schemeClr val="bg1"/>
                </a:solidFill>
                <a:latin typeface="微软雅黑" panose="020B0503020204020204" pitchFamily="34" charset="-122"/>
                <a:ea typeface="微软雅黑" panose="020B0503020204020204" pitchFamily="34" charset="-122"/>
              </a:rPr>
              <a:t>10  </a:t>
            </a:r>
            <a:r>
              <a:rPr lang="en-US" altLang="zh-CN" sz="2800" dirty="0">
                <a:solidFill>
                  <a:schemeClr val="bg1"/>
                </a:solidFill>
                <a:latin typeface="微软雅黑" panose="020B0503020204020204" pitchFamily="34" charset="-122"/>
                <a:ea typeface="微软雅黑" panose="020B0503020204020204" pitchFamily="34" charset="-122"/>
              </a:rPr>
              <a:t>THERMAL BALANCE TEST</a:t>
            </a:r>
            <a:endParaRPr lang="zh-CN" altLang="zh-CN" sz="2800" dirty="0">
              <a:solidFill>
                <a:schemeClr val="bg1"/>
              </a:solidFill>
              <a:latin typeface="微软雅黑" panose="020B0503020204020204" pitchFamily="34" charset="-122"/>
              <a:ea typeface="微软雅黑" panose="020B0503020204020204" pitchFamily="34" charset="-122"/>
            </a:endParaRPr>
          </a:p>
          <a:p>
            <a:pPr lvl="1" fontAlgn="base"/>
            <a:r>
              <a:rPr lang="en-US" altLang="zh-CN" sz="3200" dirty="0" smtClean="0">
                <a:solidFill>
                  <a:schemeClr val="bg1"/>
                </a:solidFill>
              </a:rPr>
              <a:t>                                            ------</a:t>
            </a:r>
            <a:r>
              <a:rPr lang="zh-CN" altLang="zh-CN" sz="2400" dirty="0" smtClean="0">
                <a:solidFill>
                  <a:schemeClr val="bg1"/>
                </a:solidFill>
                <a:ea typeface="Times New Roman"/>
              </a:rPr>
              <a:t> </a:t>
            </a:r>
            <a:r>
              <a:rPr lang="en-US" altLang="zh-CN" sz="2400" dirty="0" smtClean="0">
                <a:solidFill>
                  <a:schemeClr val="bg1"/>
                </a:solidFill>
                <a:ea typeface="Times New Roman"/>
              </a:rPr>
              <a:t>After </a:t>
            </a:r>
            <a:r>
              <a:rPr lang="en-GB" altLang="zh-CN" sz="2400" dirty="0" smtClean="0">
                <a:solidFill>
                  <a:schemeClr val="bg1"/>
                </a:solidFill>
                <a:ea typeface="Times New Roman"/>
              </a:rPr>
              <a:t>Test</a:t>
            </a:r>
            <a:endParaRPr lang="zh-CN" altLang="zh-CN" sz="2400" dirty="0">
              <a:solidFill>
                <a:schemeClr val="bg1"/>
              </a:solidFill>
            </a:endParaRPr>
          </a:p>
        </p:txBody>
      </p:sp>
      <p:sp>
        <p:nvSpPr>
          <p:cNvPr id="8" name="内容占位符 2"/>
          <p:cNvSpPr>
            <a:spLocks noGrp="1"/>
          </p:cNvSpPr>
          <p:nvPr>
            <p:ph idx="1"/>
          </p:nvPr>
        </p:nvSpPr>
        <p:spPr>
          <a:xfrm>
            <a:off x="179388" y="1268413"/>
            <a:ext cx="8686800" cy="4951412"/>
          </a:xfrm>
        </p:spPr>
        <p:txBody>
          <a:bodyPr>
            <a:normAutofit/>
          </a:bodyPr>
          <a:lstStyle/>
          <a:p>
            <a:pPr marL="0" indent="0" eaLnBrk="1" hangingPunct="1">
              <a:buNone/>
            </a:pPr>
            <a:r>
              <a:rPr lang="en-US" altLang="zh-CN" sz="2400" dirty="0" smtClean="0">
                <a:latin typeface="Times New Roman" pitchFamily="18" charset="0"/>
                <a:cs typeface="Times New Roman" pitchFamily="18" charset="0"/>
              </a:rPr>
              <a:t>Checking and analysis stage after TBT</a:t>
            </a:r>
          </a:p>
          <a:p>
            <a:pPr lvl="1" eaLnBrk="1" hangingPunct="1">
              <a:buFont typeface="Wingdings" pitchFamily="2" charset="2"/>
              <a:buChar char="Ø"/>
            </a:pPr>
            <a:r>
              <a:rPr lang="en-US" altLang="zh-CN" sz="1800" b="0" dirty="0" smtClean="0">
                <a:latin typeface="Times New Roman" pitchFamily="18" charset="0"/>
                <a:cs typeface="Times New Roman" pitchFamily="18" charset="0"/>
              </a:rPr>
              <a:t>After TBT, the thermal balance should be re-calculated to verify the accuracy and efficiency of the tested results by comparing the satellite absorbed and radiated heat</a:t>
            </a:r>
          </a:p>
          <a:p>
            <a:pPr lvl="1" eaLnBrk="1" hangingPunct="1">
              <a:buFont typeface="Wingdings" pitchFamily="2" charset="2"/>
              <a:buChar char="Ø"/>
            </a:pPr>
            <a:r>
              <a:rPr lang="en-US" altLang="zh-CN" sz="1800" b="0" dirty="0" smtClean="0">
                <a:latin typeface="Times New Roman" pitchFamily="18" charset="0"/>
                <a:cs typeface="Times New Roman" pitchFamily="18" charset="0"/>
              </a:rPr>
              <a:t>The satellite absorbed heat includes: equipment heat consumption and the external heat flux absorbed by satellite surface</a:t>
            </a:r>
          </a:p>
          <a:p>
            <a:pPr lvl="1" eaLnBrk="1" hangingPunct="1">
              <a:buFont typeface="Wingdings" pitchFamily="2" charset="2"/>
              <a:buChar char="Ø"/>
            </a:pPr>
            <a:r>
              <a:rPr lang="en-US" altLang="zh-CN" sz="1800" b="0" dirty="0" smtClean="0">
                <a:latin typeface="Times New Roman" pitchFamily="18" charset="0"/>
                <a:cs typeface="Times New Roman" pitchFamily="18" charset="0"/>
              </a:rPr>
              <a:t>The radiated heat can be calculated by the temperature distribution of the satellite outer surface, emissivity and area.</a:t>
            </a:r>
          </a:p>
          <a:p>
            <a:pPr lvl="1" eaLnBrk="1" hangingPunct="1">
              <a:buFont typeface="Wingdings" pitchFamily="2" charset="2"/>
              <a:buChar char="Ø"/>
            </a:pPr>
            <a:r>
              <a:rPr lang="en-US" altLang="zh-CN" sz="1800" b="0" dirty="0" smtClean="0">
                <a:latin typeface="Times New Roman" pitchFamily="18" charset="0"/>
                <a:cs typeface="Times New Roman" pitchFamily="18" charset="0"/>
              </a:rPr>
              <a:t>The difference between the absorbed and radiated heat should be kept within ±10%.</a:t>
            </a:r>
          </a:p>
          <a:p>
            <a:pPr lvl="1">
              <a:buFont typeface="Wingdings" pitchFamily="2" charset="2"/>
              <a:buChar char="Ø"/>
            </a:pPr>
            <a:r>
              <a:rPr lang="en-US" altLang="zh-CN" sz="1800" dirty="0">
                <a:latin typeface="Times New Roman" pitchFamily="18" charset="0"/>
                <a:cs typeface="Times New Roman" pitchFamily="18" charset="0"/>
              </a:rPr>
              <a:t>Modification of the simulation model</a:t>
            </a:r>
          </a:p>
          <a:p>
            <a:pPr marL="457200" lvl="1" indent="0">
              <a:buNone/>
            </a:pPr>
            <a:r>
              <a:rPr lang="en-US" altLang="zh-CN" sz="1800" b="0" dirty="0">
                <a:latin typeface="Times New Roman" pitchFamily="18" charset="0"/>
                <a:cs typeface="Times New Roman" pitchFamily="18" charset="0"/>
              </a:rPr>
              <a:t>      </a:t>
            </a:r>
            <a:r>
              <a:rPr lang="en-US" altLang="zh-CN" sz="1800" b="0" dirty="0" smtClean="0">
                <a:latin typeface="Times New Roman" pitchFamily="18" charset="0"/>
                <a:cs typeface="Times New Roman" pitchFamily="18" charset="0"/>
              </a:rPr>
              <a:t>a.  Perform </a:t>
            </a:r>
            <a:r>
              <a:rPr lang="en-US" altLang="zh-CN" sz="1800" b="0" dirty="0">
                <a:latin typeface="Times New Roman" pitchFamily="18" charset="0"/>
                <a:cs typeface="Times New Roman" pitchFamily="18" charset="0"/>
              </a:rPr>
              <a:t>in-orbit thermal analysis and simulation with the modified model.</a:t>
            </a:r>
          </a:p>
          <a:p>
            <a:pPr marL="457200" lvl="1" indent="0">
              <a:buNone/>
            </a:pPr>
            <a:r>
              <a:rPr lang="en-US" altLang="zh-CN" sz="1800" b="0" dirty="0" smtClean="0">
                <a:latin typeface="Times New Roman" pitchFamily="18" charset="0"/>
                <a:cs typeface="Times New Roman" pitchFamily="18" charset="0"/>
              </a:rPr>
              <a:t>      b.  Optimize </a:t>
            </a:r>
            <a:r>
              <a:rPr lang="en-US" altLang="zh-CN" sz="1800" b="0" dirty="0">
                <a:latin typeface="Times New Roman" pitchFamily="18" charset="0"/>
                <a:cs typeface="Times New Roman" pitchFamily="18" charset="0"/>
              </a:rPr>
              <a:t>the thermal design, and prepare data foundation for detailed </a:t>
            </a:r>
            <a:r>
              <a:rPr lang="en-US" altLang="zh-CN" sz="1800" b="0">
                <a:latin typeface="Times New Roman" pitchFamily="18" charset="0"/>
                <a:cs typeface="Times New Roman" pitchFamily="18" charset="0"/>
              </a:rPr>
              <a:t>design </a:t>
            </a:r>
            <a:r>
              <a:rPr lang="en-US" altLang="zh-CN" sz="1800" b="0" smtClean="0">
                <a:latin typeface="Times New Roman" pitchFamily="18" charset="0"/>
                <a:cs typeface="Times New Roman" pitchFamily="18" charset="0"/>
              </a:rPr>
              <a:t>.</a:t>
            </a:r>
            <a:endParaRPr lang="en-US" altLang="zh-CN" sz="1800" b="0" dirty="0">
              <a:latin typeface="Times New Roman" pitchFamily="18" charset="0"/>
              <a:cs typeface="Times New Roman" pitchFamily="18" charset="0"/>
            </a:endParaRPr>
          </a:p>
          <a:p>
            <a:pPr marL="457200" lvl="1" indent="0" eaLnBrk="1" hangingPunct="1">
              <a:buNone/>
            </a:pPr>
            <a:endParaRPr lang="en-US" altLang="zh-CN" sz="1800" b="0" dirty="0" smtClean="0">
              <a:latin typeface="Times New Roman" pitchFamily="18" charset="0"/>
              <a:cs typeface="Times New Roman" pitchFamily="18" charset="0"/>
            </a:endParaRPr>
          </a:p>
          <a:p>
            <a:pPr lvl="1" eaLnBrk="1" hangingPunct="1">
              <a:buFont typeface="Wingdings" pitchFamily="2" charset="2"/>
              <a:buChar char="Ø"/>
            </a:pPr>
            <a:endParaRPr lang="en-US" altLang="zh-CN" sz="1800" dirty="0" smtClean="0"/>
          </a:p>
        </p:txBody>
      </p:sp>
    </p:spTree>
    <p:extLst>
      <p:ext uri="{BB962C8B-B14F-4D97-AF65-F5344CB8AC3E}">
        <p14:creationId xmlns:p14="http://schemas.microsoft.com/office/powerpoint/2010/main" xmlns="" val="395505155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41</a:t>
            </a:fld>
            <a:r>
              <a:rPr lang="zh-CN" altLang="en-US" smtClean="0"/>
              <a:t> </a:t>
            </a:r>
            <a:endParaRPr lang="zh-CN" altLang="en-US" dirty="0">
              <a:latin typeface="微软雅黑" pitchFamily="34" charset="-122"/>
              <a:ea typeface="微软雅黑" pitchFamily="34" charset="-122"/>
            </a:endParaRPr>
          </a:p>
        </p:txBody>
      </p:sp>
      <p:sp>
        <p:nvSpPr>
          <p:cNvPr id="6" name="矩形 5"/>
          <p:cNvSpPr/>
          <p:nvPr/>
        </p:nvSpPr>
        <p:spPr>
          <a:xfrm>
            <a:off x="395536" y="116632"/>
            <a:ext cx="7992888" cy="523220"/>
          </a:xfrm>
          <a:prstGeom prst="rect">
            <a:avLst/>
          </a:prstGeom>
        </p:spPr>
        <p:txBody>
          <a:bodyPr wrap="square">
            <a:spAutoFit/>
          </a:bodyPr>
          <a:lstStyle/>
          <a:p>
            <a:pPr lvl="1" fontAlgn="base">
              <a:spcBef>
                <a:spcPts val="1560"/>
              </a:spcBef>
              <a:buSzPts val="1400"/>
              <a:tabLst>
                <a:tab pos="274320" algn="l"/>
              </a:tabLst>
            </a:pPr>
            <a:r>
              <a:rPr lang="en-US" altLang="zh-CN" sz="2800" dirty="0" smtClean="0">
                <a:solidFill>
                  <a:schemeClr val="bg1"/>
                </a:solidFill>
                <a:latin typeface="微软雅黑" panose="020B0503020204020204" pitchFamily="34" charset="-122"/>
                <a:ea typeface="微软雅黑" panose="020B0503020204020204" pitchFamily="34" charset="-122"/>
              </a:rPr>
              <a:t>11  </a:t>
            </a:r>
            <a:r>
              <a:rPr lang="en-US" altLang="zh-CN" sz="2800" dirty="0">
                <a:solidFill>
                  <a:schemeClr val="bg1"/>
                </a:solidFill>
                <a:latin typeface="微软雅黑" panose="020B0503020204020204" pitchFamily="34" charset="-122"/>
                <a:ea typeface="微软雅黑" panose="020B0503020204020204" pitchFamily="34" charset="-122"/>
              </a:rPr>
              <a:t>DESIGN CONCLUSION</a:t>
            </a:r>
            <a:endParaRPr lang="zh-CN" altLang="zh-CN" sz="2800" dirty="0">
              <a:solidFill>
                <a:schemeClr val="bg1"/>
              </a:solidFill>
              <a:latin typeface="微软雅黑" panose="020B0503020204020204" pitchFamily="34" charset="-122"/>
              <a:ea typeface="微软雅黑" panose="020B0503020204020204" pitchFamily="34" charset="-122"/>
            </a:endParaRPr>
          </a:p>
        </p:txBody>
      </p:sp>
      <p:sp>
        <p:nvSpPr>
          <p:cNvPr id="7" name="矩形 6"/>
          <p:cNvSpPr/>
          <p:nvPr/>
        </p:nvSpPr>
        <p:spPr>
          <a:xfrm>
            <a:off x="498798" y="2060848"/>
            <a:ext cx="7812360" cy="2805896"/>
          </a:xfrm>
          <a:prstGeom prst="rect">
            <a:avLst/>
          </a:prstGeom>
        </p:spPr>
        <p:txBody>
          <a:bodyPr wrap="square">
            <a:spAutoFit/>
          </a:bodyPr>
          <a:lstStyle/>
          <a:p>
            <a:pPr marL="342900" indent="-342900" algn="just">
              <a:spcBef>
                <a:spcPts val="500"/>
              </a:spcBef>
              <a:spcAft>
                <a:spcPts val="0"/>
              </a:spcAft>
              <a:buFont typeface="Wingdings" pitchFamily="2" charset="2"/>
              <a:buChar char="Ø"/>
            </a:pPr>
            <a:r>
              <a:rPr lang="en-US" altLang="zh-CN" sz="2400" kern="100" dirty="0" smtClean="0">
                <a:latin typeface="Times New Roman"/>
              </a:rPr>
              <a:t>The </a:t>
            </a:r>
            <a:r>
              <a:rPr lang="en-US" altLang="zh-CN" sz="2400" kern="100" dirty="0">
                <a:latin typeface="Times New Roman"/>
              </a:rPr>
              <a:t>thermal control designed for </a:t>
            </a:r>
            <a:r>
              <a:rPr lang="en-US" altLang="zh-CN" sz="2400" kern="100" dirty="0" smtClean="0">
                <a:latin typeface="Times New Roman"/>
              </a:rPr>
              <a:t>ETRSS-1  allow </a:t>
            </a:r>
            <a:r>
              <a:rPr lang="en-US" altLang="zh-CN" sz="2400" kern="100" dirty="0">
                <a:latin typeface="Times New Roman"/>
              </a:rPr>
              <a:t>fulfilling all these requirements under worst conditions met during the whole life </a:t>
            </a:r>
            <a:r>
              <a:rPr lang="en-US" altLang="zh-CN" sz="2400" kern="100" smtClean="0">
                <a:latin typeface="Times New Roman"/>
              </a:rPr>
              <a:t>time.</a:t>
            </a:r>
          </a:p>
          <a:p>
            <a:pPr algn="just">
              <a:spcBef>
                <a:spcPts val="500"/>
              </a:spcBef>
              <a:spcAft>
                <a:spcPts val="0"/>
              </a:spcAft>
            </a:pPr>
            <a:endParaRPr lang="en-US" altLang="zh-CN" sz="2400" kern="100" dirty="0" smtClean="0">
              <a:latin typeface="Times New Roman"/>
            </a:endParaRPr>
          </a:p>
          <a:p>
            <a:pPr marL="342900" indent="-342900" algn="just">
              <a:spcBef>
                <a:spcPts val="500"/>
              </a:spcBef>
              <a:spcAft>
                <a:spcPts val="0"/>
              </a:spcAft>
              <a:buFont typeface="Wingdings" pitchFamily="2" charset="2"/>
              <a:buChar char="Ø"/>
            </a:pPr>
            <a:r>
              <a:rPr lang="en-US" altLang="zh-CN" sz="2400" kern="100" dirty="0" smtClean="0">
                <a:latin typeface="Times New Roman"/>
              </a:rPr>
              <a:t>The </a:t>
            </a:r>
            <a:r>
              <a:rPr lang="en-US" altLang="zh-CN" sz="2400" kern="100" dirty="0">
                <a:latin typeface="Times New Roman"/>
              </a:rPr>
              <a:t>thermal design, as well the mathematical model developed for </a:t>
            </a:r>
            <a:r>
              <a:rPr lang="en-US" altLang="zh-CN" sz="2400" kern="100" dirty="0" smtClean="0">
                <a:latin typeface="Times New Roman"/>
              </a:rPr>
              <a:t>ETRSS-1 </a:t>
            </a:r>
            <a:r>
              <a:rPr lang="en-US" altLang="zh-CN" sz="2400" kern="100" dirty="0">
                <a:latin typeface="Times New Roman"/>
              </a:rPr>
              <a:t>will be qualified during the thermal balance test.</a:t>
            </a:r>
            <a:endParaRPr lang="zh-CN" altLang="zh-CN" sz="2400" kern="100" dirty="0">
              <a:latin typeface="Times New Roman"/>
            </a:endParaRPr>
          </a:p>
        </p:txBody>
      </p:sp>
    </p:spTree>
    <p:extLst>
      <p:ext uri="{BB962C8B-B14F-4D97-AF65-F5344CB8AC3E}">
        <p14:creationId xmlns:p14="http://schemas.microsoft.com/office/powerpoint/2010/main" xmlns="" val="259180200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页脚占位符 3"/>
          <p:cNvSpPr>
            <a:spLocks noGrp="1"/>
          </p:cNvSpPr>
          <p:nvPr>
            <p:ph type="ftr" sz="quarter" idx="11"/>
          </p:nvPr>
        </p:nvSpPr>
        <p:spPr/>
        <p:txBody>
          <a:bodyPr/>
          <a:lstStyle/>
          <a:p>
            <a:r>
              <a:rPr lang="en-US" altLang="zh-CN" dirty="0" smtClean="0"/>
              <a:t>THIS DOCUMENT CONTAINS PROPRIETARY INFORMATION OF CHINA ACADEMY OF SPACE TECHNOLOGY, AND MAY NOT BE REPRODUCED, COPIED, DISCLOSED, UTILIZED, PLACED OR TRANSMITTED ON INTERNET, IN WHOLE OR IN PART, WITHOUT PRIOR WRITTEN AUTHORIZATION.</a:t>
            </a:r>
          </a:p>
        </p:txBody>
      </p:sp>
      <p:sp>
        <p:nvSpPr>
          <p:cNvPr id="5" name="灯片编号占位符 4"/>
          <p:cNvSpPr>
            <a:spLocks noGrp="1"/>
          </p:cNvSpPr>
          <p:nvPr>
            <p:ph type="sldNum" sz="quarter" idx="12"/>
          </p:nvPr>
        </p:nvSpPr>
        <p:spPr/>
        <p:txBody>
          <a:bodyPr/>
          <a:lstStyle/>
          <a:p>
            <a:r>
              <a:rPr lang="en-US" altLang="zh-CN" smtClean="0">
                <a:latin typeface="微软雅黑" pitchFamily="34" charset="-122"/>
                <a:ea typeface="微软雅黑" pitchFamily="34" charset="-122"/>
              </a:rPr>
              <a:t>PAGE</a:t>
            </a:r>
            <a:r>
              <a:rPr lang="zh-CN" altLang="en-US" smtClean="0"/>
              <a:t> </a:t>
            </a:r>
            <a:fld id="{E1EFCB46-C834-4067-A327-0EA79FD50686}" type="slidenum">
              <a:rPr lang="zh-CN" altLang="en-US" smtClean="0"/>
              <a:pPr/>
              <a:t>42</a:t>
            </a:fld>
            <a:r>
              <a:rPr lang="zh-CN" altLang="en-US" smtClean="0"/>
              <a:t> </a:t>
            </a:r>
            <a:endParaRPr lang="zh-CN" altLang="en-US" dirty="0">
              <a:latin typeface="微软雅黑" pitchFamily="34" charset="-122"/>
              <a:ea typeface="微软雅黑" pitchFamily="34" charset="-122"/>
            </a:endParaRPr>
          </a:p>
        </p:txBody>
      </p:sp>
      <p:sp>
        <p:nvSpPr>
          <p:cNvPr id="6" name="标题 1"/>
          <p:cNvSpPr txBox="1">
            <a:spLocks/>
          </p:cNvSpPr>
          <p:nvPr/>
        </p:nvSpPr>
        <p:spPr>
          <a:xfrm>
            <a:off x="2222798" y="2852936"/>
            <a:ext cx="5328592" cy="1143000"/>
          </a:xfrm>
          <a:prstGeom prst="rect">
            <a:avLst/>
          </a:prstGeom>
        </p:spPr>
        <p:txBody>
          <a:bodyPr vert="horz" lIns="91440" tIns="45720" rIns="91440" bIns="45720" rtlCol="0" anchor="ctr">
            <a:noAutofit/>
          </a:bodyPr>
          <a:lstStyle/>
          <a:p>
            <a:pPr lvl="1" algn="ctr">
              <a:spcBef>
                <a:spcPct val="0"/>
              </a:spcBef>
              <a:defRPr/>
            </a:pPr>
            <a:r>
              <a:rPr lang="zh-CN" altLang="en-US" sz="8000" b="1" dirty="0" smtClean="0">
                <a:solidFill>
                  <a:prstClr val="white"/>
                </a:solidFill>
                <a:latin typeface="微软雅黑" panose="020B0503020204020204" pitchFamily="34" charset="-122"/>
                <a:ea typeface="微软雅黑" panose="020B0503020204020204" pitchFamily="34" charset="-122"/>
              </a:rPr>
              <a:t>！</a:t>
            </a:r>
            <a:endParaRPr lang="zh-CN" altLang="en-US" sz="8000" b="1" dirty="0">
              <a:solidFill>
                <a:prstClr val="white"/>
              </a:solidFill>
              <a:latin typeface="微软雅黑" panose="020B0503020204020204" pitchFamily="34" charset="-122"/>
              <a:ea typeface="微软雅黑" panose="020B0503020204020204" pitchFamily="34" charset="-122"/>
            </a:endParaRPr>
          </a:p>
          <a:p>
            <a:pPr lvl="1" algn="ctr">
              <a:spcBef>
                <a:spcPct val="0"/>
              </a:spcBef>
              <a:defRPr/>
            </a:pPr>
            <a:r>
              <a:rPr lang="en-US" altLang="zh-CN" sz="8000" b="1" dirty="0">
                <a:latin typeface="微软雅黑" panose="020B0503020204020204" pitchFamily="34" charset="-122"/>
                <a:ea typeface="微软雅黑" panose="020B0503020204020204" pitchFamily="34" charset="-122"/>
              </a:rPr>
              <a:t>Thanks</a:t>
            </a:r>
            <a:r>
              <a:rPr lang="zh-CN" altLang="en-US" sz="8000" b="1" dirty="0">
                <a:solidFill>
                  <a:prstClr val="white"/>
                </a:solidFill>
                <a:latin typeface="微软雅黑" panose="020B0503020204020204" pitchFamily="34" charset="-122"/>
                <a:ea typeface="微软雅黑" panose="020B0503020204020204" pitchFamily="34" charset="-122"/>
              </a:rPr>
              <a:t>！</a:t>
            </a:r>
          </a:p>
          <a:p>
            <a:pPr lvl="1" algn="ctr" defTabSz="914400">
              <a:spcBef>
                <a:spcPct val="0"/>
              </a:spcBef>
              <a:defRPr/>
            </a:pPr>
            <a:r>
              <a:rPr lang="en-US" altLang="zh-CN" sz="8000" b="1" dirty="0" smtClean="0">
                <a:solidFill>
                  <a:prstClr val="white"/>
                </a:solidFill>
                <a:latin typeface="微软雅黑" panose="020B0503020204020204" pitchFamily="34" charset="-122"/>
                <a:ea typeface="微软雅黑" panose="020B0503020204020204" pitchFamily="34" charset="-122"/>
              </a:rPr>
              <a:t>Thanks</a:t>
            </a:r>
            <a:r>
              <a:rPr lang="zh-CN" altLang="en-US" sz="8000" b="1" dirty="0" smtClean="0">
                <a:solidFill>
                  <a:prstClr val="white"/>
                </a:solidFill>
                <a:latin typeface="微软雅黑" panose="020B0503020204020204" pitchFamily="34" charset="-122"/>
                <a:ea typeface="微软雅黑" panose="020B0503020204020204" pitchFamily="34" charset="-122"/>
              </a:rPr>
              <a:t>！</a:t>
            </a:r>
            <a:endParaRPr lang="zh-CN" altLang="en-US" sz="8000" b="1" dirty="0">
              <a:solidFill>
                <a:prstClr val="white"/>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xmlns="" val="259180200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穿越">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15909</TotalTime>
  <Words>4549</Words>
  <Application>Microsoft Office PowerPoint</Application>
  <PresentationFormat>On-screen Show (4:3)</PresentationFormat>
  <Paragraphs>551</Paragraphs>
  <Slides>42</Slides>
  <Notes>1</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42</vt:i4>
      </vt:variant>
    </vt:vector>
  </HeadingPairs>
  <TitlesOfParts>
    <vt:vector size="44" baseType="lpstr">
      <vt:lpstr>Office 主题</vt:lpstr>
      <vt:lpstr>文档</vt:lpstr>
      <vt:lpstr>ETRSS-1 Thermal Control Subsystem Critical Design  and  Orbit Operation  （Chapter 7-11） </vt:lpstr>
      <vt:lpstr>Slide 2</vt:lpstr>
      <vt:lpstr>Slide 3</vt:lpstr>
      <vt:lpstr>Slide 4</vt:lpstr>
      <vt:lpstr>Slide 5</vt:lpstr>
      <vt:lpstr>Slide 6</vt:lpstr>
      <vt:lpstr>Slide 7</vt:lpstr>
      <vt:lpstr>Slide 8</vt:lpstr>
      <vt:lpstr>7 Thermal Analysis                ------ Critical cases</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dfh</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单悌磊</dc:creator>
  <cp:lastModifiedBy>dfh</cp:lastModifiedBy>
  <cp:revision>691</cp:revision>
  <dcterms:created xsi:type="dcterms:W3CDTF">2013-04-18T01:59:38Z</dcterms:created>
  <dcterms:modified xsi:type="dcterms:W3CDTF">2019-03-06T00:06:24Z</dcterms:modified>
</cp:coreProperties>
</file>