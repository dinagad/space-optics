
<file path=[Content_Types].xml><?xml version="1.0" encoding="utf-8"?>
<Types xmlns="http://schemas.openxmlformats.org/package/2006/content-types">
  <Default Extension="png" ContentType="image/png"/>
  <Default Extension="jpeg" ContentType="image/jpeg"/>
  <Default Extension="emf" ContentType="image/x-emf"/>
  <Default Extension="xls" ContentType="application/vnd.ms-excel"/>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275" r:id="rId2"/>
    <p:sldId id="363" r:id="rId3"/>
    <p:sldId id="394" r:id="rId4"/>
    <p:sldId id="351" r:id="rId5"/>
    <p:sldId id="352" r:id="rId6"/>
    <p:sldId id="353" r:id="rId7"/>
    <p:sldId id="354" r:id="rId8"/>
    <p:sldId id="365" r:id="rId9"/>
    <p:sldId id="355" r:id="rId10"/>
    <p:sldId id="366" r:id="rId11"/>
    <p:sldId id="356" r:id="rId12"/>
    <p:sldId id="395" r:id="rId13"/>
    <p:sldId id="387" r:id="rId14"/>
    <p:sldId id="388" r:id="rId15"/>
    <p:sldId id="389" r:id="rId16"/>
    <p:sldId id="390" r:id="rId17"/>
    <p:sldId id="391" r:id="rId18"/>
    <p:sldId id="392" r:id="rId19"/>
    <p:sldId id="393" r:id="rId20"/>
    <p:sldId id="396" r:id="rId21"/>
    <p:sldId id="403" r:id="rId22"/>
    <p:sldId id="401" r:id="rId23"/>
    <p:sldId id="404" r:id="rId24"/>
    <p:sldId id="402" r:id="rId25"/>
    <p:sldId id="369" r:id="rId26"/>
    <p:sldId id="371" r:id="rId27"/>
    <p:sldId id="397" r:id="rId28"/>
    <p:sldId id="383" r:id="rId29"/>
    <p:sldId id="384" r:id="rId30"/>
    <p:sldId id="385" r:id="rId31"/>
    <p:sldId id="386" r:id="rId32"/>
    <p:sldId id="398" r:id="rId33"/>
    <p:sldId id="348" r:id="rId34"/>
    <p:sldId id="349"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5676"/>
    <a:srgbClr val="0983F1"/>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308" y="-198"/>
      </p:cViewPr>
      <p:guideLst>
        <p:guide orient="horz" pos="216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FEF606-DE28-48E5-A059-0798F55E76A1}" type="doc">
      <dgm:prSet loTypeId="urn:microsoft.com/office/officeart/2005/8/layout/process4" loCatId="process" qsTypeId="urn:microsoft.com/office/officeart/2005/8/quickstyle/simple1" qsCatId="simple" csTypeId="urn:microsoft.com/office/officeart/2005/8/colors/colorful1#6" csCatId="colorful" phldr="1"/>
      <dgm:spPr/>
      <dgm:t>
        <a:bodyPr/>
        <a:lstStyle/>
        <a:p>
          <a:endParaRPr lang="zh-CN" altLang="en-US"/>
        </a:p>
      </dgm:t>
    </dgm:pt>
    <dgm:pt modelId="{781EF470-9865-48F0-91BB-F2B9466BE38C}">
      <dgm:prSet custT="1"/>
      <dgm:spPr/>
      <dgm:t>
        <a:bodyPr/>
        <a:lstStyle/>
        <a:p>
          <a:pPr rtl="0"/>
          <a:r>
            <a:rPr lang="en-US" sz="1800" dirty="0" smtClean="0"/>
            <a:t>To </a:t>
          </a:r>
          <a:r>
            <a:rPr lang="en-US" sz="2400" b="1" dirty="0" smtClean="0">
              <a:solidFill>
                <a:schemeClr val="bg1"/>
              </a:solidFill>
            </a:rPr>
            <a:t>verify design </a:t>
          </a:r>
          <a:r>
            <a:rPr lang="en-US" sz="1800" dirty="0" smtClean="0"/>
            <a:t>of satellite structure</a:t>
          </a:r>
          <a:endParaRPr lang="zh-CN" sz="1800" dirty="0"/>
        </a:p>
      </dgm:t>
    </dgm:pt>
    <dgm:pt modelId="{89FDCF51-3269-4A7A-8BC0-C44C72071561}" type="parTrans" cxnId="{44AFEA97-4547-4B81-8C60-C9670801E0EA}">
      <dgm:prSet/>
      <dgm:spPr/>
      <dgm:t>
        <a:bodyPr/>
        <a:lstStyle/>
        <a:p>
          <a:endParaRPr lang="zh-CN" altLang="en-US" sz="2800"/>
        </a:p>
      </dgm:t>
    </dgm:pt>
    <dgm:pt modelId="{28D0A696-C1BB-4C92-BBD9-94A05B11FA92}" type="sibTrans" cxnId="{44AFEA97-4547-4B81-8C60-C9670801E0EA}">
      <dgm:prSet custT="1"/>
      <dgm:spPr/>
      <dgm:t>
        <a:bodyPr/>
        <a:lstStyle/>
        <a:p>
          <a:endParaRPr lang="zh-CN" altLang="en-US" sz="3600"/>
        </a:p>
      </dgm:t>
    </dgm:pt>
    <dgm:pt modelId="{ADDC7239-6DEF-4776-B8F1-AF320CF152DE}">
      <dgm:prSet custT="1"/>
      <dgm:spPr/>
      <dgm:t>
        <a:bodyPr/>
        <a:lstStyle/>
        <a:p>
          <a:pPr rtl="0"/>
          <a:r>
            <a:rPr lang="en-US" sz="1800" dirty="0" smtClean="0"/>
            <a:t>To discover </a:t>
          </a:r>
          <a:r>
            <a:rPr lang="en-US" sz="2400" b="1" dirty="0" smtClean="0"/>
            <a:t>potential defects </a:t>
          </a:r>
          <a:r>
            <a:rPr lang="en-US" sz="1800" dirty="0" smtClean="0"/>
            <a:t>of material and component</a:t>
          </a:r>
          <a:endParaRPr lang="zh-CN" sz="1800" dirty="0"/>
        </a:p>
      </dgm:t>
    </dgm:pt>
    <dgm:pt modelId="{3A32A6A7-0E77-4707-869B-E7D89F082CF6}" type="parTrans" cxnId="{126BE667-3EEF-49DF-80D5-55EBD874E95B}">
      <dgm:prSet/>
      <dgm:spPr/>
      <dgm:t>
        <a:bodyPr/>
        <a:lstStyle/>
        <a:p>
          <a:endParaRPr lang="zh-CN" altLang="en-US" sz="2800"/>
        </a:p>
      </dgm:t>
    </dgm:pt>
    <dgm:pt modelId="{C42B64B0-E070-46D7-82EA-0169B6A29693}" type="sibTrans" cxnId="{126BE667-3EEF-49DF-80D5-55EBD874E95B}">
      <dgm:prSet custT="1"/>
      <dgm:spPr/>
      <dgm:t>
        <a:bodyPr/>
        <a:lstStyle/>
        <a:p>
          <a:endParaRPr lang="zh-CN" altLang="en-US" sz="3600"/>
        </a:p>
      </dgm:t>
    </dgm:pt>
    <dgm:pt modelId="{4483B34D-A5F7-4381-A1D2-C59CD37D201E}">
      <dgm:prSet custT="1"/>
      <dgm:spPr/>
      <dgm:t>
        <a:bodyPr/>
        <a:lstStyle/>
        <a:p>
          <a:pPr rtl="0"/>
          <a:r>
            <a:rPr lang="en-US" sz="1800" dirty="0" smtClean="0"/>
            <a:t>To study the effect of dynamic environment on the </a:t>
          </a:r>
          <a:r>
            <a:rPr lang="en-US" sz="2400" b="1" dirty="0" smtClean="0"/>
            <a:t>new material and new structure </a:t>
          </a:r>
          <a:endParaRPr lang="en-US" sz="1800" b="1" i="0" baseline="0" dirty="0"/>
        </a:p>
      </dgm:t>
    </dgm:pt>
    <dgm:pt modelId="{4F3C9A29-0755-49E3-97EE-70926D243861}" type="parTrans" cxnId="{80E6D601-1453-4086-B769-BB7767F1BA04}">
      <dgm:prSet/>
      <dgm:spPr/>
      <dgm:t>
        <a:bodyPr/>
        <a:lstStyle/>
        <a:p>
          <a:endParaRPr lang="zh-CN" altLang="en-US" sz="2800"/>
        </a:p>
      </dgm:t>
    </dgm:pt>
    <dgm:pt modelId="{CBF46810-A908-4F21-9EB2-2969DC3DA4E4}" type="sibTrans" cxnId="{80E6D601-1453-4086-B769-BB7767F1BA04}">
      <dgm:prSet/>
      <dgm:spPr/>
      <dgm:t>
        <a:bodyPr/>
        <a:lstStyle/>
        <a:p>
          <a:endParaRPr lang="zh-CN" altLang="en-US" sz="2800"/>
        </a:p>
      </dgm:t>
    </dgm:pt>
    <dgm:pt modelId="{75946A95-2CDD-48DB-9A12-968355CD4BFD}" type="pres">
      <dgm:prSet presAssocID="{3BFEF606-DE28-48E5-A059-0798F55E76A1}" presName="Name0" presStyleCnt="0">
        <dgm:presLayoutVars>
          <dgm:dir/>
          <dgm:animLvl val="lvl"/>
          <dgm:resizeHandles val="exact"/>
        </dgm:presLayoutVars>
      </dgm:prSet>
      <dgm:spPr/>
      <dgm:t>
        <a:bodyPr/>
        <a:lstStyle/>
        <a:p>
          <a:endParaRPr lang="zh-CN" altLang="en-US"/>
        </a:p>
      </dgm:t>
    </dgm:pt>
    <dgm:pt modelId="{DCCF7B89-49DF-4F91-A0D7-6E3CFC2F3BE7}" type="pres">
      <dgm:prSet presAssocID="{4483B34D-A5F7-4381-A1D2-C59CD37D201E}" presName="boxAndChildren" presStyleCnt="0"/>
      <dgm:spPr/>
    </dgm:pt>
    <dgm:pt modelId="{B57BBAF8-D240-4ED7-BDEF-56EE1CBC380E}" type="pres">
      <dgm:prSet presAssocID="{4483B34D-A5F7-4381-A1D2-C59CD37D201E}" presName="parentTextBox" presStyleLbl="node1" presStyleIdx="0" presStyleCnt="3"/>
      <dgm:spPr/>
      <dgm:t>
        <a:bodyPr/>
        <a:lstStyle/>
        <a:p>
          <a:endParaRPr lang="zh-CN" altLang="en-US"/>
        </a:p>
      </dgm:t>
    </dgm:pt>
    <dgm:pt modelId="{11337BB7-2EB5-400D-A0B7-3322FDA6BCA4}" type="pres">
      <dgm:prSet presAssocID="{C42B64B0-E070-46D7-82EA-0169B6A29693}" presName="sp" presStyleCnt="0"/>
      <dgm:spPr/>
    </dgm:pt>
    <dgm:pt modelId="{A503C2A6-FA2E-4B9C-87C1-C7EF9DBC17D8}" type="pres">
      <dgm:prSet presAssocID="{ADDC7239-6DEF-4776-B8F1-AF320CF152DE}" presName="arrowAndChildren" presStyleCnt="0"/>
      <dgm:spPr/>
    </dgm:pt>
    <dgm:pt modelId="{46A08281-8B1C-4741-8750-EE3C93759F34}" type="pres">
      <dgm:prSet presAssocID="{ADDC7239-6DEF-4776-B8F1-AF320CF152DE}" presName="parentTextArrow" presStyleLbl="node1" presStyleIdx="1" presStyleCnt="3"/>
      <dgm:spPr/>
      <dgm:t>
        <a:bodyPr/>
        <a:lstStyle/>
        <a:p>
          <a:endParaRPr lang="zh-CN" altLang="en-US"/>
        </a:p>
      </dgm:t>
    </dgm:pt>
    <dgm:pt modelId="{2E67CEAC-BB83-42B6-B52D-FBD46584477B}" type="pres">
      <dgm:prSet presAssocID="{28D0A696-C1BB-4C92-BBD9-94A05B11FA92}" presName="sp" presStyleCnt="0"/>
      <dgm:spPr/>
    </dgm:pt>
    <dgm:pt modelId="{91CFAAAA-8F33-4FB6-9CD6-F4DCBFF587F1}" type="pres">
      <dgm:prSet presAssocID="{781EF470-9865-48F0-91BB-F2B9466BE38C}" presName="arrowAndChildren" presStyleCnt="0"/>
      <dgm:spPr/>
    </dgm:pt>
    <dgm:pt modelId="{622D67AE-4B8E-45E5-9D91-3647D85902F2}" type="pres">
      <dgm:prSet presAssocID="{781EF470-9865-48F0-91BB-F2B9466BE38C}" presName="parentTextArrow" presStyleLbl="node1" presStyleIdx="2" presStyleCnt="3"/>
      <dgm:spPr/>
      <dgm:t>
        <a:bodyPr/>
        <a:lstStyle/>
        <a:p>
          <a:endParaRPr lang="zh-CN" altLang="en-US"/>
        </a:p>
      </dgm:t>
    </dgm:pt>
  </dgm:ptLst>
  <dgm:cxnLst>
    <dgm:cxn modelId="{D9E653D2-992B-4682-B2FD-C09F18842C55}" type="presOf" srcId="{781EF470-9865-48F0-91BB-F2B9466BE38C}" destId="{622D67AE-4B8E-45E5-9D91-3647D85902F2}" srcOrd="0" destOrd="0" presId="urn:microsoft.com/office/officeart/2005/8/layout/process4"/>
    <dgm:cxn modelId="{58D4A2B7-121A-4085-A625-790F0FF2B6FB}" type="presOf" srcId="{3BFEF606-DE28-48E5-A059-0798F55E76A1}" destId="{75946A95-2CDD-48DB-9A12-968355CD4BFD}" srcOrd="0" destOrd="0" presId="urn:microsoft.com/office/officeart/2005/8/layout/process4"/>
    <dgm:cxn modelId="{44AFEA97-4547-4B81-8C60-C9670801E0EA}" srcId="{3BFEF606-DE28-48E5-A059-0798F55E76A1}" destId="{781EF470-9865-48F0-91BB-F2B9466BE38C}" srcOrd="0" destOrd="0" parTransId="{89FDCF51-3269-4A7A-8BC0-C44C72071561}" sibTransId="{28D0A696-C1BB-4C92-BBD9-94A05B11FA92}"/>
    <dgm:cxn modelId="{126BE667-3EEF-49DF-80D5-55EBD874E95B}" srcId="{3BFEF606-DE28-48E5-A059-0798F55E76A1}" destId="{ADDC7239-6DEF-4776-B8F1-AF320CF152DE}" srcOrd="1" destOrd="0" parTransId="{3A32A6A7-0E77-4707-869B-E7D89F082CF6}" sibTransId="{C42B64B0-E070-46D7-82EA-0169B6A29693}"/>
    <dgm:cxn modelId="{0AFB0DC3-01F7-4EC7-96BB-A6571F995624}" type="presOf" srcId="{4483B34D-A5F7-4381-A1D2-C59CD37D201E}" destId="{B57BBAF8-D240-4ED7-BDEF-56EE1CBC380E}" srcOrd="0" destOrd="0" presId="urn:microsoft.com/office/officeart/2005/8/layout/process4"/>
    <dgm:cxn modelId="{80E6D601-1453-4086-B769-BB7767F1BA04}" srcId="{3BFEF606-DE28-48E5-A059-0798F55E76A1}" destId="{4483B34D-A5F7-4381-A1D2-C59CD37D201E}" srcOrd="2" destOrd="0" parTransId="{4F3C9A29-0755-49E3-97EE-70926D243861}" sibTransId="{CBF46810-A908-4F21-9EB2-2969DC3DA4E4}"/>
    <dgm:cxn modelId="{42546123-B007-48BD-802C-44C84473ED3E}" type="presOf" srcId="{ADDC7239-6DEF-4776-B8F1-AF320CF152DE}" destId="{46A08281-8B1C-4741-8750-EE3C93759F34}" srcOrd="0" destOrd="0" presId="urn:microsoft.com/office/officeart/2005/8/layout/process4"/>
    <dgm:cxn modelId="{41037A08-338C-4810-85E7-2FB84FFC6F4F}" type="presParOf" srcId="{75946A95-2CDD-48DB-9A12-968355CD4BFD}" destId="{DCCF7B89-49DF-4F91-A0D7-6E3CFC2F3BE7}" srcOrd="0" destOrd="0" presId="urn:microsoft.com/office/officeart/2005/8/layout/process4"/>
    <dgm:cxn modelId="{AC7CF398-D214-43B4-A955-1DD03A467BDA}" type="presParOf" srcId="{DCCF7B89-49DF-4F91-A0D7-6E3CFC2F3BE7}" destId="{B57BBAF8-D240-4ED7-BDEF-56EE1CBC380E}" srcOrd="0" destOrd="0" presId="urn:microsoft.com/office/officeart/2005/8/layout/process4"/>
    <dgm:cxn modelId="{12AAC9B3-D309-40DB-B1DE-E977846A7153}" type="presParOf" srcId="{75946A95-2CDD-48DB-9A12-968355CD4BFD}" destId="{11337BB7-2EB5-400D-A0B7-3322FDA6BCA4}" srcOrd="1" destOrd="0" presId="urn:microsoft.com/office/officeart/2005/8/layout/process4"/>
    <dgm:cxn modelId="{1DA6F370-DB0C-4437-8DEA-A2977AD3A6BF}" type="presParOf" srcId="{75946A95-2CDD-48DB-9A12-968355CD4BFD}" destId="{A503C2A6-FA2E-4B9C-87C1-C7EF9DBC17D8}" srcOrd="2" destOrd="0" presId="urn:microsoft.com/office/officeart/2005/8/layout/process4"/>
    <dgm:cxn modelId="{13B151AD-4751-4D83-9D13-C58BE913C0AD}" type="presParOf" srcId="{A503C2A6-FA2E-4B9C-87C1-C7EF9DBC17D8}" destId="{46A08281-8B1C-4741-8750-EE3C93759F34}" srcOrd="0" destOrd="0" presId="urn:microsoft.com/office/officeart/2005/8/layout/process4"/>
    <dgm:cxn modelId="{22268CA6-EE59-4F0B-9E10-A9715A5F635C}" type="presParOf" srcId="{75946A95-2CDD-48DB-9A12-968355CD4BFD}" destId="{2E67CEAC-BB83-42B6-B52D-FBD46584477B}" srcOrd="3" destOrd="0" presId="urn:microsoft.com/office/officeart/2005/8/layout/process4"/>
    <dgm:cxn modelId="{8B6886B2-7EC6-4542-B13F-774D0DDE6E9A}" type="presParOf" srcId="{75946A95-2CDD-48DB-9A12-968355CD4BFD}" destId="{91CFAAAA-8F33-4FB6-9CD6-F4DCBFF587F1}" srcOrd="4" destOrd="0" presId="urn:microsoft.com/office/officeart/2005/8/layout/process4"/>
    <dgm:cxn modelId="{F53544DD-486A-41C5-9A92-F072716F991C}" type="presParOf" srcId="{91CFAAAA-8F33-4FB6-9CD6-F4DCBFF587F1}" destId="{622D67AE-4B8E-45E5-9D91-3647D85902F2}"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BBAF8-D240-4ED7-BDEF-56EE1CBC380E}">
      <dsp:nvSpPr>
        <dsp:cNvPr id="0" name=""/>
        <dsp:cNvSpPr/>
      </dsp:nvSpPr>
      <dsp:spPr>
        <a:xfrm>
          <a:off x="0" y="2043456"/>
          <a:ext cx="5072098" cy="67070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To study the effect of dynamic environment on the </a:t>
          </a:r>
          <a:r>
            <a:rPr lang="en-US" sz="2400" b="1" kern="1200" dirty="0" smtClean="0"/>
            <a:t>new material and new structure </a:t>
          </a:r>
          <a:endParaRPr lang="en-US" sz="1800" b="1" i="0" kern="1200" baseline="0" dirty="0"/>
        </a:p>
      </dsp:txBody>
      <dsp:txXfrm>
        <a:off x="0" y="2043456"/>
        <a:ext cx="5072098" cy="670707"/>
      </dsp:txXfrm>
    </dsp:sp>
    <dsp:sp modelId="{46A08281-8B1C-4741-8750-EE3C93759F34}">
      <dsp:nvSpPr>
        <dsp:cNvPr id="0" name=""/>
        <dsp:cNvSpPr/>
      </dsp:nvSpPr>
      <dsp:spPr>
        <a:xfrm rot="10800000">
          <a:off x="0" y="1021968"/>
          <a:ext cx="5072098" cy="1031548"/>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To discover </a:t>
          </a:r>
          <a:r>
            <a:rPr lang="en-US" sz="2400" b="1" kern="1200" dirty="0" smtClean="0"/>
            <a:t>potential defects </a:t>
          </a:r>
          <a:r>
            <a:rPr lang="en-US" sz="1800" kern="1200" dirty="0" smtClean="0"/>
            <a:t>of material and component</a:t>
          </a:r>
          <a:endParaRPr lang="zh-CN" sz="1800" kern="1200" dirty="0"/>
        </a:p>
      </dsp:txBody>
      <dsp:txXfrm rot="10800000">
        <a:off x="0" y="1021968"/>
        <a:ext cx="5072098" cy="670269"/>
      </dsp:txXfrm>
    </dsp:sp>
    <dsp:sp modelId="{622D67AE-4B8E-45E5-9D91-3647D85902F2}">
      <dsp:nvSpPr>
        <dsp:cNvPr id="0" name=""/>
        <dsp:cNvSpPr/>
      </dsp:nvSpPr>
      <dsp:spPr>
        <a:xfrm rot="10800000">
          <a:off x="0" y="479"/>
          <a:ext cx="5072098" cy="1031548"/>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To </a:t>
          </a:r>
          <a:r>
            <a:rPr lang="en-US" sz="2400" b="1" kern="1200" dirty="0" smtClean="0">
              <a:solidFill>
                <a:schemeClr val="bg1"/>
              </a:solidFill>
            </a:rPr>
            <a:t>verify design </a:t>
          </a:r>
          <a:r>
            <a:rPr lang="en-US" sz="1800" kern="1200" dirty="0" smtClean="0"/>
            <a:t>of satellite structure</a:t>
          </a:r>
          <a:endParaRPr lang="zh-CN" sz="1800" kern="1200" dirty="0"/>
        </a:p>
      </dsp:txBody>
      <dsp:txXfrm rot="10800000">
        <a:off x="0" y="479"/>
        <a:ext cx="5072098" cy="67026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2019-2-27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2019-2-27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sz="1200" b="0" dirty="0" smtClean="0">
                <a:latin typeface="Times New Roman" pitchFamily="18" charset="0"/>
                <a:cs typeface="Times New Roman" pitchFamily="18" charset="0"/>
              </a:rPr>
              <a:t>In earlier days when test facilities were more limited, it was argued that a dynamic environment for aerospace hardware could be simulated for qualification test purposes in terms of the damaging potential of the environment, without the need for fidelity of the test excitation to the detailed characteristics of the environment . the random vibration during liftoff could be simulated with a swept sinusoidal vibration designed to produce the same mechanical damage.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dirty="0" smtClean="0">
                <a:latin typeface="Times New Roman" pitchFamily="18" charset="0"/>
                <a:cs typeface="Times New Roman" pitchFamily="18" charset="0"/>
              </a:rPr>
              <a:t>Such equivalent damage concepts require the assumption of a specific mode of failure and a damage model to arrive at an appropriate excitation level and duration .Since the assumed mode of failure and damage model might be incorrect for the equipment of interest, there is a substantial increase in the risk that the resulting test criteria will severely </a:t>
            </a:r>
            <a:r>
              <a:rPr lang="en-US" altLang="zh-CN" sz="1200" b="0" dirty="0" err="1" smtClean="0">
                <a:latin typeface="Times New Roman" pitchFamily="18" charset="0"/>
                <a:cs typeface="Times New Roman" pitchFamily="18" charset="0"/>
              </a:rPr>
              <a:t>undertest</a:t>
            </a:r>
            <a:r>
              <a:rPr lang="en-US" altLang="zh-CN" sz="1200" b="0" dirty="0" smtClean="0">
                <a:latin typeface="Times New Roman" pitchFamily="18" charset="0"/>
                <a:cs typeface="Times New Roman" pitchFamily="18" charset="0"/>
              </a:rPr>
              <a:t> or </a:t>
            </a:r>
            <a:r>
              <a:rPr lang="en-US" altLang="zh-CN" sz="1200" b="0" dirty="0" err="1" smtClean="0">
                <a:latin typeface="Times New Roman" pitchFamily="18" charset="0"/>
                <a:cs typeface="Times New Roman" pitchFamily="18" charset="0"/>
              </a:rPr>
              <a:t>overtest</a:t>
            </a:r>
            <a:r>
              <a:rPr lang="en-US" altLang="zh-CN" sz="1200" b="0" dirty="0" smtClean="0">
                <a:latin typeface="Times New Roman" pitchFamily="18" charset="0"/>
                <a:cs typeface="Times New Roman" pitchFamily="18" charset="0"/>
              </a:rPr>
              <a:t> the equipment. With the increasing size and flexibility of modern test facilities, the use of equivalent damage concepts to arrive at test criteria is rarely required and is not recommended. Specifically, when feasible, qualification tests should be performed using an excitation that has the same basic characteristics as the dynamic environment of concern, e.g., random vibration environments should be simulated with random vibration excitations, transient environments should be simulated with transient excitations of similar duration, etc.</a:t>
            </a:r>
          </a:p>
          <a:p>
            <a:pPr marL="0" indent="0">
              <a:buNone/>
            </a:pPr>
            <a:endParaRPr lang="zh-CN" altLang="en-US" sz="1200" dirty="0" smtClean="0">
              <a:latin typeface="Times New Roman" pitchFamily="18" charset="0"/>
              <a:cs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extLst>
      <p:ext uri="{BB962C8B-B14F-4D97-AF65-F5344CB8AC3E}">
        <p14:creationId xmlns:p14="http://schemas.microsoft.com/office/powerpoint/2010/main" val="2320130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sz="1200" b="0" dirty="0" smtClean="0">
                <a:latin typeface="Times New Roman" pitchFamily="18" charset="0"/>
                <a:cs typeface="Times New Roman" pitchFamily="18" charset="0"/>
              </a:rPr>
              <a:t>For example, if a specific type of electrical equipment has a history of malfunctions induced by scrap-wire or poorly soldered wire junctions, then the application of a</a:t>
            </a:r>
          </a:p>
          <a:p>
            <a:pPr marL="0" indent="0">
              <a:buNone/>
            </a:pPr>
            <a:r>
              <a:rPr lang="en-US" altLang="zh-CN" sz="1200" b="0" dirty="0" smtClean="0">
                <a:latin typeface="Times New Roman" pitchFamily="18" charset="0"/>
                <a:cs typeface="Times New Roman" pitchFamily="18" charset="0"/>
              </a:rPr>
              <a:t>sinusoidal vibration at the resonance frequencies of wire bundles will quickly reveal such</a:t>
            </a:r>
          </a:p>
          <a:p>
            <a:pPr marL="0" indent="0">
              <a:buNone/>
            </a:pPr>
            <a:r>
              <a:rPr lang="en-US" altLang="zh-CN" sz="1200" b="0" dirty="0" smtClean="0">
                <a:latin typeface="Times New Roman" pitchFamily="18" charset="0"/>
                <a:cs typeface="Times New Roman" pitchFamily="18" charset="0"/>
              </a:rPr>
              <a:t>problems and, hence, constitutes a good test excitation even though there may be no sinusoidal</a:t>
            </a:r>
          </a:p>
          <a:p>
            <a:pPr marL="0" indent="0">
              <a:buNone/>
            </a:pPr>
            <a:r>
              <a:rPr lang="en-US" altLang="zh-CN" sz="1200" b="0" dirty="0" smtClean="0">
                <a:latin typeface="Times New Roman" pitchFamily="18" charset="0"/>
                <a:cs typeface="Times New Roman" pitchFamily="18" charset="0"/>
              </a:rPr>
              <a:t>vibrations in the service environment. The second and more common approach for space</a:t>
            </a:r>
          </a:p>
          <a:p>
            <a:pPr marL="0" indent="0">
              <a:buNone/>
            </a:pPr>
            <a:r>
              <a:rPr lang="en-US" altLang="zh-CN" sz="1200" b="0" dirty="0" smtClean="0">
                <a:latin typeface="Times New Roman" pitchFamily="18" charset="0"/>
                <a:cs typeface="Times New Roman" pitchFamily="18" charset="0"/>
              </a:rPr>
              <a:t>vehicle hardware is to apply an excitation that simulates the dynamic environments anticipated</a:t>
            </a:r>
          </a:p>
          <a:p>
            <a:pPr marL="0" indent="0">
              <a:buNone/>
            </a:pPr>
            <a:r>
              <a:rPr lang="en-US" altLang="zh-CN" sz="1200" b="0" dirty="0" smtClean="0">
                <a:latin typeface="Times New Roman" pitchFamily="18" charset="0"/>
                <a:cs typeface="Times New Roman" pitchFamily="18" charset="0"/>
              </a:rPr>
              <a:t>during service, similar to the qualification test, but usually at a less conservative (lower) level</a:t>
            </a:r>
          </a:p>
          <a:p>
            <a:pPr marL="0" indent="0">
              <a:buNone/>
            </a:pPr>
            <a:r>
              <a:rPr lang="en-US" altLang="zh-CN" sz="1200" b="0" dirty="0" smtClean="0">
                <a:latin typeface="Times New Roman" pitchFamily="18" charset="0"/>
                <a:cs typeface="Times New Roman" pitchFamily="18" charset="0"/>
              </a:rPr>
              <a:t>and a shorter duration.</a:t>
            </a: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extLst>
      <p:ext uri="{BB962C8B-B14F-4D97-AF65-F5344CB8AC3E}">
        <p14:creationId xmlns:p14="http://schemas.microsoft.com/office/powerpoint/2010/main" val="688914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动力学环境包括振动冲击噪声等。</a:t>
            </a: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13</a:t>
            </a:fld>
            <a:endParaRPr lang="zh-CN" altLang="en-US"/>
          </a:p>
        </p:txBody>
      </p:sp>
    </p:spTree>
    <p:extLst>
      <p:ext uri="{BB962C8B-B14F-4D97-AF65-F5344CB8AC3E}">
        <p14:creationId xmlns:p14="http://schemas.microsoft.com/office/powerpoint/2010/main" val="3507364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2000" dirty="0" smtClean="0"/>
              <a:t>Above environment may cause structure deformation or damage to satellites</a:t>
            </a:r>
            <a:endParaRPr lang="zh-CN" altLang="en-US" sz="2000"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2000" dirty="0" smtClean="0"/>
              <a:t>环境对航天结构造成破坏</a:t>
            </a:r>
            <a:endParaRPr lang="en-US" sz="2000" dirty="0" smtClean="0"/>
          </a:p>
          <a:p>
            <a:pPr marL="0" marR="0" lvl="1" indent="0" algn="l" defTabSz="914400" rtl="0" eaLnBrk="1" fontAlgn="auto" latinLnBrk="0" hangingPunct="1">
              <a:lnSpc>
                <a:spcPct val="100000"/>
              </a:lnSpc>
              <a:spcBef>
                <a:spcPts val="0"/>
              </a:spcBef>
              <a:spcAft>
                <a:spcPts val="0"/>
              </a:spcAft>
              <a:buClrTx/>
              <a:buSzTx/>
              <a:buFontTx/>
              <a:buNone/>
              <a:tabLst/>
              <a:defRPr/>
            </a:pPr>
            <a:endParaRPr lang="en-US" sz="2000" dirty="0" smtClean="0"/>
          </a:p>
          <a:p>
            <a:pPr marL="0" marR="0" lvl="1" indent="0" algn="l" defTabSz="914400" rtl="0" eaLnBrk="1" fontAlgn="auto" latinLnBrk="0" hangingPunct="1">
              <a:lnSpc>
                <a:spcPct val="100000"/>
              </a:lnSpc>
              <a:spcBef>
                <a:spcPts val="0"/>
              </a:spcBef>
              <a:spcAft>
                <a:spcPts val="0"/>
              </a:spcAft>
              <a:buClrTx/>
              <a:buSzTx/>
              <a:buFontTx/>
              <a:buNone/>
              <a:tabLst/>
              <a:defRPr/>
            </a:pPr>
            <a:endParaRPr lang="en-US" sz="2000" dirty="0" smtClean="0"/>
          </a:p>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smtClean="0"/>
              <a:t>These failures may affect the performance of satellites and even cause a complete failure of the whole flight mission</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sz="20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Times New Roman" pitchFamily="18" charset="0"/>
              </a:rPr>
              <a:t>In order to guarantee the reliability and the stability of satellite structure and payload in the whole lifespan, it is essential to conduct dynamic environment test in design and manufacturing processes.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Times New Roman" pitchFamily="18" charset="0"/>
              </a:rPr>
              <a:t>First of all, mathematical model of the satellite structure should be built. Various responses under the predicted dynamic environment are calculated and analyzed to check whether the satellite meets the design requirements, including displacement, velocity, acceleration, stress or strain.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Times New Roman" pitchFamily="18" charset="0"/>
              </a:rPr>
              <a:t>On the other hand, the environment test needs to be performed by the method of environmental simulation. It is required that test environment produced by test equipments must be similar to the real environment as closely as possible. </a:t>
            </a:r>
            <a:endParaRPr lang="zh-CN" altLang="en-US" sz="1200" kern="1200" dirty="0" smtClean="0">
              <a:solidFill>
                <a:schemeClr val="tx1"/>
              </a:solidFill>
              <a:latin typeface="+mn-lt"/>
              <a:ea typeface="+mn-ea"/>
              <a:cs typeface="Times New Roman" pitchFamily="18" charset="0"/>
            </a:endParaRPr>
          </a:p>
          <a:p>
            <a:endParaRPr lang="zh-CN" altLang="en-US" dirty="0" smtClean="0"/>
          </a:p>
          <a:p>
            <a:pPr marL="0" marR="0" lvl="1" indent="0" algn="l" defTabSz="914400" rtl="0" eaLnBrk="1" fontAlgn="auto" latinLnBrk="0" hangingPunct="1">
              <a:lnSpc>
                <a:spcPct val="100000"/>
              </a:lnSpc>
              <a:spcBef>
                <a:spcPts val="0"/>
              </a:spcBef>
              <a:spcAft>
                <a:spcPts val="0"/>
              </a:spcAft>
              <a:buClrTx/>
              <a:buSzTx/>
              <a:buFontTx/>
              <a:buNone/>
              <a:tabLst/>
              <a:defRPr/>
            </a:pPr>
            <a:endParaRPr lang="zh-CN" altLang="en-US" sz="1400" dirty="0" smtClean="0"/>
          </a:p>
          <a:p>
            <a:endParaRPr lang="zh-CN" altLang="en-US" dirty="0"/>
          </a:p>
        </p:txBody>
      </p:sp>
      <p:sp>
        <p:nvSpPr>
          <p:cNvPr id="4" name="灯片编号占位符 3"/>
          <p:cNvSpPr>
            <a:spLocks noGrp="1"/>
          </p:cNvSpPr>
          <p:nvPr>
            <p:ph type="sldNum" sz="quarter" idx="10"/>
          </p:nvPr>
        </p:nvSpPr>
        <p:spPr/>
        <p:txBody>
          <a:bodyPr/>
          <a:lstStyle/>
          <a:p>
            <a:fld id="{4AC79F3E-6D09-4A93-A47D-BF61FB4EB624}" type="slidenum">
              <a:rPr lang="zh-CN" altLang="en-US" smtClean="0"/>
              <a:pPr/>
              <a:t>14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In order to guarantee that satellite structure, subsystems and units can endure the possible dynamic environment, it is essential to conduct sufficient environment test in addition to the well design, manufacturing and assembly.</a:t>
            </a:r>
          </a:p>
          <a:p>
            <a:r>
              <a:rPr lang="zh-CN" altLang="en-US" sz="1200" kern="1200" dirty="0" smtClean="0">
                <a:solidFill>
                  <a:schemeClr val="tx1"/>
                </a:solidFill>
                <a:latin typeface="+mn-lt"/>
                <a:ea typeface="+mn-ea"/>
                <a:cs typeface="+mn-cs"/>
              </a:rPr>
              <a:t>验证设计，发现缺陷，研究新材料新结构等</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pPr marL="742950" lvl="1" indent="-285750">
              <a:spcBef>
                <a:spcPct val="20000"/>
              </a:spcBef>
              <a:buBlip>
                <a:blip r:embed="rId3"/>
              </a:buBlip>
              <a:defRPr/>
            </a:pPr>
            <a:r>
              <a:rPr lang="en-US" sz="2400" dirty="0" smtClean="0"/>
              <a:t>To verify the design of satellite structure and verify whether satellite structure can endure various dynamic environment</a:t>
            </a:r>
          </a:p>
          <a:p>
            <a:pPr marL="742950" lvl="1" indent="-285750">
              <a:spcBef>
                <a:spcPct val="20000"/>
              </a:spcBef>
              <a:buBlip>
                <a:blip r:embed="rId3"/>
              </a:buBlip>
              <a:defRPr/>
            </a:pPr>
            <a:r>
              <a:rPr lang="en-US" sz="2400" dirty="0" smtClean="0"/>
              <a:t>To discover the potential defects of material and component in the process of the manufacturing and assembly in order to reduce the early failure and increase the in-orbiting reliability</a:t>
            </a:r>
          </a:p>
          <a:p>
            <a:pPr marL="742950" lvl="1" indent="-285750">
              <a:spcBef>
                <a:spcPct val="20000"/>
              </a:spcBef>
              <a:buBlip>
                <a:blip r:embed="rId3"/>
              </a:buBlip>
              <a:defRPr/>
            </a:pPr>
            <a:r>
              <a:rPr lang="en-US" sz="2400" dirty="0" smtClean="0"/>
              <a:t>To study the effect of dynamic environment on the new material and new structure and to study the effectiveness of various vibration isolation and attenuation measures</a:t>
            </a:r>
            <a:r>
              <a:rPr kumimoji="0" lang="en-US" altLang="zh-CN" sz="2800" b="0" i="0" u="none" strike="noStrike" kern="1200" cap="none" spc="0" normalizeH="0" baseline="0" noProof="0" dirty="0" smtClean="0">
                <a:ln>
                  <a:noFill/>
                </a:ln>
                <a:solidFill>
                  <a:schemeClr val="tx1"/>
                </a:solidFill>
                <a:effectLst/>
                <a:uLnTx/>
                <a:uFillTx/>
                <a:latin typeface="+mn-lt"/>
                <a:ea typeface="宋体" charset="-122"/>
                <a:cs typeface="+mn-cs"/>
              </a:rPr>
              <a:t/>
            </a:r>
            <a:br>
              <a:rPr kumimoji="0" lang="en-US" altLang="zh-CN" sz="2800" b="0" i="0" u="none" strike="noStrike" kern="1200" cap="none" spc="0" normalizeH="0" baseline="0" noProof="0" dirty="0" smtClean="0">
                <a:ln>
                  <a:noFill/>
                </a:ln>
                <a:solidFill>
                  <a:schemeClr val="tx1"/>
                </a:solidFill>
                <a:effectLst/>
                <a:uLnTx/>
                <a:uFillTx/>
                <a:latin typeface="+mn-lt"/>
                <a:ea typeface="宋体" charset="-122"/>
                <a:cs typeface="+mn-cs"/>
              </a:rPr>
            </a:br>
            <a:endParaRPr lang="en-US" sz="1200" kern="1200" dirty="0" smtClean="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AC79F3E-6D09-4A93-A47D-BF61FB4EB624}" type="slidenum">
              <a:rPr lang="zh-CN" altLang="en-US" smtClean="0"/>
              <a:pPr/>
              <a:t>15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headEnd/>
            <a:tailEnd/>
          </a:ln>
        </p:spPr>
      </p:sp>
      <p:sp>
        <p:nvSpPr>
          <p:cNvPr id="573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ltLang="zh-CN" dirty="0" smtClean="0"/>
              <a:t>80% </a:t>
            </a:r>
            <a:r>
              <a:rPr lang="en-US" altLang="zh-CN" dirty="0" err="1" smtClean="0"/>
              <a:t>TVt</a:t>
            </a:r>
            <a:r>
              <a:rPr lang="en-US" altLang="zh-CN" dirty="0" smtClean="0"/>
              <a:t> </a:t>
            </a:r>
            <a:r>
              <a:rPr lang="zh-CN" altLang="en-US" dirty="0" smtClean="0"/>
              <a:t>应用</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headEnd/>
            <a:tailEnd/>
          </a:ln>
        </p:spPr>
      </p:sp>
      <p:sp>
        <p:nvSpPr>
          <p:cNvPr id="573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ltLang="zh-CN" smtClean="0"/>
              <a:t>80% TVt</a:t>
            </a:r>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headEnd/>
            <a:tailEnd/>
          </a:ln>
        </p:spPr>
      </p:sp>
      <p:sp>
        <p:nvSpPr>
          <p:cNvPr id="573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ltLang="zh-CN" smtClean="0"/>
              <a:t>80% TVt</a:t>
            </a:r>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headEnd/>
            <a:tailEnd/>
          </a:ln>
        </p:spPr>
      </p:sp>
      <p:sp>
        <p:nvSpPr>
          <p:cNvPr id="573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ltLang="zh-CN" smtClean="0"/>
              <a:t>80% TVt</a:t>
            </a:r>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bwMode="auto">
          <a:noFill/>
          <a:ln>
            <a:solidFill>
              <a:srgbClr val="000000"/>
            </a:solidFill>
            <a:miter lim="800000"/>
            <a:headEnd/>
            <a:tailEnd/>
          </a:ln>
        </p:spPr>
      </p:sp>
      <p:sp>
        <p:nvSpPr>
          <p:cNvPr id="4301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ltLang="zh-CN" smtClean="0"/>
              <a:t>80% TVt</a:t>
            </a:r>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8"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494849" y="540860"/>
            <a:ext cx="1961498" cy="1231277"/>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a:prstGeom prst="rect">
            <a:avLst/>
          </a:prstGeom>
        </p:spPr>
        <p:txBody>
          <a:bodyPr/>
          <a:lstStyle/>
          <a:p>
            <a:fld id="{5577212C-2291-4371-814D-183C385A0AF7}" type="datetime1">
              <a:rPr lang="zh-CN" altLang="en-US" smtClean="0"/>
              <a:pPr/>
              <a:t>2019-2-27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484A4AA-26EC-4440-BEFE-3138EE7B1813}" type="slidenum">
              <a:rPr lang="zh-CN" altLang="en-US" smtClean="0"/>
              <a:pPr/>
              <a:t>‹#›</a:t>
            </a:fld>
            <a:endParaRPr lang="zh-CN" altLang="en-US"/>
          </a:p>
        </p:txBody>
      </p:sp>
    </p:spTree>
    <p:extLst>
      <p:ext uri="{BB962C8B-B14F-4D97-AF65-F5344CB8AC3E}">
        <p14:creationId xmlns:p14="http://schemas.microsoft.com/office/powerpoint/2010/main" val="3207842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8"/>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8"/>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9" cstate="print">
            <a:extLst>
              <a:ext uri="{28A0092B-C50C-407E-A947-70E740481C1C}">
                <a14:useLocalDpi xmlns:a14="http://schemas.microsoft.com/office/drawing/2010/main" val="0"/>
              </a:ext>
            </a:extLst>
          </a:blip>
          <a:srcRect b="34726"/>
          <a:stretch/>
        </p:blipFill>
        <p:spPr>
          <a:xfrm>
            <a:off x="171892" y="6339800"/>
            <a:ext cx="432048" cy="345317"/>
          </a:xfrm>
          <a:prstGeom prst="rect">
            <a:avLst/>
          </a:prstGeom>
        </p:spPr>
      </p:pic>
      <p:pic>
        <p:nvPicPr>
          <p:cNvPr id="10" name="Picture 2"/>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 id="2147483661" r:id="rId6"/>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Microsoft_Excel_97-2003____1.xls"/><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html:file://D:\921-3\080519\Jules%20Verne%20--%20First%20Robotic%20Supply%20Vehicle%20To%20Space%20Station%20--%20Passes%20Acoustic%20Test.mht!http://www.sciencedaily.com/images/2006/07/060703210043.jpg" TargetMode="External"/><Relationship Id="rId4" Type="http://schemas.openxmlformats.org/officeDocument/2006/relationships/image" Target="../media/image16.jpeg"/></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9.jpeg"/><Relationship Id="rId4" Type="http://schemas.openxmlformats.org/officeDocument/2006/relationships/image" Target="../media/image18.jpeg"/></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smtClean="0"/>
              <a:t>Environmental Test</a:t>
            </a:r>
            <a:endParaRPr lang="zh-CN" altLang="en-US" dirty="0"/>
          </a:p>
        </p:txBody>
      </p:sp>
      <p:sp>
        <p:nvSpPr>
          <p:cNvPr id="6" name="副标题 1"/>
          <p:cNvSpPr txBox="1">
            <a:spLocks/>
          </p:cNvSpPr>
          <p:nvPr/>
        </p:nvSpPr>
        <p:spPr>
          <a:xfrm>
            <a:off x="2195736" y="4797152"/>
            <a:ext cx="4914912" cy="1512168"/>
          </a:xfrm>
          <a:prstGeom prst="rect">
            <a:avLst/>
          </a:prstGeom>
        </p:spPr>
        <p:txBody>
          <a:bodyPr vert="horz" lIns="91440" tIns="45720" rIns="91440" bIns="45720" rtlCol="0">
            <a:noAutofit/>
          </a:bodyPr>
          <a:lstStyle/>
          <a:p>
            <a:pPr marL="0" marR="0" lvl="0" indent="0" algn="ctr" defTabSz="914400" rtl="0" eaLnBrk="1" fontAlgn="auto" latinLnBrk="0" hangingPunct="1">
              <a:lnSpc>
                <a:spcPct val="150000"/>
              </a:lnSpc>
              <a:spcBef>
                <a:spcPts val="0"/>
              </a:spcBef>
              <a:spcAft>
                <a:spcPts val="0"/>
              </a:spcAft>
              <a:buClrTx/>
              <a:buSzTx/>
              <a:buFont typeface="Arial" pitchFamily="34" charset="0"/>
              <a:buNone/>
              <a:tabLst/>
              <a:defRPr/>
            </a:pPr>
            <a:r>
              <a:rPr kumimoji="0" lang="en-US" altLang="zh-CN" sz="28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微软雅黑" pitchFamily="34" charset="-122"/>
                <a:ea typeface="微软雅黑" pitchFamily="34" charset="-122"/>
                <a:cs typeface="+mn-cs"/>
              </a:rPr>
              <a:t>DFH SATELLITE </a:t>
            </a:r>
            <a:r>
              <a:rPr kumimoji="0" lang="en-US" altLang="zh-CN" sz="28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微软雅黑" pitchFamily="34" charset="-122"/>
                <a:ea typeface="微软雅黑" pitchFamily="34" charset="-122"/>
                <a:cs typeface="+mn-cs"/>
              </a:rPr>
              <a:t>CO.,LTD</a:t>
            </a:r>
            <a:endParaRPr kumimoji="0" lang="en-US" altLang="zh-CN" sz="28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微软雅黑" pitchFamily="34" charset="-122"/>
              <a:ea typeface="微软雅黑" pitchFamily="34" charset="-122"/>
              <a:cs typeface="+mn-cs"/>
            </a:endParaRPr>
          </a:p>
          <a:p>
            <a:pPr lvl="0" algn="ctr">
              <a:lnSpc>
                <a:spcPct val="150000"/>
              </a:lnSpc>
            </a:pPr>
            <a:r>
              <a:rPr lang="en-US" altLang="zh-CN" sz="2800" b="1" dirty="0" smtClean="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February</a:t>
            </a:r>
            <a:r>
              <a:rPr lang="en-US" altLang="zh-CN" sz="2800" b="1" dirty="0" smtClean="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 </a:t>
            </a:r>
            <a:r>
              <a:rPr kumimoji="0" lang="en-US" altLang="zh-CN" sz="28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微软雅黑" pitchFamily="34" charset="-122"/>
                <a:ea typeface="微软雅黑" pitchFamily="34" charset="-122"/>
                <a:cs typeface="+mn-cs"/>
              </a:rPr>
              <a:t>2019</a:t>
            </a:r>
            <a:endParaRPr kumimoji="0" lang="en-US" altLang="zh-CN" sz="28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微软雅黑" pitchFamily="34" charset="-122"/>
              <a:ea typeface="微软雅黑"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 typeface="Arial" pitchFamily="34" charset="0"/>
              <a:buNone/>
              <a:tabLst/>
              <a:defRPr/>
            </a:pPr>
            <a:endParaRPr kumimoji="0" lang="zh-CN" altLang="en-US" sz="32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微软雅黑" pitchFamily="34" charset="-122"/>
              <a:ea typeface="微软雅黑"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 typeface="Arial" pitchFamily="34" charset="0"/>
              <a:buNone/>
              <a:tabLst/>
              <a:defRPr/>
            </a:pPr>
            <a:endParaRPr kumimoji="0" lang="zh-CN" altLang="en-US" sz="32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345297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 is Environmental Test</a:t>
            </a:r>
          </a:p>
          <a:p>
            <a:pPr marL="514350" indent="-514350">
              <a:buFont typeface="+mj-lt"/>
              <a:buAutoNum type="arabicPeriod"/>
            </a:pPr>
            <a:r>
              <a:rPr lang="en-US" altLang="zh-CN" sz="3100" dirty="0" smtClean="0">
                <a:latin typeface="Times New Roman" pitchFamily="18" charset="0"/>
                <a:cs typeface="Times New Roman" pitchFamily="18" charset="0"/>
              </a:rPr>
              <a:t>What is Dynamic Environment</a:t>
            </a:r>
          </a:p>
          <a:p>
            <a:pPr marL="514350" indent="-514350">
              <a:buFont typeface="+mj-lt"/>
              <a:buAutoNum type="arabicPeriod"/>
            </a:pPr>
            <a:r>
              <a:rPr lang="en-US" altLang="zh-CN" sz="3100" dirty="0" smtClean="0">
                <a:latin typeface="Times New Roman" pitchFamily="18" charset="0"/>
                <a:cs typeface="Times New Roman" pitchFamily="18" charset="0"/>
              </a:rPr>
              <a:t>Dynamic Test Matrix and Level</a:t>
            </a:r>
          </a:p>
          <a:p>
            <a:pPr marL="514350" indent="-514350">
              <a:buFont typeface="+mj-lt"/>
              <a:buAutoNum type="arabicPeriod"/>
            </a:pPr>
            <a:r>
              <a:rPr lang="en-US" altLang="zh-CN" sz="3100" dirty="0" smtClean="0">
                <a:latin typeface="Times New Roman" pitchFamily="18" charset="0"/>
                <a:cs typeface="Times New Roman" pitchFamily="18" charset="0"/>
              </a:rPr>
              <a:t>Dynamic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What is Environmental Test</a:t>
            </a:r>
          </a:p>
          <a:p>
            <a:pPr marL="514350" indent="-514350">
              <a:buFont typeface="+mj-lt"/>
              <a:buAutoNum type="arabicPeriod"/>
            </a:pPr>
            <a:r>
              <a:rPr lang="en-US" altLang="zh-CN" sz="3100" dirty="0" smtClean="0">
                <a:latin typeface="Times New Roman" pitchFamily="18" charset="0"/>
                <a:cs typeface="Times New Roman" pitchFamily="18" charset="0"/>
              </a:rPr>
              <a:t>What is Dynamic Environment</a:t>
            </a:r>
          </a:p>
          <a:p>
            <a:pPr marL="514350" indent="-514350">
              <a:buFont typeface="+mj-lt"/>
              <a:buAutoNum type="arabicPeriod"/>
            </a:pPr>
            <a:r>
              <a:rPr lang="en-US" altLang="zh-CN" sz="3100" dirty="0" smtClean="0">
                <a:latin typeface="Times New Roman" pitchFamily="18" charset="0"/>
                <a:cs typeface="Times New Roman" pitchFamily="18" charset="0"/>
              </a:rPr>
              <a:t>Dynamic Test Matrix and Level</a:t>
            </a:r>
          </a:p>
          <a:p>
            <a:pPr marL="514350" indent="-514350">
              <a:buFont typeface="+mj-lt"/>
              <a:buAutoNum type="arabicPeriod"/>
            </a:pPr>
            <a:r>
              <a:rPr lang="en-US" altLang="zh-CN" sz="3100" dirty="0" smtClean="0">
                <a:latin typeface="Times New Roman" pitchFamily="18" charset="0"/>
                <a:cs typeface="Times New Roman" pitchFamily="18" charset="0"/>
              </a:rPr>
              <a:t>Dynamic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p:cNvSpPr>
          <p:nvPr>
            <p:ph idx="1"/>
          </p:nvPr>
        </p:nvSpPr>
        <p:spPr>
          <a:xfrm>
            <a:off x="457200" y="1500188"/>
            <a:ext cx="8229600" cy="4525962"/>
          </a:xfrm>
        </p:spPr>
        <p:txBody>
          <a:bodyPr>
            <a:normAutofit fontScale="92500" lnSpcReduction="10000"/>
          </a:bodyPr>
          <a:lstStyle/>
          <a:p>
            <a:pPr>
              <a:buFont typeface="Arial" charset="0"/>
              <a:buNone/>
            </a:pPr>
            <a:r>
              <a:rPr lang="en-US" altLang="zh-CN" sz="3000" smtClean="0">
                <a:latin typeface="微软雅黑" pitchFamily="34" charset="-122"/>
                <a:ea typeface="微软雅黑" pitchFamily="34" charset="-122"/>
                <a:cs typeface="Times New Roman" pitchFamily="18" charset="0"/>
              </a:rPr>
              <a:t>Test</a:t>
            </a:r>
            <a:endParaRPr lang="zh-CN" altLang="en-US" sz="3000" smtClean="0">
              <a:latin typeface="微软雅黑" pitchFamily="34" charset="-122"/>
              <a:ea typeface="微软雅黑" pitchFamily="34" charset="-122"/>
              <a:cs typeface="Times New Roman" pitchFamily="18" charset="0"/>
            </a:endParaRPr>
          </a:p>
          <a:p>
            <a:r>
              <a:rPr lang="en-US" altLang="zh-CN" sz="2400" smtClean="0">
                <a:ea typeface="微软雅黑" pitchFamily="34" charset="-122"/>
                <a:cs typeface="Times New Roman" pitchFamily="18" charset="0"/>
              </a:rPr>
              <a:t>Testing is generally the method to verify that hardware items meet allocated system requirements during and following exposure to applicable environments. </a:t>
            </a:r>
          </a:p>
          <a:p>
            <a:r>
              <a:rPr lang="en-US" altLang="zh-CN" sz="2400" smtClean="0">
                <a:ea typeface="微软雅黑" pitchFamily="34" charset="-122"/>
                <a:cs typeface="Times New Roman" pitchFamily="18" charset="0"/>
              </a:rPr>
              <a:t>Testing includes an explicit measure of performance during exposure to an applicable environment, or it may be a measurement coupled with an analysis or other demonstration.</a:t>
            </a: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D7B8084D-D69C-4690-83EE-8C3CA308F76C}" type="slidenum">
              <a:rPr lang="zh-CN" altLang="en-US" smtClean="0"/>
              <a:pPr>
                <a:defRPr/>
              </a:pPr>
              <a:t>4</a:t>
            </a:fld>
            <a:endParaRPr lang="zh-CN" altLang="en-US"/>
          </a:p>
        </p:txBody>
      </p:sp>
    </p:spTree>
    <p:extLst>
      <p:ext uri="{BB962C8B-B14F-4D97-AF65-F5344CB8AC3E}">
        <p14:creationId xmlns:p14="http://schemas.microsoft.com/office/powerpoint/2010/main" val="14433543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p:cNvSpPr>
          <p:nvPr>
            <p:ph idx="1"/>
          </p:nvPr>
        </p:nvSpPr>
        <p:spPr>
          <a:xfrm>
            <a:off x="457200" y="1500188"/>
            <a:ext cx="8229600" cy="4525962"/>
          </a:xfrm>
        </p:spPr>
        <p:txBody>
          <a:bodyPr>
            <a:normAutofit fontScale="77500" lnSpcReduction="20000"/>
          </a:bodyPr>
          <a:lstStyle/>
          <a:p>
            <a:pPr>
              <a:buFont typeface="Arial" charset="0"/>
              <a:buNone/>
            </a:pPr>
            <a:r>
              <a:rPr lang="en-US" altLang="zh-CN" sz="3000" dirty="0" smtClean="0">
                <a:latin typeface="微软雅黑" pitchFamily="34" charset="-122"/>
                <a:ea typeface="微软雅黑" pitchFamily="34" charset="-122"/>
                <a:cs typeface="Times New Roman" pitchFamily="18" charset="0"/>
              </a:rPr>
              <a:t>Environment</a:t>
            </a:r>
            <a:endParaRPr lang="zh-CN" altLang="en-US" sz="3000" dirty="0" smtClean="0">
              <a:latin typeface="微软雅黑" pitchFamily="34" charset="-122"/>
              <a:ea typeface="微软雅黑" pitchFamily="34" charset="-122"/>
              <a:cs typeface="Times New Roman" pitchFamily="18" charset="0"/>
            </a:endParaRPr>
          </a:p>
          <a:p>
            <a:r>
              <a:rPr lang="en-US" altLang="zh-CN" sz="2400" dirty="0" smtClean="0">
                <a:ea typeface="微软雅黑" pitchFamily="34" charset="-122"/>
                <a:cs typeface="Times New Roman" pitchFamily="18" charset="0"/>
              </a:rPr>
              <a:t>The complex flight environment involves a combination of conditions that are usually resolved into individual test environments. </a:t>
            </a:r>
          </a:p>
          <a:p>
            <a:r>
              <a:rPr lang="en-US" altLang="zh-CN" sz="2400" dirty="0" smtClean="0">
                <a:ea typeface="微软雅黑" pitchFamily="34" charset="-122"/>
                <a:cs typeface="Times New Roman" pitchFamily="18" charset="0"/>
              </a:rPr>
              <a:t>Each test environment should be based on actual flight data, scaled if necessary for differences in parameters, or if more reliable, by analytical prediction or a combination of analysis and flight data. The flight data may be from the current flight system, or from other flight systems if configuration variations are accounted for and properly scaled.</a:t>
            </a:r>
          </a:p>
        </p:txBody>
      </p:sp>
      <p:sp>
        <p:nvSpPr>
          <p:cNvPr id="3" name="标题 3"/>
          <p:cNvSpPr txBox="1">
            <a:spLocks noChangeArrowheads="1"/>
          </p:cNvSpPr>
          <p:nvPr/>
        </p:nvSpPr>
        <p:spPr bwMode="auto">
          <a:xfrm>
            <a:off x="248376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9F6EF4E2-D333-4E53-AFA2-ADF48205E639}" type="slidenum">
              <a:rPr lang="zh-CN" altLang="en-US" smtClean="0"/>
              <a:pPr>
                <a:defRPr/>
              </a:pPr>
              <a:t>5</a:t>
            </a:fld>
            <a:endParaRPr lang="zh-CN" altLang="en-US"/>
          </a:p>
        </p:txBody>
      </p:sp>
    </p:spTree>
    <p:extLst>
      <p:ext uri="{BB962C8B-B14F-4D97-AF65-F5344CB8AC3E}">
        <p14:creationId xmlns:p14="http://schemas.microsoft.com/office/powerpoint/2010/main" val="23580367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2"/>
          <p:cNvSpPr>
            <a:spLocks noGrp="1"/>
          </p:cNvSpPr>
          <p:nvPr>
            <p:ph idx="1"/>
          </p:nvPr>
        </p:nvSpPr>
        <p:spPr>
          <a:xfrm>
            <a:off x="457200" y="1500188"/>
            <a:ext cx="8229600" cy="4525962"/>
          </a:xfrm>
        </p:spPr>
        <p:txBody>
          <a:bodyPr/>
          <a:lstStyle/>
          <a:p>
            <a:pPr>
              <a:buFont typeface="Arial" charset="0"/>
              <a:buNone/>
            </a:pPr>
            <a:r>
              <a:rPr lang="en-US" altLang="zh-CN" sz="3000" smtClean="0">
                <a:latin typeface="微软雅黑" pitchFamily="34" charset="-122"/>
                <a:ea typeface="微软雅黑" pitchFamily="34" charset="-122"/>
                <a:cs typeface="Times New Roman" pitchFamily="18" charset="0"/>
              </a:rPr>
              <a:t>Test category by purpose</a:t>
            </a:r>
            <a:endParaRPr lang="en-US" altLang="zh-CN" sz="2400" smtClean="0">
              <a:ea typeface="微软雅黑" pitchFamily="34" charset="-122"/>
              <a:cs typeface="Times New Roman" pitchFamily="18" charset="0"/>
            </a:endParaRPr>
          </a:p>
          <a:p>
            <a:endParaRPr lang="en-US" altLang="zh-CN" sz="1200" smtClean="0">
              <a:ea typeface="微软雅黑" pitchFamily="34" charset="-122"/>
              <a:cs typeface="Times New Roman" pitchFamily="18" charset="0"/>
            </a:endParaRPr>
          </a:p>
          <a:p>
            <a:pPr marL="179388" lvl="1">
              <a:buFont typeface="Arial" charset="0"/>
              <a:buChar char="■"/>
            </a:pPr>
            <a:r>
              <a:rPr lang="en-US" altLang="zh-CN" sz="2400" smtClean="0">
                <a:ea typeface="微软雅黑" pitchFamily="34" charset="-122"/>
                <a:cs typeface="Times New Roman" pitchFamily="18" charset="0"/>
                <a:sym typeface="Wingdings" pitchFamily="2" charset="2"/>
              </a:rPr>
              <a:t> Development Tests</a:t>
            </a:r>
          </a:p>
          <a:p>
            <a:pPr marL="179388" lvl="1">
              <a:buFont typeface="Arial" charset="0"/>
              <a:buChar char="■"/>
            </a:pPr>
            <a:endParaRPr lang="en-US" altLang="zh-CN" sz="2400" smtClean="0">
              <a:ea typeface="微软雅黑" pitchFamily="34" charset="-122"/>
              <a:cs typeface="Times New Roman" pitchFamily="18" charset="0"/>
              <a:sym typeface="Wingdings" pitchFamily="2" charset="2"/>
            </a:endParaRPr>
          </a:p>
          <a:p>
            <a:pPr marL="179388" lvl="1">
              <a:buFont typeface="Arial" charset="0"/>
              <a:buChar char="■"/>
            </a:pPr>
            <a:r>
              <a:rPr lang="en-US" altLang="zh-CN" sz="2400" smtClean="0">
                <a:ea typeface="微软雅黑" pitchFamily="34" charset="-122"/>
                <a:cs typeface="Times New Roman" pitchFamily="18" charset="0"/>
                <a:sym typeface="Wingdings" pitchFamily="2" charset="2"/>
              </a:rPr>
              <a:t> Qualification Tests</a:t>
            </a:r>
          </a:p>
          <a:p>
            <a:pPr marL="179388" lvl="1">
              <a:buFont typeface="Arial" charset="0"/>
              <a:buChar char="■"/>
            </a:pPr>
            <a:endParaRPr lang="en-US" altLang="zh-CN" sz="2400" smtClean="0">
              <a:ea typeface="微软雅黑" pitchFamily="34" charset="-122"/>
              <a:cs typeface="Times New Roman" pitchFamily="18" charset="0"/>
              <a:sym typeface="Wingdings" pitchFamily="2" charset="2"/>
            </a:endParaRPr>
          </a:p>
          <a:p>
            <a:pPr marL="179388" lvl="1">
              <a:buFont typeface="Arial" charset="0"/>
              <a:buChar char="■"/>
            </a:pPr>
            <a:r>
              <a:rPr lang="en-US" altLang="zh-CN" sz="2400" smtClean="0">
                <a:ea typeface="微软雅黑" pitchFamily="34" charset="-122"/>
                <a:cs typeface="Times New Roman" pitchFamily="18" charset="0"/>
                <a:sym typeface="Wingdings" pitchFamily="2" charset="2"/>
              </a:rPr>
              <a:t> Acceptance Tests</a:t>
            </a:r>
          </a:p>
          <a:p>
            <a:endParaRPr lang="en-US" altLang="zh-CN" sz="2400" smtClean="0">
              <a:ea typeface="微软雅黑" pitchFamily="34" charset="-122"/>
              <a:cs typeface="Times New Roman" pitchFamily="18" charset="0"/>
            </a:endParaRP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CB1B9E38-41E9-463A-A002-BE171B207D89}" type="slidenum">
              <a:rPr lang="zh-CN" altLang="en-US" smtClean="0"/>
              <a:pPr>
                <a:defRPr/>
              </a:pPr>
              <a:t>6</a:t>
            </a:fld>
            <a:endParaRPr lang="zh-CN" altLang="en-US"/>
          </a:p>
        </p:txBody>
      </p:sp>
    </p:spTree>
    <p:extLst>
      <p:ext uri="{BB962C8B-B14F-4D97-AF65-F5344CB8AC3E}">
        <p14:creationId xmlns:p14="http://schemas.microsoft.com/office/powerpoint/2010/main" val="470489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p:cNvSpPr>
          <p:nvPr>
            <p:ph idx="1"/>
          </p:nvPr>
        </p:nvSpPr>
        <p:spPr>
          <a:xfrm>
            <a:off x="457200" y="1500188"/>
            <a:ext cx="8229600" cy="4525962"/>
          </a:xfrm>
        </p:spPr>
        <p:txBody>
          <a:bodyPr>
            <a:normAutofit fontScale="77500" lnSpcReduction="20000"/>
          </a:bodyPr>
          <a:lstStyle/>
          <a:p>
            <a:pPr>
              <a:buFont typeface="Arial" charset="0"/>
              <a:buNone/>
            </a:pPr>
            <a:r>
              <a:rPr lang="en-US" altLang="zh-CN" sz="3000" dirty="0" smtClean="0">
                <a:latin typeface="微软雅黑" pitchFamily="34" charset="-122"/>
                <a:ea typeface="微软雅黑" pitchFamily="34" charset="-122"/>
                <a:cs typeface="Times New Roman" pitchFamily="18" charset="0"/>
              </a:rPr>
              <a:t>Test category by purpose</a:t>
            </a:r>
            <a:endParaRPr lang="en-US" altLang="zh-CN" sz="2400" dirty="0" smtClean="0">
              <a:ea typeface="微软雅黑" pitchFamily="34" charset="-122"/>
              <a:cs typeface="Times New Roman" pitchFamily="18" charset="0"/>
            </a:endParaRPr>
          </a:p>
          <a:p>
            <a:endParaRPr lang="en-US" altLang="zh-CN" sz="1200" dirty="0" smtClean="0">
              <a:ea typeface="微软雅黑" pitchFamily="34" charset="-122"/>
              <a:cs typeface="Times New Roman" pitchFamily="18" charset="0"/>
            </a:endParaRPr>
          </a:p>
          <a:p>
            <a:pPr marL="179388" lvl="1">
              <a:buFont typeface="Arial" charset="0"/>
              <a:buChar char="■"/>
            </a:pPr>
            <a:r>
              <a:rPr lang="en-US" altLang="zh-CN" sz="2400" dirty="0" smtClean="0">
                <a:ea typeface="微软雅黑" pitchFamily="34" charset="-122"/>
                <a:cs typeface="Times New Roman" pitchFamily="18" charset="0"/>
                <a:sym typeface="Wingdings" pitchFamily="2" charset="2"/>
              </a:rPr>
              <a:t> Development Tests</a:t>
            </a:r>
          </a:p>
          <a:p>
            <a:pPr marL="179388" lvl="1">
              <a:buFont typeface="Wingdings" pitchFamily="2" charset="2"/>
              <a:buChar char="ü"/>
            </a:pPr>
            <a:r>
              <a:rPr lang="en-US" altLang="zh-CN" sz="2000" dirty="0" smtClean="0">
                <a:ea typeface="微软雅黑" pitchFamily="34" charset="-122"/>
                <a:cs typeface="Times New Roman" pitchFamily="18" charset="0"/>
              </a:rPr>
              <a:t>It is an engineering characterization test</a:t>
            </a:r>
          </a:p>
          <a:p>
            <a:pPr marL="179388" lvl="1"/>
            <a:r>
              <a:rPr lang="en-US" altLang="zh-CN" sz="2000" dirty="0" smtClean="0">
                <a:ea typeface="微软雅黑" pitchFamily="34" charset="-122"/>
                <a:cs typeface="Times New Roman" pitchFamily="18" charset="0"/>
              </a:rPr>
              <a:t>validate new design concepts or the application of proven concepts and techniques to a new configuration.</a:t>
            </a:r>
          </a:p>
          <a:p>
            <a:pPr marL="179388" lvl="1"/>
            <a:r>
              <a:rPr lang="en-US" altLang="zh-CN" sz="2000" dirty="0" smtClean="0">
                <a:ea typeface="微软雅黑" pitchFamily="34" charset="-122"/>
                <a:cs typeface="Times New Roman" pitchFamily="18" charset="0"/>
              </a:rPr>
              <a:t>assist in the evolution of designs from the conceptual phase to the operational phase.</a:t>
            </a:r>
          </a:p>
          <a:p>
            <a:pPr marL="179388" lvl="1"/>
            <a:r>
              <a:rPr lang="en-US" altLang="zh-CN" sz="2000" dirty="0" smtClean="0">
                <a:ea typeface="微软雅黑" pitchFamily="34" charset="-122"/>
                <a:cs typeface="Times New Roman" pitchFamily="18" charset="0"/>
              </a:rPr>
              <a:t>reduce the risk involved in committing designs to the fabrication of qualification and flight model.</a:t>
            </a:r>
          </a:p>
          <a:p>
            <a:pPr marL="179388" lvl="1"/>
            <a:r>
              <a:rPr lang="en-US" altLang="zh-CN" sz="2000" dirty="0" smtClean="0">
                <a:ea typeface="微软雅黑" pitchFamily="34" charset="-122"/>
                <a:cs typeface="Times New Roman" pitchFamily="18" charset="0"/>
              </a:rPr>
              <a:t>validate qualification and acceptance test procedures.</a:t>
            </a:r>
          </a:p>
          <a:p>
            <a:pPr marL="179388" lvl="1"/>
            <a:r>
              <a:rPr lang="en-US" altLang="zh-CN" sz="2000" dirty="0" smtClean="0">
                <a:ea typeface="微软雅黑" pitchFamily="34" charset="-122"/>
                <a:cs typeface="Times New Roman" pitchFamily="18" charset="0"/>
              </a:rPr>
              <a:t>Investigate problems or concerns that arise after successful qualification.</a:t>
            </a: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C544DA34-7A00-4658-BFBA-010E439D4970}" type="slidenum">
              <a:rPr lang="zh-CN" altLang="en-US" smtClean="0"/>
              <a:pPr>
                <a:defRPr/>
              </a:pPr>
              <a:t>7</a:t>
            </a:fld>
            <a:endParaRPr lang="zh-CN" altLang="en-US"/>
          </a:p>
        </p:txBody>
      </p:sp>
    </p:spTree>
    <p:extLst>
      <p:ext uri="{BB962C8B-B14F-4D97-AF65-F5344CB8AC3E}">
        <p14:creationId xmlns:p14="http://schemas.microsoft.com/office/powerpoint/2010/main" val="42618367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Test purpose</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323528" y="1357298"/>
            <a:ext cx="8640960" cy="4768865"/>
          </a:xfrm>
        </p:spPr>
        <p:txBody>
          <a:bodyPr>
            <a:noAutofit/>
          </a:bodyPr>
          <a:lstStyle/>
          <a:p>
            <a:pPr marL="0" indent="0">
              <a:buNone/>
            </a:pPr>
            <a:r>
              <a:rPr lang="en-US" altLang="zh-CN" sz="1600" dirty="0">
                <a:latin typeface="Times New Roman" pitchFamily="18" charset="0"/>
                <a:cs typeface="Times New Roman" pitchFamily="18" charset="0"/>
              </a:rPr>
              <a:t>Qualification Tests</a:t>
            </a:r>
            <a:r>
              <a:rPr lang="en-US" altLang="zh-CN" sz="1600" b="0" dirty="0">
                <a:latin typeface="Times New Roman" pitchFamily="18" charset="0"/>
                <a:cs typeface="Times New Roman" pitchFamily="18" charset="0"/>
              </a:rPr>
              <a:t>. The purpose of a qualification test is to demonstrate with </a:t>
            </a:r>
            <a:r>
              <a:rPr lang="en-US" altLang="zh-CN" sz="1600" b="0" dirty="0" smtClean="0">
                <a:latin typeface="Times New Roman" pitchFamily="18" charset="0"/>
                <a:cs typeface="Times New Roman" pitchFamily="18" charset="0"/>
              </a:rPr>
              <a:t>margin that </a:t>
            </a:r>
            <a:r>
              <a:rPr lang="en-US" altLang="zh-CN" sz="1600" b="0" dirty="0">
                <a:latin typeface="Times New Roman" pitchFamily="18" charset="0"/>
                <a:cs typeface="Times New Roman" pitchFamily="18" charset="0"/>
              </a:rPr>
              <a:t>a hardware design is adequate to perform as are required throughout the mission (</a:t>
            </a:r>
            <a:r>
              <a:rPr lang="en-US" altLang="zh-CN" sz="1600" b="0" dirty="0" smtClean="0">
                <a:latin typeface="Times New Roman" pitchFamily="18" charset="0"/>
                <a:cs typeface="Times New Roman" pitchFamily="18" charset="0"/>
              </a:rPr>
              <a:t>pre-flight and </a:t>
            </a:r>
            <a:r>
              <a:rPr lang="en-US" altLang="zh-CN" sz="1600" b="0" dirty="0">
                <a:latin typeface="Times New Roman" pitchFamily="18" charset="0"/>
                <a:cs typeface="Times New Roman" pitchFamily="18" charset="0"/>
              </a:rPr>
              <a:t>flight) environmental exposures. It is usually applied to a single item of prototype </a:t>
            </a:r>
            <a:r>
              <a:rPr lang="en-US" altLang="zh-CN" sz="1600" b="0" dirty="0" smtClean="0">
                <a:latin typeface="Times New Roman" pitchFamily="18" charset="0"/>
                <a:cs typeface="Times New Roman" pitchFamily="18" charset="0"/>
              </a:rPr>
              <a:t>hardware that </a:t>
            </a:r>
            <a:r>
              <a:rPr lang="en-US" altLang="zh-CN" sz="1600" b="0" dirty="0">
                <a:latin typeface="Times New Roman" pitchFamily="18" charset="0"/>
                <a:cs typeface="Times New Roman" pitchFamily="18" charset="0"/>
              </a:rPr>
              <a:t>will not be flown, and is commonly a contractual requirement where a well documented </a:t>
            </a:r>
            <a:r>
              <a:rPr lang="en-US" altLang="zh-CN" sz="1600" b="0" dirty="0" smtClean="0">
                <a:latin typeface="Times New Roman" pitchFamily="18" charset="0"/>
                <a:cs typeface="Times New Roman" pitchFamily="18" charset="0"/>
              </a:rPr>
              <a:t>test specification </a:t>
            </a:r>
            <a:r>
              <a:rPr lang="en-US" altLang="zh-CN" sz="1600" b="0" dirty="0">
                <a:latin typeface="Times New Roman" pitchFamily="18" charset="0"/>
                <a:cs typeface="Times New Roman" pitchFamily="18" charset="0"/>
              </a:rPr>
              <a:t>is involved. Developmental tests are sometimes carried out on prototype </a:t>
            </a:r>
            <a:r>
              <a:rPr lang="en-US" altLang="zh-CN" sz="1600" b="0" dirty="0" smtClean="0">
                <a:latin typeface="Times New Roman" pitchFamily="18" charset="0"/>
                <a:cs typeface="Times New Roman" pitchFamily="18" charset="0"/>
              </a:rPr>
              <a:t>hardware to </a:t>
            </a:r>
            <a:r>
              <a:rPr lang="en-US" altLang="zh-CN" sz="1600" b="0" dirty="0">
                <a:latin typeface="Times New Roman" pitchFamily="18" charset="0"/>
                <a:cs typeface="Times New Roman" pitchFamily="18" charset="0"/>
              </a:rPr>
              <a:t>identify and correct design problems before the formal qualification test is performed. </a:t>
            </a:r>
            <a:r>
              <a:rPr lang="en-US" altLang="zh-CN" sz="1600" b="0" dirty="0" smtClean="0">
                <a:latin typeface="Times New Roman" pitchFamily="18" charset="0"/>
                <a:cs typeface="Times New Roman" pitchFamily="18" charset="0"/>
              </a:rPr>
              <a:t>Also, qualification </a:t>
            </a:r>
            <a:r>
              <a:rPr lang="en-US" altLang="zh-CN" sz="1600" b="0" dirty="0">
                <a:latin typeface="Times New Roman" pitchFamily="18" charset="0"/>
                <a:cs typeface="Times New Roman" pitchFamily="18" charset="0"/>
              </a:rPr>
              <a:t>test requirements might be based upon a general environmental test </a:t>
            </a:r>
            <a:r>
              <a:rPr lang="en-US" altLang="zh-CN" sz="1600" b="0" dirty="0" smtClean="0">
                <a:latin typeface="Times New Roman" pitchFamily="18" charset="0"/>
                <a:cs typeface="Times New Roman" pitchFamily="18" charset="0"/>
              </a:rPr>
              <a:t>specification. However</a:t>
            </a:r>
            <a:r>
              <a:rPr lang="en-US" altLang="zh-CN" sz="1600" b="0" dirty="0">
                <a:latin typeface="Times New Roman" pitchFamily="18" charset="0"/>
                <a:cs typeface="Times New Roman" pitchFamily="18" charset="0"/>
              </a:rPr>
              <a:t>, contracts usually allow deviations from the specified </a:t>
            </a:r>
            <a:r>
              <a:rPr lang="en-US" altLang="zh-CN" sz="1600" b="0" dirty="0" smtClean="0">
                <a:latin typeface="Times New Roman" pitchFamily="18" charset="0"/>
                <a:cs typeface="Times New Roman" pitchFamily="18" charset="0"/>
              </a:rPr>
              <a:t>test levels </a:t>
            </a:r>
            <a:r>
              <a:rPr lang="en-US" altLang="zh-CN" sz="1600" b="0" dirty="0">
                <a:latin typeface="Times New Roman" pitchFamily="18" charset="0"/>
                <a:cs typeface="Times New Roman" pitchFamily="18" charset="0"/>
              </a:rPr>
              <a:t>and/or durations in general environmental test documents, if it can be established </a:t>
            </a:r>
            <a:r>
              <a:rPr lang="en-US" altLang="zh-CN" sz="1600" b="0" dirty="0" smtClean="0">
                <a:latin typeface="Times New Roman" pitchFamily="18" charset="0"/>
                <a:cs typeface="Times New Roman" pitchFamily="18" charset="0"/>
              </a:rPr>
              <a:t>that different </a:t>
            </a:r>
            <a:r>
              <a:rPr lang="en-US" altLang="zh-CN" sz="1600" b="0" dirty="0">
                <a:latin typeface="Times New Roman" pitchFamily="18" charset="0"/>
                <a:cs typeface="Times New Roman" pitchFamily="18" charset="0"/>
              </a:rPr>
              <a:t>test conditions would be more suitable for the given hardware. In any case, the </a:t>
            </a:r>
            <a:r>
              <a:rPr lang="en-US" altLang="zh-CN" sz="1600" b="0" dirty="0" smtClean="0">
                <a:latin typeface="Times New Roman" pitchFamily="18" charset="0"/>
                <a:cs typeface="Times New Roman" pitchFamily="18" charset="0"/>
              </a:rPr>
              <a:t>basic purpose </a:t>
            </a:r>
            <a:r>
              <a:rPr lang="en-US" altLang="zh-CN" sz="1600" b="0" dirty="0">
                <a:latin typeface="Times New Roman" pitchFamily="18" charset="0"/>
                <a:cs typeface="Times New Roman" pitchFamily="18" charset="0"/>
              </a:rPr>
              <a:t>of a qualification test requires that the test conditions conservatively simulate the </a:t>
            </a:r>
            <a:r>
              <a:rPr lang="en-US" altLang="zh-CN" sz="1600" b="0" dirty="0" smtClean="0">
                <a:latin typeface="Times New Roman" pitchFamily="18" charset="0"/>
                <a:cs typeface="Times New Roman" pitchFamily="18" charset="0"/>
              </a:rPr>
              <a:t>basic characteristics </a:t>
            </a:r>
            <a:r>
              <a:rPr lang="en-US" altLang="zh-CN" sz="1600" b="0" dirty="0">
                <a:latin typeface="Times New Roman" pitchFamily="18" charset="0"/>
                <a:cs typeface="Times New Roman" pitchFamily="18" charset="0"/>
              </a:rPr>
              <a:t>of the anticipated dynamic excitations in the service environments</a:t>
            </a:r>
            <a:endParaRPr lang="zh-CN" altLang="en-US" sz="16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596384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457200" y="1500188"/>
            <a:ext cx="8229600" cy="4525962"/>
          </a:xfrm>
        </p:spPr>
        <p:txBody>
          <a:bodyPr>
            <a:normAutofit fontScale="85000" lnSpcReduction="10000"/>
          </a:bodyPr>
          <a:lstStyle/>
          <a:p>
            <a:pPr>
              <a:buFont typeface="Arial" charset="0"/>
              <a:buNone/>
            </a:pPr>
            <a:r>
              <a:rPr lang="en-US" altLang="zh-CN" sz="3000" smtClean="0">
                <a:latin typeface="微软雅黑" pitchFamily="34" charset="-122"/>
                <a:ea typeface="微软雅黑" pitchFamily="34" charset="-122"/>
                <a:cs typeface="Times New Roman" pitchFamily="18" charset="0"/>
              </a:rPr>
              <a:t>Test category by purpose</a:t>
            </a:r>
            <a:endParaRPr lang="en-US" altLang="zh-CN" sz="2400" smtClean="0">
              <a:ea typeface="微软雅黑" pitchFamily="34" charset="-122"/>
              <a:cs typeface="Times New Roman" pitchFamily="18" charset="0"/>
            </a:endParaRPr>
          </a:p>
          <a:p>
            <a:endParaRPr lang="en-US" altLang="zh-CN" sz="1200" smtClean="0">
              <a:ea typeface="微软雅黑" pitchFamily="34" charset="-122"/>
              <a:cs typeface="Times New Roman" pitchFamily="18" charset="0"/>
            </a:endParaRPr>
          </a:p>
          <a:p>
            <a:pPr marL="179388" lvl="1">
              <a:buFont typeface="Arial" charset="0"/>
              <a:buChar char="■"/>
            </a:pPr>
            <a:r>
              <a:rPr lang="en-US" altLang="zh-CN" sz="2400" smtClean="0">
                <a:ea typeface="微软雅黑" pitchFamily="34" charset="-122"/>
                <a:cs typeface="Times New Roman" pitchFamily="18" charset="0"/>
                <a:sym typeface="Wingdings" pitchFamily="2" charset="2"/>
              </a:rPr>
              <a:t> Qualification Tests</a:t>
            </a:r>
          </a:p>
          <a:p>
            <a:pPr marL="179388" lvl="1">
              <a:buFont typeface="Wingdings" pitchFamily="2" charset="2"/>
              <a:buChar char="ü"/>
            </a:pPr>
            <a:r>
              <a:rPr lang="en-US" altLang="zh-CN" sz="2000" smtClean="0">
                <a:ea typeface="微软雅黑" pitchFamily="34" charset="-122"/>
                <a:cs typeface="Times New Roman" pitchFamily="18" charset="0"/>
              </a:rPr>
              <a:t>Qualification tests will be conducted to demonstrate that the design, manufacturing process, and acceptance program produce mission items that meet specification requirements. </a:t>
            </a:r>
          </a:p>
          <a:p>
            <a:pPr marL="179388" lvl="1">
              <a:buFont typeface="Wingdings" pitchFamily="2" charset="2"/>
              <a:buChar char="ü"/>
            </a:pPr>
            <a:r>
              <a:rPr lang="en-US" altLang="zh-CN" sz="2000" smtClean="0">
                <a:ea typeface="微软雅黑" pitchFamily="34" charset="-122"/>
                <a:cs typeface="Times New Roman" pitchFamily="18" charset="0"/>
              </a:rPr>
              <a:t>In addition, the qualification tests will validate the planned acceptance program including test techniques, procedures, equipment, instrumentation, and software. The qualification test baseline will be tailored for each program. Each type of flight item that is to be acceptance tested will undergo a corresponding qualification test</a:t>
            </a: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F401EE88-150E-4E63-A94D-DACFC8FE609B}" type="slidenum">
              <a:rPr lang="zh-CN" altLang="en-US" smtClean="0"/>
              <a:pPr>
                <a:defRPr/>
              </a:pPr>
              <a:t>9</a:t>
            </a:fld>
            <a:endParaRPr lang="zh-CN" altLang="en-US"/>
          </a:p>
        </p:txBody>
      </p:sp>
    </p:spTree>
    <p:extLst>
      <p:ext uri="{BB962C8B-B14F-4D97-AF65-F5344CB8AC3E}">
        <p14:creationId xmlns:p14="http://schemas.microsoft.com/office/powerpoint/2010/main" val="8754161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marL="0" indent="0">
              <a:buNone/>
            </a:pPr>
            <a:r>
              <a:rPr lang="en-US" altLang="zh-CN" sz="2000" dirty="0">
                <a:latin typeface="Times New Roman" pitchFamily="18" charset="0"/>
                <a:cs typeface="Times New Roman" pitchFamily="18" charset="0"/>
              </a:rPr>
              <a:t>Acceptance Tests</a:t>
            </a:r>
            <a:r>
              <a:rPr lang="en-US" altLang="zh-CN" sz="2000" b="0" dirty="0">
                <a:latin typeface="Times New Roman" pitchFamily="18" charset="0"/>
                <a:cs typeface="Times New Roman" pitchFamily="18" charset="0"/>
              </a:rPr>
              <a:t>. An acceptance test is applied to all items of flight hardware,</a:t>
            </a:r>
          </a:p>
          <a:p>
            <a:pPr marL="0" indent="0">
              <a:buNone/>
            </a:pPr>
            <a:r>
              <a:rPr lang="en-US" altLang="zh-CN" sz="2000" b="0" dirty="0">
                <a:latin typeface="Times New Roman" pitchFamily="18" charset="0"/>
                <a:cs typeface="Times New Roman" pitchFamily="18" charset="0"/>
              </a:rPr>
              <a:t>whose design integrity has previously been verified by a qualification test on a prototype </a:t>
            </a:r>
            <a:r>
              <a:rPr lang="en-US" altLang="zh-CN" sz="2000" b="0" dirty="0" err="1" smtClean="0">
                <a:latin typeface="Times New Roman" pitchFamily="18" charset="0"/>
                <a:cs typeface="Times New Roman" pitchFamily="18" charset="0"/>
              </a:rPr>
              <a:t>item.The</a:t>
            </a:r>
            <a:r>
              <a:rPr lang="en-US" altLang="zh-CN" sz="2000" b="0" dirty="0" smtClean="0">
                <a:latin typeface="Times New Roman" pitchFamily="18" charset="0"/>
                <a:cs typeface="Times New Roman" pitchFamily="18" charset="0"/>
              </a:rPr>
              <a:t> </a:t>
            </a:r>
            <a:r>
              <a:rPr lang="en-US" altLang="zh-CN" sz="2000" b="0" dirty="0">
                <a:latin typeface="Times New Roman" pitchFamily="18" charset="0"/>
                <a:cs typeface="Times New Roman" pitchFamily="18" charset="0"/>
              </a:rPr>
              <a:t>goal is to detect workmanship errors and/or material defects in the manufacture </a:t>
            </a:r>
            <a:r>
              <a:rPr lang="en-US" altLang="zh-CN" sz="2000" b="0" dirty="0" smtClean="0">
                <a:latin typeface="Times New Roman" pitchFamily="18" charset="0"/>
                <a:cs typeface="Times New Roman" pitchFamily="18" charset="0"/>
              </a:rPr>
              <a:t>and assembly </a:t>
            </a:r>
            <a:r>
              <a:rPr lang="en-US" altLang="zh-CN" sz="2000" b="0" dirty="0">
                <a:latin typeface="Times New Roman" pitchFamily="18" charset="0"/>
                <a:cs typeface="Times New Roman" pitchFamily="18" charset="0"/>
              </a:rPr>
              <a:t>of the hardware, and to demonstrate that the hardware is representative of </a:t>
            </a:r>
            <a:r>
              <a:rPr lang="en-US" altLang="zh-CN" sz="2000" b="0" dirty="0" smtClean="0">
                <a:latin typeface="Times New Roman" pitchFamily="18" charset="0"/>
                <a:cs typeface="Times New Roman" pitchFamily="18" charset="0"/>
              </a:rPr>
              <a:t>the qualified </a:t>
            </a:r>
            <a:r>
              <a:rPr lang="en-US" altLang="zh-CN" sz="2000" b="0" dirty="0">
                <a:latin typeface="Times New Roman" pitchFamily="18" charset="0"/>
                <a:cs typeface="Times New Roman" pitchFamily="18" charset="0"/>
              </a:rPr>
              <a:t>design. There are two basic approaches to acceptance testing for </a:t>
            </a:r>
            <a:r>
              <a:rPr lang="en-US" altLang="zh-CN" sz="2000" b="0" dirty="0" smtClean="0">
                <a:latin typeface="Times New Roman" pitchFamily="18" charset="0"/>
                <a:cs typeface="Times New Roman" pitchFamily="18" charset="0"/>
              </a:rPr>
              <a:t>dynamic environments</a:t>
            </a:r>
            <a:r>
              <a:rPr lang="en-US" altLang="zh-CN" sz="2000" b="0" dirty="0">
                <a:latin typeface="Times New Roman" pitchFamily="18" charset="0"/>
                <a:cs typeface="Times New Roman" pitchFamily="18" charset="0"/>
              </a:rPr>
              <a:t>. The first approach is to devise a test that will quickly reveal </a:t>
            </a:r>
            <a:r>
              <a:rPr lang="en-US" altLang="zh-CN" sz="2000" b="0" dirty="0" smtClean="0">
                <a:latin typeface="Times New Roman" pitchFamily="18" charset="0"/>
                <a:cs typeface="Times New Roman" pitchFamily="18" charset="0"/>
              </a:rPr>
              <a:t>common workmanship </a:t>
            </a:r>
            <a:r>
              <a:rPr lang="en-US" altLang="zh-CN" sz="2000" b="0" dirty="0">
                <a:latin typeface="Times New Roman" pitchFamily="18" charset="0"/>
                <a:cs typeface="Times New Roman" pitchFamily="18" charset="0"/>
              </a:rPr>
              <a:t>errors and/or material defects as determined from prior experience and studies of</a:t>
            </a:r>
          </a:p>
          <a:p>
            <a:pPr marL="0" indent="0">
              <a:buNone/>
            </a:pPr>
            <a:r>
              <a:rPr lang="en-US" altLang="zh-CN" sz="2000" b="0" dirty="0">
                <a:latin typeface="Times New Roman" pitchFamily="18" charset="0"/>
                <a:cs typeface="Times New Roman" pitchFamily="18" charset="0"/>
              </a:rPr>
              <a:t>failure data for similar hardware, independent of the dynamic excitations in the </a:t>
            </a:r>
            <a:r>
              <a:rPr lang="en-US" altLang="zh-CN" sz="2000" b="0" dirty="0" smtClean="0">
                <a:latin typeface="Times New Roman" pitchFamily="18" charset="0"/>
                <a:cs typeface="Times New Roman" pitchFamily="18" charset="0"/>
              </a:rPr>
              <a:t>service environments</a:t>
            </a:r>
            <a:r>
              <a:rPr lang="en-US" altLang="zh-CN" sz="2000" b="0" dirty="0">
                <a:latin typeface="Times New Roman" pitchFamily="18" charset="0"/>
                <a:cs typeface="Times New Roman" pitchFamily="18" charset="0"/>
              </a:rPr>
              <a:t>. </a:t>
            </a:r>
            <a:endParaRPr lang="zh-CN" altLang="en-US" sz="20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444554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457200" y="1500188"/>
            <a:ext cx="8229600" cy="4525962"/>
          </a:xfrm>
        </p:spPr>
        <p:txBody>
          <a:bodyPr>
            <a:normAutofit fontScale="77500" lnSpcReduction="20000"/>
          </a:bodyPr>
          <a:lstStyle/>
          <a:p>
            <a:pPr>
              <a:buFont typeface="Arial" charset="0"/>
              <a:buNone/>
            </a:pPr>
            <a:r>
              <a:rPr lang="en-US" altLang="zh-CN" sz="3000" smtClean="0">
                <a:latin typeface="微软雅黑" pitchFamily="34" charset="-122"/>
                <a:ea typeface="微软雅黑" pitchFamily="34" charset="-122"/>
                <a:cs typeface="Times New Roman" pitchFamily="18" charset="0"/>
              </a:rPr>
              <a:t>Test category by purpose</a:t>
            </a:r>
            <a:endParaRPr lang="en-US" altLang="zh-CN" sz="2400" smtClean="0">
              <a:ea typeface="微软雅黑" pitchFamily="34" charset="-122"/>
              <a:cs typeface="Times New Roman" pitchFamily="18" charset="0"/>
            </a:endParaRPr>
          </a:p>
          <a:p>
            <a:endParaRPr lang="en-US" altLang="zh-CN" sz="1200" smtClean="0">
              <a:ea typeface="微软雅黑" pitchFamily="34" charset="-122"/>
              <a:cs typeface="Times New Roman" pitchFamily="18" charset="0"/>
            </a:endParaRPr>
          </a:p>
          <a:p>
            <a:pPr marL="179388" lvl="1">
              <a:buFont typeface="Arial" charset="0"/>
              <a:buChar char="■"/>
            </a:pPr>
            <a:r>
              <a:rPr lang="en-US" altLang="zh-CN" sz="2400" smtClean="0">
                <a:ea typeface="微软雅黑" pitchFamily="34" charset="-122"/>
                <a:cs typeface="Times New Roman" pitchFamily="18" charset="0"/>
                <a:sym typeface="Wingdings" pitchFamily="2" charset="2"/>
              </a:rPr>
              <a:t> Acceptance Tests</a:t>
            </a:r>
          </a:p>
          <a:p>
            <a:pPr marL="179388" lvl="1">
              <a:buFont typeface="Wingdings" pitchFamily="2" charset="2"/>
              <a:buChar char="ü"/>
            </a:pPr>
            <a:r>
              <a:rPr lang="en-US" altLang="zh-CN" sz="2000" smtClean="0">
                <a:ea typeface="微软雅黑" pitchFamily="34" charset="-122"/>
                <a:cs typeface="Times New Roman" pitchFamily="18" charset="0"/>
              </a:rPr>
              <a:t>Acceptance tests will be conducted as required to demonstrate the acceptability of each deliverable item. The tests will demonstrate conformance to specification requirements and provide quality-control assurance against workmanship or material deficiencies. </a:t>
            </a:r>
          </a:p>
          <a:p>
            <a:pPr marL="179388" lvl="1">
              <a:buFont typeface="Wingdings" pitchFamily="2" charset="2"/>
              <a:buChar char="ü"/>
            </a:pPr>
            <a:r>
              <a:rPr lang="en-US" altLang="zh-CN" sz="2000" smtClean="0">
                <a:ea typeface="微软雅黑" pitchFamily="34" charset="-122"/>
                <a:cs typeface="Times New Roman" pitchFamily="18" charset="0"/>
              </a:rPr>
              <a:t>Acceptance testing is intended to stress screen items to precipitate incipient failures due to latent defects in parts, materials, and workmanship.</a:t>
            </a:r>
          </a:p>
          <a:p>
            <a:pPr marL="179388" lvl="1">
              <a:buFont typeface="Wingdings" pitchFamily="2" charset="2"/>
              <a:buChar char="ü"/>
            </a:pPr>
            <a:r>
              <a:rPr lang="en-US" altLang="zh-CN" sz="2000" b="1" smtClean="0">
                <a:ea typeface="微软雅黑" pitchFamily="34" charset="-122"/>
                <a:cs typeface="Times New Roman" pitchFamily="18" charset="0"/>
              </a:rPr>
              <a:t>Acceptance tests are conducted to demonstrate satisfactory performance of flight systems relative to the expected environment and to reveal inadequacies in workmanship and material integrity. </a:t>
            </a: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68261D78-0C4A-4821-91FD-137474EE83A8}" type="slidenum">
              <a:rPr lang="zh-CN" altLang="en-US" smtClean="0"/>
              <a:pPr>
                <a:defRPr/>
              </a:pPr>
              <a:t>11</a:t>
            </a:fld>
            <a:endParaRPr lang="zh-CN" altLang="en-US"/>
          </a:p>
        </p:txBody>
      </p:sp>
    </p:spTree>
    <p:extLst>
      <p:ext uri="{BB962C8B-B14F-4D97-AF65-F5344CB8AC3E}">
        <p14:creationId xmlns:p14="http://schemas.microsoft.com/office/powerpoint/2010/main" val="11460897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 is Environmental Test</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What is Dynamic Environment</a:t>
            </a:r>
          </a:p>
          <a:p>
            <a:pPr marL="514350" indent="-514350">
              <a:buFont typeface="+mj-lt"/>
              <a:buAutoNum type="arabicPeriod"/>
            </a:pPr>
            <a:r>
              <a:rPr lang="en-US" altLang="zh-CN" sz="3100" dirty="0" smtClean="0">
                <a:latin typeface="Times New Roman" pitchFamily="18" charset="0"/>
                <a:cs typeface="Times New Roman" pitchFamily="18" charset="0"/>
              </a:rPr>
              <a:t>Dynamic Test Matrix and Level</a:t>
            </a:r>
          </a:p>
          <a:p>
            <a:pPr marL="514350" indent="-514350">
              <a:buFont typeface="+mj-lt"/>
              <a:buAutoNum type="arabicPeriod"/>
            </a:pPr>
            <a:r>
              <a:rPr lang="en-US" altLang="zh-CN" sz="3100" dirty="0" smtClean="0">
                <a:latin typeface="Times New Roman" pitchFamily="18" charset="0"/>
                <a:cs typeface="Times New Roman" pitchFamily="18" charset="0"/>
              </a:rPr>
              <a:t>Dynamic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TextBox 4"/>
          <p:cNvSpPr txBox="1">
            <a:spLocks noChangeArrowheads="1"/>
          </p:cNvSpPr>
          <p:nvPr/>
        </p:nvSpPr>
        <p:spPr bwMode="auto">
          <a:xfrm>
            <a:off x="500034" y="768004"/>
            <a:ext cx="7786742" cy="1446550"/>
          </a:xfrm>
          <a:prstGeom prst="rect">
            <a:avLst/>
          </a:prstGeom>
          <a:noFill/>
          <a:ln w="9525">
            <a:noFill/>
            <a:miter lim="800000"/>
            <a:headEnd/>
            <a:tailEnd/>
          </a:ln>
        </p:spPr>
        <p:txBody>
          <a:bodyPr wrap="square">
            <a:spAutoFit/>
          </a:bodyPr>
          <a:lstStyle/>
          <a:p>
            <a:pPr marL="800100" lvl="1" indent="-342900">
              <a:buFont typeface="Wingdings" pitchFamily="2" charset="2"/>
              <a:buChar char="Ø"/>
            </a:pPr>
            <a:endParaRPr lang="en-US" altLang="zh-CN" sz="2000" b="1" dirty="0">
              <a:latin typeface="Times New Roman" pitchFamily="18" charset="0"/>
            </a:endParaRPr>
          </a:p>
          <a:p>
            <a:pPr marL="800100" lvl="1" indent="-342900">
              <a:buFont typeface="Wingdings" pitchFamily="2" charset="2"/>
              <a:buChar char="Ø"/>
            </a:pPr>
            <a:r>
              <a:rPr lang="en-US" altLang="zh-CN" sz="2000" dirty="0" smtClean="0">
                <a:ea typeface="宋体" charset="-122"/>
              </a:rPr>
              <a:t>Satellite will endure </a:t>
            </a:r>
            <a:r>
              <a:rPr lang="en-US" altLang="zh-CN" sz="2800" dirty="0" smtClean="0">
                <a:solidFill>
                  <a:srgbClr val="FF0000"/>
                </a:solidFill>
                <a:ea typeface="宋体" charset="-122"/>
              </a:rPr>
              <a:t>various</a:t>
            </a:r>
            <a:r>
              <a:rPr lang="en-US" altLang="zh-CN" sz="2000" dirty="0" smtClean="0">
                <a:ea typeface="宋体" charset="-122"/>
              </a:rPr>
              <a:t> kinds of dynamic environment (Vibration, Acoustic, Shock, etc) in the whole lifespan, especially </a:t>
            </a:r>
            <a:r>
              <a:rPr lang="en-US" altLang="zh-CN" sz="2000" dirty="0" smtClean="0"/>
              <a:t>in the launching phase</a:t>
            </a:r>
            <a:endParaRPr lang="en-US" altLang="zh-CN" sz="2000" dirty="0">
              <a:latin typeface="Times New Roman" pitchFamily="18" charset="0"/>
            </a:endParaRPr>
          </a:p>
        </p:txBody>
      </p:sp>
      <p:sp>
        <p:nvSpPr>
          <p:cNvPr id="30725" name="Text Box 5"/>
          <p:cNvSpPr txBox="1">
            <a:spLocks noChangeArrowheads="1"/>
          </p:cNvSpPr>
          <p:nvPr/>
        </p:nvSpPr>
        <p:spPr bwMode="auto">
          <a:xfrm>
            <a:off x="1857356" y="500042"/>
            <a:ext cx="5643602" cy="523220"/>
          </a:xfrm>
          <a:prstGeom prst="rect">
            <a:avLst/>
          </a:prstGeom>
          <a:noFill/>
          <a:ln w="9525">
            <a:noFill/>
            <a:miter lim="800000"/>
            <a:headEnd/>
            <a:tailEnd/>
          </a:ln>
          <a:effectLst/>
        </p:spPr>
        <p:txBody>
          <a:bodyPr wrap="square">
            <a:spAutoFit/>
          </a:bodyPr>
          <a:lstStyle/>
          <a:p>
            <a:r>
              <a:rPr lang="en-US" altLang="zh-CN" sz="2800" b="1" dirty="0"/>
              <a:t>What is </a:t>
            </a:r>
            <a:r>
              <a:rPr lang="en-US" altLang="zh-CN" sz="2800" b="1" dirty="0" smtClean="0"/>
              <a:t>Dynamic Environment?</a:t>
            </a:r>
            <a:endParaRPr lang="zh-CN" altLang="en-US" sz="2800" dirty="0"/>
          </a:p>
        </p:txBody>
      </p:sp>
      <p:pic>
        <p:nvPicPr>
          <p:cNvPr id="7" name="Picture 4" descr="fauga0"/>
          <p:cNvPicPr>
            <a:picLocks noChangeAspect="1" noChangeArrowheads="1"/>
          </p:cNvPicPr>
          <p:nvPr/>
        </p:nvPicPr>
        <p:blipFill>
          <a:blip r:embed="rId3"/>
          <a:srcRect/>
          <a:stretch>
            <a:fillRect/>
          </a:stretch>
        </p:blipFill>
        <p:spPr>
          <a:xfrm>
            <a:off x="1785918" y="2332232"/>
            <a:ext cx="5429288" cy="3739974"/>
          </a:xfrm>
          <a:prstGeom prst="rect">
            <a:avLst/>
          </a:prstGeom>
          <a:solidFill>
            <a:schemeClr val="hlink"/>
          </a:solidFill>
          <a:ln>
            <a:solidFill>
              <a:schemeClr val="tx1"/>
            </a:solidFill>
          </a:ln>
        </p:spPr>
      </p:pic>
      <p:sp>
        <p:nvSpPr>
          <p:cNvPr id="5" name="灯片编号占位符 4"/>
          <p:cNvSpPr>
            <a:spLocks noGrp="1"/>
          </p:cNvSpPr>
          <p:nvPr>
            <p:ph type="sldNum" sz="quarter" idx="12"/>
          </p:nvPr>
        </p:nvSpPr>
        <p:spPr/>
        <p:txBody>
          <a:bodyPr/>
          <a:lstStyle/>
          <a:p>
            <a:fld id="{0484A4AA-26EC-4440-BEFE-3138EE7B1813}" type="slidenum">
              <a:rPr lang="zh-CN" altLang="en-US" smtClean="0"/>
              <a:pPr/>
              <a:t>13</a:t>
            </a:fld>
            <a:endParaRPr lang="zh-CN" altLang="en-US"/>
          </a:p>
        </p:txBody>
      </p:sp>
    </p:spTree>
    <p:extLst>
      <p:ext uri="{BB962C8B-B14F-4D97-AF65-F5344CB8AC3E}">
        <p14:creationId xmlns:p14="http://schemas.microsoft.com/office/powerpoint/2010/main" val="1330543872"/>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285852" y="2133910"/>
            <a:ext cx="6000792" cy="108337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1200150" lvl="2" indent="-285750">
              <a:spcBef>
                <a:spcPct val="20000"/>
              </a:spcBef>
              <a:buFont typeface="Wingdings" pitchFamily="2" charset="2"/>
              <a:buChar char="Ø"/>
              <a:defRPr/>
            </a:pPr>
            <a:r>
              <a:rPr lang="en-US" sz="1400" dirty="0" smtClean="0"/>
              <a:t>Electronic components damage</a:t>
            </a:r>
          </a:p>
          <a:p>
            <a:pPr marL="1200150" lvl="2" indent="-285750">
              <a:spcBef>
                <a:spcPct val="20000"/>
              </a:spcBef>
              <a:buFont typeface="Wingdings" pitchFamily="2" charset="2"/>
              <a:buChar char="Ø"/>
              <a:defRPr/>
            </a:pPr>
            <a:r>
              <a:rPr lang="en-US" sz="1400" dirty="0" smtClean="0"/>
              <a:t>Broken electronic circuit</a:t>
            </a:r>
          </a:p>
          <a:p>
            <a:pPr marL="1200150" lvl="2" indent="-285750">
              <a:spcBef>
                <a:spcPct val="20000"/>
              </a:spcBef>
              <a:buFont typeface="Wingdings" pitchFamily="2" charset="2"/>
              <a:buChar char="Ø"/>
              <a:defRPr/>
            </a:pPr>
            <a:r>
              <a:rPr lang="en-US" sz="1400" dirty="0" smtClean="0"/>
              <a:t> Connector loosening and rack breaking</a:t>
            </a:r>
          </a:p>
          <a:p>
            <a:pPr marL="1200150" lvl="2" indent="-285750">
              <a:spcBef>
                <a:spcPct val="20000"/>
              </a:spcBef>
              <a:buFont typeface="Wingdings" pitchFamily="2" charset="2"/>
              <a:buChar char="Ø"/>
              <a:defRPr/>
            </a:pPr>
            <a:r>
              <a:rPr lang="en-US" sz="1400" dirty="0" smtClean="0"/>
              <a:t>Damage of the main structure and substructure</a:t>
            </a:r>
          </a:p>
        </p:txBody>
      </p:sp>
      <p:sp>
        <p:nvSpPr>
          <p:cNvPr id="10" name="矩形 9"/>
          <p:cNvSpPr/>
          <p:nvPr/>
        </p:nvSpPr>
        <p:spPr>
          <a:xfrm>
            <a:off x="2071702" y="1285860"/>
            <a:ext cx="4572000" cy="707886"/>
          </a:xfrm>
          <a:prstGeom prst="rect">
            <a:avLst/>
          </a:prstGeom>
        </p:spPr>
        <p:txBody>
          <a:bodyPr>
            <a:spAutoFit/>
          </a:bodyPr>
          <a:lstStyle/>
          <a:p>
            <a:pPr algn="ctr"/>
            <a:r>
              <a:rPr lang="en-US" altLang="zh-CN" sz="2000" dirty="0" smtClean="0"/>
              <a:t>Above environment may cause structure deformation or damage to satellites</a:t>
            </a:r>
            <a:endParaRPr lang="zh-CN" altLang="en-US" sz="2000" dirty="0"/>
          </a:p>
        </p:txBody>
      </p:sp>
      <p:sp>
        <p:nvSpPr>
          <p:cNvPr id="11" name="下箭头 10"/>
          <p:cNvSpPr/>
          <p:nvPr/>
        </p:nvSpPr>
        <p:spPr>
          <a:xfrm>
            <a:off x="4000496" y="3500438"/>
            <a:ext cx="571504" cy="35719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sp>
        <p:nvSpPr>
          <p:cNvPr id="9" name="TextBox 8"/>
          <p:cNvSpPr txBox="1"/>
          <p:nvPr/>
        </p:nvSpPr>
        <p:spPr>
          <a:xfrm>
            <a:off x="3286116" y="500042"/>
            <a:ext cx="4000528" cy="584775"/>
          </a:xfrm>
          <a:prstGeom prst="rect">
            <a:avLst/>
          </a:prstGeom>
          <a:noFill/>
        </p:spPr>
        <p:txBody>
          <a:bodyPr wrap="square" rtlCol="0">
            <a:spAutoFit/>
          </a:bodyPr>
          <a:lstStyle/>
          <a:p>
            <a:r>
              <a:rPr lang="en-US" altLang="zh-CN" sz="32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INFLUENCE ?</a:t>
            </a:r>
            <a:endParaRPr lang="zh-CN" alt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8" name="TextBox 4"/>
          <p:cNvSpPr txBox="1">
            <a:spLocks noChangeArrowheads="1"/>
          </p:cNvSpPr>
          <p:nvPr/>
        </p:nvSpPr>
        <p:spPr bwMode="auto">
          <a:xfrm>
            <a:off x="285720" y="5039037"/>
            <a:ext cx="8572560" cy="461665"/>
          </a:xfrm>
          <a:prstGeom prst="rect">
            <a:avLst/>
          </a:prstGeom>
          <a:noFill/>
          <a:ln w="9525">
            <a:noFill/>
            <a:miter lim="800000"/>
            <a:headEnd/>
            <a:tailEnd/>
          </a:ln>
        </p:spPr>
        <p:txBody>
          <a:bodyPr wrap="square">
            <a:spAutoFit/>
          </a:bodyPr>
          <a:lstStyle/>
          <a:p>
            <a:pPr marL="800100" lvl="1" indent="-342900">
              <a:buFont typeface="Wingdings" pitchFamily="2" charset="2"/>
              <a:buChar char="Ø"/>
            </a:pPr>
            <a:r>
              <a:rPr lang="en-US" altLang="zh-CN" sz="2400" b="1" dirty="0" smtClean="0">
                <a:solidFill>
                  <a:srgbClr val="FF0000"/>
                </a:solidFill>
                <a:latin typeface="+mj-lt"/>
                <a:ea typeface="微软雅黑"/>
              </a:rPr>
              <a:t>Ground Dynamic Environment Test </a:t>
            </a:r>
            <a:r>
              <a:rPr lang="en-US" altLang="zh-CN" sz="2000" dirty="0" smtClean="0">
                <a:latin typeface="+mj-lt"/>
                <a:ea typeface="微软雅黑"/>
              </a:rPr>
              <a:t>is important and necessary</a:t>
            </a:r>
            <a:endParaRPr lang="en-US" altLang="zh-CN" sz="2000" dirty="0">
              <a:latin typeface="+mj-lt"/>
            </a:endParaRPr>
          </a:p>
        </p:txBody>
      </p:sp>
      <p:sp>
        <p:nvSpPr>
          <p:cNvPr id="13" name="矩形 12"/>
          <p:cNvSpPr/>
          <p:nvPr/>
        </p:nvSpPr>
        <p:spPr>
          <a:xfrm>
            <a:off x="1285852" y="4000504"/>
            <a:ext cx="5929354" cy="707886"/>
          </a:xfrm>
          <a:prstGeom prst="rect">
            <a:avLst/>
          </a:prstGeom>
        </p:spPr>
        <p:txBody>
          <a:bodyPr wrap="square">
            <a:spAutoFit/>
          </a:bodyPr>
          <a:lstStyle/>
          <a:p>
            <a:pPr algn="ctr"/>
            <a:r>
              <a:rPr lang="en-US" altLang="zh-CN" sz="2000" dirty="0" smtClean="0"/>
              <a:t>Affect performance of satellites and even cause a complete failure of the whole flight mission</a:t>
            </a:r>
            <a:endParaRPr lang="zh-CN" altLang="en-US" sz="2000" dirty="0"/>
          </a:p>
        </p:txBody>
      </p:sp>
      <p:sp>
        <p:nvSpPr>
          <p:cNvPr id="14" name="云形标注 13"/>
          <p:cNvSpPr/>
          <p:nvPr/>
        </p:nvSpPr>
        <p:spPr>
          <a:xfrm>
            <a:off x="7072330" y="3714752"/>
            <a:ext cx="1785950" cy="857256"/>
          </a:xfrm>
          <a:prstGeom prst="cloudCallout">
            <a:avLst>
              <a:gd name="adj1" fmla="val -73939"/>
              <a:gd name="adj2" fmla="val 32870"/>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smtClean="0"/>
              <a:t>Statically 30%~60%</a:t>
            </a:r>
            <a:endParaRPr lang="zh-CN" altLang="en-US" dirty="0"/>
          </a:p>
        </p:txBody>
      </p:sp>
      <p:sp>
        <p:nvSpPr>
          <p:cNvPr id="12" name="灯片编号占位符 11"/>
          <p:cNvSpPr>
            <a:spLocks noGrp="1"/>
          </p:cNvSpPr>
          <p:nvPr>
            <p:ph type="sldNum" sz="quarter" idx="12"/>
          </p:nvPr>
        </p:nvSpPr>
        <p:spPr/>
        <p:txBody>
          <a:bodyPr/>
          <a:lstStyle/>
          <a:p>
            <a:fld id="{0484A4AA-26EC-4440-BEFE-3138EE7B1813}" type="slidenum">
              <a:rPr lang="zh-CN" altLang="en-US" smtClean="0"/>
              <a:pPr/>
              <a:t>14</a:t>
            </a:fld>
            <a:endParaRPr lang="zh-CN" altLang="en-US"/>
          </a:p>
        </p:txBody>
      </p:sp>
    </p:spTree>
    <p:extLst>
      <p:ext uri="{BB962C8B-B14F-4D97-AF65-F5344CB8AC3E}">
        <p14:creationId xmlns:p14="http://schemas.microsoft.com/office/powerpoint/2010/main" val="228122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wipe(down)">
                                      <p:cBhvr>
                                        <p:cTn id="7" dur="500"/>
                                        <p:tgtEl>
                                          <p:spTgt spid="7">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wipe(down)">
                                      <p:cBhvr>
                                        <p:cTn id="10" dur="500"/>
                                        <p:tgtEl>
                                          <p:spTgt spid="7">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down)">
                                      <p:cBhvr>
                                        <p:cTn id="13" dur="500"/>
                                        <p:tgtEl>
                                          <p:spTgt spid="7">
                                            <p:txEl>
                                              <p:pRg st="1" end="1"/>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wipe(down)">
                                      <p:cBhvr>
                                        <p:cTn id="16" dur="500"/>
                                        <p:tgtEl>
                                          <p:spTgt spid="7">
                                            <p:txEl>
                                              <p:pRg st="2" end="2"/>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wipe(down)">
                                      <p:cBhvr>
                                        <p:cTn id="19" dur="500"/>
                                        <p:tgtEl>
                                          <p:spTgt spid="7">
                                            <p:txEl>
                                              <p:pRg st="3" end="3"/>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wipe(down)">
                                      <p:cBhvr>
                                        <p:cTn id="22" dur="5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P spid="10" grpId="0" build="allAtOnce"/>
      <p:bldP spid="11" grpId="0" animBg="1"/>
      <p:bldP spid="8" grpId="0"/>
      <p:bldP spid="13" grpId="0"/>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p:cNvGraphicFramePr/>
          <p:nvPr/>
        </p:nvGraphicFramePr>
        <p:xfrm>
          <a:off x="785786" y="1785926"/>
          <a:ext cx="5072098" cy="27146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云形标注 9"/>
          <p:cNvSpPr/>
          <p:nvPr/>
        </p:nvSpPr>
        <p:spPr>
          <a:xfrm>
            <a:off x="6643702" y="1142984"/>
            <a:ext cx="2000264" cy="1357322"/>
          </a:xfrm>
          <a:prstGeom prst="cloudCallout">
            <a:avLst>
              <a:gd name="adj1" fmla="val -96388"/>
              <a:gd name="adj2" fmla="val 15015"/>
            </a:avLst>
          </a:prstGeom>
        </p:spPr>
        <p:style>
          <a:lnRef idx="2">
            <a:schemeClr val="accent4"/>
          </a:lnRef>
          <a:fillRef idx="1">
            <a:schemeClr val="lt1"/>
          </a:fillRef>
          <a:effectRef idx="0">
            <a:schemeClr val="accent4"/>
          </a:effectRef>
          <a:fontRef idx="minor">
            <a:schemeClr val="dk1"/>
          </a:fontRef>
        </p:style>
        <p:txBody>
          <a:bodyPr rtlCol="0" anchor="ctr"/>
          <a:lstStyle/>
          <a:p>
            <a:pPr lvl="0" algn="ctr"/>
            <a:r>
              <a:rPr lang="en-US" sz="1400" dirty="0" smtClean="0"/>
              <a:t>verify whether satellite structure endure various environment</a:t>
            </a:r>
            <a:endParaRPr lang="zh-CN" altLang="en-US" sz="1400" dirty="0"/>
          </a:p>
        </p:txBody>
      </p:sp>
      <p:sp>
        <p:nvSpPr>
          <p:cNvPr id="11" name="云形标注 10"/>
          <p:cNvSpPr/>
          <p:nvPr/>
        </p:nvSpPr>
        <p:spPr>
          <a:xfrm>
            <a:off x="6500826" y="2571744"/>
            <a:ext cx="2428892" cy="1357322"/>
          </a:xfrm>
          <a:prstGeom prst="cloudCallout">
            <a:avLst>
              <a:gd name="adj1" fmla="val -82195"/>
              <a:gd name="adj2" fmla="val -6506"/>
            </a:avLst>
          </a:prstGeom>
        </p:spPr>
        <p:style>
          <a:lnRef idx="2">
            <a:schemeClr val="accent3"/>
          </a:lnRef>
          <a:fillRef idx="1">
            <a:schemeClr val="lt1"/>
          </a:fillRef>
          <a:effectRef idx="0">
            <a:schemeClr val="accent3"/>
          </a:effectRef>
          <a:fontRef idx="minor">
            <a:schemeClr val="dk1"/>
          </a:fontRef>
        </p:style>
        <p:txBody>
          <a:bodyPr rtlCol="0" anchor="ctr"/>
          <a:lstStyle/>
          <a:p>
            <a:pPr lvl="0" algn="ctr"/>
            <a:r>
              <a:rPr lang="en-US" sz="1400" dirty="0" smtClean="0"/>
              <a:t>reduce the early failure and increase the in-orbiting reliability</a:t>
            </a:r>
            <a:endParaRPr lang="zh-CN" altLang="en-US" sz="1400" dirty="0"/>
          </a:p>
        </p:txBody>
      </p:sp>
      <p:sp>
        <p:nvSpPr>
          <p:cNvPr id="12" name="云形标注 11"/>
          <p:cNvSpPr/>
          <p:nvPr/>
        </p:nvSpPr>
        <p:spPr>
          <a:xfrm>
            <a:off x="6286512" y="4143380"/>
            <a:ext cx="2428892" cy="1500198"/>
          </a:xfrm>
          <a:prstGeom prst="cloudCallout">
            <a:avLst>
              <a:gd name="adj1" fmla="val -77340"/>
              <a:gd name="adj2" fmla="val -43933"/>
            </a:avLst>
          </a:prstGeom>
        </p:spPr>
        <p:style>
          <a:lnRef idx="2">
            <a:schemeClr val="accent2"/>
          </a:lnRef>
          <a:fillRef idx="1">
            <a:schemeClr val="lt1"/>
          </a:fillRef>
          <a:effectRef idx="0">
            <a:schemeClr val="accent2"/>
          </a:effectRef>
          <a:fontRef idx="minor">
            <a:schemeClr val="dk1"/>
          </a:fontRef>
        </p:style>
        <p:txBody>
          <a:bodyPr rtlCol="0" anchor="ctr"/>
          <a:lstStyle/>
          <a:p>
            <a:pPr lvl="0" algn="ctr"/>
            <a:r>
              <a:rPr lang="en-US" sz="1400" dirty="0" smtClean="0"/>
              <a:t>study the effectiveness of various vibration isolation</a:t>
            </a:r>
            <a:endParaRPr lang="zh-CN" altLang="en-US" sz="1400" dirty="0"/>
          </a:p>
        </p:txBody>
      </p:sp>
      <p:sp>
        <p:nvSpPr>
          <p:cNvPr id="7" name="Text Box 5"/>
          <p:cNvSpPr txBox="1">
            <a:spLocks noChangeArrowheads="1"/>
          </p:cNvSpPr>
          <p:nvPr/>
        </p:nvSpPr>
        <p:spPr bwMode="auto">
          <a:xfrm>
            <a:off x="1214414" y="500042"/>
            <a:ext cx="6286544" cy="523220"/>
          </a:xfrm>
          <a:prstGeom prst="rect">
            <a:avLst/>
          </a:prstGeom>
          <a:noFill/>
          <a:ln w="9525">
            <a:noFill/>
            <a:miter lim="800000"/>
            <a:headEnd/>
            <a:tailEnd/>
          </a:ln>
          <a:effectLst/>
        </p:spPr>
        <p:txBody>
          <a:bodyPr wrap="square">
            <a:spAutoFit/>
          </a:bodyPr>
          <a:lstStyle/>
          <a:p>
            <a:r>
              <a:rPr lang="en-US" altLang="zh-CN" sz="2800" b="1" dirty="0" smtClean="0"/>
              <a:t>Objective of Dynamic Environment Test?</a:t>
            </a:r>
            <a:endParaRPr lang="zh-CN" altLang="en-US" sz="2800" dirty="0"/>
          </a:p>
        </p:txBody>
      </p:sp>
      <p:sp>
        <p:nvSpPr>
          <p:cNvPr id="8" name="灯片编号占位符 7"/>
          <p:cNvSpPr>
            <a:spLocks noGrp="1"/>
          </p:cNvSpPr>
          <p:nvPr>
            <p:ph type="sldNum" sz="quarter" idx="12"/>
          </p:nvPr>
        </p:nvSpPr>
        <p:spPr/>
        <p:txBody>
          <a:bodyPr/>
          <a:lstStyle/>
          <a:p>
            <a:fld id="{0484A4AA-26EC-4440-BEFE-3138EE7B1813}" type="slidenum">
              <a:rPr lang="zh-CN" altLang="en-US" smtClean="0"/>
              <a:pPr/>
              <a:t>15</a:t>
            </a:fld>
            <a:endParaRPr lang="zh-CN" altLang="en-US"/>
          </a:p>
        </p:txBody>
      </p:sp>
    </p:spTree>
    <p:extLst>
      <p:ext uri="{BB962C8B-B14F-4D97-AF65-F5344CB8AC3E}">
        <p14:creationId xmlns:p14="http://schemas.microsoft.com/office/powerpoint/2010/main" val="17834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p:cNvSpPr>
          <p:nvPr>
            <p:ph idx="1"/>
          </p:nvPr>
        </p:nvSpPr>
        <p:spPr>
          <a:xfrm>
            <a:off x="457200" y="1500188"/>
            <a:ext cx="8229600" cy="4525962"/>
          </a:xfrm>
        </p:spPr>
        <p:txBody>
          <a:bodyPr>
            <a:normAutofit fontScale="77500" lnSpcReduction="20000"/>
          </a:bodyPr>
          <a:lstStyle/>
          <a:p>
            <a:pPr>
              <a:buFont typeface="Arial" charset="0"/>
              <a:buNone/>
            </a:pPr>
            <a:r>
              <a:rPr lang="en-US" altLang="zh-CN" sz="3000" smtClean="0">
                <a:latin typeface="微软雅黑" pitchFamily="34" charset="-122"/>
                <a:ea typeface="微软雅黑" pitchFamily="34" charset="-122"/>
                <a:cs typeface="Times New Roman" pitchFamily="18" charset="0"/>
              </a:rPr>
              <a:t>Dynamic Test</a:t>
            </a:r>
          </a:p>
          <a:p>
            <a:pPr marL="179388" lvl="1">
              <a:buFont typeface="Wingdings" pitchFamily="2" charset="2"/>
              <a:buChar char="l"/>
            </a:pPr>
            <a:r>
              <a:rPr lang="en-US" altLang="zh-CN" sz="2400" smtClean="0">
                <a:ea typeface="微软雅黑" pitchFamily="34" charset="-122"/>
                <a:cs typeface="Times New Roman" pitchFamily="18" charset="0"/>
              </a:rPr>
              <a:t>In life cycle of a spacecraft, there are all kinds of dynamic environment such as transportation, rocket motor ignition overpressure, liftoff release, engine trust transients, pogo, liquid sloshing in tanks, flight operation.</a:t>
            </a:r>
          </a:p>
          <a:p>
            <a:pPr marL="179388" lvl="1">
              <a:buFont typeface="Wingdings" pitchFamily="2" charset="2"/>
              <a:buChar char="l"/>
            </a:pPr>
            <a:r>
              <a:rPr lang="en-US" altLang="zh-CN" sz="2400" smtClean="0">
                <a:ea typeface="微软雅黑" pitchFamily="34" charset="-122"/>
                <a:cs typeface="Times New Roman" pitchFamily="18" charset="0"/>
              </a:rPr>
              <a:t>It is hard to simulate these environment  directly, therefore, we must summarize all dynamic environment into some type of excitation, and predict the response of spacecraft.</a:t>
            </a:r>
          </a:p>
          <a:p>
            <a:pPr marL="179388" lvl="1">
              <a:buFont typeface="Wingdings" pitchFamily="2" charset="2"/>
              <a:buChar char="l"/>
            </a:pPr>
            <a:r>
              <a:rPr lang="en-US" altLang="zh-CN" sz="2400" smtClean="0">
                <a:ea typeface="微软雅黑" pitchFamily="34" charset="-122"/>
                <a:cs typeface="Times New Roman" pitchFamily="18" charset="0"/>
              </a:rPr>
              <a:t>As one of large environmental test series after assembly and integration of satellite, acoustic and vibration test  are important part of reliability validation test for satellite.</a:t>
            </a:r>
          </a:p>
          <a:p>
            <a:pPr marL="179388" lvl="1">
              <a:buFont typeface="Arial" charset="0"/>
              <a:buChar char="■"/>
            </a:pPr>
            <a:endParaRPr lang="en-US" altLang="zh-CN" sz="2400" smtClean="0">
              <a:ea typeface="微软雅黑" pitchFamily="34" charset="-122"/>
              <a:cs typeface="Times New Roman" pitchFamily="18" charset="0"/>
            </a:endParaRPr>
          </a:p>
          <a:p>
            <a:pPr marL="179388" lvl="1">
              <a:buFont typeface="Arial" charset="0"/>
              <a:buChar char="■"/>
            </a:pPr>
            <a:endParaRPr lang="en-US" altLang="zh-CN" sz="2400" smtClean="0">
              <a:ea typeface="微软雅黑" pitchFamily="34" charset="-122"/>
              <a:cs typeface="Times New Roman" pitchFamily="18" charset="0"/>
              <a:sym typeface="Wingdings" pitchFamily="2" charset="2"/>
            </a:endParaRP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D7FB74D4-8FF2-4728-8FA8-22A8A170EF71}" type="slidenum">
              <a:rPr lang="zh-CN" altLang="en-US" smtClean="0"/>
              <a:pPr>
                <a:defRPr/>
              </a:pPr>
              <a:t>16</a:t>
            </a:fld>
            <a:endParaRPr lang="zh-CN" altLang="en-US"/>
          </a:p>
        </p:txBody>
      </p:sp>
    </p:spTree>
    <p:extLst>
      <p:ext uri="{BB962C8B-B14F-4D97-AF65-F5344CB8AC3E}">
        <p14:creationId xmlns:p14="http://schemas.microsoft.com/office/powerpoint/2010/main" val="36714510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p:cNvSpPr>
            <a:spLocks noGrp="1"/>
          </p:cNvSpPr>
          <p:nvPr>
            <p:ph idx="1"/>
          </p:nvPr>
        </p:nvSpPr>
        <p:spPr>
          <a:xfrm>
            <a:off x="457200" y="1500188"/>
            <a:ext cx="8229600" cy="4525962"/>
          </a:xfrm>
        </p:spPr>
        <p:txBody>
          <a:bodyPr>
            <a:normAutofit fontScale="92500" lnSpcReduction="10000"/>
          </a:bodyPr>
          <a:lstStyle/>
          <a:p>
            <a:pPr>
              <a:buFont typeface="Arial" charset="0"/>
              <a:buNone/>
            </a:pPr>
            <a:r>
              <a:rPr lang="en-US" altLang="zh-CN" sz="3000" smtClean="0">
                <a:latin typeface="微软雅黑" pitchFamily="34" charset="-122"/>
                <a:ea typeface="微软雅黑" pitchFamily="34" charset="-122"/>
                <a:cs typeface="Times New Roman" pitchFamily="18" charset="0"/>
              </a:rPr>
              <a:t>Dynamic Test</a:t>
            </a:r>
          </a:p>
          <a:p>
            <a:pPr marL="179388" lvl="1">
              <a:buFont typeface="Wingdings" pitchFamily="2" charset="2"/>
              <a:buChar char="l"/>
            </a:pPr>
            <a:r>
              <a:rPr lang="en-US" altLang="zh-CN" sz="2400" smtClean="0">
                <a:ea typeface="微软雅黑" pitchFamily="34" charset="-122"/>
                <a:cs typeface="Times New Roman" pitchFamily="18" charset="0"/>
              </a:rPr>
              <a:t>The satellite must be undergone a vibration test on ground. the test is a method to simulate the real vibration environment of launching process.</a:t>
            </a:r>
          </a:p>
          <a:p>
            <a:pPr marL="179388" lvl="1">
              <a:buFont typeface="Wingdings" pitchFamily="2" charset="2"/>
              <a:buChar char="l"/>
            </a:pPr>
            <a:r>
              <a:rPr lang="en-US" altLang="zh-CN" sz="2400" smtClean="0">
                <a:ea typeface="微软雅黑" pitchFamily="34" charset="-122"/>
                <a:cs typeface="Times New Roman" pitchFamily="18" charset="0"/>
              </a:rPr>
              <a:t>The vibration test is one of most effective methods to disclose the potential trouble. Indicated by the trouble statistic data of NASA from 57 satellites in the first day after launch, </a:t>
            </a:r>
            <a:r>
              <a:rPr lang="en-US" altLang="zh-CN" sz="2400" smtClean="0">
                <a:solidFill>
                  <a:srgbClr val="FF0000"/>
                </a:solidFill>
                <a:ea typeface="微软雅黑" pitchFamily="34" charset="-122"/>
                <a:cs typeface="Times New Roman" pitchFamily="18" charset="0"/>
              </a:rPr>
              <a:t>44 percent </a:t>
            </a:r>
            <a:r>
              <a:rPr lang="en-US" altLang="zh-CN" sz="2400" smtClean="0">
                <a:ea typeface="微软雅黑" pitchFamily="34" charset="-122"/>
                <a:cs typeface="Times New Roman" pitchFamily="18" charset="0"/>
              </a:rPr>
              <a:t>of trouble were induced by the vibration environment.</a:t>
            </a:r>
          </a:p>
          <a:p>
            <a:pPr marL="179388" lvl="1">
              <a:buFont typeface="Arial" charset="0"/>
              <a:buChar char="■"/>
            </a:pPr>
            <a:endParaRPr lang="en-US" altLang="zh-CN" sz="2400" smtClean="0">
              <a:ea typeface="微软雅黑" pitchFamily="34" charset="-122"/>
              <a:cs typeface="Times New Roman" pitchFamily="18" charset="0"/>
            </a:endParaRPr>
          </a:p>
          <a:p>
            <a:pPr marL="179388" lvl="1">
              <a:buFont typeface="Arial" charset="0"/>
              <a:buChar char="■"/>
            </a:pPr>
            <a:endParaRPr lang="en-US" altLang="zh-CN" sz="2400" smtClean="0">
              <a:ea typeface="微软雅黑" pitchFamily="34" charset="-122"/>
              <a:cs typeface="Times New Roman" pitchFamily="18" charset="0"/>
              <a:sym typeface="Wingdings" pitchFamily="2" charset="2"/>
            </a:endParaRP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81EBFAA9-BE87-456F-9113-5CBB473A129D}" type="slidenum">
              <a:rPr lang="zh-CN" altLang="en-US" smtClean="0"/>
              <a:pPr>
                <a:defRPr/>
              </a:pPr>
              <a:t>17</a:t>
            </a:fld>
            <a:endParaRPr lang="zh-CN" altLang="en-US"/>
          </a:p>
        </p:txBody>
      </p:sp>
    </p:spTree>
    <p:extLst>
      <p:ext uri="{BB962C8B-B14F-4D97-AF65-F5344CB8AC3E}">
        <p14:creationId xmlns:p14="http://schemas.microsoft.com/office/powerpoint/2010/main" val="40677539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2"/>
          <p:cNvSpPr>
            <a:spLocks noGrp="1"/>
          </p:cNvSpPr>
          <p:nvPr>
            <p:ph idx="1"/>
          </p:nvPr>
        </p:nvSpPr>
        <p:spPr>
          <a:xfrm>
            <a:off x="457200" y="1500188"/>
            <a:ext cx="8229600" cy="4525962"/>
          </a:xfrm>
        </p:spPr>
        <p:txBody>
          <a:bodyPr/>
          <a:lstStyle/>
          <a:p>
            <a:pPr>
              <a:buFont typeface="Arial" charset="0"/>
              <a:buNone/>
            </a:pPr>
            <a:r>
              <a:rPr lang="en-US" altLang="zh-CN" sz="3000" smtClean="0">
                <a:latin typeface="微软雅黑" pitchFamily="34" charset="-122"/>
                <a:ea typeface="微软雅黑" pitchFamily="34" charset="-122"/>
                <a:cs typeface="Times New Roman" pitchFamily="18" charset="0"/>
              </a:rPr>
              <a:t>Dynamic Test</a:t>
            </a:r>
          </a:p>
          <a:p>
            <a:pPr marL="179388" lvl="1">
              <a:buFont typeface="Arial" charset="0"/>
              <a:buChar char="■"/>
            </a:pPr>
            <a:r>
              <a:rPr lang="en-US" altLang="zh-CN" sz="2400" smtClean="0">
                <a:ea typeface="微软雅黑" pitchFamily="34" charset="-122"/>
                <a:cs typeface="Times New Roman" pitchFamily="18" charset="0"/>
              </a:rPr>
              <a:t>Therefore, a launching satellite must be verified by a vibration test as whole spacecraft according to present production mode.     </a:t>
            </a:r>
            <a:r>
              <a:rPr lang="en-US" altLang="zh-CN" smtClean="0">
                <a:ea typeface="微软雅黑" pitchFamily="34" charset="-122"/>
                <a:cs typeface="Times New Roman" pitchFamily="18" charset="0"/>
              </a:rPr>
              <a:t> </a:t>
            </a:r>
          </a:p>
          <a:p>
            <a:pPr marL="179388" lvl="1">
              <a:buFont typeface="Arial" charset="0"/>
              <a:buChar char="■"/>
            </a:pPr>
            <a:r>
              <a:rPr lang="en-US" altLang="zh-CN" sz="2400" smtClean="0">
                <a:ea typeface="微软雅黑" pitchFamily="34" charset="-122"/>
                <a:cs typeface="Times New Roman" pitchFamily="18" charset="0"/>
              </a:rPr>
              <a:t>Vibration test generally is composed of swept-sine vibration test and random vibration test/acoustic test.</a:t>
            </a:r>
          </a:p>
          <a:p>
            <a:pPr marL="179388" lvl="1">
              <a:buFont typeface="Arial" charset="0"/>
              <a:buChar char="■"/>
            </a:pPr>
            <a:endParaRPr lang="en-US" altLang="zh-CN" sz="2400" smtClean="0">
              <a:ea typeface="微软雅黑" pitchFamily="34" charset="-122"/>
              <a:cs typeface="Times New Roman" pitchFamily="18" charset="0"/>
            </a:endParaRPr>
          </a:p>
          <a:p>
            <a:pPr marL="179388" lvl="1">
              <a:buFont typeface="Arial" charset="0"/>
              <a:buChar char="■"/>
            </a:pPr>
            <a:endParaRPr lang="en-US" altLang="zh-CN" sz="2400" smtClean="0">
              <a:ea typeface="微软雅黑" pitchFamily="34" charset="-122"/>
              <a:cs typeface="Times New Roman" pitchFamily="18" charset="0"/>
            </a:endParaRPr>
          </a:p>
          <a:p>
            <a:pPr marL="179388" lvl="1">
              <a:buFont typeface="Arial" charset="0"/>
              <a:buChar char="■"/>
            </a:pPr>
            <a:endParaRPr lang="en-US" altLang="zh-CN" sz="2400" smtClean="0">
              <a:ea typeface="微软雅黑" pitchFamily="34" charset="-122"/>
              <a:cs typeface="Times New Roman" pitchFamily="18" charset="0"/>
              <a:sym typeface="Wingdings" pitchFamily="2" charset="2"/>
            </a:endParaRP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5837DBBE-0F12-493D-862A-984EFAC9699B}" type="slidenum">
              <a:rPr lang="zh-CN" altLang="en-US" smtClean="0"/>
              <a:pPr>
                <a:defRPr/>
              </a:pPr>
              <a:t>18</a:t>
            </a:fld>
            <a:endParaRPr lang="zh-CN" altLang="en-US"/>
          </a:p>
        </p:txBody>
      </p:sp>
    </p:spTree>
    <p:extLst>
      <p:ext uri="{BB962C8B-B14F-4D97-AF65-F5344CB8AC3E}">
        <p14:creationId xmlns:p14="http://schemas.microsoft.com/office/powerpoint/2010/main" val="29288917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p:cNvSpPr>
            <a:spLocks noGrp="1"/>
          </p:cNvSpPr>
          <p:nvPr>
            <p:ph idx="1"/>
          </p:nvPr>
        </p:nvSpPr>
        <p:spPr>
          <a:xfrm>
            <a:off x="457200" y="1500188"/>
            <a:ext cx="8229600" cy="4525962"/>
          </a:xfrm>
        </p:spPr>
        <p:txBody>
          <a:bodyPr/>
          <a:lstStyle/>
          <a:p>
            <a:pPr>
              <a:buFont typeface="Arial" charset="0"/>
              <a:buNone/>
            </a:pPr>
            <a:r>
              <a:rPr lang="en-US" altLang="zh-CN" sz="3000" smtClean="0">
                <a:latin typeface="微软雅黑" pitchFamily="34" charset="-122"/>
                <a:ea typeface="微软雅黑" pitchFamily="34" charset="-122"/>
                <a:cs typeface="Times New Roman" pitchFamily="18" charset="0"/>
              </a:rPr>
              <a:t>Purpose of vibration and acoustic test</a:t>
            </a:r>
          </a:p>
          <a:p>
            <a:r>
              <a:rPr lang="en-US" altLang="zh-CN" sz="2400" smtClean="0">
                <a:ea typeface="微软雅黑" pitchFamily="34" charset="-122"/>
                <a:cs typeface="Times New Roman" pitchFamily="18" charset="0"/>
              </a:rPr>
              <a:t>The vibration test and acoustic test simulate the flight or minimum workmanship screen acoustic environment and the induced vibration on units in order to expose material and workmanship defects that might not be detected in a static test condition.</a:t>
            </a:r>
          </a:p>
          <a:p>
            <a:pPr marL="179388" lvl="1">
              <a:buFont typeface="Arial" charset="0"/>
              <a:buChar char="■"/>
            </a:pPr>
            <a:endParaRPr lang="en-US" altLang="zh-CN" sz="2400" smtClean="0">
              <a:ea typeface="微软雅黑" pitchFamily="34" charset="-122"/>
              <a:cs typeface="Times New Roman" pitchFamily="18" charset="0"/>
            </a:endParaRPr>
          </a:p>
          <a:p>
            <a:pPr marL="179388" lvl="1">
              <a:buFont typeface="Arial" charset="0"/>
              <a:buChar char="■"/>
            </a:pPr>
            <a:endParaRPr lang="en-US" altLang="zh-CN" sz="2400" smtClean="0">
              <a:ea typeface="微软雅黑" pitchFamily="34" charset="-122"/>
              <a:cs typeface="Times New Roman" pitchFamily="18" charset="0"/>
              <a:sym typeface="Wingdings" pitchFamily="2" charset="2"/>
            </a:endParaRPr>
          </a:p>
        </p:txBody>
      </p:sp>
      <p:sp>
        <p:nvSpPr>
          <p:cNvPr id="3" name="标题 3"/>
          <p:cNvSpPr txBox="1">
            <a:spLocks noChangeArrowheads="1"/>
          </p:cNvSpPr>
          <p:nvPr/>
        </p:nvSpPr>
        <p:spPr bwMode="auto">
          <a:xfrm>
            <a:off x="4071938" y="285750"/>
            <a:ext cx="4857750" cy="708025"/>
          </a:xfrm>
          <a:prstGeom prst="rect">
            <a:avLst/>
          </a:prstGeom>
          <a:noFill/>
          <a:ln w="9525">
            <a:noFill/>
            <a:miter lim="800000"/>
            <a:headEnd/>
            <a:tailEnd/>
          </a:ln>
        </p:spPr>
        <p:txBody>
          <a:bodyPr anchor="ctr">
            <a:spAutoFit/>
          </a:bodyPr>
          <a:lstStyle/>
          <a:p>
            <a:pPr>
              <a:defRPr/>
            </a:pPr>
            <a:r>
              <a:rPr lang="en-US" altLang="zh-CN" sz="4000" b="1" dirty="0">
                <a:solidFill>
                  <a:srgbClr val="92D050"/>
                </a:solidFill>
                <a:latin typeface="+mj-lt"/>
                <a:ea typeface="+mj-ea"/>
                <a:cs typeface="+mj-cs"/>
              </a:rPr>
              <a:t>Environmental Test</a:t>
            </a:r>
            <a:endParaRPr lang="zh-CN" altLang="en-US" sz="4000" b="1" dirty="0">
              <a:solidFill>
                <a:srgbClr val="92D050"/>
              </a:solidFill>
              <a:latin typeface="+mj-lt"/>
              <a:ea typeface="+mj-ea"/>
              <a:cs typeface="+mj-cs"/>
            </a:endParaRPr>
          </a:p>
        </p:txBody>
      </p:sp>
      <p:sp>
        <p:nvSpPr>
          <p:cNvPr id="4" name="灯片编号占位符 3"/>
          <p:cNvSpPr>
            <a:spLocks noGrp="1"/>
          </p:cNvSpPr>
          <p:nvPr>
            <p:ph type="sldNum" sz="quarter" idx="12"/>
          </p:nvPr>
        </p:nvSpPr>
        <p:spPr/>
        <p:txBody>
          <a:bodyPr/>
          <a:lstStyle/>
          <a:p>
            <a:pPr>
              <a:defRPr/>
            </a:pPr>
            <a:fld id="{FD52C5A5-6EA7-4BD0-B8A2-193BCE5BD214}" type="slidenum">
              <a:rPr lang="zh-CN" altLang="en-US" smtClean="0"/>
              <a:pPr>
                <a:defRPr/>
              </a:pPr>
              <a:t>19</a:t>
            </a:fld>
            <a:endParaRPr lang="zh-CN" altLang="en-US"/>
          </a:p>
        </p:txBody>
      </p:sp>
    </p:spTree>
    <p:extLst>
      <p:ext uri="{BB962C8B-B14F-4D97-AF65-F5344CB8AC3E}">
        <p14:creationId xmlns:p14="http://schemas.microsoft.com/office/powerpoint/2010/main" val="31957596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 is Environmental Test</a:t>
            </a:r>
          </a:p>
          <a:p>
            <a:pPr marL="514350" indent="-514350">
              <a:buFont typeface="+mj-lt"/>
              <a:buAutoNum type="arabicPeriod"/>
            </a:pPr>
            <a:r>
              <a:rPr lang="en-US" altLang="zh-CN" sz="3100" dirty="0" smtClean="0">
                <a:latin typeface="Times New Roman" pitchFamily="18" charset="0"/>
                <a:cs typeface="Times New Roman" pitchFamily="18" charset="0"/>
              </a:rPr>
              <a:t>What is Dynamic Environment</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Dynamic Test Matrix and Level</a:t>
            </a:r>
          </a:p>
          <a:p>
            <a:pPr marL="514350" indent="-514350">
              <a:buFont typeface="+mj-lt"/>
              <a:buAutoNum type="arabicPeriod"/>
            </a:pPr>
            <a:r>
              <a:rPr lang="en-US" altLang="zh-CN" sz="3100" dirty="0" smtClean="0">
                <a:latin typeface="Times New Roman" pitchFamily="18" charset="0"/>
                <a:cs typeface="Times New Roman" pitchFamily="18" charset="0"/>
              </a:rPr>
              <a:t>Dynamic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Test matrix</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
        <p:nvSpPr>
          <p:cNvPr id="7" name="Rectangle 1"/>
          <p:cNvSpPr>
            <a:spLocks noChangeArrowheads="1"/>
          </p:cNvSpPr>
          <p:nvPr/>
        </p:nvSpPr>
        <p:spPr bwMode="auto">
          <a:xfrm>
            <a:off x="1071538" y="1171502"/>
            <a:ext cx="67022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266700" fontAlgn="base">
              <a:spcBef>
                <a:spcPct val="0"/>
              </a:spcBef>
              <a:spcAft>
                <a:spcPct val="0"/>
              </a:spcAft>
            </a:pPr>
            <a:r>
              <a:rPr lang="en-US" altLang="zh-CN" sz="2000" b="1" dirty="0" smtClean="0">
                <a:latin typeface="Times New Roman" pitchFamily="18" charset="0"/>
                <a:ea typeface="宋体" pitchFamily="2" charset="-122"/>
                <a:cs typeface="Times New Roman" pitchFamily="18" charset="0"/>
              </a:rPr>
              <a:t>Vehicle Qualification Test Baseline from MIL-STD-1540C</a:t>
            </a:r>
            <a:endPar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61793"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306388" algn="l" defTabSz="914400" rtl="0" eaLnBrk="1" fontAlgn="base" latinLnBrk="0" hangingPunct="1">
              <a:lnSpc>
                <a:spcPct val="100000"/>
              </a:lnSpc>
              <a:spcBef>
                <a:spcPct val="0"/>
              </a:spcBef>
              <a:spcAft>
                <a:spcPct val="0"/>
              </a:spcAft>
              <a:buClrTx/>
              <a:buSzTx/>
              <a:buFontTx/>
              <a:buNone/>
              <a:tabLst/>
            </a:pPr>
            <a:r>
              <a:rPr kumimoji="0" 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表</a:t>
            </a:r>
            <a:r>
              <a:rPr kumimoji="0" lang="en-US" alt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 MIL-STD-1540C</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（美军标）</a:t>
            </a:r>
            <a:r>
              <a:rPr kumimoji="0" lang="en-US" altLang="zh-CN" sz="900" b="1" i="0" u="none" strike="noStrike" cap="none" normalizeH="0" baseline="30000" smtClean="0">
                <a:ln>
                  <a:noFill/>
                </a:ln>
                <a:solidFill>
                  <a:schemeClr val="tx1"/>
                </a:solidFill>
                <a:effectLst/>
                <a:latin typeface="宋体" pitchFamily="2" charset="-122"/>
                <a:ea typeface="宋体" pitchFamily="2" charset="-122"/>
                <a:cs typeface="Times New Roman" pitchFamily="18" charset="0"/>
              </a:rPr>
              <a:t>[2]</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系统级验收试验矩阵</a:t>
            </a:r>
            <a:endParaRPr kumimoji="0" lang="zh-CN" altLang="en-US" sz="600" b="0" i="0" u="none" strike="noStrike" cap="none" normalizeH="0" baseline="0" smtClean="0">
              <a:ln>
                <a:noFill/>
              </a:ln>
              <a:solidFill>
                <a:schemeClr val="tx1"/>
              </a:solidFill>
              <a:effectLst/>
              <a:latin typeface="Arial" pitchFamily="34" charset="0"/>
              <a:ea typeface="宋体" pitchFamily="2" charset="-122"/>
            </a:endParaRPr>
          </a:p>
          <a:p>
            <a:pPr marL="0" marR="0" lvl="0" indent="306388"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pic>
        <p:nvPicPr>
          <p:cNvPr id="178178" name="Picture 2"/>
          <p:cNvPicPr>
            <a:picLocks noChangeAspect="1" noChangeArrowheads="1"/>
          </p:cNvPicPr>
          <p:nvPr/>
        </p:nvPicPr>
        <p:blipFill>
          <a:blip r:embed="rId2"/>
          <a:srcRect l="24219" t="15796" r="21484" b="8125"/>
          <a:stretch>
            <a:fillRect/>
          </a:stretch>
        </p:blipFill>
        <p:spPr bwMode="auto">
          <a:xfrm>
            <a:off x="1785918" y="1549696"/>
            <a:ext cx="5572164" cy="4879700"/>
          </a:xfrm>
          <a:prstGeom prst="rect">
            <a:avLst/>
          </a:prstGeom>
          <a:noFill/>
          <a:ln w="9525">
            <a:noFill/>
            <a:miter lim="800000"/>
            <a:headEnd/>
            <a:tailEnd/>
          </a:ln>
          <a:effectLst/>
        </p:spPr>
      </p:pic>
    </p:spTree>
    <p:extLst>
      <p:ext uri="{BB962C8B-B14F-4D97-AF65-F5344CB8AC3E}">
        <p14:creationId xmlns:p14="http://schemas.microsoft.com/office/powerpoint/2010/main" val="3294653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Test matrix</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sp>
        <p:nvSpPr>
          <p:cNvPr id="7" name="Rectangle 1"/>
          <p:cNvSpPr>
            <a:spLocks noChangeArrowheads="1"/>
          </p:cNvSpPr>
          <p:nvPr/>
        </p:nvSpPr>
        <p:spPr bwMode="auto">
          <a:xfrm>
            <a:off x="1000100" y="1171502"/>
            <a:ext cx="65710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266700" fontAlgn="base">
              <a:spcBef>
                <a:spcPct val="0"/>
              </a:spcBef>
              <a:spcAft>
                <a:spcPct val="0"/>
              </a:spcAft>
            </a:pPr>
            <a:r>
              <a:rPr lang="en-US" altLang="zh-CN" sz="2000" b="1" dirty="0" smtClean="0">
                <a:latin typeface="Times New Roman" pitchFamily="18" charset="0"/>
                <a:ea typeface="宋体" pitchFamily="2" charset="-122"/>
                <a:cs typeface="Times New Roman" pitchFamily="18" charset="0"/>
              </a:rPr>
              <a:t>Vehicle Acceptance Test Baseline from MIL-STD-1540C</a:t>
            </a:r>
            <a:endPar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61793"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306388" algn="l" defTabSz="914400" rtl="0" eaLnBrk="1" fontAlgn="base" latinLnBrk="0" hangingPunct="1">
              <a:lnSpc>
                <a:spcPct val="100000"/>
              </a:lnSpc>
              <a:spcBef>
                <a:spcPct val="0"/>
              </a:spcBef>
              <a:spcAft>
                <a:spcPct val="0"/>
              </a:spcAft>
              <a:buClrTx/>
              <a:buSzTx/>
              <a:buFontTx/>
              <a:buNone/>
              <a:tabLst/>
            </a:pPr>
            <a:r>
              <a:rPr kumimoji="0" 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表</a:t>
            </a:r>
            <a:r>
              <a:rPr kumimoji="0" lang="en-US" alt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 MIL-STD-1540C</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（美军标）</a:t>
            </a:r>
            <a:r>
              <a:rPr kumimoji="0" lang="en-US" altLang="zh-CN" sz="900" b="1" i="0" u="none" strike="noStrike" cap="none" normalizeH="0" baseline="30000" smtClean="0">
                <a:ln>
                  <a:noFill/>
                </a:ln>
                <a:solidFill>
                  <a:schemeClr val="tx1"/>
                </a:solidFill>
                <a:effectLst/>
                <a:latin typeface="宋体" pitchFamily="2" charset="-122"/>
                <a:ea typeface="宋体" pitchFamily="2" charset="-122"/>
                <a:cs typeface="Times New Roman" pitchFamily="18" charset="0"/>
              </a:rPr>
              <a:t>[2]</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系统级验收试验矩阵</a:t>
            </a:r>
            <a:endParaRPr kumimoji="0" lang="zh-CN" altLang="en-US" sz="600" b="0" i="0" u="none" strike="noStrike" cap="none" normalizeH="0" baseline="0" smtClean="0">
              <a:ln>
                <a:noFill/>
              </a:ln>
              <a:solidFill>
                <a:schemeClr val="tx1"/>
              </a:solidFill>
              <a:effectLst/>
              <a:latin typeface="Arial" pitchFamily="34" charset="0"/>
              <a:ea typeface="宋体" pitchFamily="2" charset="-122"/>
            </a:endParaRPr>
          </a:p>
          <a:p>
            <a:pPr marL="0" marR="0" lvl="0" indent="306388"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pic>
        <p:nvPicPr>
          <p:cNvPr id="161795" name="Picture 3"/>
          <p:cNvPicPr>
            <a:picLocks noChangeAspect="1" noChangeArrowheads="1"/>
          </p:cNvPicPr>
          <p:nvPr/>
        </p:nvPicPr>
        <p:blipFill>
          <a:blip r:embed="rId2"/>
          <a:srcRect l="23828" t="20000" r="18750" b="5625"/>
          <a:stretch>
            <a:fillRect/>
          </a:stretch>
        </p:blipFill>
        <p:spPr bwMode="auto">
          <a:xfrm>
            <a:off x="1357290" y="1500174"/>
            <a:ext cx="6000792" cy="4857784"/>
          </a:xfrm>
          <a:prstGeom prst="rect">
            <a:avLst/>
          </a:prstGeom>
          <a:noFill/>
          <a:ln w="9525">
            <a:noFill/>
            <a:miter lim="800000"/>
            <a:headEnd/>
            <a:tailEnd/>
          </a:ln>
          <a:effectLst/>
        </p:spPr>
      </p:pic>
    </p:spTree>
    <p:extLst>
      <p:ext uri="{BB962C8B-B14F-4D97-AF65-F5344CB8AC3E}">
        <p14:creationId xmlns:p14="http://schemas.microsoft.com/office/powerpoint/2010/main" val="3294653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Test matrix</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sp>
        <p:nvSpPr>
          <p:cNvPr id="7" name="Rectangle 1"/>
          <p:cNvSpPr>
            <a:spLocks noChangeArrowheads="1"/>
          </p:cNvSpPr>
          <p:nvPr/>
        </p:nvSpPr>
        <p:spPr bwMode="auto">
          <a:xfrm>
            <a:off x="1357290" y="1171502"/>
            <a:ext cx="64629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266700" fontAlgn="base">
              <a:spcBef>
                <a:spcPct val="0"/>
              </a:spcBef>
              <a:spcAft>
                <a:spcPct val="0"/>
              </a:spcAft>
            </a:pPr>
            <a:r>
              <a:rPr lang="en-US" altLang="zh-CN" sz="2000" b="1" dirty="0" smtClean="0">
                <a:latin typeface="Times New Roman" pitchFamily="18" charset="0"/>
                <a:ea typeface="宋体" pitchFamily="2" charset="-122"/>
                <a:cs typeface="Times New Roman" pitchFamily="18" charset="0"/>
              </a:rPr>
              <a:t>Unit Qualification Test Baseline from MIL-STD-1540C</a:t>
            </a:r>
            <a:endPar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61793"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306388" algn="l" defTabSz="914400" rtl="0" eaLnBrk="1" fontAlgn="base" latinLnBrk="0" hangingPunct="1">
              <a:lnSpc>
                <a:spcPct val="100000"/>
              </a:lnSpc>
              <a:spcBef>
                <a:spcPct val="0"/>
              </a:spcBef>
              <a:spcAft>
                <a:spcPct val="0"/>
              </a:spcAft>
              <a:buClrTx/>
              <a:buSzTx/>
              <a:buFontTx/>
              <a:buNone/>
              <a:tabLst/>
            </a:pPr>
            <a:r>
              <a:rPr kumimoji="0" 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表</a:t>
            </a:r>
            <a:r>
              <a:rPr kumimoji="0" lang="en-US" alt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 MIL-STD-1540C</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（美军标）</a:t>
            </a:r>
            <a:r>
              <a:rPr kumimoji="0" lang="en-US" altLang="zh-CN" sz="900" b="1" i="0" u="none" strike="noStrike" cap="none" normalizeH="0" baseline="30000" smtClean="0">
                <a:ln>
                  <a:noFill/>
                </a:ln>
                <a:solidFill>
                  <a:schemeClr val="tx1"/>
                </a:solidFill>
                <a:effectLst/>
                <a:latin typeface="宋体" pitchFamily="2" charset="-122"/>
                <a:ea typeface="宋体" pitchFamily="2" charset="-122"/>
                <a:cs typeface="Times New Roman" pitchFamily="18" charset="0"/>
              </a:rPr>
              <a:t>[2]</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系统级验收试验矩阵</a:t>
            </a:r>
            <a:endParaRPr kumimoji="0" lang="zh-CN" altLang="en-US" sz="600" b="0" i="0" u="none" strike="noStrike" cap="none" normalizeH="0" baseline="0" smtClean="0">
              <a:ln>
                <a:noFill/>
              </a:ln>
              <a:solidFill>
                <a:schemeClr val="tx1"/>
              </a:solidFill>
              <a:effectLst/>
              <a:latin typeface="Arial" pitchFamily="34" charset="0"/>
              <a:ea typeface="宋体" pitchFamily="2" charset="-122"/>
            </a:endParaRPr>
          </a:p>
          <a:p>
            <a:pPr marL="0" marR="0" lvl="0" indent="306388"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pic>
        <p:nvPicPr>
          <p:cNvPr id="161794" name="Picture 2"/>
          <p:cNvPicPr>
            <a:picLocks noChangeAspect="1" noChangeArrowheads="1"/>
          </p:cNvPicPr>
          <p:nvPr/>
        </p:nvPicPr>
        <p:blipFill>
          <a:blip r:embed="rId2"/>
          <a:srcRect l="20313" t="20241" r="17968" b="8125"/>
          <a:stretch>
            <a:fillRect/>
          </a:stretch>
        </p:blipFill>
        <p:spPr bwMode="auto">
          <a:xfrm>
            <a:off x="1214414" y="1610013"/>
            <a:ext cx="6643734" cy="4819383"/>
          </a:xfrm>
          <a:prstGeom prst="rect">
            <a:avLst/>
          </a:prstGeom>
          <a:noFill/>
          <a:ln w="9525">
            <a:noFill/>
            <a:miter lim="800000"/>
            <a:headEnd/>
            <a:tailEnd/>
          </a:ln>
          <a:effectLst/>
        </p:spPr>
      </p:pic>
    </p:spTree>
    <p:extLst>
      <p:ext uri="{BB962C8B-B14F-4D97-AF65-F5344CB8AC3E}">
        <p14:creationId xmlns:p14="http://schemas.microsoft.com/office/powerpoint/2010/main" val="3294653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Test matrix</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sp>
        <p:nvSpPr>
          <p:cNvPr id="7" name="Rectangle 1"/>
          <p:cNvSpPr>
            <a:spLocks noChangeArrowheads="1"/>
          </p:cNvSpPr>
          <p:nvPr/>
        </p:nvSpPr>
        <p:spPr bwMode="auto">
          <a:xfrm>
            <a:off x="1357290" y="1171502"/>
            <a:ext cx="62676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266700" fontAlgn="base">
              <a:spcBef>
                <a:spcPct val="0"/>
              </a:spcBef>
              <a:spcAft>
                <a:spcPct val="0"/>
              </a:spcAft>
            </a:pPr>
            <a:r>
              <a:rPr lang="en-US" altLang="zh-CN" sz="2000" b="1" dirty="0" smtClean="0">
                <a:latin typeface="Times New Roman" pitchFamily="18" charset="0"/>
                <a:ea typeface="宋体" pitchFamily="2" charset="-122"/>
                <a:cs typeface="Times New Roman" pitchFamily="18" charset="0"/>
              </a:rPr>
              <a:t>Unit Acceptance Test Baseline from MIL-STD-1540C</a:t>
            </a:r>
            <a:endPar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61793"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306388" algn="l" defTabSz="914400" rtl="0" eaLnBrk="1" fontAlgn="base" latinLnBrk="0" hangingPunct="1">
              <a:lnSpc>
                <a:spcPct val="100000"/>
              </a:lnSpc>
              <a:spcBef>
                <a:spcPct val="0"/>
              </a:spcBef>
              <a:spcAft>
                <a:spcPct val="0"/>
              </a:spcAft>
              <a:buClrTx/>
              <a:buSzTx/>
              <a:buFontTx/>
              <a:buNone/>
              <a:tabLst/>
            </a:pPr>
            <a:r>
              <a:rPr kumimoji="0" 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表</a:t>
            </a:r>
            <a:r>
              <a:rPr kumimoji="0" lang="en-US" altLang="zh-CN"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 MIL-STD-1540C</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（美军标）</a:t>
            </a:r>
            <a:r>
              <a:rPr kumimoji="0" lang="en-US" altLang="zh-CN" sz="900" b="1" i="0" u="none" strike="noStrike" cap="none" normalizeH="0" baseline="30000" smtClean="0">
                <a:ln>
                  <a:noFill/>
                </a:ln>
                <a:solidFill>
                  <a:schemeClr val="tx1"/>
                </a:solidFill>
                <a:effectLst/>
                <a:latin typeface="宋体" pitchFamily="2" charset="-122"/>
                <a:ea typeface="宋体" pitchFamily="2" charset="-122"/>
                <a:cs typeface="Times New Roman" pitchFamily="18" charset="0"/>
              </a:rPr>
              <a:t>[2]</a:t>
            </a:r>
            <a:r>
              <a:rPr kumimoji="0" lang="zh-CN" altLang="en-US" sz="9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系统级验收试验矩阵</a:t>
            </a:r>
            <a:endParaRPr kumimoji="0" lang="zh-CN" altLang="en-US" sz="600" b="0" i="0" u="none" strike="noStrike" cap="none" normalizeH="0" baseline="0" smtClean="0">
              <a:ln>
                <a:noFill/>
              </a:ln>
              <a:solidFill>
                <a:schemeClr val="tx1"/>
              </a:solidFill>
              <a:effectLst/>
              <a:latin typeface="Arial" pitchFamily="34" charset="0"/>
              <a:ea typeface="宋体" pitchFamily="2" charset="-122"/>
            </a:endParaRPr>
          </a:p>
          <a:p>
            <a:pPr marL="0" marR="0" lvl="0" indent="306388"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pic>
        <p:nvPicPr>
          <p:cNvPr id="177154" name="Picture 2"/>
          <p:cNvPicPr>
            <a:picLocks noChangeAspect="1" noChangeArrowheads="1"/>
          </p:cNvPicPr>
          <p:nvPr/>
        </p:nvPicPr>
        <p:blipFill>
          <a:blip r:embed="rId2"/>
          <a:srcRect l="13281" t="12500" r="10937" b="5625"/>
          <a:stretch>
            <a:fillRect/>
          </a:stretch>
        </p:blipFill>
        <p:spPr bwMode="auto">
          <a:xfrm>
            <a:off x="928663" y="1571613"/>
            <a:ext cx="7088176" cy="4786345"/>
          </a:xfrm>
          <a:prstGeom prst="rect">
            <a:avLst/>
          </a:prstGeom>
          <a:noFill/>
          <a:ln w="9525">
            <a:noFill/>
            <a:miter lim="800000"/>
            <a:headEnd/>
            <a:tailEnd/>
          </a:ln>
          <a:effectLst/>
        </p:spPr>
      </p:pic>
    </p:spTree>
    <p:extLst>
      <p:ext uri="{BB962C8B-B14F-4D97-AF65-F5344CB8AC3E}">
        <p14:creationId xmlns:p14="http://schemas.microsoft.com/office/powerpoint/2010/main" val="3294653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itchFamily="18" charset="0"/>
                <a:cs typeface="Times New Roman" pitchFamily="18" charset="0"/>
              </a:rPr>
              <a:t>Test level</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sp>
        <p:nvSpPr>
          <p:cNvPr id="7" name="Rectangle 1"/>
          <p:cNvSpPr>
            <a:spLocks noChangeArrowheads="1"/>
          </p:cNvSpPr>
          <p:nvPr/>
        </p:nvSpPr>
        <p:spPr bwMode="auto">
          <a:xfrm>
            <a:off x="783716" y="1928802"/>
            <a:ext cx="26452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ctr" defTabSz="914400" rtl="0" eaLnBrk="1" fontAlgn="base" latinLnBrk="0" hangingPunct="1">
              <a:lnSpc>
                <a:spcPct val="100000"/>
              </a:lnSpc>
              <a:spcBef>
                <a:spcPct val="0"/>
              </a:spcBef>
              <a:spcAft>
                <a:spcPct val="0"/>
              </a:spcAft>
              <a:buClrTx/>
              <a:buSzTx/>
              <a:buFontTx/>
              <a:buNone/>
              <a:tabLst/>
            </a:pPr>
            <a:r>
              <a:rPr lang="en-US" altLang="zh-CN" sz="1600" b="1" dirty="0" smtClean="0">
                <a:latin typeface="Times New Roman" pitchFamily="18" charset="0"/>
                <a:ea typeface="宋体" pitchFamily="2" charset="-122"/>
                <a:cs typeface="Times New Roman" pitchFamily="18" charset="0"/>
              </a:rPr>
              <a:t>Sine test level  of satellite</a:t>
            </a:r>
            <a:endParaRPr kumimoji="0" lang="zh-CN" altLang="en-US"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9" name="Rectangle 1"/>
          <p:cNvSpPr>
            <a:spLocks noChangeArrowheads="1"/>
          </p:cNvSpPr>
          <p:nvPr/>
        </p:nvSpPr>
        <p:spPr bwMode="auto">
          <a:xfrm>
            <a:off x="4500562" y="2000240"/>
            <a:ext cx="383149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266700" algn="ctr" fontAlgn="base">
              <a:spcBef>
                <a:spcPct val="0"/>
              </a:spcBef>
              <a:spcAft>
                <a:spcPct val="0"/>
              </a:spcAft>
            </a:pPr>
            <a:r>
              <a:rPr lang="en-US" altLang="zh-CN" sz="1600" b="1" dirty="0" smtClean="0">
                <a:latin typeface="Times New Roman" pitchFamily="18" charset="0"/>
                <a:ea typeface="宋体" pitchFamily="2" charset="-122"/>
                <a:cs typeface="Times New Roman" pitchFamily="18" charset="0"/>
              </a:rPr>
              <a:t>Random vibration test </a:t>
            </a:r>
            <a:r>
              <a:rPr lang="en-US" altLang="zh-CN" sz="1600" b="1" dirty="0">
                <a:latin typeface="Times New Roman" pitchFamily="18" charset="0"/>
                <a:ea typeface="宋体" pitchFamily="2" charset="-122"/>
                <a:cs typeface="Times New Roman" pitchFamily="18" charset="0"/>
              </a:rPr>
              <a:t>level of satellite</a:t>
            </a:r>
            <a:endParaRPr kumimoji="0" lang="zh-CN" altLang="en-US"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0" name="矩形 9"/>
          <p:cNvSpPr/>
          <p:nvPr/>
        </p:nvSpPr>
        <p:spPr>
          <a:xfrm>
            <a:off x="142844" y="1428736"/>
            <a:ext cx="7721024" cy="461665"/>
          </a:xfrm>
          <a:prstGeom prst="rect">
            <a:avLst/>
          </a:prstGeom>
        </p:spPr>
        <p:txBody>
          <a:bodyPr wrap="none">
            <a:spAutoFit/>
          </a:bodyPr>
          <a:lstStyle/>
          <a:p>
            <a:r>
              <a:rPr lang="en-US" altLang="zh-CN" sz="2400" b="1" dirty="0" smtClean="0">
                <a:latin typeface="Times New Roman" pitchFamily="18" charset="0"/>
                <a:cs typeface="Times New Roman" pitchFamily="18" charset="0"/>
              </a:rPr>
              <a:t>Test condition for vibration and shock test for ETRSS-1</a:t>
            </a:r>
            <a:endParaRPr lang="zh-CN" altLang="en-US" sz="2400" b="1" dirty="0">
              <a:latin typeface="Times New Roman" pitchFamily="18" charset="0"/>
              <a:cs typeface="Times New Roman" pitchFamily="18" charset="0"/>
            </a:endParaRPr>
          </a:p>
        </p:txBody>
      </p:sp>
      <p:graphicFrame>
        <p:nvGraphicFramePr>
          <p:cNvPr id="11" name="内容占位符 5"/>
          <p:cNvGraphicFramePr>
            <a:graphicFrameLocks/>
          </p:cNvGraphicFramePr>
          <p:nvPr>
            <p:extLst>
              <p:ext uri="{D42A27DB-BD31-4B8C-83A1-F6EECF244321}">
                <p14:modId xmlns:p14="http://schemas.microsoft.com/office/powerpoint/2010/main" val="3670970193"/>
              </p:ext>
            </p:extLst>
          </p:nvPr>
        </p:nvGraphicFramePr>
        <p:xfrm>
          <a:off x="735326" y="5214950"/>
          <a:ext cx="3265170" cy="834392"/>
        </p:xfrm>
        <a:graphic>
          <a:graphicData uri="http://schemas.openxmlformats.org/drawingml/2006/table">
            <a:tbl>
              <a:tblPr firstRow="1" firstCol="1" bandRow="1" bandCol="1">
                <a:tableStyleId>{5C22544A-7EE6-4342-B048-85BDC9FD1C3A}</a:tableStyleId>
              </a:tblPr>
              <a:tblGrid>
                <a:gridCol w="1362710"/>
                <a:gridCol w="1902460"/>
              </a:tblGrid>
              <a:tr h="285752">
                <a:tc>
                  <a:txBody>
                    <a:bodyPr/>
                    <a:lstStyle/>
                    <a:p>
                      <a:pPr marL="0" indent="10160" algn="ctr" defTabSz="914400" rtl="0" eaLnBrk="1" latinLnBrk="0" hangingPunct="1">
                        <a:lnSpc>
                          <a:spcPct val="150000"/>
                        </a:lnSpc>
                        <a:spcAft>
                          <a:spcPts val="0"/>
                        </a:spcAft>
                      </a:pPr>
                      <a:r>
                        <a:rPr lang="en-US" altLang="zh-CN" sz="1200" kern="100" dirty="0" smtClean="0">
                          <a:solidFill>
                            <a:schemeClr val="dk1"/>
                          </a:solidFill>
                          <a:effectLst/>
                          <a:latin typeface="Times New Roman" pitchFamily="18" charset="0"/>
                          <a:ea typeface="+mn-ea"/>
                          <a:cs typeface="Times New Roman" pitchFamily="18" charset="0"/>
                        </a:rPr>
                        <a:t>Frequency/</a:t>
                      </a:r>
                      <a:r>
                        <a:rPr lang="en-US" sz="1200" kern="100" dirty="0" smtClean="0">
                          <a:solidFill>
                            <a:schemeClr val="dk1"/>
                          </a:solidFill>
                          <a:effectLst/>
                          <a:latin typeface="Times New Roman" pitchFamily="18" charset="0"/>
                          <a:ea typeface="+mn-ea"/>
                          <a:cs typeface="Times New Roman" pitchFamily="18" charset="0"/>
                        </a:rPr>
                        <a:t>Hz</a:t>
                      </a:r>
                      <a:endParaRPr lang="zh-CN" sz="1200" kern="100" dirty="0">
                        <a:solidFill>
                          <a:schemeClr val="dk1"/>
                        </a:solidFill>
                        <a:effectLst/>
                        <a:latin typeface="Times New Roman" pitchFamily="18" charset="0"/>
                        <a:ea typeface="+mn-ea"/>
                        <a:cs typeface="Times New Roman" pitchFamily="18" charset="0"/>
                      </a:endParaRPr>
                    </a:p>
                  </a:txBody>
                  <a:tcPr marL="76200" marR="76200" marT="0" marB="0"/>
                </a:tc>
                <a:tc>
                  <a:txBody>
                    <a:bodyPr/>
                    <a:lstStyle/>
                    <a:p>
                      <a:pPr marL="0" indent="10160" algn="ctr" defTabSz="914400" rtl="0" eaLnBrk="1" latinLnBrk="0" hangingPunct="1">
                        <a:lnSpc>
                          <a:spcPct val="150000"/>
                        </a:lnSpc>
                        <a:spcAft>
                          <a:spcPts val="0"/>
                        </a:spcAft>
                      </a:pPr>
                      <a:r>
                        <a:rPr lang="en-US" altLang="zh-CN" sz="1200" kern="100" dirty="0" smtClean="0">
                          <a:solidFill>
                            <a:schemeClr val="dk1"/>
                          </a:solidFill>
                          <a:effectLst/>
                          <a:latin typeface="Times New Roman" pitchFamily="18" charset="0"/>
                          <a:ea typeface="+mn-ea"/>
                          <a:cs typeface="Times New Roman" pitchFamily="18" charset="0"/>
                        </a:rPr>
                        <a:t>LEVEL</a:t>
                      </a:r>
                      <a:endParaRPr lang="zh-CN" sz="1200" kern="100" dirty="0">
                        <a:solidFill>
                          <a:schemeClr val="dk1"/>
                        </a:solidFill>
                        <a:effectLst/>
                        <a:latin typeface="Times New Roman" pitchFamily="18" charset="0"/>
                        <a:ea typeface="+mn-ea"/>
                        <a:cs typeface="Times New Roman" pitchFamily="18" charset="0"/>
                      </a:endParaRPr>
                    </a:p>
                  </a:txBody>
                  <a:tcPr marL="76200" marR="76200" marT="0" marB="0"/>
                </a:tc>
              </a:tr>
              <a:tr h="187325">
                <a:tc>
                  <a:txBody>
                    <a:bodyPr/>
                    <a:lstStyle/>
                    <a:p>
                      <a:pPr marL="0" indent="10160" algn="ctr" defTabSz="914400" rtl="0" eaLnBrk="1" latinLnBrk="0" hangingPunct="1">
                        <a:lnSpc>
                          <a:spcPct val="150000"/>
                        </a:lnSpc>
                        <a:spcAft>
                          <a:spcPts val="0"/>
                        </a:spcAft>
                      </a:pPr>
                      <a:r>
                        <a:rPr lang="en-US" sz="1200" kern="100" dirty="0" smtClean="0">
                          <a:solidFill>
                            <a:schemeClr val="dk1"/>
                          </a:solidFill>
                          <a:effectLst/>
                          <a:latin typeface="Times New Roman" pitchFamily="18" charset="0"/>
                          <a:ea typeface="+mn-ea"/>
                          <a:cs typeface="Times New Roman" pitchFamily="18" charset="0"/>
                        </a:rPr>
                        <a:t>100</a:t>
                      </a:r>
                      <a:r>
                        <a:rPr lang="zh-CN" sz="1200" kern="100" dirty="0" smtClean="0">
                          <a:solidFill>
                            <a:schemeClr val="dk1"/>
                          </a:solidFill>
                          <a:effectLst/>
                          <a:latin typeface="Times New Roman" pitchFamily="18" charset="0"/>
                          <a:ea typeface="+mn-ea"/>
                          <a:cs typeface="Times New Roman" pitchFamily="18" charset="0"/>
                        </a:rPr>
                        <a:t>～</a:t>
                      </a:r>
                      <a:r>
                        <a:rPr lang="en-US" sz="1200" kern="100" dirty="0" smtClean="0">
                          <a:solidFill>
                            <a:schemeClr val="dk1"/>
                          </a:solidFill>
                          <a:effectLst/>
                          <a:latin typeface="Times New Roman" pitchFamily="18" charset="0"/>
                          <a:ea typeface="+mn-ea"/>
                          <a:cs typeface="Times New Roman" pitchFamily="18" charset="0"/>
                        </a:rPr>
                        <a:t>500</a:t>
                      </a:r>
                      <a:endParaRPr lang="zh-CN" sz="1200" kern="100" dirty="0">
                        <a:solidFill>
                          <a:schemeClr val="dk1"/>
                        </a:solidFill>
                        <a:effectLst/>
                        <a:latin typeface="Times New Roman" pitchFamily="18" charset="0"/>
                        <a:ea typeface="+mn-ea"/>
                        <a:cs typeface="Times New Roman" pitchFamily="18" charset="0"/>
                      </a:endParaRPr>
                    </a:p>
                  </a:txBody>
                  <a:tcPr marL="76200" marR="76200" marT="0" marB="0"/>
                </a:tc>
                <a:tc>
                  <a:txBody>
                    <a:bodyPr/>
                    <a:lstStyle/>
                    <a:p>
                      <a:pPr marL="0" indent="10160" algn="ctr" defTabSz="914400" rtl="0" eaLnBrk="1" latinLnBrk="0" hangingPunct="1">
                        <a:lnSpc>
                          <a:spcPct val="150000"/>
                        </a:lnSpc>
                        <a:spcAft>
                          <a:spcPts val="0"/>
                        </a:spcAft>
                      </a:pPr>
                      <a:r>
                        <a:rPr lang="en-US" sz="1200" kern="100" dirty="0" smtClean="0">
                          <a:solidFill>
                            <a:schemeClr val="dk1"/>
                          </a:solidFill>
                          <a:effectLst/>
                          <a:latin typeface="Times New Roman" pitchFamily="18" charset="0"/>
                          <a:ea typeface="+mn-ea"/>
                          <a:cs typeface="Times New Roman" pitchFamily="18" charset="0"/>
                        </a:rPr>
                        <a:t>+12dB/</a:t>
                      </a:r>
                      <a:r>
                        <a:rPr lang="en-US" sz="1200" kern="100" dirty="0" err="1" smtClean="0">
                          <a:solidFill>
                            <a:schemeClr val="dk1"/>
                          </a:solidFill>
                          <a:effectLst/>
                          <a:latin typeface="Times New Roman" pitchFamily="18" charset="0"/>
                          <a:ea typeface="+mn-ea"/>
                          <a:cs typeface="Times New Roman" pitchFamily="18" charset="0"/>
                        </a:rPr>
                        <a:t>oct</a:t>
                      </a:r>
                      <a:endParaRPr lang="zh-CN" sz="1200" kern="100" dirty="0">
                        <a:solidFill>
                          <a:schemeClr val="dk1"/>
                        </a:solidFill>
                        <a:effectLst/>
                        <a:latin typeface="Times New Roman" pitchFamily="18" charset="0"/>
                        <a:ea typeface="+mn-ea"/>
                        <a:cs typeface="Times New Roman" pitchFamily="18" charset="0"/>
                      </a:endParaRPr>
                    </a:p>
                  </a:txBody>
                  <a:tcPr marL="76200" marR="76200" marT="0" marB="0"/>
                </a:tc>
              </a:tr>
              <a:tr h="0">
                <a:tc>
                  <a:txBody>
                    <a:bodyPr/>
                    <a:lstStyle/>
                    <a:p>
                      <a:pPr marL="0" indent="10160" algn="ctr" defTabSz="914400" rtl="0" eaLnBrk="1" latinLnBrk="0" hangingPunct="1">
                        <a:lnSpc>
                          <a:spcPct val="150000"/>
                        </a:lnSpc>
                        <a:spcAft>
                          <a:spcPts val="0"/>
                        </a:spcAft>
                      </a:pPr>
                      <a:r>
                        <a:rPr lang="en-US" sz="1200" kern="100" dirty="0" smtClean="0">
                          <a:solidFill>
                            <a:schemeClr val="dk1"/>
                          </a:solidFill>
                          <a:effectLst/>
                          <a:latin typeface="Times New Roman" pitchFamily="18" charset="0"/>
                          <a:ea typeface="+mn-ea"/>
                          <a:cs typeface="Times New Roman" pitchFamily="18" charset="0"/>
                        </a:rPr>
                        <a:t>500</a:t>
                      </a:r>
                      <a:r>
                        <a:rPr lang="zh-CN" sz="1200" kern="100" dirty="0" smtClean="0">
                          <a:solidFill>
                            <a:schemeClr val="dk1"/>
                          </a:solidFill>
                          <a:effectLst/>
                          <a:latin typeface="Times New Roman" pitchFamily="18" charset="0"/>
                          <a:ea typeface="+mn-ea"/>
                          <a:cs typeface="Times New Roman" pitchFamily="18" charset="0"/>
                        </a:rPr>
                        <a:t>～</a:t>
                      </a:r>
                      <a:r>
                        <a:rPr lang="en-US" sz="1200" kern="100" dirty="0" smtClean="0">
                          <a:solidFill>
                            <a:schemeClr val="dk1"/>
                          </a:solidFill>
                          <a:effectLst/>
                          <a:latin typeface="Times New Roman" pitchFamily="18" charset="0"/>
                          <a:ea typeface="+mn-ea"/>
                          <a:cs typeface="Times New Roman" pitchFamily="18" charset="0"/>
                        </a:rPr>
                        <a:t>5000</a:t>
                      </a:r>
                      <a:endParaRPr lang="zh-CN" sz="1200" kern="100" dirty="0">
                        <a:solidFill>
                          <a:schemeClr val="dk1"/>
                        </a:solidFill>
                        <a:effectLst/>
                        <a:latin typeface="Times New Roman" pitchFamily="18" charset="0"/>
                        <a:ea typeface="+mn-ea"/>
                        <a:cs typeface="Times New Roman" pitchFamily="18" charset="0"/>
                      </a:endParaRPr>
                    </a:p>
                  </a:txBody>
                  <a:tcPr marL="76200" marR="76200" marT="0" marB="0"/>
                </a:tc>
                <a:tc>
                  <a:txBody>
                    <a:bodyPr/>
                    <a:lstStyle/>
                    <a:p>
                      <a:pPr marL="0" indent="1016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1</a:t>
                      </a:r>
                      <a:r>
                        <a:rPr lang="en-US" sz="1200" kern="100" dirty="0" smtClean="0">
                          <a:solidFill>
                            <a:schemeClr val="dk1"/>
                          </a:solidFill>
                          <a:effectLst/>
                          <a:latin typeface="Times New Roman" pitchFamily="18" charset="0"/>
                          <a:ea typeface="+mn-ea"/>
                          <a:cs typeface="Times New Roman" pitchFamily="18" charset="0"/>
                        </a:rPr>
                        <a:t>000g</a:t>
                      </a:r>
                      <a:endParaRPr lang="zh-CN" sz="1200" kern="100" dirty="0">
                        <a:solidFill>
                          <a:schemeClr val="dk1"/>
                        </a:solidFill>
                        <a:effectLst/>
                        <a:latin typeface="Times New Roman" pitchFamily="18" charset="0"/>
                        <a:ea typeface="+mn-ea"/>
                        <a:cs typeface="Times New Roman" pitchFamily="18" charset="0"/>
                      </a:endParaRPr>
                    </a:p>
                  </a:txBody>
                  <a:tcPr marL="76200" marR="76200" marT="0" marB="0"/>
                </a:tc>
              </a:tr>
            </a:tbl>
          </a:graphicData>
        </a:graphic>
      </p:graphicFrame>
      <p:sp>
        <p:nvSpPr>
          <p:cNvPr id="12" name="Rectangle 1"/>
          <p:cNvSpPr>
            <a:spLocks noChangeArrowheads="1"/>
          </p:cNvSpPr>
          <p:nvPr/>
        </p:nvSpPr>
        <p:spPr bwMode="auto">
          <a:xfrm>
            <a:off x="590380" y="4786322"/>
            <a:ext cx="33105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266700" algn="ctr" fontAlgn="base">
              <a:spcBef>
                <a:spcPct val="0"/>
              </a:spcBef>
              <a:spcAft>
                <a:spcPct val="0"/>
              </a:spcAft>
            </a:pPr>
            <a:r>
              <a:rPr lang="en-US" altLang="zh-CN" sz="2000" b="1" dirty="0" smtClean="0">
                <a:latin typeface="Times New Roman" pitchFamily="18" charset="0"/>
                <a:ea typeface="宋体" pitchFamily="2" charset="-122"/>
                <a:cs typeface="Times New Roman" pitchFamily="18" charset="0"/>
              </a:rPr>
              <a:t>Shock test </a:t>
            </a:r>
            <a:r>
              <a:rPr lang="en-US" altLang="zh-CN" sz="2000" b="1" dirty="0">
                <a:latin typeface="Times New Roman" pitchFamily="18" charset="0"/>
                <a:ea typeface="宋体" pitchFamily="2" charset="-122"/>
                <a:cs typeface="Times New Roman" pitchFamily="18" charset="0"/>
              </a:rPr>
              <a:t>level of satellite</a:t>
            </a:r>
            <a:endParaRPr kumimoji="0" lang="zh-CN" altLang="en-US"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graphicFrame>
        <p:nvGraphicFramePr>
          <p:cNvPr id="15" name="内容占位符 5"/>
          <p:cNvGraphicFramePr>
            <a:graphicFrameLocks/>
          </p:cNvGraphicFramePr>
          <p:nvPr>
            <p:extLst>
              <p:ext uri="{D42A27DB-BD31-4B8C-83A1-F6EECF244321}">
                <p14:modId xmlns:p14="http://schemas.microsoft.com/office/powerpoint/2010/main" val="3477387499"/>
              </p:ext>
            </p:extLst>
          </p:nvPr>
        </p:nvGraphicFramePr>
        <p:xfrm>
          <a:off x="571472" y="2428868"/>
          <a:ext cx="3500462" cy="2194560"/>
        </p:xfrm>
        <a:graphic>
          <a:graphicData uri="http://schemas.openxmlformats.org/drawingml/2006/table">
            <a:tbl>
              <a:tblPr>
                <a:tableStyleId>{5C22544A-7EE6-4342-B048-85BDC9FD1C3A}</a:tableStyleId>
              </a:tblPr>
              <a:tblGrid>
                <a:gridCol w="1178006"/>
                <a:gridCol w="1182771"/>
                <a:gridCol w="1139685"/>
              </a:tblGrid>
              <a:tr h="60325">
                <a:tc>
                  <a:txBody>
                    <a:bodyPr/>
                    <a:lstStyle/>
                    <a:p>
                      <a:pPr algn="ctr">
                        <a:lnSpc>
                          <a:spcPct val="150000"/>
                        </a:lnSpc>
                        <a:spcAft>
                          <a:spcPts val="0"/>
                        </a:spcAft>
                      </a:pPr>
                      <a:r>
                        <a:rPr lang="en-US" sz="1200" kern="100" dirty="0" smtClean="0">
                          <a:effectLst/>
                          <a:latin typeface="Times New Roman" pitchFamily="18" charset="0"/>
                          <a:cs typeface="Times New Roman" pitchFamily="18" charset="0"/>
                        </a:rPr>
                        <a:t>Frequency/Hz</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50000"/>
                        </a:lnSpc>
                        <a:spcAft>
                          <a:spcPts val="0"/>
                        </a:spcAft>
                      </a:pPr>
                      <a:r>
                        <a:rPr lang="en-US" sz="1200" kern="100" dirty="0" smtClean="0">
                          <a:effectLst/>
                          <a:latin typeface="Times New Roman" pitchFamily="18" charset="0"/>
                          <a:cs typeface="Times New Roman" pitchFamily="18" charset="0"/>
                        </a:rPr>
                        <a:t>Acceptance</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indent="0" algn="ctr">
                        <a:lnSpc>
                          <a:spcPct val="150000"/>
                        </a:lnSpc>
                        <a:spcAft>
                          <a:spcPts val="0"/>
                        </a:spcAft>
                      </a:pPr>
                      <a:r>
                        <a:rPr lang="en-US" altLang="zh-CN" sz="1200" kern="100" dirty="0" smtClean="0">
                          <a:latin typeface="Times New Roman"/>
                          <a:ea typeface="+mn-ea"/>
                          <a:cs typeface="Times New Roman"/>
                        </a:rPr>
                        <a:t>Qualification</a:t>
                      </a:r>
                      <a:endParaRPr lang="zh-CN" altLang="en-US" sz="1200" kern="100" dirty="0">
                        <a:latin typeface="Times New Roman"/>
                        <a:ea typeface="+mn-ea"/>
                        <a:cs typeface="Times New Roman"/>
                      </a:endParaRPr>
                    </a:p>
                  </a:txBody>
                  <a:tcPr marL="68580" marR="68580" marT="0" marB="0" anchor="ctr"/>
                </a:tc>
              </a:tr>
              <a:tr h="118110">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5~8</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5.86mm</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8.79mm</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r>
              <a:tr h="121920">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8~19</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1.5g</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2.25g</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r>
              <a:tr h="197485">
                <a:tc>
                  <a:txBody>
                    <a:bodyPr/>
                    <a:lstStyle/>
                    <a:p>
                      <a:pPr marL="0" indent="0" algn="ctr" defTabSz="914400" rtl="0" eaLnBrk="1" latinLnBrk="0" hangingPunct="1">
                        <a:lnSpc>
                          <a:spcPct val="150000"/>
                        </a:lnSpc>
                        <a:spcAft>
                          <a:spcPts val="0"/>
                        </a:spcAft>
                      </a:pPr>
                      <a:r>
                        <a:rPr lang="en-US" sz="1200" kern="100">
                          <a:solidFill>
                            <a:schemeClr val="dk1"/>
                          </a:solidFill>
                          <a:effectLst/>
                          <a:latin typeface="Times New Roman" pitchFamily="18" charset="0"/>
                          <a:ea typeface="+mn-ea"/>
                          <a:cs typeface="Times New Roman" pitchFamily="18" charset="0"/>
                        </a:rPr>
                        <a:t>19~100</a:t>
                      </a:r>
                      <a:endParaRPr lang="zh-CN" sz="1200" kern="10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2.0g</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0" algn="ctr" defTabSz="914400" rtl="0" eaLnBrk="1" latinLnBrk="0" hangingPunct="1">
                        <a:lnSpc>
                          <a:spcPct val="150000"/>
                        </a:lnSpc>
                        <a:spcAft>
                          <a:spcPts val="0"/>
                        </a:spcAft>
                      </a:pPr>
                      <a:r>
                        <a:rPr lang="en-US" sz="1200" kern="100" dirty="0">
                          <a:solidFill>
                            <a:schemeClr val="dk1"/>
                          </a:solidFill>
                          <a:effectLst/>
                          <a:latin typeface="Times New Roman" pitchFamily="18" charset="0"/>
                          <a:ea typeface="+mn-ea"/>
                          <a:cs typeface="Times New Roman" pitchFamily="18" charset="0"/>
                        </a:rPr>
                        <a:t>3.0g</a:t>
                      </a:r>
                      <a:endParaRPr lang="zh-CN" sz="1200" kern="100" dirty="0">
                        <a:solidFill>
                          <a:schemeClr val="dk1"/>
                        </a:solidFill>
                        <a:effectLst/>
                        <a:latin typeface="Times New Roman" pitchFamily="18" charset="0"/>
                        <a:ea typeface="+mn-ea"/>
                        <a:cs typeface="Times New Roman" pitchFamily="18" charset="0"/>
                      </a:endParaRPr>
                    </a:p>
                  </a:txBody>
                  <a:tcPr marL="68580" marR="68580" marT="0" marB="0" anchor="ctr"/>
                </a:tc>
              </a:tr>
              <a:tr h="197485">
                <a:tc>
                  <a:txBody>
                    <a:bodyPr/>
                    <a:lstStyle/>
                    <a:p>
                      <a:pPr algn="ctr">
                        <a:lnSpc>
                          <a:spcPct val="150000"/>
                        </a:lnSpc>
                        <a:spcAft>
                          <a:spcPts val="0"/>
                        </a:spcAft>
                      </a:pPr>
                      <a:r>
                        <a:rPr lang="en-US" sz="1200" kern="100" dirty="0">
                          <a:effectLst/>
                          <a:latin typeface="Times New Roman" pitchFamily="18" charset="0"/>
                          <a:cs typeface="Times New Roman" pitchFamily="18" charset="0"/>
                        </a:rPr>
                        <a:t>Sweep rate</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4oct/min</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50000"/>
                        </a:lnSpc>
                        <a:spcAft>
                          <a:spcPts val="0"/>
                        </a:spcAft>
                      </a:pPr>
                      <a:r>
                        <a:rPr lang="en-US" sz="1200" kern="100" dirty="0" smtClean="0">
                          <a:effectLst/>
                          <a:latin typeface="Times New Roman" pitchFamily="18" charset="0"/>
                          <a:cs typeface="Times New Roman" pitchFamily="18" charset="0"/>
                        </a:rPr>
                        <a:t>2oct/min</a:t>
                      </a:r>
                      <a:endParaRPr lang="zh-CN" sz="1200" kern="100" dirty="0">
                        <a:effectLst/>
                        <a:latin typeface="Times New Roman" pitchFamily="18" charset="0"/>
                        <a:ea typeface="宋体"/>
                        <a:cs typeface="Times New Roman" pitchFamily="18" charset="0"/>
                      </a:endParaRPr>
                    </a:p>
                  </a:txBody>
                  <a:tcPr marL="68580" marR="68580" marT="0" marB="0" anchor="ctr"/>
                </a:tc>
              </a:tr>
              <a:tr h="165735">
                <a:tc>
                  <a:txBody>
                    <a:bodyPr/>
                    <a:lstStyle/>
                    <a:p>
                      <a:pPr algn="ctr">
                        <a:lnSpc>
                          <a:spcPct val="150000"/>
                        </a:lnSpc>
                        <a:spcAft>
                          <a:spcPts val="0"/>
                        </a:spcAft>
                      </a:pPr>
                      <a:r>
                        <a:rPr lang="en-US" sz="1200" kern="100" dirty="0" smtClean="0">
                          <a:effectLst/>
                          <a:latin typeface="Times New Roman" pitchFamily="18" charset="0"/>
                          <a:cs typeface="Times New Roman" pitchFamily="18" charset="0"/>
                        </a:rPr>
                        <a:t>Direction</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sz="1200" kern="100" dirty="0" smtClean="0">
                          <a:effectLst/>
                          <a:latin typeface="Times New Roman" pitchFamily="18" charset="0"/>
                          <a:cs typeface="Times New Roman" pitchFamily="18" charset="0"/>
                        </a:rPr>
                        <a:t>X</a:t>
                      </a:r>
                      <a:r>
                        <a:rPr lang="zh-CN" altLang="en-US" sz="1200" kern="100" dirty="0" smtClean="0">
                          <a:effectLst/>
                          <a:latin typeface="Times New Roman" pitchFamily="18" charset="0"/>
                          <a:cs typeface="Times New Roman" pitchFamily="18" charset="0"/>
                        </a:rPr>
                        <a:t>、</a:t>
                      </a:r>
                      <a:r>
                        <a:rPr lang="en-US" sz="1200" kern="100" dirty="0" smtClean="0">
                          <a:effectLst/>
                          <a:latin typeface="Times New Roman" pitchFamily="18" charset="0"/>
                          <a:cs typeface="Times New Roman" pitchFamily="18" charset="0"/>
                        </a:rPr>
                        <a:t>Y</a:t>
                      </a:r>
                      <a:r>
                        <a:rPr lang="zh-CN" altLang="en-US" sz="1200" kern="100" dirty="0" smtClean="0">
                          <a:effectLst/>
                          <a:latin typeface="Times New Roman" pitchFamily="18" charset="0"/>
                          <a:cs typeface="Times New Roman" pitchFamily="18" charset="0"/>
                        </a:rPr>
                        <a:t>、</a:t>
                      </a:r>
                      <a:r>
                        <a:rPr lang="en-US" sz="1200" kern="100" dirty="0" smtClean="0">
                          <a:effectLst/>
                          <a:latin typeface="Times New Roman" pitchFamily="18" charset="0"/>
                          <a:cs typeface="Times New Roman" pitchFamily="18" charset="0"/>
                        </a:rPr>
                        <a:t>Z</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X</a:t>
                      </a:r>
                      <a:r>
                        <a:rPr lang="zh-CN" sz="1200" kern="100" dirty="0">
                          <a:effectLst/>
                          <a:latin typeface="Times New Roman" pitchFamily="18" charset="0"/>
                          <a:cs typeface="Times New Roman" pitchFamily="18" charset="0"/>
                        </a:rPr>
                        <a:t>、</a:t>
                      </a:r>
                      <a:r>
                        <a:rPr lang="en-US" sz="1200" kern="100" dirty="0">
                          <a:effectLst/>
                          <a:latin typeface="Times New Roman" pitchFamily="18" charset="0"/>
                          <a:cs typeface="Times New Roman" pitchFamily="18" charset="0"/>
                        </a:rPr>
                        <a:t>Y</a:t>
                      </a:r>
                      <a:r>
                        <a:rPr lang="zh-CN" sz="1200" kern="100" dirty="0">
                          <a:effectLst/>
                          <a:latin typeface="Times New Roman" pitchFamily="18" charset="0"/>
                          <a:cs typeface="Times New Roman" pitchFamily="18" charset="0"/>
                        </a:rPr>
                        <a:t>、</a:t>
                      </a:r>
                      <a:r>
                        <a:rPr lang="en-US" sz="1200" kern="100" dirty="0">
                          <a:effectLst/>
                          <a:latin typeface="Times New Roman" pitchFamily="18" charset="0"/>
                          <a:cs typeface="Times New Roman" pitchFamily="18" charset="0"/>
                        </a:rPr>
                        <a:t>Z</a:t>
                      </a:r>
                      <a:endParaRPr lang="zh-CN" sz="1200" kern="100" dirty="0">
                        <a:effectLst/>
                        <a:latin typeface="Times New Roman" pitchFamily="18" charset="0"/>
                        <a:ea typeface="宋体"/>
                        <a:cs typeface="Times New Roman" pitchFamily="18" charset="0"/>
                      </a:endParaRPr>
                    </a:p>
                  </a:txBody>
                  <a:tcPr marL="68580" marR="68580" marT="0" marB="0" anchor="ctr"/>
                </a:tc>
              </a:tr>
              <a:tr h="165735">
                <a:tc gridSpan="3">
                  <a:txBody>
                    <a:bodyPr/>
                    <a:lstStyle/>
                    <a:p>
                      <a:pPr algn="just">
                        <a:spcAft>
                          <a:spcPts val="0"/>
                        </a:spcAft>
                      </a:pPr>
                      <a:r>
                        <a:rPr lang="en-US" sz="1200" kern="0" dirty="0" smtClean="0">
                          <a:effectLst/>
                          <a:latin typeface="Times New Roman" pitchFamily="18" charset="0"/>
                          <a:cs typeface="Times New Roman" pitchFamily="18" charset="0"/>
                        </a:rPr>
                        <a:t>Tolerance: </a:t>
                      </a:r>
                      <a:endParaRPr lang="zh-CN" altLang="en-US" sz="1200" kern="100" dirty="0" smtClean="0">
                        <a:effectLst/>
                        <a:latin typeface="Times New Roman" pitchFamily="18" charset="0"/>
                        <a:cs typeface="Times New Roman" pitchFamily="18" charset="0"/>
                      </a:endParaRPr>
                    </a:p>
                    <a:p>
                      <a:pPr lvl="0"/>
                      <a:r>
                        <a:rPr lang="en-US" altLang="zh-CN" sz="1200" b="0" dirty="0" smtClean="0">
                          <a:latin typeface="Times New Roman" pitchFamily="18" charset="0"/>
                          <a:cs typeface="Times New Roman" pitchFamily="18" charset="0"/>
                        </a:rPr>
                        <a:t>  Sine vibration:</a:t>
                      </a:r>
                      <a:r>
                        <a:rPr lang="zh-CN" altLang="zh-CN" sz="1200" b="0" dirty="0" smtClean="0">
                          <a:latin typeface="Times New Roman" pitchFamily="18" charset="0"/>
                          <a:cs typeface="Times New Roman" pitchFamily="18" charset="0"/>
                        </a:rPr>
                        <a:t>±</a:t>
                      </a:r>
                      <a:r>
                        <a:rPr lang="en-US" altLang="zh-CN" sz="1200" b="0" dirty="0" smtClean="0">
                          <a:latin typeface="Times New Roman" pitchFamily="18" charset="0"/>
                          <a:cs typeface="Times New Roman" pitchFamily="18" charset="0"/>
                        </a:rPr>
                        <a:t>10%;</a:t>
                      </a:r>
                      <a:endParaRPr lang="zh-CN" altLang="zh-CN" sz="1200" b="0" dirty="0" smtClean="0">
                        <a:latin typeface="Times New Roman" pitchFamily="18" charset="0"/>
                        <a:cs typeface="Times New Roman" pitchFamily="18" charset="0"/>
                      </a:endParaRPr>
                    </a:p>
                    <a:p>
                      <a:pPr lvl="0"/>
                      <a:r>
                        <a:rPr lang="en-US" altLang="zh-CN" sz="1200" b="0" dirty="0" smtClean="0">
                          <a:latin typeface="Times New Roman" pitchFamily="18" charset="0"/>
                          <a:cs typeface="Times New Roman" pitchFamily="18" charset="0"/>
                        </a:rPr>
                        <a:t>  Frequency:</a:t>
                      </a:r>
                      <a:r>
                        <a:rPr lang="zh-CN" altLang="zh-CN" sz="1200" b="0" dirty="0" smtClean="0">
                          <a:latin typeface="Times New Roman" pitchFamily="18" charset="0"/>
                          <a:cs typeface="Times New Roman" pitchFamily="18" charset="0"/>
                        </a:rPr>
                        <a:t>±</a:t>
                      </a:r>
                      <a:r>
                        <a:rPr lang="en-US" altLang="zh-CN" sz="1200" b="0" dirty="0" smtClean="0">
                          <a:latin typeface="Times New Roman" pitchFamily="18" charset="0"/>
                          <a:cs typeface="Times New Roman" pitchFamily="18" charset="0"/>
                        </a:rPr>
                        <a:t>2%.</a:t>
                      </a:r>
                      <a:endParaRPr lang="zh-CN" sz="1200" kern="100" dirty="0">
                        <a:effectLst/>
                        <a:latin typeface="Times New Roman" pitchFamily="18" charset="0"/>
                        <a:ea typeface="宋体"/>
                        <a:cs typeface="Times New Roman" pitchFamily="18" charset="0"/>
                      </a:endParaRPr>
                    </a:p>
                  </a:txBody>
                  <a:tcPr marL="68580" marR="68580" marT="0" marB="0" anchor="ctr"/>
                </a:tc>
                <a:tc hMerge="1">
                  <a:txBody>
                    <a:bodyPr/>
                    <a:lstStyle/>
                    <a:p>
                      <a:pPr marL="0" marR="0" indent="0" algn="ctr" defTabSz="914400" rtl="0" eaLnBrk="1" fontAlgn="auto" latinLnBrk="0" hangingPunct="1">
                        <a:lnSpc>
                          <a:spcPct val="150000"/>
                        </a:lnSpc>
                        <a:spcBef>
                          <a:spcPts val="0"/>
                        </a:spcBef>
                        <a:spcAft>
                          <a:spcPts val="0"/>
                        </a:spcAft>
                        <a:buClrTx/>
                        <a:buSzTx/>
                        <a:buFontTx/>
                        <a:buNone/>
                        <a:tabLst/>
                        <a:defRPr/>
                      </a:pPr>
                      <a:endParaRPr lang="zh-CN" sz="1200" kern="100" dirty="0">
                        <a:effectLst/>
                        <a:latin typeface="Times New Roman" pitchFamily="18" charset="0"/>
                        <a:ea typeface="宋体"/>
                        <a:cs typeface="Times New Roman" pitchFamily="18" charset="0"/>
                      </a:endParaRPr>
                    </a:p>
                  </a:txBody>
                  <a:tcPr marL="68580" marR="68580" marT="0" marB="0" anchor="ctr"/>
                </a:tc>
                <a:tc hMerge="1">
                  <a:txBody>
                    <a:bodyPr/>
                    <a:lstStyle/>
                    <a:p>
                      <a:pPr algn="ctr">
                        <a:lnSpc>
                          <a:spcPct val="150000"/>
                        </a:lnSpc>
                        <a:spcAft>
                          <a:spcPts val="0"/>
                        </a:spcAft>
                      </a:pPr>
                      <a:endParaRPr lang="zh-CN" sz="1200" kern="100" dirty="0">
                        <a:effectLst/>
                        <a:latin typeface="Times New Roman" pitchFamily="18" charset="0"/>
                        <a:ea typeface="宋体"/>
                        <a:cs typeface="Times New Roman" pitchFamily="18" charset="0"/>
                      </a:endParaRPr>
                    </a:p>
                  </a:txBody>
                  <a:tcPr marL="68580" marR="68580" marT="0" marB="0" anchor="ctr"/>
                </a:tc>
              </a:tr>
            </a:tbl>
          </a:graphicData>
        </a:graphic>
      </p:graphicFrame>
      <p:graphicFrame>
        <p:nvGraphicFramePr>
          <p:cNvPr id="17" name="表格 16"/>
          <p:cNvGraphicFramePr>
            <a:graphicFrameLocks noGrp="1"/>
          </p:cNvGraphicFramePr>
          <p:nvPr>
            <p:extLst>
              <p:ext uri="{D42A27DB-BD31-4B8C-83A1-F6EECF244321}">
                <p14:modId xmlns:p14="http://schemas.microsoft.com/office/powerpoint/2010/main" val="618848071"/>
              </p:ext>
            </p:extLst>
          </p:nvPr>
        </p:nvGraphicFramePr>
        <p:xfrm>
          <a:off x="4286248" y="2428868"/>
          <a:ext cx="4714877" cy="3094990"/>
        </p:xfrm>
        <a:graphic>
          <a:graphicData uri="http://schemas.openxmlformats.org/drawingml/2006/table">
            <a:tbl>
              <a:tblPr>
                <a:tableStyleId>{5C22544A-7EE6-4342-B048-85BDC9FD1C3A}</a:tableStyleId>
              </a:tblPr>
              <a:tblGrid>
                <a:gridCol w="1480550"/>
                <a:gridCol w="1548664"/>
                <a:gridCol w="1685663"/>
              </a:tblGrid>
              <a:tr h="84455">
                <a:tc rowSpan="2">
                  <a:txBody>
                    <a:bodyPr/>
                    <a:lstStyle/>
                    <a:p>
                      <a:pPr algn="ctr">
                        <a:lnSpc>
                          <a:spcPct val="100000"/>
                        </a:lnSpc>
                        <a:spcAft>
                          <a:spcPts val="0"/>
                        </a:spcAft>
                      </a:pPr>
                      <a:endParaRPr lang="en-US" sz="1200" kern="100" dirty="0" smtClean="0">
                        <a:effectLst/>
                        <a:latin typeface="Times New Roman" pitchFamily="18" charset="0"/>
                        <a:cs typeface="Times New Roman" pitchFamily="18" charset="0"/>
                      </a:endParaRPr>
                    </a:p>
                    <a:p>
                      <a:pPr algn="ctr">
                        <a:lnSpc>
                          <a:spcPct val="100000"/>
                        </a:lnSpc>
                        <a:spcAft>
                          <a:spcPts val="0"/>
                        </a:spcAft>
                      </a:pPr>
                      <a:r>
                        <a:rPr lang="en-US" sz="1200" kern="100" dirty="0" smtClean="0">
                          <a:effectLst/>
                          <a:latin typeface="Times New Roman" pitchFamily="18" charset="0"/>
                          <a:cs typeface="Times New Roman" pitchFamily="18" charset="0"/>
                        </a:rPr>
                        <a:t>Frequency/Hz</a:t>
                      </a:r>
                      <a:endParaRPr lang="zh-CN" sz="1200" kern="100" dirty="0">
                        <a:effectLst/>
                        <a:latin typeface="Times New Roman" pitchFamily="18" charset="0"/>
                        <a:ea typeface="宋体"/>
                        <a:cs typeface="Times New Roman" pitchFamily="18" charset="0"/>
                      </a:endParaRPr>
                    </a:p>
                  </a:txBody>
                  <a:tcPr marL="17780" marR="17780" marT="0" marB="0"/>
                </a:tc>
                <a:tc>
                  <a:txBody>
                    <a:bodyPr/>
                    <a:lstStyle/>
                    <a:p>
                      <a:pPr algn="ctr">
                        <a:lnSpc>
                          <a:spcPct val="100000"/>
                        </a:lnSpc>
                        <a:spcAft>
                          <a:spcPts val="0"/>
                        </a:spcAft>
                      </a:pPr>
                      <a:r>
                        <a:rPr lang="en-US" sz="1200" kern="100" dirty="0" smtClean="0">
                          <a:effectLst/>
                          <a:latin typeface="Times New Roman" pitchFamily="18" charset="0"/>
                          <a:cs typeface="Times New Roman" pitchFamily="18" charset="0"/>
                        </a:rPr>
                        <a:t>Acceptance</a:t>
                      </a:r>
                      <a:endParaRPr lang="zh-CN" altLang="en-US" sz="1200" kern="100" dirty="0">
                        <a:effectLst/>
                        <a:latin typeface="Times New Roman" pitchFamily="18" charset="0"/>
                        <a:ea typeface="+mn-ea"/>
                        <a:cs typeface="Times New Roman" pitchFamily="18" charset="0"/>
                      </a:endParaRPr>
                    </a:p>
                  </a:txBody>
                  <a:tcPr marL="17780" marR="17780" marT="0" marB="0" anchor="ctr"/>
                </a:tc>
                <a:tc>
                  <a:txBody>
                    <a:bodyPr/>
                    <a:lstStyle/>
                    <a:p>
                      <a:pPr indent="0" algn="ctr">
                        <a:lnSpc>
                          <a:spcPct val="100000"/>
                        </a:lnSpc>
                        <a:spcAft>
                          <a:spcPts val="0"/>
                        </a:spcAft>
                      </a:pPr>
                      <a:r>
                        <a:rPr lang="en-US" altLang="zh-CN" sz="1200" kern="100" dirty="0" smtClean="0">
                          <a:latin typeface="Times New Roman"/>
                          <a:ea typeface="+mn-ea"/>
                          <a:cs typeface="Times New Roman"/>
                        </a:rPr>
                        <a:t>Qualification</a:t>
                      </a:r>
                      <a:endParaRPr lang="zh-CN" altLang="en-US" sz="1200" kern="100" dirty="0">
                        <a:latin typeface="Times New Roman"/>
                        <a:ea typeface="+mn-ea"/>
                        <a:cs typeface="Times New Roman"/>
                      </a:endParaRPr>
                    </a:p>
                  </a:txBody>
                  <a:tcPr marL="17780" marR="17780" marT="0" marB="0" anchor="ctr"/>
                </a:tc>
              </a:tr>
              <a:tr h="260350">
                <a:tc vMerge="1">
                  <a:txBody>
                    <a:bodyPr/>
                    <a:lstStyle/>
                    <a:p>
                      <a:endParaRPr lang="zh-CN" altLang="en-US"/>
                    </a:p>
                  </a:txBody>
                  <a:tcPr/>
                </a:tc>
                <a:tc>
                  <a:txBody>
                    <a:bodyPr/>
                    <a:lstStyle/>
                    <a:p>
                      <a:pPr algn="ctr">
                        <a:lnSpc>
                          <a:spcPct val="100000"/>
                        </a:lnSpc>
                        <a:spcAft>
                          <a:spcPts val="0"/>
                        </a:spcAft>
                      </a:pPr>
                      <a:r>
                        <a:rPr lang="en-US" sz="1200" kern="0" dirty="0">
                          <a:effectLst/>
                          <a:latin typeface="Times New Roman" pitchFamily="18" charset="0"/>
                          <a:cs typeface="Times New Roman" pitchFamily="18" charset="0"/>
                        </a:rPr>
                        <a:t>Acceleration PSD</a:t>
                      </a:r>
                      <a:endParaRPr lang="zh-CN" sz="1200" kern="100" dirty="0">
                        <a:effectLst/>
                        <a:latin typeface="Times New Roman" pitchFamily="18" charset="0"/>
                        <a:ea typeface="宋体"/>
                        <a:cs typeface="Times New Roman" pitchFamily="18" charset="0"/>
                      </a:endParaRPr>
                    </a:p>
                  </a:txBody>
                  <a:tcPr marL="17780" marR="17780" marT="0" marB="0" anchor="ctr"/>
                </a:tc>
                <a:tc>
                  <a:txBody>
                    <a:bodyPr/>
                    <a:lstStyle/>
                    <a:p>
                      <a:pPr algn="ctr">
                        <a:lnSpc>
                          <a:spcPct val="100000"/>
                        </a:lnSpc>
                        <a:spcAft>
                          <a:spcPts val="0"/>
                        </a:spcAft>
                      </a:pPr>
                      <a:r>
                        <a:rPr lang="en-US" sz="1200" kern="0">
                          <a:effectLst/>
                          <a:latin typeface="Times New Roman" pitchFamily="18" charset="0"/>
                          <a:cs typeface="Times New Roman" pitchFamily="18" charset="0"/>
                        </a:rPr>
                        <a:t>Acceleration PSD</a:t>
                      </a:r>
                      <a:endParaRPr lang="zh-CN" sz="1200" kern="100">
                        <a:effectLst/>
                        <a:latin typeface="Times New Roman" pitchFamily="18" charset="0"/>
                        <a:ea typeface="宋体"/>
                        <a:cs typeface="Times New Roman" pitchFamily="18" charset="0"/>
                      </a:endParaRPr>
                    </a:p>
                  </a:txBody>
                  <a:tcPr marL="17780" marR="17780" marT="0" marB="0" anchor="ctr"/>
                </a:tc>
              </a:tr>
              <a:tr h="242147">
                <a:tc>
                  <a:txBody>
                    <a:bodyPr/>
                    <a:lstStyle/>
                    <a:p>
                      <a:pPr indent="127000" algn="ctr">
                        <a:lnSpc>
                          <a:spcPct val="150000"/>
                        </a:lnSpc>
                        <a:spcAft>
                          <a:spcPts val="0"/>
                        </a:spcAft>
                      </a:pPr>
                      <a:r>
                        <a:rPr lang="en-US" sz="1200" kern="100" dirty="0">
                          <a:latin typeface="Times New Roman"/>
                          <a:ea typeface="宋体"/>
                          <a:cs typeface="Times New Roman"/>
                        </a:rPr>
                        <a:t>20~100</a:t>
                      </a:r>
                      <a:endParaRPr lang="zh-CN" sz="1200" kern="100" dirty="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a:latin typeface="Times New Roman"/>
                          <a:ea typeface="宋体"/>
                          <a:cs typeface="Times New Roman"/>
                        </a:rPr>
                        <a:t>+6dB/oct</a:t>
                      </a:r>
                      <a:endParaRPr lang="zh-CN" sz="1200" kern="10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dirty="0">
                          <a:latin typeface="Times New Roman"/>
                          <a:ea typeface="宋体"/>
                          <a:cs typeface="Times New Roman"/>
                        </a:rPr>
                        <a:t>+</a:t>
                      </a:r>
                      <a:r>
                        <a:rPr lang="en-US" sz="1200" kern="100" dirty="0" smtClean="0">
                          <a:latin typeface="Times New Roman"/>
                          <a:ea typeface="宋体"/>
                          <a:cs typeface="Times New Roman"/>
                        </a:rPr>
                        <a:t>6dB/</a:t>
                      </a:r>
                      <a:r>
                        <a:rPr lang="en-US" sz="1200" kern="100" dirty="0" err="1" smtClean="0">
                          <a:latin typeface="Times New Roman"/>
                          <a:ea typeface="宋体"/>
                          <a:cs typeface="Times New Roman"/>
                        </a:rPr>
                        <a:t>oct</a:t>
                      </a:r>
                      <a:endParaRPr lang="zh-CN" sz="1200" kern="100" dirty="0">
                        <a:latin typeface="Times New Roman"/>
                        <a:ea typeface="宋体"/>
                        <a:cs typeface="Times New Roman"/>
                      </a:endParaRPr>
                    </a:p>
                  </a:txBody>
                  <a:tcPr marL="68580" marR="68580" marT="0" marB="0" anchor="ctr"/>
                </a:tc>
              </a:tr>
              <a:tr h="237913">
                <a:tc>
                  <a:txBody>
                    <a:bodyPr/>
                    <a:lstStyle/>
                    <a:p>
                      <a:pPr indent="127000" algn="ctr">
                        <a:lnSpc>
                          <a:spcPct val="150000"/>
                        </a:lnSpc>
                        <a:spcAft>
                          <a:spcPts val="0"/>
                        </a:spcAft>
                      </a:pPr>
                      <a:r>
                        <a:rPr lang="en-US" sz="1200" kern="100" dirty="0">
                          <a:latin typeface="Times New Roman"/>
                          <a:ea typeface="宋体"/>
                          <a:cs typeface="Times New Roman"/>
                        </a:rPr>
                        <a:t>100~175</a:t>
                      </a:r>
                      <a:endParaRPr lang="zh-CN" sz="1200" kern="100" dirty="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a:latin typeface="Times New Roman"/>
                          <a:ea typeface="宋体"/>
                          <a:cs typeface="Times New Roman"/>
                        </a:rPr>
                        <a:t>0.04</a:t>
                      </a:r>
                      <a:endParaRPr lang="zh-CN" sz="1200" kern="10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dirty="0" smtClean="0">
                          <a:latin typeface="Times New Roman"/>
                          <a:ea typeface="宋体"/>
                          <a:cs typeface="Times New Roman"/>
                        </a:rPr>
                        <a:t>0.08</a:t>
                      </a:r>
                      <a:endParaRPr lang="zh-CN" sz="1200" kern="100" dirty="0">
                        <a:latin typeface="Times New Roman"/>
                        <a:ea typeface="宋体"/>
                        <a:cs typeface="Times New Roman"/>
                      </a:endParaRPr>
                    </a:p>
                  </a:txBody>
                  <a:tcPr marL="68580" marR="68580" marT="0" marB="0" anchor="ctr"/>
                </a:tc>
              </a:tr>
              <a:tr h="0">
                <a:tc>
                  <a:txBody>
                    <a:bodyPr/>
                    <a:lstStyle/>
                    <a:p>
                      <a:pPr indent="127000" algn="ctr">
                        <a:lnSpc>
                          <a:spcPct val="150000"/>
                        </a:lnSpc>
                        <a:spcAft>
                          <a:spcPts val="0"/>
                        </a:spcAft>
                      </a:pPr>
                      <a:r>
                        <a:rPr lang="en-US" sz="1200" kern="100">
                          <a:latin typeface="Times New Roman"/>
                          <a:ea typeface="宋体"/>
                          <a:cs typeface="Times New Roman"/>
                        </a:rPr>
                        <a:t>175~430</a:t>
                      </a:r>
                      <a:endParaRPr lang="zh-CN" sz="1200" kern="10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dirty="0">
                          <a:latin typeface="Times New Roman"/>
                          <a:ea typeface="宋体"/>
                          <a:cs typeface="Times New Roman"/>
                        </a:rPr>
                        <a:t>0.20</a:t>
                      </a:r>
                      <a:endParaRPr lang="zh-CN" sz="1200" kern="100" dirty="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altLang="zh-CN" sz="1200" kern="100" dirty="0" smtClean="0">
                          <a:latin typeface="Times New Roman"/>
                          <a:ea typeface="宋体"/>
                          <a:cs typeface="Times New Roman"/>
                        </a:rPr>
                        <a:t>0.40</a:t>
                      </a:r>
                      <a:endParaRPr lang="zh-CN" sz="1200" kern="100" dirty="0">
                        <a:latin typeface="Times New Roman"/>
                        <a:ea typeface="宋体"/>
                        <a:cs typeface="Times New Roman"/>
                      </a:endParaRPr>
                    </a:p>
                  </a:txBody>
                  <a:tcPr marL="68580" marR="68580" marT="0" marB="0" anchor="ctr"/>
                </a:tc>
              </a:tr>
              <a:tr h="0">
                <a:tc>
                  <a:txBody>
                    <a:bodyPr/>
                    <a:lstStyle/>
                    <a:p>
                      <a:pPr indent="127000" algn="ctr">
                        <a:lnSpc>
                          <a:spcPct val="150000"/>
                        </a:lnSpc>
                        <a:spcAft>
                          <a:spcPts val="0"/>
                        </a:spcAft>
                      </a:pPr>
                      <a:r>
                        <a:rPr lang="en-US" sz="1200" kern="100">
                          <a:latin typeface="Times New Roman"/>
                          <a:ea typeface="宋体"/>
                          <a:cs typeface="Times New Roman"/>
                        </a:rPr>
                        <a:t>430~600</a:t>
                      </a:r>
                      <a:endParaRPr lang="zh-CN" sz="1200" kern="10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dirty="0">
                          <a:latin typeface="Times New Roman"/>
                          <a:ea typeface="宋体"/>
                          <a:cs typeface="Times New Roman"/>
                        </a:rPr>
                        <a:t>0.04</a:t>
                      </a:r>
                      <a:endParaRPr lang="zh-CN" sz="1200" kern="100" dirty="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altLang="zh-CN" sz="1200" kern="100" dirty="0" smtClean="0">
                          <a:latin typeface="Times New Roman"/>
                          <a:ea typeface="宋体"/>
                          <a:cs typeface="Times New Roman"/>
                        </a:rPr>
                        <a:t>0.08</a:t>
                      </a:r>
                      <a:endParaRPr lang="zh-CN" sz="1200" kern="100" dirty="0">
                        <a:latin typeface="Times New Roman"/>
                        <a:ea typeface="宋体"/>
                        <a:cs typeface="Times New Roman"/>
                      </a:endParaRPr>
                    </a:p>
                  </a:txBody>
                  <a:tcPr marL="68580" marR="68580" marT="0" marB="0" anchor="ctr"/>
                </a:tc>
              </a:tr>
              <a:tr h="0">
                <a:tc>
                  <a:txBody>
                    <a:bodyPr/>
                    <a:lstStyle/>
                    <a:p>
                      <a:pPr indent="127000" algn="ctr">
                        <a:lnSpc>
                          <a:spcPct val="150000"/>
                        </a:lnSpc>
                        <a:spcAft>
                          <a:spcPts val="0"/>
                        </a:spcAft>
                      </a:pPr>
                      <a:r>
                        <a:rPr lang="en-US" sz="1200" kern="100">
                          <a:latin typeface="Times New Roman"/>
                          <a:ea typeface="宋体"/>
                          <a:cs typeface="Times New Roman"/>
                        </a:rPr>
                        <a:t>600~2000</a:t>
                      </a:r>
                      <a:endParaRPr lang="zh-CN" sz="1200" kern="10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dirty="0">
                          <a:latin typeface="Times New Roman"/>
                          <a:ea typeface="宋体"/>
                          <a:cs typeface="Times New Roman"/>
                        </a:rPr>
                        <a:t>-9dB/</a:t>
                      </a:r>
                      <a:r>
                        <a:rPr lang="en-US" sz="1200" kern="100" dirty="0" err="1">
                          <a:latin typeface="Times New Roman"/>
                          <a:ea typeface="宋体"/>
                          <a:cs typeface="Times New Roman"/>
                        </a:rPr>
                        <a:t>oct</a:t>
                      </a:r>
                      <a:endParaRPr lang="zh-CN" sz="1200" kern="100" dirty="0">
                        <a:latin typeface="Times New Roman"/>
                        <a:ea typeface="宋体"/>
                        <a:cs typeface="Times New Roman"/>
                      </a:endParaRPr>
                    </a:p>
                  </a:txBody>
                  <a:tcPr marL="68580" marR="68580" marT="0" marB="0" anchor="ctr"/>
                </a:tc>
                <a:tc>
                  <a:txBody>
                    <a:bodyPr/>
                    <a:lstStyle/>
                    <a:p>
                      <a:pPr indent="127000" algn="ctr">
                        <a:lnSpc>
                          <a:spcPct val="150000"/>
                        </a:lnSpc>
                        <a:spcAft>
                          <a:spcPts val="0"/>
                        </a:spcAft>
                      </a:pPr>
                      <a:r>
                        <a:rPr lang="en-US" sz="1200" kern="100" dirty="0" smtClean="0">
                          <a:latin typeface="Times New Roman"/>
                          <a:ea typeface="宋体"/>
                          <a:cs typeface="Times New Roman"/>
                        </a:rPr>
                        <a:t>-9dB/</a:t>
                      </a:r>
                      <a:r>
                        <a:rPr lang="en-US" sz="1200" kern="100" dirty="0" err="1" smtClean="0">
                          <a:latin typeface="Times New Roman"/>
                          <a:ea typeface="宋体"/>
                          <a:cs typeface="Times New Roman"/>
                        </a:rPr>
                        <a:t>oct</a:t>
                      </a:r>
                      <a:endParaRPr lang="zh-CN" altLang="en-US" sz="1200" kern="100" dirty="0">
                        <a:latin typeface="Times New Roman"/>
                        <a:ea typeface="+mn-ea"/>
                        <a:cs typeface="Times New Roman"/>
                      </a:endParaRPr>
                    </a:p>
                  </a:txBody>
                  <a:tcPr marL="68580" marR="68580" marT="0" marB="0" anchor="ctr"/>
                </a:tc>
              </a:tr>
              <a:tr h="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00" dirty="0" err="1" smtClean="0">
                          <a:effectLst/>
                          <a:latin typeface="Times New Roman" pitchFamily="18" charset="0"/>
                          <a:cs typeface="Times New Roman" pitchFamily="18" charset="0"/>
                        </a:rPr>
                        <a:t>Grms</a:t>
                      </a:r>
                      <a:endParaRPr lang="zh-CN" sz="1200" kern="100" dirty="0">
                        <a:effectLst/>
                        <a:latin typeface="Times New Roman" pitchFamily="18" charset="0"/>
                        <a:ea typeface="宋体"/>
                        <a:cs typeface="Times New Roman" pitchFamily="18" charset="0"/>
                      </a:endParaRPr>
                    </a:p>
                  </a:txBody>
                  <a:tcPr marL="17780" marR="17780" marT="0" marB="0" anchor="ctr"/>
                </a:tc>
                <a:tc>
                  <a:txBody>
                    <a:bodyPr/>
                    <a:lstStyle/>
                    <a:p>
                      <a:pPr algn="ctr">
                        <a:lnSpc>
                          <a:spcPct val="100000"/>
                        </a:lnSpc>
                        <a:spcAft>
                          <a:spcPts val="0"/>
                        </a:spcAft>
                      </a:pPr>
                      <a:endParaRPr lang="zh-CN" sz="1200" kern="100" dirty="0">
                        <a:effectLst/>
                        <a:latin typeface="Times New Roman" pitchFamily="18" charset="0"/>
                        <a:ea typeface="宋体"/>
                        <a:cs typeface="Times New Roman" pitchFamily="18" charset="0"/>
                      </a:endParaRPr>
                    </a:p>
                  </a:txBody>
                  <a:tcPr marL="17780" marR="17780" marT="0" marB="0" anchor="ctr"/>
                </a:tc>
                <a:tc>
                  <a:txBody>
                    <a:bodyPr/>
                    <a:lstStyle/>
                    <a:p>
                      <a:pPr algn="ctr">
                        <a:lnSpc>
                          <a:spcPct val="100000"/>
                        </a:lnSpc>
                        <a:spcAft>
                          <a:spcPts val="0"/>
                        </a:spcAft>
                      </a:pPr>
                      <a:endParaRPr lang="zh-CN" sz="1200" kern="100" dirty="0">
                        <a:effectLst/>
                        <a:latin typeface="Times New Roman" pitchFamily="18" charset="0"/>
                        <a:ea typeface="宋体"/>
                        <a:cs typeface="Times New Roman" pitchFamily="18" charset="0"/>
                      </a:endParaRPr>
                    </a:p>
                  </a:txBody>
                  <a:tcPr marL="17780" marR="17780" marT="0" marB="0" anchor="ctr"/>
                </a:tc>
              </a:tr>
              <a:tr h="0">
                <a:tc>
                  <a:txBody>
                    <a:bodyPr/>
                    <a:lstStyle/>
                    <a:p>
                      <a:pPr algn="ctr">
                        <a:lnSpc>
                          <a:spcPct val="100000"/>
                        </a:lnSpc>
                        <a:spcAft>
                          <a:spcPts val="0"/>
                        </a:spcAft>
                      </a:pPr>
                      <a:r>
                        <a:rPr lang="en-US" sz="1200" kern="100" dirty="0">
                          <a:effectLst/>
                          <a:latin typeface="Times New Roman" pitchFamily="18" charset="0"/>
                          <a:cs typeface="Times New Roman" pitchFamily="18" charset="0"/>
                        </a:rPr>
                        <a:t>D</a:t>
                      </a:r>
                      <a:r>
                        <a:rPr lang="en-US" sz="1200" kern="100" dirty="0" smtClean="0">
                          <a:effectLst/>
                          <a:latin typeface="Times New Roman" pitchFamily="18" charset="0"/>
                          <a:cs typeface="Times New Roman" pitchFamily="18" charset="0"/>
                        </a:rPr>
                        <a:t>uration</a:t>
                      </a:r>
                      <a:endParaRPr lang="zh-CN" sz="1200" kern="100" dirty="0">
                        <a:effectLst/>
                        <a:latin typeface="Times New Roman" pitchFamily="18" charset="0"/>
                        <a:ea typeface="宋体"/>
                        <a:cs typeface="Times New Roman" pitchFamily="18" charset="0"/>
                      </a:endParaRPr>
                    </a:p>
                  </a:txBody>
                  <a:tcPr marL="17780" marR="17780"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1min</a:t>
                      </a:r>
                      <a:endParaRPr lang="zh-CN" sz="1200" kern="100" dirty="0">
                        <a:effectLst/>
                        <a:latin typeface="Times New Roman" pitchFamily="18" charset="0"/>
                        <a:ea typeface="宋体"/>
                        <a:cs typeface="Times New Roman" pitchFamily="18" charset="0"/>
                      </a:endParaRPr>
                    </a:p>
                  </a:txBody>
                  <a:tcPr marL="17780" marR="17780"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2 </a:t>
                      </a:r>
                      <a:r>
                        <a:rPr lang="en-US" sz="1200" kern="100" dirty="0" err="1">
                          <a:effectLst/>
                          <a:latin typeface="Times New Roman" pitchFamily="18" charset="0"/>
                          <a:cs typeface="Times New Roman" pitchFamily="18" charset="0"/>
                        </a:rPr>
                        <a:t>mins</a:t>
                      </a:r>
                      <a:endParaRPr lang="zh-CN" sz="1200" kern="100" dirty="0">
                        <a:effectLst/>
                        <a:latin typeface="Times New Roman" pitchFamily="18" charset="0"/>
                        <a:ea typeface="宋体"/>
                        <a:cs typeface="Times New Roman" pitchFamily="18" charset="0"/>
                      </a:endParaRPr>
                    </a:p>
                  </a:txBody>
                  <a:tcPr marL="17780" marR="17780" marT="0" marB="0" anchor="ctr"/>
                </a:tc>
              </a:tr>
              <a:tr h="0">
                <a:tc gridSpan="3">
                  <a:txBody>
                    <a:bodyPr/>
                    <a:lstStyle/>
                    <a:p>
                      <a:pPr algn="just">
                        <a:spcAft>
                          <a:spcPts val="0"/>
                        </a:spcAft>
                      </a:pPr>
                      <a:r>
                        <a:rPr lang="en-US" sz="1200" kern="0" dirty="0">
                          <a:effectLst/>
                          <a:latin typeface="Times New Roman" pitchFamily="18" charset="0"/>
                          <a:cs typeface="Times New Roman" pitchFamily="18" charset="0"/>
                        </a:rPr>
                        <a:t>Tolerance: </a:t>
                      </a:r>
                      <a:endParaRPr lang="zh-CN" sz="1200" kern="100" dirty="0">
                        <a:effectLst/>
                        <a:latin typeface="Times New Roman" pitchFamily="18" charset="0"/>
                        <a:cs typeface="Times New Roman" pitchFamily="18" charset="0"/>
                      </a:endParaRPr>
                    </a:p>
                    <a:p>
                      <a:pPr algn="just">
                        <a:spcAft>
                          <a:spcPts val="0"/>
                        </a:spcAft>
                      </a:pPr>
                      <a:r>
                        <a:rPr lang="en-US" sz="1200" kern="0" dirty="0">
                          <a:effectLst/>
                          <a:latin typeface="Times New Roman" pitchFamily="18" charset="0"/>
                          <a:cs typeface="Times New Roman" pitchFamily="18" charset="0"/>
                        </a:rPr>
                        <a:t>   Frequency </a:t>
                      </a:r>
                      <a:r>
                        <a:rPr lang="zh-CN" sz="1200" kern="0" dirty="0">
                          <a:effectLst/>
                          <a:latin typeface="Times New Roman" pitchFamily="18" charset="0"/>
                          <a:cs typeface="Times New Roman" pitchFamily="18" charset="0"/>
                        </a:rPr>
                        <a:t>±</a:t>
                      </a:r>
                      <a:r>
                        <a:rPr lang="en-US" sz="1200" kern="0" dirty="0">
                          <a:effectLst/>
                          <a:latin typeface="Times New Roman" pitchFamily="18" charset="0"/>
                          <a:cs typeface="Times New Roman" pitchFamily="18" charset="0"/>
                        </a:rPr>
                        <a:t>2%</a:t>
                      </a:r>
                      <a:r>
                        <a:rPr lang="zh-CN" sz="1200" kern="0" dirty="0">
                          <a:effectLst/>
                          <a:latin typeface="Times New Roman" pitchFamily="18" charset="0"/>
                          <a:cs typeface="Times New Roman" pitchFamily="18" charset="0"/>
                        </a:rPr>
                        <a:t>；</a:t>
                      </a:r>
                      <a:endParaRPr lang="zh-CN" sz="1200" kern="100" dirty="0">
                        <a:effectLst/>
                        <a:latin typeface="Times New Roman" pitchFamily="18" charset="0"/>
                        <a:cs typeface="Times New Roman" pitchFamily="18" charset="0"/>
                      </a:endParaRPr>
                    </a:p>
                    <a:p>
                      <a:pPr algn="just">
                        <a:spcAft>
                          <a:spcPts val="0"/>
                        </a:spcAft>
                      </a:pPr>
                      <a:r>
                        <a:rPr lang="en-US" sz="1200" kern="100" dirty="0">
                          <a:effectLst/>
                          <a:latin typeface="Times New Roman" pitchFamily="18" charset="0"/>
                          <a:cs typeface="Times New Roman" pitchFamily="18" charset="0"/>
                        </a:rPr>
                        <a:t>   PSD ±1.5dB</a:t>
                      </a:r>
                      <a:r>
                        <a:rPr lang="zh-CN" sz="1200" kern="100" dirty="0">
                          <a:effectLst/>
                          <a:latin typeface="Times New Roman" pitchFamily="18" charset="0"/>
                          <a:cs typeface="Times New Roman" pitchFamily="18" charset="0"/>
                        </a:rPr>
                        <a:t>（</a:t>
                      </a:r>
                      <a:r>
                        <a:rPr lang="en-US" sz="1200" kern="100" dirty="0">
                          <a:effectLst/>
                          <a:latin typeface="Times New Roman" pitchFamily="18" charset="0"/>
                          <a:cs typeface="Times New Roman" pitchFamily="18" charset="0"/>
                        </a:rPr>
                        <a:t>20~1000Hz</a:t>
                      </a:r>
                      <a:r>
                        <a:rPr lang="zh-CN" sz="1200" kern="100" dirty="0">
                          <a:effectLst/>
                          <a:latin typeface="Times New Roman" pitchFamily="18" charset="0"/>
                          <a:cs typeface="Times New Roman" pitchFamily="18" charset="0"/>
                        </a:rPr>
                        <a:t>，），</a:t>
                      </a:r>
                      <a:r>
                        <a:rPr lang="en-US" sz="1200" kern="100" dirty="0">
                          <a:effectLst/>
                          <a:latin typeface="Times New Roman" pitchFamily="18" charset="0"/>
                          <a:cs typeface="Times New Roman" pitchFamily="18" charset="0"/>
                        </a:rPr>
                        <a:t>±3.0dB</a:t>
                      </a:r>
                      <a:r>
                        <a:rPr lang="zh-CN" sz="1200" kern="100" dirty="0">
                          <a:effectLst/>
                          <a:latin typeface="Times New Roman" pitchFamily="18" charset="0"/>
                          <a:cs typeface="Times New Roman" pitchFamily="18" charset="0"/>
                        </a:rPr>
                        <a:t>（</a:t>
                      </a:r>
                      <a:r>
                        <a:rPr lang="en-US" sz="1200" kern="100" dirty="0">
                          <a:effectLst/>
                          <a:latin typeface="Times New Roman" pitchFamily="18" charset="0"/>
                          <a:cs typeface="Times New Roman" pitchFamily="18" charset="0"/>
                        </a:rPr>
                        <a:t>1000~2000Hz</a:t>
                      </a:r>
                      <a:r>
                        <a:rPr lang="zh-CN" sz="1200" kern="100" dirty="0">
                          <a:effectLst/>
                          <a:latin typeface="Times New Roman" pitchFamily="18" charset="0"/>
                          <a:cs typeface="Times New Roman" pitchFamily="18" charset="0"/>
                        </a:rPr>
                        <a:t>）；</a:t>
                      </a:r>
                    </a:p>
                    <a:p>
                      <a:pPr algn="just">
                        <a:spcAft>
                          <a:spcPts val="0"/>
                        </a:spcAft>
                      </a:pPr>
                      <a:r>
                        <a:rPr lang="en-US" sz="1200" kern="100" dirty="0">
                          <a:effectLst/>
                          <a:latin typeface="Times New Roman" pitchFamily="18" charset="0"/>
                          <a:cs typeface="Times New Roman" pitchFamily="18" charset="0"/>
                        </a:rPr>
                        <a:t>   </a:t>
                      </a:r>
                      <a:r>
                        <a:rPr lang="en-US" sz="1200" kern="100" dirty="0" err="1">
                          <a:effectLst/>
                          <a:latin typeface="Times New Roman" pitchFamily="18" charset="0"/>
                          <a:cs typeface="Times New Roman" pitchFamily="18" charset="0"/>
                        </a:rPr>
                        <a:t>Grms</a:t>
                      </a:r>
                      <a:r>
                        <a:rPr lang="en-US" sz="1200" kern="100" dirty="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1dB</a:t>
                      </a:r>
                      <a:endParaRPr lang="en-US" sz="1200" kern="100" dirty="0">
                        <a:effectLst/>
                        <a:latin typeface="Times New Roman" pitchFamily="18" charset="0"/>
                        <a:cs typeface="Times New Roman" pitchFamily="18" charset="0"/>
                      </a:endParaRPr>
                    </a:p>
                    <a:p>
                      <a:pPr algn="just">
                        <a:spcAft>
                          <a:spcPts val="0"/>
                        </a:spcAft>
                      </a:pPr>
                      <a:r>
                        <a:rPr lang="en-US" sz="1200" kern="100" baseline="0" dirty="0">
                          <a:effectLst/>
                          <a:latin typeface="Times New Roman" pitchFamily="18" charset="0"/>
                          <a:cs typeface="Times New Roman" pitchFamily="18" charset="0"/>
                        </a:rPr>
                        <a:t> </a:t>
                      </a:r>
                      <a:r>
                        <a:rPr lang="en-US" sz="1200" kern="100" baseline="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Duration </a:t>
                      </a:r>
                      <a:r>
                        <a:rPr lang="en-US" sz="1200" kern="100" dirty="0">
                          <a:effectLst/>
                          <a:latin typeface="Times New Roman" pitchFamily="18" charset="0"/>
                          <a:cs typeface="Times New Roman" pitchFamily="18" charset="0"/>
                        </a:rPr>
                        <a:t>0</a:t>
                      </a:r>
                      <a:r>
                        <a:rPr lang="zh-CN" sz="1200" kern="100" dirty="0">
                          <a:effectLst/>
                          <a:latin typeface="Times New Roman" pitchFamily="18" charset="0"/>
                          <a:cs typeface="Times New Roman" pitchFamily="18" charset="0"/>
                        </a:rPr>
                        <a:t>～</a:t>
                      </a:r>
                      <a:r>
                        <a:rPr lang="en-US" sz="1200" kern="100" dirty="0">
                          <a:effectLst/>
                          <a:latin typeface="Times New Roman" pitchFamily="18" charset="0"/>
                          <a:cs typeface="Times New Roman" pitchFamily="18" charset="0"/>
                        </a:rPr>
                        <a:t>10%</a:t>
                      </a:r>
                      <a:endParaRPr lang="zh-CN" sz="1200" kern="100" dirty="0">
                        <a:effectLst/>
                        <a:latin typeface="Times New Roman" pitchFamily="18" charset="0"/>
                        <a:ea typeface="宋体"/>
                        <a:cs typeface="Times New Roman" pitchFamily="18" charset="0"/>
                      </a:endParaRPr>
                    </a:p>
                  </a:txBody>
                  <a:tcPr marL="17780" marR="17780" marT="0" marB="0" anchor="ctr"/>
                </a:tc>
                <a:tc hMerge="1">
                  <a:txBody>
                    <a:bodyPr/>
                    <a:lstStyle/>
                    <a:p>
                      <a:endParaRPr lang="zh-CN" altLang="en-US"/>
                    </a:p>
                  </a:txBody>
                  <a:tcPr/>
                </a:tc>
                <a:tc hMerge="1">
                  <a:txBody>
                    <a:bodyPr/>
                    <a:lstStyle/>
                    <a:p>
                      <a:endParaRPr lang="zh-CN" altLang="en-US"/>
                    </a:p>
                  </a:txBody>
                  <a:tcPr/>
                </a:tc>
              </a:tr>
            </a:tbl>
          </a:graphicData>
        </a:graphic>
      </p:graphicFrame>
    </p:spTree>
    <p:extLst>
      <p:ext uri="{BB962C8B-B14F-4D97-AF65-F5344CB8AC3E}">
        <p14:creationId xmlns:p14="http://schemas.microsoft.com/office/powerpoint/2010/main" val="2762845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Test level</a:t>
            </a:r>
            <a:endParaRPr lang="zh-CN" altLang="en-US"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
        <p:nvSpPr>
          <p:cNvPr id="7" name="Rectangle 1"/>
          <p:cNvSpPr>
            <a:spLocks noChangeArrowheads="1"/>
          </p:cNvSpPr>
          <p:nvPr/>
        </p:nvSpPr>
        <p:spPr bwMode="auto">
          <a:xfrm>
            <a:off x="2466761" y="1340768"/>
            <a:ext cx="42114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indent="266700" algn="ctr" fontAlgn="base">
              <a:spcBef>
                <a:spcPct val="0"/>
              </a:spcBef>
              <a:spcAft>
                <a:spcPct val="0"/>
              </a:spcAft>
            </a:pPr>
            <a:r>
              <a:rPr lang="en-US" altLang="zh-CN" sz="2400" b="1" dirty="0" smtClean="0">
                <a:latin typeface="Times New Roman" pitchFamily="18" charset="0"/>
                <a:ea typeface="宋体" pitchFamily="2" charset="-122"/>
                <a:cs typeface="Times New Roman" pitchFamily="18" charset="0"/>
              </a:rPr>
              <a:t>Acoustic test </a:t>
            </a:r>
            <a:r>
              <a:rPr lang="en-US" altLang="zh-CN" sz="2400" b="1" dirty="0">
                <a:latin typeface="Times New Roman" pitchFamily="18" charset="0"/>
                <a:ea typeface="宋体" pitchFamily="2" charset="-122"/>
                <a:cs typeface="Times New Roman" pitchFamily="18" charset="0"/>
              </a:rPr>
              <a:t>level of satellite</a:t>
            </a:r>
            <a:endParaRPr kumimoji="0" lang="zh-CN" altLang="en-US" sz="2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graphicFrame>
        <p:nvGraphicFramePr>
          <p:cNvPr id="9" name="表格 8"/>
          <p:cNvGraphicFramePr>
            <a:graphicFrameLocks noGrp="1"/>
          </p:cNvGraphicFramePr>
          <p:nvPr/>
        </p:nvGraphicFramePr>
        <p:xfrm>
          <a:off x="142844" y="2044226"/>
          <a:ext cx="4286280" cy="3670790"/>
        </p:xfrm>
        <a:graphic>
          <a:graphicData uri="http://schemas.openxmlformats.org/drawingml/2006/table">
            <a:tbl>
              <a:tblPr/>
              <a:tblGrid>
                <a:gridCol w="1071570"/>
                <a:gridCol w="1071570"/>
                <a:gridCol w="1071570"/>
                <a:gridCol w="1071570"/>
              </a:tblGrid>
              <a:tr h="252779">
                <a:tc rowSpan="2">
                  <a:txBody>
                    <a:bodyPr/>
                    <a:lstStyle/>
                    <a:p>
                      <a:pPr algn="ctr">
                        <a:lnSpc>
                          <a:spcPct val="150000"/>
                        </a:lnSpc>
                        <a:spcAft>
                          <a:spcPts val="0"/>
                        </a:spcAft>
                      </a:pPr>
                      <a:r>
                        <a:rPr lang="en-US" sz="1000" kern="100" dirty="0">
                          <a:latin typeface="Times New Roman"/>
                          <a:ea typeface="宋体"/>
                          <a:cs typeface="Times New Roman"/>
                        </a:rPr>
                        <a:t>1/3-Octave-Band Center </a:t>
                      </a:r>
                      <a:r>
                        <a:rPr lang="en-US" sz="1000" kern="100" dirty="0" smtClean="0">
                          <a:latin typeface="Times New Roman"/>
                          <a:ea typeface="宋体"/>
                          <a:cs typeface="Times New Roman"/>
                        </a:rPr>
                        <a:t>Frequency  (</a:t>
                      </a:r>
                      <a:r>
                        <a:rPr lang="en-US" sz="1000" kern="100" dirty="0">
                          <a:latin typeface="Times New Roman"/>
                          <a:ea typeface="宋体"/>
                          <a:cs typeface="Times New Roman"/>
                        </a:rPr>
                        <a:t>Hz)</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gridSpan="2">
                  <a:txBody>
                    <a:bodyPr/>
                    <a:lstStyle/>
                    <a:p>
                      <a:pPr algn="ctr">
                        <a:lnSpc>
                          <a:spcPct val="150000"/>
                        </a:lnSpc>
                        <a:spcAft>
                          <a:spcPts val="0"/>
                        </a:spcAft>
                      </a:pPr>
                      <a:r>
                        <a:rPr lang="en-US" sz="1000" kern="100" dirty="0">
                          <a:latin typeface="Times New Roman"/>
                          <a:ea typeface="宋体"/>
                          <a:cs typeface="Times New Roman"/>
                        </a:rPr>
                        <a:t>Sound Pressure Level(dB)</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hMerge="1">
                  <a:txBody>
                    <a:bodyPr/>
                    <a:lstStyle/>
                    <a:p>
                      <a:endParaRPr lang="zh-CN" altLang="en-US"/>
                    </a:p>
                  </a:txBody>
                  <a:tcPr/>
                </a:tc>
                <a:tc rowSpan="2">
                  <a:txBody>
                    <a:bodyPr/>
                    <a:lstStyle/>
                    <a:p>
                      <a:pPr algn="ctr">
                        <a:lnSpc>
                          <a:spcPct val="150000"/>
                        </a:lnSpc>
                        <a:spcAft>
                          <a:spcPts val="0"/>
                        </a:spcAft>
                      </a:pPr>
                      <a:r>
                        <a:rPr lang="en-US" sz="1000" kern="100">
                          <a:latin typeface="Times New Roman"/>
                          <a:ea typeface="宋体"/>
                          <a:cs typeface="Times New Roman"/>
                        </a:rPr>
                        <a:t>Tolerance(dB)</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r>
              <a:tr h="252779">
                <a:tc vMerge="1">
                  <a:txBody>
                    <a:bodyPr/>
                    <a:lstStyle/>
                    <a:p>
                      <a:endParaRPr lang="zh-CN" altLang="en-US"/>
                    </a:p>
                  </a:txBody>
                  <a:tcPr/>
                </a:tc>
                <a:tc>
                  <a:txBody>
                    <a:bodyPr/>
                    <a:lstStyle/>
                    <a:p>
                      <a:pPr algn="ctr">
                        <a:lnSpc>
                          <a:spcPct val="150000"/>
                        </a:lnSpc>
                        <a:spcAft>
                          <a:spcPts val="0"/>
                        </a:spcAft>
                      </a:pPr>
                      <a:r>
                        <a:rPr lang="en-US" sz="1000" kern="100">
                          <a:latin typeface="Times New Roman"/>
                          <a:ea typeface="宋体"/>
                          <a:cs typeface="Times New Roman"/>
                        </a:rPr>
                        <a:t>Low Level</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c>
                  <a:txBody>
                    <a:bodyPr/>
                    <a:lstStyle/>
                    <a:p>
                      <a:pPr algn="ctr">
                        <a:lnSpc>
                          <a:spcPct val="150000"/>
                        </a:lnSpc>
                        <a:spcAft>
                          <a:spcPts val="0"/>
                        </a:spcAft>
                      </a:pPr>
                      <a:r>
                        <a:rPr lang="en-US" sz="1000" kern="100" dirty="0">
                          <a:latin typeface="Times New Roman"/>
                          <a:ea typeface="宋体"/>
                          <a:cs typeface="Times New Roman"/>
                        </a:rPr>
                        <a:t>Acceptance Level</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vMerge="1">
                  <a:txBody>
                    <a:bodyPr/>
                    <a:lstStyle/>
                    <a:p>
                      <a:endParaRPr lang="zh-CN" altLang="en-US"/>
                    </a:p>
                  </a:txBody>
                  <a:tcPr/>
                </a:tc>
              </a:tr>
              <a:tr h="252779">
                <a:tc>
                  <a:txBody>
                    <a:bodyPr/>
                    <a:lstStyle/>
                    <a:p>
                      <a:pPr algn="ctr">
                        <a:lnSpc>
                          <a:spcPct val="150000"/>
                        </a:lnSpc>
                        <a:spcAft>
                          <a:spcPts val="0"/>
                        </a:spcAft>
                      </a:pPr>
                      <a:r>
                        <a:rPr lang="en-US" sz="1000" kern="100" dirty="0">
                          <a:latin typeface="Times New Roman"/>
                          <a:ea typeface="宋体"/>
                          <a:cs typeface="Times New Roman"/>
                        </a:rPr>
                        <a:t>31.5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115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118</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a:latin typeface="Times New Roman"/>
                          <a:ea typeface="宋体"/>
                          <a:cs typeface="Times New Roman"/>
                        </a:rPr>
                        <a:t>±5</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r>
              <a:tr h="252779">
                <a:tc>
                  <a:txBody>
                    <a:bodyPr/>
                    <a:lstStyle/>
                    <a:p>
                      <a:pPr algn="ctr">
                        <a:lnSpc>
                          <a:spcPct val="150000"/>
                        </a:lnSpc>
                        <a:spcAft>
                          <a:spcPts val="0"/>
                        </a:spcAft>
                      </a:pPr>
                      <a:r>
                        <a:rPr lang="en-US" sz="1000" kern="100" dirty="0">
                          <a:latin typeface="Times New Roman"/>
                          <a:ea typeface="宋体"/>
                          <a:cs typeface="Times New Roman"/>
                        </a:rPr>
                        <a:t>63</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128</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c>
                  <a:txBody>
                    <a:bodyPr/>
                    <a:lstStyle/>
                    <a:p>
                      <a:pPr algn="ctr">
                        <a:lnSpc>
                          <a:spcPct val="150000"/>
                        </a:lnSpc>
                        <a:spcAft>
                          <a:spcPts val="0"/>
                        </a:spcAft>
                      </a:pPr>
                      <a:r>
                        <a:rPr lang="en-US" sz="1000" kern="100" dirty="0">
                          <a:latin typeface="Times New Roman"/>
                          <a:ea typeface="宋体"/>
                          <a:cs typeface="Times New Roman"/>
                        </a:rPr>
                        <a:t>131</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rowSpan="6">
                  <a:txBody>
                    <a:bodyPr/>
                    <a:lstStyle/>
                    <a:p>
                      <a:pPr algn="ctr">
                        <a:lnSpc>
                          <a:spcPct val="150000"/>
                        </a:lnSpc>
                        <a:spcAft>
                          <a:spcPts val="0"/>
                        </a:spcAft>
                      </a:pPr>
                      <a:r>
                        <a:rPr lang="en-US" sz="1000" kern="100" dirty="0">
                          <a:latin typeface="Times New Roman"/>
                          <a:ea typeface="宋体"/>
                          <a:cs typeface="Times New Roman"/>
                        </a:rPr>
                        <a:t>±3</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r>
              <a:tr h="252779">
                <a:tc>
                  <a:txBody>
                    <a:bodyPr/>
                    <a:lstStyle/>
                    <a:p>
                      <a:pPr algn="ctr">
                        <a:lnSpc>
                          <a:spcPct val="150000"/>
                        </a:lnSpc>
                        <a:spcAft>
                          <a:spcPts val="0"/>
                        </a:spcAft>
                      </a:pPr>
                      <a:r>
                        <a:rPr lang="en-US" sz="1000" kern="100" dirty="0">
                          <a:latin typeface="Times New Roman"/>
                          <a:ea typeface="宋体"/>
                          <a:cs typeface="Times New Roman"/>
                        </a:rPr>
                        <a:t>125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a:latin typeface="Times New Roman"/>
                          <a:ea typeface="宋体"/>
                          <a:cs typeface="Times New Roman"/>
                        </a:rPr>
                        <a:t>131.5</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134.5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vMerge="1">
                  <a:txBody>
                    <a:bodyPr/>
                    <a:lstStyle/>
                    <a:p>
                      <a:endParaRPr lang="zh-CN" altLang="en-US"/>
                    </a:p>
                  </a:txBody>
                  <a:tcPr/>
                </a:tc>
              </a:tr>
              <a:tr h="252779">
                <a:tc>
                  <a:txBody>
                    <a:bodyPr/>
                    <a:lstStyle/>
                    <a:p>
                      <a:pPr algn="ctr">
                        <a:lnSpc>
                          <a:spcPct val="150000"/>
                        </a:lnSpc>
                        <a:spcAft>
                          <a:spcPts val="0"/>
                        </a:spcAft>
                      </a:pPr>
                      <a:r>
                        <a:rPr lang="en-US" sz="1000" kern="100" dirty="0">
                          <a:latin typeface="Times New Roman"/>
                          <a:ea typeface="宋体"/>
                          <a:cs typeface="Times New Roman"/>
                        </a:rPr>
                        <a:t>250</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132</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c>
                  <a:txBody>
                    <a:bodyPr/>
                    <a:lstStyle/>
                    <a:p>
                      <a:pPr algn="ctr">
                        <a:lnSpc>
                          <a:spcPct val="150000"/>
                        </a:lnSpc>
                        <a:spcAft>
                          <a:spcPts val="0"/>
                        </a:spcAft>
                      </a:pPr>
                      <a:r>
                        <a:rPr lang="en-US" sz="1000" kern="100" dirty="0">
                          <a:latin typeface="Times New Roman"/>
                          <a:ea typeface="宋体"/>
                          <a:cs typeface="Times New Roman"/>
                        </a:rPr>
                        <a:t>135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vMerge="1">
                  <a:txBody>
                    <a:bodyPr/>
                    <a:lstStyle/>
                    <a:p>
                      <a:endParaRPr lang="zh-CN" altLang="en-US"/>
                    </a:p>
                  </a:txBody>
                  <a:tcPr/>
                </a:tc>
              </a:tr>
              <a:tr h="252779">
                <a:tc>
                  <a:txBody>
                    <a:bodyPr/>
                    <a:lstStyle/>
                    <a:p>
                      <a:pPr algn="ctr">
                        <a:lnSpc>
                          <a:spcPct val="150000"/>
                        </a:lnSpc>
                        <a:spcAft>
                          <a:spcPts val="0"/>
                        </a:spcAft>
                      </a:pPr>
                      <a:r>
                        <a:rPr lang="en-US" sz="1000" kern="100" dirty="0">
                          <a:latin typeface="Times New Roman"/>
                          <a:ea typeface="宋体"/>
                          <a:cs typeface="Times New Roman"/>
                        </a:rPr>
                        <a:t>500</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130.5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133.5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vMerge="1">
                  <a:txBody>
                    <a:bodyPr/>
                    <a:lstStyle/>
                    <a:p>
                      <a:endParaRPr lang="zh-CN" altLang="en-US"/>
                    </a:p>
                  </a:txBody>
                  <a:tcPr/>
                </a:tc>
              </a:tr>
              <a:tr h="252779">
                <a:tc>
                  <a:txBody>
                    <a:bodyPr/>
                    <a:lstStyle/>
                    <a:p>
                      <a:pPr algn="ctr">
                        <a:lnSpc>
                          <a:spcPct val="150000"/>
                        </a:lnSpc>
                        <a:spcAft>
                          <a:spcPts val="0"/>
                        </a:spcAft>
                      </a:pPr>
                      <a:r>
                        <a:rPr lang="en-US" sz="1000" kern="100">
                          <a:latin typeface="Times New Roman"/>
                          <a:ea typeface="宋体"/>
                          <a:cs typeface="Times New Roman"/>
                        </a:rPr>
                        <a:t>1000</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124</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c>
                  <a:txBody>
                    <a:bodyPr/>
                    <a:lstStyle/>
                    <a:p>
                      <a:pPr algn="ctr">
                        <a:lnSpc>
                          <a:spcPct val="150000"/>
                        </a:lnSpc>
                        <a:spcAft>
                          <a:spcPts val="0"/>
                        </a:spcAft>
                      </a:pPr>
                      <a:r>
                        <a:rPr lang="en-US" sz="1000" kern="100" dirty="0">
                          <a:latin typeface="Times New Roman"/>
                          <a:ea typeface="宋体"/>
                          <a:cs typeface="Times New Roman"/>
                        </a:rPr>
                        <a:t>127</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vMerge="1">
                  <a:txBody>
                    <a:bodyPr/>
                    <a:lstStyle/>
                    <a:p>
                      <a:endParaRPr lang="zh-CN" altLang="en-US"/>
                    </a:p>
                  </a:txBody>
                  <a:tcPr/>
                </a:tc>
              </a:tr>
              <a:tr h="252779">
                <a:tc>
                  <a:txBody>
                    <a:bodyPr/>
                    <a:lstStyle/>
                    <a:p>
                      <a:pPr algn="ctr">
                        <a:lnSpc>
                          <a:spcPct val="150000"/>
                        </a:lnSpc>
                        <a:spcAft>
                          <a:spcPts val="0"/>
                        </a:spcAft>
                      </a:pPr>
                      <a:r>
                        <a:rPr lang="en-US" sz="1000" kern="100">
                          <a:latin typeface="Times New Roman"/>
                          <a:ea typeface="宋体"/>
                          <a:cs typeface="Times New Roman"/>
                        </a:rPr>
                        <a:t>2000</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119</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122</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vMerge="1">
                  <a:txBody>
                    <a:bodyPr/>
                    <a:lstStyle/>
                    <a:p>
                      <a:endParaRPr lang="zh-CN" altLang="en-US"/>
                    </a:p>
                  </a:txBody>
                  <a:tcPr/>
                </a:tc>
              </a:tr>
              <a:tr h="252779">
                <a:tc>
                  <a:txBody>
                    <a:bodyPr/>
                    <a:lstStyle/>
                    <a:p>
                      <a:pPr algn="ctr">
                        <a:lnSpc>
                          <a:spcPct val="150000"/>
                        </a:lnSpc>
                        <a:spcAft>
                          <a:spcPts val="0"/>
                        </a:spcAft>
                      </a:pPr>
                      <a:r>
                        <a:rPr lang="en-US" sz="1000" kern="100">
                          <a:latin typeface="Times New Roman"/>
                          <a:ea typeface="宋体"/>
                          <a:cs typeface="Times New Roman"/>
                        </a:rPr>
                        <a:t>4000</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115</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c>
                  <a:txBody>
                    <a:bodyPr/>
                    <a:lstStyle/>
                    <a:p>
                      <a:pPr algn="ctr">
                        <a:lnSpc>
                          <a:spcPct val="150000"/>
                        </a:lnSpc>
                        <a:spcAft>
                          <a:spcPts val="0"/>
                        </a:spcAft>
                      </a:pPr>
                      <a:r>
                        <a:rPr lang="en-US" sz="1000" kern="100" dirty="0">
                          <a:latin typeface="Times New Roman"/>
                          <a:ea typeface="宋体"/>
                          <a:cs typeface="Times New Roman"/>
                        </a:rPr>
                        <a:t>118</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rowSpan="2">
                  <a:txBody>
                    <a:bodyPr/>
                    <a:lstStyle/>
                    <a:p>
                      <a:pPr algn="ctr">
                        <a:lnSpc>
                          <a:spcPct val="150000"/>
                        </a:lnSpc>
                        <a:spcAft>
                          <a:spcPts val="0"/>
                        </a:spcAft>
                      </a:pPr>
                      <a:r>
                        <a:rPr lang="en-US" sz="1000" kern="100">
                          <a:latin typeface="Times New Roman"/>
                          <a:ea typeface="宋体"/>
                          <a:cs typeface="Times New Roman"/>
                        </a:rPr>
                        <a:t>±5</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r>
              <a:tr h="252779">
                <a:tc>
                  <a:txBody>
                    <a:bodyPr/>
                    <a:lstStyle/>
                    <a:p>
                      <a:pPr algn="ctr">
                        <a:lnSpc>
                          <a:spcPct val="150000"/>
                        </a:lnSpc>
                        <a:spcAft>
                          <a:spcPts val="0"/>
                        </a:spcAft>
                      </a:pPr>
                      <a:r>
                        <a:rPr lang="en-US" sz="1000" kern="100">
                          <a:latin typeface="Times New Roman"/>
                          <a:ea typeface="宋体"/>
                          <a:cs typeface="Times New Roman"/>
                        </a:rPr>
                        <a:t>8000</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111</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114</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vMerge="1">
                  <a:txBody>
                    <a:bodyPr/>
                    <a:lstStyle/>
                    <a:p>
                      <a:endParaRPr lang="zh-CN" altLang="en-US"/>
                    </a:p>
                  </a:txBody>
                  <a:tcPr/>
                </a:tc>
              </a:tr>
              <a:tr h="252779">
                <a:tc>
                  <a:txBody>
                    <a:bodyPr/>
                    <a:lstStyle/>
                    <a:p>
                      <a:pPr algn="ctr">
                        <a:lnSpc>
                          <a:spcPct val="150000"/>
                        </a:lnSpc>
                        <a:spcAft>
                          <a:spcPts val="0"/>
                        </a:spcAft>
                      </a:pPr>
                      <a:r>
                        <a:rPr lang="en-US" sz="1000" kern="100">
                          <a:latin typeface="Times New Roman"/>
                          <a:ea typeface="宋体"/>
                          <a:cs typeface="Times New Roman"/>
                        </a:rPr>
                        <a:t>Total Sound Pressure Level</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137</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c>
                  <a:txBody>
                    <a:bodyPr/>
                    <a:lstStyle/>
                    <a:p>
                      <a:pPr algn="ctr">
                        <a:lnSpc>
                          <a:spcPct val="150000"/>
                        </a:lnSpc>
                        <a:spcAft>
                          <a:spcPts val="0"/>
                        </a:spcAft>
                      </a:pPr>
                      <a:r>
                        <a:rPr lang="en-US" sz="1000" kern="100" dirty="0">
                          <a:latin typeface="Times New Roman"/>
                          <a:ea typeface="宋体"/>
                          <a:cs typeface="Times New Roman"/>
                        </a:rPr>
                        <a:t>140</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a:latin typeface="Times New Roman"/>
                          <a:ea typeface="宋体"/>
                          <a:cs typeface="Times New Roman"/>
                        </a:rPr>
                        <a:t>±1.5</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DFD8E8"/>
                    </a:solidFill>
                  </a:tcPr>
                </a:tc>
              </a:tr>
              <a:tr h="252779">
                <a:tc>
                  <a:txBody>
                    <a:bodyPr/>
                    <a:lstStyle/>
                    <a:p>
                      <a:pPr algn="ctr">
                        <a:lnSpc>
                          <a:spcPct val="150000"/>
                        </a:lnSpc>
                        <a:spcAft>
                          <a:spcPts val="0"/>
                        </a:spcAft>
                      </a:pPr>
                      <a:r>
                        <a:rPr lang="en-US" sz="1000" kern="100" dirty="0">
                          <a:latin typeface="Times New Roman"/>
                          <a:ea typeface="宋体"/>
                          <a:cs typeface="Times New Roman"/>
                        </a:rPr>
                        <a:t>Duration</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1min</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a:latin typeface="Times New Roman"/>
                          <a:ea typeface="宋体"/>
                          <a:cs typeface="Times New Roman"/>
                        </a:rPr>
                        <a:t>1min</a:t>
                      </a:r>
                      <a:endParaRPr lang="zh-CN" sz="1200" kern="10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c>
                  <a:txBody>
                    <a:bodyPr/>
                    <a:lstStyle/>
                    <a:p>
                      <a:pPr algn="ctr">
                        <a:lnSpc>
                          <a:spcPct val="150000"/>
                        </a:lnSpc>
                        <a:spcAft>
                          <a:spcPts val="0"/>
                        </a:spcAft>
                      </a:pPr>
                      <a:r>
                        <a:rPr lang="en-US" sz="1000" kern="100" dirty="0">
                          <a:latin typeface="Times New Roman"/>
                          <a:ea typeface="宋体"/>
                          <a:cs typeface="Times New Roman"/>
                        </a:rPr>
                        <a:t>0</a:t>
                      </a:r>
                      <a:r>
                        <a:rPr lang="zh-CN" sz="1000" kern="100" dirty="0">
                          <a:latin typeface="Times New Roman"/>
                          <a:ea typeface="宋体"/>
                          <a:cs typeface="Times New Roman"/>
                        </a:rPr>
                        <a:t>～</a:t>
                      </a:r>
                      <a:r>
                        <a:rPr lang="en-US" sz="1000" kern="100" dirty="0">
                          <a:latin typeface="Times New Roman"/>
                          <a:ea typeface="宋体"/>
                          <a:cs typeface="Times New Roman"/>
                        </a:rPr>
                        <a:t>10%</a:t>
                      </a:r>
                      <a:endParaRPr lang="zh-CN" sz="1200" kern="100" dirty="0">
                        <a:latin typeface="Times New Roman"/>
                        <a:ea typeface="宋体"/>
                        <a:cs typeface="Times New Roman"/>
                      </a:endParaRPr>
                    </a:p>
                  </a:txBody>
                  <a:tcPr marL="68580" marR="68580" marT="0" marB="0" anchor="ctr">
                    <a:lnL w="12700" cap="flat" cmpd="sng" algn="ctr">
                      <a:solidFill>
                        <a:srgbClr val="CDE7CF"/>
                      </a:solidFill>
                      <a:prstDash val="solid"/>
                      <a:round/>
                      <a:headEnd type="none" w="med" len="med"/>
                      <a:tailEnd type="none" w="med" len="med"/>
                    </a:lnL>
                    <a:lnR w="12700" cap="flat" cmpd="sng" algn="ctr">
                      <a:solidFill>
                        <a:srgbClr val="CDE7CF"/>
                      </a:solidFill>
                      <a:prstDash val="solid"/>
                      <a:round/>
                      <a:headEnd type="none" w="med" len="med"/>
                      <a:tailEnd type="none" w="med" len="med"/>
                    </a:lnR>
                    <a:lnT w="12700" cap="flat" cmpd="sng" algn="ctr">
                      <a:solidFill>
                        <a:srgbClr val="CDE7CF"/>
                      </a:solidFill>
                      <a:prstDash val="solid"/>
                      <a:round/>
                      <a:headEnd type="none" w="med" len="med"/>
                      <a:tailEnd type="none" w="med" len="med"/>
                    </a:lnT>
                    <a:lnB w="12700" cap="flat" cmpd="sng" algn="ctr">
                      <a:solidFill>
                        <a:srgbClr val="CDE7CF"/>
                      </a:solidFill>
                      <a:prstDash val="solid"/>
                      <a:round/>
                      <a:headEnd type="none" w="med" len="med"/>
                      <a:tailEnd type="none" w="med" len="med"/>
                    </a:lnB>
                    <a:solidFill>
                      <a:srgbClr val="BFB1D0"/>
                    </a:solidFill>
                  </a:tcPr>
                </a:tc>
              </a:tr>
            </a:tbl>
          </a:graphicData>
        </a:graphic>
      </p:graphicFrame>
      <p:graphicFrame>
        <p:nvGraphicFramePr>
          <p:cNvPr id="122882" name="Object 2"/>
          <p:cNvGraphicFramePr>
            <a:graphicFrameLocks/>
          </p:cNvGraphicFramePr>
          <p:nvPr/>
        </p:nvGraphicFramePr>
        <p:xfrm>
          <a:off x="4429136" y="2571744"/>
          <a:ext cx="4786334" cy="2357454"/>
        </p:xfrm>
        <a:graphic>
          <a:graphicData uri="http://schemas.openxmlformats.org/presentationml/2006/ole">
            <mc:AlternateContent xmlns:mc="http://schemas.openxmlformats.org/markup-compatibility/2006">
              <mc:Choice xmlns:v="urn:schemas-microsoft-com:vml" Requires="v">
                <p:oleObj spid="_x0000_s122884" name="图表" r:id="rId3" imgW="6286500" imgH="3210044" progId="Excel.Sheet.8">
                  <p:embed/>
                </p:oleObj>
              </mc:Choice>
              <mc:Fallback>
                <p:oleObj name="图表" r:id="rId3" imgW="6286500" imgH="3210044" progId="Excel.Shee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9136" y="2571744"/>
                        <a:ext cx="4786334" cy="2357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51918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 is Environmental Test</a:t>
            </a:r>
          </a:p>
          <a:p>
            <a:pPr marL="514350" indent="-514350">
              <a:buFont typeface="+mj-lt"/>
              <a:buAutoNum type="arabicPeriod"/>
            </a:pPr>
            <a:r>
              <a:rPr lang="en-US" altLang="zh-CN" sz="3100" dirty="0" smtClean="0">
                <a:latin typeface="Times New Roman" pitchFamily="18" charset="0"/>
                <a:cs typeface="Times New Roman" pitchFamily="18" charset="0"/>
              </a:rPr>
              <a:t>What is Dynamic Environment</a:t>
            </a:r>
          </a:p>
          <a:p>
            <a:pPr marL="514350" indent="-514350">
              <a:buFont typeface="+mj-lt"/>
              <a:buAutoNum type="arabicPeriod"/>
            </a:pPr>
            <a:r>
              <a:rPr lang="en-US" altLang="zh-CN" sz="3100" dirty="0" smtClean="0">
                <a:latin typeface="Times New Roman" pitchFamily="18" charset="0"/>
                <a:cs typeface="Times New Roman" pitchFamily="18" charset="0"/>
              </a:rPr>
              <a:t>Dynamic Test Matrix and Level</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Dynamic Test Example</a:t>
            </a:r>
          </a:p>
          <a:p>
            <a:pPr marL="514350" indent="-514350">
              <a:buFont typeface="+mj-lt"/>
              <a:buAutoNum type="arabicPeriod"/>
            </a:pPr>
            <a:r>
              <a:rPr lang="en-US" altLang="zh-CN" sz="3100" dirty="0" smtClean="0">
                <a:latin typeface="Times New Roman" pitchFamily="18" charset="0"/>
                <a:cs typeface="Times New Roman" pitchFamily="18" charset="0"/>
              </a:rPr>
              <a:t>Exercise</a:t>
            </a:r>
            <a:endParaRPr lang="zh-CN" altLang="en-US" sz="3100" dirty="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a:spLocks noChangeArrowheads="1"/>
          </p:cNvSpPr>
          <p:nvPr/>
        </p:nvSpPr>
        <p:spPr bwMode="auto">
          <a:xfrm>
            <a:off x="1357290" y="285750"/>
            <a:ext cx="6072188" cy="646113"/>
          </a:xfrm>
          <a:prstGeom prst="rect">
            <a:avLst/>
          </a:prstGeom>
          <a:noFill/>
          <a:ln w="9525">
            <a:noFill/>
            <a:miter lim="800000"/>
            <a:headEnd/>
            <a:tailEnd/>
          </a:ln>
        </p:spPr>
        <p:txBody>
          <a:bodyPr>
            <a:spAutoFit/>
          </a:bodyPr>
          <a:lstStyle/>
          <a:p>
            <a:pPr marL="342900" indent="-342900" algn="ctr">
              <a:spcBef>
                <a:spcPct val="50000"/>
              </a:spcBef>
            </a:pPr>
            <a:r>
              <a:rPr lang="en-US" altLang="zh-CN" sz="3600" b="1" dirty="0" smtClean="0">
                <a:latin typeface="+mj-lt"/>
              </a:rPr>
              <a:t>Dynamic </a:t>
            </a:r>
            <a:r>
              <a:rPr lang="en-US" altLang="zh-CN" sz="3600" b="1" dirty="0">
                <a:latin typeface="+mj-lt"/>
              </a:rPr>
              <a:t>Test Application</a:t>
            </a:r>
          </a:p>
        </p:txBody>
      </p:sp>
      <p:sp>
        <p:nvSpPr>
          <p:cNvPr id="28677" name="矩形 5"/>
          <p:cNvSpPr>
            <a:spLocks noChangeArrowheads="1"/>
          </p:cNvSpPr>
          <p:nvPr/>
        </p:nvSpPr>
        <p:spPr bwMode="auto">
          <a:xfrm>
            <a:off x="4714876" y="5488560"/>
            <a:ext cx="4203908" cy="369332"/>
          </a:xfrm>
          <a:prstGeom prst="rect">
            <a:avLst/>
          </a:prstGeom>
          <a:noFill/>
          <a:ln w="9525">
            <a:noFill/>
            <a:miter lim="800000"/>
            <a:headEnd/>
            <a:tailEnd/>
          </a:ln>
        </p:spPr>
        <p:txBody>
          <a:bodyPr wrap="none">
            <a:spAutoFit/>
          </a:bodyPr>
          <a:lstStyle/>
          <a:p>
            <a:r>
              <a:rPr lang="en-US" altLang="zh-CN" dirty="0" smtClean="0"/>
              <a:t>Vibration Test </a:t>
            </a:r>
            <a:r>
              <a:rPr lang="en-US" altLang="zh-CN" dirty="0"/>
              <a:t>for </a:t>
            </a:r>
            <a:r>
              <a:rPr lang="en-US" altLang="zh-CN" dirty="0" smtClean="0"/>
              <a:t>ESA’s </a:t>
            </a:r>
            <a:r>
              <a:rPr lang="en-US" dirty="0" smtClean="0"/>
              <a:t>ATV-STM Spaceship</a:t>
            </a:r>
            <a:endParaRPr lang="zh-CN" altLang="en-US" dirty="0"/>
          </a:p>
        </p:txBody>
      </p:sp>
      <p:pic>
        <p:nvPicPr>
          <p:cNvPr id="302082" name="Picture 2" descr="ATV-vibration"/>
          <p:cNvPicPr>
            <a:picLocks noChangeAspect="1" noChangeArrowheads="1"/>
          </p:cNvPicPr>
          <p:nvPr/>
        </p:nvPicPr>
        <p:blipFill>
          <a:blip r:embed="rId3"/>
          <a:srcRect/>
          <a:stretch>
            <a:fillRect/>
          </a:stretch>
        </p:blipFill>
        <p:spPr bwMode="auto">
          <a:xfrm>
            <a:off x="5000628" y="1224848"/>
            <a:ext cx="3143272" cy="4204416"/>
          </a:xfrm>
          <a:prstGeom prst="rect">
            <a:avLst/>
          </a:prstGeom>
          <a:noFill/>
          <a:ln w="9525">
            <a:solidFill>
              <a:schemeClr val="tx1"/>
            </a:solidFill>
            <a:miter lim="800000"/>
            <a:headEnd/>
            <a:tailEnd/>
          </a:ln>
        </p:spPr>
      </p:pic>
      <p:pic>
        <p:nvPicPr>
          <p:cNvPr id="302083" name="Picture 3"/>
          <p:cNvPicPr>
            <a:picLocks noChangeAspect="1" noChangeArrowheads="1"/>
          </p:cNvPicPr>
          <p:nvPr/>
        </p:nvPicPr>
        <p:blipFill>
          <a:blip r:embed="rId4"/>
          <a:srcRect/>
          <a:stretch>
            <a:fillRect/>
          </a:stretch>
        </p:blipFill>
        <p:spPr bwMode="auto">
          <a:xfrm>
            <a:off x="1142976" y="1214422"/>
            <a:ext cx="2954455" cy="4214842"/>
          </a:xfrm>
          <a:prstGeom prst="rect">
            <a:avLst/>
          </a:prstGeom>
          <a:noFill/>
          <a:ln w="9525">
            <a:solidFill>
              <a:schemeClr val="tx1"/>
            </a:solidFill>
            <a:miter lim="800000"/>
            <a:headEnd/>
            <a:tailEnd/>
          </a:ln>
          <a:effectLst/>
        </p:spPr>
      </p:pic>
      <p:sp>
        <p:nvSpPr>
          <p:cNvPr id="10" name="矩形 5"/>
          <p:cNvSpPr>
            <a:spLocks noChangeArrowheads="1"/>
          </p:cNvSpPr>
          <p:nvPr/>
        </p:nvSpPr>
        <p:spPr bwMode="auto">
          <a:xfrm>
            <a:off x="857224" y="5500702"/>
            <a:ext cx="3718647" cy="369332"/>
          </a:xfrm>
          <a:prstGeom prst="rect">
            <a:avLst/>
          </a:prstGeom>
          <a:noFill/>
          <a:ln w="9525">
            <a:noFill/>
            <a:miter lim="800000"/>
            <a:headEnd/>
            <a:tailEnd/>
          </a:ln>
        </p:spPr>
        <p:txBody>
          <a:bodyPr wrap="none">
            <a:spAutoFit/>
          </a:bodyPr>
          <a:lstStyle/>
          <a:p>
            <a:r>
              <a:rPr lang="en-US" altLang="zh-CN" dirty="0" smtClean="0"/>
              <a:t>Vertical Vibration Test </a:t>
            </a:r>
            <a:r>
              <a:rPr lang="en-US" altLang="zh-CN" dirty="0"/>
              <a:t>for </a:t>
            </a:r>
            <a:r>
              <a:rPr lang="en-US" dirty="0" smtClean="0"/>
              <a:t>NASA’s DS1</a:t>
            </a:r>
            <a:endParaRPr lang="zh-CN" altLang="en-US" dirty="0"/>
          </a:p>
        </p:txBody>
      </p:sp>
      <p:sp>
        <p:nvSpPr>
          <p:cNvPr id="7" name="灯片编号占位符 6"/>
          <p:cNvSpPr>
            <a:spLocks noGrp="1"/>
          </p:cNvSpPr>
          <p:nvPr>
            <p:ph type="sldNum" sz="quarter" idx="12"/>
          </p:nvPr>
        </p:nvSpPr>
        <p:spPr/>
        <p:txBody>
          <a:bodyPr/>
          <a:lstStyle/>
          <a:p>
            <a:fld id="{0484A4AA-26EC-4440-BEFE-3138EE7B1813}" type="slidenum">
              <a:rPr lang="zh-CN" altLang="en-US" smtClean="0"/>
              <a:pPr/>
              <a:t>28</a:t>
            </a:fld>
            <a:endParaRPr lang="zh-CN" altLang="en-US"/>
          </a:p>
        </p:txBody>
      </p:sp>
    </p:spTree>
    <p:extLst>
      <p:ext uri="{BB962C8B-B14F-4D97-AF65-F5344CB8AC3E}">
        <p14:creationId xmlns:p14="http://schemas.microsoft.com/office/powerpoint/2010/main" val="1903797603"/>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矩形 5"/>
          <p:cNvSpPr>
            <a:spLocks noChangeArrowheads="1"/>
          </p:cNvSpPr>
          <p:nvPr/>
        </p:nvSpPr>
        <p:spPr bwMode="auto">
          <a:xfrm>
            <a:off x="2987701" y="5488560"/>
            <a:ext cx="3656001" cy="369332"/>
          </a:xfrm>
          <a:prstGeom prst="rect">
            <a:avLst/>
          </a:prstGeom>
          <a:noFill/>
          <a:ln w="9525">
            <a:noFill/>
            <a:miter lim="800000"/>
            <a:headEnd/>
            <a:tailEnd/>
          </a:ln>
        </p:spPr>
        <p:txBody>
          <a:bodyPr wrap="none">
            <a:spAutoFit/>
          </a:bodyPr>
          <a:lstStyle/>
          <a:p>
            <a:r>
              <a:rPr lang="en-US" altLang="zh-CN" dirty="0" smtClean="0"/>
              <a:t>Acoustic Test </a:t>
            </a:r>
            <a:r>
              <a:rPr lang="en-US" altLang="zh-CN" dirty="0"/>
              <a:t>for </a:t>
            </a:r>
            <a:r>
              <a:rPr lang="en-US" dirty="0" smtClean="0"/>
              <a:t>ATV-STM Spaceship </a:t>
            </a:r>
            <a:endParaRPr lang="zh-CN" altLang="en-US" dirty="0"/>
          </a:p>
        </p:txBody>
      </p:sp>
      <p:pic>
        <p:nvPicPr>
          <p:cNvPr id="278530" name="Picture 2"/>
          <p:cNvPicPr>
            <a:picLocks noChangeAspect="1" noChangeArrowheads="1"/>
          </p:cNvPicPr>
          <p:nvPr/>
        </p:nvPicPr>
        <p:blipFill>
          <a:blip r:embed="rId3"/>
          <a:srcRect/>
          <a:stretch>
            <a:fillRect/>
          </a:stretch>
        </p:blipFill>
        <p:spPr bwMode="auto">
          <a:xfrm>
            <a:off x="1285852" y="1142984"/>
            <a:ext cx="3143272" cy="4200232"/>
          </a:xfrm>
          <a:prstGeom prst="rect">
            <a:avLst/>
          </a:prstGeom>
          <a:noFill/>
          <a:ln w="9525">
            <a:solidFill>
              <a:schemeClr val="tx1"/>
            </a:solidFill>
            <a:miter lim="800000"/>
            <a:headEnd/>
            <a:tailEnd/>
          </a:ln>
        </p:spPr>
      </p:pic>
      <p:pic>
        <p:nvPicPr>
          <p:cNvPr id="278531" name="Picture 3" descr="mhtml:file://D:\921-3\080519\Jules%20Verne%20--%20First%20Robotic%20Supply%20Vehicle%20To%20Space%20Station%20--%20Passes%20Acoustic%20Test.mht!http://www.sciencedaily.com/images/2006/07/060703210043.jpg"/>
          <p:cNvPicPr>
            <a:picLocks noChangeAspect="1" noChangeArrowheads="1"/>
          </p:cNvPicPr>
          <p:nvPr/>
        </p:nvPicPr>
        <p:blipFill>
          <a:blip r:embed="rId4" r:link="rId5"/>
          <a:srcRect/>
          <a:stretch>
            <a:fillRect/>
          </a:stretch>
        </p:blipFill>
        <p:spPr bwMode="auto">
          <a:xfrm>
            <a:off x="4929190" y="1142984"/>
            <a:ext cx="3000396" cy="4185227"/>
          </a:xfrm>
          <a:prstGeom prst="rect">
            <a:avLst/>
          </a:prstGeom>
          <a:noFill/>
          <a:ln w="9525">
            <a:solidFill>
              <a:schemeClr val="tx1"/>
            </a:solidFill>
            <a:miter lim="800000"/>
            <a:headEnd/>
            <a:tailEnd/>
          </a:ln>
        </p:spPr>
      </p:pic>
      <p:sp>
        <p:nvSpPr>
          <p:cNvPr id="5" name="灯片编号占位符 4"/>
          <p:cNvSpPr>
            <a:spLocks noGrp="1"/>
          </p:cNvSpPr>
          <p:nvPr>
            <p:ph type="sldNum" sz="quarter" idx="12"/>
          </p:nvPr>
        </p:nvSpPr>
        <p:spPr/>
        <p:txBody>
          <a:bodyPr/>
          <a:lstStyle/>
          <a:p>
            <a:fld id="{0484A4AA-26EC-4440-BEFE-3138EE7B1813}" type="slidenum">
              <a:rPr lang="zh-CN" altLang="en-US" smtClean="0"/>
              <a:pPr/>
              <a:t>29</a:t>
            </a:fld>
            <a:endParaRPr lang="zh-CN" altLang="en-US"/>
          </a:p>
        </p:txBody>
      </p:sp>
    </p:spTree>
    <p:extLst>
      <p:ext uri="{BB962C8B-B14F-4D97-AF65-F5344CB8AC3E}">
        <p14:creationId xmlns:p14="http://schemas.microsoft.com/office/powerpoint/2010/main" val="1922885926"/>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矩形 5"/>
          <p:cNvSpPr>
            <a:spLocks noChangeArrowheads="1"/>
          </p:cNvSpPr>
          <p:nvPr/>
        </p:nvSpPr>
        <p:spPr bwMode="auto">
          <a:xfrm>
            <a:off x="5357818" y="5214950"/>
            <a:ext cx="2326534" cy="369332"/>
          </a:xfrm>
          <a:prstGeom prst="rect">
            <a:avLst/>
          </a:prstGeom>
          <a:noFill/>
          <a:ln w="9525">
            <a:noFill/>
            <a:miter lim="800000"/>
            <a:headEnd/>
            <a:tailEnd/>
          </a:ln>
        </p:spPr>
        <p:txBody>
          <a:bodyPr wrap="none">
            <a:spAutoFit/>
          </a:bodyPr>
          <a:lstStyle/>
          <a:p>
            <a:r>
              <a:rPr lang="en-US" altLang="zh-CN" dirty="0" smtClean="0"/>
              <a:t>Shock Test Equipments</a:t>
            </a:r>
            <a:endParaRPr lang="zh-CN" altLang="en-US" dirty="0"/>
          </a:p>
        </p:txBody>
      </p:sp>
      <p:pic>
        <p:nvPicPr>
          <p:cNvPr id="283650" name="Picture 2" descr="D:\Documents\◆7-团支部工作\团支部照片\2008年\20081105设备照片\大型冲击台.jpg"/>
          <p:cNvPicPr>
            <a:picLocks noChangeAspect="1" noChangeArrowheads="1"/>
          </p:cNvPicPr>
          <p:nvPr/>
        </p:nvPicPr>
        <p:blipFill>
          <a:blip r:embed="rId3"/>
          <a:srcRect/>
          <a:stretch>
            <a:fillRect/>
          </a:stretch>
        </p:blipFill>
        <p:spPr bwMode="auto">
          <a:xfrm>
            <a:off x="4286248" y="1142984"/>
            <a:ext cx="2157413" cy="2876550"/>
          </a:xfrm>
          <a:prstGeom prst="rect">
            <a:avLst/>
          </a:prstGeom>
          <a:noFill/>
          <a:ln>
            <a:solidFill>
              <a:schemeClr val="tx1"/>
            </a:solidFill>
          </a:ln>
        </p:spPr>
      </p:pic>
      <p:pic>
        <p:nvPicPr>
          <p:cNvPr id="283651" name="Picture 3" descr="D:\Documents\◆7-团支部工作\团支部照片\2008年\20081105设备照片\中型冲击台.jpg"/>
          <p:cNvPicPr>
            <a:picLocks noChangeAspect="1" noChangeArrowheads="1"/>
          </p:cNvPicPr>
          <p:nvPr/>
        </p:nvPicPr>
        <p:blipFill>
          <a:blip r:embed="rId4"/>
          <a:srcRect/>
          <a:stretch>
            <a:fillRect/>
          </a:stretch>
        </p:blipFill>
        <p:spPr bwMode="auto">
          <a:xfrm>
            <a:off x="5929322" y="2143116"/>
            <a:ext cx="2451100" cy="2876550"/>
          </a:xfrm>
          <a:prstGeom prst="rect">
            <a:avLst/>
          </a:prstGeom>
          <a:noFill/>
          <a:ln>
            <a:solidFill>
              <a:schemeClr val="tx1"/>
            </a:solidFill>
          </a:ln>
        </p:spPr>
      </p:pic>
      <p:pic>
        <p:nvPicPr>
          <p:cNvPr id="7" name="图片 6" descr="DSC_2206（秘密★）.JPG"/>
          <p:cNvPicPr/>
          <p:nvPr/>
        </p:nvPicPr>
        <p:blipFill>
          <a:blip r:embed="rId5" cstate="print"/>
          <a:srcRect/>
          <a:stretch>
            <a:fillRect/>
          </a:stretch>
        </p:blipFill>
        <p:spPr bwMode="auto">
          <a:xfrm>
            <a:off x="1142976" y="1142984"/>
            <a:ext cx="2500330" cy="3857652"/>
          </a:xfrm>
          <a:prstGeom prst="rect">
            <a:avLst/>
          </a:prstGeom>
          <a:noFill/>
          <a:ln w="9525">
            <a:solidFill>
              <a:schemeClr val="tx1"/>
            </a:solidFill>
            <a:miter lim="800000"/>
            <a:headEnd/>
            <a:tailEnd/>
          </a:ln>
        </p:spPr>
      </p:pic>
      <p:sp>
        <p:nvSpPr>
          <p:cNvPr id="8" name="矩形 5"/>
          <p:cNvSpPr>
            <a:spLocks noChangeArrowheads="1"/>
          </p:cNvSpPr>
          <p:nvPr/>
        </p:nvSpPr>
        <p:spPr bwMode="auto">
          <a:xfrm>
            <a:off x="1142976" y="5202808"/>
            <a:ext cx="2381806" cy="369332"/>
          </a:xfrm>
          <a:prstGeom prst="rect">
            <a:avLst/>
          </a:prstGeom>
          <a:noFill/>
          <a:ln w="9525">
            <a:noFill/>
            <a:miter lim="800000"/>
            <a:headEnd/>
            <a:tailEnd/>
          </a:ln>
        </p:spPr>
        <p:txBody>
          <a:bodyPr wrap="none">
            <a:spAutoFit/>
          </a:bodyPr>
          <a:lstStyle/>
          <a:p>
            <a:r>
              <a:rPr lang="en-US" altLang="zh-CN" dirty="0" smtClean="0"/>
              <a:t>Shock Test For CAST-BD</a:t>
            </a:r>
            <a:endParaRPr lang="zh-CN" altLang="en-US" dirty="0"/>
          </a:p>
        </p:txBody>
      </p:sp>
      <p:sp>
        <p:nvSpPr>
          <p:cNvPr id="9" name="灯片编号占位符 8"/>
          <p:cNvSpPr>
            <a:spLocks noGrp="1"/>
          </p:cNvSpPr>
          <p:nvPr>
            <p:ph type="sldNum" sz="quarter" idx="12"/>
          </p:nvPr>
        </p:nvSpPr>
        <p:spPr/>
        <p:txBody>
          <a:bodyPr/>
          <a:lstStyle/>
          <a:p>
            <a:fld id="{0484A4AA-26EC-4440-BEFE-3138EE7B1813}" type="slidenum">
              <a:rPr lang="zh-CN" altLang="en-US" smtClean="0"/>
              <a:pPr/>
              <a:t>30</a:t>
            </a:fld>
            <a:endParaRPr lang="zh-CN" altLang="en-US"/>
          </a:p>
        </p:txBody>
      </p:sp>
    </p:spTree>
    <p:extLst>
      <p:ext uri="{BB962C8B-B14F-4D97-AF65-F5344CB8AC3E}">
        <p14:creationId xmlns:p14="http://schemas.microsoft.com/office/powerpoint/2010/main" val="346239090"/>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矩形 5"/>
          <p:cNvSpPr>
            <a:spLocks noChangeArrowheads="1"/>
          </p:cNvSpPr>
          <p:nvPr/>
        </p:nvSpPr>
        <p:spPr bwMode="auto">
          <a:xfrm>
            <a:off x="2987701" y="5488560"/>
            <a:ext cx="2944845" cy="369332"/>
          </a:xfrm>
          <a:prstGeom prst="rect">
            <a:avLst/>
          </a:prstGeom>
          <a:noFill/>
          <a:ln w="9525">
            <a:noFill/>
            <a:miter lim="800000"/>
            <a:headEnd/>
            <a:tailEnd/>
          </a:ln>
        </p:spPr>
        <p:txBody>
          <a:bodyPr wrap="none">
            <a:spAutoFit/>
          </a:bodyPr>
          <a:lstStyle/>
          <a:p>
            <a:r>
              <a:rPr lang="en-US" altLang="zh-CN" dirty="0" smtClean="0"/>
              <a:t>Acceleration Test Equipments</a:t>
            </a:r>
            <a:endParaRPr lang="zh-CN" altLang="en-US" dirty="0"/>
          </a:p>
        </p:txBody>
      </p:sp>
      <p:pic>
        <p:nvPicPr>
          <p:cNvPr id="230401" name="Picture 1" descr="D:\Documents\◆0-中英文手册策划\20090831-V3\大型离心机.jpg"/>
          <p:cNvPicPr>
            <a:picLocks noChangeAspect="1" noChangeArrowheads="1"/>
          </p:cNvPicPr>
          <p:nvPr/>
        </p:nvPicPr>
        <p:blipFill>
          <a:blip r:embed="rId3"/>
          <a:srcRect/>
          <a:stretch>
            <a:fillRect/>
          </a:stretch>
        </p:blipFill>
        <p:spPr bwMode="auto">
          <a:xfrm>
            <a:off x="2214546" y="1571612"/>
            <a:ext cx="4703779" cy="3524962"/>
          </a:xfrm>
          <a:prstGeom prst="rect">
            <a:avLst/>
          </a:prstGeom>
          <a:noFill/>
          <a:ln>
            <a:solidFill>
              <a:schemeClr val="tx1"/>
            </a:solidFill>
          </a:ln>
        </p:spPr>
      </p:pic>
      <p:sp>
        <p:nvSpPr>
          <p:cNvPr id="4" name="灯片编号占位符 3"/>
          <p:cNvSpPr>
            <a:spLocks noGrp="1"/>
          </p:cNvSpPr>
          <p:nvPr>
            <p:ph type="sldNum" sz="quarter" idx="12"/>
          </p:nvPr>
        </p:nvSpPr>
        <p:spPr/>
        <p:txBody>
          <a:bodyPr/>
          <a:lstStyle/>
          <a:p>
            <a:fld id="{0484A4AA-26EC-4440-BEFE-3138EE7B1813}" type="slidenum">
              <a:rPr lang="zh-CN" altLang="en-US" smtClean="0"/>
              <a:pPr/>
              <a:t>31</a:t>
            </a:fld>
            <a:endParaRPr lang="zh-CN" altLang="en-US"/>
          </a:p>
        </p:txBody>
      </p:sp>
    </p:spTree>
    <p:extLst>
      <p:ext uri="{BB962C8B-B14F-4D97-AF65-F5344CB8AC3E}">
        <p14:creationId xmlns:p14="http://schemas.microsoft.com/office/powerpoint/2010/main" val="77379774"/>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normAutofit/>
          </a:bodyPr>
          <a:lstStyle/>
          <a:p>
            <a:pPr marL="514350" indent="-514350">
              <a:buFont typeface="+mj-lt"/>
              <a:buAutoNum type="arabicPeriod"/>
            </a:pPr>
            <a:r>
              <a:rPr lang="en-US" altLang="zh-CN" sz="3100" dirty="0" smtClean="0">
                <a:latin typeface="Times New Roman" pitchFamily="18" charset="0"/>
                <a:cs typeface="Times New Roman" pitchFamily="18" charset="0"/>
              </a:rPr>
              <a:t>What is Environmental Test</a:t>
            </a:r>
          </a:p>
          <a:p>
            <a:pPr marL="514350" indent="-514350">
              <a:buFont typeface="+mj-lt"/>
              <a:buAutoNum type="arabicPeriod"/>
            </a:pPr>
            <a:r>
              <a:rPr lang="en-US" altLang="zh-CN" sz="3100" dirty="0" smtClean="0">
                <a:latin typeface="Times New Roman" pitchFamily="18" charset="0"/>
                <a:cs typeface="Times New Roman" pitchFamily="18" charset="0"/>
              </a:rPr>
              <a:t>What is Dynamic Environment</a:t>
            </a:r>
          </a:p>
          <a:p>
            <a:pPr marL="514350" indent="-514350">
              <a:buFont typeface="+mj-lt"/>
              <a:buAutoNum type="arabicPeriod"/>
            </a:pPr>
            <a:r>
              <a:rPr lang="en-US" altLang="zh-CN" sz="3100" dirty="0" smtClean="0">
                <a:latin typeface="Times New Roman" pitchFamily="18" charset="0"/>
                <a:cs typeface="Times New Roman" pitchFamily="18" charset="0"/>
              </a:rPr>
              <a:t>Dynamic Test Matrix and Level</a:t>
            </a:r>
          </a:p>
          <a:p>
            <a:pPr marL="514350" indent="-514350">
              <a:buFont typeface="+mj-lt"/>
              <a:buAutoNum type="arabicPeriod"/>
            </a:pPr>
            <a:r>
              <a:rPr lang="en-US" altLang="zh-CN" sz="3100" dirty="0" smtClean="0">
                <a:latin typeface="Times New Roman" pitchFamily="18" charset="0"/>
                <a:cs typeface="Times New Roman" pitchFamily="18" charset="0"/>
              </a:rPr>
              <a:t>Dynamic Test Example</a:t>
            </a:r>
          </a:p>
          <a:p>
            <a:pPr marL="514350" indent="-514350">
              <a:buFont typeface="+mj-lt"/>
              <a:buAutoNum type="arabicPeriod"/>
            </a:pPr>
            <a:r>
              <a:rPr lang="en-US" altLang="zh-CN" dirty="0" smtClean="0">
                <a:latin typeface="Times New Roman" pitchFamily="18" charset="0"/>
                <a:cs typeface="Times New Roman" pitchFamily="18" charset="0"/>
                <a:hlinkClick r:id="" action="ppaction://hlinkfile"/>
              </a:rPr>
              <a:t>Exercise</a:t>
            </a:r>
            <a:endParaRPr lang="zh-CN" altLang="en-US" dirty="0">
              <a:latin typeface="Times New Roman" pitchFamily="18" charset="0"/>
              <a:cs typeface="Times New Roman" pitchFamily="18" charset="0"/>
              <a:hlinkClick r:id="" action="ppaction://hlinkfile"/>
            </a:endParaRP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5873019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body" idx="1"/>
          </p:nvPr>
        </p:nvSpPr>
        <p:spPr>
          <a:xfrm>
            <a:off x="-285784" y="1285860"/>
            <a:ext cx="9215502" cy="3873513"/>
          </a:xfrm>
        </p:spPr>
        <p:txBody>
          <a:bodyPr>
            <a:normAutofit/>
          </a:bodyPr>
          <a:lstStyle/>
          <a:p>
            <a:pPr>
              <a:lnSpc>
                <a:spcPct val="90000"/>
              </a:lnSpc>
              <a:buNone/>
            </a:pPr>
            <a:endParaRPr lang="en-US" sz="2800" dirty="0" smtClean="0"/>
          </a:p>
          <a:p>
            <a:pPr lvl="1">
              <a:lnSpc>
                <a:spcPct val="150000"/>
              </a:lnSpc>
              <a:buSzPct val="50000"/>
              <a:buFont typeface="Wingdings" pitchFamily="2" charset="2"/>
              <a:buChar char="l"/>
            </a:pPr>
            <a:r>
              <a:rPr lang="en-US" sz="2400" dirty="0" smtClean="0"/>
              <a:t>1</a:t>
            </a:r>
            <a:r>
              <a:rPr lang="en-US" altLang="zh-CN" sz="2400" dirty="0" smtClean="0"/>
              <a:t>. What is Environmental test</a:t>
            </a:r>
            <a:r>
              <a:rPr lang="en-US" sz="2400" dirty="0" smtClean="0"/>
              <a:t>? </a:t>
            </a:r>
          </a:p>
          <a:p>
            <a:pPr lvl="1">
              <a:lnSpc>
                <a:spcPct val="150000"/>
              </a:lnSpc>
              <a:buSzPct val="50000"/>
              <a:buFont typeface="Wingdings" pitchFamily="2" charset="2"/>
              <a:buChar char="l"/>
            </a:pPr>
            <a:r>
              <a:rPr lang="en-US" sz="2400" dirty="0" smtClean="0"/>
              <a:t>2</a:t>
            </a:r>
            <a:r>
              <a:rPr lang="en-US" altLang="zh-CN" sz="2400" dirty="0" smtClean="0"/>
              <a:t>. </a:t>
            </a:r>
            <a:r>
              <a:rPr lang="en-US" sz="2400" dirty="0" smtClean="0"/>
              <a:t>What is the objective of dynamic environment test?</a:t>
            </a:r>
          </a:p>
          <a:p>
            <a:pPr lvl="1">
              <a:lnSpc>
                <a:spcPct val="150000"/>
              </a:lnSpc>
              <a:buSzPct val="50000"/>
              <a:buFont typeface="Wingdings" pitchFamily="2" charset="2"/>
              <a:buChar char="l"/>
            </a:pPr>
            <a:r>
              <a:rPr lang="en-US" sz="2400" dirty="0" smtClean="0"/>
              <a:t>3</a:t>
            </a:r>
            <a:r>
              <a:rPr lang="en-US" altLang="zh-CN" sz="2400" dirty="0" smtClean="0"/>
              <a:t>. What is the test matrix for unit level?</a:t>
            </a:r>
            <a:endParaRPr lang="en-US" dirty="0" smtClean="0"/>
          </a:p>
          <a:p>
            <a:pPr lvl="1">
              <a:lnSpc>
                <a:spcPct val="90000"/>
              </a:lnSpc>
              <a:buSzPct val="50000"/>
              <a:buFont typeface="Wingdings" pitchFamily="2" charset="2"/>
              <a:buChar char="l"/>
            </a:pPr>
            <a:endParaRPr lang="en-US" sz="2400" dirty="0" smtClean="0"/>
          </a:p>
        </p:txBody>
      </p:sp>
      <p:sp>
        <p:nvSpPr>
          <p:cNvPr id="208900" name="Rectangle 4"/>
          <p:cNvSpPr>
            <a:spLocks noGrp="1" noChangeArrowheads="1"/>
          </p:cNvSpPr>
          <p:nvPr>
            <p:ph type="title"/>
          </p:nvPr>
        </p:nvSpPr>
        <p:spPr>
          <a:xfrm>
            <a:off x="442938" y="500042"/>
            <a:ext cx="7772400" cy="658813"/>
          </a:xfrm>
        </p:spPr>
        <p:txBody>
          <a:bodyPr/>
          <a:lstStyle/>
          <a:p>
            <a:pPr>
              <a:defRPr/>
            </a:pPr>
            <a:r>
              <a:rPr lang="en-US" altLang="zh-CN" sz="2800" b="1" dirty="0" smtClean="0"/>
              <a:t>Q &amp; A</a:t>
            </a:r>
            <a:endParaRPr lang="zh-CN" altLang="en-US" sz="2800" b="1" dirty="0" smtClean="0"/>
          </a:p>
        </p:txBody>
      </p:sp>
      <p:sp>
        <p:nvSpPr>
          <p:cNvPr id="4" name="灯片编号占位符 3"/>
          <p:cNvSpPr>
            <a:spLocks noGrp="1"/>
          </p:cNvSpPr>
          <p:nvPr>
            <p:ph type="sldNum" sz="quarter" idx="12"/>
          </p:nvPr>
        </p:nvSpPr>
        <p:spPr/>
        <p:txBody>
          <a:bodyPr/>
          <a:lstStyle/>
          <a:p>
            <a:fld id="{0484A4AA-26EC-4440-BEFE-3138EE7B1813}" type="slidenum">
              <a:rPr lang="zh-CN" altLang="en-US" smtClean="0"/>
              <a:pPr/>
              <a:t>33</a:t>
            </a:fld>
            <a:endParaRPr lang="zh-CN" altLang="en-US"/>
          </a:p>
        </p:txBody>
      </p:sp>
    </p:spTree>
    <p:extLst>
      <p:ext uri="{BB962C8B-B14F-4D97-AF65-F5344CB8AC3E}">
        <p14:creationId xmlns:p14="http://schemas.microsoft.com/office/powerpoint/2010/main" val="30483834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p:cNvSpPr txBox="1">
            <a:spLocks noChangeArrowheads="1"/>
          </p:cNvSpPr>
          <p:nvPr/>
        </p:nvSpPr>
        <p:spPr bwMode="auto">
          <a:xfrm>
            <a:off x="1000100" y="2643182"/>
            <a:ext cx="7358114" cy="769441"/>
          </a:xfrm>
          <a:prstGeom prst="rect">
            <a:avLst/>
          </a:prstGeom>
          <a:noFill/>
          <a:ln w="9525">
            <a:noFill/>
            <a:miter lim="800000"/>
            <a:headEnd/>
            <a:tailEnd/>
          </a:ln>
          <a:effectLst/>
        </p:spPr>
        <p:txBody>
          <a:bodyPr wrap="square">
            <a:spAutoFit/>
          </a:bodyPr>
          <a:lstStyle/>
          <a:p>
            <a:r>
              <a:rPr lang="en-US" altLang="zh-CN" sz="4400" b="1" dirty="0" smtClean="0"/>
              <a:t>THANKE YOU FOR ATTENTION!</a:t>
            </a:r>
            <a:endParaRPr lang="zh-CN" altLang="en-US" sz="4400" b="1" dirty="0"/>
          </a:p>
        </p:txBody>
      </p:sp>
      <p:sp>
        <p:nvSpPr>
          <p:cNvPr id="6" name="灯片编号占位符 3"/>
          <p:cNvSpPr>
            <a:spLocks noGrp="1"/>
          </p:cNvSpPr>
          <p:nvPr>
            <p:ph type="sldNum" sz="quarter" idx="12"/>
          </p:nvPr>
        </p:nvSpPr>
        <p:spPr>
          <a:xfrm>
            <a:off x="6553200" y="6356350"/>
            <a:ext cx="2133600" cy="365125"/>
          </a:xfrm>
        </p:spPr>
        <p:txBody>
          <a:bodyPr/>
          <a:lstStyle/>
          <a:p>
            <a:fld id="{0484A4AA-26EC-4440-BEFE-3138EE7B1813}" type="slidenum">
              <a:rPr lang="zh-CN" altLang="en-US" smtClean="0"/>
              <a:pPr/>
              <a:t>34</a:t>
            </a:fld>
            <a:endParaRPr lang="zh-CN" altLang="en-US"/>
          </a:p>
        </p:txBody>
      </p:sp>
    </p:spTree>
    <p:extLst>
      <p:ext uri="{BB962C8B-B14F-4D97-AF65-F5344CB8AC3E}">
        <p14:creationId xmlns:p14="http://schemas.microsoft.com/office/powerpoint/2010/main" val="107654182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505</TotalTime>
  <Words>2855</Words>
  <Application>Microsoft Office PowerPoint</Application>
  <PresentationFormat>全屏显示(4:3)</PresentationFormat>
  <Paragraphs>338</Paragraphs>
  <Slides>34</Slides>
  <Notes>10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36" baseType="lpstr">
      <vt:lpstr>Office 主题</vt:lpstr>
      <vt:lpstr>图表</vt:lpstr>
      <vt:lpstr>Environmental Test</vt:lpstr>
      <vt:lpstr>Content</vt:lpstr>
      <vt:lpstr>Content</vt:lpstr>
      <vt:lpstr>PowerPoint 演示文稿</vt:lpstr>
      <vt:lpstr>PowerPoint 演示文稿</vt:lpstr>
      <vt:lpstr>PowerPoint 演示文稿</vt:lpstr>
      <vt:lpstr>PowerPoint 演示文稿</vt:lpstr>
      <vt:lpstr>Test purpose</vt:lpstr>
      <vt:lpstr>PowerPoint 演示文稿</vt:lpstr>
      <vt:lpstr>PowerPoint 演示文稿</vt:lpstr>
      <vt:lpstr>PowerPoint 演示文稿</vt:lpstr>
      <vt:lpstr>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Content</vt:lpstr>
      <vt:lpstr>Test matrix</vt:lpstr>
      <vt:lpstr>Test matrix</vt:lpstr>
      <vt:lpstr>Test matrix</vt:lpstr>
      <vt:lpstr>Test matrix</vt:lpstr>
      <vt:lpstr>Test level</vt:lpstr>
      <vt:lpstr>Test level</vt:lpstr>
      <vt:lpstr>Content</vt:lpstr>
      <vt:lpstr>PowerPoint 演示文稿</vt:lpstr>
      <vt:lpstr>PowerPoint 演示文稿</vt:lpstr>
      <vt:lpstr>PowerPoint 演示文稿</vt:lpstr>
      <vt:lpstr>PowerPoint 演示文稿</vt:lpstr>
      <vt:lpstr>Content</vt:lpstr>
      <vt:lpstr>Q &amp; A</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侯天宝</cp:lastModifiedBy>
  <cp:revision>56</cp:revision>
  <dcterms:created xsi:type="dcterms:W3CDTF">2013-04-18T01:59:38Z</dcterms:created>
  <dcterms:modified xsi:type="dcterms:W3CDTF">2019-02-27T03:26:55Z</dcterms:modified>
</cp:coreProperties>
</file>