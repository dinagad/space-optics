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1"/>
  </p:notesMasterIdLst>
  <p:handoutMasterIdLst>
    <p:handoutMasterId r:id="rId42"/>
  </p:handoutMasterIdLst>
  <p:sldIdLst>
    <p:sldId id="275" r:id="rId2"/>
    <p:sldId id="381" r:id="rId3"/>
    <p:sldId id="409" r:id="rId4"/>
    <p:sldId id="412" r:id="rId5"/>
    <p:sldId id="411" r:id="rId6"/>
    <p:sldId id="410" r:id="rId7"/>
    <p:sldId id="413" r:id="rId8"/>
    <p:sldId id="414" r:id="rId9"/>
    <p:sldId id="415" r:id="rId10"/>
    <p:sldId id="416" r:id="rId11"/>
    <p:sldId id="417" r:id="rId12"/>
    <p:sldId id="418" r:id="rId13"/>
    <p:sldId id="419" r:id="rId14"/>
    <p:sldId id="420" r:id="rId15"/>
    <p:sldId id="421" r:id="rId16"/>
    <p:sldId id="422" r:id="rId17"/>
    <p:sldId id="426" r:id="rId18"/>
    <p:sldId id="423" r:id="rId19"/>
    <p:sldId id="424" r:id="rId20"/>
    <p:sldId id="428" r:id="rId21"/>
    <p:sldId id="425" r:id="rId22"/>
    <p:sldId id="429" r:id="rId23"/>
    <p:sldId id="427" r:id="rId24"/>
    <p:sldId id="432" r:id="rId25"/>
    <p:sldId id="431" r:id="rId26"/>
    <p:sldId id="430" r:id="rId27"/>
    <p:sldId id="433" r:id="rId28"/>
    <p:sldId id="434" r:id="rId29"/>
    <p:sldId id="435" r:id="rId30"/>
    <p:sldId id="436" r:id="rId31"/>
    <p:sldId id="439" r:id="rId32"/>
    <p:sldId id="438" r:id="rId33"/>
    <p:sldId id="440" r:id="rId34"/>
    <p:sldId id="441" r:id="rId35"/>
    <p:sldId id="442" r:id="rId36"/>
    <p:sldId id="443" r:id="rId37"/>
    <p:sldId id="444" r:id="rId38"/>
    <p:sldId id="445" r:id="rId39"/>
    <p:sldId id="437" r:id="rId40"/>
  </p:sldIdLst>
  <p:sldSz cx="9144000" cy="6858000" type="screen4x3"/>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98E4EC8-262F-4493-A17B-40E3C335E374}">
          <p14:sldIdLst>
            <p14:sldId id="275"/>
            <p14:sldId id="381"/>
            <p14:sldId id="409"/>
            <p14:sldId id="412"/>
            <p14:sldId id="411"/>
            <p14:sldId id="410"/>
            <p14:sldId id="413"/>
            <p14:sldId id="414"/>
            <p14:sldId id="415"/>
            <p14:sldId id="416"/>
            <p14:sldId id="417"/>
            <p14:sldId id="418"/>
            <p14:sldId id="419"/>
            <p14:sldId id="420"/>
            <p14:sldId id="421"/>
            <p14:sldId id="422"/>
            <p14:sldId id="426"/>
            <p14:sldId id="423"/>
            <p14:sldId id="424"/>
            <p14:sldId id="428"/>
            <p14:sldId id="425"/>
            <p14:sldId id="429"/>
            <p14:sldId id="427"/>
            <p14:sldId id="432"/>
            <p14:sldId id="431"/>
            <p14:sldId id="430"/>
            <p14:sldId id="433"/>
            <p14:sldId id="434"/>
            <p14:sldId id="435"/>
            <p14:sldId id="436"/>
            <p14:sldId id="439"/>
            <p14:sldId id="438"/>
            <p14:sldId id="440"/>
            <p14:sldId id="441"/>
            <p14:sldId id="442"/>
            <p14:sldId id="443"/>
            <p14:sldId id="444"/>
            <p14:sldId id="445"/>
            <p14:sldId id="43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83F1"/>
    <a:srgbClr val="0099FF"/>
    <a:srgbClr val="1656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615" autoAdjust="0"/>
  </p:normalViewPr>
  <p:slideViewPr>
    <p:cSldViewPr>
      <p:cViewPr>
        <p:scale>
          <a:sx n="100" d="100"/>
          <a:sy n="100" d="100"/>
        </p:scale>
        <p:origin x="-1308" y="-150"/>
      </p:cViewPr>
      <p:guideLst>
        <p:guide orient="horz" pos="2160"/>
        <p:guide pos="2880"/>
      </p:guideLst>
    </p:cSldViewPr>
  </p:slideViewPr>
  <p:notesTextViewPr>
    <p:cViewPr>
      <p:scale>
        <a:sx n="100" d="100"/>
        <a:sy n="100" d="100"/>
      </p:scale>
      <p:origin x="0" y="0"/>
    </p:cViewPr>
  </p:notesTextViewPr>
  <p:notesViewPr>
    <p:cSldViewPr>
      <p:cViewPr varScale="1">
        <p:scale>
          <a:sx n="99" d="100"/>
          <a:sy n="99" d="100"/>
        </p:scale>
        <p:origin x="-3624" y="-108"/>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8A22DA29-CCC5-4846-9B28-545A914610E2}" type="datetimeFigureOut">
              <a:rPr lang="zh-CN" altLang="en-US" smtClean="0"/>
              <a:pPr/>
              <a:t>2019-2-22</a:t>
            </a:fld>
            <a:endParaRPr lang="zh-CN" altLang="en-US"/>
          </a:p>
        </p:txBody>
      </p:sp>
      <p:sp>
        <p:nvSpPr>
          <p:cNvPr id="4" name="页脚占位符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AA860109-53DF-457F-AED6-1BA9F3CD28FC}" type="slidenum">
              <a:rPr lang="zh-CN" altLang="en-US" smtClean="0"/>
              <a:pPr/>
              <a:t>‹#›</a:t>
            </a:fld>
            <a:endParaRPr lang="zh-CN" altLang="en-US"/>
          </a:p>
        </p:txBody>
      </p:sp>
    </p:spTree>
    <p:extLst>
      <p:ext uri="{BB962C8B-B14F-4D97-AF65-F5344CB8AC3E}">
        <p14:creationId xmlns:p14="http://schemas.microsoft.com/office/powerpoint/2010/main" val="304158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DED8E1AA-0947-4ECF-BF79-B825971169E5}" type="datetimeFigureOut">
              <a:rPr lang="zh-CN" altLang="en-US" smtClean="0"/>
              <a:pPr/>
              <a:t>2019-2-22</a:t>
            </a:fld>
            <a:endParaRPr lang="zh-CN" altLang="en-US"/>
          </a:p>
        </p:txBody>
      </p:sp>
      <p:sp>
        <p:nvSpPr>
          <p:cNvPr id="4" name="幻灯片图像占位符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zh-CN" altLang="en-US"/>
          </a:p>
        </p:txBody>
      </p:sp>
      <p:sp>
        <p:nvSpPr>
          <p:cNvPr id="5" name="备注占位符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val="21246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sp>
        <p:nvSpPr>
          <p:cNvPr id="3" name="副标题 2"/>
          <p:cNvSpPr>
            <a:spLocks noGrp="1"/>
          </p:cNvSpPr>
          <p:nvPr>
            <p:ph type="subTitle" idx="1" hasCustomPrompt="1"/>
          </p:nvPr>
        </p:nvSpPr>
        <p:spPr>
          <a:xfrm>
            <a:off x="2195736" y="5085184"/>
            <a:ext cx="4914912" cy="685808"/>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2409248"/>
            <a:ext cx="7586658" cy="1082660"/>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11267" name="Picture 3"/>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backgroundRemoval t="3196" b="99696" l="321" r="100000">
                        <a14:foregroundMark x1="7066" y1="8828" x2="16809" y2="9132"/>
                        <a14:foregroundMark x1="8565" y1="10046" x2="11242" y2="8828"/>
                        <a14:foregroundMark x1="12527" y1="7915" x2="12527" y2="7915"/>
                      </a14:backgroundRemoval>
                    </a14:imgEffect>
                  </a14:imgLayer>
                </a14:imgProps>
              </a:ext>
              <a:ext uri="{28A0092B-C50C-407E-A947-70E740481C1C}">
                <a14:useLocalDpi xmlns:a14="http://schemas.microsoft.com/office/drawing/2010/main" val="0"/>
              </a:ext>
            </a:extLst>
          </a:blip>
          <a:srcRect/>
          <a:stretch>
            <a:fillRect/>
          </a:stretch>
        </p:blipFill>
        <p:spPr bwMode="auto">
          <a:xfrm>
            <a:off x="7092280" y="188640"/>
            <a:ext cx="1843743" cy="129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pic>
        <p:nvPicPr>
          <p:cNvPr id="13314"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422410" y="0"/>
            <a:ext cx="2754307"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7"/>
          <a:srcRect t="10773" b="69020"/>
          <a:stretch>
            <a:fillRect/>
          </a:stretch>
        </p:blipFill>
        <p:spPr>
          <a:xfrm>
            <a:off x="0" y="0"/>
            <a:ext cx="9144000" cy="1214422"/>
          </a:xfrm>
          <a:prstGeom prst="rect">
            <a:avLst/>
          </a:prstGeom>
        </p:spPr>
      </p:pic>
      <p:sp>
        <p:nvSpPr>
          <p:cNvPr id="2" name="标题占位符 1"/>
          <p:cNvSpPr>
            <a:spLocks noGrp="1"/>
          </p:cNvSpPr>
          <p:nvPr>
            <p:ph type="title"/>
          </p:nvPr>
        </p:nvSpPr>
        <p:spPr>
          <a:xfrm>
            <a:off x="457200" y="274638"/>
            <a:ext cx="8229600" cy="108266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357298"/>
            <a:ext cx="8229600" cy="4768865"/>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6359525"/>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4"/>
          </p:nvPr>
        </p:nvSpPr>
        <p:spPr>
          <a:xfrm>
            <a:off x="7884368" y="6356350"/>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7"/>
          <a:srcRect t="52304" b="41753"/>
          <a:stretch>
            <a:fillRect/>
          </a:stretch>
        </p:blipFill>
        <p:spPr>
          <a:xfrm>
            <a:off x="0" y="6715149"/>
            <a:ext cx="9144000" cy="321458"/>
          </a:xfrm>
          <a:prstGeom prst="rect">
            <a:avLst/>
          </a:prstGeom>
        </p:spPr>
      </p:pic>
      <p:pic>
        <p:nvPicPr>
          <p:cNvPr id="16" name="图片 15"/>
          <p:cNvPicPr>
            <a:picLocks noChangeAspect="1"/>
          </p:cNvPicPr>
          <p:nvPr userDrawn="1"/>
        </p:nvPicPr>
        <p:blipFill rotWithShape="1">
          <a:blip r:embed="rId8" cstate="print">
            <a:extLst>
              <a:ext uri="{28A0092B-C50C-407E-A947-70E740481C1C}">
                <a14:useLocalDpi xmlns:a14="http://schemas.microsoft.com/office/drawing/2010/main" val="0"/>
              </a:ext>
            </a:extLst>
          </a:blip>
          <a:srcRect b="34726"/>
          <a:stretch/>
        </p:blipFill>
        <p:spPr>
          <a:xfrm>
            <a:off x="171892" y="6339800"/>
            <a:ext cx="432048" cy="345317"/>
          </a:xfrm>
          <a:prstGeom prst="rect">
            <a:avLst/>
          </a:prstGeom>
        </p:spPr>
      </p:pic>
      <p:pic>
        <p:nvPicPr>
          <p:cNvPr id="12290" name="Picture 2"/>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7884368" y="213488"/>
            <a:ext cx="1115549" cy="787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7" r:id="rId4"/>
    <p:sldLayoutId id="2147483654" r:id="rId5"/>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7.emf"/></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8.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0.wmf"/><Relationship Id="rId5" Type="http://schemas.openxmlformats.org/officeDocument/2006/relationships/oleObject" Target="../embeddings/oleObject4.bin"/><Relationship Id="rId4" Type="http://schemas.openxmlformats.org/officeDocument/2006/relationships/image" Target="../media/image19.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1.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214546" y="5143512"/>
            <a:ext cx="4914912" cy="1512168"/>
          </a:xfrm>
        </p:spPr>
        <p:txBody>
          <a:bodyPr/>
          <a:lstStyle/>
          <a:p>
            <a:r>
              <a:rPr lang="en-US" altLang="zh-CN" sz="2800" dirty="0">
                <a:solidFill>
                  <a:schemeClr val="bg1"/>
                </a:solidFill>
                <a:effectLst>
                  <a:outerShdw blurRad="38100" dist="38100" dir="2700000" algn="tl">
                    <a:srgbClr val="000000">
                      <a:alpha val="43137"/>
                    </a:srgbClr>
                  </a:outerShdw>
                </a:effectLst>
              </a:rPr>
              <a:t>DFH SATELLITE </a:t>
            </a:r>
            <a:r>
              <a:rPr lang="en-US" altLang="zh-CN" sz="2800" dirty="0" smtClean="0">
                <a:solidFill>
                  <a:schemeClr val="bg1"/>
                </a:solidFill>
                <a:effectLst>
                  <a:outerShdw blurRad="38100" dist="38100" dir="2700000" algn="tl">
                    <a:srgbClr val="000000">
                      <a:alpha val="43137"/>
                    </a:srgbClr>
                  </a:outerShdw>
                </a:effectLst>
              </a:rPr>
              <a:t>CO.,LTD</a:t>
            </a:r>
          </a:p>
          <a:p>
            <a:r>
              <a:rPr lang="en-US" altLang="zh-CN" sz="2800" dirty="0" smtClean="0"/>
              <a:t>February, </a:t>
            </a:r>
            <a:r>
              <a:rPr lang="en-US" altLang="zh-CN" sz="2800" dirty="0" smtClean="0">
                <a:solidFill>
                  <a:schemeClr val="bg1"/>
                </a:solidFill>
                <a:effectLst>
                  <a:outerShdw blurRad="38100" dist="38100" dir="2700000" algn="tl">
                    <a:srgbClr val="000000">
                      <a:alpha val="43137"/>
                    </a:srgbClr>
                  </a:outerShdw>
                </a:effectLst>
              </a:rPr>
              <a:t>2019</a:t>
            </a:r>
            <a:endParaRPr lang="en-US" altLang="zh-CN" sz="2800" dirty="0" smtClean="0">
              <a:solidFill>
                <a:schemeClr val="bg1"/>
              </a:solidFill>
              <a:effectLst>
                <a:outerShdw blurRad="38100" dist="38100" dir="2700000" algn="tl">
                  <a:srgbClr val="000000">
                    <a:alpha val="43137"/>
                  </a:srgbClr>
                </a:outerShdw>
              </a:effectLst>
            </a:endParaRPr>
          </a:p>
          <a:p>
            <a:endParaRPr lang="zh-CN" altLang="en-US" dirty="0"/>
          </a:p>
          <a:p>
            <a:endParaRPr lang="zh-CN" altLang="en-US" dirty="0"/>
          </a:p>
        </p:txBody>
      </p:sp>
      <p:sp>
        <p:nvSpPr>
          <p:cNvPr id="3" name="标题 2"/>
          <p:cNvSpPr>
            <a:spLocks noGrp="1"/>
          </p:cNvSpPr>
          <p:nvPr>
            <p:ph type="title"/>
          </p:nvPr>
        </p:nvSpPr>
        <p:spPr>
          <a:xfrm>
            <a:off x="714348" y="1285860"/>
            <a:ext cx="7786742" cy="2088232"/>
          </a:xfrm>
        </p:spPr>
        <p:txBody>
          <a:bodyPr>
            <a:normAutofit fontScale="90000"/>
          </a:bodyPr>
          <a:lstStyle/>
          <a:p>
            <a:pPr>
              <a:lnSpc>
                <a:spcPct val="150000"/>
              </a:lnSpc>
            </a:pPr>
            <a:r>
              <a:rPr lang="en-US" altLang="zh-CN" dirty="0" smtClean="0"/>
              <a:t>ETRSS-1 </a:t>
            </a:r>
            <a:br>
              <a:rPr lang="en-US" altLang="zh-CN" dirty="0" smtClean="0"/>
            </a:br>
            <a:r>
              <a:rPr lang="en-US" altLang="zh-CN" sz="4900" b="0" dirty="0" smtClean="0">
                <a:effectLst/>
                <a:latin typeface="Impact" pitchFamily="34" charset="0"/>
              </a:rPr>
              <a:t>Power  Supply Subsystem Design</a:t>
            </a:r>
            <a:endParaRPr lang="zh-CN" altLang="en-US" sz="4900" b="0" dirty="0">
              <a:solidFill>
                <a:srgbClr val="002060"/>
              </a:solidFill>
              <a:effectLst/>
            </a:endParaRPr>
          </a:p>
        </p:txBody>
      </p:sp>
    </p:spTree>
    <p:extLst>
      <p:ext uri="{BB962C8B-B14F-4D97-AF65-F5344CB8AC3E}">
        <p14:creationId xmlns:p14="http://schemas.microsoft.com/office/powerpoint/2010/main" val="34529731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a:t>
            </a:fld>
            <a:r>
              <a:rPr lang="zh-CN" altLang="en-US" smtClean="0"/>
              <a:t> </a:t>
            </a:r>
            <a:endParaRPr lang="zh-CN" altLang="en-US" dirty="0">
              <a:latin typeface="微软雅黑" pitchFamily="34" charset="-122"/>
              <a:ea typeface="微软雅黑" pitchFamily="34" charset="-122"/>
            </a:endParaRPr>
          </a:p>
        </p:txBody>
      </p:sp>
      <p:sp>
        <p:nvSpPr>
          <p:cNvPr id="6" name="Text Box 22"/>
          <p:cNvSpPr txBox="1">
            <a:spLocks noChangeArrowheads="1"/>
          </p:cNvSpPr>
          <p:nvPr/>
        </p:nvSpPr>
        <p:spPr bwMode="auto">
          <a:xfrm>
            <a:off x="1142976" y="1500174"/>
            <a:ext cx="7643866" cy="4917631"/>
          </a:xfrm>
          <a:prstGeom prst="rect">
            <a:avLst/>
          </a:prstGeom>
          <a:noFill/>
          <a:ln w="9525" algn="ctr">
            <a:noFill/>
            <a:miter lim="800000"/>
            <a:headEnd/>
            <a:tailEnd/>
          </a:ln>
        </p:spPr>
        <p:txBody>
          <a:bodyPr wrap="square" lIns="115192" tIns="57596" rIns="115192" bIns="57596">
            <a:spAutoFit/>
          </a:bodyPr>
          <a:lstStyle/>
          <a:p>
            <a:pPr algn="l"/>
            <a:r>
              <a:rPr lang="en-US" altLang="zh-CN" sz="3200" b="1" dirty="0" smtClean="0">
                <a:solidFill>
                  <a:srgbClr val="00B050"/>
                </a:solidFill>
              </a:rPr>
              <a:t>PSS</a:t>
            </a:r>
            <a:r>
              <a:rPr lang="en-US" altLang="zh-CN" sz="3200" b="0" dirty="0" smtClean="0">
                <a:solidFill>
                  <a:schemeClr val="tx1"/>
                </a:solidFill>
              </a:rPr>
              <a:t>    </a:t>
            </a:r>
            <a:r>
              <a:rPr lang="en-US" altLang="zh-CN" sz="3200" dirty="0" smtClean="0"/>
              <a:t>   </a:t>
            </a:r>
            <a:r>
              <a:rPr lang="en-US" altLang="zh-CN" sz="3200" b="0" dirty="0" smtClean="0">
                <a:solidFill>
                  <a:schemeClr val="tx1"/>
                </a:solidFill>
              </a:rPr>
              <a:t> Power Supply System</a:t>
            </a:r>
          </a:p>
          <a:p>
            <a:pPr algn="l"/>
            <a:r>
              <a:rPr lang="en-US" altLang="zh-CN" sz="3200" b="1" dirty="0" smtClean="0">
                <a:solidFill>
                  <a:srgbClr val="00B050"/>
                </a:solidFill>
              </a:rPr>
              <a:t>SA</a:t>
            </a:r>
            <a:r>
              <a:rPr lang="en-US" altLang="zh-CN" sz="3200" dirty="0" smtClean="0"/>
              <a:t>          Solar Array</a:t>
            </a:r>
          </a:p>
          <a:p>
            <a:pPr algn="l"/>
            <a:r>
              <a:rPr lang="en-US" altLang="zh-CN" sz="3200" b="1" dirty="0" smtClean="0">
                <a:solidFill>
                  <a:srgbClr val="00B050"/>
                </a:solidFill>
              </a:rPr>
              <a:t>PCDU</a:t>
            </a:r>
            <a:r>
              <a:rPr lang="en-US" altLang="zh-CN" sz="3200" dirty="0" smtClean="0"/>
              <a:t> </a:t>
            </a:r>
            <a:r>
              <a:rPr lang="en-US" altLang="zh-CN" sz="3200" b="0" dirty="0" smtClean="0">
                <a:solidFill>
                  <a:schemeClr val="tx1"/>
                </a:solidFill>
              </a:rPr>
              <a:t>   Power Control/Distribution Unit</a:t>
            </a:r>
          </a:p>
          <a:p>
            <a:pPr algn="l"/>
            <a:r>
              <a:rPr lang="en-US" altLang="zh-CN" sz="3200" b="1" dirty="0" smtClean="0">
                <a:solidFill>
                  <a:srgbClr val="00B050"/>
                </a:solidFill>
              </a:rPr>
              <a:t>BOL       </a:t>
            </a:r>
            <a:r>
              <a:rPr lang="en-US" altLang="zh-CN" sz="3200" b="0" dirty="0" smtClean="0">
                <a:solidFill>
                  <a:schemeClr val="tx1"/>
                </a:solidFill>
              </a:rPr>
              <a:t>Beginning of Life</a:t>
            </a:r>
          </a:p>
          <a:p>
            <a:pPr algn="l">
              <a:tabLst>
                <a:tab pos="1257300" algn="l"/>
              </a:tabLst>
            </a:pPr>
            <a:r>
              <a:rPr lang="en-US" altLang="zh-CN" sz="3200" b="1" dirty="0" smtClean="0">
                <a:solidFill>
                  <a:srgbClr val="00B050"/>
                </a:solidFill>
              </a:rPr>
              <a:t>EOL       </a:t>
            </a:r>
            <a:r>
              <a:rPr lang="en-US" altLang="zh-CN" sz="3200" dirty="0" smtClean="0"/>
              <a:t>End of Life</a:t>
            </a:r>
          </a:p>
          <a:p>
            <a:pPr algn="l"/>
            <a:r>
              <a:rPr lang="en-US" altLang="zh-CN" sz="3200" b="1" dirty="0" smtClean="0">
                <a:solidFill>
                  <a:srgbClr val="00B050"/>
                </a:solidFill>
              </a:rPr>
              <a:t>DTS       </a:t>
            </a:r>
            <a:r>
              <a:rPr lang="en-US" altLang="zh-CN" sz="3200" dirty="0" smtClean="0"/>
              <a:t>Data Transmission system    </a:t>
            </a:r>
          </a:p>
          <a:p>
            <a:pPr algn="l"/>
            <a:r>
              <a:rPr lang="en-US" altLang="zh-CN" sz="3200" b="1" dirty="0" smtClean="0">
                <a:solidFill>
                  <a:srgbClr val="00B050"/>
                </a:solidFill>
              </a:rPr>
              <a:t>GS </a:t>
            </a:r>
            <a:r>
              <a:rPr lang="en-US" altLang="zh-CN" sz="3200" dirty="0" smtClean="0"/>
              <a:t>        Ground station</a:t>
            </a:r>
          </a:p>
          <a:p>
            <a:r>
              <a:rPr lang="en-US" altLang="zh-CN" sz="3200" b="1" dirty="0" smtClean="0">
                <a:solidFill>
                  <a:srgbClr val="00B050"/>
                </a:solidFill>
              </a:rPr>
              <a:t>DOD     </a:t>
            </a:r>
            <a:r>
              <a:rPr lang="en-US" altLang="zh-CN" sz="3200" dirty="0" smtClean="0"/>
              <a:t>Depth of Discharging</a:t>
            </a:r>
          </a:p>
          <a:p>
            <a:r>
              <a:rPr lang="en-US" altLang="zh-CN" sz="3200" b="1" dirty="0" smtClean="0">
                <a:solidFill>
                  <a:srgbClr val="00B050"/>
                </a:solidFill>
              </a:rPr>
              <a:t>BMU</a:t>
            </a:r>
            <a:r>
              <a:rPr lang="en-US" altLang="zh-CN" sz="3200" b="0" dirty="0" smtClean="0">
                <a:solidFill>
                  <a:schemeClr val="tx1"/>
                </a:solidFill>
              </a:rPr>
              <a:t>     Battery Management Unit   </a:t>
            </a:r>
          </a:p>
          <a:p>
            <a:pPr algn="l"/>
            <a:endParaRPr lang="en-US" altLang="zh-CN" sz="2400" b="0" dirty="0">
              <a:solidFill>
                <a:schemeClr val="tx1"/>
              </a:solidFill>
            </a:endParaRPr>
          </a:p>
        </p:txBody>
      </p:sp>
      <p:sp>
        <p:nvSpPr>
          <p:cNvPr id="7" name="矩形 6"/>
          <p:cNvSpPr/>
          <p:nvPr/>
        </p:nvSpPr>
        <p:spPr>
          <a:xfrm>
            <a:off x="3000364" y="500042"/>
            <a:ext cx="3119765" cy="707886"/>
          </a:xfrm>
          <a:prstGeom prst="rect">
            <a:avLst/>
          </a:prstGeom>
        </p:spPr>
        <p:txBody>
          <a:bodyPr wrap="none">
            <a:spAutoFit/>
          </a:bodyPr>
          <a:lstStyle/>
          <a:p>
            <a:pPr algn="ctr"/>
            <a:r>
              <a:rPr lang="en-US" altLang="zh-CN" sz="4000" dirty="0" smtClean="0">
                <a:solidFill>
                  <a:srgbClr val="FFFFCC"/>
                </a:solidFill>
                <a:latin typeface="Impact" pitchFamily="34" charset="0"/>
                <a:ea typeface="方正大黑简体" pitchFamily="2" charset="-122"/>
              </a:rPr>
              <a:t>Abbreviations</a:t>
            </a:r>
            <a:endParaRPr lang="en-US" altLang="zh-CN" sz="4000" dirty="0">
              <a:solidFill>
                <a:srgbClr val="FFFFCC"/>
              </a:solidFill>
              <a:latin typeface="Impact" pitchFamily="34" charset="0"/>
              <a:ea typeface="方正大黑简体" pitchFamily="2" charset="-122"/>
            </a:endParaRPr>
          </a:p>
        </p:txBody>
      </p:sp>
    </p:spTree>
    <p:extLst>
      <p:ext uri="{BB962C8B-B14F-4D97-AF65-F5344CB8AC3E}">
        <p14:creationId xmlns:p14="http://schemas.microsoft.com/office/powerpoint/2010/main" val="18311940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a:t>
            </a:fld>
            <a:r>
              <a:rPr lang="zh-CN" altLang="en-US" smtClean="0"/>
              <a:t> </a:t>
            </a:r>
            <a:endParaRPr lang="zh-CN" altLang="en-US" dirty="0">
              <a:latin typeface="微软雅黑" pitchFamily="34" charset="-122"/>
              <a:ea typeface="微软雅黑" pitchFamily="34" charset="-122"/>
            </a:endParaRPr>
          </a:p>
        </p:txBody>
      </p:sp>
      <p:pic>
        <p:nvPicPr>
          <p:cNvPr id="6" name="Picture 1" descr="D:\resources for ppt\sat5.jpg"/>
          <p:cNvPicPr>
            <a:picLocks noChangeAspect="1" noChangeArrowheads="1"/>
          </p:cNvPicPr>
          <p:nvPr/>
        </p:nvPicPr>
        <p:blipFill>
          <a:blip r:embed="rId2" cstate="email"/>
          <a:stretch>
            <a:fillRect/>
          </a:stretch>
        </p:blipFill>
        <p:spPr bwMode="auto">
          <a:xfrm>
            <a:off x="1496857" y="3601744"/>
            <a:ext cx="381198"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pic>
        <p:nvPicPr>
          <p:cNvPr id="7" name="Picture 2" descr="D:\resources for ppt\sino6_W020100905714056942648.jpg"/>
          <p:cNvPicPr>
            <a:picLocks noChangeAspect="1" noChangeArrowheads="1"/>
          </p:cNvPicPr>
          <p:nvPr/>
        </p:nvPicPr>
        <p:blipFill>
          <a:blip r:embed="rId3" cstate="email"/>
          <a:stretch>
            <a:fillRect/>
          </a:stretch>
        </p:blipFill>
        <p:spPr bwMode="auto">
          <a:xfrm>
            <a:off x="1489981" y="1889993"/>
            <a:ext cx="426409" cy="401942"/>
          </a:xfrm>
          <a:prstGeom prst="ellipse">
            <a:avLst/>
          </a:prstGeom>
          <a:ln w="136525" cap="rnd">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8" name="单圆角矩形 7"/>
          <p:cNvSpPr/>
          <p:nvPr/>
        </p:nvSpPr>
        <p:spPr>
          <a:xfrm>
            <a:off x="2133682" y="1857364"/>
            <a:ext cx="5706406" cy="486054"/>
          </a:xfrm>
          <a:prstGeom prst="round1Rect">
            <a:avLst/>
          </a:prstGeom>
          <a:solidFill>
            <a:srgbClr val="F79600"/>
          </a:solidFill>
          <a:ln>
            <a:solidFill>
              <a:srgbClr val="FFC064"/>
            </a:solidFill>
          </a:ln>
          <a:effectLst>
            <a:glow rad="139700">
              <a:srgbClr val="FF9600">
                <a:alpha val="40000"/>
              </a:srgbClr>
            </a:glo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spcBef>
                <a:spcPct val="50000"/>
              </a:spcBef>
              <a:buClr>
                <a:srgbClr val="FF0000"/>
              </a:buClr>
              <a:defRPr/>
            </a:pPr>
            <a:r>
              <a:rPr lang="en-US" altLang="zh-CN" sz="3200" b="1" i="1" dirty="0" smtClean="0"/>
              <a:t>Concept and Function</a:t>
            </a:r>
            <a:endParaRPr lang="en-US" altLang="zh-CN" sz="3200" b="1" dirty="0">
              <a:ln w="18415" cmpd="sng">
                <a:solidFill>
                  <a:srgbClr val="FFFFFF"/>
                </a:solidFill>
                <a:prstDash val="solid"/>
              </a:ln>
              <a:solidFill>
                <a:srgbClr val="FFFFFF"/>
              </a:solidFill>
              <a:effectLst>
                <a:outerShdw blurRad="50800" dist="38100" dir="5400000" algn="t" rotWithShape="0">
                  <a:prstClr val="black">
                    <a:alpha val="40000"/>
                  </a:prstClr>
                </a:outerShdw>
              </a:effectLst>
              <a:latin typeface="Arial" pitchFamily="34" charset="0"/>
              <a:ea typeface="Arial Unicode MS" pitchFamily="34" charset="-122"/>
              <a:cs typeface="Arial" pitchFamily="34" charset="0"/>
            </a:endParaRPr>
          </a:p>
        </p:txBody>
      </p:sp>
      <p:sp>
        <p:nvSpPr>
          <p:cNvPr id="9" name="单圆角矩形 8"/>
          <p:cNvSpPr/>
          <p:nvPr/>
        </p:nvSpPr>
        <p:spPr>
          <a:xfrm>
            <a:off x="2143108" y="3535094"/>
            <a:ext cx="5678905" cy="48696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2800" i="1" dirty="0" smtClean="0">
                <a:solidFill>
                  <a:schemeClr val="bg1"/>
                </a:solidFill>
                <a:latin typeface="Arial" pitchFamily="34" charset="0"/>
                <a:cs typeface="Arial" pitchFamily="34" charset="0"/>
              </a:rPr>
              <a:t>Work principles of PSS</a:t>
            </a:r>
          </a:p>
        </p:txBody>
      </p:sp>
      <p:pic>
        <p:nvPicPr>
          <p:cNvPr id="10" name="Picture 1" descr="D:\resources for ppt\sat5.jpg"/>
          <p:cNvPicPr>
            <a:picLocks noChangeAspect="1" noChangeArrowheads="1"/>
          </p:cNvPicPr>
          <p:nvPr/>
        </p:nvPicPr>
        <p:blipFill>
          <a:blip r:embed="rId2" cstate="email"/>
          <a:stretch>
            <a:fillRect/>
          </a:stretch>
        </p:blipFill>
        <p:spPr bwMode="auto">
          <a:xfrm>
            <a:off x="1498002" y="4439332"/>
            <a:ext cx="389913"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1" name="单圆角矩形 10"/>
          <p:cNvSpPr/>
          <p:nvPr/>
        </p:nvSpPr>
        <p:spPr>
          <a:xfrm>
            <a:off x="2134831" y="4397982"/>
            <a:ext cx="5685781" cy="48577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2800" i="1" dirty="0" smtClean="0">
                <a:solidFill>
                  <a:schemeClr val="bg1"/>
                </a:solidFill>
                <a:latin typeface="Arial" pitchFamily="34" charset="0"/>
                <a:cs typeface="Arial" pitchFamily="34" charset="0"/>
              </a:rPr>
              <a:t>Power balance analysis</a:t>
            </a:r>
            <a:endParaRPr lang="en-US" altLang="zh-CN" sz="2800" i="1" dirty="0">
              <a:solidFill>
                <a:schemeClr val="bg1"/>
              </a:solidFill>
              <a:latin typeface="Arial" pitchFamily="34" charset="0"/>
              <a:cs typeface="Arial" pitchFamily="34" charset="0"/>
            </a:endParaRPr>
          </a:p>
        </p:txBody>
      </p:sp>
      <p:sp>
        <p:nvSpPr>
          <p:cNvPr id="12" name="矩形 11"/>
          <p:cNvSpPr/>
          <p:nvPr/>
        </p:nvSpPr>
        <p:spPr>
          <a:xfrm>
            <a:off x="3357554" y="500042"/>
            <a:ext cx="2081019" cy="707886"/>
          </a:xfrm>
          <a:prstGeom prst="rect">
            <a:avLst/>
          </a:prstGeom>
        </p:spPr>
        <p:txBody>
          <a:bodyPr wrap="none">
            <a:spAutoFit/>
          </a:bodyPr>
          <a:lstStyle/>
          <a:p>
            <a:pPr algn="ctr"/>
            <a:r>
              <a:rPr lang="en-US" altLang="zh-CN" sz="4000" dirty="0">
                <a:solidFill>
                  <a:srgbClr val="FFFFCC"/>
                </a:solidFill>
                <a:latin typeface="Impact" pitchFamily="34" charset="0"/>
                <a:ea typeface="方正大黑简体" pitchFamily="2" charset="-122"/>
              </a:rPr>
              <a:t>OUTLINES</a:t>
            </a:r>
          </a:p>
        </p:txBody>
      </p:sp>
      <p:pic>
        <p:nvPicPr>
          <p:cNvPr id="13" name="Picture 1" descr="D:\resources for ppt\sat5.jpg"/>
          <p:cNvPicPr>
            <a:picLocks noChangeAspect="1" noChangeArrowheads="1"/>
          </p:cNvPicPr>
          <p:nvPr/>
        </p:nvPicPr>
        <p:blipFill>
          <a:blip r:embed="rId2" cstate="email"/>
          <a:stretch>
            <a:fillRect/>
          </a:stretch>
        </p:blipFill>
        <p:spPr bwMode="auto">
          <a:xfrm>
            <a:off x="1509557" y="2764156"/>
            <a:ext cx="381198"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4" name="单圆角矩形 13"/>
          <p:cNvSpPr/>
          <p:nvPr/>
        </p:nvSpPr>
        <p:spPr>
          <a:xfrm>
            <a:off x="2155808" y="2691060"/>
            <a:ext cx="5678905" cy="48696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2800" i="1" dirty="0" smtClean="0">
                <a:solidFill>
                  <a:schemeClr val="bg1"/>
                </a:solidFill>
                <a:latin typeface="Arial" pitchFamily="34" charset="0"/>
                <a:cs typeface="Arial" pitchFamily="34" charset="0"/>
              </a:rPr>
              <a:t>Compositions of PSS </a:t>
            </a:r>
            <a:endParaRPr lang="en-US" altLang="zh-CN" sz="2800" i="1" dirty="0">
              <a:solidFill>
                <a:schemeClr val="bg1"/>
              </a:solidFill>
              <a:latin typeface="Arial" pitchFamily="34" charset="0"/>
              <a:cs typeface="Arial" pitchFamily="34" charset="0"/>
            </a:endParaRPr>
          </a:p>
        </p:txBody>
      </p:sp>
      <p:pic>
        <p:nvPicPr>
          <p:cNvPr id="16" name="Picture 1" descr="D:\resources for ppt\sat5.jpg"/>
          <p:cNvPicPr>
            <a:picLocks noChangeAspect="1" noChangeArrowheads="1"/>
          </p:cNvPicPr>
          <p:nvPr/>
        </p:nvPicPr>
        <p:blipFill>
          <a:blip r:embed="rId2" cstate="email"/>
          <a:stretch>
            <a:fillRect/>
          </a:stretch>
        </p:blipFill>
        <p:spPr bwMode="auto">
          <a:xfrm>
            <a:off x="1500166" y="5241429"/>
            <a:ext cx="389913"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7" name="单圆角矩形 16"/>
          <p:cNvSpPr/>
          <p:nvPr/>
        </p:nvSpPr>
        <p:spPr>
          <a:xfrm>
            <a:off x="2143108" y="5192459"/>
            <a:ext cx="5685781" cy="48577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2800" i="1" dirty="0" smtClean="0">
                <a:solidFill>
                  <a:schemeClr val="bg1"/>
                </a:solidFill>
                <a:latin typeface="Arial" pitchFamily="34" charset="0"/>
                <a:cs typeface="Arial" pitchFamily="34" charset="0"/>
              </a:rPr>
              <a:t>Telemetries and Tele-commands</a:t>
            </a:r>
            <a:endParaRPr lang="en-US" altLang="zh-CN" sz="2800" i="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0504727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a:t>
            </a:fld>
            <a:r>
              <a:rPr lang="zh-CN" altLang="en-US" smtClean="0"/>
              <a:t> </a:t>
            </a:r>
            <a:endParaRPr lang="zh-CN" altLang="en-US" dirty="0">
              <a:latin typeface="微软雅黑" pitchFamily="34" charset="-122"/>
              <a:ea typeface="微软雅黑" pitchFamily="34" charset="-122"/>
            </a:endParaRPr>
          </a:p>
        </p:txBody>
      </p:sp>
      <p:sp>
        <p:nvSpPr>
          <p:cNvPr id="10" name="标题 1"/>
          <p:cNvSpPr>
            <a:spLocks noGrp="1"/>
          </p:cNvSpPr>
          <p:nvPr>
            <p:ph type="title"/>
          </p:nvPr>
        </p:nvSpPr>
        <p:spPr>
          <a:xfrm>
            <a:off x="0" y="428604"/>
            <a:ext cx="9144000" cy="721895"/>
          </a:xfrm>
        </p:spPr>
        <p:txBody>
          <a:bodyPr>
            <a:normAutofit/>
          </a:bodyPr>
          <a:lstStyle/>
          <a:p>
            <a:pPr algn="ctr"/>
            <a:r>
              <a:rPr lang="en-US" altLang="zh-CN" b="0" dirty="0" smtClean="0">
                <a:solidFill>
                  <a:srgbClr val="FFFFCC"/>
                </a:solidFill>
                <a:latin typeface="Impact" pitchFamily="34" charset="0"/>
                <a:ea typeface="方正大黑简体" pitchFamily="2" charset="-122"/>
                <a:cs typeface="+mn-cs"/>
              </a:rPr>
              <a:t>Concept and Function</a:t>
            </a:r>
            <a:endParaRPr lang="en-US" altLang="zh-CN" b="0" dirty="0">
              <a:solidFill>
                <a:srgbClr val="FFFFCC"/>
              </a:solidFill>
              <a:latin typeface="Impact" pitchFamily="34" charset="0"/>
              <a:ea typeface="方正大黑简体" pitchFamily="2" charset="-122"/>
              <a:cs typeface="+mn-cs"/>
            </a:endParaRPr>
          </a:p>
        </p:txBody>
      </p:sp>
      <p:sp>
        <p:nvSpPr>
          <p:cNvPr id="11" name="内容占位符 1"/>
          <p:cNvSpPr>
            <a:spLocks noGrp="1"/>
          </p:cNvSpPr>
          <p:nvPr>
            <p:ph idx="1"/>
          </p:nvPr>
        </p:nvSpPr>
        <p:spPr>
          <a:xfrm>
            <a:off x="244034" y="1561130"/>
            <a:ext cx="8570026" cy="4525963"/>
          </a:xfrm>
        </p:spPr>
        <p:txBody>
          <a:bodyPr/>
          <a:lstStyle/>
          <a:p>
            <a:pPr algn="just">
              <a:lnSpc>
                <a:spcPct val="100000"/>
              </a:lnSpc>
              <a:spcAft>
                <a:spcPts val="1200"/>
              </a:spcAft>
              <a:buFont typeface="Wingdings" pitchFamily="2" charset="2"/>
              <a:buChar char="l"/>
              <a:defRPr/>
            </a:pPr>
            <a:r>
              <a:rPr lang="en-US" altLang="zh-CN" sz="2400" i="1" kern="1200" dirty="0" smtClean="0"/>
              <a:t> </a:t>
            </a:r>
            <a:r>
              <a:rPr lang="en-US" altLang="zh-CN" sz="2000" b="0" dirty="0" smtClean="0"/>
              <a:t>    </a:t>
            </a:r>
            <a:r>
              <a:rPr lang="en-US" altLang="zh-CN" sz="2400" b="0" dirty="0" smtClean="0"/>
              <a:t>Power Supply System,</a:t>
            </a:r>
            <a:r>
              <a:rPr lang="en-US" altLang="zh-CN" sz="2400" b="0" dirty="0" smtClean="0">
                <a:solidFill>
                  <a:srgbClr val="FF0000"/>
                </a:solidFill>
              </a:rPr>
              <a:t> </a:t>
            </a:r>
            <a:r>
              <a:rPr lang="en-US" altLang="zh-CN" sz="2400" i="1" dirty="0" smtClean="0">
                <a:solidFill>
                  <a:srgbClr val="B010A8"/>
                </a:solidFill>
              </a:rPr>
              <a:t>PSS</a:t>
            </a:r>
            <a:r>
              <a:rPr lang="en-US" altLang="zh-CN" sz="2400" b="0" dirty="0" smtClean="0">
                <a:solidFill>
                  <a:srgbClr val="FF0000"/>
                </a:solidFill>
              </a:rPr>
              <a:t> </a:t>
            </a:r>
            <a:r>
              <a:rPr lang="en-US" altLang="zh-CN" sz="2400" b="0" dirty="0" smtClean="0"/>
              <a:t>for short, could be directly equated with the heart of the satellite.</a:t>
            </a:r>
          </a:p>
          <a:p>
            <a:pPr algn="just">
              <a:lnSpc>
                <a:spcPct val="100000"/>
              </a:lnSpc>
              <a:spcAft>
                <a:spcPts val="600"/>
              </a:spcAft>
              <a:buNone/>
              <a:defRPr/>
            </a:pPr>
            <a:endParaRPr lang="en-US" altLang="zh-CN" sz="2400" b="0" dirty="0" smtClean="0"/>
          </a:p>
          <a:p>
            <a:pPr>
              <a:buFontTx/>
              <a:buNone/>
              <a:defRPr/>
            </a:pPr>
            <a:endParaRPr lang="zh-CN" altLang="en-US" dirty="0"/>
          </a:p>
        </p:txBody>
      </p:sp>
      <p:sp>
        <p:nvSpPr>
          <p:cNvPr id="12" name="AutoShape 4"/>
          <p:cNvSpPr>
            <a:spLocks noChangeArrowheads="1"/>
          </p:cNvSpPr>
          <p:nvPr/>
        </p:nvSpPr>
        <p:spPr bwMode="gray">
          <a:xfrm>
            <a:off x="571472" y="2928934"/>
            <a:ext cx="1659733" cy="2628904"/>
          </a:xfrm>
          <a:prstGeom prst="rightArrow">
            <a:avLst>
              <a:gd name="adj1" fmla="val 62787"/>
              <a:gd name="adj2" fmla="val 41259"/>
            </a:avLst>
          </a:prstGeom>
          <a:gradFill rotWithShape="1">
            <a:gsLst>
              <a:gs pos="0">
                <a:srgbClr val="00B050"/>
              </a:gs>
              <a:gs pos="100000">
                <a:schemeClr val="bg2">
                  <a:alpha val="50000"/>
                </a:schemeClr>
              </a:gs>
            </a:gsLst>
            <a:lin ang="0" scaled="1"/>
          </a:gradFill>
          <a:ln w="19050" cap="rnd" algn="ctr">
            <a:solidFill>
              <a:schemeClr val="bg2"/>
            </a:solidFill>
            <a:prstDash val="sysDot"/>
            <a:miter lim="800000"/>
            <a:headEnd/>
            <a:tailEnd/>
          </a:ln>
          <a:effectLst/>
        </p:spPr>
        <p:txBody>
          <a:bodyPr wrap="none" anchor="ctr"/>
          <a:lstStyle/>
          <a:p>
            <a:pPr>
              <a:defRPr/>
            </a:pPr>
            <a:r>
              <a:rPr lang="en-US" altLang="zh-CN" sz="3600" i="1" dirty="0">
                <a:solidFill>
                  <a:srgbClr val="FF0000"/>
                </a:solidFill>
                <a:ea typeface="华文细黑" pitchFamily="2" charset="-122"/>
              </a:rPr>
              <a:t> </a:t>
            </a:r>
          </a:p>
          <a:p>
            <a:pPr>
              <a:defRPr/>
            </a:pPr>
            <a:r>
              <a:rPr lang="en-US" altLang="zh-CN" sz="3600" i="1" dirty="0">
                <a:solidFill>
                  <a:srgbClr val="FF0000"/>
                </a:solidFill>
                <a:ea typeface="华文细黑" pitchFamily="2" charset="-122"/>
              </a:rPr>
              <a:t>  </a:t>
            </a:r>
            <a:r>
              <a:rPr lang="en-US" altLang="zh-CN" sz="3600" i="1" dirty="0" smtClean="0">
                <a:solidFill>
                  <a:srgbClr val="FF0000"/>
                </a:solidFill>
                <a:ea typeface="华文细黑" pitchFamily="2" charset="-122"/>
              </a:rPr>
              <a:t> </a:t>
            </a:r>
            <a:r>
              <a:rPr lang="en-US" altLang="zh-CN" sz="3600" i="1" dirty="0" smtClean="0">
                <a:solidFill>
                  <a:srgbClr val="B010A8"/>
                </a:solidFill>
                <a:ea typeface="华文细黑" pitchFamily="2" charset="-122"/>
              </a:rPr>
              <a:t>PSS</a:t>
            </a:r>
            <a:endParaRPr lang="en-US" altLang="zh-CN" sz="3600" i="1" dirty="0">
              <a:solidFill>
                <a:srgbClr val="B010A8"/>
              </a:solidFill>
              <a:ea typeface="华文细黑" pitchFamily="2" charset="-122"/>
            </a:endParaRPr>
          </a:p>
          <a:p>
            <a:pPr>
              <a:defRPr/>
            </a:pPr>
            <a:r>
              <a:rPr lang="en-US" altLang="zh-CN" sz="2400" b="0" i="1" dirty="0">
                <a:solidFill>
                  <a:schemeClr val="tx1"/>
                </a:solidFill>
                <a:ea typeface="华文细黑" pitchFamily="2" charset="-122"/>
              </a:rPr>
              <a:t>  </a:t>
            </a:r>
            <a:r>
              <a:rPr lang="en-US" altLang="zh-CN" sz="2400" b="0" i="1" dirty="0" smtClean="0">
                <a:solidFill>
                  <a:schemeClr val="tx1"/>
                </a:solidFill>
                <a:ea typeface="华文细黑" pitchFamily="2" charset="-122"/>
              </a:rPr>
              <a:t>Function</a:t>
            </a:r>
            <a:endParaRPr lang="en-US" altLang="zh-CN" sz="2400" b="0" i="1" dirty="0">
              <a:solidFill>
                <a:schemeClr val="tx1"/>
              </a:solidFill>
              <a:ea typeface="华文细黑" pitchFamily="2" charset="-122"/>
            </a:endParaRPr>
          </a:p>
          <a:p>
            <a:pPr>
              <a:defRPr/>
            </a:pPr>
            <a:r>
              <a:rPr lang="en-US" altLang="zh-CN" sz="2400" b="0" i="1" dirty="0" smtClean="0">
                <a:solidFill>
                  <a:schemeClr val="tx1"/>
                </a:solidFill>
                <a:ea typeface="华文细黑" pitchFamily="2" charset="-122"/>
              </a:rPr>
              <a:t> &amp;</a:t>
            </a:r>
            <a:r>
              <a:rPr lang="en-US" altLang="zh-CN" sz="2400" b="0" i="1" dirty="0">
                <a:solidFill>
                  <a:schemeClr val="tx1"/>
                </a:solidFill>
                <a:ea typeface="华文细黑" pitchFamily="2" charset="-122"/>
              </a:rPr>
              <a:t>Concept</a:t>
            </a:r>
            <a:endParaRPr lang="en-US" altLang="zh-CN" sz="2400" b="0" dirty="0">
              <a:solidFill>
                <a:schemeClr val="tx1"/>
              </a:solidFill>
              <a:ea typeface="华文细黑" pitchFamily="2" charset="-122"/>
            </a:endParaRPr>
          </a:p>
          <a:p>
            <a:pPr>
              <a:defRPr/>
            </a:pPr>
            <a:endParaRPr lang="en-US" altLang="zh-CN" sz="1800" b="0" dirty="0">
              <a:ea typeface="华文细黑" pitchFamily="2" charset="-122"/>
            </a:endParaRPr>
          </a:p>
          <a:p>
            <a:pPr>
              <a:defRPr/>
            </a:pPr>
            <a:endParaRPr lang="en-US" altLang="zh-CN" sz="1800" b="0" dirty="0">
              <a:ea typeface="华文细黑" pitchFamily="2" charset="-122"/>
            </a:endParaRPr>
          </a:p>
          <a:p>
            <a:pPr>
              <a:defRPr/>
            </a:pPr>
            <a:endParaRPr lang="zh-CN" altLang="zh-CN" sz="1800" b="0" dirty="0">
              <a:ea typeface="华文细黑" pitchFamily="2" charset="-122"/>
            </a:endParaRPr>
          </a:p>
        </p:txBody>
      </p:sp>
      <p:grpSp>
        <p:nvGrpSpPr>
          <p:cNvPr id="13" name="组合 12"/>
          <p:cNvGrpSpPr/>
          <p:nvPr/>
        </p:nvGrpSpPr>
        <p:grpSpPr>
          <a:xfrm>
            <a:off x="2541353" y="2571744"/>
            <a:ext cx="5959975" cy="3336634"/>
            <a:chOff x="2898305" y="2328875"/>
            <a:chExt cx="5959975" cy="4029083"/>
          </a:xfrm>
        </p:grpSpPr>
        <p:sp>
          <p:nvSpPr>
            <p:cNvPr id="14" name="AutoShape 8"/>
            <p:cNvSpPr>
              <a:spLocks noChangeArrowheads="1"/>
            </p:cNvSpPr>
            <p:nvPr/>
          </p:nvSpPr>
          <p:spPr bwMode="gray">
            <a:xfrm>
              <a:off x="3350265" y="2428868"/>
              <a:ext cx="5436577" cy="1000132"/>
            </a:xfrm>
            <a:prstGeom prst="roundRect">
              <a:avLst>
                <a:gd name="adj" fmla="val 10889"/>
              </a:avLst>
            </a:prstGeom>
            <a:noFill/>
            <a:ln w="25400">
              <a:solidFill>
                <a:schemeClr val="tx1"/>
              </a:solidFill>
              <a:round/>
              <a:headEnd/>
              <a:tailEnd/>
            </a:ln>
          </p:spPr>
          <p:txBody>
            <a:bodyPr wrap="none" anchor="ctr"/>
            <a:lstStyle/>
            <a:p>
              <a:endParaRPr lang="zh-CN" altLang="en-US"/>
            </a:p>
          </p:txBody>
        </p:sp>
        <p:grpSp>
          <p:nvGrpSpPr>
            <p:cNvPr id="15" name="组合 16"/>
            <p:cNvGrpSpPr/>
            <p:nvPr/>
          </p:nvGrpSpPr>
          <p:grpSpPr>
            <a:xfrm>
              <a:off x="2898305" y="2328875"/>
              <a:ext cx="5959975" cy="4029083"/>
              <a:chOff x="2898305" y="2328875"/>
              <a:chExt cx="5959975" cy="4029083"/>
            </a:xfrm>
          </p:grpSpPr>
          <p:sp>
            <p:nvSpPr>
              <p:cNvPr id="17" name="AutoShape 6"/>
              <p:cNvSpPr>
                <a:spLocks noChangeArrowheads="1"/>
              </p:cNvSpPr>
              <p:nvPr/>
            </p:nvSpPr>
            <p:spPr bwMode="auto">
              <a:xfrm>
                <a:off x="3286115" y="2328875"/>
                <a:ext cx="5572165" cy="4029083"/>
              </a:xfrm>
              <a:prstGeom prst="roundRect">
                <a:avLst>
                  <a:gd name="adj" fmla="val 3481"/>
                </a:avLst>
              </a:prstGeom>
              <a:noFill/>
              <a:ln w="19050" cap="rnd">
                <a:solidFill>
                  <a:schemeClr val="bg2"/>
                </a:solidFill>
                <a:prstDash val="sysDot"/>
                <a:round/>
                <a:headEnd/>
                <a:tailEnd/>
              </a:ln>
            </p:spPr>
            <p:txBody>
              <a:bodyPr wrap="none" anchor="ctr"/>
              <a:lstStyle/>
              <a:p>
                <a:endParaRPr lang="zh-CN" altLang="en-US"/>
              </a:p>
            </p:txBody>
          </p:sp>
          <p:grpSp>
            <p:nvGrpSpPr>
              <p:cNvPr id="18" name="Group 10"/>
              <p:cNvGrpSpPr>
                <a:grpSpLocks/>
              </p:cNvGrpSpPr>
              <p:nvPr/>
            </p:nvGrpSpPr>
            <p:grpSpPr bwMode="auto">
              <a:xfrm>
                <a:off x="2898305" y="2706842"/>
                <a:ext cx="5888155" cy="2169839"/>
                <a:chOff x="2160" y="1563"/>
                <a:chExt cx="3729" cy="1193"/>
              </a:xfrm>
            </p:grpSpPr>
            <p:sp>
              <p:nvSpPr>
                <p:cNvPr id="22" name="AutoShape 11"/>
                <p:cNvSpPr>
                  <a:spLocks noChangeArrowheads="1"/>
                </p:cNvSpPr>
                <p:nvPr/>
              </p:nvSpPr>
              <p:spPr bwMode="gray">
                <a:xfrm>
                  <a:off x="2451" y="2066"/>
                  <a:ext cx="3438" cy="690"/>
                </a:xfrm>
                <a:prstGeom prst="roundRect">
                  <a:avLst>
                    <a:gd name="adj" fmla="val 10889"/>
                  </a:avLst>
                </a:prstGeom>
                <a:noFill/>
                <a:ln w="25400">
                  <a:solidFill>
                    <a:schemeClr val="tx1"/>
                  </a:solidFill>
                  <a:round/>
                  <a:headEnd/>
                  <a:tailEnd/>
                </a:ln>
              </p:spPr>
              <p:txBody>
                <a:bodyPr wrap="none" anchor="ctr"/>
                <a:lstStyle/>
                <a:p>
                  <a:endParaRPr lang="zh-CN" altLang="en-US"/>
                </a:p>
              </p:txBody>
            </p:sp>
            <p:sp>
              <p:nvSpPr>
                <p:cNvPr id="23" name="AutoShape 12"/>
                <p:cNvSpPr>
                  <a:spLocks noChangeArrowheads="1"/>
                </p:cNvSpPr>
                <p:nvPr/>
              </p:nvSpPr>
              <p:spPr bwMode="gray">
                <a:xfrm>
                  <a:off x="2179" y="2314"/>
                  <a:ext cx="362" cy="240"/>
                </a:xfrm>
                <a:prstGeom prst="rightArrow">
                  <a:avLst>
                    <a:gd name="adj1" fmla="val 50000"/>
                    <a:gd name="adj2" fmla="val 58333"/>
                  </a:avLst>
                </a:prstGeom>
                <a:solidFill>
                  <a:schemeClr val="bg1"/>
                </a:solidFill>
                <a:ln w="25400">
                  <a:solidFill>
                    <a:schemeClr val="tx1"/>
                  </a:solidFill>
                  <a:miter lim="800000"/>
                  <a:headEnd/>
                  <a:tailEnd/>
                </a:ln>
              </p:spPr>
              <p:txBody>
                <a:bodyPr wrap="none" anchor="ctr"/>
                <a:lstStyle/>
                <a:p>
                  <a:endParaRPr lang="zh-CN" altLang="en-US"/>
                </a:p>
              </p:txBody>
            </p:sp>
            <p:sp>
              <p:nvSpPr>
                <p:cNvPr id="24" name="AutoShape 12"/>
                <p:cNvSpPr>
                  <a:spLocks noChangeArrowheads="1"/>
                </p:cNvSpPr>
                <p:nvPr/>
              </p:nvSpPr>
              <p:spPr bwMode="gray">
                <a:xfrm>
                  <a:off x="2160" y="1563"/>
                  <a:ext cx="336" cy="240"/>
                </a:xfrm>
                <a:prstGeom prst="rightArrow">
                  <a:avLst>
                    <a:gd name="adj1" fmla="val 50000"/>
                    <a:gd name="adj2" fmla="val 58333"/>
                  </a:avLst>
                </a:prstGeom>
                <a:solidFill>
                  <a:schemeClr val="bg1"/>
                </a:solidFill>
                <a:ln w="25400">
                  <a:solidFill>
                    <a:schemeClr val="tx1"/>
                  </a:solidFill>
                  <a:miter lim="800000"/>
                  <a:headEnd/>
                  <a:tailEnd/>
                </a:ln>
              </p:spPr>
              <p:txBody>
                <a:bodyPr wrap="none" anchor="ctr"/>
                <a:lstStyle/>
                <a:p>
                  <a:endParaRPr lang="zh-CN" altLang="en-US"/>
                </a:p>
              </p:txBody>
            </p:sp>
          </p:grpSp>
          <p:grpSp>
            <p:nvGrpSpPr>
              <p:cNvPr id="19" name="Group 13"/>
              <p:cNvGrpSpPr>
                <a:grpSpLocks/>
              </p:cNvGrpSpPr>
              <p:nvPr/>
            </p:nvGrpSpPr>
            <p:grpSpPr bwMode="auto">
              <a:xfrm>
                <a:off x="2929477" y="5084784"/>
                <a:ext cx="5857365" cy="1157288"/>
                <a:chOff x="2108" y="2852"/>
                <a:chExt cx="3298" cy="729"/>
              </a:xfrm>
            </p:grpSpPr>
            <p:sp>
              <p:nvSpPr>
                <p:cNvPr id="20" name="AutoShape 14"/>
                <p:cNvSpPr>
                  <a:spLocks noChangeArrowheads="1"/>
                </p:cNvSpPr>
                <p:nvPr/>
              </p:nvSpPr>
              <p:spPr bwMode="gray">
                <a:xfrm>
                  <a:off x="2349" y="2852"/>
                  <a:ext cx="3057" cy="729"/>
                </a:xfrm>
                <a:prstGeom prst="roundRect">
                  <a:avLst>
                    <a:gd name="adj" fmla="val 10889"/>
                  </a:avLst>
                </a:prstGeom>
                <a:noFill/>
                <a:ln w="25400">
                  <a:solidFill>
                    <a:schemeClr val="tx1"/>
                  </a:solidFill>
                  <a:round/>
                  <a:headEnd/>
                  <a:tailEnd/>
                </a:ln>
              </p:spPr>
              <p:txBody>
                <a:bodyPr wrap="none" anchor="ctr"/>
                <a:lstStyle/>
                <a:p>
                  <a:endParaRPr lang="zh-CN" altLang="en-US"/>
                </a:p>
              </p:txBody>
            </p:sp>
            <p:sp>
              <p:nvSpPr>
                <p:cNvPr id="21" name="AutoShape 15"/>
                <p:cNvSpPr>
                  <a:spLocks noChangeArrowheads="1"/>
                </p:cNvSpPr>
                <p:nvPr/>
              </p:nvSpPr>
              <p:spPr bwMode="gray">
                <a:xfrm>
                  <a:off x="2108" y="3067"/>
                  <a:ext cx="300" cy="275"/>
                </a:xfrm>
                <a:prstGeom prst="rightArrow">
                  <a:avLst>
                    <a:gd name="adj1" fmla="val 50000"/>
                    <a:gd name="adj2" fmla="val 58333"/>
                  </a:avLst>
                </a:prstGeom>
                <a:solidFill>
                  <a:schemeClr val="bg1"/>
                </a:solidFill>
                <a:ln w="25400">
                  <a:solidFill>
                    <a:schemeClr val="tx1"/>
                  </a:solidFill>
                  <a:miter lim="800000"/>
                  <a:headEnd/>
                  <a:tailEnd/>
                </a:ln>
              </p:spPr>
              <p:txBody>
                <a:bodyPr wrap="none" anchor="ctr"/>
                <a:lstStyle/>
                <a:p>
                  <a:endParaRPr lang="zh-CN" altLang="en-US"/>
                </a:p>
              </p:txBody>
            </p:sp>
          </p:grpSp>
        </p:grpSp>
        <p:sp>
          <p:nvSpPr>
            <p:cNvPr id="16" name="Text Box 18"/>
            <p:cNvSpPr txBox="1">
              <a:spLocks noChangeArrowheads="1"/>
            </p:cNvSpPr>
            <p:nvPr/>
          </p:nvSpPr>
          <p:spPr bwMode="gray">
            <a:xfrm>
              <a:off x="3455829" y="2503475"/>
              <a:ext cx="5248423" cy="780464"/>
            </a:xfrm>
            <a:prstGeom prst="rect">
              <a:avLst/>
            </a:prstGeom>
            <a:noFill/>
            <a:ln w="9525" algn="ctr">
              <a:noFill/>
              <a:miter lim="800000"/>
              <a:headEnd/>
              <a:tailEnd/>
            </a:ln>
          </p:spPr>
          <p:txBody>
            <a:bodyPr wrap="square">
              <a:spAutoFit/>
            </a:bodyPr>
            <a:lstStyle/>
            <a:p>
              <a:pPr algn="l" eaLnBrk="0" hangingPunct="0"/>
              <a:r>
                <a:rPr lang="en-US" altLang="zh-CN" sz="1800" i="1" dirty="0">
                  <a:solidFill>
                    <a:srgbClr val="C00000"/>
                  </a:solidFill>
                </a:rPr>
                <a:t>    </a:t>
              </a:r>
              <a:r>
                <a:rPr lang="en-US" altLang="zh-CN" sz="1800" i="1" dirty="0" smtClean="0">
                  <a:solidFill>
                    <a:srgbClr val="C00000"/>
                  </a:solidFill>
                </a:rPr>
                <a:t> </a:t>
              </a:r>
              <a:r>
                <a:rPr lang="en-US" altLang="zh-CN" sz="1800" i="1" dirty="0" smtClean="0">
                  <a:solidFill>
                    <a:srgbClr val="B010A8"/>
                  </a:solidFill>
                  <a:latin typeface="+mn-lt"/>
                  <a:ea typeface="+mn-ea"/>
                </a:rPr>
                <a:t>PSS</a:t>
              </a:r>
              <a:r>
                <a:rPr lang="en-US" altLang="zh-CN" sz="1800" i="1" dirty="0" smtClean="0">
                  <a:solidFill>
                    <a:srgbClr val="C00000"/>
                  </a:solidFill>
                </a:rPr>
                <a:t> </a:t>
              </a:r>
              <a:r>
                <a:rPr lang="en-US" altLang="zh-CN" sz="1800" i="1" dirty="0">
                  <a:solidFill>
                    <a:schemeClr val="tx1"/>
                  </a:solidFill>
                </a:rPr>
                <a:t>generates</a:t>
              </a:r>
              <a:r>
                <a:rPr lang="zh-CN" altLang="en-US" sz="1800" i="1" dirty="0">
                  <a:solidFill>
                    <a:schemeClr val="tx1"/>
                  </a:solidFill>
                </a:rPr>
                <a:t>，</a:t>
              </a:r>
              <a:r>
                <a:rPr lang="en-US" altLang="zh-CN" sz="1800" i="1" dirty="0">
                  <a:solidFill>
                    <a:schemeClr val="tx1"/>
                  </a:solidFill>
                </a:rPr>
                <a:t>reserves, transforms, regulates </a:t>
              </a:r>
              <a:r>
                <a:rPr lang="en-US" altLang="zh-CN" sz="1800" dirty="0">
                  <a:solidFill>
                    <a:schemeClr val="tx1"/>
                  </a:solidFill>
                </a:rPr>
                <a:t>and</a:t>
              </a:r>
              <a:r>
                <a:rPr lang="en-US" altLang="zh-CN" sz="1800" i="1" dirty="0">
                  <a:solidFill>
                    <a:schemeClr val="tx1"/>
                  </a:solidFill>
                </a:rPr>
                <a:t> distributes </a:t>
              </a:r>
              <a:r>
                <a:rPr lang="en-US" altLang="zh-CN" sz="1800" dirty="0">
                  <a:solidFill>
                    <a:schemeClr val="tx1"/>
                  </a:solidFill>
                </a:rPr>
                <a:t>the electrical power on satellite.</a:t>
              </a:r>
              <a:endParaRPr lang="en-US" altLang="zh-CN" sz="1800" dirty="0">
                <a:solidFill>
                  <a:srgbClr val="000000"/>
                </a:solidFill>
                <a:ea typeface="华文细黑" pitchFamily="2" charset="-122"/>
              </a:endParaRPr>
            </a:p>
          </p:txBody>
        </p:sp>
      </p:grpSp>
      <p:sp>
        <p:nvSpPr>
          <p:cNvPr id="25" name="Text Box 17"/>
          <p:cNvSpPr txBox="1">
            <a:spLocks noChangeArrowheads="1"/>
          </p:cNvSpPr>
          <p:nvPr/>
        </p:nvSpPr>
        <p:spPr bwMode="gray">
          <a:xfrm>
            <a:off x="3143240" y="3714752"/>
            <a:ext cx="5325208" cy="923330"/>
          </a:xfrm>
          <a:prstGeom prst="rect">
            <a:avLst/>
          </a:prstGeom>
          <a:noFill/>
          <a:ln w="9525" algn="ctr">
            <a:noFill/>
            <a:miter lim="800000"/>
            <a:headEnd/>
            <a:tailEnd/>
          </a:ln>
        </p:spPr>
        <p:txBody>
          <a:bodyPr>
            <a:spAutoFit/>
          </a:bodyPr>
          <a:lstStyle/>
          <a:p>
            <a:pPr algn="l" eaLnBrk="0" hangingPunct="0"/>
            <a:r>
              <a:rPr lang="en-US" altLang="zh-CN" sz="1800" i="1" dirty="0"/>
              <a:t>   </a:t>
            </a:r>
            <a:r>
              <a:rPr lang="en-US" altLang="zh-CN" sz="1800" i="1" dirty="0">
                <a:solidFill>
                  <a:srgbClr val="B010A8"/>
                </a:solidFill>
              </a:rPr>
              <a:t> </a:t>
            </a:r>
            <a:r>
              <a:rPr lang="en-US" altLang="zh-CN" sz="1800" i="1" dirty="0" smtClean="0">
                <a:solidFill>
                  <a:srgbClr val="B010A8"/>
                </a:solidFill>
              </a:rPr>
              <a:t> PSS </a:t>
            </a:r>
            <a:r>
              <a:rPr lang="en-US" altLang="zh-CN" sz="1800" i="1" dirty="0"/>
              <a:t>carries out the conversion of the light </a:t>
            </a:r>
            <a:r>
              <a:rPr lang="en-US" altLang="zh-CN" sz="1800" i="1" dirty="0" smtClean="0"/>
              <a:t>energy or </a:t>
            </a:r>
            <a:r>
              <a:rPr lang="en-US" altLang="zh-CN" sz="1800" i="1" dirty="0"/>
              <a:t>chemical energy into electrical energy by means of certain physical change or chemical change.</a:t>
            </a:r>
          </a:p>
        </p:txBody>
      </p:sp>
      <p:sp>
        <p:nvSpPr>
          <p:cNvPr id="26" name="矩形 25"/>
          <p:cNvSpPr/>
          <p:nvPr/>
        </p:nvSpPr>
        <p:spPr>
          <a:xfrm>
            <a:off x="3143240" y="4857760"/>
            <a:ext cx="5177484" cy="923330"/>
          </a:xfrm>
          <a:prstGeom prst="rect">
            <a:avLst/>
          </a:prstGeom>
        </p:spPr>
        <p:txBody>
          <a:bodyPr wrap="square">
            <a:spAutoFit/>
          </a:bodyPr>
          <a:lstStyle/>
          <a:p>
            <a:r>
              <a:rPr lang="en-US" altLang="zh-CN" sz="1800" i="1" dirty="0" smtClean="0"/>
              <a:t>    </a:t>
            </a:r>
            <a:r>
              <a:rPr lang="en-US" altLang="zh-CN" sz="1800" i="1" dirty="0" smtClean="0">
                <a:solidFill>
                  <a:srgbClr val="B010A8"/>
                </a:solidFill>
              </a:rPr>
              <a:t> PSS </a:t>
            </a:r>
            <a:r>
              <a:rPr lang="en-US" altLang="zh-CN" sz="1800" i="1" dirty="0" smtClean="0"/>
              <a:t>takes on the power supply and distribution for the platform and payloads during the testing, launching and orbiting.</a:t>
            </a:r>
            <a:endParaRPr lang="zh-CN" altLang="en-US" sz="1800" i="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a:t>
            </a:fld>
            <a:r>
              <a:rPr lang="zh-CN" altLang="en-US" smtClean="0"/>
              <a:t> </a:t>
            </a:r>
            <a:endParaRPr lang="zh-CN" altLang="en-US" dirty="0">
              <a:latin typeface="微软雅黑" pitchFamily="34" charset="-122"/>
              <a:ea typeface="微软雅黑" pitchFamily="34" charset="-122"/>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l="6876" t="4323" r="11223" b="3297"/>
          <a:stretch>
            <a:fillRect/>
          </a:stretch>
        </p:blipFill>
        <p:spPr bwMode="auto">
          <a:xfrm>
            <a:off x="350465" y="4260139"/>
            <a:ext cx="1889631" cy="1574276"/>
          </a:xfrm>
          <a:prstGeom prst="rect">
            <a:avLst/>
          </a:prstGeom>
          <a:noFill/>
          <a:ln>
            <a:noFill/>
          </a:ln>
          <a:effectLst/>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sp>
        <p:nvSpPr>
          <p:cNvPr id="7" name="矩形 6"/>
          <p:cNvSpPr/>
          <p:nvPr/>
        </p:nvSpPr>
        <p:spPr>
          <a:xfrm>
            <a:off x="2428860" y="428604"/>
            <a:ext cx="4730782" cy="707886"/>
          </a:xfrm>
          <a:prstGeom prst="rect">
            <a:avLst/>
          </a:prstGeom>
        </p:spPr>
        <p:txBody>
          <a:bodyPr wrap="none">
            <a:spAutoFit/>
          </a:bodyPr>
          <a:lstStyle/>
          <a:p>
            <a:r>
              <a:rPr lang="en-US" altLang="zh-CN" sz="4000" dirty="0" smtClean="0">
                <a:solidFill>
                  <a:srgbClr val="FFFFCC"/>
                </a:solidFill>
                <a:latin typeface="Impact" pitchFamily="34" charset="0"/>
                <a:ea typeface="方正大黑简体" pitchFamily="2" charset="-122"/>
              </a:rPr>
              <a:t>Concept and Function</a:t>
            </a:r>
            <a:endParaRPr lang="zh-CN" altLang="en-US" sz="4000" dirty="0">
              <a:solidFill>
                <a:srgbClr val="FFFFCC"/>
              </a:solidFill>
              <a:latin typeface="Impact" pitchFamily="34" charset="0"/>
              <a:ea typeface="方正大黑简体" pitchFamily="2" charset="-122"/>
            </a:endParaRPr>
          </a:p>
        </p:txBody>
      </p:sp>
      <p:grpSp>
        <p:nvGrpSpPr>
          <p:cNvPr id="8" name="组合 7"/>
          <p:cNvGrpSpPr/>
          <p:nvPr/>
        </p:nvGrpSpPr>
        <p:grpSpPr>
          <a:xfrm>
            <a:off x="285720" y="1571612"/>
            <a:ext cx="8572560" cy="2226720"/>
            <a:chOff x="357158" y="1109254"/>
            <a:chExt cx="8429684" cy="2226720"/>
          </a:xfrm>
        </p:grpSpPr>
        <p:pic>
          <p:nvPicPr>
            <p:cNvPr id="9" name="Picture 6" descr="E:\工作 (秘密)\一次电源 (秘密)\S1(秘密)\电网图片\图2.jpg"/>
            <p:cNvPicPr>
              <a:picLocks noChangeAspect="1" noChangeArrowheads="1"/>
            </p:cNvPicPr>
            <p:nvPr/>
          </p:nvPicPr>
          <p:blipFill>
            <a:blip r:embed="rId3" cstate="print"/>
            <a:srcRect/>
            <a:stretch>
              <a:fillRect/>
            </a:stretch>
          </p:blipFill>
          <p:spPr bwMode="auto">
            <a:xfrm>
              <a:off x="498464" y="1396477"/>
              <a:ext cx="2376710" cy="1566351"/>
            </a:xfrm>
            <a:prstGeom prst="rect">
              <a:avLst/>
            </a:prstGeom>
            <a:noFill/>
          </p:spPr>
        </p:pic>
        <p:sp>
          <p:nvSpPr>
            <p:cNvPr id="10" name="AutoShape 6"/>
            <p:cNvSpPr>
              <a:spLocks noChangeArrowheads="1"/>
            </p:cNvSpPr>
            <p:nvPr/>
          </p:nvSpPr>
          <p:spPr bwMode="auto">
            <a:xfrm>
              <a:off x="357158" y="1142984"/>
              <a:ext cx="8429684" cy="2080984"/>
            </a:xfrm>
            <a:prstGeom prst="roundRect">
              <a:avLst>
                <a:gd name="adj" fmla="val 3481"/>
              </a:avLst>
            </a:prstGeom>
            <a:noFill/>
            <a:ln w="19050" cap="rnd">
              <a:solidFill>
                <a:schemeClr val="bg2"/>
              </a:solidFill>
              <a:prstDash val="sysDot"/>
              <a:round/>
              <a:headEnd/>
              <a:tailEnd/>
            </a:ln>
          </p:spPr>
          <p:txBody>
            <a:bodyPr wrap="none" anchor="ctr"/>
            <a:lstStyle/>
            <a:p>
              <a:endParaRPr lang="zh-CN" altLang="en-US"/>
            </a:p>
          </p:txBody>
        </p:sp>
        <p:sp>
          <p:nvSpPr>
            <p:cNvPr id="11" name="矩形 10"/>
            <p:cNvSpPr/>
            <p:nvPr/>
          </p:nvSpPr>
          <p:spPr>
            <a:xfrm>
              <a:off x="1026906" y="2937570"/>
              <a:ext cx="1544830" cy="369332"/>
            </a:xfrm>
            <a:prstGeom prst="rect">
              <a:avLst/>
            </a:prstGeom>
          </p:spPr>
          <p:txBody>
            <a:bodyPr wrap="square">
              <a:spAutoFit/>
            </a:bodyPr>
            <a:lstStyle/>
            <a:p>
              <a:r>
                <a:rPr lang="en-US" altLang="zh-CN" b="0" dirty="0" smtClean="0">
                  <a:solidFill>
                    <a:schemeClr val="tx1"/>
                  </a:solidFill>
                </a:rPr>
                <a:t>Power Plant</a:t>
              </a:r>
              <a:endParaRPr lang="zh-CN" altLang="en-US" dirty="0"/>
            </a:p>
          </p:txBody>
        </p:sp>
        <p:pic>
          <p:nvPicPr>
            <p:cNvPr id="12" name="Picture 7" descr="E:\工作 (秘密)\一次电源 (秘密)\S1(秘密)\电网图片\图3.jpg"/>
            <p:cNvPicPr>
              <a:picLocks noChangeAspect="1" noChangeArrowheads="1"/>
            </p:cNvPicPr>
            <p:nvPr/>
          </p:nvPicPr>
          <p:blipFill>
            <a:blip r:embed="rId4"/>
            <a:srcRect l="280" t="5457" r="-887" b="5416"/>
            <a:stretch>
              <a:fillRect/>
            </a:stretch>
          </p:blipFill>
          <p:spPr bwMode="auto">
            <a:xfrm>
              <a:off x="3254594" y="1387050"/>
              <a:ext cx="2531852" cy="1591818"/>
            </a:xfrm>
            <a:prstGeom prst="rect">
              <a:avLst/>
            </a:prstGeom>
            <a:noFill/>
          </p:spPr>
        </p:pic>
        <p:sp>
          <p:nvSpPr>
            <p:cNvPr id="13" name="矩形 12"/>
            <p:cNvSpPr/>
            <p:nvPr/>
          </p:nvSpPr>
          <p:spPr>
            <a:xfrm>
              <a:off x="3349037" y="2966642"/>
              <a:ext cx="2365971" cy="369332"/>
            </a:xfrm>
            <a:prstGeom prst="rect">
              <a:avLst/>
            </a:prstGeom>
          </p:spPr>
          <p:txBody>
            <a:bodyPr wrap="square">
              <a:spAutoFit/>
            </a:bodyPr>
            <a:lstStyle/>
            <a:p>
              <a:r>
                <a:rPr lang="en-US" altLang="zh-CN" b="0" dirty="0" smtClean="0">
                  <a:solidFill>
                    <a:schemeClr val="tx1"/>
                  </a:solidFill>
                </a:rPr>
                <a:t>Transformer Substation</a:t>
              </a:r>
              <a:endParaRPr lang="zh-CN" altLang="en-US" dirty="0"/>
            </a:p>
          </p:txBody>
        </p:sp>
        <p:pic>
          <p:nvPicPr>
            <p:cNvPr id="14" name="Picture 8" descr="E:\工作 (秘密)\一次电源 (秘密)\S1(秘密)\电网图片\电网2.jpg"/>
            <p:cNvPicPr>
              <a:picLocks noChangeAspect="1" noChangeArrowheads="1"/>
            </p:cNvPicPr>
            <p:nvPr/>
          </p:nvPicPr>
          <p:blipFill>
            <a:blip r:embed="rId5"/>
            <a:srcRect/>
            <a:stretch>
              <a:fillRect/>
            </a:stretch>
          </p:blipFill>
          <p:spPr bwMode="auto">
            <a:xfrm>
              <a:off x="6089716" y="1396476"/>
              <a:ext cx="2526384" cy="1572968"/>
            </a:xfrm>
            <a:prstGeom prst="rect">
              <a:avLst/>
            </a:prstGeom>
            <a:noFill/>
          </p:spPr>
        </p:pic>
        <p:sp>
          <p:nvSpPr>
            <p:cNvPr id="15" name="矩形 14"/>
            <p:cNvSpPr/>
            <p:nvPr/>
          </p:nvSpPr>
          <p:spPr>
            <a:xfrm>
              <a:off x="6926265" y="2918715"/>
              <a:ext cx="1253869" cy="400110"/>
            </a:xfrm>
            <a:prstGeom prst="rect">
              <a:avLst/>
            </a:prstGeom>
          </p:spPr>
          <p:txBody>
            <a:bodyPr wrap="none">
              <a:spAutoFit/>
            </a:bodyPr>
            <a:lstStyle/>
            <a:p>
              <a:r>
                <a:rPr lang="en-US" altLang="zh-CN" b="0" dirty="0" smtClean="0">
                  <a:solidFill>
                    <a:schemeClr val="tx1"/>
                  </a:solidFill>
                </a:rPr>
                <a:t>Networks</a:t>
              </a:r>
              <a:endParaRPr lang="zh-CN" altLang="en-US" dirty="0"/>
            </a:p>
          </p:txBody>
        </p:sp>
        <p:sp>
          <p:nvSpPr>
            <p:cNvPr id="16" name="矩形 15"/>
            <p:cNvSpPr/>
            <p:nvPr/>
          </p:nvSpPr>
          <p:spPr>
            <a:xfrm>
              <a:off x="428596" y="1109254"/>
              <a:ext cx="1877437" cy="400110"/>
            </a:xfrm>
            <a:prstGeom prst="rect">
              <a:avLst/>
            </a:prstGeom>
          </p:spPr>
          <p:txBody>
            <a:bodyPr wrap="none">
              <a:spAutoFit/>
            </a:bodyPr>
            <a:lstStyle/>
            <a:p>
              <a:r>
                <a:rPr lang="en-US" altLang="zh-CN" b="0" dirty="0" smtClean="0">
                  <a:solidFill>
                    <a:srgbClr val="B010A8"/>
                  </a:solidFill>
                </a:rPr>
                <a:t>On the Ground</a:t>
              </a:r>
              <a:endParaRPr lang="zh-CN" altLang="en-US" dirty="0">
                <a:solidFill>
                  <a:srgbClr val="B010A8"/>
                </a:solidFill>
              </a:endParaRPr>
            </a:p>
          </p:txBody>
        </p:sp>
      </p:grpSp>
      <p:sp>
        <p:nvSpPr>
          <p:cNvPr id="17" name="矩形 16"/>
          <p:cNvSpPr/>
          <p:nvPr/>
        </p:nvSpPr>
        <p:spPr>
          <a:xfrm>
            <a:off x="355151" y="4083098"/>
            <a:ext cx="1936749" cy="400110"/>
          </a:xfrm>
          <a:prstGeom prst="rect">
            <a:avLst/>
          </a:prstGeom>
        </p:spPr>
        <p:txBody>
          <a:bodyPr wrap="none">
            <a:spAutoFit/>
          </a:bodyPr>
          <a:lstStyle/>
          <a:p>
            <a:r>
              <a:rPr lang="en-US" altLang="zh-CN" b="0" dirty="0" smtClean="0">
                <a:solidFill>
                  <a:schemeClr val="accent5">
                    <a:lumMod val="50000"/>
                  </a:schemeClr>
                </a:solidFill>
              </a:rPr>
              <a:t>On the Satellite</a:t>
            </a:r>
            <a:endParaRPr lang="zh-CN" altLang="en-US" dirty="0">
              <a:solidFill>
                <a:schemeClr val="accent5">
                  <a:lumMod val="50000"/>
                </a:schemeClr>
              </a:solidFill>
            </a:endParaRPr>
          </a:p>
        </p:txBody>
      </p:sp>
      <p:sp>
        <p:nvSpPr>
          <p:cNvPr id="18" name="AutoShape 6"/>
          <p:cNvSpPr>
            <a:spLocks noChangeArrowheads="1"/>
          </p:cNvSpPr>
          <p:nvPr/>
        </p:nvSpPr>
        <p:spPr bwMode="auto">
          <a:xfrm>
            <a:off x="285721" y="4000504"/>
            <a:ext cx="8643998" cy="2056906"/>
          </a:xfrm>
          <a:prstGeom prst="roundRect">
            <a:avLst>
              <a:gd name="adj" fmla="val 3481"/>
            </a:avLst>
          </a:prstGeom>
          <a:noFill/>
          <a:ln w="19050" cap="rnd">
            <a:solidFill>
              <a:schemeClr val="bg2"/>
            </a:solidFill>
            <a:prstDash val="sysDot"/>
            <a:round/>
            <a:headEnd/>
            <a:tailEnd/>
          </a:ln>
        </p:spPr>
        <p:txBody>
          <a:bodyPr wrap="none" anchor="ctr"/>
          <a:lstStyle/>
          <a:p>
            <a:endParaRPr lang="zh-CN" altLang="en-US"/>
          </a:p>
        </p:txBody>
      </p:sp>
      <p:pic>
        <p:nvPicPr>
          <p:cNvPr id="19" name="图片 18" descr="http://www.stl.com.cn/upFile/uploadpictures/200912815194429755.jpg"/>
          <p:cNvPicPr/>
          <p:nvPr/>
        </p:nvPicPr>
        <p:blipFill>
          <a:blip r:embed="rId6" cstate="print"/>
          <a:srcRect/>
          <a:stretch>
            <a:fillRect/>
          </a:stretch>
        </p:blipFill>
        <p:spPr bwMode="auto">
          <a:xfrm>
            <a:off x="7000892" y="4357694"/>
            <a:ext cx="1599595" cy="1357322"/>
          </a:xfrm>
          <a:prstGeom prst="rect">
            <a:avLst/>
          </a:prstGeom>
          <a:noFill/>
          <a:ln w="9525">
            <a:noFill/>
            <a:miter lim="800000"/>
            <a:headEnd/>
            <a:tailEnd/>
          </a:ln>
        </p:spPr>
      </p:pic>
      <p:sp>
        <p:nvSpPr>
          <p:cNvPr id="20" name="矩形 19"/>
          <p:cNvSpPr/>
          <p:nvPr/>
        </p:nvSpPr>
        <p:spPr>
          <a:xfrm>
            <a:off x="4214810" y="5891917"/>
            <a:ext cx="2493503" cy="323165"/>
          </a:xfrm>
          <a:prstGeom prst="rect">
            <a:avLst/>
          </a:prstGeom>
        </p:spPr>
        <p:txBody>
          <a:bodyPr wrap="none">
            <a:spAutoFit/>
          </a:bodyPr>
          <a:lstStyle/>
          <a:p>
            <a:pPr>
              <a:lnSpc>
                <a:spcPts val="1800"/>
              </a:lnSpc>
            </a:pPr>
            <a:r>
              <a:rPr lang="en-US" altLang="zh-CN" b="0" dirty="0" smtClean="0">
                <a:solidFill>
                  <a:schemeClr val="tx1"/>
                </a:solidFill>
              </a:rPr>
              <a:t>Power Control/Distribution Unit</a:t>
            </a:r>
            <a:endParaRPr lang="zh-CN" altLang="en-US" dirty="0"/>
          </a:p>
        </p:txBody>
      </p:sp>
      <p:pic>
        <p:nvPicPr>
          <p:cNvPr id="21" name="图片 20" descr="E:\工作 (秘密)\一次电源 (秘密)\援外星座\EVRSS-1\培训\调控器照片\20150304_133649(内部).jpg"/>
          <p:cNvPicPr/>
          <p:nvPr/>
        </p:nvPicPr>
        <p:blipFill>
          <a:blip r:embed="rId7" cstate="print"/>
          <a:srcRect l="22891" t="4947" r="28571" b="8630"/>
          <a:stretch>
            <a:fillRect/>
          </a:stretch>
        </p:blipFill>
        <p:spPr bwMode="auto">
          <a:xfrm>
            <a:off x="4714876" y="4211281"/>
            <a:ext cx="1928826" cy="1585823"/>
          </a:xfrm>
          <a:prstGeom prst="rect">
            <a:avLst/>
          </a:prstGeom>
          <a:noFill/>
          <a:ln w="9525">
            <a:noFill/>
            <a:miter lim="800000"/>
            <a:headEnd/>
            <a:tailEnd/>
          </a:ln>
        </p:spPr>
      </p:pic>
      <p:pic>
        <p:nvPicPr>
          <p:cNvPr id="22" name="Picture 3"/>
          <p:cNvPicPr>
            <a:picLocks noChangeAspect="1" noChangeArrowheads="1"/>
          </p:cNvPicPr>
          <p:nvPr/>
        </p:nvPicPr>
        <p:blipFill>
          <a:blip r:embed="rId8" cstate="print"/>
          <a:srcRect l="29475" t="28035" r="13744" b="8960"/>
          <a:stretch>
            <a:fillRect/>
          </a:stretch>
        </p:blipFill>
        <p:spPr bwMode="auto">
          <a:xfrm>
            <a:off x="2410987" y="4235004"/>
            <a:ext cx="1946700" cy="1571626"/>
          </a:xfrm>
          <a:prstGeom prst="rect">
            <a:avLst/>
          </a:prstGeom>
          <a:noFill/>
          <a:ln w="9525">
            <a:noFill/>
            <a:miter lim="800000"/>
            <a:headEnd/>
            <a:tailEnd/>
          </a:ln>
        </p:spPr>
      </p:pic>
      <p:sp>
        <p:nvSpPr>
          <p:cNvPr id="23" name="矩形 22"/>
          <p:cNvSpPr/>
          <p:nvPr/>
        </p:nvSpPr>
        <p:spPr>
          <a:xfrm>
            <a:off x="2928926" y="5857892"/>
            <a:ext cx="1196161" cy="400110"/>
          </a:xfrm>
          <a:prstGeom prst="rect">
            <a:avLst/>
          </a:prstGeom>
        </p:spPr>
        <p:txBody>
          <a:bodyPr wrap="none">
            <a:spAutoFit/>
          </a:bodyPr>
          <a:lstStyle/>
          <a:p>
            <a:r>
              <a:rPr lang="en-US" altLang="zh-CN" b="0" dirty="0" smtClean="0">
                <a:solidFill>
                  <a:schemeClr val="tx1"/>
                </a:solidFill>
              </a:rPr>
              <a:t>Batteries</a:t>
            </a:r>
            <a:endParaRPr lang="zh-CN" altLang="en-US" dirty="0"/>
          </a:p>
        </p:txBody>
      </p:sp>
      <p:sp>
        <p:nvSpPr>
          <p:cNvPr id="24" name="矩形 23"/>
          <p:cNvSpPr/>
          <p:nvPr/>
        </p:nvSpPr>
        <p:spPr>
          <a:xfrm>
            <a:off x="7643834" y="5857892"/>
            <a:ext cx="984565" cy="400110"/>
          </a:xfrm>
          <a:prstGeom prst="rect">
            <a:avLst/>
          </a:prstGeom>
        </p:spPr>
        <p:txBody>
          <a:bodyPr wrap="none">
            <a:spAutoFit/>
          </a:bodyPr>
          <a:lstStyle/>
          <a:p>
            <a:r>
              <a:rPr lang="en-US" altLang="zh-CN" b="0" dirty="0" smtClean="0">
                <a:solidFill>
                  <a:schemeClr val="tx1"/>
                </a:solidFill>
              </a:rPr>
              <a:t>Cables</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a:t>
            </a:fld>
            <a:r>
              <a:rPr lang="zh-CN" altLang="en-US" smtClean="0"/>
              <a:t> </a:t>
            </a:r>
            <a:endParaRPr lang="zh-CN" altLang="en-US" dirty="0">
              <a:latin typeface="微软雅黑" pitchFamily="34" charset="-122"/>
              <a:ea typeface="微软雅黑" pitchFamily="34" charset="-122"/>
            </a:endParaRPr>
          </a:p>
        </p:txBody>
      </p:sp>
      <p:cxnSp>
        <p:nvCxnSpPr>
          <p:cNvPr id="6" name="AutoShape 17"/>
          <p:cNvCxnSpPr>
            <a:cxnSpLocks noChangeShapeType="1"/>
          </p:cNvCxnSpPr>
          <p:nvPr/>
        </p:nvCxnSpPr>
        <p:spPr bwMode="gray">
          <a:xfrm>
            <a:off x="1310077" y="4216856"/>
            <a:ext cx="549519" cy="696912"/>
          </a:xfrm>
          <a:prstGeom prst="straightConnector1">
            <a:avLst/>
          </a:prstGeom>
          <a:noFill/>
          <a:ln w="9525">
            <a:solidFill>
              <a:srgbClr val="808080"/>
            </a:solidFill>
            <a:round/>
            <a:headEnd/>
            <a:tailEnd/>
          </a:ln>
        </p:spPr>
      </p:cxnSp>
      <p:sp>
        <p:nvSpPr>
          <p:cNvPr id="7" name="矩形 6"/>
          <p:cNvSpPr/>
          <p:nvPr/>
        </p:nvSpPr>
        <p:spPr>
          <a:xfrm>
            <a:off x="357158" y="1357298"/>
            <a:ext cx="3267241" cy="461665"/>
          </a:xfrm>
          <a:prstGeom prst="rect">
            <a:avLst/>
          </a:prstGeom>
        </p:spPr>
        <p:txBody>
          <a:bodyPr wrap="none">
            <a:spAutoFit/>
          </a:bodyPr>
          <a:lstStyle/>
          <a:p>
            <a:pPr>
              <a:buFont typeface="Wingdings" pitchFamily="2" charset="2"/>
              <a:buChar char="l"/>
            </a:pPr>
            <a:r>
              <a:rPr lang="en-US" altLang="zh-CN" kern="0" dirty="0" smtClean="0">
                <a:solidFill>
                  <a:schemeClr val="tx2"/>
                </a:solidFill>
              </a:rPr>
              <a:t>   </a:t>
            </a:r>
            <a:r>
              <a:rPr lang="en-US" altLang="zh-CN" sz="2400" i="1" kern="0" dirty="0" smtClean="0">
                <a:solidFill>
                  <a:schemeClr val="tx2"/>
                </a:solidFill>
              </a:rPr>
              <a:t>Technical Specification</a:t>
            </a:r>
            <a:endParaRPr lang="zh-CN" altLang="en-US" sz="2400" i="1" dirty="0"/>
          </a:p>
        </p:txBody>
      </p:sp>
      <p:cxnSp>
        <p:nvCxnSpPr>
          <p:cNvPr id="8" name="AutoShape 17"/>
          <p:cNvCxnSpPr>
            <a:cxnSpLocks noChangeShapeType="1"/>
          </p:cNvCxnSpPr>
          <p:nvPr/>
        </p:nvCxnSpPr>
        <p:spPr bwMode="gray">
          <a:xfrm rot="5400000">
            <a:off x="1121975" y="3627455"/>
            <a:ext cx="465477" cy="425079"/>
          </a:xfrm>
          <a:prstGeom prst="straightConnector1">
            <a:avLst/>
          </a:prstGeom>
          <a:noFill/>
          <a:ln w="9525">
            <a:solidFill>
              <a:srgbClr val="808080"/>
            </a:solidFill>
            <a:round/>
            <a:headEnd/>
            <a:tailEnd/>
          </a:ln>
        </p:spPr>
      </p:cxnSp>
      <p:cxnSp>
        <p:nvCxnSpPr>
          <p:cNvPr id="9" name="AutoShape 16"/>
          <p:cNvCxnSpPr>
            <a:cxnSpLocks noChangeShapeType="1"/>
          </p:cNvCxnSpPr>
          <p:nvPr/>
        </p:nvCxnSpPr>
        <p:spPr bwMode="gray">
          <a:xfrm rot="16200000" flipH="1">
            <a:off x="1663041" y="2679076"/>
            <a:ext cx="547204" cy="411310"/>
          </a:xfrm>
          <a:prstGeom prst="straightConnector1">
            <a:avLst/>
          </a:prstGeom>
          <a:noFill/>
          <a:ln w="9525">
            <a:solidFill>
              <a:srgbClr val="808080"/>
            </a:solidFill>
            <a:round/>
            <a:headEnd/>
            <a:tailEnd/>
          </a:ln>
        </p:spPr>
      </p:cxnSp>
      <p:grpSp>
        <p:nvGrpSpPr>
          <p:cNvPr id="10" name="Group 4"/>
          <p:cNvGrpSpPr>
            <a:grpSpLocks/>
          </p:cNvGrpSpPr>
          <p:nvPr/>
        </p:nvGrpSpPr>
        <p:grpSpPr bwMode="auto">
          <a:xfrm>
            <a:off x="761539" y="2131429"/>
            <a:ext cx="1858193" cy="678652"/>
            <a:chOff x="816" y="2187"/>
            <a:chExt cx="1015" cy="380"/>
          </a:xfrm>
        </p:grpSpPr>
        <p:sp>
          <p:nvSpPr>
            <p:cNvPr id="11" name="Freeform 5"/>
            <p:cNvSpPr>
              <a:spLocks/>
            </p:cNvSpPr>
            <p:nvPr/>
          </p:nvSpPr>
          <p:spPr bwMode="gray">
            <a:xfrm>
              <a:off x="881" y="2377"/>
              <a:ext cx="888" cy="190"/>
            </a:xfrm>
            <a:custGeom>
              <a:avLst/>
              <a:gdLst>
                <a:gd name="T0" fmla="*/ 4464 w 1120"/>
                <a:gd name="T1" fmla="*/ 11 h 252"/>
                <a:gd name="T2" fmla="*/ 4445 w 1120"/>
                <a:gd name="T3" fmla="*/ 11 h 252"/>
                <a:gd name="T4" fmla="*/ 4380 w 1120"/>
                <a:gd name="T5" fmla="*/ 11 h 252"/>
                <a:gd name="T6" fmla="*/ 4282 w 1120"/>
                <a:gd name="T7" fmla="*/ 11 h 252"/>
                <a:gd name="T8" fmla="*/ 4139 w 1120"/>
                <a:gd name="T9" fmla="*/ 11 h 252"/>
                <a:gd name="T10" fmla="*/ 3955 w 1120"/>
                <a:gd name="T11" fmla="*/ 10 h 252"/>
                <a:gd name="T12" fmla="*/ 3742 w 1120"/>
                <a:gd name="T13" fmla="*/ 10 h 252"/>
                <a:gd name="T14" fmla="*/ 3491 w 1120"/>
                <a:gd name="T15" fmla="*/ 10 h 252"/>
                <a:gd name="T16" fmla="*/ 3209 w 1120"/>
                <a:gd name="T17" fmla="*/ 8 h 252"/>
                <a:gd name="T18" fmla="*/ 2911 w 1120"/>
                <a:gd name="T19" fmla="*/ 8 h 252"/>
                <a:gd name="T20" fmla="*/ 2575 w 1120"/>
                <a:gd name="T21" fmla="*/ 8 h 252"/>
                <a:gd name="T22" fmla="*/ 2211 w 1120"/>
                <a:gd name="T23" fmla="*/ 8 h 252"/>
                <a:gd name="T24" fmla="*/ 1855 w 1120"/>
                <a:gd name="T25" fmla="*/ 8 h 252"/>
                <a:gd name="T26" fmla="*/ 1527 w 1120"/>
                <a:gd name="T27" fmla="*/ 8 h 252"/>
                <a:gd name="T28" fmla="*/ 1227 w 1120"/>
                <a:gd name="T29" fmla="*/ 8 h 252"/>
                <a:gd name="T30" fmla="*/ 949 w 1120"/>
                <a:gd name="T31" fmla="*/ 10 h 252"/>
                <a:gd name="T32" fmla="*/ 712 w 1120"/>
                <a:gd name="T33" fmla="*/ 10 h 252"/>
                <a:gd name="T34" fmla="*/ 503 w 1120"/>
                <a:gd name="T35" fmla="*/ 10 h 252"/>
                <a:gd name="T36" fmla="*/ 324 w 1120"/>
                <a:gd name="T37" fmla="*/ 11 h 252"/>
                <a:gd name="T38" fmla="*/ 184 w 1120"/>
                <a:gd name="T39" fmla="*/ 11 h 252"/>
                <a:gd name="T40" fmla="*/ 78 w 1120"/>
                <a:gd name="T41" fmla="*/ 11 h 252"/>
                <a:gd name="T42" fmla="*/ 23 w 1120"/>
                <a:gd name="T43" fmla="*/ 11 h 252"/>
                <a:gd name="T44" fmla="*/ 0 w 1120"/>
                <a:gd name="T45" fmla="*/ 11 h 252"/>
                <a:gd name="T46" fmla="*/ 0 w 1120"/>
                <a:gd name="T47" fmla="*/ 3 h 252"/>
                <a:gd name="T48" fmla="*/ 2229 w 1120"/>
                <a:gd name="T49" fmla="*/ 0 h 252"/>
                <a:gd name="T50" fmla="*/ 4464 w 1120"/>
                <a:gd name="T51" fmla="*/ 3 h 252"/>
                <a:gd name="T52" fmla="*/ 4464 w 1120"/>
                <a:gd name="T53" fmla="*/ 11 h 252"/>
                <a:gd name="T54" fmla="*/ 4464 w 1120"/>
                <a:gd name="T55" fmla="*/ 11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12" name="Rectangle 6"/>
            <p:cNvSpPr>
              <a:spLocks noChangeArrowheads="1"/>
            </p:cNvSpPr>
            <p:nvPr/>
          </p:nvSpPr>
          <p:spPr bwMode="gray">
            <a:xfrm>
              <a:off x="816" y="2187"/>
              <a:ext cx="1015" cy="301"/>
            </a:xfrm>
            <a:prstGeom prst="rect">
              <a:avLst/>
            </a:prstGeom>
            <a:solidFill>
              <a:schemeClr val="accent5">
                <a:lumMod val="50000"/>
              </a:schemeClr>
            </a:solidFill>
            <a:ln w="9525" algn="ctr">
              <a:noFill/>
              <a:miter lim="800000"/>
              <a:headEnd/>
              <a:tailEnd/>
            </a:ln>
            <a:effectLst/>
          </p:spPr>
          <p:txBody>
            <a:bodyPr wrap="none" lIns="115192" tIns="57596" rIns="115192" bIns="57596" anchor="ctr"/>
            <a:lstStyle/>
            <a:p>
              <a:pPr defTabSz="1152525" eaLnBrk="0" hangingPunct="0">
                <a:defRPr/>
              </a:pPr>
              <a:r>
                <a:rPr lang="en-US" altLang="zh-CN" dirty="0" smtClean="0">
                  <a:solidFill>
                    <a:srgbClr val="FFFFFF"/>
                  </a:solidFill>
                  <a:effectLst>
                    <a:outerShdw blurRad="38100" dist="38100" dir="2700000" algn="tl">
                      <a:srgbClr val="000000"/>
                    </a:outerShdw>
                  </a:effectLst>
                  <a:ea typeface="华文细黑" pitchFamily="2" charset="-122"/>
                </a:rPr>
                <a:t> </a:t>
              </a:r>
              <a:r>
                <a:rPr lang="en-US" altLang="zh-CN" sz="1600" dirty="0" smtClean="0">
                  <a:solidFill>
                    <a:srgbClr val="FFFFFF"/>
                  </a:solidFill>
                  <a:effectLst>
                    <a:outerShdw blurRad="38100" dist="38100" dir="2700000" algn="tl">
                      <a:srgbClr val="000000"/>
                    </a:outerShdw>
                  </a:effectLst>
                  <a:ea typeface="华文细黑" pitchFamily="2" charset="-122"/>
                </a:rPr>
                <a:t>Power </a:t>
              </a:r>
              <a:r>
                <a:rPr lang="en-US" altLang="zh-CN" sz="1600" dirty="0">
                  <a:solidFill>
                    <a:srgbClr val="FFFFFF"/>
                  </a:solidFill>
                  <a:effectLst>
                    <a:outerShdw blurRad="38100" dist="38100" dir="2700000" algn="tl">
                      <a:srgbClr val="000000"/>
                    </a:outerShdw>
                  </a:effectLst>
                  <a:ea typeface="华文细黑" pitchFamily="2" charset="-122"/>
                </a:rPr>
                <a:t>Bus Number</a:t>
              </a:r>
            </a:p>
          </p:txBody>
        </p:sp>
      </p:grpSp>
      <p:grpSp>
        <p:nvGrpSpPr>
          <p:cNvPr id="13" name="Group 7"/>
          <p:cNvGrpSpPr>
            <a:grpSpLocks/>
          </p:cNvGrpSpPr>
          <p:nvPr/>
        </p:nvGrpSpPr>
        <p:grpSpPr bwMode="auto">
          <a:xfrm>
            <a:off x="431855" y="3957511"/>
            <a:ext cx="2110288" cy="674828"/>
            <a:chOff x="816" y="2505"/>
            <a:chExt cx="1212" cy="345"/>
          </a:xfrm>
        </p:grpSpPr>
        <p:sp>
          <p:nvSpPr>
            <p:cNvPr id="14" name="Freeform 8"/>
            <p:cNvSpPr>
              <a:spLocks/>
            </p:cNvSpPr>
            <p:nvPr/>
          </p:nvSpPr>
          <p:spPr bwMode="gray">
            <a:xfrm>
              <a:off x="934" y="2726"/>
              <a:ext cx="971" cy="124"/>
            </a:xfrm>
            <a:custGeom>
              <a:avLst/>
              <a:gdLst>
                <a:gd name="T0" fmla="*/ 4464 w 1120"/>
                <a:gd name="T1" fmla="*/ 11 h 252"/>
                <a:gd name="T2" fmla="*/ 4445 w 1120"/>
                <a:gd name="T3" fmla="*/ 11 h 252"/>
                <a:gd name="T4" fmla="*/ 4380 w 1120"/>
                <a:gd name="T5" fmla="*/ 11 h 252"/>
                <a:gd name="T6" fmla="*/ 4282 w 1120"/>
                <a:gd name="T7" fmla="*/ 11 h 252"/>
                <a:gd name="T8" fmla="*/ 4139 w 1120"/>
                <a:gd name="T9" fmla="*/ 11 h 252"/>
                <a:gd name="T10" fmla="*/ 3955 w 1120"/>
                <a:gd name="T11" fmla="*/ 10 h 252"/>
                <a:gd name="T12" fmla="*/ 3742 w 1120"/>
                <a:gd name="T13" fmla="*/ 10 h 252"/>
                <a:gd name="T14" fmla="*/ 3491 w 1120"/>
                <a:gd name="T15" fmla="*/ 10 h 252"/>
                <a:gd name="T16" fmla="*/ 3209 w 1120"/>
                <a:gd name="T17" fmla="*/ 8 h 252"/>
                <a:gd name="T18" fmla="*/ 2911 w 1120"/>
                <a:gd name="T19" fmla="*/ 8 h 252"/>
                <a:gd name="T20" fmla="*/ 2575 w 1120"/>
                <a:gd name="T21" fmla="*/ 8 h 252"/>
                <a:gd name="T22" fmla="*/ 2211 w 1120"/>
                <a:gd name="T23" fmla="*/ 8 h 252"/>
                <a:gd name="T24" fmla="*/ 1855 w 1120"/>
                <a:gd name="T25" fmla="*/ 8 h 252"/>
                <a:gd name="T26" fmla="*/ 1527 w 1120"/>
                <a:gd name="T27" fmla="*/ 8 h 252"/>
                <a:gd name="T28" fmla="*/ 1227 w 1120"/>
                <a:gd name="T29" fmla="*/ 8 h 252"/>
                <a:gd name="T30" fmla="*/ 949 w 1120"/>
                <a:gd name="T31" fmla="*/ 10 h 252"/>
                <a:gd name="T32" fmla="*/ 712 w 1120"/>
                <a:gd name="T33" fmla="*/ 10 h 252"/>
                <a:gd name="T34" fmla="*/ 503 w 1120"/>
                <a:gd name="T35" fmla="*/ 10 h 252"/>
                <a:gd name="T36" fmla="*/ 324 w 1120"/>
                <a:gd name="T37" fmla="*/ 11 h 252"/>
                <a:gd name="T38" fmla="*/ 184 w 1120"/>
                <a:gd name="T39" fmla="*/ 11 h 252"/>
                <a:gd name="T40" fmla="*/ 78 w 1120"/>
                <a:gd name="T41" fmla="*/ 11 h 252"/>
                <a:gd name="T42" fmla="*/ 23 w 1120"/>
                <a:gd name="T43" fmla="*/ 11 h 252"/>
                <a:gd name="T44" fmla="*/ 0 w 1120"/>
                <a:gd name="T45" fmla="*/ 11 h 252"/>
                <a:gd name="T46" fmla="*/ 0 w 1120"/>
                <a:gd name="T47" fmla="*/ 3 h 252"/>
                <a:gd name="T48" fmla="*/ 2229 w 1120"/>
                <a:gd name="T49" fmla="*/ 0 h 252"/>
                <a:gd name="T50" fmla="*/ 4464 w 1120"/>
                <a:gd name="T51" fmla="*/ 3 h 252"/>
                <a:gd name="T52" fmla="*/ 4464 w 1120"/>
                <a:gd name="T53" fmla="*/ 11 h 252"/>
                <a:gd name="T54" fmla="*/ 4464 w 1120"/>
                <a:gd name="T55" fmla="*/ 11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15" name="Rectangle 9"/>
            <p:cNvSpPr>
              <a:spLocks noChangeArrowheads="1"/>
            </p:cNvSpPr>
            <p:nvPr/>
          </p:nvSpPr>
          <p:spPr bwMode="gray">
            <a:xfrm>
              <a:off x="816" y="2505"/>
              <a:ext cx="1212" cy="266"/>
            </a:xfrm>
            <a:prstGeom prst="rect">
              <a:avLst/>
            </a:prstGeom>
            <a:solidFill>
              <a:schemeClr val="accent6">
                <a:lumMod val="60000"/>
                <a:lumOff val="40000"/>
              </a:schemeClr>
            </a:solidFill>
            <a:ln w="9525" algn="ctr">
              <a:noFill/>
              <a:miter lim="800000"/>
              <a:headEnd/>
              <a:tailEnd/>
            </a:ln>
            <a:effectLst/>
          </p:spPr>
          <p:txBody>
            <a:bodyPr wrap="none" lIns="115192" tIns="57596" rIns="115192" bIns="57596" anchor="ctr"/>
            <a:lstStyle/>
            <a:p>
              <a:pPr defTabSz="1152525" eaLnBrk="0" hangingPunct="0">
                <a:defRPr/>
              </a:pPr>
              <a:r>
                <a:rPr lang="en-US" altLang="zh-CN" sz="1600" dirty="0" smtClean="0">
                  <a:solidFill>
                    <a:srgbClr val="FFFFFF"/>
                  </a:solidFill>
                  <a:effectLst>
                    <a:outerShdw blurRad="38100" dist="38100" dir="2700000" algn="tl">
                      <a:srgbClr val="000000"/>
                    </a:outerShdw>
                  </a:effectLst>
                  <a:ea typeface="华文细黑" pitchFamily="2" charset="-122"/>
                </a:rPr>
                <a:t>  Voltage </a:t>
              </a:r>
              <a:r>
                <a:rPr lang="en-US" altLang="zh-CN" sz="1600" dirty="0">
                  <a:solidFill>
                    <a:srgbClr val="FFFFFF"/>
                  </a:solidFill>
                  <a:effectLst>
                    <a:outerShdw blurRad="38100" dist="38100" dir="2700000" algn="tl">
                      <a:srgbClr val="000000"/>
                    </a:outerShdw>
                  </a:effectLst>
                  <a:ea typeface="华文细黑" pitchFamily="2" charset="-122"/>
                </a:rPr>
                <a:t>of Power Bus</a:t>
              </a:r>
            </a:p>
          </p:txBody>
        </p:sp>
      </p:grpSp>
      <p:grpSp>
        <p:nvGrpSpPr>
          <p:cNvPr id="16" name="Group 10"/>
          <p:cNvGrpSpPr>
            <a:grpSpLocks/>
          </p:cNvGrpSpPr>
          <p:nvPr/>
        </p:nvGrpSpPr>
        <p:grpSpPr bwMode="auto">
          <a:xfrm>
            <a:off x="920002" y="4771397"/>
            <a:ext cx="1794776" cy="698413"/>
            <a:chOff x="766" y="2309"/>
            <a:chExt cx="1058" cy="347"/>
          </a:xfrm>
        </p:grpSpPr>
        <p:sp>
          <p:nvSpPr>
            <p:cNvPr id="17" name="Freeform 11"/>
            <p:cNvSpPr>
              <a:spLocks/>
            </p:cNvSpPr>
            <p:nvPr/>
          </p:nvSpPr>
          <p:spPr bwMode="gray">
            <a:xfrm>
              <a:off x="846" y="2520"/>
              <a:ext cx="878" cy="136"/>
            </a:xfrm>
            <a:custGeom>
              <a:avLst/>
              <a:gdLst>
                <a:gd name="T0" fmla="*/ 4464 w 1120"/>
                <a:gd name="T1" fmla="*/ 11 h 252"/>
                <a:gd name="T2" fmla="*/ 4445 w 1120"/>
                <a:gd name="T3" fmla="*/ 11 h 252"/>
                <a:gd name="T4" fmla="*/ 4380 w 1120"/>
                <a:gd name="T5" fmla="*/ 11 h 252"/>
                <a:gd name="T6" fmla="*/ 4282 w 1120"/>
                <a:gd name="T7" fmla="*/ 11 h 252"/>
                <a:gd name="T8" fmla="*/ 4139 w 1120"/>
                <a:gd name="T9" fmla="*/ 11 h 252"/>
                <a:gd name="T10" fmla="*/ 3955 w 1120"/>
                <a:gd name="T11" fmla="*/ 10 h 252"/>
                <a:gd name="T12" fmla="*/ 3742 w 1120"/>
                <a:gd name="T13" fmla="*/ 10 h 252"/>
                <a:gd name="T14" fmla="*/ 3491 w 1120"/>
                <a:gd name="T15" fmla="*/ 10 h 252"/>
                <a:gd name="T16" fmla="*/ 3209 w 1120"/>
                <a:gd name="T17" fmla="*/ 8 h 252"/>
                <a:gd name="T18" fmla="*/ 2911 w 1120"/>
                <a:gd name="T19" fmla="*/ 8 h 252"/>
                <a:gd name="T20" fmla="*/ 2575 w 1120"/>
                <a:gd name="T21" fmla="*/ 8 h 252"/>
                <a:gd name="T22" fmla="*/ 2211 w 1120"/>
                <a:gd name="T23" fmla="*/ 8 h 252"/>
                <a:gd name="T24" fmla="*/ 1855 w 1120"/>
                <a:gd name="T25" fmla="*/ 8 h 252"/>
                <a:gd name="T26" fmla="*/ 1527 w 1120"/>
                <a:gd name="T27" fmla="*/ 8 h 252"/>
                <a:gd name="T28" fmla="*/ 1227 w 1120"/>
                <a:gd name="T29" fmla="*/ 8 h 252"/>
                <a:gd name="T30" fmla="*/ 949 w 1120"/>
                <a:gd name="T31" fmla="*/ 10 h 252"/>
                <a:gd name="T32" fmla="*/ 712 w 1120"/>
                <a:gd name="T33" fmla="*/ 10 h 252"/>
                <a:gd name="T34" fmla="*/ 503 w 1120"/>
                <a:gd name="T35" fmla="*/ 10 h 252"/>
                <a:gd name="T36" fmla="*/ 324 w 1120"/>
                <a:gd name="T37" fmla="*/ 11 h 252"/>
                <a:gd name="T38" fmla="*/ 184 w 1120"/>
                <a:gd name="T39" fmla="*/ 11 h 252"/>
                <a:gd name="T40" fmla="*/ 78 w 1120"/>
                <a:gd name="T41" fmla="*/ 11 h 252"/>
                <a:gd name="T42" fmla="*/ 23 w 1120"/>
                <a:gd name="T43" fmla="*/ 11 h 252"/>
                <a:gd name="T44" fmla="*/ 0 w 1120"/>
                <a:gd name="T45" fmla="*/ 11 h 252"/>
                <a:gd name="T46" fmla="*/ 0 w 1120"/>
                <a:gd name="T47" fmla="*/ 3 h 252"/>
                <a:gd name="T48" fmla="*/ 2229 w 1120"/>
                <a:gd name="T49" fmla="*/ 0 h 252"/>
                <a:gd name="T50" fmla="*/ 4464 w 1120"/>
                <a:gd name="T51" fmla="*/ 3 h 252"/>
                <a:gd name="T52" fmla="*/ 4464 w 1120"/>
                <a:gd name="T53" fmla="*/ 11 h 252"/>
                <a:gd name="T54" fmla="*/ 4464 w 1120"/>
                <a:gd name="T55" fmla="*/ 11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18" name="Rectangle 12"/>
            <p:cNvSpPr>
              <a:spLocks noChangeArrowheads="1"/>
            </p:cNvSpPr>
            <p:nvPr/>
          </p:nvSpPr>
          <p:spPr bwMode="gray">
            <a:xfrm>
              <a:off x="766" y="2309"/>
              <a:ext cx="1058" cy="263"/>
            </a:xfrm>
            <a:prstGeom prst="rect">
              <a:avLst/>
            </a:prstGeom>
            <a:solidFill>
              <a:schemeClr val="accent4">
                <a:lumMod val="50000"/>
                <a:lumOff val="50000"/>
              </a:schemeClr>
            </a:solidFill>
            <a:ln w="9525" algn="ctr">
              <a:noFill/>
              <a:miter lim="800000"/>
              <a:headEnd/>
              <a:tailEnd/>
            </a:ln>
            <a:effectLst/>
          </p:spPr>
          <p:txBody>
            <a:bodyPr wrap="none" lIns="115192" tIns="57596" rIns="115192" bIns="57596" anchor="ctr"/>
            <a:lstStyle/>
            <a:p>
              <a:pPr defTabSz="1152525" eaLnBrk="0" hangingPunct="0">
                <a:defRPr/>
              </a:pPr>
              <a:r>
                <a:rPr lang="en-US" altLang="zh-CN" dirty="0" smtClean="0">
                  <a:solidFill>
                    <a:schemeClr val="bg1"/>
                  </a:solidFill>
                  <a:effectLst>
                    <a:outerShdw blurRad="38100" dist="38100" dir="2700000" algn="tl">
                      <a:srgbClr val="000000"/>
                    </a:outerShdw>
                  </a:effectLst>
                  <a:ea typeface="华文细黑" pitchFamily="2" charset="-122"/>
                </a:rPr>
                <a:t>   </a:t>
              </a:r>
              <a:r>
                <a:rPr lang="en-US" altLang="zh-CN" sz="1800" dirty="0" smtClean="0">
                  <a:solidFill>
                    <a:srgbClr val="FFFFFF"/>
                  </a:solidFill>
                  <a:effectLst>
                    <a:outerShdw blurRad="38100" dist="38100" dir="2700000" algn="tl">
                      <a:srgbClr val="000000"/>
                    </a:outerShdw>
                  </a:effectLst>
                  <a:ea typeface="华文细黑" pitchFamily="2" charset="-122"/>
                </a:rPr>
                <a:t>Output  power</a:t>
              </a:r>
              <a:endParaRPr lang="en-US" altLang="zh-CN" sz="1800" dirty="0">
                <a:solidFill>
                  <a:srgbClr val="FFFFFF"/>
                </a:solidFill>
                <a:effectLst>
                  <a:outerShdw blurRad="38100" dist="38100" dir="2700000" algn="tl">
                    <a:srgbClr val="000000"/>
                  </a:outerShdw>
                </a:effectLst>
                <a:ea typeface="华文细黑" pitchFamily="2" charset="-122"/>
              </a:endParaRPr>
            </a:p>
          </p:txBody>
        </p:sp>
      </p:grpSp>
      <p:sp>
        <p:nvSpPr>
          <p:cNvPr id="19" name="Text Box 22"/>
          <p:cNvSpPr txBox="1">
            <a:spLocks noChangeArrowheads="1"/>
          </p:cNvSpPr>
          <p:nvPr/>
        </p:nvSpPr>
        <p:spPr bwMode="auto">
          <a:xfrm>
            <a:off x="3000364" y="2143116"/>
            <a:ext cx="5803833" cy="454871"/>
          </a:xfrm>
          <a:prstGeom prst="rect">
            <a:avLst/>
          </a:prstGeom>
          <a:noFill/>
          <a:ln w="9525" algn="ctr">
            <a:noFill/>
            <a:miter lim="800000"/>
            <a:headEnd/>
            <a:tailEnd/>
          </a:ln>
        </p:spPr>
        <p:txBody>
          <a:bodyPr wrap="square" lIns="115192" tIns="57596" rIns="115192" bIns="57596">
            <a:spAutoFit/>
          </a:bodyPr>
          <a:lstStyle/>
          <a:p>
            <a:pPr algn="l">
              <a:buFont typeface="Arial" pitchFamily="34" charset="0"/>
              <a:buChar char="•"/>
            </a:pPr>
            <a:r>
              <a:rPr lang="en-US" altLang="zh-CN" sz="2200" dirty="0">
                <a:solidFill>
                  <a:schemeClr val="tx1"/>
                </a:solidFill>
              </a:rPr>
              <a:t>  </a:t>
            </a:r>
            <a:r>
              <a:rPr lang="en-US" altLang="zh-CN" sz="2200" dirty="0" smtClean="0">
                <a:solidFill>
                  <a:schemeClr val="tx1"/>
                </a:solidFill>
              </a:rPr>
              <a:t>    </a:t>
            </a:r>
            <a:r>
              <a:rPr lang="en-US" altLang="zh-CN" sz="2200" dirty="0" smtClean="0">
                <a:solidFill>
                  <a:srgbClr val="B010A8"/>
                </a:solidFill>
              </a:rPr>
              <a:t>A</a:t>
            </a:r>
            <a:r>
              <a:rPr lang="en-US" altLang="zh-CN" sz="2200" b="0" dirty="0" smtClean="0">
                <a:solidFill>
                  <a:srgbClr val="B010A8"/>
                </a:solidFill>
              </a:rPr>
              <a:t>  </a:t>
            </a:r>
            <a:r>
              <a:rPr lang="en-US" altLang="zh-CN" sz="2200" i="1" dirty="0">
                <a:solidFill>
                  <a:srgbClr val="B010A8"/>
                </a:solidFill>
              </a:rPr>
              <a:t>single primary power bus </a:t>
            </a:r>
            <a:r>
              <a:rPr lang="en-US" altLang="zh-CN" sz="2200" b="0" dirty="0">
                <a:solidFill>
                  <a:schemeClr val="tx1"/>
                </a:solidFill>
              </a:rPr>
              <a:t>is configured.</a:t>
            </a:r>
          </a:p>
        </p:txBody>
      </p:sp>
      <p:sp>
        <p:nvSpPr>
          <p:cNvPr id="20" name="Text Box 23"/>
          <p:cNvSpPr txBox="1">
            <a:spLocks noChangeArrowheads="1"/>
          </p:cNvSpPr>
          <p:nvPr/>
        </p:nvSpPr>
        <p:spPr bwMode="auto">
          <a:xfrm>
            <a:off x="2990845" y="3980761"/>
            <a:ext cx="5637978" cy="881783"/>
          </a:xfrm>
          <a:prstGeom prst="rect">
            <a:avLst/>
          </a:prstGeom>
          <a:noFill/>
          <a:ln w="9525" algn="ctr">
            <a:noFill/>
            <a:miter lim="800000"/>
            <a:headEnd/>
            <a:tailEnd/>
          </a:ln>
        </p:spPr>
        <p:txBody>
          <a:bodyPr wrap="square" lIns="115192" tIns="57596" rIns="115192" bIns="57596">
            <a:spAutoFit/>
          </a:bodyPr>
          <a:lstStyle/>
          <a:p>
            <a:pPr marL="177800" indent="-177800" algn="l" defTabSz="1152525">
              <a:spcBef>
                <a:spcPct val="50000"/>
              </a:spcBef>
              <a:buFont typeface="Arial" pitchFamily="34" charset="0"/>
              <a:buChar char="•"/>
            </a:pPr>
            <a:r>
              <a:rPr lang="en-US" altLang="zh-CN" sz="2400" i="1" dirty="0" smtClean="0">
                <a:solidFill>
                  <a:srgbClr val="B010A8"/>
                </a:solidFill>
              </a:rPr>
              <a:t>   </a:t>
            </a:r>
            <a:r>
              <a:rPr lang="en-US" altLang="zh-CN" sz="2200" i="1" dirty="0" smtClean="0"/>
              <a:t>Primary power bus:  </a:t>
            </a:r>
            <a:r>
              <a:rPr lang="en-US" altLang="zh-CN" sz="2200" i="1" dirty="0" smtClean="0">
                <a:solidFill>
                  <a:srgbClr val="B010A8"/>
                </a:solidFill>
              </a:rPr>
              <a:t>+23V ~ +29V</a:t>
            </a:r>
            <a:endParaRPr lang="en-US" altLang="zh-CN" sz="2200" i="1" dirty="0">
              <a:solidFill>
                <a:srgbClr val="B010A8"/>
              </a:solidFill>
            </a:endParaRPr>
          </a:p>
          <a:p>
            <a:pPr marL="177800" indent="-177800" defTabSz="1152525">
              <a:lnSpc>
                <a:spcPct val="60000"/>
              </a:lnSpc>
              <a:spcBef>
                <a:spcPct val="50000"/>
              </a:spcBef>
            </a:pPr>
            <a:endParaRPr lang="en-US" altLang="zh-CN" sz="2200" b="0" dirty="0">
              <a:solidFill>
                <a:srgbClr val="292929"/>
              </a:solidFill>
              <a:ea typeface="华文细黑" pitchFamily="2" charset="-122"/>
            </a:endParaRPr>
          </a:p>
        </p:txBody>
      </p:sp>
      <p:sp>
        <p:nvSpPr>
          <p:cNvPr id="21" name="Text Box 24"/>
          <p:cNvSpPr txBox="1">
            <a:spLocks noChangeArrowheads="1"/>
          </p:cNvSpPr>
          <p:nvPr/>
        </p:nvSpPr>
        <p:spPr bwMode="auto">
          <a:xfrm>
            <a:off x="2995930" y="4817006"/>
            <a:ext cx="4050859" cy="722637"/>
          </a:xfrm>
          <a:prstGeom prst="rect">
            <a:avLst/>
          </a:prstGeom>
          <a:noFill/>
          <a:ln w="9525" algn="ctr">
            <a:noFill/>
            <a:miter lim="800000"/>
            <a:headEnd/>
            <a:tailEnd/>
          </a:ln>
        </p:spPr>
        <p:txBody>
          <a:bodyPr wrap="none" lIns="115192" tIns="57596" rIns="115192" bIns="57596">
            <a:spAutoFit/>
          </a:bodyPr>
          <a:lstStyle/>
          <a:p>
            <a:pPr>
              <a:buFont typeface="Arial" pitchFamily="34" charset="0"/>
              <a:buChar char="•"/>
            </a:pPr>
            <a:r>
              <a:rPr lang="en-US" altLang="zh-CN" sz="2200" b="0" dirty="0" smtClean="0">
                <a:solidFill>
                  <a:schemeClr val="tx1"/>
                </a:solidFill>
              </a:rPr>
              <a:t>     </a:t>
            </a:r>
            <a:r>
              <a:rPr lang="en-US" altLang="zh-CN" sz="2200" i="1" dirty="0" smtClean="0">
                <a:solidFill>
                  <a:srgbClr val="B010A8"/>
                </a:solidFill>
              </a:rPr>
              <a:t>151W</a:t>
            </a:r>
            <a:r>
              <a:rPr lang="en-US" altLang="zh-CN" sz="2200" b="0" dirty="0" smtClean="0">
                <a:solidFill>
                  <a:schemeClr val="tx1"/>
                </a:solidFill>
              </a:rPr>
              <a:t> </a:t>
            </a:r>
            <a:r>
              <a:rPr lang="en-US" altLang="zh-CN" sz="2200" i="1" dirty="0" smtClean="0"/>
              <a:t>at the end of life (EOL)</a:t>
            </a:r>
            <a:endParaRPr lang="en-US" altLang="zh-CN" sz="2200" i="1" dirty="0"/>
          </a:p>
          <a:p>
            <a:pPr>
              <a:lnSpc>
                <a:spcPct val="60000"/>
              </a:lnSpc>
              <a:spcBef>
                <a:spcPct val="50000"/>
              </a:spcBef>
            </a:pPr>
            <a:endParaRPr lang="en-US" altLang="zh-CN" sz="1400" b="0" dirty="0">
              <a:solidFill>
                <a:srgbClr val="292929"/>
              </a:solidFill>
              <a:ea typeface="华文细黑" pitchFamily="2" charset="-122"/>
            </a:endParaRPr>
          </a:p>
        </p:txBody>
      </p:sp>
      <p:grpSp>
        <p:nvGrpSpPr>
          <p:cNvPr id="22" name="Group 10"/>
          <p:cNvGrpSpPr>
            <a:grpSpLocks/>
          </p:cNvGrpSpPr>
          <p:nvPr/>
        </p:nvGrpSpPr>
        <p:grpSpPr bwMode="auto">
          <a:xfrm>
            <a:off x="977152" y="3028322"/>
            <a:ext cx="1794776" cy="698413"/>
            <a:chOff x="766" y="2309"/>
            <a:chExt cx="1058" cy="347"/>
          </a:xfrm>
        </p:grpSpPr>
        <p:sp>
          <p:nvSpPr>
            <p:cNvPr id="23" name="Freeform 11"/>
            <p:cNvSpPr>
              <a:spLocks/>
            </p:cNvSpPr>
            <p:nvPr/>
          </p:nvSpPr>
          <p:spPr bwMode="gray">
            <a:xfrm>
              <a:off x="846" y="2520"/>
              <a:ext cx="878" cy="136"/>
            </a:xfrm>
            <a:custGeom>
              <a:avLst/>
              <a:gdLst>
                <a:gd name="T0" fmla="*/ 4464 w 1120"/>
                <a:gd name="T1" fmla="*/ 11 h 252"/>
                <a:gd name="T2" fmla="*/ 4445 w 1120"/>
                <a:gd name="T3" fmla="*/ 11 h 252"/>
                <a:gd name="T4" fmla="*/ 4380 w 1120"/>
                <a:gd name="T5" fmla="*/ 11 h 252"/>
                <a:gd name="T6" fmla="*/ 4282 w 1120"/>
                <a:gd name="T7" fmla="*/ 11 h 252"/>
                <a:gd name="T8" fmla="*/ 4139 w 1120"/>
                <a:gd name="T9" fmla="*/ 11 h 252"/>
                <a:gd name="T10" fmla="*/ 3955 w 1120"/>
                <a:gd name="T11" fmla="*/ 10 h 252"/>
                <a:gd name="T12" fmla="*/ 3742 w 1120"/>
                <a:gd name="T13" fmla="*/ 10 h 252"/>
                <a:gd name="T14" fmla="*/ 3491 w 1120"/>
                <a:gd name="T15" fmla="*/ 10 h 252"/>
                <a:gd name="T16" fmla="*/ 3209 w 1120"/>
                <a:gd name="T17" fmla="*/ 8 h 252"/>
                <a:gd name="T18" fmla="*/ 2911 w 1120"/>
                <a:gd name="T19" fmla="*/ 8 h 252"/>
                <a:gd name="T20" fmla="*/ 2575 w 1120"/>
                <a:gd name="T21" fmla="*/ 8 h 252"/>
                <a:gd name="T22" fmla="*/ 2211 w 1120"/>
                <a:gd name="T23" fmla="*/ 8 h 252"/>
                <a:gd name="T24" fmla="*/ 1855 w 1120"/>
                <a:gd name="T25" fmla="*/ 8 h 252"/>
                <a:gd name="T26" fmla="*/ 1527 w 1120"/>
                <a:gd name="T27" fmla="*/ 8 h 252"/>
                <a:gd name="T28" fmla="*/ 1227 w 1120"/>
                <a:gd name="T29" fmla="*/ 8 h 252"/>
                <a:gd name="T30" fmla="*/ 949 w 1120"/>
                <a:gd name="T31" fmla="*/ 10 h 252"/>
                <a:gd name="T32" fmla="*/ 712 w 1120"/>
                <a:gd name="T33" fmla="*/ 10 h 252"/>
                <a:gd name="T34" fmla="*/ 503 w 1120"/>
                <a:gd name="T35" fmla="*/ 10 h 252"/>
                <a:gd name="T36" fmla="*/ 324 w 1120"/>
                <a:gd name="T37" fmla="*/ 11 h 252"/>
                <a:gd name="T38" fmla="*/ 184 w 1120"/>
                <a:gd name="T39" fmla="*/ 11 h 252"/>
                <a:gd name="T40" fmla="*/ 78 w 1120"/>
                <a:gd name="T41" fmla="*/ 11 h 252"/>
                <a:gd name="T42" fmla="*/ 23 w 1120"/>
                <a:gd name="T43" fmla="*/ 11 h 252"/>
                <a:gd name="T44" fmla="*/ 0 w 1120"/>
                <a:gd name="T45" fmla="*/ 11 h 252"/>
                <a:gd name="T46" fmla="*/ 0 w 1120"/>
                <a:gd name="T47" fmla="*/ 3 h 252"/>
                <a:gd name="T48" fmla="*/ 2229 w 1120"/>
                <a:gd name="T49" fmla="*/ 0 h 252"/>
                <a:gd name="T50" fmla="*/ 4464 w 1120"/>
                <a:gd name="T51" fmla="*/ 3 h 252"/>
                <a:gd name="T52" fmla="*/ 4464 w 1120"/>
                <a:gd name="T53" fmla="*/ 11 h 252"/>
                <a:gd name="T54" fmla="*/ 4464 w 1120"/>
                <a:gd name="T55" fmla="*/ 11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24" name="Rectangle 12"/>
            <p:cNvSpPr>
              <a:spLocks noChangeArrowheads="1"/>
            </p:cNvSpPr>
            <p:nvPr/>
          </p:nvSpPr>
          <p:spPr bwMode="gray">
            <a:xfrm>
              <a:off x="766" y="2309"/>
              <a:ext cx="1058" cy="263"/>
            </a:xfrm>
            <a:prstGeom prst="rect">
              <a:avLst/>
            </a:prstGeom>
            <a:solidFill>
              <a:schemeClr val="accent2">
                <a:lumMod val="60000"/>
                <a:lumOff val="40000"/>
              </a:schemeClr>
            </a:solidFill>
            <a:ln w="9525" algn="ctr">
              <a:noFill/>
              <a:miter lim="800000"/>
              <a:headEnd/>
              <a:tailEnd/>
            </a:ln>
            <a:effectLst/>
          </p:spPr>
          <p:txBody>
            <a:bodyPr wrap="none" lIns="115192" tIns="57596" rIns="115192" bIns="57596" anchor="ctr"/>
            <a:lstStyle/>
            <a:p>
              <a:pPr defTabSz="1152525" eaLnBrk="0" hangingPunct="0">
                <a:defRPr/>
              </a:pPr>
              <a:r>
                <a:rPr lang="en-US" altLang="zh-CN" dirty="0" smtClean="0">
                  <a:solidFill>
                    <a:schemeClr val="bg1"/>
                  </a:solidFill>
                  <a:effectLst>
                    <a:outerShdw blurRad="38100" dist="38100" dir="2700000" algn="tl">
                      <a:srgbClr val="000000"/>
                    </a:outerShdw>
                  </a:effectLst>
                  <a:ea typeface="华文细黑" pitchFamily="2" charset="-122"/>
                </a:rPr>
                <a:t>   </a:t>
              </a:r>
              <a:r>
                <a:rPr lang="en-US" altLang="zh-CN" sz="1800" dirty="0" smtClean="0">
                  <a:solidFill>
                    <a:srgbClr val="FFFFFF"/>
                  </a:solidFill>
                  <a:effectLst>
                    <a:outerShdw blurRad="38100" dist="38100" dir="2700000" algn="tl">
                      <a:srgbClr val="000000"/>
                    </a:outerShdw>
                  </a:effectLst>
                  <a:ea typeface="华文细黑" pitchFamily="2" charset="-122"/>
                </a:rPr>
                <a:t>Type of Voltage</a:t>
              </a:r>
              <a:endParaRPr lang="en-US" altLang="zh-CN" sz="1800" dirty="0">
                <a:solidFill>
                  <a:srgbClr val="FFFFFF"/>
                </a:solidFill>
                <a:effectLst>
                  <a:outerShdw blurRad="38100" dist="38100" dir="2700000" algn="tl">
                    <a:srgbClr val="000000"/>
                  </a:outerShdw>
                </a:effectLst>
                <a:ea typeface="华文细黑" pitchFamily="2" charset="-122"/>
              </a:endParaRPr>
            </a:p>
          </p:txBody>
        </p:sp>
      </p:grpSp>
      <p:sp>
        <p:nvSpPr>
          <p:cNvPr id="25" name="Text Box 23"/>
          <p:cNvSpPr txBox="1">
            <a:spLocks noChangeArrowheads="1"/>
          </p:cNvSpPr>
          <p:nvPr/>
        </p:nvSpPr>
        <p:spPr bwMode="auto">
          <a:xfrm>
            <a:off x="2990845" y="3028261"/>
            <a:ext cx="5637978" cy="881783"/>
          </a:xfrm>
          <a:prstGeom prst="rect">
            <a:avLst/>
          </a:prstGeom>
          <a:noFill/>
          <a:ln w="9525" algn="ctr">
            <a:noFill/>
            <a:miter lim="800000"/>
            <a:headEnd/>
            <a:tailEnd/>
          </a:ln>
        </p:spPr>
        <p:txBody>
          <a:bodyPr wrap="square" lIns="115192" tIns="57596" rIns="115192" bIns="57596">
            <a:spAutoFit/>
          </a:bodyPr>
          <a:lstStyle/>
          <a:p>
            <a:pPr marL="177800" indent="-177800" defTabSz="1152525">
              <a:spcBef>
                <a:spcPct val="50000"/>
              </a:spcBef>
              <a:buFont typeface="Arial" pitchFamily="34" charset="0"/>
              <a:buChar char="•"/>
            </a:pPr>
            <a:r>
              <a:rPr lang="en-US" altLang="zh-CN" sz="2400" i="1" dirty="0" smtClean="0">
                <a:solidFill>
                  <a:srgbClr val="B010A8"/>
                </a:solidFill>
              </a:rPr>
              <a:t>   </a:t>
            </a:r>
            <a:r>
              <a:rPr lang="en-US" altLang="zh-CN" sz="2400" i="1" dirty="0" smtClean="0"/>
              <a:t>Non-regulated power bus</a:t>
            </a:r>
            <a:endParaRPr lang="en-US" altLang="zh-CN" sz="2200" i="1" dirty="0">
              <a:solidFill>
                <a:srgbClr val="B010A8"/>
              </a:solidFill>
            </a:endParaRPr>
          </a:p>
          <a:p>
            <a:pPr marL="177800" indent="-177800" defTabSz="1152525">
              <a:lnSpc>
                <a:spcPct val="60000"/>
              </a:lnSpc>
              <a:spcBef>
                <a:spcPct val="50000"/>
              </a:spcBef>
            </a:pPr>
            <a:endParaRPr lang="en-US" altLang="zh-CN" sz="2200" b="0" dirty="0">
              <a:solidFill>
                <a:srgbClr val="292929"/>
              </a:solidFill>
              <a:ea typeface="华文细黑" pitchFamily="2" charset="-122"/>
            </a:endParaRPr>
          </a:p>
        </p:txBody>
      </p:sp>
      <p:sp>
        <p:nvSpPr>
          <p:cNvPr id="46" name="矩形 45"/>
          <p:cNvSpPr/>
          <p:nvPr/>
        </p:nvSpPr>
        <p:spPr>
          <a:xfrm>
            <a:off x="2285984" y="428604"/>
            <a:ext cx="4730782" cy="707886"/>
          </a:xfrm>
          <a:prstGeom prst="rect">
            <a:avLst/>
          </a:prstGeom>
        </p:spPr>
        <p:txBody>
          <a:bodyPr wrap="none">
            <a:spAutoFit/>
          </a:bodyPr>
          <a:lstStyle/>
          <a:p>
            <a:r>
              <a:rPr lang="en-US" altLang="zh-CN" sz="4000" dirty="0" smtClean="0">
                <a:solidFill>
                  <a:srgbClr val="FFFFCC"/>
                </a:solidFill>
                <a:latin typeface="Impact" pitchFamily="34" charset="0"/>
                <a:ea typeface="方正大黑简体" pitchFamily="2" charset="-122"/>
              </a:rPr>
              <a:t>Concept and Function</a:t>
            </a:r>
            <a:endParaRPr lang="zh-CN" altLang="en-US" sz="4000" dirty="0">
              <a:solidFill>
                <a:srgbClr val="FFFFCC"/>
              </a:solidFill>
              <a:latin typeface="Impact" pitchFamily="34" charset="0"/>
              <a:ea typeface="方正大黑简体"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a:t>
            </a:fld>
            <a:r>
              <a:rPr lang="zh-CN" altLang="en-US" smtClean="0"/>
              <a:t> </a:t>
            </a:r>
            <a:endParaRPr lang="zh-CN" altLang="en-US" dirty="0">
              <a:latin typeface="微软雅黑" pitchFamily="34" charset="-122"/>
              <a:ea typeface="微软雅黑" pitchFamily="34" charset="-122"/>
            </a:endParaRPr>
          </a:p>
        </p:txBody>
      </p:sp>
      <p:pic>
        <p:nvPicPr>
          <p:cNvPr id="6" name="Picture 1" descr="D:\resources for ppt\sat5.jpg"/>
          <p:cNvPicPr>
            <a:picLocks noChangeAspect="1" noChangeArrowheads="1"/>
          </p:cNvPicPr>
          <p:nvPr/>
        </p:nvPicPr>
        <p:blipFill>
          <a:blip r:embed="rId2" cstate="email"/>
          <a:stretch>
            <a:fillRect/>
          </a:stretch>
        </p:blipFill>
        <p:spPr bwMode="auto">
          <a:xfrm>
            <a:off x="1211104" y="3539733"/>
            <a:ext cx="381198"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pic>
        <p:nvPicPr>
          <p:cNvPr id="7" name="Picture 2" descr="D:\resources for ppt\sino6_W020100905714056942648.jpg"/>
          <p:cNvPicPr>
            <a:picLocks noChangeAspect="1" noChangeArrowheads="1"/>
          </p:cNvPicPr>
          <p:nvPr/>
        </p:nvPicPr>
        <p:blipFill>
          <a:blip r:embed="rId3" cstate="email"/>
          <a:stretch>
            <a:fillRect/>
          </a:stretch>
        </p:blipFill>
        <p:spPr bwMode="auto">
          <a:xfrm>
            <a:off x="1175948" y="2666967"/>
            <a:ext cx="426409" cy="401942"/>
          </a:xfrm>
          <a:prstGeom prst="ellipse">
            <a:avLst/>
          </a:prstGeom>
          <a:ln w="136525" cap="rnd">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8" name="单圆角矩形 7"/>
          <p:cNvSpPr/>
          <p:nvPr/>
        </p:nvSpPr>
        <p:spPr>
          <a:xfrm>
            <a:off x="1857356" y="1785926"/>
            <a:ext cx="5706406" cy="486054"/>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spcBef>
                <a:spcPct val="50000"/>
              </a:spcBef>
              <a:buClr>
                <a:srgbClr val="FF0000"/>
              </a:buClr>
              <a:defRPr/>
            </a:pPr>
            <a:r>
              <a:rPr lang="en-US" altLang="zh-CN" sz="3200" i="1" dirty="0" smtClean="0">
                <a:solidFill>
                  <a:schemeClr val="lt1"/>
                </a:solidFill>
              </a:rPr>
              <a:t>Concept and Function</a:t>
            </a:r>
            <a:endParaRPr lang="en-US" altLang="zh-CN" sz="3200" i="1" dirty="0">
              <a:solidFill>
                <a:schemeClr val="lt1"/>
              </a:solidFill>
            </a:endParaRPr>
          </a:p>
        </p:txBody>
      </p:sp>
      <p:sp>
        <p:nvSpPr>
          <p:cNvPr id="9" name="单圆角矩形 8"/>
          <p:cNvSpPr/>
          <p:nvPr/>
        </p:nvSpPr>
        <p:spPr>
          <a:xfrm>
            <a:off x="1857355" y="3473083"/>
            <a:ext cx="5678905" cy="48696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3200" i="1" dirty="0" smtClean="0">
                <a:solidFill>
                  <a:schemeClr val="lt1"/>
                </a:solidFill>
              </a:rPr>
              <a:t>Work principles of PSS</a:t>
            </a:r>
          </a:p>
        </p:txBody>
      </p:sp>
      <p:pic>
        <p:nvPicPr>
          <p:cNvPr id="10" name="Picture 1" descr="D:\resources for ppt\sat5.jpg"/>
          <p:cNvPicPr>
            <a:picLocks noChangeAspect="1" noChangeArrowheads="1"/>
          </p:cNvPicPr>
          <p:nvPr/>
        </p:nvPicPr>
        <p:blipFill>
          <a:blip r:embed="rId2" cstate="email"/>
          <a:stretch>
            <a:fillRect/>
          </a:stretch>
        </p:blipFill>
        <p:spPr bwMode="auto">
          <a:xfrm>
            <a:off x="1212249" y="4377321"/>
            <a:ext cx="389913"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1" name="单圆角矩形 10"/>
          <p:cNvSpPr/>
          <p:nvPr/>
        </p:nvSpPr>
        <p:spPr>
          <a:xfrm>
            <a:off x="1858505" y="4317117"/>
            <a:ext cx="5685781" cy="48577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3200" i="1" dirty="0" smtClean="0">
                <a:solidFill>
                  <a:schemeClr val="lt1"/>
                </a:solidFill>
              </a:rPr>
              <a:t>Power balance analysis</a:t>
            </a:r>
            <a:endParaRPr lang="en-US" altLang="zh-CN" sz="3200" i="1" dirty="0">
              <a:solidFill>
                <a:schemeClr val="lt1"/>
              </a:solidFill>
            </a:endParaRPr>
          </a:p>
        </p:txBody>
      </p:sp>
      <p:sp>
        <p:nvSpPr>
          <p:cNvPr id="12" name="矩形 11"/>
          <p:cNvSpPr/>
          <p:nvPr/>
        </p:nvSpPr>
        <p:spPr>
          <a:xfrm>
            <a:off x="3428992" y="500042"/>
            <a:ext cx="2081019" cy="707886"/>
          </a:xfrm>
          <a:prstGeom prst="rect">
            <a:avLst/>
          </a:prstGeom>
        </p:spPr>
        <p:txBody>
          <a:bodyPr wrap="none">
            <a:spAutoFit/>
          </a:bodyPr>
          <a:lstStyle/>
          <a:p>
            <a:pPr algn="ctr"/>
            <a:r>
              <a:rPr lang="en-US" altLang="zh-CN" sz="4000" dirty="0">
                <a:solidFill>
                  <a:srgbClr val="FFFFCC"/>
                </a:solidFill>
                <a:latin typeface="Impact" pitchFamily="34" charset="0"/>
                <a:ea typeface="方正大黑简体" pitchFamily="2" charset="-122"/>
              </a:rPr>
              <a:t>OUTLINES</a:t>
            </a:r>
          </a:p>
        </p:txBody>
      </p:sp>
      <p:pic>
        <p:nvPicPr>
          <p:cNvPr id="13" name="Picture 1" descr="D:\resources for ppt\sat5.jpg"/>
          <p:cNvPicPr>
            <a:picLocks noChangeAspect="1" noChangeArrowheads="1"/>
          </p:cNvPicPr>
          <p:nvPr/>
        </p:nvPicPr>
        <p:blipFill>
          <a:blip r:embed="rId2" cstate="email"/>
          <a:stretch>
            <a:fillRect/>
          </a:stretch>
        </p:blipFill>
        <p:spPr bwMode="auto">
          <a:xfrm>
            <a:off x="1186098" y="1853732"/>
            <a:ext cx="381198"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4" name="单圆角矩形 13"/>
          <p:cNvSpPr/>
          <p:nvPr/>
        </p:nvSpPr>
        <p:spPr>
          <a:xfrm>
            <a:off x="1870055" y="2629049"/>
            <a:ext cx="5678905" cy="486965"/>
          </a:xfrm>
          <a:prstGeom prst="round1Rect">
            <a:avLst/>
          </a:prstGeom>
          <a:solidFill>
            <a:srgbClr val="F79600"/>
          </a:solidFill>
          <a:ln>
            <a:solidFill>
              <a:srgbClr val="FFC064"/>
            </a:solidFill>
          </a:ln>
          <a:effectLst>
            <a:glow rad="139700">
              <a:srgbClr val="FF9600">
                <a:alpha val="40000"/>
              </a:srgbClr>
            </a:glo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spcBef>
                <a:spcPct val="50000"/>
              </a:spcBef>
              <a:buClr>
                <a:srgbClr val="FF0000"/>
              </a:buClr>
            </a:pPr>
            <a:r>
              <a:rPr lang="en-US" altLang="zh-CN" sz="3200" b="1" i="1" dirty="0" smtClean="0"/>
              <a:t>Compositions of PSS</a:t>
            </a:r>
            <a:endParaRPr lang="en-US" altLang="zh-CN" sz="3200" b="1" i="1" dirty="0"/>
          </a:p>
        </p:txBody>
      </p:sp>
      <p:pic>
        <p:nvPicPr>
          <p:cNvPr id="16" name="Picture 1" descr="D:\resources for ppt\sat5.jpg"/>
          <p:cNvPicPr>
            <a:picLocks noChangeAspect="1" noChangeArrowheads="1"/>
          </p:cNvPicPr>
          <p:nvPr/>
        </p:nvPicPr>
        <p:blipFill>
          <a:blip r:embed="rId2" cstate="email"/>
          <a:stretch>
            <a:fillRect/>
          </a:stretch>
        </p:blipFill>
        <p:spPr bwMode="auto">
          <a:xfrm>
            <a:off x="1214414" y="5206773"/>
            <a:ext cx="389913"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7" name="单圆角矩形 16"/>
          <p:cNvSpPr/>
          <p:nvPr/>
        </p:nvSpPr>
        <p:spPr>
          <a:xfrm>
            <a:off x="1857356" y="5157803"/>
            <a:ext cx="5685781" cy="48577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2800" i="1" dirty="0" smtClean="0">
                <a:solidFill>
                  <a:schemeClr val="bg1"/>
                </a:solidFill>
                <a:latin typeface="Arial" pitchFamily="34" charset="0"/>
                <a:cs typeface="Arial" pitchFamily="34" charset="0"/>
              </a:rPr>
              <a:t>Telemetries and Tele-commands</a:t>
            </a:r>
            <a:endParaRPr lang="en-US" altLang="zh-CN" sz="2800" i="1" dirty="0">
              <a:solidFill>
                <a:schemeClr val="bg1"/>
              </a:solidFill>
              <a:latin typeface="Arial" pitchFamily="34" charset="0"/>
              <a:cs typeface="Arial"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a:t>
            </a:fld>
            <a:r>
              <a:rPr lang="zh-CN" altLang="en-US" smtClean="0"/>
              <a:t> </a:t>
            </a:r>
            <a:endParaRPr lang="zh-CN" altLang="en-US" dirty="0">
              <a:latin typeface="微软雅黑" pitchFamily="34" charset="-122"/>
              <a:ea typeface="微软雅黑" pitchFamily="34" charset="-122"/>
            </a:endParaRPr>
          </a:p>
        </p:txBody>
      </p:sp>
      <p:sp>
        <p:nvSpPr>
          <p:cNvPr id="6" name="标题 1"/>
          <p:cNvSpPr>
            <a:spLocks noGrp="1"/>
          </p:cNvSpPr>
          <p:nvPr>
            <p:ph type="title"/>
          </p:nvPr>
        </p:nvSpPr>
        <p:spPr>
          <a:xfrm>
            <a:off x="0" y="500042"/>
            <a:ext cx="9144000" cy="721895"/>
          </a:xfrm>
        </p:spPr>
        <p:txBody>
          <a:bodyPr>
            <a:normAutofit/>
          </a:bodyPr>
          <a:lstStyle/>
          <a:p>
            <a:pPr algn="ctr"/>
            <a:r>
              <a:rPr lang="en-US" altLang="zh-CN" b="0" dirty="0" smtClean="0">
                <a:solidFill>
                  <a:srgbClr val="FFFFCC"/>
                </a:solidFill>
                <a:latin typeface="Impact" pitchFamily="34" charset="0"/>
                <a:ea typeface="方正大黑简体" pitchFamily="2" charset="-122"/>
                <a:cs typeface="+mn-cs"/>
              </a:rPr>
              <a:t>Compositions of PSS</a:t>
            </a:r>
            <a:endParaRPr lang="en-US" altLang="zh-CN" b="0" dirty="0">
              <a:solidFill>
                <a:srgbClr val="FFFFCC"/>
              </a:solidFill>
              <a:latin typeface="Impact" pitchFamily="34" charset="0"/>
              <a:ea typeface="方正大黑简体" pitchFamily="2" charset="-122"/>
              <a:cs typeface="+mn-cs"/>
            </a:endParaRPr>
          </a:p>
        </p:txBody>
      </p:sp>
      <p:sp>
        <p:nvSpPr>
          <p:cNvPr id="7" name="矩形 6"/>
          <p:cNvSpPr/>
          <p:nvPr/>
        </p:nvSpPr>
        <p:spPr>
          <a:xfrm>
            <a:off x="285720" y="1428736"/>
            <a:ext cx="8858280" cy="461665"/>
          </a:xfrm>
          <a:prstGeom prst="rect">
            <a:avLst/>
          </a:prstGeom>
        </p:spPr>
        <p:txBody>
          <a:bodyPr wrap="square">
            <a:spAutoFit/>
          </a:bodyPr>
          <a:lstStyle/>
          <a:p>
            <a:r>
              <a:rPr lang="en-US" altLang="zh-CN" sz="2400" dirty="0" smtClean="0"/>
              <a:t> </a:t>
            </a:r>
            <a:r>
              <a:rPr lang="en-US" altLang="zh-CN" sz="2200" dirty="0" smtClean="0"/>
              <a:t>A </a:t>
            </a:r>
            <a:r>
              <a:rPr lang="en-US" altLang="zh-CN" sz="2200" i="1" dirty="0" smtClean="0">
                <a:solidFill>
                  <a:srgbClr val="B010A8"/>
                </a:solidFill>
              </a:rPr>
              <a:t>Solar Array-battery united </a:t>
            </a:r>
            <a:r>
              <a:rPr lang="en-US" altLang="zh-CN" sz="2200" dirty="0" smtClean="0"/>
              <a:t>electrical power system has been adopted.</a:t>
            </a:r>
            <a:endParaRPr lang="zh-CN" altLang="en-US" sz="2200" dirty="0"/>
          </a:p>
        </p:txBody>
      </p:sp>
      <p:sp>
        <p:nvSpPr>
          <p:cNvPr id="8" name="Rectangle 188"/>
          <p:cNvSpPr>
            <a:spLocks noChangeArrowheads="1"/>
          </p:cNvSpPr>
          <p:nvPr/>
        </p:nvSpPr>
        <p:spPr bwMode="auto">
          <a:xfrm>
            <a:off x="1928794" y="2000240"/>
            <a:ext cx="4954466" cy="400050"/>
          </a:xfrm>
          <a:prstGeom prst="rect">
            <a:avLst/>
          </a:prstGeom>
          <a:noFill/>
          <a:ln w="9525" algn="ctr">
            <a:noFill/>
            <a:miter lim="800000"/>
            <a:headEnd/>
            <a:tailEnd/>
          </a:ln>
          <a:effectLst/>
        </p:spPr>
        <p:txBody>
          <a:bodyPr>
            <a:spAutoFit/>
          </a:bodyPr>
          <a:lstStyle/>
          <a:p>
            <a:pPr algn="ctr">
              <a:defRPr/>
            </a:pPr>
            <a:r>
              <a:rPr lang="en-US" altLang="zh-CN" sz="2000" i="1" dirty="0" smtClean="0">
                <a:solidFill>
                  <a:schemeClr val="accent6">
                    <a:lumMod val="75000"/>
                  </a:schemeClr>
                </a:solidFill>
              </a:rPr>
              <a:t>PSS </a:t>
            </a:r>
            <a:r>
              <a:rPr lang="en-US" altLang="zh-CN" sz="2000" b="0" i="1" dirty="0" smtClean="0">
                <a:solidFill>
                  <a:schemeClr val="accent6">
                    <a:lumMod val="75000"/>
                  </a:schemeClr>
                </a:solidFill>
              </a:rPr>
              <a:t>working </a:t>
            </a:r>
            <a:r>
              <a:rPr lang="en-US" altLang="zh-CN" sz="2000" b="0" i="1" dirty="0">
                <a:solidFill>
                  <a:schemeClr val="accent6">
                    <a:lumMod val="75000"/>
                  </a:schemeClr>
                </a:solidFill>
              </a:rPr>
              <a:t>Principle </a:t>
            </a:r>
          </a:p>
        </p:txBody>
      </p:sp>
      <p:grpSp>
        <p:nvGrpSpPr>
          <p:cNvPr id="9" name="组合 8"/>
          <p:cNvGrpSpPr/>
          <p:nvPr/>
        </p:nvGrpSpPr>
        <p:grpSpPr>
          <a:xfrm>
            <a:off x="408739" y="2571745"/>
            <a:ext cx="8282774" cy="3143272"/>
            <a:chOff x="257908" y="2357430"/>
            <a:chExt cx="6043903" cy="2735179"/>
          </a:xfrm>
        </p:grpSpPr>
        <p:grpSp>
          <p:nvGrpSpPr>
            <p:cNvPr id="10" name="组合 170"/>
            <p:cNvGrpSpPr/>
            <p:nvPr/>
          </p:nvGrpSpPr>
          <p:grpSpPr>
            <a:xfrm>
              <a:off x="904662" y="2357430"/>
              <a:ext cx="5397149" cy="2735179"/>
              <a:chOff x="904662" y="2357430"/>
              <a:chExt cx="5397149" cy="2735179"/>
            </a:xfrm>
          </p:grpSpPr>
          <p:grpSp>
            <p:nvGrpSpPr>
              <p:cNvPr id="13" name="组合 165"/>
              <p:cNvGrpSpPr/>
              <p:nvPr/>
            </p:nvGrpSpPr>
            <p:grpSpPr>
              <a:xfrm>
                <a:off x="904662" y="2357430"/>
                <a:ext cx="5397149" cy="889196"/>
                <a:chOff x="904662" y="2357430"/>
                <a:chExt cx="5397149" cy="889196"/>
              </a:xfrm>
            </p:grpSpPr>
            <p:sp>
              <p:nvSpPr>
                <p:cNvPr id="18" name="Rectangle 175"/>
                <p:cNvSpPr>
                  <a:spLocks noChangeArrowheads="1"/>
                </p:cNvSpPr>
                <p:nvPr/>
              </p:nvSpPr>
              <p:spPr bwMode="gray">
                <a:xfrm>
                  <a:off x="904662" y="2357430"/>
                  <a:ext cx="5279324" cy="887525"/>
                </a:xfrm>
                <a:prstGeom prst="rect">
                  <a:avLst/>
                </a:prstGeom>
                <a:solidFill>
                  <a:schemeClr val="accent3">
                    <a:lumMod val="60000"/>
                    <a:lumOff val="40000"/>
                  </a:schemeClr>
                </a:solidFill>
                <a:ln w="12700" algn="ctr">
                  <a:noFill/>
                  <a:prstDash val="dash"/>
                  <a:miter lim="800000"/>
                  <a:headEnd/>
                  <a:tailEnd/>
                </a:ln>
              </p:spPr>
              <p:txBody>
                <a:bodyPr wrap="none" anchor="ctr"/>
                <a:lstStyle/>
                <a:p>
                  <a:endParaRPr lang="zh-CN" altLang="en-US"/>
                </a:p>
              </p:txBody>
            </p:sp>
            <p:sp>
              <p:nvSpPr>
                <p:cNvPr id="19" name="Rectangle 184"/>
                <p:cNvSpPr>
                  <a:spLocks noChangeArrowheads="1"/>
                </p:cNvSpPr>
                <p:nvPr/>
              </p:nvSpPr>
              <p:spPr bwMode="auto">
                <a:xfrm>
                  <a:off x="1033831" y="2362456"/>
                  <a:ext cx="5267980" cy="884170"/>
                </a:xfrm>
                <a:prstGeom prst="rect">
                  <a:avLst/>
                </a:prstGeom>
                <a:noFill/>
                <a:ln w="9525" algn="ctr">
                  <a:noFill/>
                  <a:miter lim="800000"/>
                  <a:headEnd/>
                  <a:tailEnd/>
                </a:ln>
              </p:spPr>
              <p:txBody>
                <a:bodyPr wrap="square">
                  <a:spAutoFit/>
                </a:bodyPr>
                <a:lstStyle/>
                <a:p>
                  <a:pPr algn="l"/>
                  <a:r>
                    <a:rPr lang="en-US" altLang="zh-CN" sz="1800" b="0" dirty="0">
                      <a:solidFill>
                        <a:schemeClr val="tx1"/>
                      </a:solidFill>
                    </a:rPr>
                    <a:t>   </a:t>
                  </a:r>
                  <a:r>
                    <a:rPr lang="en-US" altLang="zh-CN" sz="1800" b="0" dirty="0" smtClean="0">
                      <a:solidFill>
                        <a:schemeClr val="tx1"/>
                      </a:solidFill>
                    </a:rPr>
                    <a:t> When </a:t>
                  </a:r>
                  <a:r>
                    <a:rPr lang="en-US" altLang="zh-CN" sz="1800" b="0" dirty="0">
                      <a:solidFill>
                        <a:schemeClr val="tx1"/>
                      </a:solidFill>
                    </a:rPr>
                    <a:t>the output current of solar-arrays is greater than load currents , the output power of solar-arrays is supplied to loads and charged to </a:t>
                  </a:r>
                  <a:r>
                    <a:rPr lang="en-US" altLang="zh-CN" sz="1800" b="0" dirty="0" smtClean="0">
                      <a:solidFill>
                        <a:schemeClr val="tx1"/>
                      </a:solidFill>
                    </a:rPr>
                    <a:t>batteries simultaneously</a:t>
                  </a:r>
                  <a:r>
                    <a:rPr lang="en-US" altLang="zh-CN" sz="1800" b="0" dirty="0">
                      <a:solidFill>
                        <a:schemeClr val="tx1"/>
                      </a:solidFill>
                    </a:rPr>
                    <a:t>.</a:t>
                  </a:r>
                </a:p>
              </p:txBody>
            </p:sp>
          </p:grpSp>
          <p:sp>
            <p:nvSpPr>
              <p:cNvPr id="14" name="Rectangle 185"/>
              <p:cNvSpPr>
                <a:spLocks noChangeArrowheads="1"/>
              </p:cNvSpPr>
              <p:nvPr/>
            </p:nvSpPr>
            <p:spPr bwMode="auto">
              <a:xfrm>
                <a:off x="907302" y="3236884"/>
                <a:ext cx="5276684" cy="884170"/>
              </a:xfrm>
              <a:prstGeom prst="rect">
                <a:avLst/>
              </a:prstGeom>
              <a:solidFill>
                <a:schemeClr val="bg1">
                  <a:lumMod val="65000"/>
                </a:schemeClr>
              </a:solidFill>
              <a:ln w="9525" algn="ctr">
                <a:noFill/>
                <a:miter lim="800000"/>
                <a:headEnd/>
                <a:tailEnd/>
              </a:ln>
            </p:spPr>
            <p:txBody>
              <a:bodyPr wrap="square">
                <a:spAutoFit/>
              </a:bodyPr>
              <a:lstStyle/>
              <a:p>
                <a:pPr marL="179388" algn="l"/>
                <a:r>
                  <a:rPr lang="en-US" altLang="zh-CN" sz="1400" b="0" dirty="0">
                    <a:solidFill>
                      <a:schemeClr val="tx1"/>
                    </a:solidFill>
                  </a:rPr>
                  <a:t>   </a:t>
                </a:r>
                <a:r>
                  <a:rPr lang="en-US" altLang="zh-CN" sz="1400" b="0" dirty="0" smtClean="0">
                    <a:solidFill>
                      <a:schemeClr val="tx1"/>
                    </a:solidFill>
                  </a:rPr>
                  <a:t>   </a:t>
                </a:r>
                <a:r>
                  <a:rPr lang="en-US" altLang="zh-CN" sz="1800" dirty="0" smtClean="0"/>
                  <a:t>When </a:t>
                </a:r>
                <a:r>
                  <a:rPr lang="en-US" altLang="zh-CN" sz="1800" dirty="0"/>
                  <a:t>the output current of solar-array is greater than the sum of the </a:t>
                </a:r>
                <a:r>
                  <a:rPr lang="en-US" altLang="zh-CN" sz="1800" dirty="0" smtClean="0"/>
                  <a:t>  load </a:t>
                </a:r>
                <a:r>
                  <a:rPr lang="en-US" altLang="zh-CN" sz="1800" dirty="0"/>
                  <a:t>currents and charging current, the redundant energy will be shunted by shunt regulators after charging and power supply. </a:t>
                </a:r>
              </a:p>
            </p:txBody>
          </p:sp>
          <p:grpSp>
            <p:nvGrpSpPr>
              <p:cNvPr id="15" name="组合 169"/>
              <p:cNvGrpSpPr/>
              <p:nvPr/>
            </p:nvGrpSpPr>
            <p:grpSpPr>
              <a:xfrm>
                <a:off x="930133" y="4108667"/>
                <a:ext cx="5302891" cy="983942"/>
                <a:chOff x="930133" y="4108667"/>
                <a:chExt cx="5302891" cy="983942"/>
              </a:xfrm>
            </p:grpSpPr>
            <p:sp>
              <p:nvSpPr>
                <p:cNvPr id="16" name="Rectangle 176"/>
                <p:cNvSpPr>
                  <a:spLocks noChangeArrowheads="1"/>
                </p:cNvSpPr>
                <p:nvPr/>
              </p:nvSpPr>
              <p:spPr bwMode="gray">
                <a:xfrm>
                  <a:off x="930133" y="4108667"/>
                  <a:ext cx="5263984" cy="983942"/>
                </a:xfrm>
                <a:prstGeom prst="rect">
                  <a:avLst/>
                </a:prstGeom>
                <a:solidFill>
                  <a:schemeClr val="tx1">
                    <a:lumMod val="50000"/>
                    <a:lumOff val="50000"/>
                  </a:schemeClr>
                </a:solidFill>
                <a:ln w="12700" algn="ctr">
                  <a:noFill/>
                  <a:prstDash val="dash"/>
                  <a:miter lim="800000"/>
                  <a:headEnd/>
                  <a:tailEnd/>
                </a:ln>
                <a:effectLst/>
              </p:spPr>
              <p:txBody>
                <a:bodyPr wrap="none" anchor="ctr"/>
                <a:lstStyle/>
                <a:p>
                  <a:pPr>
                    <a:defRPr/>
                  </a:pPr>
                  <a:endParaRPr lang="zh-CN" altLang="en-US"/>
                </a:p>
              </p:txBody>
            </p:sp>
            <p:sp>
              <p:nvSpPr>
                <p:cNvPr id="17" name="矩形 16"/>
                <p:cNvSpPr/>
                <p:nvPr/>
              </p:nvSpPr>
              <p:spPr>
                <a:xfrm>
                  <a:off x="976089" y="4144778"/>
                  <a:ext cx="5256935" cy="884170"/>
                </a:xfrm>
                <a:prstGeom prst="rect">
                  <a:avLst/>
                </a:prstGeom>
              </p:spPr>
              <p:txBody>
                <a:bodyPr wrap="square">
                  <a:spAutoFit/>
                </a:bodyPr>
                <a:lstStyle/>
                <a:p>
                  <a:pPr marL="84138" indent="-84138" algn="l">
                    <a:defRPr/>
                  </a:pPr>
                  <a:r>
                    <a:rPr lang="en-US" altLang="zh-CN" sz="1600" b="0" dirty="0">
                      <a:solidFill>
                        <a:schemeClr val="tx1"/>
                      </a:solidFill>
                      <a:latin typeface="Arial" charset="0"/>
                    </a:rPr>
                    <a:t>   </a:t>
                  </a:r>
                  <a:r>
                    <a:rPr lang="en-US" altLang="zh-CN" sz="1600" b="0" dirty="0" smtClean="0">
                      <a:solidFill>
                        <a:schemeClr val="tx1"/>
                      </a:solidFill>
                      <a:latin typeface="Arial" charset="0"/>
                    </a:rPr>
                    <a:t>   </a:t>
                  </a:r>
                  <a:r>
                    <a:rPr lang="en-US" altLang="zh-CN" sz="1800" dirty="0" smtClean="0">
                      <a:solidFill>
                        <a:schemeClr val="bg1"/>
                      </a:solidFill>
                    </a:rPr>
                    <a:t>When </a:t>
                  </a:r>
                  <a:r>
                    <a:rPr lang="en-US" altLang="zh-CN" sz="1800" dirty="0">
                      <a:solidFill>
                        <a:schemeClr val="bg1"/>
                      </a:solidFill>
                    </a:rPr>
                    <a:t>the output current of solar-arrays is less than load currents in light, the loads will be supplied by the joint-power supply consisted of solar-arrays and batteries. </a:t>
                  </a:r>
                </a:p>
              </p:txBody>
            </p:sp>
          </p:grpSp>
        </p:grpSp>
        <p:sp>
          <p:nvSpPr>
            <p:cNvPr id="11" name="Rectangle 178"/>
            <p:cNvSpPr>
              <a:spLocks noChangeArrowheads="1"/>
            </p:cNvSpPr>
            <p:nvPr/>
          </p:nvSpPr>
          <p:spPr bwMode="gray">
            <a:xfrm>
              <a:off x="257908" y="2357431"/>
              <a:ext cx="675348" cy="2735178"/>
            </a:xfrm>
            <a:prstGeom prst="rect">
              <a:avLst/>
            </a:prstGeom>
            <a:solidFill>
              <a:schemeClr val="accent2"/>
            </a:solidFill>
            <a:ln w="12700" algn="ctr">
              <a:noFill/>
              <a:prstDash val="dash"/>
              <a:miter lim="800000"/>
              <a:headEnd/>
              <a:tailEnd/>
            </a:ln>
          </p:spPr>
          <p:txBody>
            <a:bodyPr wrap="none" anchor="ctr"/>
            <a:lstStyle/>
            <a:p>
              <a:endParaRPr lang="zh-CN" altLang="en-US"/>
            </a:p>
          </p:txBody>
        </p:sp>
        <p:sp>
          <p:nvSpPr>
            <p:cNvPr id="12" name="Rectangle 181"/>
            <p:cNvSpPr>
              <a:spLocks noChangeArrowheads="1"/>
            </p:cNvSpPr>
            <p:nvPr/>
          </p:nvSpPr>
          <p:spPr bwMode="white">
            <a:xfrm>
              <a:off x="280272" y="3567899"/>
              <a:ext cx="1213338" cy="461665"/>
            </a:xfrm>
            <a:prstGeom prst="rect">
              <a:avLst/>
            </a:prstGeom>
            <a:noFill/>
            <a:ln w="9525" algn="ctr">
              <a:noFill/>
              <a:miter lim="800000"/>
              <a:headEnd/>
              <a:tailEnd/>
            </a:ln>
          </p:spPr>
          <p:txBody>
            <a:bodyPr>
              <a:spAutoFit/>
            </a:bodyPr>
            <a:lstStyle/>
            <a:p>
              <a:r>
                <a:rPr lang="en-US" altLang="zh-CN" sz="2400" b="1" i="1" dirty="0">
                  <a:solidFill>
                    <a:schemeClr val="bg1"/>
                  </a:solidFill>
                </a:rPr>
                <a:t>Light</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a:t>
            </a:fld>
            <a:r>
              <a:rPr lang="zh-CN" altLang="en-US" smtClean="0"/>
              <a:t> </a:t>
            </a:r>
            <a:endParaRPr lang="zh-CN" altLang="en-US" dirty="0">
              <a:latin typeface="微软雅黑" pitchFamily="34" charset="-122"/>
              <a:ea typeface="微软雅黑" pitchFamily="34" charset="-122"/>
            </a:endParaRPr>
          </a:p>
        </p:txBody>
      </p:sp>
      <p:sp>
        <p:nvSpPr>
          <p:cNvPr id="6" name="标题 1"/>
          <p:cNvSpPr>
            <a:spLocks noGrp="1"/>
          </p:cNvSpPr>
          <p:nvPr>
            <p:ph type="title"/>
          </p:nvPr>
        </p:nvSpPr>
        <p:spPr>
          <a:xfrm>
            <a:off x="0" y="500042"/>
            <a:ext cx="9144000" cy="721895"/>
          </a:xfrm>
        </p:spPr>
        <p:txBody>
          <a:bodyPr>
            <a:normAutofit/>
          </a:bodyPr>
          <a:lstStyle/>
          <a:p>
            <a:pPr algn="ctr"/>
            <a:r>
              <a:rPr lang="en-US" altLang="zh-CN" b="0" dirty="0" smtClean="0">
                <a:solidFill>
                  <a:srgbClr val="FFFFCC"/>
                </a:solidFill>
                <a:latin typeface="Impact" pitchFamily="34" charset="0"/>
                <a:ea typeface="方正大黑简体" pitchFamily="2" charset="-122"/>
                <a:cs typeface="+mn-cs"/>
              </a:rPr>
              <a:t>Compositions of PSS</a:t>
            </a:r>
            <a:endParaRPr lang="en-US" altLang="zh-CN" b="0" dirty="0">
              <a:solidFill>
                <a:srgbClr val="FFFFCC"/>
              </a:solidFill>
              <a:latin typeface="Impact" pitchFamily="34" charset="0"/>
              <a:ea typeface="方正大黑简体" pitchFamily="2" charset="-122"/>
              <a:cs typeface="+mn-cs"/>
            </a:endParaRPr>
          </a:p>
        </p:txBody>
      </p:sp>
      <p:sp>
        <p:nvSpPr>
          <p:cNvPr id="7" name="Rectangle 188"/>
          <p:cNvSpPr>
            <a:spLocks noChangeArrowheads="1"/>
          </p:cNvSpPr>
          <p:nvPr/>
        </p:nvSpPr>
        <p:spPr bwMode="auto">
          <a:xfrm>
            <a:off x="714348" y="1714488"/>
            <a:ext cx="4954466" cy="400050"/>
          </a:xfrm>
          <a:prstGeom prst="rect">
            <a:avLst/>
          </a:prstGeom>
          <a:noFill/>
          <a:ln w="9525" algn="ctr">
            <a:noFill/>
            <a:miter lim="800000"/>
            <a:headEnd/>
            <a:tailEnd/>
          </a:ln>
          <a:effectLst/>
        </p:spPr>
        <p:txBody>
          <a:bodyPr>
            <a:spAutoFit/>
          </a:bodyPr>
          <a:lstStyle/>
          <a:p>
            <a:pPr algn="ctr">
              <a:defRPr/>
            </a:pPr>
            <a:r>
              <a:rPr lang="en-US" altLang="zh-CN" sz="2000" i="1" dirty="0" smtClean="0">
                <a:solidFill>
                  <a:schemeClr val="accent6">
                    <a:lumMod val="75000"/>
                  </a:schemeClr>
                </a:solidFill>
              </a:rPr>
              <a:t>PSS </a:t>
            </a:r>
            <a:r>
              <a:rPr lang="en-US" altLang="zh-CN" sz="2000" b="0" i="1" dirty="0" smtClean="0">
                <a:solidFill>
                  <a:schemeClr val="accent6">
                    <a:lumMod val="75000"/>
                  </a:schemeClr>
                </a:solidFill>
              </a:rPr>
              <a:t>working </a:t>
            </a:r>
            <a:r>
              <a:rPr lang="en-US" altLang="zh-CN" sz="2000" b="0" i="1" dirty="0">
                <a:solidFill>
                  <a:schemeClr val="accent6">
                    <a:lumMod val="75000"/>
                  </a:schemeClr>
                </a:solidFill>
              </a:rPr>
              <a:t>Principle </a:t>
            </a:r>
          </a:p>
        </p:txBody>
      </p:sp>
      <p:grpSp>
        <p:nvGrpSpPr>
          <p:cNvPr id="8" name="组合 7"/>
          <p:cNvGrpSpPr/>
          <p:nvPr/>
        </p:nvGrpSpPr>
        <p:grpSpPr>
          <a:xfrm>
            <a:off x="214282" y="2357430"/>
            <a:ext cx="5786478" cy="1192634"/>
            <a:chOff x="165644" y="5571424"/>
            <a:chExt cx="6909453" cy="1192634"/>
          </a:xfrm>
        </p:grpSpPr>
        <p:sp>
          <p:nvSpPr>
            <p:cNvPr id="9" name="Rectangle 177"/>
            <p:cNvSpPr>
              <a:spLocks noChangeArrowheads="1"/>
            </p:cNvSpPr>
            <p:nvPr/>
          </p:nvSpPr>
          <p:spPr bwMode="gray">
            <a:xfrm>
              <a:off x="1384598" y="5572140"/>
              <a:ext cx="5565703" cy="1017196"/>
            </a:xfrm>
            <a:prstGeom prst="rect">
              <a:avLst/>
            </a:prstGeom>
            <a:solidFill>
              <a:srgbClr val="DDDDDD"/>
            </a:solidFill>
            <a:ln w="12700" algn="ctr">
              <a:noFill/>
              <a:prstDash val="dash"/>
              <a:miter lim="800000"/>
              <a:headEnd/>
              <a:tailEnd/>
            </a:ln>
          </p:spPr>
          <p:txBody>
            <a:bodyPr wrap="none" anchor="ctr"/>
            <a:lstStyle/>
            <a:p>
              <a:endParaRPr lang="zh-CN" altLang="en-US"/>
            </a:p>
          </p:txBody>
        </p:sp>
        <p:sp>
          <p:nvSpPr>
            <p:cNvPr id="10" name="Rectangle 180"/>
            <p:cNvSpPr>
              <a:spLocks noChangeArrowheads="1"/>
            </p:cNvSpPr>
            <p:nvPr/>
          </p:nvSpPr>
          <p:spPr bwMode="gray">
            <a:xfrm>
              <a:off x="165644" y="5581567"/>
              <a:ext cx="1706038" cy="1017196"/>
            </a:xfrm>
            <a:prstGeom prst="rect">
              <a:avLst/>
            </a:prstGeom>
            <a:solidFill>
              <a:schemeClr val="folHlink"/>
            </a:solidFill>
            <a:ln w="12700" algn="ctr">
              <a:noFill/>
              <a:prstDash val="dash"/>
              <a:miter lim="800000"/>
              <a:headEnd/>
              <a:tailEnd/>
            </a:ln>
          </p:spPr>
          <p:txBody>
            <a:bodyPr wrap="none" anchor="ctr"/>
            <a:lstStyle/>
            <a:p>
              <a:endParaRPr lang="zh-CN" altLang="en-US"/>
            </a:p>
          </p:txBody>
        </p:sp>
        <p:sp>
          <p:nvSpPr>
            <p:cNvPr id="11" name="Rectangle 183"/>
            <p:cNvSpPr>
              <a:spLocks noChangeArrowheads="1"/>
            </p:cNvSpPr>
            <p:nvPr/>
          </p:nvSpPr>
          <p:spPr bwMode="white">
            <a:xfrm>
              <a:off x="484826" y="5804708"/>
              <a:ext cx="1047498" cy="430887"/>
            </a:xfrm>
            <a:prstGeom prst="rect">
              <a:avLst/>
            </a:prstGeom>
            <a:noFill/>
            <a:ln w="9525" algn="ctr">
              <a:noFill/>
              <a:miter lim="800000"/>
              <a:headEnd/>
              <a:tailEnd/>
            </a:ln>
            <a:effectLst/>
          </p:spPr>
          <p:txBody>
            <a:bodyPr wrap="none">
              <a:spAutoFit/>
            </a:bodyPr>
            <a:lstStyle/>
            <a:p>
              <a:pPr>
                <a:defRPr/>
              </a:pPr>
              <a:r>
                <a:rPr lang="en-US" altLang="zh-CN" sz="2200" b="1" i="1" dirty="0">
                  <a:solidFill>
                    <a:schemeClr val="bg1"/>
                  </a:solidFill>
                </a:rPr>
                <a:t>Umbra</a:t>
              </a:r>
            </a:p>
          </p:txBody>
        </p:sp>
        <p:sp>
          <p:nvSpPr>
            <p:cNvPr id="12" name="Rectangle 186"/>
            <p:cNvSpPr>
              <a:spLocks noChangeArrowheads="1"/>
            </p:cNvSpPr>
            <p:nvPr/>
          </p:nvSpPr>
          <p:spPr bwMode="auto">
            <a:xfrm>
              <a:off x="1868345" y="5571424"/>
              <a:ext cx="5206752" cy="1192634"/>
            </a:xfrm>
            <a:prstGeom prst="rect">
              <a:avLst/>
            </a:prstGeom>
            <a:noFill/>
            <a:ln w="9525" algn="ctr">
              <a:noFill/>
              <a:miter lim="800000"/>
              <a:headEnd/>
              <a:tailEnd/>
            </a:ln>
          </p:spPr>
          <p:txBody>
            <a:bodyPr wrap="square">
              <a:spAutoFit/>
            </a:bodyPr>
            <a:lstStyle/>
            <a:p>
              <a:pPr algn="l">
                <a:lnSpc>
                  <a:spcPts val="2300"/>
                </a:lnSpc>
              </a:pPr>
              <a:r>
                <a:rPr lang="en-US" altLang="zh-CN" sz="1600" b="0" dirty="0">
                  <a:solidFill>
                    <a:schemeClr val="tx1"/>
                  </a:solidFill>
                </a:rPr>
                <a:t>   </a:t>
              </a:r>
              <a:r>
                <a:rPr lang="en-US" altLang="zh-CN" sz="1600" b="0" dirty="0" smtClean="0">
                  <a:solidFill>
                    <a:schemeClr val="tx1"/>
                  </a:solidFill>
                </a:rPr>
                <a:t> </a:t>
              </a:r>
              <a:r>
                <a:rPr lang="en-US" altLang="zh-CN" sz="1800" b="0" dirty="0" smtClean="0">
                  <a:solidFill>
                    <a:schemeClr val="tx1"/>
                  </a:solidFill>
                </a:rPr>
                <a:t>Since </a:t>
              </a:r>
              <a:r>
                <a:rPr lang="en-US" altLang="zh-CN" sz="1800" b="0" dirty="0">
                  <a:solidFill>
                    <a:schemeClr val="tx1"/>
                  </a:solidFill>
                </a:rPr>
                <a:t>the solar-arrays have no output power in umbra, the loads will be supplied by batteries totally.</a:t>
              </a:r>
            </a:p>
            <a:p>
              <a:pPr algn="l"/>
              <a:r>
                <a:rPr lang="en-US" altLang="zh-CN" sz="1400" b="0" dirty="0"/>
                <a:t>.</a:t>
              </a:r>
            </a:p>
          </p:txBody>
        </p:sp>
      </p:grpSp>
      <p:grpSp>
        <p:nvGrpSpPr>
          <p:cNvPr id="13" name="组合 12"/>
          <p:cNvGrpSpPr/>
          <p:nvPr/>
        </p:nvGrpSpPr>
        <p:grpSpPr>
          <a:xfrm>
            <a:off x="214282" y="3657055"/>
            <a:ext cx="5716938" cy="1272143"/>
            <a:chOff x="368446" y="824593"/>
            <a:chExt cx="5645855" cy="1272143"/>
          </a:xfrm>
        </p:grpSpPr>
        <p:sp>
          <p:nvSpPr>
            <p:cNvPr id="14" name="Rectangle 180"/>
            <p:cNvSpPr>
              <a:spLocks noChangeArrowheads="1"/>
            </p:cNvSpPr>
            <p:nvPr/>
          </p:nvSpPr>
          <p:spPr bwMode="gray">
            <a:xfrm>
              <a:off x="368446" y="882290"/>
              <a:ext cx="1426898" cy="1214446"/>
            </a:xfrm>
            <a:prstGeom prst="rect">
              <a:avLst/>
            </a:prstGeom>
            <a:solidFill>
              <a:schemeClr val="accent5">
                <a:lumMod val="50000"/>
              </a:schemeClr>
            </a:solidFill>
            <a:ln w="12700" algn="ctr">
              <a:noFill/>
              <a:prstDash val="dash"/>
              <a:miter lim="800000"/>
              <a:headEnd/>
              <a:tailEnd/>
            </a:ln>
            <a:effectLst/>
          </p:spPr>
          <p:txBody>
            <a:bodyPr wrap="none" anchor="ctr"/>
            <a:lstStyle/>
            <a:p>
              <a:pPr>
                <a:defRPr/>
              </a:pPr>
              <a:r>
                <a:rPr lang="en-US" altLang="zh-CN" sz="2200" b="1" i="1" dirty="0">
                  <a:solidFill>
                    <a:schemeClr val="bg1"/>
                  </a:solidFill>
                </a:rPr>
                <a:t>Launching</a:t>
              </a:r>
              <a:endParaRPr lang="zh-CN" altLang="en-US" sz="2200" b="1" i="1" dirty="0">
                <a:solidFill>
                  <a:schemeClr val="bg1"/>
                </a:solidFill>
              </a:endParaRPr>
            </a:p>
          </p:txBody>
        </p:sp>
        <p:sp>
          <p:nvSpPr>
            <p:cNvPr id="15" name="Rectangle 177"/>
            <p:cNvSpPr>
              <a:spLocks noChangeArrowheads="1"/>
            </p:cNvSpPr>
            <p:nvPr/>
          </p:nvSpPr>
          <p:spPr bwMode="gray">
            <a:xfrm>
              <a:off x="1757637" y="882290"/>
              <a:ext cx="4256664" cy="1214446"/>
            </a:xfrm>
            <a:prstGeom prst="rect">
              <a:avLst/>
            </a:prstGeom>
            <a:solidFill>
              <a:srgbClr val="DDDDDD"/>
            </a:solidFill>
            <a:ln w="12700" algn="ctr">
              <a:noFill/>
              <a:prstDash val="dash"/>
              <a:miter lim="800000"/>
              <a:headEnd/>
              <a:tailEnd/>
            </a:ln>
          </p:spPr>
          <p:txBody>
            <a:bodyPr wrap="none" anchor="ctr"/>
            <a:lstStyle/>
            <a:p>
              <a:endParaRPr lang="zh-CN" altLang="en-US"/>
            </a:p>
          </p:txBody>
        </p:sp>
        <p:sp>
          <p:nvSpPr>
            <p:cNvPr id="16" name="矩形 4"/>
            <p:cNvSpPr>
              <a:spLocks noChangeArrowheads="1"/>
            </p:cNvSpPr>
            <p:nvPr/>
          </p:nvSpPr>
          <p:spPr bwMode="auto">
            <a:xfrm>
              <a:off x="1426692" y="824593"/>
              <a:ext cx="4573197" cy="1272143"/>
            </a:xfrm>
            <a:prstGeom prst="rect">
              <a:avLst/>
            </a:prstGeom>
            <a:noFill/>
            <a:ln w="9525">
              <a:noFill/>
              <a:miter lim="800000"/>
              <a:headEnd/>
              <a:tailEnd/>
            </a:ln>
          </p:spPr>
          <p:txBody>
            <a:bodyPr wrap="square">
              <a:spAutoFit/>
            </a:bodyPr>
            <a:lstStyle/>
            <a:p>
              <a:pPr marL="358775">
                <a:lnSpc>
                  <a:spcPts val="2300"/>
                </a:lnSpc>
              </a:pPr>
              <a:r>
                <a:rPr lang="en-US" altLang="zh-CN" sz="1800" dirty="0"/>
                <a:t>   </a:t>
              </a:r>
              <a:r>
                <a:rPr lang="en-US" altLang="zh-CN" sz="1800" dirty="0" smtClean="0"/>
                <a:t> </a:t>
              </a:r>
              <a:r>
                <a:rPr lang="en-US" altLang="zh-CN" dirty="0" smtClean="0"/>
                <a:t>There will be no power supply</a:t>
              </a:r>
              <a:r>
                <a:rPr lang="en-US" altLang="zh-CN" sz="1800" dirty="0" smtClean="0"/>
                <a:t> </a:t>
              </a:r>
              <a:r>
                <a:rPr lang="en-US" altLang="zh-CN" sz="1800" dirty="0"/>
                <a:t>by batteries </a:t>
              </a:r>
              <a:r>
                <a:rPr lang="en-US" altLang="zh-CN" sz="1800" dirty="0" smtClean="0"/>
                <a:t> or solar arrays  during </a:t>
              </a:r>
              <a:r>
                <a:rPr lang="en-US" altLang="zh-CN" sz="1800" dirty="0"/>
                <a:t>launching and orbiting before the expansion of solar-array.</a:t>
              </a:r>
            </a:p>
          </p:txBody>
        </p:sp>
      </p:grpSp>
      <p:grpSp>
        <p:nvGrpSpPr>
          <p:cNvPr id="17" name="组合 165"/>
          <p:cNvGrpSpPr>
            <a:grpSpLocks/>
          </p:cNvGrpSpPr>
          <p:nvPr/>
        </p:nvGrpSpPr>
        <p:grpSpPr bwMode="auto">
          <a:xfrm>
            <a:off x="6072198" y="2513025"/>
            <a:ext cx="2902151" cy="2844801"/>
            <a:chOff x="5799732" y="2090725"/>
            <a:chExt cx="4103499" cy="3568700"/>
          </a:xfrm>
        </p:grpSpPr>
        <p:sp>
          <p:nvSpPr>
            <p:cNvPr id="18" name="AutoShape 4"/>
            <p:cNvSpPr>
              <a:spLocks noChangeArrowheads="1"/>
            </p:cNvSpPr>
            <p:nvPr/>
          </p:nvSpPr>
          <p:spPr bwMode="gray">
            <a:xfrm rot="308465">
              <a:off x="7724808" y="2592375"/>
              <a:ext cx="1590675" cy="1701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8597" y="10926"/>
                  </a:moveTo>
                  <a:cubicBezTo>
                    <a:pt x="18598" y="10884"/>
                    <a:pt x="18599" y="10842"/>
                    <a:pt x="18599" y="10800"/>
                  </a:cubicBezTo>
                  <a:cubicBezTo>
                    <a:pt x="18599" y="6497"/>
                    <a:pt x="15115" y="3008"/>
                    <a:pt x="10813" y="3001"/>
                  </a:cubicBezTo>
                  <a:lnTo>
                    <a:pt x="10818" y="0"/>
                  </a:lnTo>
                  <a:cubicBezTo>
                    <a:pt x="16775" y="10"/>
                    <a:pt x="21600" y="4842"/>
                    <a:pt x="21600" y="10800"/>
                  </a:cubicBezTo>
                  <a:cubicBezTo>
                    <a:pt x="21600" y="10858"/>
                    <a:pt x="21599" y="10917"/>
                    <a:pt x="21598" y="10975"/>
                  </a:cubicBezTo>
                  <a:lnTo>
                    <a:pt x="24298" y="11019"/>
                  </a:lnTo>
                  <a:lnTo>
                    <a:pt x="20030" y="15151"/>
                  </a:lnTo>
                  <a:lnTo>
                    <a:pt x="15898" y="10883"/>
                  </a:lnTo>
                  <a:lnTo>
                    <a:pt x="18597" y="10926"/>
                  </a:lnTo>
                  <a:close/>
                </a:path>
              </a:pathLst>
            </a:custGeom>
            <a:gradFill rotWithShape="1">
              <a:gsLst>
                <a:gs pos="0">
                  <a:srgbClr val="FFFFFF">
                    <a:alpha val="0"/>
                  </a:srgbClr>
                </a:gs>
                <a:gs pos="100000">
                  <a:schemeClr val="hlink">
                    <a:alpha val="78000"/>
                  </a:schemeClr>
                </a:gs>
              </a:gsLst>
              <a:lin ang="5400000" scaled="1"/>
            </a:gradFill>
            <a:ln w="9525">
              <a:noFill/>
              <a:miter lim="800000"/>
              <a:headEnd/>
              <a:tailEnd/>
            </a:ln>
          </p:spPr>
          <p:txBody>
            <a:bodyPr wrap="none" anchor="ctr"/>
            <a:lstStyle/>
            <a:p>
              <a:endParaRPr lang="zh-CN" altLang="en-US"/>
            </a:p>
          </p:txBody>
        </p:sp>
        <p:sp>
          <p:nvSpPr>
            <p:cNvPr id="19" name="Oval 5"/>
            <p:cNvSpPr>
              <a:spLocks noChangeArrowheads="1"/>
            </p:cNvSpPr>
            <p:nvPr/>
          </p:nvSpPr>
          <p:spPr bwMode="gray">
            <a:xfrm>
              <a:off x="6987586" y="2090725"/>
              <a:ext cx="1619803" cy="1318868"/>
            </a:xfrm>
            <a:prstGeom prst="ellipse">
              <a:avLst/>
            </a:prstGeom>
            <a:gradFill rotWithShape="0">
              <a:gsLst>
                <a:gs pos="0">
                  <a:schemeClr val="accent2">
                    <a:gamma/>
                    <a:shade val="66275"/>
                    <a:invGamma/>
                  </a:schemeClr>
                </a:gs>
                <a:gs pos="50000">
                  <a:schemeClr val="accent2"/>
                </a:gs>
                <a:gs pos="100000">
                  <a:schemeClr val="accent2">
                    <a:gamma/>
                    <a:shade val="66275"/>
                    <a:invGamma/>
                  </a:schemeClr>
                </a:gs>
              </a:gsLst>
              <a:lin ang="2700000" scaled="1"/>
            </a:gradFill>
            <a:ln w="57150">
              <a:solidFill>
                <a:schemeClr val="bg2"/>
              </a:solidFill>
              <a:round/>
              <a:headEnd/>
              <a:tailEnd/>
            </a:ln>
            <a:effectLst/>
          </p:spPr>
          <p:txBody>
            <a:bodyPr wrap="none" anchor="ctr"/>
            <a:lstStyle/>
            <a:p>
              <a:pPr>
                <a:defRPr/>
              </a:pPr>
              <a:endParaRPr lang="zh-CN" altLang="en-US"/>
            </a:p>
          </p:txBody>
        </p:sp>
        <p:sp>
          <p:nvSpPr>
            <p:cNvPr id="20" name="Oval 6"/>
            <p:cNvSpPr>
              <a:spLocks noChangeArrowheads="1"/>
            </p:cNvSpPr>
            <p:nvPr/>
          </p:nvSpPr>
          <p:spPr bwMode="gray">
            <a:xfrm>
              <a:off x="8361550" y="3904430"/>
              <a:ext cx="1541681" cy="1320964"/>
            </a:xfrm>
            <a:prstGeom prst="ellipse">
              <a:avLst/>
            </a:prstGeom>
            <a:gradFill rotWithShape="0">
              <a:gsLst>
                <a:gs pos="0">
                  <a:schemeClr val="folHlink">
                    <a:gamma/>
                    <a:shade val="36078"/>
                    <a:invGamma/>
                  </a:schemeClr>
                </a:gs>
                <a:gs pos="50000">
                  <a:schemeClr val="folHlink"/>
                </a:gs>
                <a:gs pos="100000">
                  <a:schemeClr val="folHlink">
                    <a:gamma/>
                    <a:shade val="36078"/>
                    <a:invGamma/>
                  </a:schemeClr>
                </a:gs>
              </a:gsLst>
              <a:lin ang="2700000" scaled="1"/>
            </a:gradFill>
            <a:ln w="57150">
              <a:solidFill>
                <a:schemeClr val="bg2"/>
              </a:solidFill>
              <a:round/>
              <a:headEnd/>
              <a:tailEnd/>
            </a:ln>
            <a:effectLst/>
          </p:spPr>
          <p:txBody>
            <a:bodyPr wrap="none" anchor="ctr"/>
            <a:lstStyle/>
            <a:p>
              <a:pPr>
                <a:defRPr/>
              </a:pPr>
              <a:endParaRPr lang="zh-CN" altLang="en-US"/>
            </a:p>
          </p:txBody>
        </p:sp>
        <p:sp>
          <p:nvSpPr>
            <p:cNvPr id="21" name="AutoShape 7"/>
            <p:cNvSpPr>
              <a:spLocks noChangeArrowheads="1"/>
            </p:cNvSpPr>
            <p:nvPr/>
          </p:nvSpPr>
          <p:spPr bwMode="gray">
            <a:xfrm rot="7527986">
              <a:off x="7050914" y="4013982"/>
              <a:ext cx="1589087" cy="1701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8597" y="10926"/>
                  </a:moveTo>
                  <a:cubicBezTo>
                    <a:pt x="18598" y="10884"/>
                    <a:pt x="18599" y="10842"/>
                    <a:pt x="18599" y="10800"/>
                  </a:cubicBezTo>
                  <a:cubicBezTo>
                    <a:pt x="18599" y="6497"/>
                    <a:pt x="15115" y="3008"/>
                    <a:pt x="10813" y="3001"/>
                  </a:cubicBezTo>
                  <a:lnTo>
                    <a:pt x="10818" y="0"/>
                  </a:lnTo>
                  <a:cubicBezTo>
                    <a:pt x="16775" y="10"/>
                    <a:pt x="21600" y="4842"/>
                    <a:pt x="21600" y="10800"/>
                  </a:cubicBezTo>
                  <a:cubicBezTo>
                    <a:pt x="21600" y="10858"/>
                    <a:pt x="21599" y="10917"/>
                    <a:pt x="21598" y="10975"/>
                  </a:cubicBezTo>
                  <a:lnTo>
                    <a:pt x="24298" y="11019"/>
                  </a:lnTo>
                  <a:lnTo>
                    <a:pt x="20030" y="15151"/>
                  </a:lnTo>
                  <a:lnTo>
                    <a:pt x="15898" y="10883"/>
                  </a:lnTo>
                  <a:lnTo>
                    <a:pt x="18597" y="10926"/>
                  </a:lnTo>
                  <a:close/>
                </a:path>
              </a:pathLst>
            </a:custGeom>
            <a:gradFill rotWithShape="1">
              <a:gsLst>
                <a:gs pos="0">
                  <a:srgbClr val="FFFFFF">
                    <a:alpha val="0"/>
                  </a:srgbClr>
                </a:gs>
                <a:gs pos="100000">
                  <a:schemeClr val="hlink">
                    <a:alpha val="78000"/>
                  </a:schemeClr>
                </a:gs>
              </a:gsLst>
              <a:lin ang="5400000" scaled="1"/>
            </a:gradFill>
            <a:ln w="9525" algn="ctr">
              <a:noFill/>
              <a:miter lim="800000"/>
              <a:headEnd/>
              <a:tailEnd/>
            </a:ln>
          </p:spPr>
          <p:txBody>
            <a:bodyPr wrap="none" anchor="ctr"/>
            <a:lstStyle/>
            <a:p>
              <a:endParaRPr lang="zh-CN" altLang="en-US"/>
            </a:p>
          </p:txBody>
        </p:sp>
        <p:sp>
          <p:nvSpPr>
            <p:cNvPr id="22" name="AutoShape 8"/>
            <p:cNvSpPr>
              <a:spLocks noChangeArrowheads="1"/>
            </p:cNvSpPr>
            <p:nvPr/>
          </p:nvSpPr>
          <p:spPr bwMode="gray">
            <a:xfrm rot="-6384000">
              <a:off x="6121433" y="2782875"/>
              <a:ext cx="1589088" cy="1703387"/>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8597" y="10926"/>
                  </a:moveTo>
                  <a:cubicBezTo>
                    <a:pt x="18598" y="10884"/>
                    <a:pt x="18599" y="10842"/>
                    <a:pt x="18599" y="10800"/>
                  </a:cubicBezTo>
                  <a:cubicBezTo>
                    <a:pt x="18599" y="6497"/>
                    <a:pt x="15115" y="3008"/>
                    <a:pt x="10813" y="3001"/>
                  </a:cubicBezTo>
                  <a:lnTo>
                    <a:pt x="10818" y="0"/>
                  </a:lnTo>
                  <a:cubicBezTo>
                    <a:pt x="16775" y="10"/>
                    <a:pt x="21600" y="4842"/>
                    <a:pt x="21600" y="10800"/>
                  </a:cubicBezTo>
                  <a:cubicBezTo>
                    <a:pt x="21600" y="10858"/>
                    <a:pt x="21599" y="10917"/>
                    <a:pt x="21598" y="10975"/>
                  </a:cubicBezTo>
                  <a:lnTo>
                    <a:pt x="24298" y="11019"/>
                  </a:lnTo>
                  <a:lnTo>
                    <a:pt x="20030" y="15151"/>
                  </a:lnTo>
                  <a:lnTo>
                    <a:pt x="15898" y="10883"/>
                  </a:lnTo>
                  <a:lnTo>
                    <a:pt x="18597" y="10926"/>
                  </a:lnTo>
                  <a:close/>
                </a:path>
              </a:pathLst>
            </a:custGeom>
            <a:gradFill rotWithShape="1">
              <a:gsLst>
                <a:gs pos="0">
                  <a:srgbClr val="FFFFFF">
                    <a:alpha val="0"/>
                  </a:srgbClr>
                </a:gs>
                <a:gs pos="100000">
                  <a:schemeClr val="hlink">
                    <a:alpha val="78000"/>
                  </a:schemeClr>
                </a:gs>
              </a:gsLst>
              <a:lin ang="5400000" scaled="1"/>
            </a:gradFill>
            <a:ln w="9525" algn="ctr">
              <a:noFill/>
              <a:miter lim="800000"/>
              <a:headEnd/>
              <a:tailEnd/>
            </a:ln>
          </p:spPr>
          <p:txBody>
            <a:bodyPr wrap="none" anchor="ctr"/>
            <a:lstStyle/>
            <a:p>
              <a:endParaRPr lang="zh-CN" altLang="en-US"/>
            </a:p>
          </p:txBody>
        </p:sp>
        <p:sp>
          <p:nvSpPr>
            <p:cNvPr id="23" name="Oval 9"/>
            <p:cNvSpPr>
              <a:spLocks noChangeArrowheads="1"/>
            </p:cNvSpPr>
            <p:nvPr/>
          </p:nvSpPr>
          <p:spPr bwMode="gray">
            <a:xfrm>
              <a:off x="6037836" y="3908624"/>
              <a:ext cx="1489681" cy="1318867"/>
            </a:xfrm>
            <a:prstGeom prst="ellipse">
              <a:avLst/>
            </a:prstGeom>
            <a:gradFill rotWithShape="0">
              <a:gsLst>
                <a:gs pos="0">
                  <a:schemeClr val="accent1">
                    <a:gamma/>
                    <a:shade val="66275"/>
                    <a:invGamma/>
                  </a:schemeClr>
                </a:gs>
                <a:gs pos="50000">
                  <a:schemeClr val="accent1"/>
                </a:gs>
                <a:gs pos="100000">
                  <a:schemeClr val="accent1">
                    <a:gamma/>
                    <a:shade val="66275"/>
                    <a:invGamma/>
                  </a:schemeClr>
                </a:gs>
              </a:gsLst>
              <a:lin ang="2700000" scaled="1"/>
            </a:gradFill>
            <a:ln w="57150">
              <a:solidFill>
                <a:schemeClr val="bg2"/>
              </a:solidFill>
              <a:round/>
              <a:headEnd/>
              <a:tailEnd/>
            </a:ln>
            <a:effectLst/>
          </p:spPr>
          <p:txBody>
            <a:bodyPr wrap="none" anchor="ctr"/>
            <a:lstStyle/>
            <a:p>
              <a:pPr>
                <a:defRPr/>
              </a:pPr>
              <a:endParaRPr lang="zh-CN" altLang="en-US"/>
            </a:p>
          </p:txBody>
        </p:sp>
        <p:grpSp>
          <p:nvGrpSpPr>
            <p:cNvPr id="24" name="Group 10"/>
            <p:cNvGrpSpPr>
              <a:grpSpLocks/>
            </p:cNvGrpSpPr>
            <p:nvPr/>
          </p:nvGrpSpPr>
          <p:grpSpPr bwMode="auto">
            <a:xfrm rot="10082854">
              <a:off x="6981642" y="3038015"/>
              <a:ext cx="1203231" cy="293185"/>
              <a:chOff x="2591" y="1040"/>
              <a:chExt cx="962" cy="234"/>
            </a:xfrm>
          </p:grpSpPr>
          <p:grpSp>
            <p:nvGrpSpPr>
              <p:cNvPr id="144" name="Group 11"/>
              <p:cNvGrpSpPr>
                <a:grpSpLocks/>
              </p:cNvGrpSpPr>
              <p:nvPr/>
            </p:nvGrpSpPr>
            <p:grpSpPr bwMode="auto">
              <a:xfrm rot="-9970459" flipH="1" flipV="1">
                <a:off x="2591" y="1040"/>
                <a:ext cx="962" cy="234"/>
                <a:chOff x="2524" y="1060"/>
                <a:chExt cx="898" cy="236"/>
              </a:xfrm>
            </p:grpSpPr>
            <p:grpSp>
              <p:nvGrpSpPr>
                <p:cNvPr id="156" name="Group 12"/>
                <p:cNvGrpSpPr>
                  <a:grpSpLocks/>
                </p:cNvGrpSpPr>
                <p:nvPr/>
              </p:nvGrpSpPr>
              <p:grpSpPr bwMode="auto">
                <a:xfrm>
                  <a:off x="2524" y="1060"/>
                  <a:ext cx="742" cy="186"/>
                  <a:chOff x="1565" y="2568"/>
                  <a:chExt cx="1118" cy="279"/>
                </a:xfrm>
              </p:grpSpPr>
              <p:sp>
                <p:nvSpPr>
                  <p:cNvPr id="162" name="AutoShape 13"/>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63" name="AutoShape 14"/>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64" name="AutoShape 15"/>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65" name="AutoShape 16"/>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157" name="Group 17"/>
                <p:cNvGrpSpPr>
                  <a:grpSpLocks/>
                </p:cNvGrpSpPr>
                <p:nvPr/>
              </p:nvGrpSpPr>
              <p:grpSpPr bwMode="auto">
                <a:xfrm rot="1353540">
                  <a:off x="2680" y="1110"/>
                  <a:ext cx="742" cy="186"/>
                  <a:chOff x="1565" y="2568"/>
                  <a:chExt cx="1118" cy="279"/>
                </a:xfrm>
              </p:grpSpPr>
              <p:sp>
                <p:nvSpPr>
                  <p:cNvPr id="158" name="AutoShape 18"/>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59" name="AutoShape 19"/>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60" name="AutoShape 20"/>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61" name="AutoShape 21"/>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grpSp>
            <p:nvGrpSpPr>
              <p:cNvPr id="145" name="Group 22"/>
              <p:cNvGrpSpPr>
                <a:grpSpLocks/>
              </p:cNvGrpSpPr>
              <p:nvPr/>
            </p:nvGrpSpPr>
            <p:grpSpPr bwMode="auto">
              <a:xfrm rot="-9970459" flipH="1" flipV="1">
                <a:off x="2674" y="1066"/>
                <a:ext cx="788" cy="191"/>
                <a:chOff x="2524" y="1060"/>
                <a:chExt cx="898" cy="236"/>
              </a:xfrm>
            </p:grpSpPr>
            <p:grpSp>
              <p:nvGrpSpPr>
                <p:cNvPr id="146" name="Group 23"/>
                <p:cNvGrpSpPr>
                  <a:grpSpLocks/>
                </p:cNvGrpSpPr>
                <p:nvPr/>
              </p:nvGrpSpPr>
              <p:grpSpPr bwMode="auto">
                <a:xfrm>
                  <a:off x="2524" y="1060"/>
                  <a:ext cx="742" cy="186"/>
                  <a:chOff x="1565" y="2568"/>
                  <a:chExt cx="1118" cy="279"/>
                </a:xfrm>
              </p:grpSpPr>
              <p:sp>
                <p:nvSpPr>
                  <p:cNvPr id="152" name="AutoShape 24"/>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53" name="AutoShape 25"/>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54" name="AutoShape 26"/>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55" name="AutoShape 27"/>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147" name="Group 28"/>
                <p:cNvGrpSpPr>
                  <a:grpSpLocks/>
                </p:cNvGrpSpPr>
                <p:nvPr/>
              </p:nvGrpSpPr>
              <p:grpSpPr bwMode="auto">
                <a:xfrm rot="1353540">
                  <a:off x="2680" y="1110"/>
                  <a:ext cx="742" cy="186"/>
                  <a:chOff x="1565" y="2568"/>
                  <a:chExt cx="1118" cy="279"/>
                </a:xfrm>
              </p:grpSpPr>
              <p:sp>
                <p:nvSpPr>
                  <p:cNvPr id="148" name="AutoShape 29"/>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49" name="AutoShape 30"/>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50" name="AutoShape 31"/>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51" name="AutoShape 32"/>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grpSp>
        <p:grpSp>
          <p:nvGrpSpPr>
            <p:cNvPr id="25" name="Group 33"/>
            <p:cNvGrpSpPr>
              <a:grpSpLocks/>
            </p:cNvGrpSpPr>
            <p:nvPr/>
          </p:nvGrpSpPr>
          <p:grpSpPr bwMode="auto">
            <a:xfrm rot="10082854">
              <a:off x="5886289" y="4858863"/>
              <a:ext cx="1204819" cy="293185"/>
              <a:chOff x="2591" y="1040"/>
              <a:chExt cx="962" cy="234"/>
            </a:xfrm>
          </p:grpSpPr>
          <p:grpSp>
            <p:nvGrpSpPr>
              <p:cNvPr id="122" name="Group 34"/>
              <p:cNvGrpSpPr>
                <a:grpSpLocks/>
              </p:cNvGrpSpPr>
              <p:nvPr/>
            </p:nvGrpSpPr>
            <p:grpSpPr bwMode="auto">
              <a:xfrm rot="-9970459" flipH="1" flipV="1">
                <a:off x="2591" y="1040"/>
                <a:ext cx="962" cy="234"/>
                <a:chOff x="2524" y="1060"/>
                <a:chExt cx="898" cy="236"/>
              </a:xfrm>
            </p:grpSpPr>
            <p:grpSp>
              <p:nvGrpSpPr>
                <p:cNvPr id="134" name="Group 35"/>
                <p:cNvGrpSpPr>
                  <a:grpSpLocks/>
                </p:cNvGrpSpPr>
                <p:nvPr/>
              </p:nvGrpSpPr>
              <p:grpSpPr bwMode="auto">
                <a:xfrm>
                  <a:off x="2524" y="1060"/>
                  <a:ext cx="742" cy="186"/>
                  <a:chOff x="1565" y="2568"/>
                  <a:chExt cx="1118" cy="279"/>
                </a:xfrm>
              </p:grpSpPr>
              <p:sp>
                <p:nvSpPr>
                  <p:cNvPr id="140" name="AutoShape 36"/>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41" name="AutoShape 37"/>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42" name="AutoShape 38"/>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43" name="AutoShape 39"/>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135" name="Group 40"/>
                <p:cNvGrpSpPr>
                  <a:grpSpLocks/>
                </p:cNvGrpSpPr>
                <p:nvPr/>
              </p:nvGrpSpPr>
              <p:grpSpPr bwMode="auto">
                <a:xfrm rot="1353540">
                  <a:off x="2680" y="1110"/>
                  <a:ext cx="742" cy="186"/>
                  <a:chOff x="1565" y="2568"/>
                  <a:chExt cx="1118" cy="279"/>
                </a:xfrm>
              </p:grpSpPr>
              <p:sp>
                <p:nvSpPr>
                  <p:cNvPr id="136" name="AutoShape 41"/>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37" name="AutoShape 42"/>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38" name="AutoShape 43"/>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39" name="AutoShape 44"/>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grpSp>
            <p:nvGrpSpPr>
              <p:cNvPr id="123" name="Group 45"/>
              <p:cNvGrpSpPr>
                <a:grpSpLocks/>
              </p:cNvGrpSpPr>
              <p:nvPr/>
            </p:nvGrpSpPr>
            <p:grpSpPr bwMode="auto">
              <a:xfrm rot="-9970459" flipH="1" flipV="1">
                <a:off x="2674" y="1066"/>
                <a:ext cx="788" cy="191"/>
                <a:chOff x="2524" y="1060"/>
                <a:chExt cx="898" cy="236"/>
              </a:xfrm>
            </p:grpSpPr>
            <p:grpSp>
              <p:nvGrpSpPr>
                <p:cNvPr id="124" name="Group 46"/>
                <p:cNvGrpSpPr>
                  <a:grpSpLocks/>
                </p:cNvGrpSpPr>
                <p:nvPr/>
              </p:nvGrpSpPr>
              <p:grpSpPr bwMode="auto">
                <a:xfrm>
                  <a:off x="2524" y="1060"/>
                  <a:ext cx="742" cy="186"/>
                  <a:chOff x="1565" y="2568"/>
                  <a:chExt cx="1118" cy="279"/>
                </a:xfrm>
              </p:grpSpPr>
              <p:sp>
                <p:nvSpPr>
                  <p:cNvPr id="130" name="AutoShape 47"/>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31" name="AutoShape 48"/>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32" name="AutoShape 49"/>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33" name="AutoShape 50"/>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125" name="Group 51"/>
                <p:cNvGrpSpPr>
                  <a:grpSpLocks/>
                </p:cNvGrpSpPr>
                <p:nvPr/>
              </p:nvGrpSpPr>
              <p:grpSpPr bwMode="auto">
                <a:xfrm rot="1353540">
                  <a:off x="2680" y="1110"/>
                  <a:ext cx="742" cy="186"/>
                  <a:chOff x="1565" y="2568"/>
                  <a:chExt cx="1118" cy="279"/>
                </a:xfrm>
              </p:grpSpPr>
              <p:sp>
                <p:nvSpPr>
                  <p:cNvPr id="126" name="AutoShape 52"/>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27" name="AutoShape 53"/>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28" name="AutoShape 54"/>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29" name="AutoShape 55"/>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grpSp>
        <p:grpSp>
          <p:nvGrpSpPr>
            <p:cNvPr id="26" name="Group 56"/>
            <p:cNvGrpSpPr>
              <a:grpSpLocks/>
            </p:cNvGrpSpPr>
            <p:nvPr/>
          </p:nvGrpSpPr>
          <p:grpSpPr bwMode="auto">
            <a:xfrm rot="10082854">
              <a:off x="8261167" y="4857290"/>
              <a:ext cx="1203231" cy="293185"/>
              <a:chOff x="2591" y="1040"/>
              <a:chExt cx="962" cy="234"/>
            </a:xfrm>
          </p:grpSpPr>
          <p:grpSp>
            <p:nvGrpSpPr>
              <p:cNvPr id="100" name="Group 57"/>
              <p:cNvGrpSpPr>
                <a:grpSpLocks/>
              </p:cNvGrpSpPr>
              <p:nvPr/>
            </p:nvGrpSpPr>
            <p:grpSpPr bwMode="auto">
              <a:xfrm rot="-9970459" flipH="1" flipV="1">
                <a:off x="2591" y="1040"/>
                <a:ext cx="962" cy="234"/>
                <a:chOff x="2524" y="1060"/>
                <a:chExt cx="898" cy="236"/>
              </a:xfrm>
            </p:grpSpPr>
            <p:grpSp>
              <p:nvGrpSpPr>
                <p:cNvPr id="112" name="Group 58"/>
                <p:cNvGrpSpPr>
                  <a:grpSpLocks/>
                </p:cNvGrpSpPr>
                <p:nvPr/>
              </p:nvGrpSpPr>
              <p:grpSpPr bwMode="auto">
                <a:xfrm>
                  <a:off x="2524" y="1060"/>
                  <a:ext cx="742" cy="186"/>
                  <a:chOff x="1565" y="2568"/>
                  <a:chExt cx="1118" cy="279"/>
                </a:xfrm>
              </p:grpSpPr>
              <p:sp>
                <p:nvSpPr>
                  <p:cNvPr id="118" name="AutoShape 59"/>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19" name="AutoShape 60"/>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20" name="AutoShape 61"/>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21" name="AutoShape 62"/>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113" name="Group 63"/>
                <p:cNvGrpSpPr>
                  <a:grpSpLocks/>
                </p:cNvGrpSpPr>
                <p:nvPr/>
              </p:nvGrpSpPr>
              <p:grpSpPr bwMode="auto">
                <a:xfrm rot="1353540">
                  <a:off x="2680" y="1110"/>
                  <a:ext cx="742" cy="186"/>
                  <a:chOff x="1565" y="2568"/>
                  <a:chExt cx="1118" cy="279"/>
                </a:xfrm>
              </p:grpSpPr>
              <p:sp>
                <p:nvSpPr>
                  <p:cNvPr id="114" name="AutoShape 64"/>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15" name="AutoShape 65"/>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16" name="AutoShape 66"/>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17" name="AutoShape 67"/>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grpSp>
            <p:nvGrpSpPr>
              <p:cNvPr id="101" name="Group 68"/>
              <p:cNvGrpSpPr>
                <a:grpSpLocks/>
              </p:cNvGrpSpPr>
              <p:nvPr/>
            </p:nvGrpSpPr>
            <p:grpSpPr bwMode="auto">
              <a:xfrm rot="-9970459" flipH="1" flipV="1">
                <a:off x="2674" y="1066"/>
                <a:ext cx="788" cy="191"/>
                <a:chOff x="2524" y="1060"/>
                <a:chExt cx="898" cy="236"/>
              </a:xfrm>
            </p:grpSpPr>
            <p:grpSp>
              <p:nvGrpSpPr>
                <p:cNvPr id="102" name="Group 69"/>
                <p:cNvGrpSpPr>
                  <a:grpSpLocks/>
                </p:cNvGrpSpPr>
                <p:nvPr/>
              </p:nvGrpSpPr>
              <p:grpSpPr bwMode="auto">
                <a:xfrm>
                  <a:off x="2524" y="1060"/>
                  <a:ext cx="742" cy="186"/>
                  <a:chOff x="1565" y="2568"/>
                  <a:chExt cx="1118" cy="279"/>
                </a:xfrm>
              </p:grpSpPr>
              <p:sp>
                <p:nvSpPr>
                  <p:cNvPr id="108" name="AutoShape 70"/>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09" name="AutoShape 71"/>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10" name="AutoShape 72"/>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11" name="AutoShape 73"/>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103" name="Group 74"/>
                <p:cNvGrpSpPr>
                  <a:grpSpLocks/>
                </p:cNvGrpSpPr>
                <p:nvPr/>
              </p:nvGrpSpPr>
              <p:grpSpPr bwMode="auto">
                <a:xfrm rot="1353540">
                  <a:off x="2680" y="1110"/>
                  <a:ext cx="742" cy="186"/>
                  <a:chOff x="1565" y="2568"/>
                  <a:chExt cx="1118" cy="279"/>
                </a:xfrm>
              </p:grpSpPr>
              <p:sp>
                <p:nvSpPr>
                  <p:cNvPr id="104" name="AutoShape 75"/>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05" name="AutoShape 76"/>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06" name="AutoShape 77"/>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07" name="AutoShape 78"/>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grpSp>
        <p:grpSp>
          <p:nvGrpSpPr>
            <p:cNvPr id="27" name="Group 79"/>
            <p:cNvGrpSpPr>
              <a:grpSpLocks/>
            </p:cNvGrpSpPr>
            <p:nvPr/>
          </p:nvGrpSpPr>
          <p:grpSpPr bwMode="auto">
            <a:xfrm>
              <a:off x="7520797" y="2228897"/>
              <a:ext cx="1203231" cy="293185"/>
              <a:chOff x="2591" y="1040"/>
              <a:chExt cx="962" cy="234"/>
            </a:xfrm>
          </p:grpSpPr>
          <p:grpSp>
            <p:nvGrpSpPr>
              <p:cNvPr id="78" name="Group 80"/>
              <p:cNvGrpSpPr>
                <a:grpSpLocks/>
              </p:cNvGrpSpPr>
              <p:nvPr/>
            </p:nvGrpSpPr>
            <p:grpSpPr bwMode="auto">
              <a:xfrm rot="-9970459" flipH="1" flipV="1">
                <a:off x="2591" y="1040"/>
                <a:ext cx="962" cy="234"/>
                <a:chOff x="2524" y="1060"/>
                <a:chExt cx="898" cy="236"/>
              </a:xfrm>
            </p:grpSpPr>
            <p:grpSp>
              <p:nvGrpSpPr>
                <p:cNvPr id="90" name="Group 81"/>
                <p:cNvGrpSpPr>
                  <a:grpSpLocks/>
                </p:cNvGrpSpPr>
                <p:nvPr/>
              </p:nvGrpSpPr>
              <p:grpSpPr bwMode="auto">
                <a:xfrm>
                  <a:off x="2524" y="1060"/>
                  <a:ext cx="742" cy="186"/>
                  <a:chOff x="1565" y="2568"/>
                  <a:chExt cx="1118" cy="279"/>
                </a:xfrm>
              </p:grpSpPr>
              <p:sp>
                <p:nvSpPr>
                  <p:cNvPr id="96" name="AutoShape 82"/>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97" name="AutoShape 83"/>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98" name="AutoShape 84"/>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99" name="AutoShape 85"/>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91" name="Group 86"/>
                <p:cNvGrpSpPr>
                  <a:grpSpLocks/>
                </p:cNvGrpSpPr>
                <p:nvPr/>
              </p:nvGrpSpPr>
              <p:grpSpPr bwMode="auto">
                <a:xfrm rot="1353540">
                  <a:off x="2680" y="1110"/>
                  <a:ext cx="742" cy="186"/>
                  <a:chOff x="1565" y="2568"/>
                  <a:chExt cx="1118" cy="279"/>
                </a:xfrm>
              </p:grpSpPr>
              <p:sp>
                <p:nvSpPr>
                  <p:cNvPr id="92" name="AutoShape 87"/>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93" name="AutoShape 88"/>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94" name="AutoShape 89"/>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95" name="AutoShape 90"/>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grpSp>
            <p:nvGrpSpPr>
              <p:cNvPr id="79" name="Group 91"/>
              <p:cNvGrpSpPr>
                <a:grpSpLocks/>
              </p:cNvGrpSpPr>
              <p:nvPr/>
            </p:nvGrpSpPr>
            <p:grpSpPr bwMode="auto">
              <a:xfrm rot="-9970459" flipH="1" flipV="1">
                <a:off x="2674" y="1066"/>
                <a:ext cx="788" cy="191"/>
                <a:chOff x="2524" y="1060"/>
                <a:chExt cx="898" cy="236"/>
              </a:xfrm>
            </p:grpSpPr>
            <p:grpSp>
              <p:nvGrpSpPr>
                <p:cNvPr id="80" name="Group 92"/>
                <p:cNvGrpSpPr>
                  <a:grpSpLocks/>
                </p:cNvGrpSpPr>
                <p:nvPr/>
              </p:nvGrpSpPr>
              <p:grpSpPr bwMode="auto">
                <a:xfrm>
                  <a:off x="2524" y="1060"/>
                  <a:ext cx="742" cy="186"/>
                  <a:chOff x="1565" y="2568"/>
                  <a:chExt cx="1118" cy="279"/>
                </a:xfrm>
              </p:grpSpPr>
              <p:sp>
                <p:nvSpPr>
                  <p:cNvPr id="86" name="AutoShape 93"/>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87" name="AutoShape 94"/>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88" name="AutoShape 95"/>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89" name="AutoShape 96"/>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81" name="Group 97"/>
                <p:cNvGrpSpPr>
                  <a:grpSpLocks/>
                </p:cNvGrpSpPr>
                <p:nvPr/>
              </p:nvGrpSpPr>
              <p:grpSpPr bwMode="auto">
                <a:xfrm rot="1353540">
                  <a:off x="2680" y="1110"/>
                  <a:ext cx="742" cy="186"/>
                  <a:chOff x="1565" y="2568"/>
                  <a:chExt cx="1118" cy="279"/>
                </a:xfrm>
              </p:grpSpPr>
              <p:sp>
                <p:nvSpPr>
                  <p:cNvPr id="82" name="AutoShape 98"/>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83" name="AutoShape 99"/>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84" name="AutoShape 100"/>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85" name="AutoShape 101"/>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grpSp>
        <p:grpSp>
          <p:nvGrpSpPr>
            <p:cNvPr id="28" name="Group 125"/>
            <p:cNvGrpSpPr>
              <a:grpSpLocks/>
            </p:cNvGrpSpPr>
            <p:nvPr/>
          </p:nvGrpSpPr>
          <p:grpSpPr bwMode="auto">
            <a:xfrm rot="-232145">
              <a:off x="6390103" y="4036617"/>
              <a:ext cx="1241330" cy="321809"/>
              <a:chOff x="1811" y="2461"/>
              <a:chExt cx="992" cy="258"/>
            </a:xfrm>
          </p:grpSpPr>
          <p:grpSp>
            <p:nvGrpSpPr>
              <p:cNvPr id="32" name="Group 126"/>
              <p:cNvGrpSpPr>
                <a:grpSpLocks/>
              </p:cNvGrpSpPr>
              <p:nvPr/>
            </p:nvGrpSpPr>
            <p:grpSpPr bwMode="auto">
              <a:xfrm rot="513316">
                <a:off x="1811" y="2461"/>
                <a:ext cx="962" cy="234"/>
                <a:chOff x="2591" y="1040"/>
                <a:chExt cx="962" cy="234"/>
              </a:xfrm>
            </p:grpSpPr>
            <p:grpSp>
              <p:nvGrpSpPr>
                <p:cNvPr id="56" name="Group 127"/>
                <p:cNvGrpSpPr>
                  <a:grpSpLocks/>
                </p:cNvGrpSpPr>
                <p:nvPr/>
              </p:nvGrpSpPr>
              <p:grpSpPr bwMode="auto">
                <a:xfrm rot="-9970459" flipH="1" flipV="1">
                  <a:off x="2591" y="1040"/>
                  <a:ext cx="962" cy="234"/>
                  <a:chOff x="2524" y="1060"/>
                  <a:chExt cx="898" cy="236"/>
                </a:xfrm>
              </p:grpSpPr>
              <p:grpSp>
                <p:nvGrpSpPr>
                  <p:cNvPr id="68" name="Group 128"/>
                  <p:cNvGrpSpPr>
                    <a:grpSpLocks/>
                  </p:cNvGrpSpPr>
                  <p:nvPr/>
                </p:nvGrpSpPr>
                <p:grpSpPr bwMode="auto">
                  <a:xfrm>
                    <a:off x="2524" y="1060"/>
                    <a:ext cx="742" cy="186"/>
                    <a:chOff x="1565" y="2568"/>
                    <a:chExt cx="1118" cy="279"/>
                  </a:xfrm>
                </p:grpSpPr>
                <p:sp>
                  <p:nvSpPr>
                    <p:cNvPr id="74" name="AutoShape 129"/>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75" name="AutoShape 130"/>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76" name="AutoShape 131"/>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77" name="AutoShape 132"/>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69" name="Group 133"/>
                  <p:cNvGrpSpPr>
                    <a:grpSpLocks/>
                  </p:cNvGrpSpPr>
                  <p:nvPr/>
                </p:nvGrpSpPr>
                <p:grpSpPr bwMode="auto">
                  <a:xfrm rot="1353540">
                    <a:off x="2680" y="1110"/>
                    <a:ext cx="742" cy="186"/>
                    <a:chOff x="1565" y="2568"/>
                    <a:chExt cx="1118" cy="279"/>
                  </a:xfrm>
                </p:grpSpPr>
                <p:sp>
                  <p:nvSpPr>
                    <p:cNvPr id="70" name="AutoShape 134"/>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71" name="AutoShape 135"/>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72" name="AutoShape 136"/>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73" name="AutoShape 137"/>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grpSp>
              <p:nvGrpSpPr>
                <p:cNvPr id="57" name="Group 138"/>
                <p:cNvGrpSpPr>
                  <a:grpSpLocks/>
                </p:cNvGrpSpPr>
                <p:nvPr/>
              </p:nvGrpSpPr>
              <p:grpSpPr bwMode="auto">
                <a:xfrm rot="-9970459" flipH="1" flipV="1">
                  <a:off x="2674" y="1066"/>
                  <a:ext cx="788" cy="191"/>
                  <a:chOff x="2524" y="1060"/>
                  <a:chExt cx="898" cy="236"/>
                </a:xfrm>
              </p:grpSpPr>
              <p:grpSp>
                <p:nvGrpSpPr>
                  <p:cNvPr id="58" name="Group 139"/>
                  <p:cNvGrpSpPr>
                    <a:grpSpLocks/>
                  </p:cNvGrpSpPr>
                  <p:nvPr/>
                </p:nvGrpSpPr>
                <p:grpSpPr bwMode="auto">
                  <a:xfrm>
                    <a:off x="2524" y="1060"/>
                    <a:ext cx="742" cy="186"/>
                    <a:chOff x="1565" y="2568"/>
                    <a:chExt cx="1118" cy="279"/>
                  </a:xfrm>
                </p:grpSpPr>
                <p:sp>
                  <p:nvSpPr>
                    <p:cNvPr id="64" name="AutoShape 140"/>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65" name="AutoShape 141"/>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66" name="AutoShape 142"/>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67" name="AutoShape 143"/>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59" name="Group 144"/>
                  <p:cNvGrpSpPr>
                    <a:grpSpLocks/>
                  </p:cNvGrpSpPr>
                  <p:nvPr/>
                </p:nvGrpSpPr>
                <p:grpSpPr bwMode="auto">
                  <a:xfrm rot="1353540">
                    <a:off x="2680" y="1110"/>
                    <a:ext cx="742" cy="186"/>
                    <a:chOff x="1565" y="2568"/>
                    <a:chExt cx="1118" cy="279"/>
                  </a:xfrm>
                </p:grpSpPr>
                <p:sp>
                  <p:nvSpPr>
                    <p:cNvPr id="60" name="AutoShape 145"/>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61" name="AutoShape 146"/>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62" name="AutoShape 147"/>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63" name="AutoShape 148"/>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grpSp>
          <p:grpSp>
            <p:nvGrpSpPr>
              <p:cNvPr id="33" name="Group 149"/>
              <p:cNvGrpSpPr>
                <a:grpSpLocks/>
              </p:cNvGrpSpPr>
              <p:nvPr/>
            </p:nvGrpSpPr>
            <p:grpSpPr bwMode="auto">
              <a:xfrm rot="513316">
                <a:off x="1841" y="2485"/>
                <a:ext cx="962" cy="234"/>
                <a:chOff x="2591" y="1040"/>
                <a:chExt cx="962" cy="234"/>
              </a:xfrm>
            </p:grpSpPr>
            <p:grpSp>
              <p:nvGrpSpPr>
                <p:cNvPr id="34" name="Group 150"/>
                <p:cNvGrpSpPr>
                  <a:grpSpLocks/>
                </p:cNvGrpSpPr>
                <p:nvPr/>
              </p:nvGrpSpPr>
              <p:grpSpPr bwMode="auto">
                <a:xfrm rot="-9970459" flipH="1" flipV="1">
                  <a:off x="2591" y="1040"/>
                  <a:ext cx="962" cy="234"/>
                  <a:chOff x="2524" y="1060"/>
                  <a:chExt cx="898" cy="236"/>
                </a:xfrm>
              </p:grpSpPr>
              <p:grpSp>
                <p:nvGrpSpPr>
                  <p:cNvPr id="46" name="Group 151"/>
                  <p:cNvGrpSpPr>
                    <a:grpSpLocks/>
                  </p:cNvGrpSpPr>
                  <p:nvPr/>
                </p:nvGrpSpPr>
                <p:grpSpPr bwMode="auto">
                  <a:xfrm>
                    <a:off x="2524" y="1060"/>
                    <a:ext cx="742" cy="186"/>
                    <a:chOff x="1565" y="2568"/>
                    <a:chExt cx="1118" cy="279"/>
                  </a:xfrm>
                </p:grpSpPr>
                <p:sp>
                  <p:nvSpPr>
                    <p:cNvPr id="52" name="AutoShape 152"/>
                    <p:cNvSpPr>
                      <a:spLocks noChangeArrowheads="1"/>
                    </p:cNvSpPr>
                    <p:nvPr/>
                  </p:nvSpPr>
                  <p:spPr bwMode="white">
                    <a:xfrm rot="5263130">
                      <a:off x="1859" y="2274"/>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sp>
                  <p:nvSpPr>
                    <p:cNvPr id="53" name="AutoShape 153"/>
                    <p:cNvSpPr>
                      <a:spLocks noChangeArrowheads="1"/>
                    </p:cNvSpPr>
                    <p:nvPr/>
                  </p:nvSpPr>
                  <p:spPr bwMode="white">
                    <a:xfrm rot="6078281">
                      <a:off x="1995" y="2274"/>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sp>
                  <p:nvSpPr>
                    <p:cNvPr id="54" name="AutoShape 154"/>
                    <p:cNvSpPr>
                      <a:spLocks noChangeArrowheads="1"/>
                    </p:cNvSpPr>
                    <p:nvPr/>
                  </p:nvSpPr>
                  <p:spPr bwMode="white">
                    <a:xfrm rot="6373927">
                      <a:off x="2071" y="2296"/>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sp>
                  <p:nvSpPr>
                    <p:cNvPr id="55" name="AutoShape 155"/>
                    <p:cNvSpPr>
                      <a:spLocks noChangeArrowheads="1"/>
                    </p:cNvSpPr>
                    <p:nvPr/>
                  </p:nvSpPr>
                  <p:spPr bwMode="white">
                    <a:xfrm rot="6906312">
                      <a:off x="2161" y="2326"/>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grpSp>
              <p:grpSp>
                <p:nvGrpSpPr>
                  <p:cNvPr id="47" name="Group 156"/>
                  <p:cNvGrpSpPr>
                    <a:grpSpLocks/>
                  </p:cNvGrpSpPr>
                  <p:nvPr/>
                </p:nvGrpSpPr>
                <p:grpSpPr bwMode="auto">
                  <a:xfrm rot="1353540">
                    <a:off x="2680" y="1110"/>
                    <a:ext cx="742" cy="186"/>
                    <a:chOff x="1565" y="2568"/>
                    <a:chExt cx="1118" cy="279"/>
                  </a:xfrm>
                </p:grpSpPr>
                <p:sp>
                  <p:nvSpPr>
                    <p:cNvPr id="48" name="AutoShape 157"/>
                    <p:cNvSpPr>
                      <a:spLocks noChangeArrowheads="1"/>
                    </p:cNvSpPr>
                    <p:nvPr/>
                  </p:nvSpPr>
                  <p:spPr bwMode="white">
                    <a:xfrm rot="5263130">
                      <a:off x="1859" y="2274"/>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sp>
                  <p:nvSpPr>
                    <p:cNvPr id="49" name="AutoShape 158"/>
                    <p:cNvSpPr>
                      <a:spLocks noChangeArrowheads="1"/>
                    </p:cNvSpPr>
                    <p:nvPr/>
                  </p:nvSpPr>
                  <p:spPr bwMode="white">
                    <a:xfrm rot="6078281">
                      <a:off x="1995" y="2274"/>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sp>
                  <p:nvSpPr>
                    <p:cNvPr id="50" name="AutoShape 159"/>
                    <p:cNvSpPr>
                      <a:spLocks noChangeArrowheads="1"/>
                    </p:cNvSpPr>
                    <p:nvPr/>
                  </p:nvSpPr>
                  <p:spPr bwMode="white">
                    <a:xfrm rot="6373927">
                      <a:off x="2071" y="2296"/>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sp>
                  <p:nvSpPr>
                    <p:cNvPr id="51" name="AutoShape 160"/>
                    <p:cNvSpPr>
                      <a:spLocks noChangeArrowheads="1"/>
                    </p:cNvSpPr>
                    <p:nvPr/>
                  </p:nvSpPr>
                  <p:spPr bwMode="white">
                    <a:xfrm rot="6906312">
                      <a:off x="2161" y="2326"/>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grpSp>
            </p:grpSp>
            <p:grpSp>
              <p:nvGrpSpPr>
                <p:cNvPr id="35" name="Group 161"/>
                <p:cNvGrpSpPr>
                  <a:grpSpLocks/>
                </p:cNvGrpSpPr>
                <p:nvPr/>
              </p:nvGrpSpPr>
              <p:grpSpPr bwMode="auto">
                <a:xfrm rot="-9970459" flipH="1" flipV="1">
                  <a:off x="2674" y="1066"/>
                  <a:ext cx="788" cy="191"/>
                  <a:chOff x="2524" y="1060"/>
                  <a:chExt cx="898" cy="236"/>
                </a:xfrm>
              </p:grpSpPr>
              <p:grpSp>
                <p:nvGrpSpPr>
                  <p:cNvPr id="36" name="Group 162"/>
                  <p:cNvGrpSpPr>
                    <a:grpSpLocks/>
                  </p:cNvGrpSpPr>
                  <p:nvPr/>
                </p:nvGrpSpPr>
                <p:grpSpPr bwMode="auto">
                  <a:xfrm>
                    <a:off x="2524" y="1060"/>
                    <a:ext cx="742" cy="186"/>
                    <a:chOff x="1565" y="2568"/>
                    <a:chExt cx="1118" cy="279"/>
                  </a:xfrm>
                </p:grpSpPr>
                <p:sp>
                  <p:nvSpPr>
                    <p:cNvPr id="42" name="AutoShape 163"/>
                    <p:cNvSpPr>
                      <a:spLocks noChangeArrowheads="1"/>
                    </p:cNvSpPr>
                    <p:nvPr/>
                  </p:nvSpPr>
                  <p:spPr bwMode="white">
                    <a:xfrm rot="5263130">
                      <a:off x="1859" y="2274"/>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sp>
                  <p:nvSpPr>
                    <p:cNvPr id="43" name="AutoShape 164"/>
                    <p:cNvSpPr>
                      <a:spLocks noChangeArrowheads="1"/>
                    </p:cNvSpPr>
                    <p:nvPr/>
                  </p:nvSpPr>
                  <p:spPr bwMode="white">
                    <a:xfrm rot="6078281">
                      <a:off x="1995" y="2274"/>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sp>
                  <p:nvSpPr>
                    <p:cNvPr id="44" name="AutoShape 165"/>
                    <p:cNvSpPr>
                      <a:spLocks noChangeArrowheads="1"/>
                    </p:cNvSpPr>
                    <p:nvPr/>
                  </p:nvSpPr>
                  <p:spPr bwMode="white">
                    <a:xfrm rot="6373927">
                      <a:off x="2071" y="2296"/>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sp>
                  <p:nvSpPr>
                    <p:cNvPr id="45" name="AutoShape 166"/>
                    <p:cNvSpPr>
                      <a:spLocks noChangeArrowheads="1"/>
                    </p:cNvSpPr>
                    <p:nvPr/>
                  </p:nvSpPr>
                  <p:spPr bwMode="white">
                    <a:xfrm rot="6906312">
                      <a:off x="2161" y="2326"/>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grpSp>
              <p:grpSp>
                <p:nvGrpSpPr>
                  <p:cNvPr id="37" name="Group 167"/>
                  <p:cNvGrpSpPr>
                    <a:grpSpLocks/>
                  </p:cNvGrpSpPr>
                  <p:nvPr/>
                </p:nvGrpSpPr>
                <p:grpSpPr bwMode="auto">
                  <a:xfrm rot="1353540">
                    <a:off x="2680" y="1110"/>
                    <a:ext cx="742" cy="186"/>
                    <a:chOff x="1565" y="2568"/>
                    <a:chExt cx="1118" cy="279"/>
                  </a:xfrm>
                </p:grpSpPr>
                <p:sp>
                  <p:nvSpPr>
                    <p:cNvPr id="38" name="AutoShape 168"/>
                    <p:cNvSpPr>
                      <a:spLocks noChangeArrowheads="1"/>
                    </p:cNvSpPr>
                    <p:nvPr/>
                  </p:nvSpPr>
                  <p:spPr bwMode="white">
                    <a:xfrm rot="5263130">
                      <a:off x="1859" y="2274"/>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sp>
                  <p:nvSpPr>
                    <p:cNvPr id="39" name="AutoShape 169"/>
                    <p:cNvSpPr>
                      <a:spLocks noChangeArrowheads="1"/>
                    </p:cNvSpPr>
                    <p:nvPr/>
                  </p:nvSpPr>
                  <p:spPr bwMode="white">
                    <a:xfrm rot="6078281">
                      <a:off x="1995" y="2274"/>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sp>
                  <p:nvSpPr>
                    <p:cNvPr id="40" name="AutoShape 170"/>
                    <p:cNvSpPr>
                      <a:spLocks noChangeArrowheads="1"/>
                    </p:cNvSpPr>
                    <p:nvPr/>
                  </p:nvSpPr>
                  <p:spPr bwMode="white">
                    <a:xfrm rot="6373927">
                      <a:off x="2071" y="2296"/>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sp>
                  <p:nvSpPr>
                    <p:cNvPr id="41" name="AutoShape 171"/>
                    <p:cNvSpPr>
                      <a:spLocks noChangeArrowheads="1"/>
                    </p:cNvSpPr>
                    <p:nvPr/>
                  </p:nvSpPr>
                  <p:spPr bwMode="white">
                    <a:xfrm rot="6906312">
                      <a:off x="2161" y="2326"/>
                      <a:ext cx="227" cy="816"/>
                    </a:xfrm>
                    <a:prstGeom prst="moon">
                      <a:avLst>
                        <a:gd name="adj" fmla="val 49773"/>
                      </a:avLst>
                    </a:prstGeom>
                    <a:solidFill>
                      <a:srgbClr val="FFFFFF">
                        <a:alpha val="1961"/>
                      </a:srgbClr>
                    </a:solidFill>
                    <a:ln w="9525">
                      <a:noFill/>
                      <a:miter lim="800000"/>
                      <a:headEnd/>
                      <a:tailEnd/>
                    </a:ln>
                  </p:spPr>
                  <p:txBody>
                    <a:bodyPr wrap="none" anchor="ctr"/>
                    <a:lstStyle/>
                    <a:p>
                      <a:endParaRPr lang="zh-CN" altLang="en-US"/>
                    </a:p>
                  </p:txBody>
                </p:sp>
              </p:grpSp>
            </p:grpSp>
          </p:grpSp>
        </p:grpSp>
        <p:sp>
          <p:nvSpPr>
            <p:cNvPr id="29" name="Rectangle 172"/>
            <p:cNvSpPr>
              <a:spLocks noChangeArrowheads="1"/>
            </p:cNvSpPr>
            <p:nvPr/>
          </p:nvSpPr>
          <p:spPr bwMode="white">
            <a:xfrm>
              <a:off x="7010073" y="2389031"/>
              <a:ext cx="1615935" cy="609767"/>
            </a:xfrm>
            <a:prstGeom prst="rect">
              <a:avLst/>
            </a:prstGeom>
            <a:noFill/>
            <a:ln w="9525" algn="ctr">
              <a:noFill/>
              <a:miter lim="800000"/>
              <a:headEnd/>
              <a:tailEnd/>
            </a:ln>
          </p:spPr>
          <p:txBody>
            <a:bodyPr wrap="none">
              <a:spAutoFit/>
            </a:bodyPr>
            <a:lstStyle/>
            <a:p>
              <a:r>
                <a:rPr lang="en-US" altLang="zh-CN" sz="2400" b="1" dirty="0">
                  <a:solidFill>
                    <a:srgbClr val="FFFFFF"/>
                  </a:solidFill>
                </a:rPr>
                <a:t>Charge</a:t>
              </a:r>
            </a:p>
          </p:txBody>
        </p:sp>
        <p:sp>
          <p:nvSpPr>
            <p:cNvPr id="30" name="Rectangle 173"/>
            <p:cNvSpPr>
              <a:spLocks noChangeArrowheads="1"/>
            </p:cNvSpPr>
            <p:nvPr/>
          </p:nvSpPr>
          <p:spPr bwMode="white">
            <a:xfrm>
              <a:off x="5799732" y="4338461"/>
              <a:ext cx="1999661" cy="569115"/>
            </a:xfrm>
            <a:prstGeom prst="rect">
              <a:avLst/>
            </a:prstGeom>
            <a:noFill/>
            <a:ln w="9525" algn="ctr">
              <a:noFill/>
              <a:miter lim="800000"/>
              <a:headEnd/>
              <a:tailEnd/>
            </a:ln>
            <a:effectLst/>
          </p:spPr>
          <p:txBody>
            <a:bodyPr wrap="none">
              <a:spAutoFit/>
            </a:bodyPr>
            <a:lstStyle/>
            <a:p>
              <a:pPr>
                <a:defRPr/>
              </a:pPr>
              <a:r>
                <a:rPr lang="en-US" altLang="zh-CN" sz="2200" b="1" dirty="0">
                  <a:solidFill>
                    <a:srgbClr val="002060"/>
                  </a:solidFill>
                </a:rPr>
                <a:t>Discharge</a:t>
              </a:r>
            </a:p>
          </p:txBody>
        </p:sp>
        <p:sp>
          <p:nvSpPr>
            <p:cNvPr id="31" name="Rectangle 174"/>
            <p:cNvSpPr>
              <a:spLocks noChangeArrowheads="1"/>
            </p:cNvSpPr>
            <p:nvPr/>
          </p:nvSpPr>
          <p:spPr bwMode="white">
            <a:xfrm>
              <a:off x="8442402" y="4234016"/>
              <a:ext cx="1406382" cy="609767"/>
            </a:xfrm>
            <a:prstGeom prst="rect">
              <a:avLst/>
            </a:prstGeom>
            <a:noFill/>
            <a:ln w="9525" algn="ctr">
              <a:noFill/>
              <a:miter lim="800000"/>
              <a:headEnd/>
              <a:tailEnd/>
            </a:ln>
          </p:spPr>
          <p:txBody>
            <a:bodyPr wrap="none">
              <a:spAutoFit/>
            </a:bodyPr>
            <a:lstStyle/>
            <a:p>
              <a:r>
                <a:rPr lang="en-US" altLang="zh-CN" sz="2400" b="1" dirty="0">
                  <a:solidFill>
                    <a:srgbClr val="FFFFFF"/>
                  </a:solidFill>
                </a:rPr>
                <a:t>Shunt</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10</a:t>
            </a:fld>
            <a:r>
              <a:rPr lang="zh-CN" altLang="en-US" smtClean="0"/>
              <a:t> </a:t>
            </a:r>
            <a:endParaRPr lang="zh-CN" altLang="en-US" dirty="0">
              <a:latin typeface="微软雅黑" pitchFamily="34" charset="-122"/>
              <a:ea typeface="微软雅黑" pitchFamily="34" charset="-122"/>
            </a:endParaRPr>
          </a:p>
        </p:txBody>
      </p:sp>
      <p:sp>
        <p:nvSpPr>
          <p:cNvPr id="6" name="标题 1"/>
          <p:cNvSpPr>
            <a:spLocks noGrp="1"/>
          </p:cNvSpPr>
          <p:nvPr>
            <p:ph type="title"/>
          </p:nvPr>
        </p:nvSpPr>
        <p:spPr>
          <a:xfrm>
            <a:off x="0" y="492527"/>
            <a:ext cx="9144000" cy="721895"/>
          </a:xfrm>
        </p:spPr>
        <p:txBody>
          <a:bodyPr>
            <a:normAutofit/>
          </a:bodyPr>
          <a:lstStyle/>
          <a:p>
            <a:pPr algn="ctr"/>
            <a:r>
              <a:rPr lang="en-US" altLang="zh-CN" b="0" dirty="0" smtClean="0">
                <a:solidFill>
                  <a:srgbClr val="FFFFCC"/>
                </a:solidFill>
                <a:latin typeface="Impact" pitchFamily="34" charset="0"/>
                <a:ea typeface="方正大黑简体" pitchFamily="2" charset="-122"/>
                <a:cs typeface="+mn-cs"/>
              </a:rPr>
              <a:t>Compositions of PSS ( Solar Array)</a:t>
            </a:r>
            <a:endParaRPr lang="en-US" altLang="zh-CN" b="0" dirty="0">
              <a:solidFill>
                <a:srgbClr val="FFFFCC"/>
              </a:solidFill>
              <a:latin typeface="Impact" pitchFamily="34" charset="0"/>
              <a:ea typeface="方正大黑简体" pitchFamily="2" charset="-122"/>
              <a:cs typeface="+mn-cs"/>
            </a:endParaRPr>
          </a:p>
        </p:txBody>
      </p:sp>
      <p:sp>
        <p:nvSpPr>
          <p:cNvPr id="7" name="AutoShape 13"/>
          <p:cNvSpPr>
            <a:spLocks noChangeArrowheads="1"/>
          </p:cNvSpPr>
          <p:nvPr/>
        </p:nvSpPr>
        <p:spPr bwMode="auto">
          <a:xfrm rot="5400000">
            <a:off x="4070933" y="-1901424"/>
            <a:ext cx="770854" cy="8168650"/>
          </a:xfrm>
          <a:prstGeom prst="can">
            <a:avLst>
              <a:gd name="adj" fmla="val 24987"/>
            </a:avLst>
          </a:prstGeom>
          <a:gradFill rotWithShape="0">
            <a:gsLst>
              <a:gs pos="0">
                <a:schemeClr val="folHlink">
                  <a:alpha val="50000"/>
                </a:schemeClr>
              </a:gs>
              <a:gs pos="50000">
                <a:schemeClr val="bg1">
                  <a:alpha val="70000"/>
                </a:schemeClr>
              </a:gs>
              <a:gs pos="100000">
                <a:schemeClr val="folHlink">
                  <a:alpha val="50000"/>
                </a:schemeClr>
              </a:gs>
            </a:gsLst>
            <a:lin ang="5400000" scaled="1"/>
          </a:gradFill>
          <a:ln w="19050">
            <a:noFill/>
            <a:round/>
            <a:headEnd/>
            <a:tailEnd/>
          </a:ln>
          <a:effectLst/>
        </p:spPr>
        <p:txBody>
          <a:bodyPr wrap="none" anchor="ctr"/>
          <a:lstStyle/>
          <a:p>
            <a:pPr>
              <a:defRPr/>
            </a:pPr>
            <a:endParaRPr lang="zh-CN" altLang="en-US"/>
          </a:p>
        </p:txBody>
      </p:sp>
      <p:sp>
        <p:nvSpPr>
          <p:cNvPr id="8" name="AutoShape 14"/>
          <p:cNvSpPr>
            <a:spLocks noChangeArrowheads="1"/>
          </p:cNvSpPr>
          <p:nvPr/>
        </p:nvSpPr>
        <p:spPr bwMode="auto">
          <a:xfrm>
            <a:off x="552619" y="1870498"/>
            <a:ext cx="2397971" cy="603560"/>
          </a:xfrm>
          <a:prstGeom prst="homePlate">
            <a:avLst>
              <a:gd name="adj" fmla="val 32711"/>
            </a:avLst>
          </a:prstGeom>
          <a:gradFill rotWithShape="1">
            <a:gsLst>
              <a:gs pos="0">
                <a:srgbClr val="CC3300">
                  <a:gamma/>
                  <a:shade val="46275"/>
                  <a:invGamma/>
                </a:srgbClr>
              </a:gs>
              <a:gs pos="50000">
                <a:srgbClr val="CC3300"/>
              </a:gs>
              <a:gs pos="100000">
                <a:srgbClr val="CC3300">
                  <a:gamma/>
                  <a:shade val="46275"/>
                  <a:invGamma/>
                </a:srgbClr>
              </a:gs>
            </a:gsLst>
            <a:lin ang="5400000" scaled="1"/>
          </a:gradFill>
          <a:ln w="19050" algn="ctr">
            <a:noFill/>
            <a:miter lim="800000"/>
            <a:headEnd/>
            <a:tailEnd/>
          </a:ln>
          <a:effectLst>
            <a:outerShdw dist="35921" dir="2700000" algn="ctr" rotWithShape="0">
              <a:schemeClr val="tx2">
                <a:alpha val="50000"/>
              </a:schemeClr>
            </a:outerShdw>
          </a:effectLst>
        </p:spPr>
        <p:txBody>
          <a:bodyPr wrap="none" anchor="ctr"/>
          <a:lstStyle/>
          <a:p>
            <a:pPr>
              <a:defRPr/>
            </a:pPr>
            <a:r>
              <a:rPr lang="en-US" altLang="zh-CN" sz="1400" b="0" dirty="0">
                <a:solidFill>
                  <a:schemeClr val="bg1"/>
                </a:solidFill>
              </a:rPr>
              <a:t> </a:t>
            </a:r>
            <a:r>
              <a:rPr lang="en-US" altLang="zh-CN" sz="1400" b="0" dirty="0" smtClean="0">
                <a:solidFill>
                  <a:schemeClr val="bg1"/>
                </a:solidFill>
              </a:rPr>
              <a:t>     </a:t>
            </a:r>
            <a:r>
              <a:rPr lang="en-US" sz="2400" dirty="0" smtClean="0">
                <a:solidFill>
                  <a:schemeClr val="bg1"/>
                </a:solidFill>
                <a:latin typeface="Arial" charset="0"/>
              </a:rPr>
              <a:t>Solar </a:t>
            </a:r>
            <a:r>
              <a:rPr lang="en-US" sz="2400" dirty="0">
                <a:solidFill>
                  <a:schemeClr val="bg1"/>
                </a:solidFill>
                <a:latin typeface="Arial" charset="0"/>
              </a:rPr>
              <a:t>energy</a:t>
            </a:r>
            <a:endParaRPr lang="en-US" altLang="zh-CN" sz="2400" dirty="0">
              <a:solidFill>
                <a:schemeClr val="bg1"/>
              </a:solidFill>
            </a:endParaRPr>
          </a:p>
        </p:txBody>
      </p:sp>
      <p:sp>
        <p:nvSpPr>
          <p:cNvPr id="9" name="AutoShape 15"/>
          <p:cNvSpPr>
            <a:spLocks noChangeArrowheads="1"/>
          </p:cNvSpPr>
          <p:nvPr/>
        </p:nvSpPr>
        <p:spPr bwMode="auto">
          <a:xfrm>
            <a:off x="5931002" y="1870498"/>
            <a:ext cx="2431947" cy="594134"/>
          </a:xfrm>
          <a:prstGeom prst="homePlate">
            <a:avLst>
              <a:gd name="adj" fmla="val 32711"/>
            </a:avLst>
          </a:prstGeom>
          <a:gradFill>
            <a:gsLst>
              <a:gs pos="0">
                <a:srgbClr val="DDEBCF"/>
              </a:gs>
              <a:gs pos="50000">
                <a:srgbClr val="9CB86E"/>
              </a:gs>
              <a:gs pos="100000">
                <a:srgbClr val="156B13"/>
              </a:gs>
            </a:gsLst>
            <a:lin ang="5400000" scaled="0"/>
          </a:gradFill>
          <a:ln w="19050" algn="ctr">
            <a:noFill/>
            <a:miter lim="800000"/>
            <a:headEnd/>
            <a:tailEnd/>
          </a:ln>
          <a:effectLst>
            <a:outerShdw dist="35921" dir="2700000" algn="ctr" rotWithShape="0">
              <a:schemeClr val="tx2">
                <a:alpha val="50000"/>
              </a:schemeClr>
            </a:outerShdw>
          </a:effectLst>
        </p:spPr>
        <p:txBody>
          <a:bodyPr wrap="none" anchor="ctr"/>
          <a:lstStyle/>
          <a:p>
            <a:pPr>
              <a:defRPr/>
            </a:pPr>
            <a:r>
              <a:rPr lang="en-US" altLang="zh-CN" sz="1400" b="0" dirty="0">
                <a:solidFill>
                  <a:schemeClr val="bg1"/>
                </a:solidFill>
              </a:rPr>
              <a:t> </a:t>
            </a:r>
            <a:r>
              <a:rPr lang="en-US" altLang="zh-CN" sz="1400" b="0" dirty="0" smtClean="0">
                <a:solidFill>
                  <a:schemeClr val="bg1"/>
                </a:solidFill>
              </a:rPr>
              <a:t>   </a:t>
            </a:r>
            <a:r>
              <a:rPr lang="en-US" sz="2000" dirty="0" smtClean="0">
                <a:solidFill>
                  <a:srgbClr val="002060"/>
                </a:solidFill>
                <a:latin typeface="Arial" charset="0"/>
              </a:rPr>
              <a:t>Electric </a:t>
            </a:r>
            <a:r>
              <a:rPr lang="en-US" sz="2000" dirty="0">
                <a:solidFill>
                  <a:srgbClr val="002060"/>
                </a:solidFill>
                <a:latin typeface="Arial" charset="0"/>
              </a:rPr>
              <a:t>energy</a:t>
            </a:r>
            <a:endParaRPr lang="en-US" altLang="zh-CN" sz="2000" dirty="0">
              <a:solidFill>
                <a:srgbClr val="002060"/>
              </a:solidFill>
            </a:endParaRPr>
          </a:p>
        </p:txBody>
      </p:sp>
      <p:sp>
        <p:nvSpPr>
          <p:cNvPr id="10" name="矩形 14"/>
          <p:cNvSpPr>
            <a:spLocks noChangeArrowheads="1"/>
          </p:cNvSpPr>
          <p:nvPr/>
        </p:nvSpPr>
        <p:spPr bwMode="auto">
          <a:xfrm>
            <a:off x="3112443" y="1814019"/>
            <a:ext cx="2701830" cy="400110"/>
          </a:xfrm>
          <a:prstGeom prst="rect">
            <a:avLst/>
          </a:prstGeom>
          <a:noFill/>
          <a:ln w="9525">
            <a:noFill/>
            <a:miter lim="800000"/>
            <a:headEnd/>
            <a:tailEnd/>
          </a:ln>
        </p:spPr>
        <p:txBody>
          <a:bodyPr wrap="none">
            <a:spAutoFit/>
          </a:bodyPr>
          <a:lstStyle/>
          <a:p>
            <a:r>
              <a:rPr lang="en-US" altLang="zh-CN" sz="2000" b="0" i="1" dirty="0"/>
              <a:t>photovoltaic conversion </a:t>
            </a:r>
            <a:endParaRPr lang="zh-CN" altLang="en-US" sz="2000" i="1" dirty="0"/>
          </a:p>
        </p:txBody>
      </p:sp>
      <p:cxnSp>
        <p:nvCxnSpPr>
          <p:cNvPr id="11" name="直接箭头连接符 10"/>
          <p:cNvCxnSpPr/>
          <p:nvPr/>
        </p:nvCxnSpPr>
        <p:spPr>
          <a:xfrm flipV="1">
            <a:off x="3091991" y="2267061"/>
            <a:ext cx="2630079" cy="18855"/>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453546" y="2742714"/>
            <a:ext cx="8485107" cy="923330"/>
            <a:chOff x="594948" y="2262454"/>
            <a:chExt cx="8485107" cy="1152701"/>
          </a:xfrm>
        </p:grpSpPr>
        <p:grpSp>
          <p:nvGrpSpPr>
            <p:cNvPr id="13" name="Group 7"/>
            <p:cNvGrpSpPr>
              <a:grpSpLocks/>
            </p:cNvGrpSpPr>
            <p:nvPr/>
          </p:nvGrpSpPr>
          <p:grpSpPr bwMode="auto">
            <a:xfrm>
              <a:off x="594948" y="2409526"/>
              <a:ext cx="1630470" cy="723978"/>
              <a:chOff x="816" y="2263"/>
              <a:chExt cx="1142" cy="423"/>
            </a:xfrm>
          </p:grpSpPr>
          <p:sp>
            <p:nvSpPr>
              <p:cNvPr id="15" name="Freeform 8"/>
              <p:cNvSpPr>
                <a:spLocks/>
              </p:cNvSpPr>
              <p:nvPr/>
            </p:nvSpPr>
            <p:spPr bwMode="gray">
              <a:xfrm>
                <a:off x="887" y="2496"/>
                <a:ext cx="951" cy="190"/>
              </a:xfrm>
              <a:custGeom>
                <a:avLst/>
                <a:gdLst>
                  <a:gd name="T0" fmla="*/ 4464 w 1120"/>
                  <a:gd name="T1" fmla="*/ 11 h 252"/>
                  <a:gd name="T2" fmla="*/ 4445 w 1120"/>
                  <a:gd name="T3" fmla="*/ 11 h 252"/>
                  <a:gd name="T4" fmla="*/ 4380 w 1120"/>
                  <a:gd name="T5" fmla="*/ 11 h 252"/>
                  <a:gd name="T6" fmla="*/ 4282 w 1120"/>
                  <a:gd name="T7" fmla="*/ 11 h 252"/>
                  <a:gd name="T8" fmla="*/ 4139 w 1120"/>
                  <a:gd name="T9" fmla="*/ 11 h 252"/>
                  <a:gd name="T10" fmla="*/ 3955 w 1120"/>
                  <a:gd name="T11" fmla="*/ 10 h 252"/>
                  <a:gd name="T12" fmla="*/ 3742 w 1120"/>
                  <a:gd name="T13" fmla="*/ 10 h 252"/>
                  <a:gd name="T14" fmla="*/ 3491 w 1120"/>
                  <a:gd name="T15" fmla="*/ 10 h 252"/>
                  <a:gd name="T16" fmla="*/ 3209 w 1120"/>
                  <a:gd name="T17" fmla="*/ 8 h 252"/>
                  <a:gd name="T18" fmla="*/ 2911 w 1120"/>
                  <a:gd name="T19" fmla="*/ 8 h 252"/>
                  <a:gd name="T20" fmla="*/ 2575 w 1120"/>
                  <a:gd name="T21" fmla="*/ 8 h 252"/>
                  <a:gd name="T22" fmla="*/ 2211 w 1120"/>
                  <a:gd name="T23" fmla="*/ 8 h 252"/>
                  <a:gd name="T24" fmla="*/ 1855 w 1120"/>
                  <a:gd name="T25" fmla="*/ 8 h 252"/>
                  <a:gd name="T26" fmla="*/ 1527 w 1120"/>
                  <a:gd name="T27" fmla="*/ 8 h 252"/>
                  <a:gd name="T28" fmla="*/ 1227 w 1120"/>
                  <a:gd name="T29" fmla="*/ 8 h 252"/>
                  <a:gd name="T30" fmla="*/ 949 w 1120"/>
                  <a:gd name="T31" fmla="*/ 10 h 252"/>
                  <a:gd name="T32" fmla="*/ 712 w 1120"/>
                  <a:gd name="T33" fmla="*/ 10 h 252"/>
                  <a:gd name="T34" fmla="*/ 503 w 1120"/>
                  <a:gd name="T35" fmla="*/ 10 h 252"/>
                  <a:gd name="T36" fmla="*/ 324 w 1120"/>
                  <a:gd name="T37" fmla="*/ 11 h 252"/>
                  <a:gd name="T38" fmla="*/ 184 w 1120"/>
                  <a:gd name="T39" fmla="*/ 11 h 252"/>
                  <a:gd name="T40" fmla="*/ 78 w 1120"/>
                  <a:gd name="T41" fmla="*/ 11 h 252"/>
                  <a:gd name="T42" fmla="*/ 23 w 1120"/>
                  <a:gd name="T43" fmla="*/ 11 h 252"/>
                  <a:gd name="T44" fmla="*/ 0 w 1120"/>
                  <a:gd name="T45" fmla="*/ 11 h 252"/>
                  <a:gd name="T46" fmla="*/ 0 w 1120"/>
                  <a:gd name="T47" fmla="*/ 3 h 252"/>
                  <a:gd name="T48" fmla="*/ 2229 w 1120"/>
                  <a:gd name="T49" fmla="*/ 0 h 252"/>
                  <a:gd name="T50" fmla="*/ 4464 w 1120"/>
                  <a:gd name="T51" fmla="*/ 3 h 252"/>
                  <a:gd name="T52" fmla="*/ 4464 w 1120"/>
                  <a:gd name="T53" fmla="*/ 11 h 252"/>
                  <a:gd name="T54" fmla="*/ 4464 w 1120"/>
                  <a:gd name="T55" fmla="*/ 11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16" name="Rectangle 9"/>
              <p:cNvSpPr>
                <a:spLocks noChangeArrowheads="1"/>
              </p:cNvSpPr>
              <p:nvPr/>
            </p:nvSpPr>
            <p:spPr bwMode="gray">
              <a:xfrm>
                <a:off x="816" y="2263"/>
                <a:ext cx="1142" cy="310"/>
              </a:xfrm>
              <a:prstGeom prst="rect">
                <a:avLst/>
              </a:prstGeom>
              <a:solidFill>
                <a:schemeClr val="accent6">
                  <a:lumMod val="60000"/>
                  <a:lumOff val="40000"/>
                </a:schemeClr>
              </a:solidFill>
              <a:ln w="9525" algn="ctr">
                <a:noFill/>
                <a:miter lim="800000"/>
                <a:headEnd/>
                <a:tailEnd/>
              </a:ln>
              <a:effectLst/>
            </p:spPr>
            <p:txBody>
              <a:bodyPr wrap="none" lIns="115192" tIns="57596" rIns="115192" bIns="57596" anchor="ctr"/>
              <a:lstStyle/>
              <a:p>
                <a:pPr defTabSz="1152525" eaLnBrk="0" hangingPunct="0">
                  <a:defRPr/>
                </a:pPr>
                <a:r>
                  <a:rPr lang="en-US" altLang="zh-CN" sz="2000" dirty="0" smtClean="0">
                    <a:solidFill>
                      <a:schemeClr val="bg1"/>
                    </a:solidFill>
                    <a:effectLst>
                      <a:outerShdw blurRad="38100" dist="38100" dir="2700000" algn="tl">
                        <a:srgbClr val="000000"/>
                      </a:outerShdw>
                    </a:effectLst>
                    <a:ea typeface="华文细黑" pitchFamily="2" charset="-122"/>
                  </a:rPr>
                  <a:t> Composition</a:t>
                </a:r>
                <a:endParaRPr lang="en-US" altLang="zh-CN" sz="2000" dirty="0">
                  <a:solidFill>
                    <a:schemeClr val="bg1"/>
                  </a:solidFill>
                  <a:effectLst>
                    <a:outerShdw blurRad="38100" dist="38100" dir="2700000" algn="tl">
                      <a:srgbClr val="000000"/>
                    </a:outerShdw>
                  </a:effectLst>
                  <a:ea typeface="华文细黑" pitchFamily="2" charset="-122"/>
                </a:endParaRPr>
              </a:p>
            </p:txBody>
          </p:sp>
        </p:grpSp>
        <p:sp>
          <p:nvSpPr>
            <p:cNvPr id="14" name="矩形 19"/>
            <p:cNvSpPr>
              <a:spLocks noChangeArrowheads="1"/>
            </p:cNvSpPr>
            <p:nvPr/>
          </p:nvSpPr>
          <p:spPr bwMode="auto">
            <a:xfrm>
              <a:off x="2912251" y="2262454"/>
              <a:ext cx="6167804" cy="1152701"/>
            </a:xfrm>
            <a:prstGeom prst="rect">
              <a:avLst/>
            </a:prstGeom>
            <a:noFill/>
            <a:ln w="9525">
              <a:noFill/>
              <a:miter lim="800000"/>
              <a:headEnd/>
              <a:tailEnd/>
            </a:ln>
          </p:spPr>
          <p:txBody>
            <a:bodyPr>
              <a:spAutoFit/>
            </a:bodyPr>
            <a:lstStyle/>
            <a:p>
              <a:pPr marL="266700" indent="-266700" algn="l">
                <a:buFont typeface="Wingdings" pitchFamily="2" charset="2"/>
                <a:buChar char="Ø"/>
              </a:pPr>
              <a:r>
                <a:rPr lang="en-US" altLang="zh-CN" dirty="0" smtClean="0"/>
                <a:t> </a:t>
              </a:r>
              <a:r>
                <a:rPr lang="en-US" altLang="zh-CN" b="0" dirty="0" smtClean="0"/>
                <a:t>   </a:t>
              </a:r>
              <a:r>
                <a:rPr lang="en-US" altLang="zh-CN" sz="1800" b="0" dirty="0" smtClean="0"/>
                <a:t>The </a:t>
              </a:r>
              <a:r>
                <a:rPr lang="en-US" altLang="zh-CN" sz="1800" b="0" dirty="0"/>
                <a:t>whole solar-arrays are composed of many </a:t>
              </a:r>
              <a:r>
                <a:rPr lang="en-US" altLang="zh-CN" sz="1800" i="1" dirty="0"/>
                <a:t>solar cells</a:t>
              </a:r>
              <a:r>
                <a:rPr lang="en-US" altLang="zh-CN" sz="1800" dirty="0"/>
                <a:t> </a:t>
              </a:r>
              <a:r>
                <a:rPr lang="en-US" altLang="zh-CN" sz="1800" b="0" dirty="0"/>
                <a:t>by </a:t>
              </a:r>
              <a:r>
                <a:rPr lang="en-US" altLang="zh-CN" sz="1800" b="0" dirty="0" smtClean="0"/>
                <a:t> </a:t>
              </a:r>
              <a:r>
                <a:rPr lang="en-US" altLang="zh-CN" sz="1800" b="0" dirty="0" smtClean="0">
                  <a:solidFill>
                    <a:srgbClr val="17AD5E"/>
                  </a:solidFill>
                </a:rPr>
                <a:t>series </a:t>
              </a:r>
              <a:r>
                <a:rPr lang="en-US" altLang="zh-CN" sz="1800" b="0" dirty="0">
                  <a:solidFill>
                    <a:srgbClr val="17AD5E"/>
                  </a:solidFill>
                </a:rPr>
                <a:t>connection and parallel connection compound used</a:t>
              </a:r>
              <a:r>
                <a:rPr lang="en-US" altLang="zh-CN" sz="1800" b="0" dirty="0"/>
                <a:t> in order to obtain voltage and current required. </a:t>
              </a:r>
              <a:endParaRPr lang="zh-CN" altLang="en-US" sz="1800" dirty="0"/>
            </a:p>
          </p:txBody>
        </p:sp>
      </p:grpSp>
      <p:pic>
        <p:nvPicPr>
          <p:cNvPr id="17" name="图片 20" descr="DSC02145"/>
          <p:cNvPicPr>
            <a:picLocks noChangeAspect="1" noChangeArrowheads="1"/>
          </p:cNvPicPr>
          <p:nvPr/>
        </p:nvPicPr>
        <p:blipFill>
          <a:blip r:embed="rId2" cstate="print"/>
          <a:srcRect r="28751"/>
          <a:stretch>
            <a:fillRect/>
          </a:stretch>
        </p:blipFill>
        <p:spPr bwMode="auto">
          <a:xfrm>
            <a:off x="7384493" y="3512773"/>
            <a:ext cx="1194470" cy="782425"/>
          </a:xfrm>
          <a:prstGeom prst="rect">
            <a:avLst/>
          </a:prstGeom>
          <a:noFill/>
          <a:ln w="9525">
            <a:noFill/>
            <a:miter lim="800000"/>
            <a:headEnd/>
            <a:tailEnd/>
          </a:ln>
        </p:spPr>
      </p:pic>
      <p:grpSp>
        <p:nvGrpSpPr>
          <p:cNvPr id="18" name="Group 4"/>
          <p:cNvGrpSpPr>
            <a:grpSpLocks/>
          </p:cNvGrpSpPr>
          <p:nvPr/>
        </p:nvGrpSpPr>
        <p:grpSpPr bwMode="auto">
          <a:xfrm>
            <a:off x="442516" y="3614246"/>
            <a:ext cx="1640862" cy="556737"/>
            <a:chOff x="743" y="2264"/>
            <a:chExt cx="1429" cy="546"/>
          </a:xfrm>
        </p:grpSpPr>
        <p:sp>
          <p:nvSpPr>
            <p:cNvPr id="19" name="Freeform 5"/>
            <p:cNvSpPr>
              <a:spLocks/>
            </p:cNvSpPr>
            <p:nvPr/>
          </p:nvSpPr>
          <p:spPr bwMode="gray">
            <a:xfrm>
              <a:off x="830" y="2634"/>
              <a:ext cx="1202" cy="176"/>
            </a:xfrm>
            <a:custGeom>
              <a:avLst/>
              <a:gdLst>
                <a:gd name="T0" fmla="*/ 2381 w 1120"/>
                <a:gd name="T1" fmla="*/ 46 h 252"/>
                <a:gd name="T2" fmla="*/ 2371 w 1120"/>
                <a:gd name="T3" fmla="*/ 46 h 252"/>
                <a:gd name="T4" fmla="*/ 2337 w 1120"/>
                <a:gd name="T5" fmla="*/ 45 h 252"/>
                <a:gd name="T6" fmla="*/ 2284 w 1120"/>
                <a:gd name="T7" fmla="*/ 44 h 252"/>
                <a:gd name="T8" fmla="*/ 2208 w 1120"/>
                <a:gd name="T9" fmla="*/ 43 h 252"/>
                <a:gd name="T10" fmla="*/ 2110 w 1120"/>
                <a:gd name="T11" fmla="*/ 41 h 252"/>
                <a:gd name="T12" fmla="*/ 1996 w 1120"/>
                <a:gd name="T13" fmla="*/ 39 h 252"/>
                <a:gd name="T14" fmla="*/ 1862 w 1120"/>
                <a:gd name="T15" fmla="*/ 38 h 252"/>
                <a:gd name="T16" fmla="*/ 1712 w 1120"/>
                <a:gd name="T17" fmla="*/ 36 h 252"/>
                <a:gd name="T18" fmla="*/ 1553 w 1120"/>
                <a:gd name="T19" fmla="*/ 35 h 252"/>
                <a:gd name="T20" fmla="*/ 1373 w 1120"/>
                <a:gd name="T21" fmla="*/ 34 h 252"/>
                <a:gd name="T22" fmla="*/ 1180 w 1120"/>
                <a:gd name="T23" fmla="*/ 34 h 252"/>
                <a:gd name="T24" fmla="*/ 990 w 1120"/>
                <a:gd name="T25" fmla="*/ 34 h 252"/>
                <a:gd name="T26" fmla="*/ 815 w 1120"/>
                <a:gd name="T27" fmla="*/ 35 h 252"/>
                <a:gd name="T28" fmla="*/ 654 w 1120"/>
                <a:gd name="T29" fmla="*/ 36 h 252"/>
                <a:gd name="T30" fmla="*/ 506 w 1120"/>
                <a:gd name="T31" fmla="*/ 38 h 252"/>
                <a:gd name="T32" fmla="*/ 380 w 1120"/>
                <a:gd name="T33" fmla="*/ 39 h 252"/>
                <a:gd name="T34" fmla="*/ 269 w 1120"/>
                <a:gd name="T35" fmla="*/ 41 h 252"/>
                <a:gd name="T36" fmla="*/ 173 w 1120"/>
                <a:gd name="T37" fmla="*/ 43 h 252"/>
                <a:gd name="T38" fmla="*/ 98 w 1120"/>
                <a:gd name="T39" fmla="*/ 44 h 252"/>
                <a:gd name="T40" fmla="*/ 42 w 1120"/>
                <a:gd name="T41" fmla="*/ 45 h 252"/>
                <a:gd name="T42" fmla="*/ 12 w 1120"/>
                <a:gd name="T43" fmla="*/ 46 h 252"/>
                <a:gd name="T44" fmla="*/ 0 w 1120"/>
                <a:gd name="T45" fmla="*/ 46 h 252"/>
                <a:gd name="T46" fmla="*/ 0 w 1120"/>
                <a:gd name="T47" fmla="*/ 11 h 252"/>
                <a:gd name="T48" fmla="*/ 1189 w 1120"/>
                <a:gd name="T49" fmla="*/ 0 h 252"/>
                <a:gd name="T50" fmla="*/ 2381 w 1120"/>
                <a:gd name="T51" fmla="*/ 11 h 252"/>
                <a:gd name="T52" fmla="*/ 2381 w 1120"/>
                <a:gd name="T53" fmla="*/ 46 h 252"/>
                <a:gd name="T54" fmla="*/ 2381 w 1120"/>
                <a:gd name="T55" fmla="*/ 46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20" name="Rectangle 6"/>
            <p:cNvSpPr>
              <a:spLocks noChangeArrowheads="1"/>
            </p:cNvSpPr>
            <p:nvPr/>
          </p:nvSpPr>
          <p:spPr bwMode="gray">
            <a:xfrm>
              <a:off x="743" y="2264"/>
              <a:ext cx="1429" cy="433"/>
            </a:xfrm>
            <a:prstGeom prst="rect">
              <a:avLst/>
            </a:prstGeom>
            <a:solidFill>
              <a:srgbClr val="B2B2B2"/>
            </a:solidFill>
            <a:ln w="9525" algn="ctr">
              <a:noFill/>
              <a:miter lim="800000"/>
              <a:headEnd/>
              <a:tailEnd/>
            </a:ln>
            <a:effectLst/>
          </p:spPr>
          <p:txBody>
            <a:bodyPr wrap="none" lIns="115192" tIns="57596" rIns="115192" bIns="57596" anchor="ctr"/>
            <a:lstStyle/>
            <a:p>
              <a:pPr defTabSz="1152525" eaLnBrk="0" hangingPunct="0">
                <a:defRPr/>
              </a:pPr>
              <a:r>
                <a:rPr lang="en-US" altLang="zh-CN" sz="2000" dirty="0">
                  <a:solidFill>
                    <a:srgbClr val="FFFFFF"/>
                  </a:solidFill>
                  <a:effectLst>
                    <a:outerShdw blurRad="38100" dist="38100" dir="2700000" algn="tl">
                      <a:srgbClr val="000000"/>
                    </a:outerShdw>
                  </a:effectLst>
                  <a:ea typeface="华文细黑" pitchFamily="2" charset="-122"/>
                </a:rPr>
                <a:t>Solar cell type</a:t>
              </a:r>
            </a:p>
          </p:txBody>
        </p:sp>
      </p:grpSp>
      <p:grpSp>
        <p:nvGrpSpPr>
          <p:cNvPr id="21" name="Group 13"/>
          <p:cNvGrpSpPr>
            <a:grpSpLocks/>
          </p:cNvGrpSpPr>
          <p:nvPr/>
        </p:nvGrpSpPr>
        <p:grpSpPr bwMode="auto">
          <a:xfrm>
            <a:off x="405352" y="5172638"/>
            <a:ext cx="1753650" cy="542378"/>
            <a:chOff x="816" y="2304"/>
            <a:chExt cx="1450" cy="497"/>
          </a:xfrm>
        </p:grpSpPr>
        <p:sp>
          <p:nvSpPr>
            <p:cNvPr id="22" name="Freeform 14"/>
            <p:cNvSpPr>
              <a:spLocks/>
            </p:cNvSpPr>
            <p:nvPr/>
          </p:nvSpPr>
          <p:spPr bwMode="gray">
            <a:xfrm>
              <a:off x="924" y="2611"/>
              <a:ext cx="1270" cy="190"/>
            </a:xfrm>
            <a:custGeom>
              <a:avLst/>
              <a:gdLst>
                <a:gd name="T0" fmla="*/ 2381 w 1120"/>
                <a:gd name="T1" fmla="*/ 46 h 252"/>
                <a:gd name="T2" fmla="*/ 2371 w 1120"/>
                <a:gd name="T3" fmla="*/ 46 h 252"/>
                <a:gd name="T4" fmla="*/ 2337 w 1120"/>
                <a:gd name="T5" fmla="*/ 45 h 252"/>
                <a:gd name="T6" fmla="*/ 2284 w 1120"/>
                <a:gd name="T7" fmla="*/ 44 h 252"/>
                <a:gd name="T8" fmla="*/ 2208 w 1120"/>
                <a:gd name="T9" fmla="*/ 43 h 252"/>
                <a:gd name="T10" fmla="*/ 2110 w 1120"/>
                <a:gd name="T11" fmla="*/ 41 h 252"/>
                <a:gd name="T12" fmla="*/ 1996 w 1120"/>
                <a:gd name="T13" fmla="*/ 39 h 252"/>
                <a:gd name="T14" fmla="*/ 1862 w 1120"/>
                <a:gd name="T15" fmla="*/ 38 h 252"/>
                <a:gd name="T16" fmla="*/ 1712 w 1120"/>
                <a:gd name="T17" fmla="*/ 36 h 252"/>
                <a:gd name="T18" fmla="*/ 1553 w 1120"/>
                <a:gd name="T19" fmla="*/ 35 h 252"/>
                <a:gd name="T20" fmla="*/ 1373 w 1120"/>
                <a:gd name="T21" fmla="*/ 34 h 252"/>
                <a:gd name="T22" fmla="*/ 1180 w 1120"/>
                <a:gd name="T23" fmla="*/ 34 h 252"/>
                <a:gd name="T24" fmla="*/ 990 w 1120"/>
                <a:gd name="T25" fmla="*/ 34 h 252"/>
                <a:gd name="T26" fmla="*/ 815 w 1120"/>
                <a:gd name="T27" fmla="*/ 35 h 252"/>
                <a:gd name="T28" fmla="*/ 654 w 1120"/>
                <a:gd name="T29" fmla="*/ 36 h 252"/>
                <a:gd name="T30" fmla="*/ 506 w 1120"/>
                <a:gd name="T31" fmla="*/ 38 h 252"/>
                <a:gd name="T32" fmla="*/ 380 w 1120"/>
                <a:gd name="T33" fmla="*/ 39 h 252"/>
                <a:gd name="T34" fmla="*/ 269 w 1120"/>
                <a:gd name="T35" fmla="*/ 41 h 252"/>
                <a:gd name="T36" fmla="*/ 173 w 1120"/>
                <a:gd name="T37" fmla="*/ 43 h 252"/>
                <a:gd name="T38" fmla="*/ 98 w 1120"/>
                <a:gd name="T39" fmla="*/ 44 h 252"/>
                <a:gd name="T40" fmla="*/ 42 w 1120"/>
                <a:gd name="T41" fmla="*/ 45 h 252"/>
                <a:gd name="T42" fmla="*/ 12 w 1120"/>
                <a:gd name="T43" fmla="*/ 46 h 252"/>
                <a:gd name="T44" fmla="*/ 0 w 1120"/>
                <a:gd name="T45" fmla="*/ 46 h 252"/>
                <a:gd name="T46" fmla="*/ 0 w 1120"/>
                <a:gd name="T47" fmla="*/ 11 h 252"/>
                <a:gd name="T48" fmla="*/ 1189 w 1120"/>
                <a:gd name="T49" fmla="*/ 0 h 252"/>
                <a:gd name="T50" fmla="*/ 2381 w 1120"/>
                <a:gd name="T51" fmla="*/ 11 h 252"/>
                <a:gd name="T52" fmla="*/ 2381 w 1120"/>
                <a:gd name="T53" fmla="*/ 46 h 252"/>
                <a:gd name="T54" fmla="*/ 2381 w 1120"/>
                <a:gd name="T55" fmla="*/ 46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23" name="Rectangle 15"/>
            <p:cNvSpPr>
              <a:spLocks noChangeArrowheads="1"/>
            </p:cNvSpPr>
            <p:nvPr/>
          </p:nvSpPr>
          <p:spPr bwMode="gray">
            <a:xfrm>
              <a:off x="816" y="2304"/>
              <a:ext cx="1450" cy="393"/>
            </a:xfrm>
            <a:prstGeom prst="rect">
              <a:avLst/>
            </a:prstGeom>
            <a:solidFill>
              <a:srgbClr val="A50021"/>
            </a:solidFill>
            <a:ln w="9525" algn="ctr">
              <a:noFill/>
              <a:miter lim="800000"/>
              <a:headEnd/>
              <a:tailEnd/>
            </a:ln>
            <a:effectLst/>
          </p:spPr>
          <p:txBody>
            <a:bodyPr wrap="none" lIns="115192" tIns="57596" rIns="115192" bIns="57596" anchor="ctr"/>
            <a:lstStyle/>
            <a:p>
              <a:pPr defTabSz="1152525" eaLnBrk="0" hangingPunct="0">
                <a:defRPr/>
              </a:pPr>
              <a:r>
                <a:rPr lang="en-US" altLang="zh-CN" sz="2000" dirty="0" smtClean="0">
                  <a:solidFill>
                    <a:srgbClr val="FFFFFF"/>
                  </a:solidFill>
                  <a:effectLst>
                    <a:outerShdw blurRad="38100" dist="38100" dir="2700000" algn="tl">
                      <a:srgbClr val="000000"/>
                    </a:outerShdw>
                  </a:effectLst>
                  <a:ea typeface="华文细黑" pitchFamily="2" charset="-122"/>
                </a:rPr>
                <a:t>Solar </a:t>
              </a:r>
              <a:r>
                <a:rPr lang="en-US" altLang="zh-CN" sz="2000" dirty="0">
                  <a:solidFill>
                    <a:srgbClr val="FFFFFF"/>
                  </a:solidFill>
                  <a:effectLst>
                    <a:outerShdw blurRad="38100" dist="38100" dir="2700000" algn="tl">
                      <a:srgbClr val="000000"/>
                    </a:outerShdw>
                  </a:effectLst>
                  <a:ea typeface="华文细黑" pitchFamily="2" charset="-122"/>
                </a:rPr>
                <a:t>Array size</a:t>
              </a:r>
            </a:p>
          </p:txBody>
        </p:sp>
      </p:grpSp>
      <p:cxnSp>
        <p:nvCxnSpPr>
          <p:cNvPr id="24" name="AutoShape 17"/>
          <p:cNvCxnSpPr>
            <a:cxnSpLocks noChangeShapeType="1"/>
          </p:cNvCxnSpPr>
          <p:nvPr/>
        </p:nvCxnSpPr>
        <p:spPr bwMode="gray">
          <a:xfrm rot="16200000" flipH="1">
            <a:off x="1026256" y="4126077"/>
            <a:ext cx="469649" cy="381810"/>
          </a:xfrm>
          <a:prstGeom prst="straightConnector1">
            <a:avLst/>
          </a:prstGeom>
          <a:noFill/>
          <a:ln w="9525">
            <a:solidFill>
              <a:srgbClr val="808080"/>
            </a:solidFill>
            <a:round/>
            <a:headEnd/>
            <a:tailEnd/>
          </a:ln>
        </p:spPr>
      </p:cxnSp>
      <p:cxnSp>
        <p:nvCxnSpPr>
          <p:cNvPr id="25" name="AutoShape 18"/>
          <p:cNvCxnSpPr>
            <a:cxnSpLocks noChangeShapeType="1"/>
          </p:cNvCxnSpPr>
          <p:nvPr/>
        </p:nvCxnSpPr>
        <p:spPr bwMode="gray">
          <a:xfrm rot="10800000" flipV="1">
            <a:off x="1093594" y="4847012"/>
            <a:ext cx="373666" cy="373365"/>
          </a:xfrm>
          <a:prstGeom prst="straightConnector1">
            <a:avLst/>
          </a:prstGeom>
          <a:noFill/>
          <a:ln w="9525">
            <a:solidFill>
              <a:srgbClr val="808080"/>
            </a:solidFill>
            <a:round/>
            <a:headEnd/>
            <a:tailEnd/>
          </a:ln>
        </p:spPr>
      </p:cxnSp>
      <p:sp>
        <p:nvSpPr>
          <p:cNvPr id="26" name="Text Box 22"/>
          <p:cNvSpPr txBox="1">
            <a:spLocks noChangeArrowheads="1"/>
          </p:cNvSpPr>
          <p:nvPr/>
        </p:nvSpPr>
        <p:spPr bwMode="auto">
          <a:xfrm>
            <a:off x="2743878" y="3799856"/>
            <a:ext cx="4420493" cy="301881"/>
          </a:xfrm>
          <a:prstGeom prst="rect">
            <a:avLst/>
          </a:prstGeom>
          <a:noFill/>
          <a:ln w="9525" algn="ctr">
            <a:noFill/>
            <a:miter lim="800000"/>
            <a:headEnd/>
            <a:tailEnd/>
          </a:ln>
        </p:spPr>
        <p:txBody>
          <a:bodyPr wrap="square" lIns="115192" tIns="57596" rIns="115192" bIns="57596">
            <a:spAutoFit/>
          </a:bodyPr>
          <a:lstStyle/>
          <a:p>
            <a:pPr marL="361950" indent="-361950" defTabSz="1152525">
              <a:lnSpc>
                <a:spcPct val="60000"/>
              </a:lnSpc>
              <a:spcBef>
                <a:spcPct val="50000"/>
              </a:spcBef>
              <a:buFont typeface="Wingdings" pitchFamily="2" charset="2"/>
              <a:buChar char="Ø"/>
            </a:pPr>
            <a:r>
              <a:rPr lang="en-US" altLang="zh-CN" sz="1800" dirty="0" smtClean="0"/>
              <a:t>  Triple-junction </a:t>
            </a:r>
            <a:r>
              <a:rPr lang="en-US" altLang="zh-CN" sz="1800" dirty="0" err="1" smtClean="0"/>
              <a:t>GaAs</a:t>
            </a:r>
            <a:r>
              <a:rPr lang="en-US" altLang="zh-CN" sz="1800" dirty="0" smtClean="0"/>
              <a:t> solar cell</a:t>
            </a:r>
          </a:p>
        </p:txBody>
      </p:sp>
      <p:sp>
        <p:nvSpPr>
          <p:cNvPr id="27" name="Text Box 24"/>
          <p:cNvSpPr txBox="1">
            <a:spLocks noChangeArrowheads="1"/>
          </p:cNvSpPr>
          <p:nvPr/>
        </p:nvSpPr>
        <p:spPr bwMode="auto">
          <a:xfrm>
            <a:off x="2750250" y="4295058"/>
            <a:ext cx="6107999" cy="670315"/>
          </a:xfrm>
          <a:prstGeom prst="rect">
            <a:avLst/>
          </a:prstGeom>
          <a:noFill/>
          <a:ln w="9525" algn="ctr">
            <a:noFill/>
            <a:miter lim="800000"/>
            <a:headEnd/>
            <a:tailEnd/>
          </a:ln>
        </p:spPr>
        <p:txBody>
          <a:bodyPr wrap="square" lIns="115192" tIns="57596" rIns="115192" bIns="57596">
            <a:spAutoFit/>
          </a:bodyPr>
          <a:lstStyle/>
          <a:p>
            <a:pPr marL="266700" indent="-266700" defTabSz="1152525">
              <a:spcBef>
                <a:spcPct val="50000"/>
              </a:spcBef>
              <a:buFont typeface="Wingdings" pitchFamily="2" charset="2"/>
              <a:buChar char="Ø"/>
            </a:pPr>
            <a:r>
              <a:rPr lang="en-US" altLang="zh-CN" sz="1800" dirty="0" smtClean="0">
                <a:solidFill>
                  <a:srgbClr val="17AD5E"/>
                </a:solidFill>
              </a:rPr>
              <a:t>  Three solar panels --- one panel for surface-mounted and   two </a:t>
            </a:r>
            <a:r>
              <a:rPr lang="en-US" altLang="zh-CN" sz="1800" dirty="0">
                <a:solidFill>
                  <a:srgbClr val="17AD5E"/>
                </a:solidFill>
              </a:rPr>
              <a:t>fixed solar </a:t>
            </a:r>
            <a:r>
              <a:rPr lang="en-US" altLang="zh-CN" sz="1800" dirty="0" smtClean="0">
                <a:solidFill>
                  <a:srgbClr val="17AD5E"/>
                </a:solidFill>
              </a:rPr>
              <a:t>wings with one panel for each other</a:t>
            </a:r>
            <a:endParaRPr lang="en-US" altLang="zh-CN" sz="1800" dirty="0">
              <a:solidFill>
                <a:srgbClr val="17AD5E"/>
              </a:solidFill>
            </a:endParaRPr>
          </a:p>
        </p:txBody>
      </p:sp>
      <p:grpSp>
        <p:nvGrpSpPr>
          <p:cNvPr id="28" name="Group 10"/>
          <p:cNvGrpSpPr>
            <a:grpSpLocks/>
          </p:cNvGrpSpPr>
          <p:nvPr/>
        </p:nvGrpSpPr>
        <p:grpSpPr bwMode="auto">
          <a:xfrm>
            <a:off x="414992" y="4403630"/>
            <a:ext cx="1696509" cy="606195"/>
            <a:chOff x="637" y="2276"/>
            <a:chExt cx="1418" cy="542"/>
          </a:xfrm>
        </p:grpSpPr>
        <p:sp>
          <p:nvSpPr>
            <p:cNvPr id="29" name="Freeform 11"/>
            <p:cNvSpPr>
              <a:spLocks/>
            </p:cNvSpPr>
            <p:nvPr/>
          </p:nvSpPr>
          <p:spPr bwMode="gray">
            <a:xfrm>
              <a:off x="708" y="2613"/>
              <a:ext cx="1253" cy="205"/>
            </a:xfrm>
            <a:custGeom>
              <a:avLst/>
              <a:gdLst>
                <a:gd name="T0" fmla="*/ 2381 w 1120"/>
                <a:gd name="T1" fmla="*/ 46 h 252"/>
                <a:gd name="T2" fmla="*/ 2371 w 1120"/>
                <a:gd name="T3" fmla="*/ 46 h 252"/>
                <a:gd name="T4" fmla="*/ 2337 w 1120"/>
                <a:gd name="T5" fmla="*/ 45 h 252"/>
                <a:gd name="T6" fmla="*/ 2284 w 1120"/>
                <a:gd name="T7" fmla="*/ 44 h 252"/>
                <a:gd name="T8" fmla="*/ 2208 w 1120"/>
                <a:gd name="T9" fmla="*/ 43 h 252"/>
                <a:gd name="T10" fmla="*/ 2110 w 1120"/>
                <a:gd name="T11" fmla="*/ 41 h 252"/>
                <a:gd name="T12" fmla="*/ 1996 w 1120"/>
                <a:gd name="T13" fmla="*/ 39 h 252"/>
                <a:gd name="T14" fmla="*/ 1862 w 1120"/>
                <a:gd name="T15" fmla="*/ 38 h 252"/>
                <a:gd name="T16" fmla="*/ 1712 w 1120"/>
                <a:gd name="T17" fmla="*/ 36 h 252"/>
                <a:gd name="T18" fmla="*/ 1553 w 1120"/>
                <a:gd name="T19" fmla="*/ 35 h 252"/>
                <a:gd name="T20" fmla="*/ 1373 w 1120"/>
                <a:gd name="T21" fmla="*/ 34 h 252"/>
                <a:gd name="T22" fmla="*/ 1180 w 1120"/>
                <a:gd name="T23" fmla="*/ 34 h 252"/>
                <a:gd name="T24" fmla="*/ 990 w 1120"/>
                <a:gd name="T25" fmla="*/ 34 h 252"/>
                <a:gd name="T26" fmla="*/ 815 w 1120"/>
                <a:gd name="T27" fmla="*/ 35 h 252"/>
                <a:gd name="T28" fmla="*/ 654 w 1120"/>
                <a:gd name="T29" fmla="*/ 36 h 252"/>
                <a:gd name="T30" fmla="*/ 506 w 1120"/>
                <a:gd name="T31" fmla="*/ 38 h 252"/>
                <a:gd name="T32" fmla="*/ 380 w 1120"/>
                <a:gd name="T33" fmla="*/ 39 h 252"/>
                <a:gd name="T34" fmla="*/ 269 w 1120"/>
                <a:gd name="T35" fmla="*/ 41 h 252"/>
                <a:gd name="T36" fmla="*/ 173 w 1120"/>
                <a:gd name="T37" fmla="*/ 43 h 252"/>
                <a:gd name="T38" fmla="*/ 98 w 1120"/>
                <a:gd name="T39" fmla="*/ 44 h 252"/>
                <a:gd name="T40" fmla="*/ 42 w 1120"/>
                <a:gd name="T41" fmla="*/ 45 h 252"/>
                <a:gd name="T42" fmla="*/ 12 w 1120"/>
                <a:gd name="T43" fmla="*/ 46 h 252"/>
                <a:gd name="T44" fmla="*/ 0 w 1120"/>
                <a:gd name="T45" fmla="*/ 46 h 252"/>
                <a:gd name="T46" fmla="*/ 0 w 1120"/>
                <a:gd name="T47" fmla="*/ 11 h 252"/>
                <a:gd name="T48" fmla="*/ 1189 w 1120"/>
                <a:gd name="T49" fmla="*/ 0 h 252"/>
                <a:gd name="T50" fmla="*/ 2381 w 1120"/>
                <a:gd name="T51" fmla="*/ 11 h 252"/>
                <a:gd name="T52" fmla="*/ 2381 w 1120"/>
                <a:gd name="T53" fmla="*/ 46 h 252"/>
                <a:gd name="T54" fmla="*/ 2381 w 1120"/>
                <a:gd name="T55" fmla="*/ 46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30" name="Rectangle 12"/>
            <p:cNvSpPr>
              <a:spLocks noChangeArrowheads="1"/>
            </p:cNvSpPr>
            <p:nvPr/>
          </p:nvSpPr>
          <p:spPr bwMode="gray">
            <a:xfrm>
              <a:off x="637" y="2276"/>
              <a:ext cx="1418" cy="429"/>
            </a:xfrm>
            <a:prstGeom prst="rect">
              <a:avLst/>
            </a:prstGeom>
            <a:solidFill>
              <a:schemeClr val="hlink"/>
            </a:solidFill>
            <a:ln w="9525" algn="ctr">
              <a:noFill/>
              <a:miter lim="800000"/>
              <a:headEnd/>
              <a:tailEnd/>
            </a:ln>
            <a:effectLst/>
          </p:spPr>
          <p:txBody>
            <a:bodyPr wrap="none" lIns="115192" tIns="57596" rIns="115192" bIns="57596" anchor="ctr"/>
            <a:lstStyle/>
            <a:p>
              <a:pPr defTabSz="1152525" eaLnBrk="0" hangingPunct="0">
                <a:defRPr/>
              </a:pPr>
              <a:r>
                <a:rPr lang="en-US" altLang="zh-CN" sz="2000" dirty="0" smtClean="0">
                  <a:solidFill>
                    <a:srgbClr val="FFFFFF"/>
                  </a:solidFill>
                  <a:effectLst>
                    <a:outerShdw blurRad="38100" dist="38100" dir="2700000" algn="tl">
                      <a:srgbClr val="000000"/>
                    </a:outerShdw>
                  </a:effectLst>
                  <a:ea typeface="华文细黑" pitchFamily="2" charset="-122"/>
                </a:rPr>
                <a:t>Wing number</a:t>
              </a:r>
              <a:endParaRPr lang="en-US" altLang="zh-CN" sz="2000" dirty="0">
                <a:solidFill>
                  <a:srgbClr val="FFFFFF"/>
                </a:solidFill>
                <a:effectLst>
                  <a:outerShdw blurRad="38100" dist="38100" dir="2700000" algn="tl">
                    <a:srgbClr val="000000"/>
                  </a:outerShdw>
                </a:effectLst>
                <a:ea typeface="华文细黑" pitchFamily="2" charset="-122"/>
              </a:endParaRPr>
            </a:p>
          </p:txBody>
        </p:sp>
      </p:grpSp>
      <p:cxnSp>
        <p:nvCxnSpPr>
          <p:cNvPr id="31" name="AutoShape 18"/>
          <p:cNvCxnSpPr>
            <a:cxnSpLocks noChangeShapeType="1"/>
          </p:cNvCxnSpPr>
          <p:nvPr/>
        </p:nvCxnSpPr>
        <p:spPr bwMode="gray">
          <a:xfrm rot="10800000" flipV="1">
            <a:off x="989899" y="3282163"/>
            <a:ext cx="373666" cy="373365"/>
          </a:xfrm>
          <a:prstGeom prst="straightConnector1">
            <a:avLst/>
          </a:prstGeom>
          <a:noFill/>
          <a:ln w="9525">
            <a:solidFill>
              <a:srgbClr val="808080"/>
            </a:solidFill>
            <a:round/>
            <a:headEnd/>
            <a:tailEnd/>
          </a:ln>
        </p:spPr>
      </p:cxnSp>
      <p:sp>
        <p:nvSpPr>
          <p:cNvPr id="32" name="Text Box 25"/>
          <p:cNvSpPr txBox="1">
            <a:spLocks noChangeArrowheads="1"/>
          </p:cNvSpPr>
          <p:nvPr/>
        </p:nvSpPr>
        <p:spPr bwMode="auto">
          <a:xfrm>
            <a:off x="2714612" y="5164903"/>
            <a:ext cx="5874425" cy="922371"/>
          </a:xfrm>
          <a:prstGeom prst="rect">
            <a:avLst/>
          </a:prstGeom>
          <a:noFill/>
          <a:ln w="9525" algn="ctr">
            <a:noFill/>
            <a:miter lim="800000"/>
            <a:headEnd/>
            <a:tailEnd/>
          </a:ln>
          <a:effectLst/>
        </p:spPr>
        <p:txBody>
          <a:bodyPr wrap="square" lIns="115192" tIns="57596" rIns="115192" bIns="57596">
            <a:spAutoFit/>
          </a:bodyPr>
          <a:lstStyle/>
          <a:p>
            <a:pPr marL="361950" indent="-361950">
              <a:buFont typeface="Wingdings" pitchFamily="2" charset="2"/>
              <a:buChar char="Ø"/>
              <a:defRPr/>
            </a:pPr>
            <a:r>
              <a:rPr lang="en-US" altLang="zh-CN" sz="1800" dirty="0" smtClean="0"/>
              <a:t>  The </a:t>
            </a:r>
            <a:r>
              <a:rPr lang="en-US" altLang="zh-CN" sz="1800" dirty="0"/>
              <a:t>total area of the whole </a:t>
            </a:r>
            <a:r>
              <a:rPr lang="en-US" altLang="zh-CN" sz="1800" dirty="0" smtClean="0"/>
              <a:t>solar-arrays is 0.70m   that </a:t>
            </a:r>
            <a:r>
              <a:rPr lang="en-US" altLang="zh-CN" sz="1800" dirty="0"/>
              <a:t>could meet the power requirements. </a:t>
            </a:r>
          </a:p>
          <a:p>
            <a:pPr marL="177800" indent="-177800" defTabSz="1152525">
              <a:lnSpc>
                <a:spcPct val="60000"/>
              </a:lnSpc>
              <a:spcBef>
                <a:spcPct val="50000"/>
              </a:spcBef>
              <a:buFontTx/>
              <a:buChar char="•"/>
              <a:defRPr/>
            </a:pPr>
            <a:endParaRPr lang="en-US" altLang="zh-CN" sz="1400" b="0" dirty="0">
              <a:solidFill>
                <a:srgbClr val="292929"/>
              </a:solidFill>
              <a:ea typeface="华文细黑" pitchFamily="2" charset="-122"/>
            </a:endParaRPr>
          </a:p>
        </p:txBody>
      </p:sp>
      <p:sp>
        <p:nvSpPr>
          <p:cNvPr id="33" name="矩形 28"/>
          <p:cNvSpPr>
            <a:spLocks noChangeArrowheads="1"/>
          </p:cNvSpPr>
          <p:nvPr/>
        </p:nvSpPr>
        <p:spPr bwMode="auto">
          <a:xfrm>
            <a:off x="7500958" y="5152265"/>
            <a:ext cx="263214" cy="276999"/>
          </a:xfrm>
          <a:prstGeom prst="rect">
            <a:avLst/>
          </a:prstGeom>
          <a:noFill/>
          <a:ln w="9525">
            <a:noFill/>
            <a:miter lim="800000"/>
            <a:headEnd/>
            <a:tailEnd/>
          </a:ln>
        </p:spPr>
        <p:txBody>
          <a:bodyPr wrap="none">
            <a:spAutoFit/>
          </a:bodyPr>
          <a:lstStyle/>
          <a:p>
            <a:r>
              <a:rPr lang="en-US" altLang="zh-CN" sz="1200" b="0" dirty="0"/>
              <a:t>2</a:t>
            </a:r>
            <a:endParaRPr lang="zh-CN" alt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11</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1256076" y="500042"/>
            <a:ext cx="6530634" cy="707886"/>
          </a:xfrm>
          <a:prstGeom prst="rect">
            <a:avLst/>
          </a:prstGeom>
        </p:spPr>
        <p:txBody>
          <a:bodyPr wrap="none">
            <a:spAutoFit/>
          </a:bodyPr>
          <a:lstStyle/>
          <a:p>
            <a:pPr algn="ctr"/>
            <a:r>
              <a:rPr lang="en-US" altLang="zh-CN" sz="4000" dirty="0" smtClean="0">
                <a:solidFill>
                  <a:srgbClr val="FFFFCC"/>
                </a:solidFill>
                <a:latin typeface="Impact" pitchFamily="34" charset="0"/>
                <a:ea typeface="方正大黑简体" pitchFamily="2" charset="-122"/>
              </a:rPr>
              <a:t>Compositions of PSS ( Battery)</a:t>
            </a:r>
            <a:endParaRPr lang="zh-CN" altLang="en-US" sz="4000" dirty="0">
              <a:solidFill>
                <a:srgbClr val="FFFFCC"/>
              </a:solidFill>
              <a:latin typeface="Impact" pitchFamily="34" charset="0"/>
              <a:ea typeface="方正大黑简体" pitchFamily="2" charset="-122"/>
            </a:endParaRPr>
          </a:p>
        </p:txBody>
      </p:sp>
      <p:sp>
        <p:nvSpPr>
          <p:cNvPr id="7" name="矩形 24"/>
          <p:cNvSpPr>
            <a:spLocks noChangeArrowheads="1"/>
          </p:cNvSpPr>
          <p:nvPr/>
        </p:nvSpPr>
        <p:spPr bwMode="auto">
          <a:xfrm>
            <a:off x="263331" y="1375905"/>
            <a:ext cx="8358554" cy="669414"/>
          </a:xfrm>
          <a:prstGeom prst="rect">
            <a:avLst/>
          </a:prstGeom>
          <a:noFill/>
          <a:ln w="9525">
            <a:noFill/>
            <a:miter lim="800000"/>
            <a:headEnd/>
            <a:tailEnd/>
          </a:ln>
        </p:spPr>
        <p:txBody>
          <a:bodyPr>
            <a:spAutoFit/>
          </a:bodyPr>
          <a:lstStyle/>
          <a:p>
            <a:pPr algn="just">
              <a:lnSpc>
                <a:spcPts val="2300"/>
              </a:lnSpc>
            </a:pPr>
            <a:r>
              <a:rPr lang="en-US" altLang="zh-CN" b="0" dirty="0"/>
              <a:t>    </a:t>
            </a:r>
            <a:r>
              <a:rPr lang="en-US" altLang="zh-CN" b="0" dirty="0" smtClean="0"/>
              <a:t>  </a:t>
            </a:r>
            <a:r>
              <a:rPr lang="en-US" altLang="zh-CN" sz="1800" b="0" dirty="0" smtClean="0"/>
              <a:t>The structure of batteries </a:t>
            </a:r>
            <a:r>
              <a:rPr lang="en-US" altLang="zh-CN" sz="1800" b="0" dirty="0"/>
              <a:t>is composed of several </a:t>
            </a:r>
            <a:r>
              <a:rPr lang="en-US" altLang="zh-CN" sz="1800" i="1" dirty="0">
                <a:solidFill>
                  <a:srgbClr val="B010A8"/>
                </a:solidFill>
              </a:rPr>
              <a:t>rechargeable battery cells</a:t>
            </a:r>
            <a:r>
              <a:rPr lang="en-US" altLang="zh-CN" sz="1800" b="0" dirty="0">
                <a:solidFill>
                  <a:srgbClr val="C00000"/>
                </a:solidFill>
              </a:rPr>
              <a:t>  </a:t>
            </a:r>
            <a:r>
              <a:rPr lang="en-US" altLang="zh-CN" sz="1800" b="0" dirty="0"/>
              <a:t>to gain the voltage and current needed. </a:t>
            </a:r>
          </a:p>
        </p:txBody>
      </p:sp>
      <p:grpSp>
        <p:nvGrpSpPr>
          <p:cNvPr id="8" name="组合 50"/>
          <p:cNvGrpSpPr>
            <a:grpSpLocks/>
          </p:cNvGrpSpPr>
          <p:nvPr/>
        </p:nvGrpSpPr>
        <p:grpSpPr bwMode="auto">
          <a:xfrm>
            <a:off x="122551" y="2170057"/>
            <a:ext cx="8807167" cy="3272250"/>
            <a:chOff x="436080" y="2633887"/>
            <a:chExt cx="8346433" cy="2436157"/>
          </a:xfrm>
        </p:grpSpPr>
        <p:sp>
          <p:nvSpPr>
            <p:cNvPr id="9" name="Rectangle 4"/>
            <p:cNvSpPr>
              <a:spLocks noChangeArrowheads="1"/>
            </p:cNvSpPr>
            <p:nvPr/>
          </p:nvSpPr>
          <p:spPr bwMode="gray">
            <a:xfrm>
              <a:off x="3402049" y="2643100"/>
              <a:ext cx="1768865" cy="418897"/>
            </a:xfrm>
            <a:prstGeom prst="rect">
              <a:avLst/>
            </a:prstGeom>
            <a:solidFill>
              <a:schemeClr val="accent6">
                <a:lumMod val="40000"/>
                <a:lumOff val="60000"/>
              </a:schemeClr>
            </a:solidFill>
            <a:ln w="9525" algn="ctr">
              <a:noFill/>
              <a:miter lim="800000"/>
              <a:headEnd/>
              <a:tailEnd/>
            </a:ln>
            <a:effectLst/>
          </p:spPr>
          <p:txBody>
            <a:bodyPr wrap="none" anchor="ctr"/>
            <a:lstStyle/>
            <a:p>
              <a:pPr>
                <a:defRPr/>
              </a:pPr>
              <a:endParaRPr lang="zh-CN" altLang="en-US"/>
            </a:p>
          </p:txBody>
        </p:sp>
        <p:sp>
          <p:nvSpPr>
            <p:cNvPr id="10" name="Rectangle 6"/>
            <p:cNvSpPr>
              <a:spLocks noChangeArrowheads="1"/>
            </p:cNvSpPr>
            <p:nvPr/>
          </p:nvSpPr>
          <p:spPr bwMode="gray">
            <a:xfrm>
              <a:off x="644344" y="2633887"/>
              <a:ext cx="1819671" cy="428109"/>
            </a:xfrm>
            <a:prstGeom prst="rect">
              <a:avLst/>
            </a:prstGeom>
            <a:solidFill>
              <a:schemeClr val="accent2"/>
            </a:solidFill>
            <a:ln w="9525" algn="ctr">
              <a:noFill/>
              <a:miter lim="800000"/>
              <a:headEnd/>
              <a:tailEnd/>
            </a:ln>
          </p:spPr>
          <p:txBody>
            <a:bodyPr wrap="none" anchor="ctr"/>
            <a:lstStyle/>
            <a:p>
              <a:endParaRPr lang="zh-CN" altLang="en-US"/>
            </a:p>
          </p:txBody>
        </p:sp>
        <p:sp>
          <p:nvSpPr>
            <p:cNvPr id="11" name="Text Box 8"/>
            <p:cNvSpPr txBox="1">
              <a:spLocks noChangeArrowheads="1"/>
            </p:cNvSpPr>
            <p:nvPr/>
          </p:nvSpPr>
          <p:spPr bwMode="gray">
            <a:xfrm>
              <a:off x="3410983" y="2690457"/>
              <a:ext cx="1786732" cy="297878"/>
            </a:xfrm>
            <a:prstGeom prst="rect">
              <a:avLst/>
            </a:prstGeom>
            <a:noFill/>
            <a:ln w="9525">
              <a:noFill/>
              <a:miter lim="800000"/>
              <a:headEnd/>
              <a:tailEnd/>
            </a:ln>
          </p:spPr>
          <p:txBody>
            <a:bodyPr wrap="square">
              <a:spAutoFit/>
            </a:bodyPr>
            <a:lstStyle/>
            <a:p>
              <a:pPr algn="ctr">
                <a:spcBef>
                  <a:spcPct val="50000"/>
                </a:spcBef>
              </a:pPr>
              <a:r>
                <a:rPr lang="en-US" altLang="zh-CN" sz="2000" b="1" dirty="0" smtClean="0">
                  <a:ea typeface="华文细黑" pitchFamily="2" charset="-122"/>
                </a:rPr>
                <a:t>Cell </a:t>
              </a:r>
              <a:r>
                <a:rPr lang="en-US" altLang="zh-CN" sz="2000" b="1" dirty="0">
                  <a:ea typeface="华文细黑" pitchFamily="2" charset="-122"/>
                </a:rPr>
                <a:t>number</a:t>
              </a:r>
            </a:p>
          </p:txBody>
        </p:sp>
        <p:sp>
          <p:nvSpPr>
            <p:cNvPr id="12" name="Rectangle 9"/>
            <p:cNvSpPr>
              <a:spLocks noChangeArrowheads="1"/>
            </p:cNvSpPr>
            <p:nvPr/>
          </p:nvSpPr>
          <p:spPr bwMode="gray">
            <a:xfrm>
              <a:off x="655068" y="2680907"/>
              <a:ext cx="2060869" cy="297878"/>
            </a:xfrm>
            <a:prstGeom prst="rect">
              <a:avLst/>
            </a:prstGeom>
            <a:noFill/>
            <a:ln w="9525" algn="ctr">
              <a:noFill/>
              <a:miter lim="800000"/>
              <a:headEnd/>
              <a:tailEnd/>
            </a:ln>
            <a:effectLst>
              <a:outerShdw dist="17961" dir="2700000" algn="ctr" rotWithShape="0">
                <a:srgbClr val="003300"/>
              </a:outerShdw>
            </a:effectLst>
          </p:spPr>
          <p:txBody>
            <a:bodyPr>
              <a:spAutoFit/>
            </a:bodyPr>
            <a:lstStyle/>
            <a:p>
              <a:pPr eaLnBrk="0" hangingPunct="0">
                <a:defRPr/>
              </a:pPr>
              <a:r>
                <a:rPr lang="en-US" altLang="zh-CN" sz="2000" b="1" dirty="0">
                  <a:solidFill>
                    <a:srgbClr val="FFFFFF"/>
                  </a:solidFill>
                  <a:ea typeface="华文细黑" pitchFamily="2" charset="-122"/>
                </a:rPr>
                <a:t>Battery cell type</a:t>
              </a:r>
            </a:p>
          </p:txBody>
        </p:sp>
        <p:sp>
          <p:nvSpPr>
            <p:cNvPr id="13" name="AutoShape 14"/>
            <p:cNvSpPr>
              <a:spLocks noChangeArrowheads="1"/>
            </p:cNvSpPr>
            <p:nvPr/>
          </p:nvSpPr>
          <p:spPr bwMode="gray">
            <a:xfrm>
              <a:off x="647133" y="3084154"/>
              <a:ext cx="1592075" cy="1258498"/>
            </a:xfrm>
            <a:prstGeom prst="diamond">
              <a:avLst/>
            </a:prstGeom>
            <a:solidFill>
              <a:schemeClr val="accent2"/>
            </a:solidFill>
            <a:ln w="9525">
              <a:miter lim="800000"/>
              <a:headEnd/>
              <a:tailEnd/>
            </a:ln>
            <a:scene3d>
              <a:camera prst="legacyPerspectiveBottom">
                <a:rot lat="20999988" lon="0" rev="0"/>
              </a:camera>
              <a:lightRig rig="legacyFlat4" dir="b"/>
            </a:scene3d>
            <a:sp3d extrusionH="163500" prstMaterial="legacyMatte">
              <a:bevelT w="13500" h="13500" prst="angle"/>
              <a:bevelB w="13500" h="13500" prst="angle"/>
              <a:extrusionClr>
                <a:schemeClr val="tx2"/>
              </a:extrusionClr>
            </a:sp3d>
          </p:spPr>
          <p:txBody>
            <a:bodyPr wrap="none" anchor="ctr">
              <a:flatTx/>
            </a:bodyPr>
            <a:lstStyle/>
            <a:p>
              <a:endParaRPr lang="zh-CN" altLang="en-US"/>
            </a:p>
          </p:txBody>
        </p:sp>
        <p:sp>
          <p:nvSpPr>
            <p:cNvPr id="14" name="AutoShape 15"/>
            <p:cNvSpPr>
              <a:spLocks noChangeArrowheads="1"/>
            </p:cNvSpPr>
            <p:nvPr/>
          </p:nvSpPr>
          <p:spPr bwMode="gray">
            <a:xfrm>
              <a:off x="3497312" y="3113024"/>
              <a:ext cx="1628974" cy="1250429"/>
            </a:xfrm>
            <a:prstGeom prst="diamond">
              <a:avLst/>
            </a:prstGeom>
            <a:solidFill>
              <a:schemeClr val="accent6">
                <a:lumMod val="40000"/>
                <a:lumOff val="60000"/>
              </a:schemeClr>
            </a:solidFill>
            <a:ln w="9525" algn="ctr">
              <a:noFill/>
              <a:miter lim="800000"/>
              <a:headEnd/>
              <a:tailEnd/>
            </a:ln>
            <a:effectLst/>
            <a:scene3d>
              <a:camera prst="legacyPerspectiveBottom">
                <a:rot lat="20999999" lon="0" rev="0"/>
              </a:camera>
              <a:lightRig rig="legacyFlat4" dir="b"/>
            </a:scene3d>
            <a:sp3d extrusionH="163500" prstMaterial="legacyMatte">
              <a:bevelT w="13500" h="13500" prst="angle"/>
              <a:bevelB w="13500" h="13500" prst="angle"/>
              <a:extrusionClr>
                <a:schemeClr val="folHlink"/>
              </a:extrusionClr>
            </a:sp3d>
          </p:spPr>
          <p:txBody>
            <a:bodyPr wrap="none" anchor="ctr">
              <a:flatTx/>
            </a:bodyPr>
            <a:lstStyle/>
            <a:p>
              <a:pPr>
                <a:defRPr/>
              </a:pPr>
              <a:endParaRPr lang="zh-CN" altLang="en-US"/>
            </a:p>
          </p:txBody>
        </p:sp>
        <p:sp>
          <p:nvSpPr>
            <p:cNvPr id="15" name="AutoShape 16"/>
            <p:cNvSpPr>
              <a:spLocks noChangeArrowheads="1"/>
            </p:cNvSpPr>
            <p:nvPr/>
          </p:nvSpPr>
          <p:spPr bwMode="gray">
            <a:xfrm>
              <a:off x="6495232" y="3106007"/>
              <a:ext cx="1626905" cy="1277612"/>
            </a:xfrm>
            <a:prstGeom prst="diamond">
              <a:avLst/>
            </a:prstGeom>
            <a:solidFill>
              <a:schemeClr val="accent5">
                <a:lumMod val="50000"/>
              </a:schemeClr>
            </a:solidFill>
            <a:ln w="9525" algn="ctr">
              <a:noFill/>
              <a:miter lim="800000"/>
              <a:headEnd/>
              <a:tailEnd/>
            </a:ln>
            <a:effectLst/>
            <a:scene3d>
              <a:camera prst="legacyPerspectiveBottom">
                <a:rot lat="20999999" lon="0" rev="0"/>
              </a:camera>
              <a:lightRig rig="legacyFlat4" dir="b"/>
            </a:scene3d>
            <a:sp3d extrusionH="163500" prstMaterial="legacyMatte">
              <a:bevelT w="13500" h="13500" prst="angle"/>
              <a:bevelB w="13500" h="13500" prst="angle"/>
              <a:extrusionClr>
                <a:schemeClr val="folHlink"/>
              </a:extrusionClr>
            </a:sp3d>
          </p:spPr>
          <p:txBody>
            <a:bodyPr wrap="none" anchor="ctr">
              <a:flatTx/>
            </a:bodyPr>
            <a:lstStyle/>
            <a:p>
              <a:pPr>
                <a:defRPr/>
              </a:pPr>
              <a:endParaRPr lang="zh-CN" altLang="en-US"/>
            </a:p>
          </p:txBody>
        </p:sp>
        <p:cxnSp>
          <p:nvCxnSpPr>
            <p:cNvPr id="16" name="AutoShape 18"/>
            <p:cNvCxnSpPr>
              <a:cxnSpLocks noChangeShapeType="1"/>
            </p:cNvCxnSpPr>
            <p:nvPr/>
          </p:nvCxnSpPr>
          <p:spPr bwMode="gray">
            <a:xfrm>
              <a:off x="2106670" y="3714687"/>
              <a:ext cx="1545523" cy="7018"/>
            </a:xfrm>
            <a:prstGeom prst="straightConnector1">
              <a:avLst/>
            </a:prstGeom>
            <a:noFill/>
            <a:ln w="19050">
              <a:solidFill>
                <a:srgbClr val="333333"/>
              </a:solidFill>
              <a:round/>
              <a:headEnd type="oval" w="sm" len="sm"/>
              <a:tailEnd type="oval" w="sm" len="sm"/>
            </a:ln>
          </p:spPr>
        </p:cxnSp>
        <p:cxnSp>
          <p:nvCxnSpPr>
            <p:cNvPr id="17" name="AutoShape 19"/>
            <p:cNvCxnSpPr>
              <a:cxnSpLocks noChangeShapeType="1"/>
            </p:cNvCxnSpPr>
            <p:nvPr/>
          </p:nvCxnSpPr>
          <p:spPr bwMode="gray">
            <a:xfrm flipV="1">
              <a:off x="4992242" y="3731426"/>
              <a:ext cx="1646398" cy="4313"/>
            </a:xfrm>
            <a:prstGeom prst="straightConnector1">
              <a:avLst/>
            </a:prstGeom>
            <a:noFill/>
            <a:ln w="12700">
              <a:solidFill>
                <a:srgbClr val="333333"/>
              </a:solidFill>
              <a:round/>
              <a:headEnd type="oval" w="sm" len="sm"/>
              <a:tailEnd type="oval" w="sm" len="sm"/>
            </a:ln>
          </p:spPr>
        </p:cxnSp>
        <p:sp>
          <p:nvSpPr>
            <p:cNvPr id="18" name="Text Box 21"/>
            <p:cNvSpPr txBox="1">
              <a:spLocks noChangeArrowheads="1"/>
            </p:cNvSpPr>
            <p:nvPr/>
          </p:nvSpPr>
          <p:spPr bwMode="gray">
            <a:xfrm>
              <a:off x="832958" y="3467294"/>
              <a:ext cx="1223823" cy="481188"/>
            </a:xfrm>
            <a:prstGeom prst="rect">
              <a:avLst/>
            </a:prstGeom>
            <a:noFill/>
            <a:ln w="9525">
              <a:noFill/>
              <a:miter lim="800000"/>
              <a:headEnd/>
              <a:tailEnd/>
            </a:ln>
          </p:spPr>
          <p:txBody>
            <a:bodyPr>
              <a:spAutoFit/>
            </a:bodyPr>
            <a:lstStyle/>
            <a:p>
              <a:pPr algn="ctr">
                <a:spcBef>
                  <a:spcPct val="50000"/>
                </a:spcBef>
              </a:pPr>
              <a:r>
                <a:rPr lang="en-US" altLang="zh-CN" sz="1800" b="1" dirty="0">
                  <a:solidFill>
                    <a:srgbClr val="FFFFFF"/>
                  </a:solidFill>
                  <a:ea typeface="华文细黑" pitchFamily="2" charset="-122"/>
                </a:rPr>
                <a:t>Lithium-ion battery</a:t>
              </a:r>
            </a:p>
          </p:txBody>
        </p:sp>
        <p:sp>
          <p:nvSpPr>
            <p:cNvPr id="19" name="Text Box 22"/>
            <p:cNvSpPr txBox="1">
              <a:spLocks noChangeArrowheads="1"/>
            </p:cNvSpPr>
            <p:nvPr/>
          </p:nvSpPr>
          <p:spPr bwMode="gray">
            <a:xfrm>
              <a:off x="3900935" y="3567384"/>
              <a:ext cx="1238045" cy="320792"/>
            </a:xfrm>
            <a:prstGeom prst="rect">
              <a:avLst/>
            </a:prstGeom>
            <a:noFill/>
            <a:ln w="9525">
              <a:noFill/>
              <a:miter lim="800000"/>
              <a:headEnd/>
              <a:tailEnd/>
            </a:ln>
          </p:spPr>
          <p:txBody>
            <a:bodyPr wrap="square">
              <a:spAutoFit/>
            </a:bodyPr>
            <a:lstStyle/>
            <a:p>
              <a:pPr>
                <a:spcBef>
                  <a:spcPct val="50000"/>
                </a:spcBef>
              </a:pPr>
              <a:r>
                <a:rPr lang="en-US" altLang="zh-CN" sz="2200" dirty="0" smtClean="0">
                  <a:solidFill>
                    <a:schemeClr val="bg1"/>
                  </a:solidFill>
                  <a:ea typeface="华文细黑" pitchFamily="2" charset="-122"/>
                </a:rPr>
                <a:t>7 </a:t>
              </a:r>
              <a:r>
                <a:rPr lang="en-US" altLang="zh-CN" sz="2200" dirty="0">
                  <a:solidFill>
                    <a:schemeClr val="bg1"/>
                  </a:solidFill>
                  <a:ea typeface="华文细黑" pitchFamily="2" charset="-122"/>
                </a:rPr>
                <a:t>cells</a:t>
              </a:r>
            </a:p>
          </p:txBody>
        </p:sp>
        <p:sp>
          <p:nvSpPr>
            <p:cNvPr id="20" name="Text Box 24"/>
            <p:cNvSpPr txBox="1">
              <a:spLocks noChangeArrowheads="1"/>
            </p:cNvSpPr>
            <p:nvPr/>
          </p:nvSpPr>
          <p:spPr bwMode="gray">
            <a:xfrm>
              <a:off x="6938149" y="3602893"/>
              <a:ext cx="912860" cy="297878"/>
            </a:xfrm>
            <a:prstGeom prst="rect">
              <a:avLst/>
            </a:prstGeom>
            <a:noFill/>
            <a:ln w="9525">
              <a:noFill/>
              <a:miter lim="800000"/>
              <a:headEnd/>
              <a:tailEnd/>
            </a:ln>
          </p:spPr>
          <p:txBody>
            <a:bodyPr wrap="square">
              <a:spAutoFit/>
            </a:bodyPr>
            <a:lstStyle/>
            <a:p>
              <a:pPr algn="l">
                <a:spcBef>
                  <a:spcPct val="50000"/>
                </a:spcBef>
              </a:pPr>
              <a:r>
                <a:rPr lang="en-US" altLang="zh-CN" sz="2000" b="1" dirty="0" smtClean="0">
                  <a:solidFill>
                    <a:schemeClr val="bg1"/>
                  </a:solidFill>
                </a:rPr>
                <a:t>10 Ah</a:t>
              </a:r>
              <a:endParaRPr lang="en-US" altLang="zh-CN" sz="2000" b="1" dirty="0">
                <a:solidFill>
                  <a:schemeClr val="bg1"/>
                </a:solidFill>
                <a:ea typeface="华文细黑" pitchFamily="2" charset="-122"/>
              </a:endParaRPr>
            </a:p>
          </p:txBody>
        </p:sp>
        <p:sp>
          <p:nvSpPr>
            <p:cNvPr id="21" name="Text Box 25"/>
            <p:cNvSpPr txBox="1">
              <a:spLocks noChangeArrowheads="1"/>
            </p:cNvSpPr>
            <p:nvPr/>
          </p:nvSpPr>
          <p:spPr bwMode="gray">
            <a:xfrm>
              <a:off x="436080" y="4359721"/>
              <a:ext cx="2843436" cy="710323"/>
            </a:xfrm>
            <a:prstGeom prst="rect">
              <a:avLst/>
            </a:prstGeom>
            <a:noFill/>
            <a:ln w="9525" algn="ctr">
              <a:noFill/>
              <a:miter lim="800000"/>
              <a:headEnd/>
              <a:tailEnd/>
            </a:ln>
            <a:effectLst/>
          </p:spPr>
          <p:txBody>
            <a:bodyPr wrap="square">
              <a:spAutoFit/>
            </a:bodyPr>
            <a:lstStyle/>
            <a:p>
              <a:pPr marL="179388" indent="-179388" algn="l">
                <a:spcBef>
                  <a:spcPts val="0"/>
                </a:spcBef>
                <a:buFontTx/>
                <a:buChar char="•"/>
                <a:defRPr/>
              </a:pPr>
              <a:r>
                <a:rPr lang="en-US" altLang="zh-CN" b="0" dirty="0" smtClean="0"/>
                <a:t>Higher </a:t>
              </a:r>
              <a:r>
                <a:rPr lang="en-US" altLang="zh-CN" b="0" dirty="0"/>
                <a:t>power and energy density</a:t>
              </a:r>
            </a:p>
            <a:p>
              <a:pPr algn="l">
                <a:spcBef>
                  <a:spcPts val="0"/>
                </a:spcBef>
                <a:buFontTx/>
                <a:buChar char="•"/>
                <a:defRPr/>
              </a:pPr>
              <a:r>
                <a:rPr lang="en-US" altLang="zh-CN" b="0" dirty="0"/>
                <a:t>  </a:t>
              </a:r>
              <a:r>
                <a:rPr lang="en-US" altLang="zh-CN" b="0" dirty="0" smtClean="0"/>
                <a:t>Wider </a:t>
              </a:r>
              <a:r>
                <a:rPr lang="en-US" altLang="zh-CN" b="0" dirty="0"/>
                <a:t>temperature range</a:t>
              </a:r>
            </a:p>
            <a:p>
              <a:pPr marL="179388" indent="-179388" algn="l">
                <a:spcBef>
                  <a:spcPts val="0"/>
                </a:spcBef>
                <a:buFontTx/>
                <a:buChar char="•"/>
                <a:defRPr/>
              </a:pPr>
              <a:r>
                <a:rPr lang="en-US" altLang="zh-CN" b="0" dirty="0" smtClean="0"/>
                <a:t>Higher </a:t>
              </a:r>
              <a:r>
                <a:rPr lang="en-US" altLang="zh-CN" b="0" dirty="0"/>
                <a:t>charging efficiency and better durability</a:t>
              </a:r>
              <a:endParaRPr lang="en-US" altLang="zh-CN" b="0" dirty="0">
                <a:solidFill>
                  <a:srgbClr val="000000"/>
                </a:solidFill>
                <a:ea typeface="华文细黑" pitchFamily="2" charset="-122"/>
              </a:endParaRPr>
            </a:p>
          </p:txBody>
        </p:sp>
        <p:sp>
          <p:nvSpPr>
            <p:cNvPr id="22" name="Text Box 26"/>
            <p:cNvSpPr txBox="1">
              <a:spLocks noChangeArrowheads="1"/>
            </p:cNvSpPr>
            <p:nvPr/>
          </p:nvSpPr>
          <p:spPr bwMode="gray">
            <a:xfrm>
              <a:off x="3231045" y="4421665"/>
              <a:ext cx="2544957" cy="229137"/>
            </a:xfrm>
            <a:prstGeom prst="rect">
              <a:avLst/>
            </a:prstGeom>
            <a:noFill/>
            <a:ln w="9525" algn="ctr">
              <a:noFill/>
              <a:miter lim="800000"/>
              <a:headEnd/>
              <a:tailEnd/>
            </a:ln>
          </p:spPr>
          <p:txBody>
            <a:bodyPr wrap="square">
              <a:spAutoFit/>
            </a:bodyPr>
            <a:lstStyle/>
            <a:p>
              <a:pPr marL="179388" indent="-179388" algn="l">
                <a:spcBef>
                  <a:spcPct val="50000"/>
                </a:spcBef>
                <a:buFontTx/>
                <a:buChar char="•"/>
              </a:pPr>
              <a:r>
                <a:rPr lang="en-US" altLang="zh-CN" dirty="0"/>
                <a:t> 7 </a:t>
              </a:r>
              <a:r>
                <a:rPr lang="en-US" altLang="zh-CN" dirty="0" smtClean="0"/>
                <a:t>cells series connection</a:t>
              </a:r>
            </a:p>
          </p:txBody>
        </p:sp>
        <p:sp>
          <p:nvSpPr>
            <p:cNvPr id="23" name="Text Box 27"/>
            <p:cNvSpPr txBox="1">
              <a:spLocks noChangeArrowheads="1"/>
            </p:cNvSpPr>
            <p:nvPr/>
          </p:nvSpPr>
          <p:spPr bwMode="gray">
            <a:xfrm>
              <a:off x="6345283" y="4456753"/>
              <a:ext cx="2437230" cy="229137"/>
            </a:xfrm>
            <a:prstGeom prst="rect">
              <a:avLst/>
            </a:prstGeom>
            <a:noFill/>
            <a:ln w="9525" algn="ctr">
              <a:noFill/>
              <a:miter lim="800000"/>
              <a:headEnd/>
              <a:tailEnd/>
            </a:ln>
          </p:spPr>
          <p:txBody>
            <a:bodyPr wrap="square">
              <a:spAutoFit/>
            </a:bodyPr>
            <a:lstStyle/>
            <a:p>
              <a:pPr marL="179388" indent="-179388" algn="l">
                <a:buFontTx/>
                <a:buChar char="•"/>
              </a:pPr>
              <a:r>
                <a:rPr lang="en-US" altLang="zh-CN" dirty="0" smtClean="0"/>
                <a:t>Total </a:t>
              </a:r>
              <a:r>
                <a:rPr lang="en-US" altLang="zh-CN" dirty="0"/>
                <a:t>capacity </a:t>
              </a:r>
              <a:r>
                <a:rPr lang="en-US" altLang="zh-CN" dirty="0" smtClean="0"/>
                <a:t>10 Ah</a:t>
              </a:r>
              <a:r>
                <a:rPr lang="en-US" altLang="zh-CN" dirty="0"/>
                <a:t>. </a:t>
              </a:r>
            </a:p>
          </p:txBody>
        </p:sp>
        <p:sp>
          <p:nvSpPr>
            <p:cNvPr id="24" name="Rectangle 4"/>
            <p:cNvSpPr>
              <a:spLocks noChangeArrowheads="1"/>
            </p:cNvSpPr>
            <p:nvPr/>
          </p:nvSpPr>
          <p:spPr bwMode="gray">
            <a:xfrm>
              <a:off x="6305485" y="2640907"/>
              <a:ext cx="1920736" cy="428108"/>
            </a:xfrm>
            <a:prstGeom prst="rect">
              <a:avLst/>
            </a:prstGeom>
            <a:solidFill>
              <a:schemeClr val="accent5">
                <a:lumMod val="50000"/>
              </a:schemeClr>
            </a:solidFill>
            <a:ln w="9525" algn="ctr">
              <a:noFill/>
              <a:miter lim="800000"/>
              <a:headEnd/>
              <a:tailEnd/>
            </a:ln>
            <a:effectLst/>
          </p:spPr>
          <p:txBody>
            <a:bodyPr wrap="none" anchor="ctr"/>
            <a:lstStyle/>
            <a:p>
              <a:pPr>
                <a:defRPr/>
              </a:pPr>
              <a:endParaRPr lang="zh-CN" altLang="en-US"/>
            </a:p>
          </p:txBody>
        </p:sp>
        <p:sp>
          <p:nvSpPr>
            <p:cNvPr id="26" name="Text Box 24"/>
            <p:cNvSpPr txBox="1">
              <a:spLocks noChangeArrowheads="1"/>
            </p:cNvSpPr>
            <p:nvPr/>
          </p:nvSpPr>
          <p:spPr bwMode="gray">
            <a:xfrm>
              <a:off x="6157419" y="2689479"/>
              <a:ext cx="2068799" cy="297878"/>
            </a:xfrm>
            <a:prstGeom prst="rect">
              <a:avLst/>
            </a:prstGeom>
            <a:noFill/>
            <a:ln w="9525">
              <a:noFill/>
              <a:miter lim="800000"/>
              <a:headEnd/>
              <a:tailEnd/>
            </a:ln>
          </p:spPr>
          <p:txBody>
            <a:bodyPr wrap="square">
              <a:spAutoFit/>
            </a:bodyPr>
            <a:lstStyle/>
            <a:p>
              <a:pPr algn="ctr">
                <a:spcBef>
                  <a:spcPct val="50000"/>
                </a:spcBef>
              </a:pPr>
              <a:r>
                <a:rPr lang="en-US" altLang="zh-CN" sz="2000" b="1" dirty="0" smtClean="0">
                  <a:solidFill>
                    <a:srgbClr val="FFFF00"/>
                  </a:solidFill>
                  <a:ea typeface="华文细黑" pitchFamily="2" charset="-122"/>
                </a:rPr>
                <a:t>   Battery capacity</a:t>
              </a:r>
              <a:endParaRPr lang="en-US" altLang="zh-CN" sz="2000" b="1" dirty="0">
                <a:solidFill>
                  <a:srgbClr val="FFFF00"/>
                </a:solidFill>
                <a:ea typeface="华文细黑" pitchFamily="2"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12</a:t>
            </a:fld>
            <a:r>
              <a:rPr lang="zh-CN" altLang="en-US" smtClean="0"/>
              <a:t> </a:t>
            </a:r>
            <a:endParaRPr lang="zh-CN" altLang="en-US" dirty="0">
              <a:latin typeface="微软雅黑" pitchFamily="34" charset="-122"/>
              <a:ea typeface="微软雅黑" pitchFamily="34" charset="-122"/>
            </a:endParaRPr>
          </a:p>
        </p:txBody>
      </p:sp>
      <p:pic>
        <p:nvPicPr>
          <p:cNvPr id="6" name="图片 7" descr="单体"/>
          <p:cNvPicPr>
            <a:picLocks noChangeAspect="1" noChangeArrowheads="1"/>
          </p:cNvPicPr>
          <p:nvPr/>
        </p:nvPicPr>
        <p:blipFill>
          <a:blip r:embed="rId2"/>
          <a:srcRect/>
          <a:stretch>
            <a:fillRect/>
          </a:stretch>
        </p:blipFill>
        <p:spPr bwMode="auto">
          <a:xfrm>
            <a:off x="857224" y="2500306"/>
            <a:ext cx="2543175" cy="2743200"/>
          </a:xfrm>
          <a:prstGeom prst="rect">
            <a:avLst/>
          </a:prstGeom>
          <a:noFill/>
          <a:ln w="9525">
            <a:noFill/>
            <a:miter lim="800000"/>
            <a:headEnd/>
            <a:tailEnd/>
          </a:ln>
        </p:spPr>
      </p:pic>
      <p:pic>
        <p:nvPicPr>
          <p:cNvPr id="7" name="Picture 3"/>
          <p:cNvPicPr>
            <a:picLocks noChangeAspect="1" noChangeArrowheads="1"/>
          </p:cNvPicPr>
          <p:nvPr/>
        </p:nvPicPr>
        <p:blipFill>
          <a:blip r:embed="rId3"/>
          <a:srcRect l="29475" t="28035" r="13744" b="8960"/>
          <a:stretch>
            <a:fillRect/>
          </a:stretch>
        </p:blipFill>
        <p:spPr bwMode="auto">
          <a:xfrm>
            <a:off x="3933800" y="2471730"/>
            <a:ext cx="4057650" cy="2817753"/>
          </a:xfrm>
          <a:prstGeom prst="rect">
            <a:avLst/>
          </a:prstGeom>
          <a:noFill/>
          <a:ln w="9525">
            <a:noFill/>
            <a:miter lim="800000"/>
            <a:headEnd/>
            <a:tailEnd/>
          </a:ln>
        </p:spPr>
      </p:pic>
      <p:sp>
        <p:nvSpPr>
          <p:cNvPr id="8" name="矩形 7"/>
          <p:cNvSpPr/>
          <p:nvPr/>
        </p:nvSpPr>
        <p:spPr>
          <a:xfrm>
            <a:off x="1357290" y="500042"/>
            <a:ext cx="6530634" cy="707886"/>
          </a:xfrm>
          <a:prstGeom prst="rect">
            <a:avLst/>
          </a:prstGeom>
        </p:spPr>
        <p:txBody>
          <a:bodyPr wrap="none">
            <a:spAutoFit/>
          </a:bodyPr>
          <a:lstStyle/>
          <a:p>
            <a:pPr algn="ctr"/>
            <a:r>
              <a:rPr lang="en-US" altLang="zh-CN" sz="4000" dirty="0" smtClean="0">
                <a:solidFill>
                  <a:srgbClr val="FFFFCC"/>
                </a:solidFill>
                <a:latin typeface="Impact" pitchFamily="34" charset="0"/>
                <a:ea typeface="方正大黑简体" pitchFamily="2" charset="-122"/>
              </a:rPr>
              <a:t>Compositions of PSS ( Battery)</a:t>
            </a:r>
            <a:endParaRPr lang="zh-CN" altLang="en-US" sz="4000" dirty="0">
              <a:solidFill>
                <a:srgbClr val="FFFFCC"/>
              </a:solidFill>
              <a:latin typeface="Impact" pitchFamily="34" charset="0"/>
              <a:ea typeface="方正大黑简体"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13</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1500166" y="500042"/>
            <a:ext cx="6094938" cy="707886"/>
          </a:xfrm>
          <a:prstGeom prst="rect">
            <a:avLst/>
          </a:prstGeom>
        </p:spPr>
        <p:txBody>
          <a:bodyPr wrap="none">
            <a:spAutoFit/>
          </a:bodyPr>
          <a:lstStyle/>
          <a:p>
            <a:pPr algn="ctr"/>
            <a:r>
              <a:rPr lang="en-US" altLang="zh-CN" sz="4000" dirty="0" smtClean="0">
                <a:solidFill>
                  <a:srgbClr val="FFFFCC"/>
                </a:solidFill>
                <a:latin typeface="Impact" pitchFamily="34" charset="0"/>
                <a:ea typeface="方正大黑简体" pitchFamily="2" charset="-122"/>
              </a:rPr>
              <a:t>Compositions of PSS ( PCDU)</a:t>
            </a:r>
            <a:endParaRPr lang="zh-CN" altLang="en-US" sz="4000" dirty="0">
              <a:solidFill>
                <a:srgbClr val="FFFFCC"/>
              </a:solidFill>
              <a:latin typeface="Impact" pitchFamily="34" charset="0"/>
              <a:ea typeface="方正大黑简体" pitchFamily="2" charset="-122"/>
            </a:endParaRPr>
          </a:p>
        </p:txBody>
      </p:sp>
      <p:sp>
        <p:nvSpPr>
          <p:cNvPr id="7" name="矩形 6"/>
          <p:cNvSpPr/>
          <p:nvPr/>
        </p:nvSpPr>
        <p:spPr>
          <a:xfrm>
            <a:off x="388433" y="1357298"/>
            <a:ext cx="7112525" cy="584775"/>
          </a:xfrm>
          <a:prstGeom prst="rect">
            <a:avLst/>
          </a:prstGeom>
        </p:spPr>
        <p:txBody>
          <a:bodyPr wrap="square">
            <a:spAutoFit/>
          </a:bodyPr>
          <a:lstStyle/>
          <a:p>
            <a:r>
              <a:rPr lang="en-US" altLang="zh-CN" sz="3200" b="1" i="1" dirty="0" smtClean="0"/>
              <a:t>PCDU</a:t>
            </a:r>
            <a:r>
              <a:rPr lang="en-US" altLang="zh-CN" sz="2800" dirty="0" smtClean="0"/>
              <a:t>:     Power Control / Distribution Unit</a:t>
            </a:r>
            <a:endParaRPr lang="zh-CN" altLang="en-US" sz="2800" dirty="0" smtClean="0"/>
          </a:p>
        </p:txBody>
      </p:sp>
      <p:sp>
        <p:nvSpPr>
          <p:cNvPr id="8" name="Freeform 8"/>
          <p:cNvSpPr>
            <a:spLocks/>
          </p:cNvSpPr>
          <p:nvPr/>
        </p:nvSpPr>
        <p:spPr bwMode="gray">
          <a:xfrm>
            <a:off x="518168" y="2672636"/>
            <a:ext cx="1358159" cy="260482"/>
          </a:xfrm>
          <a:custGeom>
            <a:avLst/>
            <a:gdLst>
              <a:gd name="T0" fmla="*/ 4464 w 1120"/>
              <a:gd name="T1" fmla="*/ 11 h 252"/>
              <a:gd name="T2" fmla="*/ 4445 w 1120"/>
              <a:gd name="T3" fmla="*/ 11 h 252"/>
              <a:gd name="T4" fmla="*/ 4380 w 1120"/>
              <a:gd name="T5" fmla="*/ 11 h 252"/>
              <a:gd name="T6" fmla="*/ 4282 w 1120"/>
              <a:gd name="T7" fmla="*/ 11 h 252"/>
              <a:gd name="T8" fmla="*/ 4139 w 1120"/>
              <a:gd name="T9" fmla="*/ 11 h 252"/>
              <a:gd name="T10" fmla="*/ 3955 w 1120"/>
              <a:gd name="T11" fmla="*/ 10 h 252"/>
              <a:gd name="T12" fmla="*/ 3742 w 1120"/>
              <a:gd name="T13" fmla="*/ 10 h 252"/>
              <a:gd name="T14" fmla="*/ 3491 w 1120"/>
              <a:gd name="T15" fmla="*/ 10 h 252"/>
              <a:gd name="T16" fmla="*/ 3209 w 1120"/>
              <a:gd name="T17" fmla="*/ 8 h 252"/>
              <a:gd name="T18" fmla="*/ 2911 w 1120"/>
              <a:gd name="T19" fmla="*/ 8 h 252"/>
              <a:gd name="T20" fmla="*/ 2575 w 1120"/>
              <a:gd name="T21" fmla="*/ 8 h 252"/>
              <a:gd name="T22" fmla="*/ 2211 w 1120"/>
              <a:gd name="T23" fmla="*/ 8 h 252"/>
              <a:gd name="T24" fmla="*/ 1855 w 1120"/>
              <a:gd name="T25" fmla="*/ 8 h 252"/>
              <a:gd name="T26" fmla="*/ 1527 w 1120"/>
              <a:gd name="T27" fmla="*/ 8 h 252"/>
              <a:gd name="T28" fmla="*/ 1227 w 1120"/>
              <a:gd name="T29" fmla="*/ 8 h 252"/>
              <a:gd name="T30" fmla="*/ 949 w 1120"/>
              <a:gd name="T31" fmla="*/ 10 h 252"/>
              <a:gd name="T32" fmla="*/ 712 w 1120"/>
              <a:gd name="T33" fmla="*/ 10 h 252"/>
              <a:gd name="T34" fmla="*/ 503 w 1120"/>
              <a:gd name="T35" fmla="*/ 10 h 252"/>
              <a:gd name="T36" fmla="*/ 324 w 1120"/>
              <a:gd name="T37" fmla="*/ 11 h 252"/>
              <a:gd name="T38" fmla="*/ 184 w 1120"/>
              <a:gd name="T39" fmla="*/ 11 h 252"/>
              <a:gd name="T40" fmla="*/ 78 w 1120"/>
              <a:gd name="T41" fmla="*/ 11 h 252"/>
              <a:gd name="T42" fmla="*/ 23 w 1120"/>
              <a:gd name="T43" fmla="*/ 11 h 252"/>
              <a:gd name="T44" fmla="*/ 0 w 1120"/>
              <a:gd name="T45" fmla="*/ 11 h 252"/>
              <a:gd name="T46" fmla="*/ 0 w 1120"/>
              <a:gd name="T47" fmla="*/ 3 h 252"/>
              <a:gd name="T48" fmla="*/ 2229 w 1120"/>
              <a:gd name="T49" fmla="*/ 0 h 252"/>
              <a:gd name="T50" fmla="*/ 4464 w 1120"/>
              <a:gd name="T51" fmla="*/ 3 h 252"/>
              <a:gd name="T52" fmla="*/ 4464 w 1120"/>
              <a:gd name="T53" fmla="*/ 11 h 252"/>
              <a:gd name="T54" fmla="*/ 4464 w 1120"/>
              <a:gd name="T55" fmla="*/ 11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9" name="Rectangle 9"/>
          <p:cNvSpPr>
            <a:spLocks noChangeArrowheads="1"/>
          </p:cNvSpPr>
          <p:nvPr/>
        </p:nvSpPr>
        <p:spPr bwMode="gray">
          <a:xfrm>
            <a:off x="378131" y="2352875"/>
            <a:ext cx="1629778" cy="424602"/>
          </a:xfrm>
          <a:prstGeom prst="rect">
            <a:avLst/>
          </a:prstGeom>
          <a:solidFill>
            <a:schemeClr val="accent6">
              <a:lumMod val="60000"/>
              <a:lumOff val="40000"/>
            </a:schemeClr>
          </a:solidFill>
          <a:ln w="9525" algn="ctr">
            <a:noFill/>
            <a:miter lim="800000"/>
            <a:headEnd/>
            <a:tailEnd/>
          </a:ln>
          <a:effectLst/>
        </p:spPr>
        <p:txBody>
          <a:bodyPr wrap="none" lIns="115192" tIns="57596" rIns="115192" bIns="57596" anchor="ctr"/>
          <a:lstStyle/>
          <a:p>
            <a:pPr defTabSz="1152525" eaLnBrk="0" hangingPunct="0">
              <a:defRPr/>
            </a:pPr>
            <a:r>
              <a:rPr lang="en-US" altLang="zh-CN" sz="2000" dirty="0" smtClean="0">
                <a:solidFill>
                  <a:schemeClr val="bg1"/>
                </a:solidFill>
                <a:effectLst>
                  <a:outerShdw blurRad="38100" dist="38100" dir="2700000" algn="tl">
                    <a:srgbClr val="000000"/>
                  </a:outerShdw>
                </a:effectLst>
                <a:ea typeface="华文细黑" pitchFamily="2" charset="-122"/>
              </a:rPr>
              <a:t>    </a:t>
            </a:r>
            <a:r>
              <a:rPr lang="en-US" altLang="zh-CN" sz="2000" b="1" dirty="0" smtClean="0">
                <a:solidFill>
                  <a:schemeClr val="bg1"/>
                </a:solidFill>
                <a:effectLst>
                  <a:outerShdw blurRad="38100" dist="38100" dir="2700000" algn="tl">
                    <a:srgbClr val="000000"/>
                  </a:outerShdw>
                </a:effectLst>
                <a:ea typeface="华文细黑" pitchFamily="2" charset="-122"/>
              </a:rPr>
              <a:t>Function</a:t>
            </a:r>
            <a:endParaRPr lang="en-US" altLang="zh-CN" sz="2000" b="1" dirty="0">
              <a:solidFill>
                <a:schemeClr val="bg1"/>
              </a:solidFill>
              <a:effectLst>
                <a:outerShdw blurRad="38100" dist="38100" dir="2700000" algn="tl">
                  <a:srgbClr val="000000"/>
                </a:outerShdw>
              </a:effectLst>
              <a:ea typeface="华文细黑" pitchFamily="2" charset="-122"/>
            </a:endParaRPr>
          </a:p>
        </p:txBody>
      </p:sp>
      <p:grpSp>
        <p:nvGrpSpPr>
          <p:cNvPr id="10" name="组合 9"/>
          <p:cNvGrpSpPr/>
          <p:nvPr/>
        </p:nvGrpSpPr>
        <p:grpSpPr>
          <a:xfrm>
            <a:off x="378131" y="4573538"/>
            <a:ext cx="1676912" cy="641412"/>
            <a:chOff x="378131" y="2789937"/>
            <a:chExt cx="1629778" cy="580243"/>
          </a:xfrm>
        </p:grpSpPr>
        <p:sp>
          <p:nvSpPr>
            <p:cNvPr id="11" name="Freeform 8"/>
            <p:cNvSpPr>
              <a:spLocks/>
            </p:cNvSpPr>
            <p:nvPr/>
          </p:nvSpPr>
          <p:spPr bwMode="gray">
            <a:xfrm>
              <a:off x="480068" y="3109698"/>
              <a:ext cx="1358159" cy="260482"/>
            </a:xfrm>
            <a:custGeom>
              <a:avLst/>
              <a:gdLst>
                <a:gd name="T0" fmla="*/ 4464 w 1120"/>
                <a:gd name="T1" fmla="*/ 11 h 252"/>
                <a:gd name="T2" fmla="*/ 4445 w 1120"/>
                <a:gd name="T3" fmla="*/ 11 h 252"/>
                <a:gd name="T4" fmla="*/ 4380 w 1120"/>
                <a:gd name="T5" fmla="*/ 11 h 252"/>
                <a:gd name="T6" fmla="*/ 4282 w 1120"/>
                <a:gd name="T7" fmla="*/ 11 h 252"/>
                <a:gd name="T8" fmla="*/ 4139 w 1120"/>
                <a:gd name="T9" fmla="*/ 11 h 252"/>
                <a:gd name="T10" fmla="*/ 3955 w 1120"/>
                <a:gd name="T11" fmla="*/ 10 h 252"/>
                <a:gd name="T12" fmla="*/ 3742 w 1120"/>
                <a:gd name="T13" fmla="*/ 10 h 252"/>
                <a:gd name="T14" fmla="*/ 3491 w 1120"/>
                <a:gd name="T15" fmla="*/ 10 h 252"/>
                <a:gd name="T16" fmla="*/ 3209 w 1120"/>
                <a:gd name="T17" fmla="*/ 8 h 252"/>
                <a:gd name="T18" fmla="*/ 2911 w 1120"/>
                <a:gd name="T19" fmla="*/ 8 h 252"/>
                <a:gd name="T20" fmla="*/ 2575 w 1120"/>
                <a:gd name="T21" fmla="*/ 8 h 252"/>
                <a:gd name="T22" fmla="*/ 2211 w 1120"/>
                <a:gd name="T23" fmla="*/ 8 h 252"/>
                <a:gd name="T24" fmla="*/ 1855 w 1120"/>
                <a:gd name="T25" fmla="*/ 8 h 252"/>
                <a:gd name="T26" fmla="*/ 1527 w 1120"/>
                <a:gd name="T27" fmla="*/ 8 h 252"/>
                <a:gd name="T28" fmla="*/ 1227 w 1120"/>
                <a:gd name="T29" fmla="*/ 8 h 252"/>
                <a:gd name="T30" fmla="*/ 949 w 1120"/>
                <a:gd name="T31" fmla="*/ 10 h 252"/>
                <a:gd name="T32" fmla="*/ 712 w 1120"/>
                <a:gd name="T33" fmla="*/ 10 h 252"/>
                <a:gd name="T34" fmla="*/ 503 w 1120"/>
                <a:gd name="T35" fmla="*/ 10 h 252"/>
                <a:gd name="T36" fmla="*/ 324 w 1120"/>
                <a:gd name="T37" fmla="*/ 11 h 252"/>
                <a:gd name="T38" fmla="*/ 184 w 1120"/>
                <a:gd name="T39" fmla="*/ 11 h 252"/>
                <a:gd name="T40" fmla="*/ 78 w 1120"/>
                <a:gd name="T41" fmla="*/ 11 h 252"/>
                <a:gd name="T42" fmla="*/ 23 w 1120"/>
                <a:gd name="T43" fmla="*/ 11 h 252"/>
                <a:gd name="T44" fmla="*/ 0 w 1120"/>
                <a:gd name="T45" fmla="*/ 11 h 252"/>
                <a:gd name="T46" fmla="*/ 0 w 1120"/>
                <a:gd name="T47" fmla="*/ 3 h 252"/>
                <a:gd name="T48" fmla="*/ 2229 w 1120"/>
                <a:gd name="T49" fmla="*/ 0 h 252"/>
                <a:gd name="T50" fmla="*/ 4464 w 1120"/>
                <a:gd name="T51" fmla="*/ 3 h 252"/>
                <a:gd name="T52" fmla="*/ 4464 w 1120"/>
                <a:gd name="T53" fmla="*/ 11 h 252"/>
                <a:gd name="T54" fmla="*/ 4464 w 1120"/>
                <a:gd name="T55" fmla="*/ 11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12" name="Rectangle 9"/>
            <p:cNvSpPr>
              <a:spLocks noChangeArrowheads="1"/>
            </p:cNvSpPr>
            <p:nvPr/>
          </p:nvSpPr>
          <p:spPr bwMode="gray">
            <a:xfrm>
              <a:off x="378131" y="2789937"/>
              <a:ext cx="1629778" cy="424602"/>
            </a:xfrm>
            <a:prstGeom prst="rect">
              <a:avLst/>
            </a:prstGeom>
            <a:solidFill>
              <a:srgbClr val="0069C0"/>
            </a:solidFill>
            <a:ln w="9525" algn="ctr">
              <a:noFill/>
              <a:miter lim="800000"/>
              <a:headEnd/>
              <a:tailEnd/>
            </a:ln>
            <a:effectLst/>
          </p:spPr>
          <p:txBody>
            <a:bodyPr wrap="none" lIns="115192" tIns="57596" rIns="115192" bIns="57596" anchor="ctr"/>
            <a:lstStyle/>
            <a:p>
              <a:pPr defTabSz="1152525" eaLnBrk="0" hangingPunct="0">
                <a:defRPr/>
              </a:pPr>
              <a:r>
                <a:rPr lang="en-US" altLang="zh-CN" sz="2000" dirty="0" smtClean="0">
                  <a:solidFill>
                    <a:schemeClr val="bg1"/>
                  </a:solidFill>
                  <a:effectLst>
                    <a:outerShdw blurRad="38100" dist="38100" dir="2700000" algn="tl">
                      <a:srgbClr val="000000"/>
                    </a:outerShdw>
                  </a:effectLst>
                  <a:ea typeface="华文细黑" pitchFamily="2" charset="-122"/>
                </a:rPr>
                <a:t> </a:t>
              </a:r>
              <a:r>
                <a:rPr lang="en-US" altLang="zh-CN" sz="2000" b="1" dirty="0" smtClean="0">
                  <a:solidFill>
                    <a:schemeClr val="bg1"/>
                  </a:solidFill>
                  <a:effectLst>
                    <a:outerShdw blurRad="38100" dist="38100" dir="2700000" algn="tl">
                      <a:srgbClr val="000000"/>
                    </a:outerShdw>
                  </a:effectLst>
                  <a:ea typeface="华文细黑" pitchFamily="2" charset="-122"/>
                </a:rPr>
                <a:t>Composition</a:t>
              </a:r>
              <a:endParaRPr lang="en-US" altLang="zh-CN" sz="2000" b="1" dirty="0">
                <a:solidFill>
                  <a:schemeClr val="bg1"/>
                </a:solidFill>
                <a:effectLst>
                  <a:outerShdw blurRad="38100" dist="38100" dir="2700000" algn="tl">
                    <a:srgbClr val="000000"/>
                  </a:outerShdw>
                </a:effectLst>
                <a:ea typeface="华文细黑" pitchFamily="2" charset="-122"/>
              </a:endParaRPr>
            </a:p>
          </p:txBody>
        </p:sp>
      </p:grpSp>
      <p:sp>
        <p:nvSpPr>
          <p:cNvPr id="13" name="矩形 12"/>
          <p:cNvSpPr/>
          <p:nvPr/>
        </p:nvSpPr>
        <p:spPr>
          <a:xfrm>
            <a:off x="2666999" y="1928802"/>
            <a:ext cx="6311245" cy="2446824"/>
          </a:xfrm>
          <a:prstGeom prst="rect">
            <a:avLst/>
          </a:prstGeom>
        </p:spPr>
        <p:txBody>
          <a:bodyPr wrap="square">
            <a:spAutoFit/>
          </a:bodyPr>
          <a:lstStyle/>
          <a:p>
            <a:pPr>
              <a:lnSpc>
                <a:spcPct val="150000"/>
              </a:lnSpc>
              <a:buFont typeface="Wingdings" pitchFamily="2" charset="2"/>
              <a:buChar char="u"/>
            </a:pPr>
            <a:r>
              <a:rPr lang="en-US" altLang="zh-CN" sz="1800" dirty="0" smtClean="0"/>
              <a:t>     To control electrical power distribution to the other subsystems during the mission life. </a:t>
            </a:r>
          </a:p>
          <a:p>
            <a:pPr>
              <a:lnSpc>
                <a:spcPct val="150000"/>
              </a:lnSpc>
              <a:buFont typeface="Wingdings" pitchFamily="2" charset="2"/>
              <a:buChar char="u"/>
            </a:pPr>
            <a:r>
              <a:rPr lang="en-US" altLang="zh-CN" sz="1800" dirty="0" smtClean="0"/>
              <a:t> To support power requirements for average and peak electrical load. </a:t>
            </a:r>
          </a:p>
          <a:p>
            <a:pPr>
              <a:lnSpc>
                <a:spcPct val="150000"/>
              </a:lnSpc>
              <a:buFont typeface="Wingdings" pitchFamily="2" charset="2"/>
              <a:buChar char="u"/>
            </a:pPr>
            <a:r>
              <a:rPr lang="en-US" altLang="zh-CN" sz="1800" dirty="0" smtClean="0"/>
              <a:t> To interconnect all equipment and subsystems. </a:t>
            </a:r>
          </a:p>
          <a:p>
            <a:endParaRPr lang="zh-CN" altLang="en-US" dirty="0" smtClean="0"/>
          </a:p>
        </p:txBody>
      </p:sp>
      <p:sp>
        <p:nvSpPr>
          <p:cNvPr id="22" name="矩形 21"/>
          <p:cNvSpPr/>
          <p:nvPr/>
        </p:nvSpPr>
        <p:spPr>
          <a:xfrm>
            <a:off x="2500298" y="4231053"/>
            <a:ext cx="6344239" cy="1769715"/>
          </a:xfrm>
          <a:prstGeom prst="rect">
            <a:avLst/>
          </a:prstGeom>
        </p:spPr>
        <p:txBody>
          <a:bodyPr wrap="square">
            <a:spAutoFit/>
          </a:bodyPr>
          <a:lstStyle/>
          <a:p>
            <a:r>
              <a:rPr lang="en-US" altLang="zh-CN" sz="1800" dirty="0" smtClean="0"/>
              <a:t>    6 Standard PC104 boards:  Power shunting board</a:t>
            </a:r>
          </a:p>
          <a:p>
            <a:r>
              <a:rPr lang="en-US" altLang="zh-CN" sz="1800" dirty="0" smtClean="0"/>
              <a:t>                                                    Power interface board</a:t>
            </a:r>
          </a:p>
          <a:p>
            <a:r>
              <a:rPr lang="en-US" altLang="zh-CN" sz="1800" dirty="0" smtClean="0"/>
              <a:t>                                                    Power sub-computer boards </a:t>
            </a:r>
          </a:p>
          <a:p>
            <a:r>
              <a:rPr lang="en-US" altLang="zh-CN" sz="1800" dirty="0" smtClean="0"/>
              <a:t>                                                    Power distribute boards </a:t>
            </a:r>
          </a:p>
          <a:p>
            <a:pPr>
              <a:spcBef>
                <a:spcPts val="600"/>
              </a:spcBef>
            </a:pPr>
            <a:r>
              <a:rPr lang="en-US" altLang="zh-CN" sz="1800" dirty="0" smtClean="0"/>
              <a:t>   All these boards are integrated in a PC104 stackable structure. </a:t>
            </a:r>
          </a:p>
          <a:p>
            <a:endParaRPr lang="zh-CN" altLang="en-US"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14</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2357422" y="500042"/>
            <a:ext cx="4578497" cy="707886"/>
          </a:xfrm>
          <a:prstGeom prst="rect">
            <a:avLst/>
          </a:prstGeom>
        </p:spPr>
        <p:txBody>
          <a:bodyPr wrap="none">
            <a:spAutoFit/>
          </a:bodyPr>
          <a:lstStyle/>
          <a:p>
            <a:r>
              <a:rPr lang="en-US" altLang="zh-CN" sz="4000" dirty="0" smtClean="0">
                <a:solidFill>
                  <a:srgbClr val="FFFFCC"/>
                </a:solidFill>
                <a:latin typeface="Impact" pitchFamily="34" charset="0"/>
                <a:ea typeface="方正大黑简体" pitchFamily="2" charset="-122"/>
              </a:rPr>
              <a:t>Compositions of PSS </a:t>
            </a:r>
            <a:endParaRPr lang="zh-CN" altLang="en-US" sz="4000" dirty="0">
              <a:solidFill>
                <a:srgbClr val="FFFFCC"/>
              </a:solidFill>
              <a:latin typeface="Impact" pitchFamily="34" charset="0"/>
              <a:ea typeface="方正大黑简体" pitchFamily="2" charset="-122"/>
            </a:endParaRPr>
          </a:p>
        </p:txBody>
      </p:sp>
      <p:graphicFrame>
        <p:nvGraphicFramePr>
          <p:cNvPr id="7" name="Object 1"/>
          <p:cNvGraphicFramePr>
            <a:graphicFrameLocks noChangeAspect="1"/>
          </p:cNvGraphicFramePr>
          <p:nvPr/>
        </p:nvGraphicFramePr>
        <p:xfrm>
          <a:off x="500034" y="1428736"/>
          <a:ext cx="8332745" cy="4443406"/>
        </p:xfrm>
        <a:graphic>
          <a:graphicData uri="http://schemas.openxmlformats.org/presentationml/2006/ole">
            <mc:AlternateContent xmlns:mc="http://schemas.openxmlformats.org/markup-compatibility/2006">
              <mc:Choice xmlns:v="urn:schemas-microsoft-com:vml" Requires="v">
                <p:oleObj spid="_x0000_s1027" name="Visio" r:id="rId3" imgW="10654284" imgH="7138797" progId="Visio.Drawing.11">
                  <p:embed/>
                </p:oleObj>
              </mc:Choice>
              <mc:Fallback>
                <p:oleObj name="Visio" r:id="rId3" imgW="10654284" imgH="7138797" progId="Visio.Drawing.11">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34" y="1428736"/>
                        <a:ext cx="8332745" cy="44434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15</a:t>
            </a:fld>
            <a:r>
              <a:rPr lang="zh-CN" altLang="en-US" smtClean="0"/>
              <a:t> </a:t>
            </a:r>
            <a:endParaRPr lang="zh-CN" altLang="en-US" dirty="0">
              <a:latin typeface="微软雅黑" pitchFamily="34" charset="-122"/>
              <a:ea typeface="微软雅黑" pitchFamily="34" charset="-122"/>
            </a:endParaRPr>
          </a:p>
        </p:txBody>
      </p:sp>
      <p:pic>
        <p:nvPicPr>
          <p:cNvPr id="6" name="Picture 1" descr="D:\resources for ppt\sat5.jpg"/>
          <p:cNvPicPr>
            <a:picLocks noChangeAspect="1" noChangeArrowheads="1"/>
          </p:cNvPicPr>
          <p:nvPr/>
        </p:nvPicPr>
        <p:blipFill>
          <a:blip r:embed="rId2" cstate="email"/>
          <a:stretch>
            <a:fillRect/>
          </a:stretch>
        </p:blipFill>
        <p:spPr bwMode="auto">
          <a:xfrm>
            <a:off x="1391688" y="1771471"/>
            <a:ext cx="381198"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pic>
        <p:nvPicPr>
          <p:cNvPr id="7" name="Picture 2" descr="D:\resources for ppt\sino6_W020100905714056942648.jpg"/>
          <p:cNvPicPr>
            <a:picLocks noChangeAspect="1" noChangeArrowheads="1"/>
          </p:cNvPicPr>
          <p:nvPr/>
        </p:nvPicPr>
        <p:blipFill>
          <a:blip r:embed="rId3" cstate="email"/>
          <a:stretch>
            <a:fillRect/>
          </a:stretch>
        </p:blipFill>
        <p:spPr bwMode="auto">
          <a:xfrm>
            <a:off x="1328251" y="3396808"/>
            <a:ext cx="426409" cy="401942"/>
          </a:xfrm>
          <a:prstGeom prst="ellipse">
            <a:avLst/>
          </a:prstGeom>
          <a:ln w="136525" cap="rnd">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8" name="单圆角矩形 7"/>
          <p:cNvSpPr/>
          <p:nvPr/>
        </p:nvSpPr>
        <p:spPr>
          <a:xfrm>
            <a:off x="2000232" y="1714488"/>
            <a:ext cx="5706406" cy="486054"/>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spcBef>
                <a:spcPct val="50000"/>
              </a:spcBef>
              <a:buClr>
                <a:srgbClr val="FF0000"/>
              </a:buClr>
              <a:defRPr/>
            </a:pPr>
            <a:r>
              <a:rPr lang="en-US" altLang="zh-CN" sz="3200" i="1" dirty="0" smtClean="0">
                <a:solidFill>
                  <a:schemeClr val="lt1"/>
                </a:solidFill>
              </a:rPr>
              <a:t>Concept and Function</a:t>
            </a:r>
            <a:endParaRPr lang="en-US" altLang="zh-CN" sz="3200" i="1" dirty="0">
              <a:solidFill>
                <a:schemeClr val="lt1"/>
              </a:solidFill>
            </a:endParaRPr>
          </a:p>
        </p:txBody>
      </p:sp>
      <p:sp>
        <p:nvSpPr>
          <p:cNvPr id="9" name="单圆角矩形 8"/>
          <p:cNvSpPr/>
          <p:nvPr/>
        </p:nvSpPr>
        <p:spPr>
          <a:xfrm>
            <a:off x="2000231" y="2543806"/>
            <a:ext cx="5678905" cy="48696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3200" i="1" dirty="0" smtClean="0">
                <a:solidFill>
                  <a:schemeClr val="bg1"/>
                </a:solidFill>
              </a:rPr>
              <a:t>Compositions of PSS</a:t>
            </a:r>
          </a:p>
        </p:txBody>
      </p:sp>
      <p:pic>
        <p:nvPicPr>
          <p:cNvPr id="10" name="Picture 1" descr="D:\resources for ppt\sat5.jpg"/>
          <p:cNvPicPr>
            <a:picLocks noChangeAspect="1" noChangeArrowheads="1"/>
          </p:cNvPicPr>
          <p:nvPr/>
        </p:nvPicPr>
        <p:blipFill>
          <a:blip r:embed="rId2" cstate="email"/>
          <a:stretch>
            <a:fillRect/>
          </a:stretch>
        </p:blipFill>
        <p:spPr bwMode="auto">
          <a:xfrm>
            <a:off x="1355125" y="4305883"/>
            <a:ext cx="389913"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1" name="单圆角矩形 10"/>
          <p:cNvSpPr/>
          <p:nvPr/>
        </p:nvSpPr>
        <p:spPr>
          <a:xfrm>
            <a:off x="2001381" y="4245679"/>
            <a:ext cx="5685781" cy="48577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3200" i="1" dirty="0" smtClean="0">
                <a:solidFill>
                  <a:schemeClr val="lt1"/>
                </a:solidFill>
              </a:rPr>
              <a:t>Power balance analysis</a:t>
            </a:r>
            <a:endParaRPr lang="en-US" altLang="zh-CN" sz="3200" i="1" dirty="0">
              <a:solidFill>
                <a:schemeClr val="lt1"/>
              </a:solidFill>
            </a:endParaRPr>
          </a:p>
        </p:txBody>
      </p:sp>
      <p:sp>
        <p:nvSpPr>
          <p:cNvPr id="12" name="矩形 11"/>
          <p:cNvSpPr/>
          <p:nvPr/>
        </p:nvSpPr>
        <p:spPr>
          <a:xfrm>
            <a:off x="3643306" y="500042"/>
            <a:ext cx="2081019" cy="707886"/>
          </a:xfrm>
          <a:prstGeom prst="rect">
            <a:avLst/>
          </a:prstGeom>
        </p:spPr>
        <p:txBody>
          <a:bodyPr wrap="none">
            <a:spAutoFit/>
          </a:bodyPr>
          <a:lstStyle/>
          <a:p>
            <a:pPr algn="ctr"/>
            <a:r>
              <a:rPr lang="en-US" altLang="zh-CN" sz="4000" dirty="0">
                <a:solidFill>
                  <a:srgbClr val="FFFFCC"/>
                </a:solidFill>
                <a:latin typeface="Impact" pitchFamily="34" charset="0"/>
                <a:ea typeface="方正大黑简体" pitchFamily="2" charset="-122"/>
              </a:rPr>
              <a:t>OUTLINES</a:t>
            </a:r>
          </a:p>
        </p:txBody>
      </p:sp>
      <p:pic>
        <p:nvPicPr>
          <p:cNvPr id="13" name="Picture 1" descr="D:\resources for ppt\sat5.jpg"/>
          <p:cNvPicPr>
            <a:picLocks noChangeAspect="1" noChangeArrowheads="1"/>
          </p:cNvPicPr>
          <p:nvPr/>
        </p:nvPicPr>
        <p:blipFill>
          <a:blip r:embed="rId2" cstate="email"/>
          <a:stretch>
            <a:fillRect/>
          </a:stretch>
        </p:blipFill>
        <p:spPr bwMode="auto">
          <a:xfrm>
            <a:off x="1366680" y="2630707"/>
            <a:ext cx="381198"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4" name="单圆角矩形 13"/>
          <p:cNvSpPr/>
          <p:nvPr/>
        </p:nvSpPr>
        <p:spPr>
          <a:xfrm>
            <a:off x="1975224" y="3368317"/>
            <a:ext cx="5678905" cy="486965"/>
          </a:xfrm>
          <a:prstGeom prst="round1Rect">
            <a:avLst/>
          </a:prstGeom>
          <a:solidFill>
            <a:srgbClr val="F79600"/>
          </a:solidFill>
          <a:ln>
            <a:solidFill>
              <a:srgbClr val="FFC064"/>
            </a:solidFill>
          </a:ln>
          <a:effectLst>
            <a:glow rad="139700">
              <a:srgbClr val="FF9600">
                <a:alpha val="40000"/>
              </a:srgbClr>
            </a:glo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buClr>
                <a:srgbClr val="FF0000"/>
              </a:buClr>
              <a:defRPr/>
            </a:pPr>
            <a:r>
              <a:rPr lang="en-US" altLang="zh-CN" sz="2800" b="1" i="1" dirty="0" smtClean="0"/>
              <a:t>Work principles of PSS</a:t>
            </a:r>
            <a:endParaRPr lang="en-US" altLang="zh-CN" sz="2800" b="1" i="1" dirty="0"/>
          </a:p>
        </p:txBody>
      </p:sp>
      <p:pic>
        <p:nvPicPr>
          <p:cNvPr id="15" name="Picture 1" descr="D:\resources for ppt\sat5.jpg"/>
          <p:cNvPicPr>
            <a:picLocks noChangeAspect="1" noChangeArrowheads="1"/>
          </p:cNvPicPr>
          <p:nvPr/>
        </p:nvPicPr>
        <p:blipFill>
          <a:blip r:embed="rId2" cstate="email"/>
          <a:stretch>
            <a:fillRect/>
          </a:stretch>
        </p:blipFill>
        <p:spPr bwMode="auto">
          <a:xfrm>
            <a:off x="1357290" y="5135335"/>
            <a:ext cx="389913"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6" name="单圆角矩形 15"/>
          <p:cNvSpPr/>
          <p:nvPr/>
        </p:nvSpPr>
        <p:spPr>
          <a:xfrm>
            <a:off x="2029491" y="5086365"/>
            <a:ext cx="5685781" cy="48577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2800" i="1" dirty="0" smtClean="0">
                <a:solidFill>
                  <a:schemeClr val="bg1"/>
                </a:solidFill>
                <a:latin typeface="Arial" pitchFamily="34" charset="0"/>
                <a:cs typeface="Arial" pitchFamily="34" charset="0"/>
              </a:rPr>
              <a:t>Telemetries and Tele-commands</a:t>
            </a:r>
            <a:endParaRPr lang="en-US" altLang="zh-CN" sz="2800" i="1" dirty="0">
              <a:solidFill>
                <a:schemeClr val="bg1"/>
              </a:solidFill>
              <a:latin typeface="Arial" pitchFamily="34" charset="0"/>
              <a:cs typeface="Arial"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16</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2214546" y="500042"/>
            <a:ext cx="4929555" cy="707886"/>
          </a:xfrm>
          <a:prstGeom prst="rect">
            <a:avLst/>
          </a:prstGeom>
        </p:spPr>
        <p:txBody>
          <a:bodyPr wrap="none">
            <a:spAutoFit/>
          </a:bodyPr>
          <a:lstStyle/>
          <a:p>
            <a:pPr algn="ctr">
              <a:buClr>
                <a:srgbClr val="FF0000"/>
              </a:buClr>
              <a:defRPr/>
            </a:pPr>
            <a:r>
              <a:rPr lang="en-US" altLang="zh-CN" sz="4000" dirty="0" smtClean="0">
                <a:solidFill>
                  <a:srgbClr val="FFFFCC"/>
                </a:solidFill>
                <a:latin typeface="Impact" pitchFamily="34" charset="0"/>
                <a:ea typeface="方正大黑简体" pitchFamily="2" charset="-122"/>
              </a:rPr>
              <a:t>Work principles of PSS</a:t>
            </a:r>
          </a:p>
        </p:txBody>
      </p:sp>
      <p:sp>
        <p:nvSpPr>
          <p:cNvPr id="7" name="TextBox 23"/>
          <p:cNvSpPr txBox="1">
            <a:spLocks noChangeArrowheads="1"/>
          </p:cNvSpPr>
          <p:nvPr/>
        </p:nvSpPr>
        <p:spPr bwMode="auto">
          <a:xfrm>
            <a:off x="191235" y="1319006"/>
            <a:ext cx="2761140" cy="523220"/>
          </a:xfrm>
          <a:prstGeom prst="rect">
            <a:avLst/>
          </a:prstGeom>
          <a:noFill/>
          <a:ln w="9525">
            <a:noFill/>
            <a:miter lim="800000"/>
            <a:headEnd/>
            <a:tailEnd/>
          </a:ln>
        </p:spPr>
        <p:txBody>
          <a:bodyPr wrap="none">
            <a:spAutoFit/>
          </a:bodyPr>
          <a:lstStyle/>
          <a:p>
            <a:pPr>
              <a:buFont typeface="Wingdings" pitchFamily="2" charset="2"/>
              <a:buChar char="l"/>
            </a:pPr>
            <a:r>
              <a:rPr lang="en-US" altLang="zh-CN" sz="2400" i="1" dirty="0">
                <a:solidFill>
                  <a:schemeClr val="tx1"/>
                </a:solidFill>
              </a:rPr>
              <a:t>  </a:t>
            </a:r>
            <a:r>
              <a:rPr lang="en-US" altLang="zh-CN" sz="2800" b="1" i="1" dirty="0">
                <a:solidFill>
                  <a:schemeClr val="accent6">
                    <a:lumMod val="75000"/>
                  </a:schemeClr>
                </a:solidFill>
              </a:rPr>
              <a:t>Battery charge</a:t>
            </a:r>
            <a:endParaRPr lang="zh-CN" altLang="en-US" sz="2800" b="1" i="1" dirty="0">
              <a:solidFill>
                <a:schemeClr val="accent6">
                  <a:lumMod val="75000"/>
                </a:schemeClr>
              </a:solidFill>
            </a:endParaRPr>
          </a:p>
        </p:txBody>
      </p:sp>
      <p:sp>
        <p:nvSpPr>
          <p:cNvPr id="8" name="矩形 39"/>
          <p:cNvSpPr>
            <a:spLocks noChangeArrowheads="1"/>
          </p:cNvSpPr>
          <p:nvPr/>
        </p:nvSpPr>
        <p:spPr bwMode="auto">
          <a:xfrm>
            <a:off x="187570" y="1774948"/>
            <a:ext cx="8784980" cy="810478"/>
          </a:xfrm>
          <a:prstGeom prst="rect">
            <a:avLst/>
          </a:prstGeom>
          <a:noFill/>
          <a:ln w="9525">
            <a:noFill/>
            <a:miter lim="800000"/>
            <a:headEnd/>
            <a:tailEnd/>
          </a:ln>
        </p:spPr>
        <p:txBody>
          <a:bodyPr wrap="square">
            <a:spAutoFit/>
          </a:bodyPr>
          <a:lstStyle/>
          <a:p>
            <a:pPr algn="l">
              <a:lnSpc>
                <a:spcPts val="2800"/>
              </a:lnSpc>
            </a:pPr>
            <a:r>
              <a:rPr lang="en-US" altLang="zh-CN" b="0" dirty="0"/>
              <a:t>    </a:t>
            </a:r>
            <a:r>
              <a:rPr lang="en-US" altLang="zh-CN" b="0" dirty="0" smtClean="0"/>
              <a:t>   </a:t>
            </a:r>
            <a:r>
              <a:rPr lang="en-US" altLang="zh-CN" sz="2200" b="0" dirty="0" smtClean="0"/>
              <a:t>A </a:t>
            </a:r>
            <a:r>
              <a:rPr lang="en-US" altLang="zh-CN" sz="2200" b="0" dirty="0"/>
              <a:t>constant-current to constant-voltage charging method, </a:t>
            </a:r>
            <a:r>
              <a:rPr lang="en-US" altLang="zh-CN" sz="2200" i="1" dirty="0" smtClean="0">
                <a:solidFill>
                  <a:srgbClr val="B010A8"/>
                </a:solidFill>
              </a:rPr>
              <a:t>CC-CV</a:t>
            </a:r>
            <a:r>
              <a:rPr lang="en-US" altLang="zh-CN" sz="2200" b="0" dirty="0" smtClean="0">
                <a:solidFill>
                  <a:srgbClr val="C00000"/>
                </a:solidFill>
              </a:rPr>
              <a:t> </a:t>
            </a:r>
            <a:r>
              <a:rPr lang="en-US" altLang="zh-CN" sz="2200" b="0" dirty="0"/>
              <a:t>for short, has been adopted for the lithium ion batteries.</a:t>
            </a:r>
            <a:endParaRPr lang="zh-CN" altLang="en-US" sz="2200" dirty="0"/>
          </a:p>
        </p:txBody>
      </p:sp>
      <p:sp>
        <p:nvSpPr>
          <p:cNvPr id="9" name="AutoShape 4"/>
          <p:cNvSpPr>
            <a:spLocks noChangeArrowheads="1"/>
          </p:cNvSpPr>
          <p:nvPr/>
        </p:nvSpPr>
        <p:spPr bwMode="gray">
          <a:xfrm>
            <a:off x="147608" y="2854119"/>
            <a:ext cx="6005541" cy="2981326"/>
          </a:xfrm>
          <a:prstGeom prst="roundRect">
            <a:avLst>
              <a:gd name="adj" fmla="val 16667"/>
            </a:avLst>
          </a:prstGeom>
          <a:gradFill rotWithShape="1">
            <a:gsLst>
              <a:gs pos="0">
                <a:srgbClr val="E8E8E8"/>
              </a:gs>
              <a:gs pos="100000">
                <a:srgbClr val="C0C0C0"/>
              </a:gs>
            </a:gsLst>
            <a:lin ang="5400000" scaled="1"/>
          </a:gradFill>
          <a:ln w="9525">
            <a:noFill/>
            <a:round/>
            <a:headEnd/>
            <a:tailEnd/>
          </a:ln>
        </p:spPr>
        <p:txBody>
          <a:bodyPr wrap="none" anchor="ctr"/>
          <a:lstStyle/>
          <a:p>
            <a:endParaRPr lang="zh-CN" altLang="en-US"/>
          </a:p>
        </p:txBody>
      </p:sp>
      <p:sp>
        <p:nvSpPr>
          <p:cNvPr id="10" name="AutoShape 6"/>
          <p:cNvSpPr>
            <a:spLocks noChangeArrowheads="1"/>
          </p:cNvSpPr>
          <p:nvPr/>
        </p:nvSpPr>
        <p:spPr bwMode="gray">
          <a:xfrm>
            <a:off x="357159" y="3535156"/>
            <a:ext cx="1490692" cy="1681163"/>
          </a:xfrm>
          <a:prstGeom prst="roundRect">
            <a:avLst>
              <a:gd name="adj" fmla="val 16667"/>
            </a:avLst>
          </a:prstGeom>
          <a:solidFill>
            <a:schemeClr val="accent5">
              <a:lumMod val="50000"/>
            </a:schemeClr>
          </a:solidFill>
          <a:ln w="38100">
            <a:solidFill>
              <a:schemeClr val="bg1"/>
            </a:solidFill>
            <a:round/>
            <a:headEnd/>
            <a:tailEnd/>
          </a:ln>
          <a:effectLst>
            <a:outerShdw dist="107763" dir="2700000" algn="ctr" rotWithShape="0">
              <a:srgbClr val="808080">
                <a:alpha val="50000"/>
              </a:srgbClr>
            </a:outerShdw>
          </a:effectLst>
        </p:spPr>
        <p:txBody>
          <a:bodyPr wrap="none" anchor="ctr"/>
          <a:lstStyle/>
          <a:p>
            <a:pPr>
              <a:defRPr/>
            </a:pPr>
            <a:endParaRPr lang="zh-CN" altLang="en-US"/>
          </a:p>
        </p:txBody>
      </p:sp>
      <p:sp>
        <p:nvSpPr>
          <p:cNvPr id="11" name="AutoShape 9"/>
          <p:cNvSpPr>
            <a:spLocks noChangeArrowheads="1"/>
          </p:cNvSpPr>
          <p:nvPr/>
        </p:nvSpPr>
        <p:spPr bwMode="gray">
          <a:xfrm>
            <a:off x="2454523" y="3552624"/>
            <a:ext cx="1431678" cy="1701795"/>
          </a:xfrm>
          <a:prstGeom prst="roundRect">
            <a:avLst>
              <a:gd name="adj" fmla="val 16667"/>
            </a:avLst>
          </a:prstGeom>
          <a:solidFill>
            <a:schemeClr val="accent2"/>
          </a:solidFill>
          <a:ln w="38100">
            <a:solidFill>
              <a:schemeClr val="bg1"/>
            </a:solidFill>
            <a:round/>
            <a:headEnd/>
            <a:tailEnd/>
          </a:ln>
          <a:effectLst>
            <a:outerShdw dist="107763" dir="2700000" algn="ctr" rotWithShape="0">
              <a:srgbClr val="808080">
                <a:alpha val="50000"/>
              </a:srgbClr>
            </a:outerShdw>
          </a:effectLst>
        </p:spPr>
        <p:txBody>
          <a:bodyPr wrap="none" anchor="ctr"/>
          <a:lstStyle/>
          <a:p>
            <a:pPr>
              <a:defRPr/>
            </a:pPr>
            <a:endParaRPr lang="zh-CN" altLang="en-US"/>
          </a:p>
        </p:txBody>
      </p:sp>
      <p:sp>
        <p:nvSpPr>
          <p:cNvPr id="12" name="AutoShape 12"/>
          <p:cNvSpPr>
            <a:spLocks noChangeArrowheads="1"/>
          </p:cNvSpPr>
          <p:nvPr/>
        </p:nvSpPr>
        <p:spPr bwMode="gray">
          <a:xfrm>
            <a:off x="4405314" y="3568494"/>
            <a:ext cx="1395411" cy="1724025"/>
          </a:xfrm>
          <a:prstGeom prst="roundRect">
            <a:avLst>
              <a:gd name="adj" fmla="val 16667"/>
            </a:avLst>
          </a:prstGeom>
          <a:solidFill>
            <a:schemeClr val="accent4">
              <a:lumMod val="50000"/>
              <a:lumOff val="50000"/>
            </a:schemeClr>
          </a:solidFill>
          <a:ln w="38100">
            <a:solidFill>
              <a:schemeClr val="bg1"/>
            </a:solidFill>
            <a:round/>
            <a:headEnd/>
            <a:tailEnd/>
          </a:ln>
          <a:effectLst>
            <a:outerShdw dist="107763" dir="2700000" algn="ctr" rotWithShape="0">
              <a:srgbClr val="808080">
                <a:alpha val="50000"/>
              </a:srgbClr>
            </a:outerShdw>
          </a:effectLst>
        </p:spPr>
        <p:txBody>
          <a:bodyPr wrap="none" anchor="ctr"/>
          <a:lstStyle/>
          <a:p>
            <a:pPr>
              <a:defRPr/>
            </a:pPr>
            <a:endParaRPr lang="zh-CN" altLang="en-US"/>
          </a:p>
        </p:txBody>
      </p:sp>
      <p:sp>
        <p:nvSpPr>
          <p:cNvPr id="13" name="Text Box 14"/>
          <p:cNvSpPr txBox="1">
            <a:spLocks noChangeArrowheads="1"/>
          </p:cNvSpPr>
          <p:nvPr/>
        </p:nvSpPr>
        <p:spPr bwMode="white">
          <a:xfrm>
            <a:off x="414309" y="4249536"/>
            <a:ext cx="1853712" cy="733534"/>
          </a:xfrm>
          <a:prstGeom prst="rect">
            <a:avLst/>
          </a:prstGeom>
          <a:noFill/>
          <a:ln w="9525">
            <a:noFill/>
            <a:miter lim="800000"/>
            <a:headEnd/>
            <a:tailEnd/>
          </a:ln>
        </p:spPr>
        <p:txBody>
          <a:bodyPr>
            <a:spAutoFit/>
          </a:bodyPr>
          <a:lstStyle/>
          <a:p>
            <a:pPr algn="l">
              <a:lnSpc>
                <a:spcPts val="2500"/>
              </a:lnSpc>
              <a:buFontTx/>
              <a:buChar char="•"/>
            </a:pPr>
            <a:r>
              <a:rPr lang="en-US" altLang="zh-CN" sz="1800" b="0" dirty="0" smtClean="0">
                <a:solidFill>
                  <a:schemeClr val="bg1"/>
                </a:solidFill>
              </a:rPr>
              <a:t>  </a:t>
            </a:r>
            <a:r>
              <a:rPr lang="en-US" altLang="zh-CN" sz="2200" b="0" dirty="0" smtClean="0">
                <a:solidFill>
                  <a:schemeClr val="bg1"/>
                </a:solidFill>
              </a:rPr>
              <a:t>Constant  Current</a:t>
            </a:r>
            <a:endParaRPr lang="en-US" altLang="zh-CN" sz="2200" b="0" dirty="0"/>
          </a:p>
        </p:txBody>
      </p:sp>
      <p:sp>
        <p:nvSpPr>
          <p:cNvPr id="14" name="Text Box 15"/>
          <p:cNvSpPr txBox="1">
            <a:spLocks noChangeArrowheads="1"/>
          </p:cNvSpPr>
          <p:nvPr/>
        </p:nvSpPr>
        <p:spPr bwMode="white">
          <a:xfrm>
            <a:off x="2502513" y="4287636"/>
            <a:ext cx="1774212" cy="733534"/>
          </a:xfrm>
          <a:prstGeom prst="rect">
            <a:avLst/>
          </a:prstGeom>
          <a:noFill/>
          <a:ln w="9525">
            <a:noFill/>
            <a:miter lim="800000"/>
            <a:headEnd/>
            <a:tailEnd/>
          </a:ln>
        </p:spPr>
        <p:txBody>
          <a:bodyPr wrap="square">
            <a:spAutoFit/>
          </a:bodyPr>
          <a:lstStyle/>
          <a:p>
            <a:pPr algn="l">
              <a:lnSpc>
                <a:spcPts val="2500"/>
              </a:lnSpc>
              <a:buFont typeface="Arial" pitchFamily="34" charset="0"/>
              <a:buChar char="•"/>
            </a:pPr>
            <a:r>
              <a:rPr lang="en-US" altLang="zh-CN" sz="2200" b="0" dirty="0" smtClean="0">
                <a:solidFill>
                  <a:schemeClr val="bg1"/>
                </a:solidFill>
              </a:rPr>
              <a:t> Constant </a:t>
            </a:r>
          </a:p>
          <a:p>
            <a:pPr algn="l">
              <a:lnSpc>
                <a:spcPts val="2500"/>
              </a:lnSpc>
            </a:pPr>
            <a:r>
              <a:rPr lang="en-US" altLang="zh-CN" sz="2200" b="0" dirty="0" smtClean="0">
                <a:solidFill>
                  <a:schemeClr val="bg1"/>
                </a:solidFill>
              </a:rPr>
              <a:t>Voltage</a:t>
            </a:r>
            <a:endParaRPr lang="zh-CN" altLang="en-US" sz="2200" b="0" dirty="0">
              <a:solidFill>
                <a:schemeClr val="bg1"/>
              </a:solidFill>
            </a:endParaRPr>
          </a:p>
        </p:txBody>
      </p:sp>
      <p:sp>
        <p:nvSpPr>
          <p:cNvPr id="15" name="Text Box 16"/>
          <p:cNvSpPr txBox="1">
            <a:spLocks noChangeArrowheads="1"/>
          </p:cNvSpPr>
          <p:nvPr/>
        </p:nvSpPr>
        <p:spPr bwMode="white">
          <a:xfrm>
            <a:off x="4425841" y="4240010"/>
            <a:ext cx="1617785" cy="942694"/>
          </a:xfrm>
          <a:prstGeom prst="rect">
            <a:avLst/>
          </a:prstGeom>
          <a:noFill/>
          <a:ln w="9525">
            <a:noFill/>
            <a:miter lim="800000"/>
            <a:headEnd/>
            <a:tailEnd/>
          </a:ln>
        </p:spPr>
        <p:txBody>
          <a:bodyPr wrap="square">
            <a:spAutoFit/>
          </a:bodyPr>
          <a:lstStyle/>
          <a:p>
            <a:pPr algn="l">
              <a:lnSpc>
                <a:spcPts val="2200"/>
              </a:lnSpc>
              <a:spcBef>
                <a:spcPct val="50000"/>
              </a:spcBef>
              <a:buFontTx/>
              <a:buChar char="•"/>
            </a:pPr>
            <a:r>
              <a:rPr lang="en-US" altLang="zh-CN" sz="2200" b="0" dirty="0" smtClean="0">
                <a:solidFill>
                  <a:schemeClr val="bg1"/>
                </a:solidFill>
              </a:rPr>
              <a:t> Charging </a:t>
            </a:r>
            <a:r>
              <a:rPr lang="en-US" altLang="zh-CN" sz="2200" b="0" dirty="0">
                <a:solidFill>
                  <a:schemeClr val="bg1"/>
                </a:solidFill>
              </a:rPr>
              <a:t>will be stopped.</a:t>
            </a:r>
          </a:p>
        </p:txBody>
      </p:sp>
      <p:grpSp>
        <p:nvGrpSpPr>
          <p:cNvPr id="16" name="Group 17"/>
          <p:cNvGrpSpPr>
            <a:grpSpLocks/>
          </p:cNvGrpSpPr>
          <p:nvPr/>
        </p:nvGrpSpPr>
        <p:grpSpPr bwMode="auto">
          <a:xfrm>
            <a:off x="2031009" y="3930444"/>
            <a:ext cx="331177" cy="401638"/>
            <a:chOff x="1872" y="2352"/>
            <a:chExt cx="240" cy="240"/>
          </a:xfrm>
        </p:grpSpPr>
        <p:grpSp>
          <p:nvGrpSpPr>
            <p:cNvPr id="17" name="Group 18"/>
            <p:cNvGrpSpPr>
              <a:grpSpLocks/>
            </p:cNvGrpSpPr>
            <p:nvPr/>
          </p:nvGrpSpPr>
          <p:grpSpPr bwMode="auto">
            <a:xfrm>
              <a:off x="1968" y="2352"/>
              <a:ext cx="144" cy="240"/>
              <a:chOff x="1968" y="2352"/>
              <a:chExt cx="144" cy="240"/>
            </a:xfrm>
          </p:grpSpPr>
          <p:sp>
            <p:nvSpPr>
              <p:cNvPr id="24" name="Oval 19"/>
              <p:cNvSpPr>
                <a:spLocks noChangeArrowheads="1"/>
              </p:cNvSpPr>
              <p:nvPr/>
            </p:nvSpPr>
            <p:spPr bwMode="gray">
              <a:xfrm>
                <a:off x="1968" y="2352"/>
                <a:ext cx="48" cy="48"/>
              </a:xfrm>
              <a:prstGeom prst="ellipse">
                <a:avLst/>
              </a:prstGeom>
              <a:solidFill>
                <a:schemeClr val="bg1"/>
              </a:solidFill>
              <a:ln w="9525">
                <a:noFill/>
                <a:round/>
                <a:headEnd/>
                <a:tailEnd/>
              </a:ln>
            </p:spPr>
            <p:txBody>
              <a:bodyPr wrap="none" anchor="ctr"/>
              <a:lstStyle/>
              <a:p>
                <a:endParaRPr lang="zh-CN" altLang="en-US"/>
              </a:p>
            </p:txBody>
          </p:sp>
          <p:sp>
            <p:nvSpPr>
              <p:cNvPr id="25" name="Oval 20"/>
              <p:cNvSpPr>
                <a:spLocks noChangeArrowheads="1"/>
              </p:cNvSpPr>
              <p:nvPr/>
            </p:nvSpPr>
            <p:spPr bwMode="gray">
              <a:xfrm>
                <a:off x="2016" y="2400"/>
                <a:ext cx="48" cy="48"/>
              </a:xfrm>
              <a:prstGeom prst="ellipse">
                <a:avLst/>
              </a:prstGeom>
              <a:solidFill>
                <a:schemeClr val="bg1"/>
              </a:solidFill>
              <a:ln w="9525">
                <a:noFill/>
                <a:round/>
                <a:headEnd/>
                <a:tailEnd/>
              </a:ln>
            </p:spPr>
            <p:txBody>
              <a:bodyPr wrap="none" anchor="ctr"/>
              <a:lstStyle/>
              <a:p>
                <a:endParaRPr lang="zh-CN" altLang="en-US"/>
              </a:p>
            </p:txBody>
          </p:sp>
          <p:sp>
            <p:nvSpPr>
              <p:cNvPr id="26" name="Oval 21"/>
              <p:cNvSpPr>
                <a:spLocks noChangeArrowheads="1"/>
              </p:cNvSpPr>
              <p:nvPr/>
            </p:nvSpPr>
            <p:spPr bwMode="gray">
              <a:xfrm>
                <a:off x="2064" y="2448"/>
                <a:ext cx="48" cy="48"/>
              </a:xfrm>
              <a:prstGeom prst="ellipse">
                <a:avLst/>
              </a:prstGeom>
              <a:solidFill>
                <a:schemeClr val="bg1"/>
              </a:solidFill>
              <a:ln w="9525">
                <a:noFill/>
                <a:round/>
                <a:headEnd/>
                <a:tailEnd/>
              </a:ln>
            </p:spPr>
            <p:txBody>
              <a:bodyPr wrap="none" anchor="ctr"/>
              <a:lstStyle/>
              <a:p>
                <a:endParaRPr lang="zh-CN" altLang="en-US"/>
              </a:p>
            </p:txBody>
          </p:sp>
          <p:sp>
            <p:nvSpPr>
              <p:cNvPr id="27" name="Oval 22"/>
              <p:cNvSpPr>
                <a:spLocks noChangeArrowheads="1"/>
              </p:cNvSpPr>
              <p:nvPr/>
            </p:nvSpPr>
            <p:spPr bwMode="gray">
              <a:xfrm>
                <a:off x="2016" y="2496"/>
                <a:ext cx="48" cy="48"/>
              </a:xfrm>
              <a:prstGeom prst="ellipse">
                <a:avLst/>
              </a:prstGeom>
              <a:solidFill>
                <a:schemeClr val="bg1"/>
              </a:solidFill>
              <a:ln w="9525">
                <a:noFill/>
                <a:round/>
                <a:headEnd/>
                <a:tailEnd/>
              </a:ln>
            </p:spPr>
            <p:txBody>
              <a:bodyPr wrap="none" anchor="ctr"/>
              <a:lstStyle/>
              <a:p>
                <a:endParaRPr lang="zh-CN" altLang="en-US"/>
              </a:p>
            </p:txBody>
          </p:sp>
          <p:sp>
            <p:nvSpPr>
              <p:cNvPr id="28" name="Oval 23"/>
              <p:cNvSpPr>
                <a:spLocks noChangeArrowheads="1"/>
              </p:cNvSpPr>
              <p:nvPr/>
            </p:nvSpPr>
            <p:spPr bwMode="gray">
              <a:xfrm>
                <a:off x="1968" y="2544"/>
                <a:ext cx="48" cy="48"/>
              </a:xfrm>
              <a:prstGeom prst="ellipse">
                <a:avLst/>
              </a:prstGeom>
              <a:solidFill>
                <a:schemeClr val="bg1"/>
              </a:solidFill>
              <a:ln w="9525">
                <a:noFill/>
                <a:round/>
                <a:headEnd/>
                <a:tailEnd/>
              </a:ln>
            </p:spPr>
            <p:txBody>
              <a:bodyPr wrap="none" anchor="ctr"/>
              <a:lstStyle/>
              <a:p>
                <a:endParaRPr lang="zh-CN" altLang="en-US"/>
              </a:p>
            </p:txBody>
          </p:sp>
        </p:grpSp>
        <p:grpSp>
          <p:nvGrpSpPr>
            <p:cNvPr id="18" name="Group 24"/>
            <p:cNvGrpSpPr>
              <a:grpSpLocks/>
            </p:cNvGrpSpPr>
            <p:nvPr/>
          </p:nvGrpSpPr>
          <p:grpSpPr bwMode="auto">
            <a:xfrm>
              <a:off x="1872" y="2352"/>
              <a:ext cx="144" cy="240"/>
              <a:chOff x="1968" y="2352"/>
              <a:chExt cx="144" cy="240"/>
            </a:xfrm>
          </p:grpSpPr>
          <p:sp>
            <p:nvSpPr>
              <p:cNvPr id="19" name="Oval 25"/>
              <p:cNvSpPr>
                <a:spLocks noChangeArrowheads="1"/>
              </p:cNvSpPr>
              <p:nvPr/>
            </p:nvSpPr>
            <p:spPr bwMode="gray">
              <a:xfrm>
                <a:off x="1968" y="2352"/>
                <a:ext cx="48" cy="48"/>
              </a:xfrm>
              <a:prstGeom prst="ellipse">
                <a:avLst/>
              </a:prstGeom>
              <a:solidFill>
                <a:schemeClr val="bg1"/>
              </a:solidFill>
              <a:ln w="9525">
                <a:noFill/>
                <a:round/>
                <a:headEnd/>
                <a:tailEnd/>
              </a:ln>
            </p:spPr>
            <p:txBody>
              <a:bodyPr wrap="none" anchor="ctr"/>
              <a:lstStyle/>
              <a:p>
                <a:endParaRPr lang="zh-CN" altLang="en-US"/>
              </a:p>
            </p:txBody>
          </p:sp>
          <p:sp>
            <p:nvSpPr>
              <p:cNvPr id="20" name="Oval 26"/>
              <p:cNvSpPr>
                <a:spLocks noChangeArrowheads="1"/>
              </p:cNvSpPr>
              <p:nvPr/>
            </p:nvSpPr>
            <p:spPr bwMode="gray">
              <a:xfrm>
                <a:off x="2016" y="2400"/>
                <a:ext cx="48" cy="48"/>
              </a:xfrm>
              <a:prstGeom prst="ellipse">
                <a:avLst/>
              </a:prstGeom>
              <a:solidFill>
                <a:schemeClr val="bg1"/>
              </a:solidFill>
              <a:ln w="9525">
                <a:noFill/>
                <a:round/>
                <a:headEnd/>
                <a:tailEnd/>
              </a:ln>
            </p:spPr>
            <p:txBody>
              <a:bodyPr wrap="none" anchor="ctr"/>
              <a:lstStyle/>
              <a:p>
                <a:endParaRPr lang="zh-CN" altLang="en-US"/>
              </a:p>
            </p:txBody>
          </p:sp>
          <p:sp>
            <p:nvSpPr>
              <p:cNvPr id="21" name="Oval 27"/>
              <p:cNvSpPr>
                <a:spLocks noChangeArrowheads="1"/>
              </p:cNvSpPr>
              <p:nvPr/>
            </p:nvSpPr>
            <p:spPr bwMode="gray">
              <a:xfrm>
                <a:off x="2064" y="2448"/>
                <a:ext cx="48" cy="48"/>
              </a:xfrm>
              <a:prstGeom prst="ellipse">
                <a:avLst/>
              </a:prstGeom>
              <a:solidFill>
                <a:schemeClr val="bg1"/>
              </a:solidFill>
              <a:ln w="9525">
                <a:noFill/>
                <a:round/>
                <a:headEnd/>
                <a:tailEnd/>
              </a:ln>
            </p:spPr>
            <p:txBody>
              <a:bodyPr wrap="none" anchor="ctr"/>
              <a:lstStyle/>
              <a:p>
                <a:endParaRPr lang="zh-CN" altLang="en-US"/>
              </a:p>
            </p:txBody>
          </p:sp>
          <p:sp>
            <p:nvSpPr>
              <p:cNvPr id="22" name="Oval 28"/>
              <p:cNvSpPr>
                <a:spLocks noChangeArrowheads="1"/>
              </p:cNvSpPr>
              <p:nvPr/>
            </p:nvSpPr>
            <p:spPr bwMode="gray">
              <a:xfrm>
                <a:off x="2016" y="2496"/>
                <a:ext cx="48" cy="48"/>
              </a:xfrm>
              <a:prstGeom prst="ellipse">
                <a:avLst/>
              </a:prstGeom>
              <a:solidFill>
                <a:schemeClr val="bg1"/>
              </a:solidFill>
              <a:ln w="9525">
                <a:noFill/>
                <a:round/>
                <a:headEnd/>
                <a:tailEnd/>
              </a:ln>
            </p:spPr>
            <p:txBody>
              <a:bodyPr wrap="none" anchor="ctr"/>
              <a:lstStyle/>
              <a:p>
                <a:endParaRPr lang="zh-CN" altLang="en-US"/>
              </a:p>
            </p:txBody>
          </p:sp>
          <p:sp>
            <p:nvSpPr>
              <p:cNvPr id="23" name="Oval 29"/>
              <p:cNvSpPr>
                <a:spLocks noChangeArrowheads="1"/>
              </p:cNvSpPr>
              <p:nvPr/>
            </p:nvSpPr>
            <p:spPr bwMode="gray">
              <a:xfrm>
                <a:off x="1968" y="2544"/>
                <a:ext cx="48" cy="48"/>
              </a:xfrm>
              <a:prstGeom prst="ellipse">
                <a:avLst/>
              </a:prstGeom>
              <a:solidFill>
                <a:schemeClr val="bg1"/>
              </a:solidFill>
              <a:ln w="9525">
                <a:noFill/>
                <a:round/>
                <a:headEnd/>
                <a:tailEnd/>
              </a:ln>
            </p:spPr>
            <p:txBody>
              <a:bodyPr wrap="none" anchor="ctr"/>
              <a:lstStyle/>
              <a:p>
                <a:endParaRPr lang="zh-CN" altLang="en-US"/>
              </a:p>
            </p:txBody>
          </p:sp>
        </p:grpSp>
      </p:grpSp>
      <p:sp>
        <p:nvSpPr>
          <p:cNvPr id="29" name="Rectangle 8"/>
          <p:cNvSpPr>
            <a:spLocks noChangeArrowheads="1"/>
          </p:cNvSpPr>
          <p:nvPr/>
        </p:nvSpPr>
        <p:spPr bwMode="auto">
          <a:xfrm>
            <a:off x="548057" y="3614532"/>
            <a:ext cx="1112227" cy="438150"/>
          </a:xfrm>
          <a:prstGeom prst="rect">
            <a:avLst/>
          </a:prstGeom>
          <a:noFill/>
          <a:ln w="19050" algn="ctr">
            <a:noFill/>
            <a:miter lim="800000"/>
            <a:headEnd/>
            <a:tailEnd/>
          </a:ln>
        </p:spPr>
        <p:txBody>
          <a:bodyPr wrap="none" anchor="ctr"/>
          <a:lstStyle/>
          <a:p>
            <a:pPr algn="ctr"/>
            <a:r>
              <a:rPr lang="en-US" altLang="zh-CN" sz="2800" dirty="0" smtClean="0">
                <a:solidFill>
                  <a:schemeClr val="bg1"/>
                </a:solidFill>
              </a:rPr>
              <a:t>C </a:t>
            </a:r>
            <a:r>
              <a:rPr lang="en-US" altLang="zh-CN" sz="2800" dirty="0" err="1" smtClean="0">
                <a:solidFill>
                  <a:schemeClr val="bg1"/>
                </a:solidFill>
              </a:rPr>
              <a:t>C</a:t>
            </a:r>
            <a:endParaRPr lang="en-US" altLang="zh-CN" sz="2800" dirty="0">
              <a:solidFill>
                <a:schemeClr val="bg1"/>
              </a:solidFill>
            </a:endParaRPr>
          </a:p>
        </p:txBody>
      </p:sp>
      <p:sp>
        <p:nvSpPr>
          <p:cNvPr id="30" name="Rectangle 8"/>
          <p:cNvSpPr>
            <a:spLocks noChangeArrowheads="1"/>
          </p:cNvSpPr>
          <p:nvPr/>
        </p:nvSpPr>
        <p:spPr bwMode="auto">
          <a:xfrm>
            <a:off x="2564419" y="3605007"/>
            <a:ext cx="1112227" cy="438150"/>
          </a:xfrm>
          <a:prstGeom prst="rect">
            <a:avLst/>
          </a:prstGeom>
          <a:noFill/>
          <a:ln w="19050" algn="ctr">
            <a:noFill/>
            <a:miter lim="800000"/>
            <a:headEnd/>
            <a:tailEnd/>
          </a:ln>
        </p:spPr>
        <p:txBody>
          <a:bodyPr wrap="none" anchor="ctr"/>
          <a:lstStyle/>
          <a:p>
            <a:pPr algn="ctr"/>
            <a:r>
              <a:rPr lang="en-US" altLang="zh-CN" sz="2800" dirty="0" smtClean="0">
                <a:solidFill>
                  <a:schemeClr val="bg1"/>
                </a:solidFill>
              </a:rPr>
              <a:t>C V</a:t>
            </a:r>
            <a:endParaRPr lang="en-US" altLang="zh-CN" sz="2800" dirty="0">
              <a:solidFill>
                <a:schemeClr val="bg1"/>
              </a:solidFill>
            </a:endParaRPr>
          </a:p>
        </p:txBody>
      </p:sp>
      <p:sp>
        <p:nvSpPr>
          <p:cNvPr id="31" name="Rectangle 8"/>
          <p:cNvSpPr>
            <a:spLocks noChangeArrowheads="1"/>
          </p:cNvSpPr>
          <p:nvPr/>
        </p:nvSpPr>
        <p:spPr bwMode="auto">
          <a:xfrm>
            <a:off x="4498009" y="3633582"/>
            <a:ext cx="1112227" cy="438150"/>
          </a:xfrm>
          <a:prstGeom prst="rect">
            <a:avLst/>
          </a:prstGeom>
          <a:noFill/>
          <a:ln w="19050" algn="ctr">
            <a:noFill/>
            <a:miter lim="800000"/>
            <a:headEnd/>
            <a:tailEnd/>
          </a:ln>
        </p:spPr>
        <p:txBody>
          <a:bodyPr wrap="none" anchor="ctr"/>
          <a:lstStyle/>
          <a:p>
            <a:pPr algn="ctr"/>
            <a:r>
              <a:rPr lang="en-US" altLang="zh-CN" sz="2400" dirty="0" smtClean="0">
                <a:solidFill>
                  <a:schemeClr val="bg1"/>
                </a:solidFill>
              </a:rPr>
              <a:t>END</a:t>
            </a:r>
            <a:endParaRPr lang="en-US" altLang="zh-CN" sz="2400" dirty="0">
              <a:solidFill>
                <a:schemeClr val="bg1"/>
              </a:solidFill>
            </a:endParaRPr>
          </a:p>
        </p:txBody>
      </p:sp>
      <p:sp>
        <p:nvSpPr>
          <p:cNvPr id="32" name="矩形 44"/>
          <p:cNvSpPr>
            <a:spLocks noChangeArrowheads="1"/>
          </p:cNvSpPr>
          <p:nvPr/>
        </p:nvSpPr>
        <p:spPr bwMode="auto">
          <a:xfrm>
            <a:off x="509561" y="5278246"/>
            <a:ext cx="4462489" cy="579646"/>
          </a:xfrm>
          <a:prstGeom prst="rect">
            <a:avLst/>
          </a:prstGeom>
          <a:noFill/>
          <a:ln w="9525">
            <a:noFill/>
            <a:miter lim="800000"/>
            <a:headEnd/>
            <a:tailEnd/>
          </a:ln>
        </p:spPr>
        <p:txBody>
          <a:bodyPr wrap="square">
            <a:spAutoFit/>
          </a:bodyPr>
          <a:lstStyle/>
          <a:p>
            <a:pPr algn="l">
              <a:lnSpc>
                <a:spcPts val="1900"/>
              </a:lnSpc>
            </a:pPr>
            <a:r>
              <a:rPr lang="en-US" altLang="zh-CN" sz="1800" b="0" dirty="0">
                <a:solidFill>
                  <a:srgbClr val="7030A0"/>
                </a:solidFill>
              </a:rPr>
              <a:t>   Charging voltage of the single cell </a:t>
            </a:r>
            <a:r>
              <a:rPr lang="en-US" altLang="zh-CN" sz="1800" b="0" dirty="0" smtClean="0">
                <a:solidFill>
                  <a:srgbClr val="7030A0"/>
                </a:solidFill>
              </a:rPr>
              <a:t>has </a:t>
            </a:r>
          </a:p>
          <a:p>
            <a:pPr algn="l">
              <a:lnSpc>
                <a:spcPts val="1900"/>
              </a:lnSpc>
            </a:pPr>
            <a:r>
              <a:rPr lang="en-US" altLang="zh-CN" sz="1800" b="0" dirty="0" smtClean="0">
                <a:solidFill>
                  <a:srgbClr val="7030A0"/>
                </a:solidFill>
              </a:rPr>
              <a:t>reached </a:t>
            </a:r>
            <a:r>
              <a:rPr lang="en-US" altLang="zh-CN" sz="1800" b="0" dirty="0">
                <a:solidFill>
                  <a:srgbClr val="7030A0"/>
                </a:solidFill>
              </a:rPr>
              <a:t>a </a:t>
            </a:r>
            <a:r>
              <a:rPr lang="en-US" altLang="zh-CN" sz="1800" b="0" dirty="0" smtClean="0">
                <a:solidFill>
                  <a:srgbClr val="7030A0"/>
                </a:solidFill>
              </a:rPr>
              <a:t>predesigned </a:t>
            </a:r>
            <a:r>
              <a:rPr lang="en-US" altLang="zh-CN" sz="1800" b="0" dirty="0">
                <a:solidFill>
                  <a:srgbClr val="7030A0"/>
                </a:solidFill>
              </a:rPr>
              <a:t>voltage, such as </a:t>
            </a:r>
            <a:r>
              <a:rPr lang="en-US" altLang="zh-CN" sz="1800" b="0" dirty="0" smtClean="0">
                <a:solidFill>
                  <a:srgbClr val="7030A0"/>
                </a:solidFill>
              </a:rPr>
              <a:t>4.0V</a:t>
            </a:r>
            <a:r>
              <a:rPr lang="en-US" altLang="zh-CN" sz="1800" b="0" dirty="0">
                <a:solidFill>
                  <a:srgbClr val="7030A0"/>
                </a:solidFill>
              </a:rPr>
              <a:t>.</a:t>
            </a:r>
            <a:endParaRPr lang="zh-CN" altLang="en-US" sz="1800" b="0" dirty="0">
              <a:solidFill>
                <a:srgbClr val="7030A0"/>
              </a:solidFill>
            </a:endParaRPr>
          </a:p>
        </p:txBody>
      </p:sp>
      <p:sp>
        <p:nvSpPr>
          <p:cNvPr id="33" name="AutoShape 12"/>
          <p:cNvSpPr>
            <a:spLocks noChangeArrowheads="1"/>
          </p:cNvSpPr>
          <p:nvPr/>
        </p:nvSpPr>
        <p:spPr bwMode="gray">
          <a:xfrm rot="-5400000">
            <a:off x="1849363" y="4700325"/>
            <a:ext cx="693738" cy="303335"/>
          </a:xfrm>
          <a:prstGeom prst="rightArrow">
            <a:avLst>
              <a:gd name="adj1" fmla="val 50000"/>
              <a:gd name="adj2" fmla="val 58329"/>
            </a:avLst>
          </a:prstGeom>
          <a:solidFill>
            <a:schemeClr val="bg1"/>
          </a:solidFill>
          <a:ln w="25400">
            <a:solidFill>
              <a:schemeClr val="tx1"/>
            </a:solidFill>
            <a:miter lim="800000"/>
            <a:headEnd/>
            <a:tailEnd/>
          </a:ln>
        </p:spPr>
        <p:txBody>
          <a:bodyPr wrap="none" anchor="ctr"/>
          <a:lstStyle/>
          <a:p>
            <a:endParaRPr lang="zh-CN" altLang="en-US"/>
          </a:p>
        </p:txBody>
      </p:sp>
      <p:sp>
        <p:nvSpPr>
          <p:cNvPr id="34" name="AutoShape 12"/>
          <p:cNvSpPr>
            <a:spLocks noChangeArrowheads="1"/>
          </p:cNvSpPr>
          <p:nvPr/>
        </p:nvSpPr>
        <p:spPr bwMode="gray">
          <a:xfrm rot="5400000">
            <a:off x="3805298" y="3771638"/>
            <a:ext cx="693737" cy="303335"/>
          </a:xfrm>
          <a:prstGeom prst="rightArrow">
            <a:avLst>
              <a:gd name="adj1" fmla="val 50000"/>
              <a:gd name="adj2" fmla="val 58329"/>
            </a:avLst>
          </a:prstGeom>
          <a:solidFill>
            <a:schemeClr val="bg1"/>
          </a:solidFill>
          <a:ln w="25400">
            <a:solidFill>
              <a:schemeClr val="tx1"/>
            </a:solidFill>
            <a:miter lim="800000"/>
            <a:headEnd/>
            <a:tailEnd/>
          </a:ln>
        </p:spPr>
        <p:txBody>
          <a:bodyPr wrap="none" anchor="ctr"/>
          <a:lstStyle/>
          <a:p>
            <a:endParaRPr lang="zh-CN" altLang="en-US"/>
          </a:p>
        </p:txBody>
      </p:sp>
      <p:sp>
        <p:nvSpPr>
          <p:cNvPr id="35" name="矩形 47"/>
          <p:cNvSpPr>
            <a:spLocks noChangeArrowheads="1"/>
          </p:cNvSpPr>
          <p:nvPr/>
        </p:nvSpPr>
        <p:spPr bwMode="auto">
          <a:xfrm>
            <a:off x="2724137" y="2911262"/>
            <a:ext cx="4486288" cy="579646"/>
          </a:xfrm>
          <a:prstGeom prst="rect">
            <a:avLst/>
          </a:prstGeom>
          <a:noFill/>
          <a:ln w="9525">
            <a:noFill/>
            <a:miter lim="800000"/>
            <a:headEnd/>
            <a:tailEnd/>
          </a:ln>
        </p:spPr>
        <p:txBody>
          <a:bodyPr wrap="square">
            <a:spAutoFit/>
          </a:bodyPr>
          <a:lstStyle/>
          <a:p>
            <a:pPr algn="l">
              <a:lnSpc>
                <a:spcPts val="1900"/>
              </a:lnSpc>
            </a:pPr>
            <a:r>
              <a:rPr lang="en-US" altLang="zh-CN" sz="1600" b="0" dirty="0">
                <a:solidFill>
                  <a:srgbClr val="7030A0"/>
                </a:solidFill>
              </a:rPr>
              <a:t>    </a:t>
            </a:r>
            <a:r>
              <a:rPr lang="en-US" altLang="zh-CN" sz="1800" b="0" dirty="0">
                <a:solidFill>
                  <a:srgbClr val="7030A0"/>
                </a:solidFill>
              </a:rPr>
              <a:t>A certain small charging </a:t>
            </a:r>
            <a:r>
              <a:rPr lang="en-US" altLang="zh-CN" sz="1800" b="0" dirty="0" smtClean="0">
                <a:solidFill>
                  <a:srgbClr val="7030A0"/>
                </a:solidFill>
              </a:rPr>
              <a:t>current predesigned </a:t>
            </a:r>
            <a:r>
              <a:rPr lang="en-US" altLang="zh-CN" sz="1800" b="0" dirty="0">
                <a:solidFill>
                  <a:srgbClr val="7030A0"/>
                </a:solidFill>
              </a:rPr>
              <a:t>has been reached.</a:t>
            </a:r>
            <a:endParaRPr lang="zh-CN" altLang="en-US" sz="1800" dirty="0">
              <a:solidFill>
                <a:srgbClr val="7030A0"/>
              </a:solidFill>
            </a:endParaRPr>
          </a:p>
        </p:txBody>
      </p:sp>
      <p:grpSp>
        <p:nvGrpSpPr>
          <p:cNvPr id="36" name="Group 17"/>
          <p:cNvGrpSpPr>
            <a:grpSpLocks/>
          </p:cNvGrpSpPr>
          <p:nvPr/>
        </p:nvGrpSpPr>
        <p:grpSpPr bwMode="auto">
          <a:xfrm>
            <a:off x="4050309" y="4454319"/>
            <a:ext cx="331177" cy="401638"/>
            <a:chOff x="1872" y="2352"/>
            <a:chExt cx="240" cy="240"/>
          </a:xfrm>
        </p:grpSpPr>
        <p:grpSp>
          <p:nvGrpSpPr>
            <p:cNvPr id="37" name="Group 18"/>
            <p:cNvGrpSpPr>
              <a:grpSpLocks/>
            </p:cNvGrpSpPr>
            <p:nvPr/>
          </p:nvGrpSpPr>
          <p:grpSpPr bwMode="auto">
            <a:xfrm>
              <a:off x="1968" y="2352"/>
              <a:ext cx="144" cy="240"/>
              <a:chOff x="1968" y="2352"/>
              <a:chExt cx="144" cy="240"/>
            </a:xfrm>
          </p:grpSpPr>
          <p:sp>
            <p:nvSpPr>
              <p:cNvPr id="44" name="Oval 19"/>
              <p:cNvSpPr>
                <a:spLocks noChangeArrowheads="1"/>
              </p:cNvSpPr>
              <p:nvPr/>
            </p:nvSpPr>
            <p:spPr bwMode="gray">
              <a:xfrm>
                <a:off x="1968" y="2352"/>
                <a:ext cx="48" cy="48"/>
              </a:xfrm>
              <a:prstGeom prst="ellipse">
                <a:avLst/>
              </a:prstGeom>
              <a:solidFill>
                <a:schemeClr val="bg1"/>
              </a:solidFill>
              <a:ln w="9525">
                <a:noFill/>
                <a:round/>
                <a:headEnd/>
                <a:tailEnd/>
              </a:ln>
            </p:spPr>
            <p:txBody>
              <a:bodyPr wrap="none" anchor="ctr"/>
              <a:lstStyle/>
              <a:p>
                <a:endParaRPr lang="zh-CN" altLang="en-US"/>
              </a:p>
            </p:txBody>
          </p:sp>
          <p:sp>
            <p:nvSpPr>
              <p:cNvPr id="45" name="Oval 20"/>
              <p:cNvSpPr>
                <a:spLocks noChangeArrowheads="1"/>
              </p:cNvSpPr>
              <p:nvPr/>
            </p:nvSpPr>
            <p:spPr bwMode="gray">
              <a:xfrm>
                <a:off x="2016" y="2400"/>
                <a:ext cx="48" cy="48"/>
              </a:xfrm>
              <a:prstGeom prst="ellipse">
                <a:avLst/>
              </a:prstGeom>
              <a:solidFill>
                <a:schemeClr val="bg1"/>
              </a:solidFill>
              <a:ln w="9525">
                <a:noFill/>
                <a:round/>
                <a:headEnd/>
                <a:tailEnd/>
              </a:ln>
            </p:spPr>
            <p:txBody>
              <a:bodyPr wrap="none" anchor="ctr"/>
              <a:lstStyle/>
              <a:p>
                <a:endParaRPr lang="zh-CN" altLang="en-US"/>
              </a:p>
            </p:txBody>
          </p:sp>
          <p:sp>
            <p:nvSpPr>
              <p:cNvPr id="46" name="Oval 21"/>
              <p:cNvSpPr>
                <a:spLocks noChangeArrowheads="1"/>
              </p:cNvSpPr>
              <p:nvPr/>
            </p:nvSpPr>
            <p:spPr bwMode="gray">
              <a:xfrm>
                <a:off x="2064" y="2448"/>
                <a:ext cx="48" cy="48"/>
              </a:xfrm>
              <a:prstGeom prst="ellipse">
                <a:avLst/>
              </a:prstGeom>
              <a:solidFill>
                <a:schemeClr val="bg1"/>
              </a:solidFill>
              <a:ln w="9525">
                <a:noFill/>
                <a:round/>
                <a:headEnd/>
                <a:tailEnd/>
              </a:ln>
            </p:spPr>
            <p:txBody>
              <a:bodyPr wrap="none" anchor="ctr"/>
              <a:lstStyle/>
              <a:p>
                <a:endParaRPr lang="zh-CN" altLang="en-US"/>
              </a:p>
            </p:txBody>
          </p:sp>
          <p:sp>
            <p:nvSpPr>
              <p:cNvPr id="47" name="Oval 22"/>
              <p:cNvSpPr>
                <a:spLocks noChangeArrowheads="1"/>
              </p:cNvSpPr>
              <p:nvPr/>
            </p:nvSpPr>
            <p:spPr bwMode="gray">
              <a:xfrm>
                <a:off x="2016" y="2496"/>
                <a:ext cx="48" cy="48"/>
              </a:xfrm>
              <a:prstGeom prst="ellipse">
                <a:avLst/>
              </a:prstGeom>
              <a:solidFill>
                <a:schemeClr val="bg1"/>
              </a:solidFill>
              <a:ln w="9525">
                <a:noFill/>
                <a:round/>
                <a:headEnd/>
                <a:tailEnd/>
              </a:ln>
            </p:spPr>
            <p:txBody>
              <a:bodyPr wrap="none" anchor="ctr"/>
              <a:lstStyle/>
              <a:p>
                <a:endParaRPr lang="zh-CN" altLang="en-US"/>
              </a:p>
            </p:txBody>
          </p:sp>
          <p:sp>
            <p:nvSpPr>
              <p:cNvPr id="48" name="Oval 23"/>
              <p:cNvSpPr>
                <a:spLocks noChangeArrowheads="1"/>
              </p:cNvSpPr>
              <p:nvPr/>
            </p:nvSpPr>
            <p:spPr bwMode="gray">
              <a:xfrm>
                <a:off x="1968" y="2544"/>
                <a:ext cx="48" cy="48"/>
              </a:xfrm>
              <a:prstGeom prst="ellipse">
                <a:avLst/>
              </a:prstGeom>
              <a:solidFill>
                <a:schemeClr val="bg1"/>
              </a:solidFill>
              <a:ln w="9525">
                <a:noFill/>
                <a:round/>
                <a:headEnd/>
                <a:tailEnd/>
              </a:ln>
            </p:spPr>
            <p:txBody>
              <a:bodyPr wrap="none" anchor="ctr"/>
              <a:lstStyle/>
              <a:p>
                <a:endParaRPr lang="zh-CN" altLang="en-US"/>
              </a:p>
            </p:txBody>
          </p:sp>
        </p:grpSp>
        <p:grpSp>
          <p:nvGrpSpPr>
            <p:cNvPr id="38" name="Group 24"/>
            <p:cNvGrpSpPr>
              <a:grpSpLocks/>
            </p:cNvGrpSpPr>
            <p:nvPr/>
          </p:nvGrpSpPr>
          <p:grpSpPr bwMode="auto">
            <a:xfrm>
              <a:off x="1872" y="2352"/>
              <a:ext cx="144" cy="240"/>
              <a:chOff x="1968" y="2352"/>
              <a:chExt cx="144" cy="240"/>
            </a:xfrm>
          </p:grpSpPr>
          <p:sp>
            <p:nvSpPr>
              <p:cNvPr id="39" name="Oval 25"/>
              <p:cNvSpPr>
                <a:spLocks noChangeArrowheads="1"/>
              </p:cNvSpPr>
              <p:nvPr/>
            </p:nvSpPr>
            <p:spPr bwMode="gray">
              <a:xfrm>
                <a:off x="1968" y="2352"/>
                <a:ext cx="48" cy="48"/>
              </a:xfrm>
              <a:prstGeom prst="ellipse">
                <a:avLst/>
              </a:prstGeom>
              <a:solidFill>
                <a:schemeClr val="bg1"/>
              </a:solidFill>
              <a:ln w="9525">
                <a:noFill/>
                <a:round/>
                <a:headEnd/>
                <a:tailEnd/>
              </a:ln>
            </p:spPr>
            <p:txBody>
              <a:bodyPr wrap="none" anchor="ctr"/>
              <a:lstStyle/>
              <a:p>
                <a:endParaRPr lang="zh-CN" altLang="en-US"/>
              </a:p>
            </p:txBody>
          </p:sp>
          <p:sp>
            <p:nvSpPr>
              <p:cNvPr id="40" name="Oval 26"/>
              <p:cNvSpPr>
                <a:spLocks noChangeArrowheads="1"/>
              </p:cNvSpPr>
              <p:nvPr/>
            </p:nvSpPr>
            <p:spPr bwMode="gray">
              <a:xfrm>
                <a:off x="2016" y="2400"/>
                <a:ext cx="48" cy="48"/>
              </a:xfrm>
              <a:prstGeom prst="ellipse">
                <a:avLst/>
              </a:prstGeom>
              <a:solidFill>
                <a:schemeClr val="bg1"/>
              </a:solidFill>
              <a:ln w="9525">
                <a:noFill/>
                <a:round/>
                <a:headEnd/>
                <a:tailEnd/>
              </a:ln>
            </p:spPr>
            <p:txBody>
              <a:bodyPr wrap="none" anchor="ctr"/>
              <a:lstStyle/>
              <a:p>
                <a:endParaRPr lang="zh-CN" altLang="en-US"/>
              </a:p>
            </p:txBody>
          </p:sp>
          <p:sp>
            <p:nvSpPr>
              <p:cNvPr id="41" name="Oval 27"/>
              <p:cNvSpPr>
                <a:spLocks noChangeArrowheads="1"/>
              </p:cNvSpPr>
              <p:nvPr/>
            </p:nvSpPr>
            <p:spPr bwMode="gray">
              <a:xfrm>
                <a:off x="2064" y="2448"/>
                <a:ext cx="48" cy="48"/>
              </a:xfrm>
              <a:prstGeom prst="ellipse">
                <a:avLst/>
              </a:prstGeom>
              <a:solidFill>
                <a:schemeClr val="bg1"/>
              </a:solidFill>
              <a:ln w="9525">
                <a:noFill/>
                <a:round/>
                <a:headEnd/>
                <a:tailEnd/>
              </a:ln>
            </p:spPr>
            <p:txBody>
              <a:bodyPr wrap="none" anchor="ctr"/>
              <a:lstStyle/>
              <a:p>
                <a:endParaRPr lang="zh-CN" altLang="en-US"/>
              </a:p>
            </p:txBody>
          </p:sp>
          <p:sp>
            <p:nvSpPr>
              <p:cNvPr id="42" name="Oval 28"/>
              <p:cNvSpPr>
                <a:spLocks noChangeArrowheads="1"/>
              </p:cNvSpPr>
              <p:nvPr/>
            </p:nvSpPr>
            <p:spPr bwMode="gray">
              <a:xfrm>
                <a:off x="2016" y="2496"/>
                <a:ext cx="48" cy="48"/>
              </a:xfrm>
              <a:prstGeom prst="ellipse">
                <a:avLst/>
              </a:prstGeom>
              <a:solidFill>
                <a:schemeClr val="bg1"/>
              </a:solidFill>
              <a:ln w="9525">
                <a:noFill/>
                <a:round/>
                <a:headEnd/>
                <a:tailEnd/>
              </a:ln>
            </p:spPr>
            <p:txBody>
              <a:bodyPr wrap="none" anchor="ctr"/>
              <a:lstStyle/>
              <a:p>
                <a:endParaRPr lang="zh-CN" altLang="en-US"/>
              </a:p>
            </p:txBody>
          </p:sp>
          <p:sp>
            <p:nvSpPr>
              <p:cNvPr id="43" name="Oval 29"/>
              <p:cNvSpPr>
                <a:spLocks noChangeArrowheads="1"/>
              </p:cNvSpPr>
              <p:nvPr/>
            </p:nvSpPr>
            <p:spPr bwMode="gray">
              <a:xfrm>
                <a:off x="1968" y="2544"/>
                <a:ext cx="48" cy="48"/>
              </a:xfrm>
              <a:prstGeom prst="ellipse">
                <a:avLst/>
              </a:prstGeom>
              <a:solidFill>
                <a:schemeClr val="bg1"/>
              </a:solidFill>
              <a:ln w="9525">
                <a:noFill/>
                <a:round/>
                <a:headEnd/>
                <a:tailEnd/>
              </a:ln>
            </p:spPr>
            <p:txBody>
              <a:bodyPr wrap="none" anchor="ctr"/>
              <a:lstStyle/>
              <a:p>
                <a:endParaRPr lang="zh-CN" altLang="en-US"/>
              </a:p>
            </p:txBody>
          </p:sp>
        </p:grpSp>
      </p:grpSp>
      <p:graphicFrame>
        <p:nvGraphicFramePr>
          <p:cNvPr id="49" name="Object 2"/>
          <p:cNvGraphicFramePr>
            <a:graphicFrameLocks noChangeAspect="1"/>
          </p:cNvGraphicFramePr>
          <p:nvPr/>
        </p:nvGraphicFramePr>
        <p:xfrm>
          <a:off x="6105525" y="2968419"/>
          <a:ext cx="2887663" cy="2643188"/>
        </p:xfrm>
        <a:graphic>
          <a:graphicData uri="http://schemas.openxmlformats.org/presentationml/2006/ole">
            <mc:AlternateContent xmlns:mc="http://schemas.openxmlformats.org/markup-compatibility/2006">
              <mc:Choice xmlns:v="urn:schemas-microsoft-com:vml" Requires="v">
                <p:oleObj spid="_x0000_s2051" name="Visio" r:id="rId3" imgW="5122545" imgH="3908298" progId="Visio.Drawing.11">
                  <p:embed/>
                </p:oleObj>
              </mc:Choice>
              <mc:Fallback>
                <p:oleObj name="Visio" r:id="rId3" imgW="5122545" imgH="3908298"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5525" y="2968419"/>
                        <a:ext cx="2887663" cy="2643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17</a:t>
            </a:fld>
            <a:r>
              <a:rPr lang="zh-CN" altLang="en-US" smtClean="0"/>
              <a:t> </a:t>
            </a:r>
            <a:endParaRPr lang="zh-CN" altLang="en-US" dirty="0">
              <a:latin typeface="微软雅黑" pitchFamily="34" charset="-122"/>
              <a:ea typeface="微软雅黑" pitchFamily="34" charset="-122"/>
            </a:endParaRPr>
          </a:p>
        </p:txBody>
      </p:sp>
      <p:sp>
        <p:nvSpPr>
          <p:cNvPr id="6" name="等腰三角形 5"/>
          <p:cNvSpPr/>
          <p:nvPr/>
        </p:nvSpPr>
        <p:spPr>
          <a:xfrm rot="10800000">
            <a:off x="633017" y="3014661"/>
            <a:ext cx="1714512" cy="1643074"/>
          </a:xfrm>
          <a:prstGeom prst="triangle">
            <a:avLst/>
          </a:prstGeom>
          <a:noFill/>
          <a:ln w="28575">
            <a:solidFill>
              <a:srgbClr val="A0208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TextBox 23"/>
          <p:cNvSpPr txBox="1">
            <a:spLocks noChangeArrowheads="1"/>
          </p:cNvSpPr>
          <p:nvPr/>
        </p:nvSpPr>
        <p:spPr bwMode="auto">
          <a:xfrm>
            <a:off x="290878" y="1186504"/>
            <a:ext cx="3103735" cy="523220"/>
          </a:xfrm>
          <a:prstGeom prst="rect">
            <a:avLst/>
          </a:prstGeom>
          <a:noFill/>
          <a:ln w="9525">
            <a:noFill/>
            <a:miter lim="800000"/>
            <a:headEnd/>
            <a:tailEnd/>
          </a:ln>
        </p:spPr>
        <p:txBody>
          <a:bodyPr wrap="none">
            <a:spAutoFit/>
          </a:bodyPr>
          <a:lstStyle/>
          <a:p>
            <a:pPr>
              <a:buFont typeface="Wingdings" pitchFamily="2" charset="2"/>
              <a:buChar char="l"/>
            </a:pPr>
            <a:r>
              <a:rPr lang="en-US" altLang="zh-CN" sz="2400" i="1" dirty="0">
                <a:solidFill>
                  <a:schemeClr val="tx1"/>
                </a:solidFill>
              </a:rPr>
              <a:t>  </a:t>
            </a:r>
            <a:r>
              <a:rPr lang="en-US" altLang="zh-CN" sz="2800" i="1" dirty="0">
                <a:solidFill>
                  <a:schemeClr val="accent6">
                    <a:lumMod val="60000"/>
                    <a:lumOff val="40000"/>
                  </a:schemeClr>
                </a:solidFill>
              </a:rPr>
              <a:t>Battery charge</a:t>
            </a:r>
            <a:endParaRPr lang="zh-CN" altLang="en-US" sz="2800" i="1" dirty="0">
              <a:solidFill>
                <a:schemeClr val="accent6">
                  <a:lumMod val="60000"/>
                  <a:lumOff val="40000"/>
                </a:schemeClr>
              </a:solidFill>
            </a:endParaRPr>
          </a:p>
        </p:txBody>
      </p:sp>
      <p:sp>
        <p:nvSpPr>
          <p:cNvPr id="8" name="矩形 3"/>
          <p:cNvSpPr>
            <a:spLocks noChangeArrowheads="1"/>
          </p:cNvSpPr>
          <p:nvPr/>
        </p:nvSpPr>
        <p:spPr bwMode="auto">
          <a:xfrm>
            <a:off x="190500" y="1659426"/>
            <a:ext cx="8695592" cy="830997"/>
          </a:xfrm>
          <a:prstGeom prst="rect">
            <a:avLst/>
          </a:prstGeom>
          <a:noFill/>
          <a:ln w="9525">
            <a:noFill/>
            <a:miter lim="800000"/>
            <a:headEnd/>
            <a:tailEnd/>
          </a:ln>
        </p:spPr>
        <p:txBody>
          <a:bodyPr>
            <a:spAutoFit/>
          </a:bodyPr>
          <a:lstStyle/>
          <a:p>
            <a:r>
              <a:rPr lang="en-US" altLang="zh-CN" sz="2400" i="1" dirty="0" smtClean="0">
                <a:solidFill>
                  <a:srgbClr val="FF0000"/>
                </a:solidFill>
              </a:rPr>
              <a:t>    </a:t>
            </a:r>
            <a:r>
              <a:rPr lang="en-US" altLang="zh-CN" sz="2400" i="1" dirty="0" smtClean="0">
                <a:solidFill>
                  <a:srgbClr val="B010A8"/>
                </a:solidFill>
              </a:rPr>
              <a:t>Over-charge </a:t>
            </a:r>
            <a:r>
              <a:rPr lang="en-US" altLang="zh-CN" sz="2400" i="1" dirty="0">
                <a:solidFill>
                  <a:srgbClr val="B010A8"/>
                </a:solidFill>
              </a:rPr>
              <a:t>must be forbidden </a:t>
            </a:r>
            <a:r>
              <a:rPr lang="en-US" altLang="zh-CN" sz="2400" b="0" dirty="0">
                <a:solidFill>
                  <a:schemeClr val="tx1"/>
                </a:solidFill>
              </a:rPr>
              <a:t>during the lithium ion batteries charging.</a:t>
            </a:r>
            <a:endParaRPr lang="zh-CN" altLang="en-US" sz="2400" dirty="0">
              <a:solidFill>
                <a:schemeClr val="tx1"/>
              </a:solidFill>
            </a:endParaRPr>
          </a:p>
        </p:txBody>
      </p:sp>
      <p:grpSp>
        <p:nvGrpSpPr>
          <p:cNvPr id="9" name="Group 13"/>
          <p:cNvGrpSpPr>
            <a:grpSpLocks/>
          </p:cNvGrpSpPr>
          <p:nvPr/>
        </p:nvGrpSpPr>
        <p:grpSpPr bwMode="auto">
          <a:xfrm>
            <a:off x="347265" y="3336931"/>
            <a:ext cx="2286595" cy="820738"/>
            <a:chOff x="816" y="1587"/>
            <a:chExt cx="1503" cy="504"/>
          </a:xfrm>
        </p:grpSpPr>
        <p:sp>
          <p:nvSpPr>
            <p:cNvPr id="10" name="Freeform 14"/>
            <p:cNvSpPr>
              <a:spLocks/>
            </p:cNvSpPr>
            <p:nvPr/>
          </p:nvSpPr>
          <p:spPr bwMode="gray">
            <a:xfrm>
              <a:off x="905" y="1901"/>
              <a:ext cx="1270" cy="190"/>
            </a:xfrm>
            <a:custGeom>
              <a:avLst/>
              <a:gdLst>
                <a:gd name="T0" fmla="*/ 4464 w 1120"/>
                <a:gd name="T1" fmla="*/ 11 h 252"/>
                <a:gd name="T2" fmla="*/ 4445 w 1120"/>
                <a:gd name="T3" fmla="*/ 11 h 252"/>
                <a:gd name="T4" fmla="*/ 4380 w 1120"/>
                <a:gd name="T5" fmla="*/ 11 h 252"/>
                <a:gd name="T6" fmla="*/ 4282 w 1120"/>
                <a:gd name="T7" fmla="*/ 11 h 252"/>
                <a:gd name="T8" fmla="*/ 4139 w 1120"/>
                <a:gd name="T9" fmla="*/ 11 h 252"/>
                <a:gd name="T10" fmla="*/ 3955 w 1120"/>
                <a:gd name="T11" fmla="*/ 10 h 252"/>
                <a:gd name="T12" fmla="*/ 3742 w 1120"/>
                <a:gd name="T13" fmla="*/ 10 h 252"/>
                <a:gd name="T14" fmla="*/ 3491 w 1120"/>
                <a:gd name="T15" fmla="*/ 10 h 252"/>
                <a:gd name="T16" fmla="*/ 3209 w 1120"/>
                <a:gd name="T17" fmla="*/ 8 h 252"/>
                <a:gd name="T18" fmla="*/ 2911 w 1120"/>
                <a:gd name="T19" fmla="*/ 8 h 252"/>
                <a:gd name="T20" fmla="*/ 2575 w 1120"/>
                <a:gd name="T21" fmla="*/ 8 h 252"/>
                <a:gd name="T22" fmla="*/ 2211 w 1120"/>
                <a:gd name="T23" fmla="*/ 8 h 252"/>
                <a:gd name="T24" fmla="*/ 1855 w 1120"/>
                <a:gd name="T25" fmla="*/ 8 h 252"/>
                <a:gd name="T26" fmla="*/ 1527 w 1120"/>
                <a:gd name="T27" fmla="*/ 8 h 252"/>
                <a:gd name="T28" fmla="*/ 1227 w 1120"/>
                <a:gd name="T29" fmla="*/ 8 h 252"/>
                <a:gd name="T30" fmla="*/ 949 w 1120"/>
                <a:gd name="T31" fmla="*/ 10 h 252"/>
                <a:gd name="T32" fmla="*/ 712 w 1120"/>
                <a:gd name="T33" fmla="*/ 10 h 252"/>
                <a:gd name="T34" fmla="*/ 503 w 1120"/>
                <a:gd name="T35" fmla="*/ 10 h 252"/>
                <a:gd name="T36" fmla="*/ 324 w 1120"/>
                <a:gd name="T37" fmla="*/ 11 h 252"/>
                <a:gd name="T38" fmla="*/ 184 w 1120"/>
                <a:gd name="T39" fmla="*/ 11 h 252"/>
                <a:gd name="T40" fmla="*/ 78 w 1120"/>
                <a:gd name="T41" fmla="*/ 11 h 252"/>
                <a:gd name="T42" fmla="*/ 23 w 1120"/>
                <a:gd name="T43" fmla="*/ 11 h 252"/>
                <a:gd name="T44" fmla="*/ 0 w 1120"/>
                <a:gd name="T45" fmla="*/ 11 h 252"/>
                <a:gd name="T46" fmla="*/ 0 w 1120"/>
                <a:gd name="T47" fmla="*/ 3 h 252"/>
                <a:gd name="T48" fmla="*/ 2229 w 1120"/>
                <a:gd name="T49" fmla="*/ 0 h 252"/>
                <a:gd name="T50" fmla="*/ 4464 w 1120"/>
                <a:gd name="T51" fmla="*/ 3 h 252"/>
                <a:gd name="T52" fmla="*/ 4464 w 1120"/>
                <a:gd name="T53" fmla="*/ 11 h 252"/>
                <a:gd name="T54" fmla="*/ 4464 w 1120"/>
                <a:gd name="T55" fmla="*/ 11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11" name="Rectangle 15"/>
            <p:cNvSpPr>
              <a:spLocks noChangeArrowheads="1"/>
            </p:cNvSpPr>
            <p:nvPr/>
          </p:nvSpPr>
          <p:spPr bwMode="gray">
            <a:xfrm>
              <a:off x="816" y="1587"/>
              <a:ext cx="1503" cy="393"/>
            </a:xfrm>
            <a:prstGeom prst="rect">
              <a:avLst/>
            </a:prstGeom>
            <a:solidFill>
              <a:schemeClr val="accent1">
                <a:lumMod val="50000"/>
              </a:schemeClr>
            </a:solidFill>
            <a:ln w="9525" algn="ctr">
              <a:noFill/>
              <a:miter lim="800000"/>
              <a:headEnd/>
              <a:tailEnd/>
            </a:ln>
            <a:effectLst/>
          </p:spPr>
          <p:txBody>
            <a:bodyPr wrap="none" lIns="115192" tIns="57596" rIns="115192" bIns="57596" anchor="ctr"/>
            <a:lstStyle/>
            <a:p>
              <a:pPr defTabSz="1152525" eaLnBrk="0" hangingPunct="0">
                <a:defRPr/>
              </a:pPr>
              <a:r>
                <a:rPr lang="en-US" altLang="zh-CN" sz="2200" dirty="0" smtClean="0">
                  <a:solidFill>
                    <a:schemeClr val="bg1"/>
                  </a:solidFill>
                  <a:effectLst>
                    <a:outerShdw blurRad="38100" dist="38100" dir="2700000" algn="tl">
                      <a:srgbClr val="000000"/>
                    </a:outerShdw>
                  </a:effectLst>
                  <a:ea typeface="华文细黑" pitchFamily="2" charset="-122"/>
                </a:rPr>
                <a:t>     Disadvantage</a:t>
              </a:r>
              <a:endParaRPr lang="en-US" altLang="zh-CN" sz="2200" dirty="0">
                <a:solidFill>
                  <a:schemeClr val="bg1"/>
                </a:solidFill>
                <a:effectLst>
                  <a:outerShdw blurRad="38100" dist="38100" dir="2700000" algn="tl">
                    <a:srgbClr val="000000"/>
                  </a:outerShdw>
                </a:effectLst>
                <a:ea typeface="华文细黑" pitchFamily="2" charset="-122"/>
              </a:endParaRPr>
            </a:p>
          </p:txBody>
        </p:sp>
      </p:grpSp>
      <p:sp>
        <p:nvSpPr>
          <p:cNvPr id="12" name="矩形 7"/>
          <p:cNvSpPr>
            <a:spLocks noChangeArrowheads="1"/>
          </p:cNvSpPr>
          <p:nvPr/>
        </p:nvSpPr>
        <p:spPr bwMode="auto">
          <a:xfrm>
            <a:off x="2776157" y="2632874"/>
            <a:ext cx="5852025" cy="2939266"/>
          </a:xfrm>
          <a:prstGeom prst="rect">
            <a:avLst/>
          </a:prstGeom>
          <a:noFill/>
          <a:ln w="9525">
            <a:noFill/>
            <a:miter lim="800000"/>
            <a:headEnd/>
            <a:tailEnd/>
          </a:ln>
        </p:spPr>
        <p:txBody>
          <a:bodyPr wrap="square">
            <a:spAutoFit/>
          </a:bodyPr>
          <a:lstStyle/>
          <a:p>
            <a:pPr marL="263525" indent="-263525" algn="l">
              <a:lnSpc>
                <a:spcPts val="3000"/>
              </a:lnSpc>
              <a:buFont typeface="Arial" pitchFamily="34" charset="0"/>
              <a:buChar char="•"/>
            </a:pPr>
            <a:r>
              <a:rPr lang="en-US" altLang="zh-CN" b="0" dirty="0"/>
              <a:t>   </a:t>
            </a:r>
            <a:r>
              <a:rPr lang="en-US" altLang="zh-CN" sz="2200" b="0" dirty="0" smtClean="0">
                <a:solidFill>
                  <a:schemeClr val="tx1"/>
                </a:solidFill>
              </a:rPr>
              <a:t>Lead </a:t>
            </a:r>
            <a:r>
              <a:rPr lang="en-US" altLang="zh-CN" sz="2200" b="0" dirty="0">
                <a:solidFill>
                  <a:schemeClr val="tx1"/>
                </a:solidFill>
              </a:rPr>
              <a:t>to the gas production and temperature increase created by decomposition of organic electrolyte inside batteries. </a:t>
            </a:r>
          </a:p>
          <a:p>
            <a:pPr marL="263525" indent="-263525" algn="l">
              <a:lnSpc>
                <a:spcPts val="3000"/>
              </a:lnSpc>
              <a:spcBef>
                <a:spcPts val="1200"/>
              </a:spcBef>
              <a:buFont typeface="Arial" pitchFamily="34" charset="0"/>
              <a:buChar char="•"/>
            </a:pPr>
            <a:r>
              <a:rPr lang="en-US" altLang="zh-CN" b="0" dirty="0"/>
              <a:t>   </a:t>
            </a:r>
            <a:r>
              <a:rPr lang="en-US" altLang="zh-CN" sz="2200" b="0" dirty="0" smtClean="0">
                <a:solidFill>
                  <a:schemeClr val="tx1"/>
                </a:solidFill>
              </a:rPr>
              <a:t>Cause </a:t>
            </a:r>
            <a:r>
              <a:rPr lang="en-US" altLang="zh-CN" sz="2200" b="0" dirty="0">
                <a:solidFill>
                  <a:schemeClr val="tx1"/>
                </a:solidFill>
              </a:rPr>
              <a:t>the increase in  pressure inside the battery and more seriously, an explosion may </a:t>
            </a:r>
            <a:r>
              <a:rPr lang="en-US" altLang="zh-CN" sz="2200" b="0" dirty="0" smtClean="0">
                <a:solidFill>
                  <a:schemeClr val="tx1"/>
                </a:solidFill>
              </a:rPr>
              <a:t>take </a:t>
            </a:r>
            <a:r>
              <a:rPr lang="en-US" altLang="zh-CN" sz="2200" b="0" dirty="0">
                <a:solidFill>
                  <a:schemeClr val="tx1"/>
                </a:solidFill>
              </a:rPr>
              <a:t>place.</a:t>
            </a:r>
            <a:endParaRPr lang="zh-CN" altLang="en-US" sz="2200" dirty="0">
              <a:solidFill>
                <a:schemeClr val="tx1"/>
              </a:solidFill>
            </a:endParaRPr>
          </a:p>
        </p:txBody>
      </p:sp>
      <p:sp>
        <p:nvSpPr>
          <p:cNvPr id="13" name="矩形 12"/>
          <p:cNvSpPr/>
          <p:nvPr/>
        </p:nvSpPr>
        <p:spPr>
          <a:xfrm>
            <a:off x="2348544" y="500042"/>
            <a:ext cx="4929555" cy="707886"/>
          </a:xfrm>
          <a:prstGeom prst="rect">
            <a:avLst/>
          </a:prstGeom>
        </p:spPr>
        <p:txBody>
          <a:bodyPr wrap="none">
            <a:spAutoFit/>
          </a:bodyPr>
          <a:lstStyle/>
          <a:p>
            <a:pPr algn="ctr">
              <a:buClr>
                <a:srgbClr val="FF0000"/>
              </a:buClr>
              <a:defRPr/>
            </a:pPr>
            <a:r>
              <a:rPr lang="en-US" altLang="zh-CN" sz="4000" dirty="0" smtClean="0">
                <a:solidFill>
                  <a:srgbClr val="FFFFCC"/>
                </a:solidFill>
                <a:latin typeface="Impact" pitchFamily="34" charset="0"/>
                <a:ea typeface="方正大黑简体" pitchFamily="2" charset="-122"/>
              </a:rPr>
              <a:t>Work principles of PSS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18</a:t>
            </a:fld>
            <a:r>
              <a:rPr lang="zh-CN" altLang="en-US" smtClean="0"/>
              <a:t> </a:t>
            </a:r>
            <a:endParaRPr lang="zh-CN" altLang="en-US" dirty="0">
              <a:latin typeface="微软雅黑" pitchFamily="34" charset="-122"/>
              <a:ea typeface="微软雅黑" pitchFamily="34" charset="-122"/>
            </a:endParaRPr>
          </a:p>
        </p:txBody>
      </p:sp>
      <p:grpSp>
        <p:nvGrpSpPr>
          <p:cNvPr id="6" name="组合 5"/>
          <p:cNvGrpSpPr/>
          <p:nvPr/>
        </p:nvGrpSpPr>
        <p:grpSpPr>
          <a:xfrm>
            <a:off x="385734" y="2476493"/>
            <a:ext cx="3457600" cy="2881333"/>
            <a:chOff x="5347210" y="1672948"/>
            <a:chExt cx="2725252" cy="1808854"/>
          </a:xfrm>
        </p:grpSpPr>
        <p:cxnSp>
          <p:nvCxnSpPr>
            <p:cNvPr id="7" name="直接连接符 6"/>
            <p:cNvCxnSpPr/>
            <p:nvPr/>
          </p:nvCxnSpPr>
          <p:spPr bwMode="auto">
            <a:xfrm>
              <a:off x="5643570" y="3141660"/>
              <a:ext cx="2428892" cy="1588"/>
            </a:xfrm>
            <a:prstGeom prst="line">
              <a:avLst/>
            </a:prstGeom>
            <a:solidFill>
              <a:schemeClr val="bg1"/>
            </a:solidFill>
            <a:ln w="25400" cap="flat" cmpd="sng" algn="ctr">
              <a:solidFill>
                <a:schemeClr val="tx2"/>
              </a:solidFill>
              <a:prstDash val="solid"/>
              <a:round/>
              <a:headEnd type="none" w="med" len="med"/>
              <a:tailEnd type="none" w="med" len="med"/>
            </a:ln>
            <a:effectLst/>
          </p:spPr>
        </p:cxnSp>
        <p:cxnSp>
          <p:nvCxnSpPr>
            <p:cNvPr id="8" name="直接箭头连接符 7"/>
            <p:cNvCxnSpPr/>
            <p:nvPr/>
          </p:nvCxnSpPr>
          <p:spPr bwMode="auto">
            <a:xfrm rot="5400000" flipH="1" flipV="1">
              <a:off x="4929190" y="2428868"/>
              <a:ext cx="1428760" cy="1588"/>
            </a:xfrm>
            <a:prstGeom prst="straightConnector1">
              <a:avLst/>
            </a:prstGeom>
            <a:solidFill>
              <a:schemeClr val="bg1"/>
            </a:solidFill>
            <a:ln w="25400" cap="flat" cmpd="sng" algn="ctr">
              <a:solidFill>
                <a:schemeClr val="tx1"/>
              </a:solidFill>
              <a:prstDash val="solid"/>
              <a:round/>
              <a:headEnd type="none" w="med" len="med"/>
              <a:tailEnd type="arrow"/>
            </a:ln>
            <a:effectLst/>
          </p:spPr>
        </p:cxnSp>
        <p:sp>
          <p:nvSpPr>
            <p:cNvPr id="9" name="矩形 8"/>
            <p:cNvSpPr/>
            <p:nvPr/>
          </p:nvSpPr>
          <p:spPr bwMode="auto">
            <a:xfrm>
              <a:off x="5786446" y="2000240"/>
              <a:ext cx="142876" cy="1143008"/>
            </a:xfrm>
            <a:prstGeom prst="rect">
              <a:avLst/>
            </a:prstGeom>
            <a:solidFill>
              <a:schemeClr val="accent1">
                <a:lumMod val="75000"/>
              </a:schemeClr>
            </a:solidFill>
            <a:ln w="9525" cap="flat" cmpd="sng" algn="ctr">
              <a:solidFill>
                <a:schemeClr val="folHlink"/>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rgbClr val="575F6D"/>
                </a:solidFill>
                <a:effectLst/>
                <a:latin typeface="Arial" charset="0"/>
                <a:ea typeface="宋体" pitchFamily="2" charset="-122"/>
              </a:endParaRPr>
            </a:p>
          </p:txBody>
        </p:sp>
        <p:sp>
          <p:nvSpPr>
            <p:cNvPr id="10" name="矩形 9"/>
            <p:cNvSpPr/>
            <p:nvPr/>
          </p:nvSpPr>
          <p:spPr bwMode="auto">
            <a:xfrm>
              <a:off x="6072198" y="2000240"/>
              <a:ext cx="142876" cy="1143008"/>
            </a:xfrm>
            <a:prstGeom prst="rect">
              <a:avLst/>
            </a:prstGeom>
            <a:solidFill>
              <a:schemeClr val="accent1">
                <a:lumMod val="75000"/>
              </a:schemeClr>
            </a:solidFill>
            <a:ln w="9525" cap="flat" cmpd="sng" algn="ctr">
              <a:solidFill>
                <a:schemeClr val="folHlink"/>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rgbClr val="575F6D"/>
                </a:solidFill>
                <a:effectLst/>
                <a:latin typeface="Arial" charset="0"/>
                <a:ea typeface="宋体" pitchFamily="2" charset="-122"/>
              </a:endParaRPr>
            </a:p>
          </p:txBody>
        </p:sp>
        <p:sp>
          <p:nvSpPr>
            <p:cNvPr id="11" name="矩形 10"/>
            <p:cNvSpPr/>
            <p:nvPr/>
          </p:nvSpPr>
          <p:spPr bwMode="auto">
            <a:xfrm>
              <a:off x="6357950" y="2000240"/>
              <a:ext cx="142876" cy="1143008"/>
            </a:xfrm>
            <a:prstGeom prst="rect">
              <a:avLst/>
            </a:prstGeom>
            <a:solidFill>
              <a:schemeClr val="accent1">
                <a:lumMod val="75000"/>
              </a:schemeClr>
            </a:solidFill>
            <a:ln w="9525" cap="flat" cmpd="sng" algn="ctr">
              <a:solidFill>
                <a:schemeClr val="folHlink"/>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rgbClr val="575F6D"/>
                </a:solidFill>
                <a:effectLst/>
                <a:latin typeface="Arial" charset="0"/>
                <a:ea typeface="宋体" pitchFamily="2" charset="-122"/>
              </a:endParaRPr>
            </a:p>
          </p:txBody>
        </p:sp>
        <p:sp>
          <p:nvSpPr>
            <p:cNvPr id="12" name="矩形 11"/>
            <p:cNvSpPr/>
            <p:nvPr/>
          </p:nvSpPr>
          <p:spPr bwMode="auto">
            <a:xfrm>
              <a:off x="6643702" y="2000240"/>
              <a:ext cx="142876" cy="1143008"/>
            </a:xfrm>
            <a:prstGeom prst="rect">
              <a:avLst/>
            </a:prstGeom>
            <a:solidFill>
              <a:schemeClr val="accent1">
                <a:lumMod val="75000"/>
              </a:schemeClr>
            </a:solidFill>
            <a:ln w="9525" cap="flat" cmpd="sng" algn="ctr">
              <a:solidFill>
                <a:schemeClr val="folHlink"/>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rgbClr val="575F6D"/>
                </a:solidFill>
                <a:effectLst/>
                <a:latin typeface="Arial" charset="0"/>
                <a:ea typeface="宋体" pitchFamily="2" charset="-122"/>
              </a:endParaRPr>
            </a:p>
          </p:txBody>
        </p:sp>
        <p:sp>
          <p:nvSpPr>
            <p:cNvPr id="13" name="矩形 12"/>
            <p:cNvSpPr/>
            <p:nvPr/>
          </p:nvSpPr>
          <p:spPr bwMode="auto">
            <a:xfrm>
              <a:off x="6929454" y="2000240"/>
              <a:ext cx="142876" cy="1143008"/>
            </a:xfrm>
            <a:prstGeom prst="rect">
              <a:avLst/>
            </a:prstGeom>
            <a:solidFill>
              <a:schemeClr val="accent1">
                <a:lumMod val="75000"/>
              </a:schemeClr>
            </a:solidFill>
            <a:ln w="9525" cap="flat" cmpd="sng" algn="ctr">
              <a:solidFill>
                <a:schemeClr val="folHlink"/>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rgbClr val="575F6D"/>
                </a:solidFill>
                <a:effectLst/>
                <a:latin typeface="Arial" charset="0"/>
                <a:ea typeface="宋体" pitchFamily="2" charset="-122"/>
              </a:endParaRPr>
            </a:p>
          </p:txBody>
        </p:sp>
        <p:sp>
          <p:nvSpPr>
            <p:cNvPr id="14" name="矩形 13"/>
            <p:cNvSpPr/>
            <p:nvPr/>
          </p:nvSpPr>
          <p:spPr bwMode="auto">
            <a:xfrm>
              <a:off x="7215206" y="1867288"/>
              <a:ext cx="136527" cy="1275960"/>
            </a:xfrm>
            <a:prstGeom prst="rect">
              <a:avLst/>
            </a:prstGeom>
            <a:solidFill>
              <a:srgbClr val="B010A8"/>
            </a:solidFill>
            <a:ln w="9525" cap="flat" cmpd="sng" algn="ctr">
              <a:solidFill>
                <a:schemeClr val="folHlink"/>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rgbClr val="575F6D"/>
                </a:solidFill>
                <a:effectLst/>
                <a:latin typeface="Arial" charset="0"/>
                <a:ea typeface="宋体" pitchFamily="2" charset="-122"/>
              </a:endParaRPr>
            </a:p>
          </p:txBody>
        </p:sp>
        <p:sp>
          <p:nvSpPr>
            <p:cNvPr id="15" name="矩形 14"/>
            <p:cNvSpPr/>
            <p:nvPr/>
          </p:nvSpPr>
          <p:spPr bwMode="auto">
            <a:xfrm>
              <a:off x="7500958" y="2000240"/>
              <a:ext cx="142876" cy="1143008"/>
            </a:xfrm>
            <a:prstGeom prst="rect">
              <a:avLst/>
            </a:prstGeom>
            <a:solidFill>
              <a:schemeClr val="accent1">
                <a:lumMod val="75000"/>
              </a:schemeClr>
            </a:solidFill>
            <a:ln w="9525" cap="flat" cmpd="sng" algn="ctr">
              <a:solidFill>
                <a:schemeClr val="folHlink"/>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rgbClr val="575F6D"/>
                </a:solidFill>
                <a:effectLst/>
                <a:latin typeface="Arial" charset="0"/>
                <a:ea typeface="宋体" pitchFamily="2" charset="-122"/>
              </a:endParaRPr>
            </a:p>
          </p:txBody>
        </p:sp>
        <p:sp>
          <p:nvSpPr>
            <p:cNvPr id="16" name="TextBox 15"/>
            <p:cNvSpPr txBox="1"/>
            <p:nvPr/>
          </p:nvSpPr>
          <p:spPr>
            <a:xfrm>
              <a:off x="5347210" y="1672948"/>
              <a:ext cx="356188" cy="400110"/>
            </a:xfrm>
            <a:prstGeom prst="rect">
              <a:avLst/>
            </a:prstGeom>
            <a:noFill/>
          </p:spPr>
          <p:txBody>
            <a:bodyPr wrap="none" rtlCol="0">
              <a:spAutoFit/>
            </a:bodyPr>
            <a:lstStyle/>
            <a:p>
              <a:r>
                <a:rPr lang="en-US" altLang="zh-CN" dirty="0" smtClean="0"/>
                <a:t>V</a:t>
              </a:r>
              <a:endParaRPr lang="zh-CN" altLang="en-US" dirty="0"/>
            </a:p>
          </p:txBody>
        </p:sp>
        <p:sp>
          <p:nvSpPr>
            <p:cNvPr id="17" name="TextBox 16"/>
            <p:cNvSpPr txBox="1"/>
            <p:nvPr/>
          </p:nvSpPr>
          <p:spPr>
            <a:xfrm>
              <a:off x="5715008" y="3143248"/>
              <a:ext cx="298480" cy="338554"/>
            </a:xfrm>
            <a:prstGeom prst="rect">
              <a:avLst/>
            </a:prstGeom>
            <a:noFill/>
          </p:spPr>
          <p:txBody>
            <a:bodyPr wrap="none" rtlCol="0">
              <a:spAutoFit/>
            </a:bodyPr>
            <a:lstStyle/>
            <a:p>
              <a:r>
                <a:rPr lang="en-US" altLang="zh-CN" sz="1600" dirty="0" smtClean="0"/>
                <a:t>1</a:t>
              </a:r>
              <a:endParaRPr lang="zh-CN" altLang="en-US" sz="1600" dirty="0"/>
            </a:p>
          </p:txBody>
        </p:sp>
        <p:sp>
          <p:nvSpPr>
            <p:cNvPr id="18" name="TextBox 17"/>
            <p:cNvSpPr txBox="1"/>
            <p:nvPr/>
          </p:nvSpPr>
          <p:spPr>
            <a:xfrm>
              <a:off x="6000760" y="3143248"/>
              <a:ext cx="298480" cy="338554"/>
            </a:xfrm>
            <a:prstGeom prst="rect">
              <a:avLst/>
            </a:prstGeom>
            <a:noFill/>
          </p:spPr>
          <p:txBody>
            <a:bodyPr wrap="none" rtlCol="0">
              <a:spAutoFit/>
            </a:bodyPr>
            <a:lstStyle/>
            <a:p>
              <a:r>
                <a:rPr lang="en-US" altLang="zh-CN" sz="1600" dirty="0" smtClean="0"/>
                <a:t>2</a:t>
              </a:r>
              <a:endParaRPr lang="zh-CN" altLang="en-US" sz="1600" dirty="0"/>
            </a:p>
          </p:txBody>
        </p:sp>
        <p:sp>
          <p:nvSpPr>
            <p:cNvPr id="19" name="TextBox 18"/>
            <p:cNvSpPr txBox="1"/>
            <p:nvPr/>
          </p:nvSpPr>
          <p:spPr>
            <a:xfrm>
              <a:off x="6286512" y="3143248"/>
              <a:ext cx="298480" cy="338554"/>
            </a:xfrm>
            <a:prstGeom prst="rect">
              <a:avLst/>
            </a:prstGeom>
            <a:noFill/>
          </p:spPr>
          <p:txBody>
            <a:bodyPr wrap="none" rtlCol="0">
              <a:spAutoFit/>
            </a:bodyPr>
            <a:lstStyle/>
            <a:p>
              <a:r>
                <a:rPr lang="en-US" altLang="zh-CN" sz="1600" dirty="0" smtClean="0"/>
                <a:t>3</a:t>
              </a:r>
              <a:endParaRPr lang="zh-CN" altLang="en-US" sz="1600" dirty="0"/>
            </a:p>
          </p:txBody>
        </p:sp>
        <p:sp>
          <p:nvSpPr>
            <p:cNvPr id="20" name="TextBox 19"/>
            <p:cNvSpPr txBox="1"/>
            <p:nvPr/>
          </p:nvSpPr>
          <p:spPr>
            <a:xfrm>
              <a:off x="6572264" y="3143248"/>
              <a:ext cx="298480" cy="338554"/>
            </a:xfrm>
            <a:prstGeom prst="rect">
              <a:avLst/>
            </a:prstGeom>
            <a:noFill/>
          </p:spPr>
          <p:txBody>
            <a:bodyPr wrap="none" rtlCol="0">
              <a:spAutoFit/>
            </a:bodyPr>
            <a:lstStyle/>
            <a:p>
              <a:r>
                <a:rPr lang="en-US" altLang="zh-CN" sz="1600" dirty="0" smtClean="0"/>
                <a:t>4</a:t>
              </a:r>
              <a:endParaRPr lang="zh-CN" altLang="en-US" sz="1600" dirty="0"/>
            </a:p>
          </p:txBody>
        </p:sp>
        <p:sp>
          <p:nvSpPr>
            <p:cNvPr id="21" name="TextBox 20"/>
            <p:cNvSpPr txBox="1"/>
            <p:nvPr/>
          </p:nvSpPr>
          <p:spPr>
            <a:xfrm>
              <a:off x="6858016" y="3143248"/>
              <a:ext cx="298480" cy="338554"/>
            </a:xfrm>
            <a:prstGeom prst="rect">
              <a:avLst/>
            </a:prstGeom>
            <a:noFill/>
          </p:spPr>
          <p:txBody>
            <a:bodyPr wrap="none" rtlCol="0">
              <a:spAutoFit/>
            </a:bodyPr>
            <a:lstStyle/>
            <a:p>
              <a:r>
                <a:rPr lang="en-US" altLang="zh-CN" sz="1600" dirty="0" smtClean="0"/>
                <a:t>5</a:t>
              </a:r>
              <a:endParaRPr lang="zh-CN" altLang="en-US" sz="1600" dirty="0"/>
            </a:p>
          </p:txBody>
        </p:sp>
        <p:sp>
          <p:nvSpPr>
            <p:cNvPr id="22" name="TextBox 21"/>
            <p:cNvSpPr txBox="1"/>
            <p:nvPr/>
          </p:nvSpPr>
          <p:spPr>
            <a:xfrm>
              <a:off x="7143768" y="3143248"/>
              <a:ext cx="298480" cy="338554"/>
            </a:xfrm>
            <a:prstGeom prst="rect">
              <a:avLst/>
            </a:prstGeom>
            <a:noFill/>
          </p:spPr>
          <p:txBody>
            <a:bodyPr wrap="none" rtlCol="0">
              <a:spAutoFit/>
            </a:bodyPr>
            <a:lstStyle/>
            <a:p>
              <a:r>
                <a:rPr lang="en-US" altLang="zh-CN" sz="1600" dirty="0" smtClean="0"/>
                <a:t>6</a:t>
              </a:r>
              <a:endParaRPr lang="zh-CN" altLang="en-US" sz="1600" dirty="0"/>
            </a:p>
          </p:txBody>
        </p:sp>
        <p:sp>
          <p:nvSpPr>
            <p:cNvPr id="23" name="TextBox 22"/>
            <p:cNvSpPr txBox="1"/>
            <p:nvPr/>
          </p:nvSpPr>
          <p:spPr>
            <a:xfrm>
              <a:off x="7429520" y="3143248"/>
              <a:ext cx="298480" cy="338554"/>
            </a:xfrm>
            <a:prstGeom prst="rect">
              <a:avLst/>
            </a:prstGeom>
            <a:noFill/>
          </p:spPr>
          <p:txBody>
            <a:bodyPr wrap="none" rtlCol="0">
              <a:spAutoFit/>
            </a:bodyPr>
            <a:lstStyle/>
            <a:p>
              <a:r>
                <a:rPr lang="en-US" altLang="zh-CN" sz="1600" dirty="0" smtClean="0"/>
                <a:t>7</a:t>
              </a:r>
              <a:endParaRPr lang="zh-CN" altLang="en-US" sz="1600" dirty="0"/>
            </a:p>
          </p:txBody>
        </p:sp>
      </p:grpSp>
      <p:sp>
        <p:nvSpPr>
          <p:cNvPr id="24" name="矩形 23"/>
          <p:cNvSpPr/>
          <p:nvPr/>
        </p:nvSpPr>
        <p:spPr>
          <a:xfrm>
            <a:off x="4152896" y="1771641"/>
            <a:ext cx="4857753" cy="923330"/>
          </a:xfrm>
          <a:prstGeom prst="rect">
            <a:avLst/>
          </a:prstGeom>
        </p:spPr>
        <p:txBody>
          <a:bodyPr wrap="square">
            <a:spAutoFit/>
          </a:bodyPr>
          <a:lstStyle/>
          <a:p>
            <a:pPr>
              <a:buFont typeface="Wingdings" pitchFamily="2" charset="2"/>
              <a:buChar char="Ø"/>
            </a:pPr>
            <a:r>
              <a:rPr lang="en-US" altLang="zh-CN" b="0" dirty="0" smtClean="0"/>
              <a:t>    </a:t>
            </a:r>
            <a:r>
              <a:rPr lang="en-US" altLang="zh-CN" sz="1800" b="0" dirty="0" smtClean="0"/>
              <a:t>The cell will be a serious imbalance compared with other cells after many charging discharge cycles.</a:t>
            </a:r>
            <a:endParaRPr lang="zh-CN" altLang="en-US" sz="1800" dirty="0"/>
          </a:p>
        </p:txBody>
      </p:sp>
      <p:sp>
        <p:nvSpPr>
          <p:cNvPr id="25" name="矩形 24"/>
          <p:cNvSpPr/>
          <p:nvPr/>
        </p:nvSpPr>
        <p:spPr>
          <a:xfrm>
            <a:off x="4143372" y="3151532"/>
            <a:ext cx="4572000" cy="646331"/>
          </a:xfrm>
          <a:prstGeom prst="rect">
            <a:avLst/>
          </a:prstGeom>
        </p:spPr>
        <p:txBody>
          <a:bodyPr>
            <a:spAutoFit/>
          </a:bodyPr>
          <a:lstStyle/>
          <a:p>
            <a:pPr>
              <a:buFont typeface="Wingdings" pitchFamily="2" charset="2"/>
              <a:buChar char="Ø"/>
            </a:pPr>
            <a:r>
              <a:rPr lang="en-US" altLang="zh-CN" b="0" dirty="0" smtClean="0"/>
              <a:t>   </a:t>
            </a:r>
            <a:r>
              <a:rPr lang="en-US" altLang="zh-CN" sz="1800" dirty="0" smtClean="0"/>
              <a:t>The overcharge method could not be used to reach the balance between battery cells.</a:t>
            </a:r>
            <a:endParaRPr lang="zh-CN" altLang="en-US" sz="1800" dirty="0"/>
          </a:p>
        </p:txBody>
      </p:sp>
      <p:sp>
        <p:nvSpPr>
          <p:cNvPr id="26" name="矩形 25"/>
          <p:cNvSpPr/>
          <p:nvPr/>
        </p:nvSpPr>
        <p:spPr>
          <a:xfrm>
            <a:off x="4171947" y="4386271"/>
            <a:ext cx="4572000" cy="923330"/>
          </a:xfrm>
          <a:prstGeom prst="rect">
            <a:avLst/>
          </a:prstGeom>
        </p:spPr>
        <p:txBody>
          <a:bodyPr>
            <a:spAutoFit/>
          </a:bodyPr>
          <a:lstStyle/>
          <a:p>
            <a:pPr>
              <a:buFont typeface="Wingdings" pitchFamily="2" charset="2"/>
              <a:buChar char="Ø"/>
            </a:pPr>
            <a:r>
              <a:rPr lang="en-US" altLang="zh-CN" b="0" dirty="0" smtClean="0"/>
              <a:t>  </a:t>
            </a:r>
            <a:r>
              <a:rPr lang="en-US" altLang="zh-CN" sz="1800" dirty="0" smtClean="0"/>
              <a:t>A balance charging control circuit in battery charge regulator is adopted to ensure the performance balance.</a:t>
            </a:r>
            <a:endParaRPr lang="zh-CN" altLang="en-US" sz="1800" dirty="0"/>
          </a:p>
        </p:txBody>
      </p:sp>
      <p:sp>
        <p:nvSpPr>
          <p:cNvPr id="27" name="AutoShape 12"/>
          <p:cNvSpPr>
            <a:spLocks noChangeArrowheads="1"/>
          </p:cNvSpPr>
          <p:nvPr/>
        </p:nvSpPr>
        <p:spPr bwMode="gray">
          <a:xfrm rot="5400000">
            <a:off x="6131725" y="2707484"/>
            <a:ext cx="452436" cy="276213"/>
          </a:xfrm>
          <a:prstGeom prst="rightArrow">
            <a:avLst>
              <a:gd name="adj1" fmla="val 50000"/>
              <a:gd name="adj2" fmla="val 58258"/>
            </a:avLst>
          </a:prstGeom>
          <a:solidFill>
            <a:srgbClr val="34B237"/>
          </a:solidFill>
          <a:ln w="25400">
            <a:solidFill>
              <a:schemeClr val="tx1"/>
            </a:solidFill>
            <a:miter lim="800000"/>
            <a:headEnd/>
            <a:tailEnd/>
          </a:ln>
        </p:spPr>
        <p:txBody>
          <a:bodyPr wrap="none" anchor="ctr"/>
          <a:lstStyle/>
          <a:p>
            <a:endParaRPr lang="zh-CN" altLang="en-US"/>
          </a:p>
        </p:txBody>
      </p:sp>
      <p:sp>
        <p:nvSpPr>
          <p:cNvPr id="28" name="AutoShape 12"/>
          <p:cNvSpPr>
            <a:spLocks noChangeArrowheads="1"/>
          </p:cNvSpPr>
          <p:nvPr/>
        </p:nvSpPr>
        <p:spPr bwMode="gray">
          <a:xfrm rot="5400000">
            <a:off x="6136489" y="3969550"/>
            <a:ext cx="471479" cy="285739"/>
          </a:xfrm>
          <a:prstGeom prst="rightArrow">
            <a:avLst>
              <a:gd name="adj1" fmla="val 50000"/>
              <a:gd name="adj2" fmla="val 58258"/>
            </a:avLst>
          </a:prstGeom>
          <a:solidFill>
            <a:srgbClr val="17AD5E"/>
          </a:solidFill>
          <a:ln w="25400">
            <a:solidFill>
              <a:schemeClr val="tx1"/>
            </a:solidFill>
            <a:miter lim="800000"/>
            <a:headEnd/>
            <a:tailEnd/>
          </a:ln>
        </p:spPr>
        <p:txBody>
          <a:bodyPr wrap="none" anchor="ctr"/>
          <a:lstStyle/>
          <a:p>
            <a:endParaRPr lang="zh-CN" altLang="en-US"/>
          </a:p>
        </p:txBody>
      </p:sp>
      <p:sp>
        <p:nvSpPr>
          <p:cNvPr id="29" name="TextBox 23"/>
          <p:cNvSpPr txBox="1">
            <a:spLocks noChangeArrowheads="1"/>
          </p:cNvSpPr>
          <p:nvPr/>
        </p:nvSpPr>
        <p:spPr bwMode="auto">
          <a:xfrm>
            <a:off x="290878" y="1672262"/>
            <a:ext cx="2841675" cy="523220"/>
          </a:xfrm>
          <a:prstGeom prst="rect">
            <a:avLst/>
          </a:prstGeom>
          <a:noFill/>
          <a:ln w="9525">
            <a:noFill/>
            <a:miter lim="800000"/>
            <a:headEnd/>
            <a:tailEnd/>
          </a:ln>
        </p:spPr>
        <p:txBody>
          <a:bodyPr wrap="none">
            <a:spAutoFit/>
          </a:bodyPr>
          <a:lstStyle/>
          <a:p>
            <a:pPr>
              <a:buFont typeface="Wingdings" pitchFamily="2" charset="2"/>
              <a:buChar char="l"/>
            </a:pPr>
            <a:r>
              <a:rPr lang="en-US" altLang="zh-CN" sz="2400" i="1" dirty="0">
                <a:solidFill>
                  <a:schemeClr val="tx1"/>
                </a:solidFill>
              </a:rPr>
              <a:t>  </a:t>
            </a:r>
            <a:r>
              <a:rPr lang="en-US" altLang="zh-CN" sz="2800" i="1" dirty="0">
                <a:solidFill>
                  <a:schemeClr val="accent6">
                    <a:lumMod val="60000"/>
                    <a:lumOff val="40000"/>
                  </a:schemeClr>
                </a:solidFill>
              </a:rPr>
              <a:t>Battery </a:t>
            </a:r>
            <a:r>
              <a:rPr lang="en-US" altLang="zh-CN" sz="2800" i="1" dirty="0" smtClean="0">
                <a:solidFill>
                  <a:schemeClr val="accent6">
                    <a:lumMod val="60000"/>
                    <a:lumOff val="40000"/>
                  </a:schemeClr>
                </a:solidFill>
              </a:rPr>
              <a:t>balance</a:t>
            </a:r>
            <a:endParaRPr lang="zh-CN" altLang="en-US" sz="2800" i="1" dirty="0">
              <a:solidFill>
                <a:schemeClr val="accent6">
                  <a:lumMod val="60000"/>
                  <a:lumOff val="40000"/>
                </a:schemeClr>
              </a:solidFill>
            </a:endParaRPr>
          </a:p>
        </p:txBody>
      </p:sp>
      <p:sp>
        <p:nvSpPr>
          <p:cNvPr id="30" name="矩形 29"/>
          <p:cNvSpPr/>
          <p:nvPr/>
        </p:nvSpPr>
        <p:spPr>
          <a:xfrm>
            <a:off x="2143108" y="500042"/>
            <a:ext cx="4929555" cy="707886"/>
          </a:xfrm>
          <a:prstGeom prst="rect">
            <a:avLst/>
          </a:prstGeom>
        </p:spPr>
        <p:txBody>
          <a:bodyPr wrap="none">
            <a:spAutoFit/>
          </a:bodyPr>
          <a:lstStyle/>
          <a:p>
            <a:pPr algn="ctr">
              <a:buClr>
                <a:srgbClr val="FF0000"/>
              </a:buClr>
              <a:defRPr/>
            </a:pPr>
            <a:r>
              <a:rPr lang="en-US" altLang="zh-CN" sz="4000" dirty="0" smtClean="0">
                <a:solidFill>
                  <a:srgbClr val="FFFFCC"/>
                </a:solidFill>
                <a:latin typeface="Impact" pitchFamily="34" charset="0"/>
                <a:ea typeface="方正大黑简体" pitchFamily="2" charset="-122"/>
              </a:rPr>
              <a:t>Work principles of PSS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19</a:t>
            </a:fld>
            <a:r>
              <a:rPr lang="zh-CN" altLang="en-US" smtClean="0"/>
              <a:t> </a:t>
            </a:r>
            <a:endParaRPr lang="zh-CN" altLang="en-US" dirty="0">
              <a:latin typeface="微软雅黑" pitchFamily="34" charset="-122"/>
              <a:ea typeface="微软雅黑" pitchFamily="34" charset="-122"/>
            </a:endParaRPr>
          </a:p>
        </p:txBody>
      </p:sp>
      <p:sp>
        <p:nvSpPr>
          <p:cNvPr id="6" name="TextBox 23"/>
          <p:cNvSpPr txBox="1">
            <a:spLocks noChangeArrowheads="1"/>
          </p:cNvSpPr>
          <p:nvPr/>
        </p:nvSpPr>
        <p:spPr bwMode="auto">
          <a:xfrm>
            <a:off x="228570" y="1719616"/>
            <a:ext cx="3623108" cy="523220"/>
          </a:xfrm>
          <a:prstGeom prst="rect">
            <a:avLst/>
          </a:prstGeom>
          <a:noFill/>
          <a:ln w="9525">
            <a:noFill/>
            <a:miter lim="800000"/>
            <a:headEnd/>
            <a:tailEnd/>
          </a:ln>
        </p:spPr>
        <p:txBody>
          <a:bodyPr wrap="none">
            <a:spAutoFit/>
          </a:bodyPr>
          <a:lstStyle/>
          <a:p>
            <a:pPr>
              <a:buFont typeface="Wingdings" pitchFamily="2" charset="2"/>
              <a:buChar char="l"/>
            </a:pPr>
            <a:r>
              <a:rPr lang="en-US" altLang="zh-CN" sz="2400" i="1" dirty="0">
                <a:solidFill>
                  <a:schemeClr val="tx1"/>
                </a:solidFill>
              </a:rPr>
              <a:t>  </a:t>
            </a:r>
            <a:r>
              <a:rPr lang="en-US" altLang="zh-CN" sz="2800" i="1" dirty="0">
                <a:solidFill>
                  <a:schemeClr val="accent6">
                    <a:lumMod val="60000"/>
                    <a:lumOff val="40000"/>
                  </a:schemeClr>
                </a:solidFill>
              </a:rPr>
              <a:t>Battery discharge</a:t>
            </a:r>
            <a:endParaRPr lang="zh-CN" altLang="en-US" sz="2800" i="1" dirty="0">
              <a:solidFill>
                <a:schemeClr val="accent6">
                  <a:lumMod val="60000"/>
                  <a:lumOff val="40000"/>
                </a:schemeClr>
              </a:solidFill>
            </a:endParaRPr>
          </a:p>
        </p:txBody>
      </p:sp>
      <p:sp>
        <p:nvSpPr>
          <p:cNvPr id="7" name="矩形 6"/>
          <p:cNvSpPr/>
          <p:nvPr/>
        </p:nvSpPr>
        <p:spPr>
          <a:xfrm>
            <a:off x="2466962" y="2861965"/>
            <a:ext cx="6438913" cy="2067233"/>
          </a:xfrm>
          <a:prstGeom prst="rect">
            <a:avLst/>
          </a:prstGeom>
        </p:spPr>
        <p:txBody>
          <a:bodyPr wrap="square">
            <a:spAutoFit/>
          </a:bodyPr>
          <a:lstStyle/>
          <a:p>
            <a:pPr marL="266700" indent="-266700" algn="just">
              <a:lnSpc>
                <a:spcPts val="2600"/>
              </a:lnSpc>
              <a:buFont typeface="Arial" pitchFamily="34" charset="0"/>
              <a:buChar char="•"/>
              <a:defRPr/>
            </a:pPr>
            <a:r>
              <a:rPr lang="en-US" altLang="zh-CN" sz="2200" b="0" dirty="0" smtClean="0"/>
              <a:t>Change </a:t>
            </a:r>
            <a:r>
              <a:rPr lang="en-US" altLang="zh-CN" sz="2200" b="0" dirty="0"/>
              <a:t>the lattice of structure of the cathode materials</a:t>
            </a:r>
          </a:p>
          <a:p>
            <a:pPr marL="266700" indent="-266700">
              <a:lnSpc>
                <a:spcPts val="2600"/>
              </a:lnSpc>
              <a:spcBef>
                <a:spcPts val="1200"/>
              </a:spcBef>
              <a:buFont typeface="Arial" pitchFamily="34" charset="0"/>
              <a:buChar char="•"/>
              <a:defRPr/>
            </a:pPr>
            <a:r>
              <a:rPr lang="en-US" altLang="zh-CN" sz="2200" b="0" dirty="0" smtClean="0"/>
              <a:t>Oxidize </a:t>
            </a:r>
            <a:r>
              <a:rPr lang="en-US" altLang="zh-CN" sz="2200" b="0" dirty="0"/>
              <a:t>the current collectors of negative electrode </a:t>
            </a:r>
          </a:p>
          <a:p>
            <a:pPr marL="263525" indent="-263525">
              <a:lnSpc>
                <a:spcPts val="2600"/>
              </a:lnSpc>
              <a:spcBef>
                <a:spcPts val="1200"/>
              </a:spcBef>
              <a:buFont typeface="Arial" pitchFamily="34" charset="0"/>
              <a:buChar char="•"/>
              <a:defRPr/>
            </a:pPr>
            <a:r>
              <a:rPr lang="en-US" altLang="zh-CN" sz="2200" b="0" dirty="0" smtClean="0"/>
              <a:t>Result </a:t>
            </a:r>
            <a:r>
              <a:rPr lang="en-US" altLang="zh-CN" sz="2200" b="0" dirty="0"/>
              <a:t>in performance degradation and conductivity decreasing</a:t>
            </a:r>
          </a:p>
        </p:txBody>
      </p:sp>
      <p:sp>
        <p:nvSpPr>
          <p:cNvPr id="8" name="矩形 7"/>
          <p:cNvSpPr>
            <a:spLocks noChangeArrowheads="1"/>
          </p:cNvSpPr>
          <p:nvPr/>
        </p:nvSpPr>
        <p:spPr bwMode="auto">
          <a:xfrm>
            <a:off x="566710" y="2261886"/>
            <a:ext cx="6332183" cy="461665"/>
          </a:xfrm>
          <a:prstGeom prst="rect">
            <a:avLst/>
          </a:prstGeom>
          <a:noFill/>
          <a:ln w="9525">
            <a:noFill/>
            <a:miter lim="800000"/>
            <a:headEnd/>
            <a:tailEnd/>
          </a:ln>
        </p:spPr>
        <p:txBody>
          <a:bodyPr wrap="none">
            <a:spAutoFit/>
          </a:bodyPr>
          <a:lstStyle/>
          <a:p>
            <a:r>
              <a:rPr lang="en-US" altLang="zh-CN" sz="2400" i="1" dirty="0">
                <a:solidFill>
                  <a:srgbClr val="B010A8"/>
                </a:solidFill>
              </a:rPr>
              <a:t>Over-discharge</a:t>
            </a:r>
            <a:r>
              <a:rPr lang="en-US" altLang="zh-CN" sz="2400" b="0" dirty="0">
                <a:solidFill>
                  <a:srgbClr val="B010A8"/>
                </a:solidFill>
              </a:rPr>
              <a:t> </a:t>
            </a:r>
            <a:r>
              <a:rPr lang="en-US" altLang="zh-CN" sz="2400" i="1" dirty="0">
                <a:solidFill>
                  <a:srgbClr val="B010A8"/>
                </a:solidFill>
              </a:rPr>
              <a:t>still would not be allowed.</a:t>
            </a:r>
            <a:endParaRPr lang="zh-CN" altLang="en-US" sz="2400" i="1" dirty="0">
              <a:solidFill>
                <a:srgbClr val="B010A8"/>
              </a:solidFill>
            </a:endParaRPr>
          </a:p>
        </p:txBody>
      </p:sp>
      <p:grpSp>
        <p:nvGrpSpPr>
          <p:cNvPr id="9" name="Group 13"/>
          <p:cNvGrpSpPr>
            <a:grpSpLocks/>
          </p:cNvGrpSpPr>
          <p:nvPr/>
        </p:nvGrpSpPr>
        <p:grpSpPr bwMode="auto">
          <a:xfrm>
            <a:off x="378799" y="3442997"/>
            <a:ext cx="2068563" cy="771756"/>
            <a:chOff x="901" y="1587"/>
            <a:chExt cx="1420" cy="498"/>
          </a:xfrm>
        </p:grpSpPr>
        <p:sp>
          <p:nvSpPr>
            <p:cNvPr id="10" name="Freeform 14"/>
            <p:cNvSpPr>
              <a:spLocks/>
            </p:cNvSpPr>
            <p:nvPr/>
          </p:nvSpPr>
          <p:spPr bwMode="gray">
            <a:xfrm>
              <a:off x="964" y="1895"/>
              <a:ext cx="1270" cy="190"/>
            </a:xfrm>
            <a:custGeom>
              <a:avLst/>
              <a:gdLst>
                <a:gd name="T0" fmla="*/ 4464 w 1120"/>
                <a:gd name="T1" fmla="*/ 11 h 252"/>
                <a:gd name="T2" fmla="*/ 4445 w 1120"/>
                <a:gd name="T3" fmla="*/ 11 h 252"/>
                <a:gd name="T4" fmla="*/ 4380 w 1120"/>
                <a:gd name="T5" fmla="*/ 11 h 252"/>
                <a:gd name="T6" fmla="*/ 4282 w 1120"/>
                <a:gd name="T7" fmla="*/ 11 h 252"/>
                <a:gd name="T8" fmla="*/ 4139 w 1120"/>
                <a:gd name="T9" fmla="*/ 11 h 252"/>
                <a:gd name="T10" fmla="*/ 3955 w 1120"/>
                <a:gd name="T11" fmla="*/ 10 h 252"/>
                <a:gd name="T12" fmla="*/ 3742 w 1120"/>
                <a:gd name="T13" fmla="*/ 10 h 252"/>
                <a:gd name="T14" fmla="*/ 3491 w 1120"/>
                <a:gd name="T15" fmla="*/ 10 h 252"/>
                <a:gd name="T16" fmla="*/ 3209 w 1120"/>
                <a:gd name="T17" fmla="*/ 8 h 252"/>
                <a:gd name="T18" fmla="*/ 2911 w 1120"/>
                <a:gd name="T19" fmla="*/ 8 h 252"/>
                <a:gd name="T20" fmla="*/ 2575 w 1120"/>
                <a:gd name="T21" fmla="*/ 8 h 252"/>
                <a:gd name="T22" fmla="*/ 2211 w 1120"/>
                <a:gd name="T23" fmla="*/ 8 h 252"/>
                <a:gd name="T24" fmla="*/ 1855 w 1120"/>
                <a:gd name="T25" fmla="*/ 8 h 252"/>
                <a:gd name="T26" fmla="*/ 1527 w 1120"/>
                <a:gd name="T27" fmla="*/ 8 h 252"/>
                <a:gd name="T28" fmla="*/ 1227 w 1120"/>
                <a:gd name="T29" fmla="*/ 8 h 252"/>
                <a:gd name="T30" fmla="*/ 949 w 1120"/>
                <a:gd name="T31" fmla="*/ 10 h 252"/>
                <a:gd name="T32" fmla="*/ 712 w 1120"/>
                <a:gd name="T33" fmla="*/ 10 h 252"/>
                <a:gd name="T34" fmla="*/ 503 w 1120"/>
                <a:gd name="T35" fmla="*/ 10 h 252"/>
                <a:gd name="T36" fmla="*/ 324 w 1120"/>
                <a:gd name="T37" fmla="*/ 11 h 252"/>
                <a:gd name="T38" fmla="*/ 184 w 1120"/>
                <a:gd name="T39" fmla="*/ 11 h 252"/>
                <a:gd name="T40" fmla="*/ 78 w 1120"/>
                <a:gd name="T41" fmla="*/ 11 h 252"/>
                <a:gd name="T42" fmla="*/ 23 w 1120"/>
                <a:gd name="T43" fmla="*/ 11 h 252"/>
                <a:gd name="T44" fmla="*/ 0 w 1120"/>
                <a:gd name="T45" fmla="*/ 11 h 252"/>
                <a:gd name="T46" fmla="*/ 0 w 1120"/>
                <a:gd name="T47" fmla="*/ 3 h 252"/>
                <a:gd name="T48" fmla="*/ 2229 w 1120"/>
                <a:gd name="T49" fmla="*/ 0 h 252"/>
                <a:gd name="T50" fmla="*/ 4464 w 1120"/>
                <a:gd name="T51" fmla="*/ 3 h 252"/>
                <a:gd name="T52" fmla="*/ 4464 w 1120"/>
                <a:gd name="T53" fmla="*/ 11 h 252"/>
                <a:gd name="T54" fmla="*/ 4464 w 1120"/>
                <a:gd name="T55" fmla="*/ 11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11" name="Rectangle 15"/>
            <p:cNvSpPr>
              <a:spLocks noChangeArrowheads="1"/>
            </p:cNvSpPr>
            <p:nvPr/>
          </p:nvSpPr>
          <p:spPr bwMode="gray">
            <a:xfrm>
              <a:off x="901" y="1587"/>
              <a:ext cx="1420" cy="393"/>
            </a:xfrm>
            <a:prstGeom prst="rect">
              <a:avLst/>
            </a:prstGeom>
            <a:solidFill>
              <a:schemeClr val="accent6"/>
            </a:solidFill>
            <a:ln w="9525" algn="ctr">
              <a:noFill/>
              <a:miter lim="800000"/>
              <a:headEnd/>
              <a:tailEnd/>
            </a:ln>
            <a:effectLst/>
          </p:spPr>
          <p:txBody>
            <a:bodyPr wrap="none" lIns="115192" tIns="57596" rIns="115192" bIns="57596" anchor="ctr"/>
            <a:lstStyle/>
            <a:p>
              <a:pPr defTabSz="1152525" eaLnBrk="0" hangingPunct="0">
                <a:defRPr/>
              </a:pPr>
              <a:r>
                <a:rPr lang="en-US" altLang="zh-CN" sz="2200" dirty="0" smtClean="0">
                  <a:solidFill>
                    <a:schemeClr val="bg1"/>
                  </a:solidFill>
                  <a:effectLst>
                    <a:outerShdw blurRad="38100" dist="38100" dir="2700000" algn="tl">
                      <a:srgbClr val="000000"/>
                    </a:outerShdw>
                  </a:effectLst>
                  <a:ea typeface="华文细黑" pitchFamily="2" charset="-122"/>
                </a:rPr>
                <a:t> </a:t>
              </a:r>
              <a:r>
                <a:rPr lang="en-US" altLang="zh-CN" sz="2400" dirty="0" smtClean="0">
                  <a:solidFill>
                    <a:schemeClr val="bg1"/>
                  </a:solidFill>
                  <a:effectLst>
                    <a:outerShdw blurRad="38100" dist="38100" dir="2700000" algn="tl">
                      <a:srgbClr val="000000"/>
                    </a:outerShdw>
                  </a:effectLst>
                  <a:ea typeface="华文细黑" pitchFamily="2" charset="-122"/>
                </a:rPr>
                <a:t>Disadvantage</a:t>
              </a:r>
              <a:endParaRPr lang="en-US" altLang="zh-CN" sz="2400" dirty="0">
                <a:solidFill>
                  <a:schemeClr val="bg1"/>
                </a:solidFill>
                <a:effectLst>
                  <a:outerShdw blurRad="38100" dist="38100" dir="2700000" algn="tl">
                    <a:srgbClr val="000000"/>
                  </a:outerShdw>
                </a:effectLst>
                <a:ea typeface="华文细黑" pitchFamily="2" charset="-122"/>
              </a:endParaRPr>
            </a:p>
          </p:txBody>
        </p:sp>
      </p:grpSp>
      <p:sp>
        <p:nvSpPr>
          <p:cNvPr id="12" name="矩形 11"/>
          <p:cNvSpPr/>
          <p:nvPr/>
        </p:nvSpPr>
        <p:spPr>
          <a:xfrm>
            <a:off x="2143108" y="500042"/>
            <a:ext cx="4929555" cy="707886"/>
          </a:xfrm>
          <a:prstGeom prst="rect">
            <a:avLst/>
          </a:prstGeom>
        </p:spPr>
        <p:txBody>
          <a:bodyPr wrap="none">
            <a:spAutoFit/>
          </a:bodyPr>
          <a:lstStyle/>
          <a:p>
            <a:pPr algn="ctr">
              <a:buClr>
                <a:srgbClr val="FF0000"/>
              </a:buClr>
              <a:defRPr/>
            </a:pPr>
            <a:r>
              <a:rPr lang="en-US" altLang="zh-CN" sz="4000" dirty="0" smtClean="0">
                <a:solidFill>
                  <a:srgbClr val="FFFFCC"/>
                </a:solidFill>
                <a:latin typeface="Impact" pitchFamily="34" charset="0"/>
                <a:ea typeface="方正大黑简体" pitchFamily="2" charset="-122"/>
              </a:rPr>
              <a:t>Work principles of PSS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20</a:t>
            </a:fld>
            <a:r>
              <a:rPr lang="zh-CN" altLang="en-US" smtClean="0"/>
              <a:t> </a:t>
            </a:r>
            <a:endParaRPr lang="zh-CN" altLang="en-US" dirty="0">
              <a:latin typeface="微软雅黑" pitchFamily="34" charset="-122"/>
              <a:ea typeface="微软雅黑" pitchFamily="34" charset="-122"/>
            </a:endParaRPr>
          </a:p>
        </p:txBody>
      </p:sp>
      <p:grpSp>
        <p:nvGrpSpPr>
          <p:cNvPr id="6" name="Group 13"/>
          <p:cNvGrpSpPr>
            <a:grpSpLocks/>
          </p:cNvGrpSpPr>
          <p:nvPr/>
        </p:nvGrpSpPr>
        <p:grpSpPr bwMode="auto">
          <a:xfrm>
            <a:off x="287982" y="2096995"/>
            <a:ext cx="2258931" cy="960321"/>
            <a:chOff x="710" y="1574"/>
            <a:chExt cx="1216" cy="489"/>
          </a:xfrm>
        </p:grpSpPr>
        <p:sp>
          <p:nvSpPr>
            <p:cNvPr id="7" name="Freeform 14"/>
            <p:cNvSpPr>
              <a:spLocks/>
            </p:cNvSpPr>
            <p:nvPr/>
          </p:nvSpPr>
          <p:spPr bwMode="gray">
            <a:xfrm>
              <a:off x="811" y="1873"/>
              <a:ext cx="1115" cy="190"/>
            </a:xfrm>
            <a:custGeom>
              <a:avLst/>
              <a:gdLst>
                <a:gd name="T0" fmla="*/ 4464 w 1120"/>
                <a:gd name="T1" fmla="*/ 11 h 252"/>
                <a:gd name="T2" fmla="*/ 4445 w 1120"/>
                <a:gd name="T3" fmla="*/ 11 h 252"/>
                <a:gd name="T4" fmla="*/ 4380 w 1120"/>
                <a:gd name="T5" fmla="*/ 11 h 252"/>
                <a:gd name="T6" fmla="*/ 4282 w 1120"/>
                <a:gd name="T7" fmla="*/ 11 h 252"/>
                <a:gd name="T8" fmla="*/ 4139 w 1120"/>
                <a:gd name="T9" fmla="*/ 11 h 252"/>
                <a:gd name="T10" fmla="*/ 3955 w 1120"/>
                <a:gd name="T11" fmla="*/ 10 h 252"/>
                <a:gd name="T12" fmla="*/ 3742 w 1120"/>
                <a:gd name="T13" fmla="*/ 10 h 252"/>
                <a:gd name="T14" fmla="*/ 3491 w 1120"/>
                <a:gd name="T15" fmla="*/ 10 h 252"/>
                <a:gd name="T16" fmla="*/ 3209 w 1120"/>
                <a:gd name="T17" fmla="*/ 8 h 252"/>
                <a:gd name="T18" fmla="*/ 2911 w 1120"/>
                <a:gd name="T19" fmla="*/ 8 h 252"/>
                <a:gd name="T20" fmla="*/ 2575 w 1120"/>
                <a:gd name="T21" fmla="*/ 8 h 252"/>
                <a:gd name="T22" fmla="*/ 2211 w 1120"/>
                <a:gd name="T23" fmla="*/ 8 h 252"/>
                <a:gd name="T24" fmla="*/ 1855 w 1120"/>
                <a:gd name="T25" fmla="*/ 8 h 252"/>
                <a:gd name="T26" fmla="*/ 1527 w 1120"/>
                <a:gd name="T27" fmla="*/ 8 h 252"/>
                <a:gd name="T28" fmla="*/ 1227 w 1120"/>
                <a:gd name="T29" fmla="*/ 8 h 252"/>
                <a:gd name="T30" fmla="*/ 949 w 1120"/>
                <a:gd name="T31" fmla="*/ 10 h 252"/>
                <a:gd name="T32" fmla="*/ 712 w 1120"/>
                <a:gd name="T33" fmla="*/ 10 h 252"/>
                <a:gd name="T34" fmla="*/ 503 w 1120"/>
                <a:gd name="T35" fmla="*/ 10 h 252"/>
                <a:gd name="T36" fmla="*/ 324 w 1120"/>
                <a:gd name="T37" fmla="*/ 11 h 252"/>
                <a:gd name="T38" fmla="*/ 184 w 1120"/>
                <a:gd name="T39" fmla="*/ 11 h 252"/>
                <a:gd name="T40" fmla="*/ 78 w 1120"/>
                <a:gd name="T41" fmla="*/ 11 h 252"/>
                <a:gd name="T42" fmla="*/ 23 w 1120"/>
                <a:gd name="T43" fmla="*/ 11 h 252"/>
                <a:gd name="T44" fmla="*/ 0 w 1120"/>
                <a:gd name="T45" fmla="*/ 11 h 252"/>
                <a:gd name="T46" fmla="*/ 0 w 1120"/>
                <a:gd name="T47" fmla="*/ 3 h 252"/>
                <a:gd name="T48" fmla="*/ 2229 w 1120"/>
                <a:gd name="T49" fmla="*/ 0 h 252"/>
                <a:gd name="T50" fmla="*/ 4464 w 1120"/>
                <a:gd name="T51" fmla="*/ 3 h 252"/>
                <a:gd name="T52" fmla="*/ 4464 w 1120"/>
                <a:gd name="T53" fmla="*/ 11 h 252"/>
                <a:gd name="T54" fmla="*/ 4464 w 1120"/>
                <a:gd name="T55" fmla="*/ 11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8" name="Rectangle 15"/>
            <p:cNvSpPr>
              <a:spLocks noChangeArrowheads="1"/>
            </p:cNvSpPr>
            <p:nvPr/>
          </p:nvSpPr>
          <p:spPr bwMode="gray">
            <a:xfrm>
              <a:off x="710" y="1574"/>
              <a:ext cx="1209" cy="356"/>
            </a:xfrm>
            <a:prstGeom prst="rect">
              <a:avLst/>
            </a:prstGeom>
            <a:solidFill>
              <a:schemeClr val="accent1">
                <a:lumMod val="50000"/>
              </a:schemeClr>
            </a:solidFill>
            <a:ln w="9525" algn="ctr">
              <a:noFill/>
              <a:miter lim="800000"/>
              <a:headEnd/>
              <a:tailEnd/>
            </a:ln>
            <a:effectLst/>
          </p:spPr>
          <p:txBody>
            <a:bodyPr wrap="none" lIns="115192" tIns="57596" rIns="115192" bIns="57596" anchor="ctr"/>
            <a:lstStyle/>
            <a:p>
              <a:pPr algn="ctr" defTabSz="1152525" eaLnBrk="0" hangingPunct="0">
                <a:defRPr/>
              </a:pPr>
              <a:r>
                <a:rPr lang="en-US" altLang="zh-CN" sz="2000" dirty="0" smtClean="0">
                  <a:solidFill>
                    <a:schemeClr val="bg1"/>
                  </a:solidFill>
                  <a:effectLst>
                    <a:outerShdw blurRad="38100" dist="38100" dir="2700000" algn="tl">
                      <a:srgbClr val="000000"/>
                    </a:outerShdw>
                  </a:effectLst>
                  <a:ea typeface="华文细黑" pitchFamily="2" charset="-122"/>
                </a:rPr>
                <a:t>Discharging </a:t>
              </a:r>
            </a:p>
            <a:p>
              <a:pPr algn="ctr" defTabSz="1152525" eaLnBrk="0" hangingPunct="0">
                <a:defRPr/>
              </a:pPr>
              <a:r>
                <a:rPr lang="en-US" altLang="zh-CN" sz="2000" dirty="0" smtClean="0">
                  <a:solidFill>
                    <a:schemeClr val="bg1"/>
                  </a:solidFill>
                  <a:effectLst>
                    <a:outerShdw blurRad="38100" dist="38100" dir="2700000" algn="tl">
                      <a:srgbClr val="000000"/>
                    </a:outerShdw>
                  </a:effectLst>
                  <a:ea typeface="华文细黑" pitchFamily="2" charset="-122"/>
                </a:rPr>
                <a:t>Strategy</a:t>
              </a:r>
              <a:endParaRPr lang="en-US" altLang="zh-CN" sz="2000" dirty="0">
                <a:solidFill>
                  <a:schemeClr val="bg1"/>
                </a:solidFill>
                <a:effectLst>
                  <a:outerShdw blurRad="38100" dist="38100" dir="2700000" algn="tl">
                    <a:srgbClr val="000000"/>
                  </a:outerShdw>
                </a:effectLst>
                <a:ea typeface="华文细黑" pitchFamily="2" charset="-122"/>
              </a:endParaRPr>
            </a:p>
          </p:txBody>
        </p:sp>
      </p:grpSp>
      <p:sp>
        <p:nvSpPr>
          <p:cNvPr id="9" name="矩形 17"/>
          <p:cNvSpPr>
            <a:spLocks noChangeArrowheads="1"/>
          </p:cNvSpPr>
          <p:nvPr/>
        </p:nvSpPr>
        <p:spPr bwMode="auto">
          <a:xfrm>
            <a:off x="2714612" y="1857364"/>
            <a:ext cx="6134100" cy="1323439"/>
          </a:xfrm>
          <a:prstGeom prst="rect">
            <a:avLst/>
          </a:prstGeom>
          <a:noFill/>
          <a:ln w="9525">
            <a:noFill/>
            <a:miter lim="800000"/>
            <a:headEnd/>
            <a:tailEnd/>
          </a:ln>
        </p:spPr>
        <p:txBody>
          <a:bodyPr>
            <a:spAutoFit/>
          </a:bodyPr>
          <a:lstStyle/>
          <a:p>
            <a:pPr>
              <a:lnSpc>
                <a:spcPts val="2400"/>
              </a:lnSpc>
              <a:buFont typeface="Arial" pitchFamily="34" charset="0"/>
              <a:buChar char="•"/>
            </a:pPr>
            <a:r>
              <a:rPr lang="en-US" altLang="zh-CN" b="0" dirty="0"/>
              <a:t>   </a:t>
            </a:r>
            <a:r>
              <a:rPr lang="en-US" altLang="zh-CN" sz="2200" b="0" dirty="0"/>
              <a:t>When the voltage of battery cell is less than a certain predesigned value, such as 3.0V, the batteries will be </a:t>
            </a:r>
            <a:r>
              <a:rPr lang="en-US" altLang="zh-CN" sz="2200" b="0" i="1" dirty="0">
                <a:solidFill>
                  <a:srgbClr val="B010A8"/>
                </a:solidFill>
              </a:rPr>
              <a:t>disconnected from </a:t>
            </a:r>
            <a:r>
              <a:rPr lang="en-US" altLang="zh-CN" sz="2200" b="0" dirty="0"/>
              <a:t>the power bus to stop discharging by control circuit.</a:t>
            </a:r>
            <a:endParaRPr lang="zh-CN" altLang="en-US" sz="2200" b="0" dirty="0"/>
          </a:p>
        </p:txBody>
      </p:sp>
      <p:sp>
        <p:nvSpPr>
          <p:cNvPr id="10" name="等腰三角形 9"/>
          <p:cNvSpPr/>
          <p:nvPr/>
        </p:nvSpPr>
        <p:spPr>
          <a:xfrm rot="10800000">
            <a:off x="714350" y="3433536"/>
            <a:ext cx="1352575" cy="1181098"/>
          </a:xfrm>
          <a:prstGeom prst="triangle">
            <a:avLst/>
          </a:prstGeom>
          <a:noFill/>
          <a:ln w="28575">
            <a:solidFill>
              <a:srgbClr val="A0208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nvGrpSpPr>
          <p:cNvPr id="11" name="Group 13"/>
          <p:cNvGrpSpPr>
            <a:grpSpLocks/>
          </p:cNvGrpSpPr>
          <p:nvPr/>
        </p:nvGrpSpPr>
        <p:grpSpPr bwMode="auto">
          <a:xfrm>
            <a:off x="383513" y="3623619"/>
            <a:ext cx="2007262" cy="686217"/>
            <a:chOff x="878" y="2349"/>
            <a:chExt cx="1141" cy="393"/>
          </a:xfrm>
        </p:grpSpPr>
        <p:sp>
          <p:nvSpPr>
            <p:cNvPr id="12" name="Freeform 14"/>
            <p:cNvSpPr>
              <a:spLocks/>
            </p:cNvSpPr>
            <p:nvPr/>
          </p:nvSpPr>
          <p:spPr bwMode="gray">
            <a:xfrm>
              <a:off x="952" y="2602"/>
              <a:ext cx="1015" cy="140"/>
            </a:xfrm>
            <a:custGeom>
              <a:avLst/>
              <a:gdLst>
                <a:gd name="T0" fmla="*/ 4464 w 1120"/>
                <a:gd name="T1" fmla="*/ 11 h 252"/>
                <a:gd name="T2" fmla="*/ 4445 w 1120"/>
                <a:gd name="T3" fmla="*/ 11 h 252"/>
                <a:gd name="T4" fmla="*/ 4380 w 1120"/>
                <a:gd name="T5" fmla="*/ 11 h 252"/>
                <a:gd name="T6" fmla="*/ 4282 w 1120"/>
                <a:gd name="T7" fmla="*/ 11 h 252"/>
                <a:gd name="T8" fmla="*/ 4139 w 1120"/>
                <a:gd name="T9" fmla="*/ 11 h 252"/>
                <a:gd name="T10" fmla="*/ 3955 w 1120"/>
                <a:gd name="T11" fmla="*/ 10 h 252"/>
                <a:gd name="T12" fmla="*/ 3742 w 1120"/>
                <a:gd name="T13" fmla="*/ 10 h 252"/>
                <a:gd name="T14" fmla="*/ 3491 w 1120"/>
                <a:gd name="T15" fmla="*/ 10 h 252"/>
                <a:gd name="T16" fmla="*/ 3209 w 1120"/>
                <a:gd name="T17" fmla="*/ 8 h 252"/>
                <a:gd name="T18" fmla="*/ 2911 w 1120"/>
                <a:gd name="T19" fmla="*/ 8 h 252"/>
                <a:gd name="T20" fmla="*/ 2575 w 1120"/>
                <a:gd name="T21" fmla="*/ 8 h 252"/>
                <a:gd name="T22" fmla="*/ 2211 w 1120"/>
                <a:gd name="T23" fmla="*/ 8 h 252"/>
                <a:gd name="T24" fmla="*/ 1855 w 1120"/>
                <a:gd name="T25" fmla="*/ 8 h 252"/>
                <a:gd name="T26" fmla="*/ 1527 w 1120"/>
                <a:gd name="T27" fmla="*/ 8 h 252"/>
                <a:gd name="T28" fmla="*/ 1227 w 1120"/>
                <a:gd name="T29" fmla="*/ 8 h 252"/>
                <a:gd name="T30" fmla="*/ 949 w 1120"/>
                <a:gd name="T31" fmla="*/ 10 h 252"/>
                <a:gd name="T32" fmla="*/ 712 w 1120"/>
                <a:gd name="T33" fmla="*/ 10 h 252"/>
                <a:gd name="T34" fmla="*/ 503 w 1120"/>
                <a:gd name="T35" fmla="*/ 10 h 252"/>
                <a:gd name="T36" fmla="*/ 324 w 1120"/>
                <a:gd name="T37" fmla="*/ 11 h 252"/>
                <a:gd name="T38" fmla="*/ 184 w 1120"/>
                <a:gd name="T39" fmla="*/ 11 h 252"/>
                <a:gd name="T40" fmla="*/ 78 w 1120"/>
                <a:gd name="T41" fmla="*/ 11 h 252"/>
                <a:gd name="T42" fmla="*/ 23 w 1120"/>
                <a:gd name="T43" fmla="*/ 11 h 252"/>
                <a:gd name="T44" fmla="*/ 0 w 1120"/>
                <a:gd name="T45" fmla="*/ 11 h 252"/>
                <a:gd name="T46" fmla="*/ 0 w 1120"/>
                <a:gd name="T47" fmla="*/ 3 h 252"/>
                <a:gd name="T48" fmla="*/ 2229 w 1120"/>
                <a:gd name="T49" fmla="*/ 0 h 252"/>
                <a:gd name="T50" fmla="*/ 4464 w 1120"/>
                <a:gd name="T51" fmla="*/ 3 h 252"/>
                <a:gd name="T52" fmla="*/ 4464 w 1120"/>
                <a:gd name="T53" fmla="*/ 11 h 252"/>
                <a:gd name="T54" fmla="*/ 4464 w 1120"/>
                <a:gd name="T55" fmla="*/ 11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13" name="Rectangle 15"/>
            <p:cNvSpPr>
              <a:spLocks noChangeArrowheads="1"/>
            </p:cNvSpPr>
            <p:nvPr/>
          </p:nvSpPr>
          <p:spPr bwMode="gray">
            <a:xfrm>
              <a:off x="878" y="2349"/>
              <a:ext cx="1141" cy="318"/>
            </a:xfrm>
            <a:prstGeom prst="rect">
              <a:avLst/>
            </a:prstGeom>
            <a:solidFill>
              <a:schemeClr val="accent6">
                <a:lumMod val="60000"/>
                <a:lumOff val="40000"/>
              </a:schemeClr>
            </a:solidFill>
            <a:ln w="9525" algn="ctr">
              <a:noFill/>
              <a:miter lim="800000"/>
              <a:headEnd/>
              <a:tailEnd/>
            </a:ln>
            <a:effectLst/>
          </p:spPr>
          <p:txBody>
            <a:bodyPr wrap="none" lIns="115192" tIns="57596" rIns="115192" bIns="57596" anchor="ctr"/>
            <a:lstStyle/>
            <a:p>
              <a:pPr defTabSz="1152525" eaLnBrk="0" hangingPunct="0">
                <a:defRPr/>
              </a:pPr>
              <a:r>
                <a:rPr lang="en-US" altLang="zh-CN" sz="2400" dirty="0" smtClean="0">
                  <a:solidFill>
                    <a:schemeClr val="bg1"/>
                  </a:solidFill>
                  <a:effectLst>
                    <a:outerShdw blurRad="38100" dist="38100" dir="2700000" algn="tl">
                      <a:srgbClr val="000000"/>
                    </a:outerShdw>
                  </a:effectLst>
                  <a:ea typeface="华文细黑" pitchFamily="2" charset="-122"/>
                </a:rPr>
                <a:t> Specification</a:t>
              </a:r>
              <a:endParaRPr lang="en-US" altLang="zh-CN" sz="2400" dirty="0">
                <a:solidFill>
                  <a:schemeClr val="bg1"/>
                </a:solidFill>
                <a:effectLst>
                  <a:outerShdw blurRad="38100" dist="38100" dir="2700000" algn="tl">
                    <a:srgbClr val="000000"/>
                  </a:outerShdw>
                </a:effectLst>
                <a:ea typeface="华文细黑" pitchFamily="2" charset="-122"/>
              </a:endParaRPr>
            </a:p>
          </p:txBody>
        </p:sp>
      </p:grpSp>
      <p:sp>
        <p:nvSpPr>
          <p:cNvPr id="14" name="矩形 5"/>
          <p:cNvSpPr>
            <a:spLocks noChangeArrowheads="1"/>
          </p:cNvSpPr>
          <p:nvPr/>
        </p:nvSpPr>
        <p:spPr bwMode="auto">
          <a:xfrm>
            <a:off x="2586026" y="3655974"/>
            <a:ext cx="5929354" cy="721095"/>
          </a:xfrm>
          <a:prstGeom prst="rect">
            <a:avLst/>
          </a:prstGeom>
          <a:noFill/>
          <a:ln w="9525">
            <a:noFill/>
            <a:miter lim="800000"/>
            <a:headEnd/>
            <a:tailEnd/>
          </a:ln>
        </p:spPr>
        <p:txBody>
          <a:bodyPr wrap="square">
            <a:spAutoFit/>
          </a:bodyPr>
          <a:lstStyle/>
          <a:p>
            <a:pPr marL="266700" indent="-266700">
              <a:lnSpc>
                <a:spcPts val="2500"/>
              </a:lnSpc>
              <a:buFont typeface="Arial" pitchFamily="34" charset="0"/>
              <a:buChar char="•"/>
            </a:pPr>
            <a:r>
              <a:rPr lang="en-US" altLang="zh-CN" sz="2000" b="0" i="1" dirty="0" smtClean="0">
                <a:solidFill>
                  <a:srgbClr val="A0208E"/>
                </a:solidFill>
              </a:rPr>
              <a:t>The </a:t>
            </a:r>
            <a:r>
              <a:rPr lang="en-US" altLang="zh-CN" sz="2000" b="0" i="1" dirty="0">
                <a:solidFill>
                  <a:srgbClr val="A0208E"/>
                </a:solidFill>
              </a:rPr>
              <a:t>smaller </a:t>
            </a:r>
            <a:r>
              <a:rPr lang="en-US" altLang="zh-CN" sz="2000" b="0" dirty="0"/>
              <a:t>the discharge of depth is, </a:t>
            </a:r>
            <a:r>
              <a:rPr lang="en-US" altLang="zh-CN" sz="2000" b="0" i="1" dirty="0">
                <a:solidFill>
                  <a:srgbClr val="A0208E"/>
                </a:solidFill>
              </a:rPr>
              <a:t>the longer </a:t>
            </a:r>
            <a:r>
              <a:rPr lang="en-US" altLang="zh-CN" sz="2000" b="0" dirty="0"/>
              <a:t>the life of batteries has. </a:t>
            </a:r>
            <a:endParaRPr lang="zh-CN" altLang="en-US" sz="2000" b="0" dirty="0"/>
          </a:p>
        </p:txBody>
      </p:sp>
      <p:sp>
        <p:nvSpPr>
          <p:cNvPr id="15" name="矩形 8"/>
          <p:cNvSpPr>
            <a:spLocks noChangeArrowheads="1"/>
          </p:cNvSpPr>
          <p:nvPr/>
        </p:nvSpPr>
        <p:spPr bwMode="auto">
          <a:xfrm>
            <a:off x="266701" y="4781804"/>
            <a:ext cx="8582024" cy="861774"/>
          </a:xfrm>
          <a:prstGeom prst="rect">
            <a:avLst/>
          </a:prstGeom>
          <a:noFill/>
          <a:ln w="9525">
            <a:noFill/>
            <a:miter lim="800000"/>
            <a:headEnd/>
            <a:tailEnd/>
          </a:ln>
        </p:spPr>
        <p:txBody>
          <a:bodyPr wrap="square">
            <a:spAutoFit/>
          </a:bodyPr>
          <a:lstStyle/>
          <a:p>
            <a:pPr>
              <a:lnSpc>
                <a:spcPts val="3000"/>
              </a:lnSpc>
            </a:pPr>
            <a:r>
              <a:rPr lang="en-US" altLang="zh-CN" sz="1600" dirty="0"/>
              <a:t> </a:t>
            </a:r>
            <a:r>
              <a:rPr lang="en-US" altLang="zh-CN" sz="1600" dirty="0" smtClean="0"/>
              <a:t>     </a:t>
            </a:r>
            <a:r>
              <a:rPr lang="en-US" altLang="zh-CN" sz="2000" dirty="0" smtClean="0"/>
              <a:t>In </a:t>
            </a:r>
            <a:r>
              <a:rPr lang="en-US" altLang="zh-CN" sz="2000" dirty="0"/>
              <a:t>order to </a:t>
            </a:r>
            <a:r>
              <a:rPr lang="en-US" altLang="zh-CN" sz="2000" dirty="0" smtClean="0"/>
              <a:t>ensure </a:t>
            </a:r>
            <a:r>
              <a:rPr lang="en-US" altLang="zh-CN" sz="2000" dirty="0"/>
              <a:t>the life time of the lithium ion batteries on </a:t>
            </a:r>
            <a:r>
              <a:rPr lang="en-US" altLang="zh-CN" sz="2000" dirty="0" smtClean="0"/>
              <a:t>the satellite</a:t>
            </a:r>
            <a:r>
              <a:rPr lang="en-US" altLang="zh-CN" sz="2000" dirty="0"/>
              <a:t>, we should pay much attention to the DOD with the requirement of less than </a:t>
            </a:r>
            <a:r>
              <a:rPr lang="en-US" altLang="zh-CN" sz="2000" dirty="0" smtClean="0"/>
              <a:t>30%. </a:t>
            </a:r>
            <a:endParaRPr lang="zh-CN" altLang="en-US" sz="2000" dirty="0"/>
          </a:p>
        </p:txBody>
      </p:sp>
      <p:sp>
        <p:nvSpPr>
          <p:cNvPr id="16" name="矩形 15"/>
          <p:cNvSpPr/>
          <p:nvPr/>
        </p:nvSpPr>
        <p:spPr>
          <a:xfrm>
            <a:off x="2285984" y="500042"/>
            <a:ext cx="4929555" cy="707886"/>
          </a:xfrm>
          <a:prstGeom prst="rect">
            <a:avLst/>
          </a:prstGeom>
        </p:spPr>
        <p:txBody>
          <a:bodyPr wrap="none">
            <a:spAutoFit/>
          </a:bodyPr>
          <a:lstStyle/>
          <a:p>
            <a:pPr algn="ctr">
              <a:buClr>
                <a:srgbClr val="FF0000"/>
              </a:buClr>
              <a:defRPr/>
            </a:pPr>
            <a:r>
              <a:rPr lang="en-US" altLang="zh-CN" sz="4000" dirty="0" smtClean="0">
                <a:solidFill>
                  <a:srgbClr val="FFFFCC"/>
                </a:solidFill>
                <a:latin typeface="Impact" pitchFamily="34" charset="0"/>
                <a:ea typeface="方正大黑简体" pitchFamily="2" charset="-122"/>
              </a:rPr>
              <a:t>Work principles of PSS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21</a:t>
            </a:fld>
            <a:r>
              <a:rPr lang="zh-CN" altLang="en-US" smtClean="0"/>
              <a:t> </a:t>
            </a:r>
            <a:endParaRPr lang="zh-CN" altLang="en-US" dirty="0">
              <a:latin typeface="微软雅黑" pitchFamily="34" charset="-122"/>
              <a:ea typeface="微软雅黑" pitchFamily="34" charset="-122"/>
            </a:endParaRPr>
          </a:p>
        </p:txBody>
      </p:sp>
      <p:sp>
        <p:nvSpPr>
          <p:cNvPr id="6" name="Freeform 14"/>
          <p:cNvSpPr>
            <a:spLocks/>
          </p:cNvSpPr>
          <p:nvPr/>
        </p:nvSpPr>
        <p:spPr bwMode="gray">
          <a:xfrm>
            <a:off x="655018" y="1836003"/>
            <a:ext cx="1811958" cy="239661"/>
          </a:xfrm>
          <a:custGeom>
            <a:avLst/>
            <a:gdLst>
              <a:gd name="T0" fmla="*/ 2147483647 w 1120"/>
              <a:gd name="T1" fmla="*/ 2147483647 h 252"/>
              <a:gd name="T2" fmla="*/ 2147483647 w 1120"/>
              <a:gd name="T3" fmla="*/ 2147483647 h 252"/>
              <a:gd name="T4" fmla="*/ 2147483647 w 1120"/>
              <a:gd name="T5" fmla="*/ 2147483647 h 252"/>
              <a:gd name="T6" fmla="*/ 2147483647 w 1120"/>
              <a:gd name="T7" fmla="*/ 2147483647 h 252"/>
              <a:gd name="T8" fmla="*/ 2147483647 w 1120"/>
              <a:gd name="T9" fmla="*/ 2147483647 h 252"/>
              <a:gd name="T10" fmla="*/ 2147483647 w 1120"/>
              <a:gd name="T11" fmla="*/ 2147483647 h 252"/>
              <a:gd name="T12" fmla="*/ 2147483647 w 1120"/>
              <a:gd name="T13" fmla="*/ 2147483647 h 252"/>
              <a:gd name="T14" fmla="*/ 2147483647 w 1120"/>
              <a:gd name="T15" fmla="*/ 2147483647 h 252"/>
              <a:gd name="T16" fmla="*/ 2147483647 w 1120"/>
              <a:gd name="T17" fmla="*/ 2147483647 h 252"/>
              <a:gd name="T18" fmla="*/ 2147483647 w 1120"/>
              <a:gd name="T19" fmla="*/ 2147483647 h 252"/>
              <a:gd name="T20" fmla="*/ 2147483647 w 1120"/>
              <a:gd name="T21" fmla="*/ 2147483647 h 252"/>
              <a:gd name="T22" fmla="*/ 2147483647 w 1120"/>
              <a:gd name="T23" fmla="*/ 2147483647 h 252"/>
              <a:gd name="T24" fmla="*/ 2147483647 w 1120"/>
              <a:gd name="T25" fmla="*/ 2147483647 h 252"/>
              <a:gd name="T26" fmla="*/ 2147483647 w 1120"/>
              <a:gd name="T27" fmla="*/ 2147483647 h 252"/>
              <a:gd name="T28" fmla="*/ 2147483647 w 1120"/>
              <a:gd name="T29" fmla="*/ 2147483647 h 252"/>
              <a:gd name="T30" fmla="*/ 2147483647 w 1120"/>
              <a:gd name="T31" fmla="*/ 2147483647 h 252"/>
              <a:gd name="T32" fmla="*/ 2147483647 w 1120"/>
              <a:gd name="T33" fmla="*/ 2147483647 h 252"/>
              <a:gd name="T34" fmla="*/ 2147483647 w 1120"/>
              <a:gd name="T35" fmla="*/ 2147483647 h 252"/>
              <a:gd name="T36" fmla="*/ 2147483647 w 1120"/>
              <a:gd name="T37" fmla="*/ 2147483647 h 252"/>
              <a:gd name="T38" fmla="*/ 2147483647 w 1120"/>
              <a:gd name="T39" fmla="*/ 2147483647 h 252"/>
              <a:gd name="T40" fmla="*/ 2147483647 w 1120"/>
              <a:gd name="T41" fmla="*/ 2147483647 h 252"/>
              <a:gd name="T42" fmla="*/ 2147483647 w 1120"/>
              <a:gd name="T43" fmla="*/ 2147483647 h 252"/>
              <a:gd name="T44" fmla="*/ 0 w 1120"/>
              <a:gd name="T45" fmla="*/ 2147483647 h 252"/>
              <a:gd name="T46" fmla="*/ 0 w 1120"/>
              <a:gd name="T47" fmla="*/ 2147483647 h 252"/>
              <a:gd name="T48" fmla="*/ 2147483647 w 1120"/>
              <a:gd name="T49" fmla="*/ 0 h 252"/>
              <a:gd name="T50" fmla="*/ 2147483647 w 1120"/>
              <a:gd name="T51" fmla="*/ 2147483647 h 252"/>
              <a:gd name="T52" fmla="*/ 2147483647 w 1120"/>
              <a:gd name="T53" fmla="*/ 2147483647 h 252"/>
              <a:gd name="T54" fmla="*/ 2147483647 w 1120"/>
              <a:gd name="T55" fmla="*/ 2147483647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7" name="Rectangle 15"/>
          <p:cNvSpPr>
            <a:spLocks noChangeArrowheads="1"/>
          </p:cNvSpPr>
          <p:nvPr/>
        </p:nvSpPr>
        <p:spPr bwMode="gray">
          <a:xfrm>
            <a:off x="435220" y="1428736"/>
            <a:ext cx="2279405" cy="495300"/>
          </a:xfrm>
          <a:prstGeom prst="rect">
            <a:avLst/>
          </a:prstGeom>
          <a:solidFill>
            <a:srgbClr val="3D8B93"/>
          </a:solidFill>
          <a:ln w="9525" algn="ctr">
            <a:noFill/>
            <a:miter lim="800000"/>
            <a:headEnd/>
            <a:tailEnd/>
          </a:ln>
          <a:effectLst/>
        </p:spPr>
        <p:txBody>
          <a:bodyPr wrap="none" lIns="115192" tIns="57596" rIns="115192" bIns="57596" anchor="ctr"/>
          <a:lstStyle/>
          <a:p>
            <a:pPr defTabSz="1152525" eaLnBrk="0" hangingPunct="0">
              <a:defRPr/>
            </a:pPr>
            <a:endParaRPr lang="en-US" altLang="zh-CN" sz="2200" dirty="0">
              <a:solidFill>
                <a:schemeClr val="bg1"/>
              </a:solidFill>
              <a:effectLst>
                <a:outerShdw blurRad="38100" dist="38100" dir="2700000" algn="tl">
                  <a:srgbClr val="000000"/>
                </a:outerShdw>
              </a:effectLst>
              <a:ea typeface="华文细黑" pitchFamily="2" charset="-122"/>
            </a:endParaRPr>
          </a:p>
        </p:txBody>
      </p:sp>
      <p:sp>
        <p:nvSpPr>
          <p:cNvPr id="8" name="矩形 7"/>
          <p:cNvSpPr>
            <a:spLocks noChangeArrowheads="1"/>
          </p:cNvSpPr>
          <p:nvPr/>
        </p:nvSpPr>
        <p:spPr bwMode="auto">
          <a:xfrm>
            <a:off x="401882" y="2143116"/>
            <a:ext cx="8570698" cy="462114"/>
          </a:xfrm>
          <a:prstGeom prst="rect">
            <a:avLst/>
          </a:prstGeom>
          <a:noFill/>
          <a:ln w="9525">
            <a:noFill/>
            <a:miter lim="800000"/>
            <a:headEnd/>
            <a:tailEnd/>
          </a:ln>
        </p:spPr>
        <p:txBody>
          <a:bodyPr wrap="square">
            <a:spAutoFit/>
          </a:bodyPr>
          <a:lstStyle/>
          <a:p>
            <a:pPr algn="l">
              <a:lnSpc>
                <a:spcPts val="3000"/>
              </a:lnSpc>
              <a:buFont typeface="Wingdings" pitchFamily="2" charset="2"/>
              <a:buChar char="Ø"/>
            </a:pPr>
            <a:r>
              <a:rPr lang="en-US" altLang="zh-CN" sz="2400" b="0" i="1" dirty="0" smtClean="0">
                <a:solidFill>
                  <a:srgbClr val="C00000"/>
                </a:solidFill>
              </a:rPr>
              <a:t>  </a:t>
            </a:r>
            <a:r>
              <a:rPr lang="en-US" altLang="zh-CN" sz="2400" b="0" i="1" dirty="0" smtClean="0">
                <a:solidFill>
                  <a:srgbClr val="B010A8"/>
                </a:solidFill>
              </a:rPr>
              <a:t>Direct-current </a:t>
            </a:r>
            <a:r>
              <a:rPr lang="en-US" altLang="zh-CN" sz="2400" b="0" i="1" dirty="0">
                <a:solidFill>
                  <a:srgbClr val="B010A8"/>
                </a:solidFill>
              </a:rPr>
              <a:t>power distribution</a:t>
            </a:r>
            <a:r>
              <a:rPr lang="en-US" altLang="zh-CN" sz="2400" b="0" dirty="0" smtClean="0">
                <a:solidFill>
                  <a:srgbClr val="C00000"/>
                </a:solidFill>
              </a:rPr>
              <a:t>.</a:t>
            </a:r>
            <a:r>
              <a:rPr lang="en-US" altLang="zh-CN" sz="2400" b="0" dirty="0" smtClean="0">
                <a:solidFill>
                  <a:schemeClr val="tx1"/>
                </a:solidFill>
              </a:rPr>
              <a:t>   </a:t>
            </a:r>
            <a:endParaRPr lang="zh-CN" altLang="en-US" sz="2400" dirty="0"/>
          </a:p>
        </p:txBody>
      </p:sp>
      <p:sp>
        <p:nvSpPr>
          <p:cNvPr id="9" name="矩形 8"/>
          <p:cNvSpPr>
            <a:spLocks noChangeArrowheads="1"/>
          </p:cNvSpPr>
          <p:nvPr/>
        </p:nvSpPr>
        <p:spPr bwMode="auto">
          <a:xfrm>
            <a:off x="500034" y="2571744"/>
            <a:ext cx="7646032" cy="461665"/>
          </a:xfrm>
          <a:prstGeom prst="rect">
            <a:avLst/>
          </a:prstGeom>
          <a:noFill/>
          <a:ln w="9525">
            <a:noFill/>
            <a:miter lim="800000"/>
            <a:headEnd/>
            <a:tailEnd/>
          </a:ln>
        </p:spPr>
        <p:txBody>
          <a:bodyPr wrap="square">
            <a:spAutoFit/>
          </a:bodyPr>
          <a:lstStyle/>
          <a:p>
            <a:pPr algn="l"/>
            <a:r>
              <a:rPr lang="en-US" altLang="zh-CN" b="0" i="1" dirty="0">
                <a:solidFill>
                  <a:srgbClr val="C00000"/>
                </a:solidFill>
              </a:rPr>
              <a:t>    </a:t>
            </a:r>
            <a:r>
              <a:rPr lang="en-US" altLang="zh-CN" sz="2400" b="0" i="1" dirty="0">
                <a:solidFill>
                  <a:srgbClr val="B010A8"/>
                </a:solidFill>
              </a:rPr>
              <a:t>A kind of sectional power supply has been adopted.</a:t>
            </a:r>
            <a:endParaRPr lang="zh-CN" altLang="en-US" sz="2400" i="1" dirty="0">
              <a:solidFill>
                <a:srgbClr val="B010A8"/>
              </a:solidFill>
            </a:endParaRPr>
          </a:p>
        </p:txBody>
      </p:sp>
      <p:grpSp>
        <p:nvGrpSpPr>
          <p:cNvPr id="10" name="组合 9"/>
          <p:cNvGrpSpPr/>
          <p:nvPr/>
        </p:nvGrpSpPr>
        <p:grpSpPr>
          <a:xfrm>
            <a:off x="428596" y="4357694"/>
            <a:ext cx="8469587" cy="1214446"/>
            <a:chOff x="428596" y="5286388"/>
            <a:chExt cx="8469587" cy="990600"/>
          </a:xfrm>
        </p:grpSpPr>
        <p:sp>
          <p:nvSpPr>
            <p:cNvPr id="11" name="AutoShape 6"/>
            <p:cNvSpPr>
              <a:spLocks noChangeArrowheads="1"/>
            </p:cNvSpPr>
            <p:nvPr/>
          </p:nvSpPr>
          <p:spPr bwMode="gray">
            <a:xfrm>
              <a:off x="428596" y="5286388"/>
              <a:ext cx="8469587" cy="990600"/>
            </a:xfrm>
            <a:prstGeom prst="roundRect">
              <a:avLst>
                <a:gd name="adj" fmla="val 9106"/>
              </a:avLst>
            </a:prstGeom>
            <a:solidFill>
              <a:schemeClr val="accent5">
                <a:lumMod val="50000"/>
              </a:schemeClr>
            </a:solidFill>
            <a:ln w="25400">
              <a:solidFill>
                <a:schemeClr val="bg1"/>
              </a:solidFill>
              <a:round/>
              <a:headEnd/>
              <a:tailEnd/>
            </a:ln>
            <a:effectLst/>
          </p:spPr>
          <p:txBody>
            <a:bodyPr wrap="none" anchor="ctr"/>
            <a:lstStyle/>
            <a:p>
              <a:pPr eaLnBrk="0" hangingPunct="0">
                <a:defRPr/>
              </a:pPr>
              <a:endParaRPr lang="en-US" altLang="zh-CN" sz="1800" b="0" dirty="0">
                <a:solidFill>
                  <a:schemeClr val="bg1"/>
                </a:solidFill>
                <a:ea typeface="华文细黑" pitchFamily="2" charset="-122"/>
              </a:endParaRPr>
            </a:p>
          </p:txBody>
        </p:sp>
        <p:sp>
          <p:nvSpPr>
            <p:cNvPr id="12" name="矩形 11"/>
            <p:cNvSpPr/>
            <p:nvPr/>
          </p:nvSpPr>
          <p:spPr>
            <a:xfrm>
              <a:off x="500034" y="5435758"/>
              <a:ext cx="2265364" cy="577409"/>
            </a:xfrm>
            <a:prstGeom prst="rect">
              <a:avLst/>
            </a:prstGeom>
          </p:spPr>
          <p:txBody>
            <a:bodyPr wrap="none">
              <a:spAutoFit/>
            </a:bodyPr>
            <a:lstStyle/>
            <a:p>
              <a:pPr>
                <a:defRPr/>
              </a:pPr>
              <a:r>
                <a:rPr lang="en-US" altLang="zh-CN" sz="2000" i="1" dirty="0">
                  <a:solidFill>
                    <a:srgbClr val="FFFF00"/>
                  </a:solidFill>
                  <a:latin typeface="Arial" charset="0"/>
                </a:rPr>
                <a:t>Switch control </a:t>
              </a:r>
            </a:p>
            <a:p>
              <a:pPr>
                <a:defRPr/>
              </a:pPr>
              <a:r>
                <a:rPr lang="en-US" altLang="zh-CN" sz="2000" i="1" dirty="0">
                  <a:solidFill>
                    <a:srgbClr val="FFFF00"/>
                  </a:solidFill>
                  <a:latin typeface="Arial" charset="0"/>
                </a:rPr>
                <a:t>power </a:t>
              </a:r>
              <a:r>
                <a:rPr lang="en-US" altLang="zh-CN" sz="2000" i="1" dirty="0" smtClean="0">
                  <a:solidFill>
                    <a:srgbClr val="FFFF00"/>
                  </a:solidFill>
                  <a:latin typeface="Arial" charset="0"/>
                </a:rPr>
                <a:t>distribution </a:t>
              </a:r>
              <a:endParaRPr lang="zh-CN" altLang="en-US" sz="2000" dirty="0">
                <a:solidFill>
                  <a:srgbClr val="FFFF00"/>
                </a:solidFill>
              </a:endParaRPr>
            </a:p>
          </p:txBody>
        </p:sp>
        <p:sp>
          <p:nvSpPr>
            <p:cNvPr id="13" name="矩形 36"/>
            <p:cNvSpPr>
              <a:spLocks noChangeArrowheads="1"/>
            </p:cNvSpPr>
            <p:nvPr/>
          </p:nvSpPr>
          <p:spPr bwMode="auto">
            <a:xfrm>
              <a:off x="2915023" y="5390261"/>
              <a:ext cx="5800381" cy="828457"/>
            </a:xfrm>
            <a:prstGeom prst="rect">
              <a:avLst/>
            </a:prstGeom>
            <a:noFill/>
            <a:ln w="9525">
              <a:noFill/>
              <a:miter lim="800000"/>
              <a:headEnd/>
              <a:tailEnd/>
            </a:ln>
          </p:spPr>
          <p:txBody>
            <a:bodyPr wrap="square">
              <a:spAutoFit/>
            </a:bodyPr>
            <a:lstStyle/>
            <a:p>
              <a:pPr algn="l"/>
              <a:r>
                <a:rPr lang="en-US" altLang="zh-CN" sz="1800" b="0" dirty="0">
                  <a:solidFill>
                    <a:schemeClr val="bg1"/>
                  </a:solidFill>
                </a:rPr>
                <a:t>    </a:t>
              </a:r>
              <a:r>
                <a:rPr lang="en-US" altLang="zh-CN" sz="2000" b="0" dirty="0">
                  <a:solidFill>
                    <a:schemeClr val="bg1"/>
                  </a:solidFill>
                </a:rPr>
                <a:t>The equipments should be powered on by commands after the </a:t>
              </a:r>
              <a:r>
                <a:rPr lang="en-US" altLang="zh-CN" sz="2000" b="0" dirty="0" smtClean="0">
                  <a:solidFill>
                    <a:schemeClr val="bg1"/>
                  </a:solidFill>
                </a:rPr>
                <a:t>satellite </a:t>
              </a:r>
              <a:r>
                <a:rPr lang="en-US" altLang="zh-CN" sz="2000" b="0" dirty="0">
                  <a:solidFill>
                    <a:schemeClr val="bg1"/>
                  </a:solidFill>
                </a:rPr>
                <a:t>is powered on, which include AOCS, DTS and CS.</a:t>
              </a:r>
              <a:endParaRPr lang="zh-CN" altLang="en-US" sz="2000" dirty="0">
                <a:solidFill>
                  <a:schemeClr val="bg1"/>
                </a:solidFill>
              </a:endParaRPr>
            </a:p>
          </p:txBody>
        </p:sp>
        <p:grpSp>
          <p:nvGrpSpPr>
            <p:cNvPr id="14" name="Group 22"/>
            <p:cNvGrpSpPr>
              <a:grpSpLocks/>
            </p:cNvGrpSpPr>
            <p:nvPr/>
          </p:nvGrpSpPr>
          <p:grpSpPr bwMode="auto">
            <a:xfrm>
              <a:off x="1066073" y="5488008"/>
              <a:ext cx="505560" cy="512765"/>
              <a:chOff x="5088" y="240"/>
              <a:chExt cx="384" cy="384"/>
            </a:xfrm>
          </p:grpSpPr>
          <p:sp>
            <p:nvSpPr>
              <p:cNvPr id="15" name="Oval 23"/>
              <p:cNvSpPr>
                <a:spLocks noChangeArrowheads="1"/>
              </p:cNvSpPr>
              <p:nvPr/>
            </p:nvSpPr>
            <p:spPr bwMode="gray">
              <a:xfrm>
                <a:off x="5088" y="240"/>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16" name="Oval 24"/>
              <p:cNvSpPr>
                <a:spLocks noChangeArrowheads="1"/>
              </p:cNvSpPr>
              <p:nvPr/>
            </p:nvSpPr>
            <p:spPr bwMode="gray">
              <a:xfrm>
                <a:off x="5232" y="240"/>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17" name="Oval 25"/>
              <p:cNvSpPr>
                <a:spLocks noChangeArrowheads="1"/>
              </p:cNvSpPr>
              <p:nvPr/>
            </p:nvSpPr>
            <p:spPr bwMode="gray">
              <a:xfrm>
                <a:off x="5376" y="240"/>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18" name="Oval 26"/>
              <p:cNvSpPr>
                <a:spLocks noChangeArrowheads="1"/>
              </p:cNvSpPr>
              <p:nvPr/>
            </p:nvSpPr>
            <p:spPr bwMode="gray">
              <a:xfrm>
                <a:off x="5088" y="384"/>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19" name="Oval 27"/>
              <p:cNvSpPr>
                <a:spLocks noChangeArrowheads="1"/>
              </p:cNvSpPr>
              <p:nvPr/>
            </p:nvSpPr>
            <p:spPr bwMode="gray">
              <a:xfrm>
                <a:off x="5232" y="384"/>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20" name="Oval 28"/>
              <p:cNvSpPr>
                <a:spLocks noChangeArrowheads="1"/>
              </p:cNvSpPr>
              <p:nvPr/>
            </p:nvSpPr>
            <p:spPr bwMode="gray">
              <a:xfrm>
                <a:off x="5376" y="384"/>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21" name="Oval 29"/>
              <p:cNvSpPr>
                <a:spLocks noChangeArrowheads="1"/>
              </p:cNvSpPr>
              <p:nvPr/>
            </p:nvSpPr>
            <p:spPr bwMode="gray">
              <a:xfrm>
                <a:off x="5088" y="528"/>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22" name="Oval 30"/>
              <p:cNvSpPr>
                <a:spLocks noChangeArrowheads="1"/>
              </p:cNvSpPr>
              <p:nvPr/>
            </p:nvSpPr>
            <p:spPr bwMode="gray">
              <a:xfrm>
                <a:off x="5232" y="528"/>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23" name="Oval 31"/>
              <p:cNvSpPr>
                <a:spLocks noChangeArrowheads="1"/>
              </p:cNvSpPr>
              <p:nvPr/>
            </p:nvSpPr>
            <p:spPr bwMode="gray">
              <a:xfrm>
                <a:off x="5376" y="528"/>
                <a:ext cx="96" cy="96"/>
              </a:xfrm>
              <a:prstGeom prst="ellipse">
                <a:avLst/>
              </a:prstGeom>
              <a:solidFill>
                <a:schemeClr val="bg1">
                  <a:alpha val="50195"/>
                </a:schemeClr>
              </a:solidFill>
              <a:ln w="9525">
                <a:noFill/>
                <a:round/>
                <a:headEnd/>
                <a:tailEnd/>
              </a:ln>
            </p:spPr>
            <p:txBody>
              <a:bodyPr wrap="none" anchor="ctr"/>
              <a:lstStyle/>
              <a:p>
                <a:endParaRPr lang="zh-CN" altLang="en-US"/>
              </a:p>
            </p:txBody>
          </p:sp>
        </p:grpSp>
      </p:grpSp>
      <p:grpSp>
        <p:nvGrpSpPr>
          <p:cNvPr id="24" name="组合 23"/>
          <p:cNvGrpSpPr/>
          <p:nvPr/>
        </p:nvGrpSpPr>
        <p:grpSpPr>
          <a:xfrm>
            <a:off x="428596" y="3227157"/>
            <a:ext cx="8435883" cy="1054335"/>
            <a:chOff x="428596" y="4286256"/>
            <a:chExt cx="8435883" cy="863619"/>
          </a:xfrm>
        </p:grpSpPr>
        <p:sp>
          <p:nvSpPr>
            <p:cNvPr id="25" name="AutoShape 5"/>
            <p:cNvSpPr>
              <a:spLocks noChangeArrowheads="1"/>
            </p:cNvSpPr>
            <p:nvPr/>
          </p:nvSpPr>
          <p:spPr bwMode="gray">
            <a:xfrm>
              <a:off x="428596" y="4286256"/>
              <a:ext cx="8435883" cy="863619"/>
            </a:xfrm>
            <a:prstGeom prst="roundRect">
              <a:avLst>
                <a:gd name="adj" fmla="val 9106"/>
              </a:avLst>
            </a:prstGeom>
            <a:solidFill>
              <a:srgbClr val="00B050"/>
            </a:solidFill>
            <a:ln w="25400">
              <a:solidFill>
                <a:schemeClr val="bg1"/>
              </a:solidFill>
              <a:round/>
              <a:headEnd/>
              <a:tailEnd/>
            </a:ln>
            <a:effectLst/>
          </p:spPr>
          <p:txBody>
            <a:bodyPr wrap="none" anchor="ctr"/>
            <a:lstStyle/>
            <a:p>
              <a:pPr eaLnBrk="0" hangingPunct="0">
                <a:defRPr/>
              </a:pPr>
              <a:endParaRPr lang="en-US" altLang="zh-CN" sz="1800" b="0" dirty="0">
                <a:solidFill>
                  <a:schemeClr val="bg1"/>
                </a:solidFill>
                <a:ea typeface="华文细黑" pitchFamily="2" charset="-122"/>
              </a:endParaRPr>
            </a:p>
          </p:txBody>
        </p:sp>
        <p:sp>
          <p:nvSpPr>
            <p:cNvPr id="26" name="矩形 33"/>
            <p:cNvSpPr>
              <a:spLocks noChangeArrowheads="1"/>
            </p:cNvSpPr>
            <p:nvPr/>
          </p:nvSpPr>
          <p:spPr bwMode="auto">
            <a:xfrm>
              <a:off x="500034" y="4344772"/>
              <a:ext cx="1855123" cy="680680"/>
            </a:xfrm>
            <a:prstGeom prst="rect">
              <a:avLst/>
            </a:prstGeom>
            <a:noFill/>
            <a:ln w="9525">
              <a:noFill/>
              <a:miter lim="800000"/>
              <a:headEnd/>
              <a:tailEnd/>
            </a:ln>
          </p:spPr>
          <p:txBody>
            <a:bodyPr wrap="none">
              <a:spAutoFit/>
            </a:bodyPr>
            <a:lstStyle/>
            <a:p>
              <a:r>
                <a:rPr lang="en-US" altLang="zh-CN" sz="2400" i="1" dirty="0">
                  <a:solidFill>
                    <a:schemeClr val="bg1"/>
                  </a:solidFill>
                </a:rPr>
                <a:t>Direct power </a:t>
              </a:r>
            </a:p>
            <a:p>
              <a:r>
                <a:rPr lang="en-US" altLang="zh-CN" sz="2400" i="1" dirty="0" smtClean="0">
                  <a:solidFill>
                    <a:schemeClr val="bg1"/>
                  </a:solidFill>
                </a:rPr>
                <a:t> distribution </a:t>
              </a:r>
              <a:endParaRPr lang="zh-CN" altLang="en-US" sz="2400" dirty="0">
                <a:solidFill>
                  <a:schemeClr val="bg1"/>
                </a:solidFill>
              </a:endParaRPr>
            </a:p>
          </p:txBody>
        </p:sp>
        <p:sp>
          <p:nvSpPr>
            <p:cNvPr id="27" name="矩形 34"/>
            <p:cNvSpPr>
              <a:spLocks noChangeArrowheads="1"/>
            </p:cNvSpPr>
            <p:nvPr/>
          </p:nvSpPr>
          <p:spPr bwMode="auto">
            <a:xfrm>
              <a:off x="2571736" y="4286256"/>
              <a:ext cx="6215106" cy="831942"/>
            </a:xfrm>
            <a:prstGeom prst="rect">
              <a:avLst/>
            </a:prstGeom>
            <a:noFill/>
            <a:ln w="9525">
              <a:noFill/>
              <a:miter lim="800000"/>
              <a:headEnd/>
              <a:tailEnd/>
            </a:ln>
          </p:spPr>
          <p:txBody>
            <a:bodyPr wrap="square">
              <a:spAutoFit/>
            </a:bodyPr>
            <a:lstStyle/>
            <a:p>
              <a:pPr algn="l"/>
              <a:r>
                <a:rPr lang="en-US" altLang="zh-CN" sz="2000" b="0" i="1" dirty="0">
                  <a:solidFill>
                    <a:schemeClr val="bg1"/>
                  </a:solidFill>
                </a:rPr>
                <a:t>    </a:t>
              </a:r>
              <a:r>
                <a:rPr lang="en-US" altLang="zh-CN" sz="2000" b="0" dirty="0">
                  <a:solidFill>
                    <a:schemeClr val="bg1"/>
                  </a:solidFill>
                </a:rPr>
                <a:t>The equipments will be powered on as long as the </a:t>
              </a:r>
              <a:r>
                <a:rPr lang="en-US" altLang="zh-CN" sz="2000" b="0" dirty="0" smtClean="0">
                  <a:solidFill>
                    <a:schemeClr val="bg1"/>
                  </a:solidFill>
                </a:rPr>
                <a:t>satellite </a:t>
              </a:r>
              <a:r>
                <a:rPr lang="en-US" altLang="zh-CN" sz="2000" b="0" dirty="0">
                  <a:solidFill>
                    <a:schemeClr val="bg1"/>
                  </a:solidFill>
                </a:rPr>
                <a:t>is powered on, which include PDU, the equipments in OBDH and TT&amp;C. </a:t>
              </a:r>
              <a:r>
                <a:rPr lang="en-US" altLang="zh-CN" sz="2000" b="0" dirty="0" smtClean="0">
                  <a:solidFill>
                    <a:schemeClr val="bg1"/>
                  </a:solidFill>
                </a:rPr>
                <a:t>      </a:t>
              </a:r>
              <a:endParaRPr lang="zh-CN" altLang="en-US" sz="2000" dirty="0">
                <a:solidFill>
                  <a:schemeClr val="bg1"/>
                </a:solidFill>
              </a:endParaRPr>
            </a:p>
          </p:txBody>
        </p:sp>
      </p:grpSp>
      <p:grpSp>
        <p:nvGrpSpPr>
          <p:cNvPr id="28" name="Group 22"/>
          <p:cNvGrpSpPr>
            <a:grpSpLocks/>
          </p:cNvGrpSpPr>
          <p:nvPr/>
        </p:nvGrpSpPr>
        <p:grpSpPr bwMode="auto">
          <a:xfrm>
            <a:off x="1071537" y="3431974"/>
            <a:ext cx="505558" cy="625997"/>
            <a:chOff x="5088" y="240"/>
            <a:chExt cx="384" cy="384"/>
          </a:xfrm>
        </p:grpSpPr>
        <p:sp>
          <p:nvSpPr>
            <p:cNvPr id="29" name="Oval 23"/>
            <p:cNvSpPr>
              <a:spLocks noChangeArrowheads="1"/>
            </p:cNvSpPr>
            <p:nvPr/>
          </p:nvSpPr>
          <p:spPr bwMode="gray">
            <a:xfrm>
              <a:off x="5088" y="240"/>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30" name="Oval 24"/>
            <p:cNvSpPr>
              <a:spLocks noChangeArrowheads="1"/>
            </p:cNvSpPr>
            <p:nvPr/>
          </p:nvSpPr>
          <p:spPr bwMode="gray">
            <a:xfrm>
              <a:off x="5232" y="240"/>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31" name="Oval 25"/>
            <p:cNvSpPr>
              <a:spLocks noChangeArrowheads="1"/>
            </p:cNvSpPr>
            <p:nvPr/>
          </p:nvSpPr>
          <p:spPr bwMode="gray">
            <a:xfrm>
              <a:off x="5376" y="240"/>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32" name="Oval 26"/>
            <p:cNvSpPr>
              <a:spLocks noChangeArrowheads="1"/>
            </p:cNvSpPr>
            <p:nvPr/>
          </p:nvSpPr>
          <p:spPr bwMode="gray">
            <a:xfrm>
              <a:off x="5088" y="384"/>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33" name="Oval 27"/>
            <p:cNvSpPr>
              <a:spLocks noChangeArrowheads="1"/>
            </p:cNvSpPr>
            <p:nvPr/>
          </p:nvSpPr>
          <p:spPr bwMode="gray">
            <a:xfrm>
              <a:off x="5232" y="384"/>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34" name="Oval 28"/>
            <p:cNvSpPr>
              <a:spLocks noChangeArrowheads="1"/>
            </p:cNvSpPr>
            <p:nvPr/>
          </p:nvSpPr>
          <p:spPr bwMode="gray">
            <a:xfrm>
              <a:off x="5376" y="384"/>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35" name="Oval 29"/>
            <p:cNvSpPr>
              <a:spLocks noChangeArrowheads="1"/>
            </p:cNvSpPr>
            <p:nvPr/>
          </p:nvSpPr>
          <p:spPr bwMode="gray">
            <a:xfrm>
              <a:off x="5088" y="528"/>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36" name="Oval 30"/>
            <p:cNvSpPr>
              <a:spLocks noChangeArrowheads="1"/>
            </p:cNvSpPr>
            <p:nvPr/>
          </p:nvSpPr>
          <p:spPr bwMode="gray">
            <a:xfrm>
              <a:off x="5232" y="528"/>
              <a:ext cx="96" cy="96"/>
            </a:xfrm>
            <a:prstGeom prst="ellipse">
              <a:avLst/>
            </a:prstGeom>
            <a:solidFill>
              <a:schemeClr val="bg1">
                <a:alpha val="50195"/>
              </a:schemeClr>
            </a:solidFill>
            <a:ln w="9525">
              <a:noFill/>
              <a:round/>
              <a:headEnd/>
              <a:tailEnd/>
            </a:ln>
          </p:spPr>
          <p:txBody>
            <a:bodyPr wrap="none" anchor="ctr"/>
            <a:lstStyle/>
            <a:p>
              <a:endParaRPr lang="zh-CN" altLang="en-US"/>
            </a:p>
          </p:txBody>
        </p:sp>
        <p:sp>
          <p:nvSpPr>
            <p:cNvPr id="37" name="Oval 31"/>
            <p:cNvSpPr>
              <a:spLocks noChangeArrowheads="1"/>
            </p:cNvSpPr>
            <p:nvPr/>
          </p:nvSpPr>
          <p:spPr bwMode="gray">
            <a:xfrm>
              <a:off x="5376" y="528"/>
              <a:ext cx="96" cy="96"/>
            </a:xfrm>
            <a:prstGeom prst="ellipse">
              <a:avLst/>
            </a:prstGeom>
            <a:solidFill>
              <a:schemeClr val="bg1">
                <a:alpha val="50195"/>
              </a:schemeClr>
            </a:solidFill>
            <a:ln w="9525">
              <a:noFill/>
              <a:round/>
              <a:headEnd/>
              <a:tailEnd/>
            </a:ln>
          </p:spPr>
          <p:txBody>
            <a:bodyPr wrap="none" anchor="ctr"/>
            <a:lstStyle/>
            <a:p>
              <a:endParaRPr lang="zh-CN" altLang="en-US"/>
            </a:p>
          </p:txBody>
        </p:sp>
      </p:grpSp>
      <p:sp>
        <p:nvSpPr>
          <p:cNvPr id="38" name="矩形 37"/>
          <p:cNvSpPr/>
          <p:nvPr/>
        </p:nvSpPr>
        <p:spPr>
          <a:xfrm>
            <a:off x="2214546" y="500042"/>
            <a:ext cx="4929555" cy="707886"/>
          </a:xfrm>
          <a:prstGeom prst="rect">
            <a:avLst/>
          </a:prstGeom>
        </p:spPr>
        <p:txBody>
          <a:bodyPr wrap="none">
            <a:spAutoFit/>
          </a:bodyPr>
          <a:lstStyle/>
          <a:p>
            <a:pPr algn="ctr">
              <a:buClr>
                <a:srgbClr val="FF0000"/>
              </a:buClr>
              <a:defRPr/>
            </a:pPr>
            <a:r>
              <a:rPr lang="en-US" altLang="zh-CN" sz="4000" dirty="0" smtClean="0">
                <a:solidFill>
                  <a:srgbClr val="FFFFCC"/>
                </a:solidFill>
                <a:latin typeface="Impact" pitchFamily="34" charset="0"/>
                <a:ea typeface="方正大黑简体" pitchFamily="2" charset="-122"/>
              </a:rPr>
              <a:t>Work principles of PSS</a:t>
            </a:r>
          </a:p>
        </p:txBody>
      </p:sp>
      <p:sp>
        <p:nvSpPr>
          <p:cNvPr id="39" name="矩形 6"/>
          <p:cNvSpPr>
            <a:spLocks noChangeArrowheads="1"/>
          </p:cNvSpPr>
          <p:nvPr/>
        </p:nvSpPr>
        <p:spPr bwMode="auto">
          <a:xfrm>
            <a:off x="743522" y="1438247"/>
            <a:ext cx="1800236" cy="461665"/>
          </a:xfrm>
          <a:prstGeom prst="rect">
            <a:avLst/>
          </a:prstGeom>
          <a:noFill/>
          <a:ln w="9525">
            <a:noFill/>
            <a:miter lim="800000"/>
            <a:headEnd/>
            <a:tailEnd/>
          </a:ln>
        </p:spPr>
        <p:txBody>
          <a:bodyPr wrap="none">
            <a:spAutoFit/>
          </a:bodyPr>
          <a:lstStyle/>
          <a:p>
            <a:r>
              <a:rPr lang="en-US" altLang="zh-CN" sz="2400" dirty="0">
                <a:solidFill>
                  <a:schemeClr val="bg1"/>
                </a:solidFill>
              </a:rPr>
              <a:t>Distribution </a:t>
            </a:r>
            <a:r>
              <a:rPr lang="en-US" altLang="zh-CN" sz="2400" dirty="0" smtClean="0">
                <a:solidFill>
                  <a:schemeClr val="bg1"/>
                </a:solidFill>
              </a:rPr>
              <a:t> </a:t>
            </a:r>
            <a:endParaRPr lang="zh-CN" altLang="en-US" sz="2400"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22</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2348544" y="428604"/>
            <a:ext cx="4929555" cy="707886"/>
          </a:xfrm>
          <a:prstGeom prst="rect">
            <a:avLst/>
          </a:prstGeom>
        </p:spPr>
        <p:txBody>
          <a:bodyPr wrap="none">
            <a:spAutoFit/>
          </a:bodyPr>
          <a:lstStyle/>
          <a:p>
            <a:pPr algn="ctr">
              <a:buClr>
                <a:srgbClr val="FF0000"/>
              </a:buClr>
              <a:defRPr/>
            </a:pPr>
            <a:r>
              <a:rPr lang="en-US" altLang="zh-CN" sz="4000" dirty="0" smtClean="0">
                <a:solidFill>
                  <a:srgbClr val="FFFFCC"/>
                </a:solidFill>
                <a:latin typeface="Impact" pitchFamily="34" charset="0"/>
                <a:ea typeface="方正大黑简体" pitchFamily="2" charset="-122"/>
              </a:rPr>
              <a:t>Work principles of PSS</a:t>
            </a:r>
          </a:p>
        </p:txBody>
      </p:sp>
      <p:sp>
        <p:nvSpPr>
          <p:cNvPr id="7" name="矩形 3"/>
          <p:cNvSpPr>
            <a:spLocks noChangeArrowheads="1"/>
          </p:cNvSpPr>
          <p:nvPr/>
        </p:nvSpPr>
        <p:spPr bwMode="auto">
          <a:xfrm>
            <a:off x="357126" y="1875518"/>
            <a:ext cx="4355856" cy="461665"/>
          </a:xfrm>
          <a:prstGeom prst="rect">
            <a:avLst/>
          </a:prstGeom>
          <a:noFill/>
          <a:ln w="9525">
            <a:noFill/>
            <a:miter lim="800000"/>
            <a:headEnd/>
            <a:tailEnd/>
          </a:ln>
        </p:spPr>
        <p:txBody>
          <a:bodyPr wrap="square">
            <a:spAutoFit/>
          </a:bodyPr>
          <a:lstStyle/>
          <a:p>
            <a:pPr>
              <a:buFont typeface="Wingdings" pitchFamily="2" charset="2"/>
              <a:buChar char="Ø"/>
            </a:pPr>
            <a:r>
              <a:rPr lang="en-US" altLang="zh-CN" i="1" dirty="0">
                <a:solidFill>
                  <a:srgbClr val="FF0000"/>
                </a:solidFill>
              </a:rPr>
              <a:t> </a:t>
            </a:r>
            <a:r>
              <a:rPr lang="en-US" altLang="zh-CN" i="1" dirty="0" smtClean="0">
                <a:solidFill>
                  <a:srgbClr val="FF0000"/>
                </a:solidFill>
              </a:rPr>
              <a:t> </a:t>
            </a:r>
            <a:r>
              <a:rPr lang="en-US" altLang="zh-CN" sz="2400" b="1" i="1" dirty="0" smtClean="0">
                <a:solidFill>
                  <a:srgbClr val="FF0000"/>
                </a:solidFill>
              </a:rPr>
              <a:t>Energy </a:t>
            </a:r>
            <a:r>
              <a:rPr lang="en-US" altLang="zh-CN" sz="2400" b="1" i="1" dirty="0">
                <a:solidFill>
                  <a:srgbClr val="FF0000"/>
                </a:solidFill>
              </a:rPr>
              <a:t>security mode</a:t>
            </a:r>
          </a:p>
        </p:txBody>
      </p:sp>
      <p:grpSp>
        <p:nvGrpSpPr>
          <p:cNvPr id="8" name="Group 13"/>
          <p:cNvGrpSpPr>
            <a:grpSpLocks/>
          </p:cNvGrpSpPr>
          <p:nvPr/>
        </p:nvGrpSpPr>
        <p:grpSpPr bwMode="auto">
          <a:xfrm>
            <a:off x="718362" y="2753417"/>
            <a:ext cx="2258157" cy="693737"/>
            <a:chOff x="816" y="1587"/>
            <a:chExt cx="1440" cy="504"/>
          </a:xfrm>
        </p:grpSpPr>
        <p:sp>
          <p:nvSpPr>
            <p:cNvPr id="9" name="Freeform 14"/>
            <p:cNvSpPr>
              <a:spLocks/>
            </p:cNvSpPr>
            <p:nvPr/>
          </p:nvSpPr>
          <p:spPr bwMode="gray">
            <a:xfrm>
              <a:off x="905" y="1901"/>
              <a:ext cx="1270" cy="190"/>
            </a:xfrm>
            <a:custGeom>
              <a:avLst/>
              <a:gdLst>
                <a:gd name="T0" fmla="*/ 4464 w 1120"/>
                <a:gd name="T1" fmla="*/ 11 h 252"/>
                <a:gd name="T2" fmla="*/ 4445 w 1120"/>
                <a:gd name="T3" fmla="*/ 11 h 252"/>
                <a:gd name="T4" fmla="*/ 4380 w 1120"/>
                <a:gd name="T5" fmla="*/ 11 h 252"/>
                <a:gd name="T6" fmla="*/ 4282 w 1120"/>
                <a:gd name="T7" fmla="*/ 11 h 252"/>
                <a:gd name="T8" fmla="*/ 4139 w 1120"/>
                <a:gd name="T9" fmla="*/ 11 h 252"/>
                <a:gd name="T10" fmla="*/ 3955 w 1120"/>
                <a:gd name="T11" fmla="*/ 10 h 252"/>
                <a:gd name="T12" fmla="*/ 3742 w 1120"/>
                <a:gd name="T13" fmla="*/ 10 h 252"/>
                <a:gd name="T14" fmla="*/ 3491 w 1120"/>
                <a:gd name="T15" fmla="*/ 10 h 252"/>
                <a:gd name="T16" fmla="*/ 3209 w 1120"/>
                <a:gd name="T17" fmla="*/ 8 h 252"/>
                <a:gd name="T18" fmla="*/ 2911 w 1120"/>
                <a:gd name="T19" fmla="*/ 8 h 252"/>
                <a:gd name="T20" fmla="*/ 2575 w 1120"/>
                <a:gd name="T21" fmla="*/ 8 h 252"/>
                <a:gd name="T22" fmla="*/ 2211 w 1120"/>
                <a:gd name="T23" fmla="*/ 8 h 252"/>
                <a:gd name="T24" fmla="*/ 1855 w 1120"/>
                <a:gd name="T25" fmla="*/ 8 h 252"/>
                <a:gd name="T26" fmla="*/ 1527 w 1120"/>
                <a:gd name="T27" fmla="*/ 8 h 252"/>
                <a:gd name="T28" fmla="*/ 1227 w 1120"/>
                <a:gd name="T29" fmla="*/ 8 h 252"/>
                <a:gd name="T30" fmla="*/ 949 w 1120"/>
                <a:gd name="T31" fmla="*/ 10 h 252"/>
                <a:gd name="T32" fmla="*/ 712 w 1120"/>
                <a:gd name="T33" fmla="*/ 10 h 252"/>
                <a:gd name="T34" fmla="*/ 503 w 1120"/>
                <a:gd name="T35" fmla="*/ 10 h 252"/>
                <a:gd name="T36" fmla="*/ 324 w 1120"/>
                <a:gd name="T37" fmla="*/ 11 h 252"/>
                <a:gd name="T38" fmla="*/ 184 w 1120"/>
                <a:gd name="T39" fmla="*/ 11 h 252"/>
                <a:gd name="T40" fmla="*/ 78 w 1120"/>
                <a:gd name="T41" fmla="*/ 11 h 252"/>
                <a:gd name="T42" fmla="*/ 23 w 1120"/>
                <a:gd name="T43" fmla="*/ 11 h 252"/>
                <a:gd name="T44" fmla="*/ 0 w 1120"/>
                <a:gd name="T45" fmla="*/ 11 h 252"/>
                <a:gd name="T46" fmla="*/ 0 w 1120"/>
                <a:gd name="T47" fmla="*/ 3 h 252"/>
                <a:gd name="T48" fmla="*/ 2229 w 1120"/>
                <a:gd name="T49" fmla="*/ 0 h 252"/>
                <a:gd name="T50" fmla="*/ 4464 w 1120"/>
                <a:gd name="T51" fmla="*/ 3 h 252"/>
                <a:gd name="T52" fmla="*/ 4464 w 1120"/>
                <a:gd name="T53" fmla="*/ 11 h 252"/>
                <a:gd name="T54" fmla="*/ 4464 w 1120"/>
                <a:gd name="T55" fmla="*/ 11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10" name="Rectangle 15"/>
            <p:cNvSpPr>
              <a:spLocks noChangeArrowheads="1"/>
            </p:cNvSpPr>
            <p:nvPr/>
          </p:nvSpPr>
          <p:spPr bwMode="gray">
            <a:xfrm>
              <a:off x="816" y="1587"/>
              <a:ext cx="1440" cy="393"/>
            </a:xfrm>
            <a:prstGeom prst="rect">
              <a:avLst/>
            </a:prstGeom>
            <a:solidFill>
              <a:schemeClr val="accent1">
                <a:lumMod val="50000"/>
              </a:schemeClr>
            </a:solidFill>
            <a:ln w="9525" algn="ctr">
              <a:noFill/>
              <a:miter lim="800000"/>
              <a:headEnd/>
              <a:tailEnd/>
            </a:ln>
            <a:effectLst/>
          </p:spPr>
          <p:txBody>
            <a:bodyPr wrap="none" lIns="115192" tIns="57596" rIns="115192" bIns="57596" anchor="ctr"/>
            <a:lstStyle/>
            <a:p>
              <a:pPr defTabSz="1152525" eaLnBrk="0" hangingPunct="0">
                <a:defRPr/>
              </a:pPr>
              <a:r>
                <a:rPr lang="en-US" altLang="zh-CN" sz="2400" i="1" dirty="0" smtClean="0">
                  <a:solidFill>
                    <a:schemeClr val="bg1"/>
                  </a:solidFill>
                  <a:effectLst>
                    <a:outerShdw blurRad="38100" dist="38100" dir="2700000" algn="tl">
                      <a:srgbClr val="000000"/>
                    </a:outerShdw>
                  </a:effectLst>
                  <a:ea typeface="华文细黑" pitchFamily="2" charset="-122"/>
                </a:rPr>
                <a:t>    </a:t>
              </a:r>
              <a:r>
                <a:rPr lang="en-US" altLang="zh-CN" sz="2400" b="1" i="1" dirty="0" smtClean="0">
                  <a:solidFill>
                    <a:schemeClr val="bg1"/>
                  </a:solidFill>
                  <a:effectLst>
                    <a:outerShdw blurRad="38100" dist="38100" dir="2700000" algn="tl">
                      <a:srgbClr val="000000"/>
                    </a:outerShdw>
                  </a:effectLst>
                  <a:ea typeface="华文细黑" pitchFamily="2" charset="-122"/>
                </a:rPr>
                <a:t>Parameters</a:t>
              </a:r>
              <a:endParaRPr lang="en-US" altLang="zh-CN" sz="2400" b="1" i="1" dirty="0">
                <a:solidFill>
                  <a:schemeClr val="bg1"/>
                </a:solidFill>
                <a:effectLst>
                  <a:outerShdw blurRad="38100" dist="38100" dir="2700000" algn="tl">
                    <a:srgbClr val="000000"/>
                  </a:outerShdw>
                </a:effectLst>
                <a:ea typeface="华文细黑" pitchFamily="2" charset="-122"/>
              </a:endParaRPr>
            </a:p>
          </p:txBody>
        </p:sp>
      </p:grpSp>
      <p:sp>
        <p:nvSpPr>
          <p:cNvPr id="11" name="矩形 10"/>
          <p:cNvSpPr/>
          <p:nvPr/>
        </p:nvSpPr>
        <p:spPr>
          <a:xfrm>
            <a:off x="2229918" y="2592229"/>
            <a:ext cx="5662246" cy="861774"/>
          </a:xfrm>
          <a:prstGeom prst="rect">
            <a:avLst/>
          </a:prstGeom>
        </p:spPr>
        <p:txBody>
          <a:bodyPr>
            <a:spAutoFit/>
          </a:bodyPr>
          <a:lstStyle/>
          <a:p>
            <a:pPr marL="1800000" algn="l">
              <a:lnSpc>
                <a:spcPts val="3000"/>
              </a:lnSpc>
              <a:buFont typeface="Arial" pitchFamily="34" charset="0"/>
              <a:buChar char="•"/>
              <a:defRPr/>
            </a:pPr>
            <a:r>
              <a:rPr lang="en-US" altLang="zh-CN" sz="2200" b="0" dirty="0">
                <a:solidFill>
                  <a:schemeClr val="accent6">
                    <a:lumMod val="75000"/>
                  </a:schemeClr>
                </a:solidFill>
              </a:rPr>
              <a:t>   </a:t>
            </a:r>
            <a:r>
              <a:rPr lang="en-US" altLang="zh-CN" sz="2200" b="0" dirty="0" smtClean="0">
                <a:solidFill>
                  <a:schemeClr val="accent6">
                    <a:lumMod val="75000"/>
                  </a:schemeClr>
                </a:solidFill>
              </a:rPr>
              <a:t>Battery Voltage</a:t>
            </a:r>
            <a:endParaRPr lang="en-US" altLang="zh-CN" sz="2200" b="0" dirty="0">
              <a:solidFill>
                <a:schemeClr val="accent6">
                  <a:lumMod val="75000"/>
                </a:schemeClr>
              </a:solidFill>
            </a:endParaRPr>
          </a:p>
          <a:p>
            <a:pPr marL="1800000" algn="l">
              <a:lnSpc>
                <a:spcPts val="3000"/>
              </a:lnSpc>
              <a:buFont typeface="Arial" pitchFamily="34" charset="0"/>
              <a:buChar char="•"/>
              <a:defRPr/>
            </a:pPr>
            <a:r>
              <a:rPr lang="en-US" altLang="zh-CN" sz="2200" b="0" dirty="0">
                <a:solidFill>
                  <a:schemeClr val="accent6">
                    <a:lumMod val="75000"/>
                  </a:schemeClr>
                </a:solidFill>
              </a:rPr>
              <a:t>   Battery </a:t>
            </a:r>
            <a:r>
              <a:rPr lang="en-US" altLang="zh-CN" sz="2200" b="0" dirty="0" smtClean="0">
                <a:solidFill>
                  <a:schemeClr val="accent6">
                    <a:lumMod val="75000"/>
                  </a:schemeClr>
                </a:solidFill>
              </a:rPr>
              <a:t>Capacity</a:t>
            </a:r>
            <a:endParaRPr lang="en-US" altLang="zh-CN" sz="2200" b="0" dirty="0">
              <a:solidFill>
                <a:schemeClr val="accent6">
                  <a:lumMod val="75000"/>
                </a:schemeClr>
              </a:solidFill>
            </a:endParaRPr>
          </a:p>
        </p:txBody>
      </p:sp>
      <p:sp>
        <p:nvSpPr>
          <p:cNvPr id="12" name="矩形 12"/>
          <p:cNvSpPr>
            <a:spLocks noChangeArrowheads="1"/>
          </p:cNvSpPr>
          <p:nvPr/>
        </p:nvSpPr>
        <p:spPr bwMode="auto">
          <a:xfrm>
            <a:off x="390496" y="3928171"/>
            <a:ext cx="8458229" cy="1451679"/>
          </a:xfrm>
          <a:prstGeom prst="rect">
            <a:avLst/>
          </a:prstGeom>
          <a:noFill/>
          <a:ln w="9525">
            <a:noFill/>
            <a:miter lim="800000"/>
            <a:headEnd/>
            <a:tailEnd/>
          </a:ln>
        </p:spPr>
        <p:txBody>
          <a:bodyPr wrap="square">
            <a:spAutoFit/>
          </a:bodyPr>
          <a:lstStyle/>
          <a:p>
            <a:pPr marL="1790700" indent="-1790700">
              <a:spcBef>
                <a:spcPts val="400"/>
              </a:spcBef>
              <a:spcAft>
                <a:spcPts val="400"/>
              </a:spcAft>
              <a:tabLst>
                <a:tab pos="361950" algn="l"/>
              </a:tabLst>
            </a:pPr>
            <a:r>
              <a:rPr lang="en-US" altLang="zh-CN" sz="2000" i="1" dirty="0"/>
              <a:t> </a:t>
            </a:r>
            <a:r>
              <a:rPr lang="en-US" altLang="zh-CN" sz="2000" i="1" dirty="0" smtClean="0"/>
              <a:t>  </a:t>
            </a:r>
            <a:r>
              <a:rPr lang="en-US" altLang="zh-CN" sz="2000" i="1" dirty="0" smtClean="0">
                <a:solidFill>
                  <a:srgbClr val="8F74F2"/>
                </a:solidFill>
              </a:rPr>
              <a:t>Condition </a:t>
            </a:r>
            <a:r>
              <a:rPr lang="en-US" altLang="zh-CN" sz="2000" i="1" dirty="0">
                <a:solidFill>
                  <a:srgbClr val="8F74F2"/>
                </a:solidFill>
              </a:rPr>
              <a:t>1:</a:t>
            </a:r>
            <a:r>
              <a:rPr lang="en-US" altLang="zh-CN" sz="2000" b="0" i="1" dirty="0">
                <a:solidFill>
                  <a:schemeClr val="tx1"/>
                </a:solidFill>
              </a:rPr>
              <a:t> </a:t>
            </a:r>
            <a:r>
              <a:rPr lang="en-US" altLang="zh-CN" sz="2000" b="0" i="1" dirty="0" smtClean="0">
                <a:solidFill>
                  <a:schemeClr val="tx1"/>
                </a:solidFill>
              </a:rPr>
              <a:t>     </a:t>
            </a:r>
            <a:r>
              <a:rPr lang="en-US" altLang="zh-CN" sz="2000" dirty="0" smtClean="0"/>
              <a:t>Battery Voltage </a:t>
            </a:r>
            <a:r>
              <a:rPr lang="en-US" altLang="zh-CN" sz="2000" dirty="0" smtClean="0">
                <a:solidFill>
                  <a:srgbClr val="B010A8"/>
                </a:solidFill>
              </a:rPr>
              <a:t>≤ </a:t>
            </a:r>
            <a:r>
              <a:rPr lang="en-US" altLang="zh-CN" sz="2000" dirty="0" err="1" smtClean="0"/>
              <a:t>Batt_Voltage_Alarm</a:t>
            </a:r>
            <a:r>
              <a:rPr lang="en-US" altLang="zh-CN" sz="2000" dirty="0" smtClean="0"/>
              <a:t>_ THRESHOLD</a:t>
            </a:r>
            <a:r>
              <a:rPr lang="en-US" altLang="zh-CN" sz="2000" dirty="0" smtClean="0">
                <a:solidFill>
                  <a:srgbClr val="B010A8"/>
                </a:solidFill>
              </a:rPr>
              <a:t> (Default    value 25.2V)</a:t>
            </a:r>
            <a:r>
              <a:rPr lang="en-US" altLang="zh-CN" sz="2000" dirty="0" smtClean="0"/>
              <a:t>and the time of duration ≥ 30s. </a:t>
            </a:r>
            <a:endParaRPr lang="en-US" altLang="zh-CN" sz="2000" b="0" dirty="0">
              <a:solidFill>
                <a:schemeClr val="tx1"/>
              </a:solidFill>
            </a:endParaRPr>
          </a:p>
          <a:p>
            <a:pPr marL="1704975" indent="-1704975">
              <a:spcBef>
                <a:spcPts val="600"/>
              </a:spcBef>
              <a:spcAft>
                <a:spcPts val="400"/>
              </a:spcAft>
            </a:pPr>
            <a:r>
              <a:rPr lang="en-US" altLang="zh-CN" sz="2000" i="1" dirty="0" smtClean="0">
                <a:solidFill>
                  <a:srgbClr val="FF0000"/>
                </a:solidFill>
              </a:rPr>
              <a:t>   </a:t>
            </a:r>
            <a:r>
              <a:rPr lang="en-US" altLang="zh-CN" sz="2000" i="1" dirty="0" smtClean="0">
                <a:solidFill>
                  <a:srgbClr val="8F74F2"/>
                </a:solidFill>
              </a:rPr>
              <a:t>Condition </a:t>
            </a:r>
            <a:r>
              <a:rPr lang="en-US" altLang="zh-CN" sz="2000" i="1" dirty="0">
                <a:solidFill>
                  <a:srgbClr val="8F74F2"/>
                </a:solidFill>
              </a:rPr>
              <a:t>2:     </a:t>
            </a:r>
            <a:r>
              <a:rPr lang="en-US" altLang="zh-CN" sz="2000" b="0" dirty="0">
                <a:solidFill>
                  <a:schemeClr val="tx1"/>
                </a:solidFill>
              </a:rPr>
              <a:t>Battery </a:t>
            </a:r>
            <a:r>
              <a:rPr lang="en-US" altLang="zh-CN" sz="2000" b="0" dirty="0" smtClean="0">
                <a:solidFill>
                  <a:schemeClr val="tx1"/>
                </a:solidFill>
              </a:rPr>
              <a:t>Capacity </a:t>
            </a:r>
            <a:r>
              <a:rPr lang="en-US" altLang="zh-CN" sz="2000" b="0" dirty="0" smtClean="0">
                <a:solidFill>
                  <a:srgbClr val="B010A8"/>
                </a:solidFill>
              </a:rPr>
              <a:t>≤ </a:t>
            </a:r>
            <a:r>
              <a:rPr lang="en-US" altLang="zh-CN" sz="2000" dirty="0" err="1" smtClean="0"/>
              <a:t>Batt_Capacity_Alarm</a:t>
            </a:r>
            <a:r>
              <a:rPr lang="en-US" altLang="zh-CN" sz="2000" dirty="0" smtClean="0"/>
              <a:t>_ THRESHOLD</a:t>
            </a:r>
            <a:r>
              <a:rPr lang="en-US" altLang="zh-CN" sz="2000" b="0" dirty="0" smtClean="0">
                <a:solidFill>
                  <a:srgbClr val="B010A8"/>
                </a:solidFill>
              </a:rPr>
              <a:t> (Default value 6Ah)</a:t>
            </a:r>
            <a:r>
              <a:rPr lang="en-US" altLang="zh-CN" sz="2000" b="0" dirty="0" smtClean="0">
                <a:solidFill>
                  <a:schemeClr val="tx1"/>
                </a:solidFill>
              </a:rPr>
              <a:t>and </a:t>
            </a:r>
            <a:r>
              <a:rPr lang="en-US" altLang="zh-CN" sz="2000" b="0" dirty="0">
                <a:solidFill>
                  <a:schemeClr val="tx1"/>
                </a:solidFill>
              </a:rPr>
              <a:t>the time of duration ≥ 30s</a:t>
            </a:r>
            <a:r>
              <a:rPr lang="en-US" altLang="zh-CN" sz="2000" b="0" dirty="0" smtClean="0">
                <a:solidFill>
                  <a:schemeClr val="tx1"/>
                </a:solidFill>
              </a:rPr>
              <a:t>.</a:t>
            </a:r>
            <a:endParaRPr lang="en-US" altLang="zh-CN" sz="2000" b="0" dirty="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23</a:t>
            </a:fld>
            <a:r>
              <a:rPr lang="zh-CN" altLang="en-US" smtClean="0"/>
              <a:t> </a:t>
            </a:r>
            <a:endParaRPr lang="zh-CN" altLang="en-US" dirty="0">
              <a:latin typeface="微软雅黑" pitchFamily="34" charset="-122"/>
              <a:ea typeface="微软雅黑" pitchFamily="34" charset="-122"/>
            </a:endParaRPr>
          </a:p>
        </p:txBody>
      </p:sp>
      <p:pic>
        <p:nvPicPr>
          <p:cNvPr id="6" name="Picture 1" descr="D:\resources for ppt\sat5.jpg"/>
          <p:cNvPicPr>
            <a:picLocks noChangeAspect="1" noChangeArrowheads="1"/>
          </p:cNvPicPr>
          <p:nvPr/>
        </p:nvPicPr>
        <p:blipFill>
          <a:blip r:embed="rId2" cstate="email"/>
          <a:stretch>
            <a:fillRect/>
          </a:stretch>
        </p:blipFill>
        <p:spPr bwMode="auto">
          <a:xfrm>
            <a:off x="1563604" y="1842909"/>
            <a:ext cx="381198"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pic>
        <p:nvPicPr>
          <p:cNvPr id="7" name="Picture 2" descr="D:\resources for ppt\sino6_W020100905714056942648.jpg"/>
          <p:cNvPicPr>
            <a:picLocks noChangeAspect="1" noChangeArrowheads="1"/>
          </p:cNvPicPr>
          <p:nvPr/>
        </p:nvPicPr>
        <p:blipFill>
          <a:blip r:embed="rId3" cstate="email"/>
          <a:stretch>
            <a:fillRect/>
          </a:stretch>
        </p:blipFill>
        <p:spPr bwMode="auto">
          <a:xfrm>
            <a:off x="1500166" y="4363792"/>
            <a:ext cx="426409" cy="401942"/>
          </a:xfrm>
          <a:prstGeom prst="ellipse">
            <a:avLst/>
          </a:prstGeom>
          <a:ln w="136525" cap="rnd">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8" name="单圆角矩形 7"/>
          <p:cNvSpPr/>
          <p:nvPr/>
        </p:nvSpPr>
        <p:spPr>
          <a:xfrm>
            <a:off x="2172148" y="1785926"/>
            <a:ext cx="5706406" cy="486054"/>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spcBef>
                <a:spcPct val="50000"/>
              </a:spcBef>
              <a:buClr>
                <a:srgbClr val="FF0000"/>
              </a:buClr>
              <a:defRPr/>
            </a:pPr>
            <a:r>
              <a:rPr lang="en-US" altLang="zh-CN" sz="3200" i="1" dirty="0" smtClean="0">
                <a:solidFill>
                  <a:schemeClr val="lt1"/>
                </a:solidFill>
              </a:rPr>
              <a:t>Concept and Function</a:t>
            </a:r>
            <a:endParaRPr lang="en-US" altLang="zh-CN" sz="3200" i="1" dirty="0">
              <a:solidFill>
                <a:schemeClr val="lt1"/>
              </a:solidFill>
            </a:endParaRPr>
          </a:p>
        </p:txBody>
      </p:sp>
      <p:sp>
        <p:nvSpPr>
          <p:cNvPr id="9" name="单圆角矩形 8"/>
          <p:cNvSpPr/>
          <p:nvPr/>
        </p:nvSpPr>
        <p:spPr>
          <a:xfrm>
            <a:off x="2172147" y="2615244"/>
            <a:ext cx="5678905" cy="48696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3200" i="1" dirty="0" smtClean="0">
                <a:solidFill>
                  <a:schemeClr val="bg1"/>
                </a:solidFill>
              </a:rPr>
              <a:t>Compositions of PSS</a:t>
            </a:r>
          </a:p>
        </p:txBody>
      </p:sp>
      <p:pic>
        <p:nvPicPr>
          <p:cNvPr id="10" name="Picture 1" descr="D:\resources for ppt\sat5.jpg"/>
          <p:cNvPicPr>
            <a:picLocks noChangeAspect="1" noChangeArrowheads="1"/>
          </p:cNvPicPr>
          <p:nvPr/>
        </p:nvPicPr>
        <p:blipFill>
          <a:blip r:embed="rId2" cstate="email"/>
          <a:stretch>
            <a:fillRect/>
          </a:stretch>
        </p:blipFill>
        <p:spPr bwMode="auto">
          <a:xfrm>
            <a:off x="1536468" y="3510055"/>
            <a:ext cx="389913"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1" name="单圆角矩形 10"/>
          <p:cNvSpPr/>
          <p:nvPr/>
        </p:nvSpPr>
        <p:spPr>
          <a:xfrm>
            <a:off x="2163870" y="3440424"/>
            <a:ext cx="5685781" cy="48577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3200" i="1" dirty="0" smtClean="0">
                <a:solidFill>
                  <a:schemeClr val="bg1"/>
                </a:solidFill>
              </a:rPr>
              <a:t>Work principles of PSS</a:t>
            </a:r>
          </a:p>
        </p:txBody>
      </p:sp>
      <p:sp>
        <p:nvSpPr>
          <p:cNvPr id="12" name="矩形 11"/>
          <p:cNvSpPr/>
          <p:nvPr/>
        </p:nvSpPr>
        <p:spPr>
          <a:xfrm>
            <a:off x="3571868" y="500042"/>
            <a:ext cx="2081019" cy="707886"/>
          </a:xfrm>
          <a:prstGeom prst="rect">
            <a:avLst/>
          </a:prstGeom>
        </p:spPr>
        <p:txBody>
          <a:bodyPr wrap="none">
            <a:spAutoFit/>
          </a:bodyPr>
          <a:lstStyle/>
          <a:p>
            <a:pPr algn="ctr"/>
            <a:r>
              <a:rPr lang="en-US" altLang="zh-CN" sz="4000" dirty="0">
                <a:solidFill>
                  <a:srgbClr val="FFFFCC"/>
                </a:solidFill>
                <a:latin typeface="Impact" pitchFamily="34" charset="0"/>
                <a:ea typeface="方正大黑简体" pitchFamily="2" charset="-122"/>
              </a:rPr>
              <a:t>OUTLINES</a:t>
            </a:r>
          </a:p>
        </p:txBody>
      </p:sp>
      <p:pic>
        <p:nvPicPr>
          <p:cNvPr id="13" name="Picture 1" descr="D:\resources for ppt\sat5.jpg"/>
          <p:cNvPicPr>
            <a:picLocks noChangeAspect="1" noChangeArrowheads="1"/>
          </p:cNvPicPr>
          <p:nvPr/>
        </p:nvPicPr>
        <p:blipFill>
          <a:blip r:embed="rId2" cstate="email"/>
          <a:stretch>
            <a:fillRect/>
          </a:stretch>
        </p:blipFill>
        <p:spPr bwMode="auto">
          <a:xfrm>
            <a:off x="1538596" y="2702145"/>
            <a:ext cx="381198"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4" name="单圆角矩形 13"/>
          <p:cNvSpPr/>
          <p:nvPr/>
        </p:nvSpPr>
        <p:spPr>
          <a:xfrm>
            <a:off x="2175420" y="4297594"/>
            <a:ext cx="5678905" cy="486965"/>
          </a:xfrm>
          <a:prstGeom prst="round1Rect">
            <a:avLst/>
          </a:prstGeom>
          <a:solidFill>
            <a:srgbClr val="F79600"/>
          </a:solidFill>
          <a:ln>
            <a:solidFill>
              <a:srgbClr val="FFC064"/>
            </a:solidFill>
          </a:ln>
          <a:effectLst>
            <a:glow rad="139700">
              <a:srgbClr val="FF9600">
                <a:alpha val="40000"/>
              </a:srgbClr>
            </a:glo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buClr>
                <a:srgbClr val="FF0000"/>
              </a:buClr>
              <a:defRPr/>
            </a:pPr>
            <a:r>
              <a:rPr lang="en-US" altLang="zh-CN" sz="3200" b="1" i="1" dirty="0" smtClean="0"/>
              <a:t>Power balance analysis</a:t>
            </a:r>
            <a:endParaRPr lang="en-US" altLang="zh-CN" sz="3200" b="1" i="1" dirty="0"/>
          </a:p>
        </p:txBody>
      </p:sp>
      <p:pic>
        <p:nvPicPr>
          <p:cNvPr id="15" name="Picture 1" descr="D:\resources for ppt\sat5.jpg"/>
          <p:cNvPicPr>
            <a:picLocks noChangeAspect="1" noChangeArrowheads="1"/>
          </p:cNvPicPr>
          <p:nvPr/>
        </p:nvPicPr>
        <p:blipFill>
          <a:blip r:embed="rId2" cstate="email"/>
          <a:stretch>
            <a:fillRect/>
          </a:stretch>
        </p:blipFill>
        <p:spPr bwMode="auto">
          <a:xfrm>
            <a:off x="1500166" y="5192482"/>
            <a:ext cx="389913"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6" name="单圆角矩形 15"/>
          <p:cNvSpPr/>
          <p:nvPr/>
        </p:nvSpPr>
        <p:spPr>
          <a:xfrm>
            <a:off x="2172367" y="5143512"/>
            <a:ext cx="5685781" cy="48577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2800" i="1" dirty="0" smtClean="0">
                <a:solidFill>
                  <a:schemeClr val="bg1"/>
                </a:solidFill>
                <a:latin typeface="Arial" pitchFamily="34" charset="0"/>
                <a:cs typeface="Arial" pitchFamily="34" charset="0"/>
              </a:rPr>
              <a:t>Telemetries and Tele-commands</a:t>
            </a:r>
            <a:endParaRPr lang="en-US" altLang="zh-CN" sz="2800" i="1" dirty="0">
              <a:solidFill>
                <a:schemeClr val="bg1"/>
              </a:solidFill>
              <a:latin typeface="Arial" pitchFamily="34" charset="0"/>
              <a:cs typeface="Arial"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24</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2071670" y="428604"/>
            <a:ext cx="5251759" cy="707886"/>
          </a:xfrm>
          <a:prstGeom prst="rect">
            <a:avLst/>
          </a:prstGeom>
        </p:spPr>
        <p:txBody>
          <a:bodyPr wrap="none">
            <a:spAutoFit/>
          </a:bodyPr>
          <a:lstStyle/>
          <a:p>
            <a:r>
              <a:rPr lang="en-US" altLang="zh-CN" sz="4000" dirty="0" smtClean="0">
                <a:solidFill>
                  <a:srgbClr val="FFFFCC"/>
                </a:solidFill>
                <a:latin typeface="Impact" pitchFamily="34" charset="0"/>
                <a:ea typeface="方正大黑简体" pitchFamily="2" charset="-122"/>
              </a:rPr>
              <a:t>Power balance analysis </a:t>
            </a:r>
            <a:endParaRPr lang="zh-CN" altLang="en-US" sz="4000" dirty="0">
              <a:solidFill>
                <a:srgbClr val="FFFFCC"/>
              </a:solidFill>
              <a:latin typeface="Impact" pitchFamily="34" charset="0"/>
              <a:ea typeface="方正大黑简体" pitchFamily="2" charset="-122"/>
            </a:endParaRPr>
          </a:p>
        </p:txBody>
      </p:sp>
      <p:grpSp>
        <p:nvGrpSpPr>
          <p:cNvPr id="7" name="Group 13"/>
          <p:cNvGrpSpPr>
            <a:grpSpLocks/>
          </p:cNvGrpSpPr>
          <p:nvPr/>
        </p:nvGrpSpPr>
        <p:grpSpPr bwMode="auto">
          <a:xfrm>
            <a:off x="279603" y="2277728"/>
            <a:ext cx="1935696" cy="821921"/>
            <a:chOff x="816" y="1587"/>
            <a:chExt cx="1447" cy="504"/>
          </a:xfrm>
        </p:grpSpPr>
        <p:sp>
          <p:nvSpPr>
            <p:cNvPr id="8" name="Freeform 14"/>
            <p:cNvSpPr>
              <a:spLocks/>
            </p:cNvSpPr>
            <p:nvPr/>
          </p:nvSpPr>
          <p:spPr bwMode="gray">
            <a:xfrm>
              <a:off x="905" y="1901"/>
              <a:ext cx="1270" cy="190"/>
            </a:xfrm>
            <a:custGeom>
              <a:avLst/>
              <a:gdLst>
                <a:gd name="T0" fmla="*/ 4464 w 1120"/>
                <a:gd name="T1" fmla="*/ 11 h 252"/>
                <a:gd name="T2" fmla="*/ 4445 w 1120"/>
                <a:gd name="T3" fmla="*/ 11 h 252"/>
                <a:gd name="T4" fmla="*/ 4380 w 1120"/>
                <a:gd name="T5" fmla="*/ 11 h 252"/>
                <a:gd name="T6" fmla="*/ 4282 w 1120"/>
                <a:gd name="T7" fmla="*/ 11 h 252"/>
                <a:gd name="T8" fmla="*/ 4139 w 1120"/>
                <a:gd name="T9" fmla="*/ 11 h 252"/>
                <a:gd name="T10" fmla="*/ 3955 w 1120"/>
                <a:gd name="T11" fmla="*/ 10 h 252"/>
                <a:gd name="T12" fmla="*/ 3742 w 1120"/>
                <a:gd name="T13" fmla="*/ 10 h 252"/>
                <a:gd name="T14" fmla="*/ 3491 w 1120"/>
                <a:gd name="T15" fmla="*/ 10 h 252"/>
                <a:gd name="T16" fmla="*/ 3209 w 1120"/>
                <a:gd name="T17" fmla="*/ 8 h 252"/>
                <a:gd name="T18" fmla="*/ 2911 w 1120"/>
                <a:gd name="T19" fmla="*/ 8 h 252"/>
                <a:gd name="T20" fmla="*/ 2575 w 1120"/>
                <a:gd name="T21" fmla="*/ 8 h 252"/>
                <a:gd name="T22" fmla="*/ 2211 w 1120"/>
                <a:gd name="T23" fmla="*/ 8 h 252"/>
                <a:gd name="T24" fmla="*/ 1855 w 1120"/>
                <a:gd name="T25" fmla="*/ 8 h 252"/>
                <a:gd name="T26" fmla="*/ 1527 w 1120"/>
                <a:gd name="T27" fmla="*/ 8 h 252"/>
                <a:gd name="T28" fmla="*/ 1227 w 1120"/>
                <a:gd name="T29" fmla="*/ 8 h 252"/>
                <a:gd name="T30" fmla="*/ 949 w 1120"/>
                <a:gd name="T31" fmla="*/ 10 h 252"/>
                <a:gd name="T32" fmla="*/ 712 w 1120"/>
                <a:gd name="T33" fmla="*/ 10 h 252"/>
                <a:gd name="T34" fmla="*/ 503 w 1120"/>
                <a:gd name="T35" fmla="*/ 10 h 252"/>
                <a:gd name="T36" fmla="*/ 324 w 1120"/>
                <a:gd name="T37" fmla="*/ 11 h 252"/>
                <a:gd name="T38" fmla="*/ 184 w 1120"/>
                <a:gd name="T39" fmla="*/ 11 h 252"/>
                <a:gd name="T40" fmla="*/ 78 w 1120"/>
                <a:gd name="T41" fmla="*/ 11 h 252"/>
                <a:gd name="T42" fmla="*/ 23 w 1120"/>
                <a:gd name="T43" fmla="*/ 11 h 252"/>
                <a:gd name="T44" fmla="*/ 0 w 1120"/>
                <a:gd name="T45" fmla="*/ 11 h 252"/>
                <a:gd name="T46" fmla="*/ 0 w 1120"/>
                <a:gd name="T47" fmla="*/ 3 h 252"/>
                <a:gd name="T48" fmla="*/ 2229 w 1120"/>
                <a:gd name="T49" fmla="*/ 0 h 252"/>
                <a:gd name="T50" fmla="*/ 4464 w 1120"/>
                <a:gd name="T51" fmla="*/ 3 h 252"/>
                <a:gd name="T52" fmla="*/ 4464 w 1120"/>
                <a:gd name="T53" fmla="*/ 11 h 252"/>
                <a:gd name="T54" fmla="*/ 4464 w 1120"/>
                <a:gd name="T55" fmla="*/ 11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9" name="Rectangle 15"/>
            <p:cNvSpPr>
              <a:spLocks noChangeArrowheads="1"/>
            </p:cNvSpPr>
            <p:nvPr/>
          </p:nvSpPr>
          <p:spPr bwMode="gray">
            <a:xfrm>
              <a:off x="816" y="1587"/>
              <a:ext cx="1447" cy="393"/>
            </a:xfrm>
            <a:prstGeom prst="rect">
              <a:avLst/>
            </a:prstGeom>
            <a:solidFill>
              <a:schemeClr val="accent6"/>
            </a:solidFill>
            <a:ln w="9525" algn="ctr">
              <a:noFill/>
              <a:miter lim="800000"/>
              <a:headEnd/>
              <a:tailEnd/>
            </a:ln>
            <a:effectLst/>
          </p:spPr>
          <p:txBody>
            <a:bodyPr wrap="none" lIns="115192" tIns="57596" rIns="115192" bIns="57596" anchor="ctr"/>
            <a:lstStyle/>
            <a:p>
              <a:pPr defTabSz="1152525" eaLnBrk="0" hangingPunct="0">
                <a:defRPr/>
              </a:pPr>
              <a:r>
                <a:rPr lang="en-US" altLang="zh-CN" sz="2200" i="1" dirty="0" smtClean="0">
                  <a:solidFill>
                    <a:schemeClr val="bg1"/>
                  </a:solidFill>
                  <a:effectLst>
                    <a:outerShdw blurRad="38100" dist="38100" dir="2700000" algn="tl">
                      <a:srgbClr val="000000"/>
                    </a:outerShdw>
                  </a:effectLst>
                  <a:ea typeface="华文细黑" pitchFamily="2" charset="-122"/>
                </a:rPr>
                <a:t>    </a:t>
              </a:r>
              <a:r>
                <a:rPr lang="en-US" altLang="zh-CN" sz="2800" i="1" dirty="0" smtClean="0">
                  <a:solidFill>
                    <a:schemeClr val="bg1"/>
                  </a:solidFill>
                  <a:effectLst>
                    <a:outerShdw blurRad="38100" dist="38100" dir="2700000" algn="tl">
                      <a:srgbClr val="000000"/>
                    </a:outerShdw>
                  </a:effectLst>
                  <a:ea typeface="华文细黑" pitchFamily="2" charset="-122"/>
                </a:rPr>
                <a:t>Purpose</a:t>
              </a:r>
              <a:endParaRPr lang="en-US" altLang="zh-CN" sz="2800" i="1" dirty="0">
                <a:solidFill>
                  <a:schemeClr val="bg1"/>
                </a:solidFill>
                <a:effectLst>
                  <a:outerShdw blurRad="38100" dist="38100" dir="2700000" algn="tl">
                    <a:srgbClr val="000000"/>
                  </a:outerShdw>
                </a:effectLst>
                <a:ea typeface="华文细黑" pitchFamily="2" charset="-122"/>
              </a:endParaRPr>
            </a:p>
          </p:txBody>
        </p:sp>
      </p:grpSp>
      <p:sp>
        <p:nvSpPr>
          <p:cNvPr id="10" name="矩形 5"/>
          <p:cNvSpPr>
            <a:spLocks noChangeArrowheads="1"/>
          </p:cNvSpPr>
          <p:nvPr/>
        </p:nvSpPr>
        <p:spPr bwMode="auto">
          <a:xfrm>
            <a:off x="2632686" y="2050318"/>
            <a:ext cx="6368439" cy="1361911"/>
          </a:xfrm>
          <a:prstGeom prst="rect">
            <a:avLst/>
          </a:prstGeom>
          <a:noFill/>
          <a:ln w="9525">
            <a:noFill/>
            <a:miter lim="800000"/>
            <a:headEnd/>
            <a:tailEnd/>
          </a:ln>
        </p:spPr>
        <p:txBody>
          <a:bodyPr wrap="square">
            <a:spAutoFit/>
          </a:bodyPr>
          <a:lstStyle/>
          <a:p>
            <a:pPr algn="l">
              <a:lnSpc>
                <a:spcPts val="3300"/>
              </a:lnSpc>
            </a:pPr>
            <a:r>
              <a:rPr lang="en-US" altLang="zh-CN" b="0" dirty="0">
                <a:solidFill>
                  <a:schemeClr val="tx1"/>
                </a:solidFill>
              </a:rPr>
              <a:t>    </a:t>
            </a:r>
            <a:r>
              <a:rPr lang="en-US" altLang="zh-CN" b="0" dirty="0" smtClean="0">
                <a:solidFill>
                  <a:schemeClr val="tx1"/>
                </a:solidFill>
              </a:rPr>
              <a:t>   </a:t>
            </a:r>
            <a:r>
              <a:rPr lang="en-US" altLang="zh-CN" sz="2800" b="0" dirty="0" smtClean="0">
                <a:solidFill>
                  <a:schemeClr val="tx1"/>
                </a:solidFill>
              </a:rPr>
              <a:t>The </a:t>
            </a:r>
            <a:r>
              <a:rPr lang="en-US" altLang="zh-CN" sz="2800" b="0" dirty="0">
                <a:solidFill>
                  <a:schemeClr val="tx1"/>
                </a:solidFill>
              </a:rPr>
              <a:t>necessary condition and important guarantee of </a:t>
            </a:r>
            <a:r>
              <a:rPr lang="en-US" altLang="zh-CN" sz="2800" b="0" dirty="0" smtClean="0">
                <a:solidFill>
                  <a:schemeClr val="tx1"/>
                </a:solidFill>
              </a:rPr>
              <a:t>the </a:t>
            </a:r>
            <a:r>
              <a:rPr lang="en-US" altLang="zh-CN" sz="2800" b="0" dirty="0">
                <a:solidFill>
                  <a:schemeClr val="tx1"/>
                </a:solidFill>
              </a:rPr>
              <a:t>satellite working </a:t>
            </a:r>
            <a:r>
              <a:rPr lang="en-US" altLang="zh-CN" sz="2800" b="0" dirty="0" smtClean="0">
                <a:solidFill>
                  <a:schemeClr val="tx1"/>
                </a:solidFill>
              </a:rPr>
              <a:t>reliability</a:t>
            </a:r>
            <a:endParaRPr lang="en-US" altLang="zh-CN" sz="2800" b="0" dirty="0">
              <a:solidFill>
                <a:schemeClr val="tx1"/>
              </a:solidFill>
            </a:endParaRPr>
          </a:p>
        </p:txBody>
      </p:sp>
      <p:sp>
        <p:nvSpPr>
          <p:cNvPr id="11" name="矩形 6"/>
          <p:cNvSpPr>
            <a:spLocks noChangeArrowheads="1"/>
          </p:cNvSpPr>
          <p:nvPr/>
        </p:nvSpPr>
        <p:spPr bwMode="auto">
          <a:xfrm>
            <a:off x="298864" y="3948128"/>
            <a:ext cx="8745386" cy="1266822"/>
          </a:xfrm>
          <a:prstGeom prst="rect">
            <a:avLst/>
          </a:prstGeom>
          <a:noFill/>
          <a:ln w="9525">
            <a:noFill/>
            <a:miter lim="800000"/>
            <a:headEnd/>
            <a:tailEnd/>
          </a:ln>
        </p:spPr>
        <p:txBody>
          <a:bodyPr wrap="square">
            <a:spAutoFit/>
          </a:bodyPr>
          <a:lstStyle/>
          <a:p>
            <a:pPr algn="l">
              <a:lnSpc>
                <a:spcPts val="3100"/>
              </a:lnSpc>
            </a:pPr>
            <a:r>
              <a:rPr lang="en-US" altLang="zh-CN" b="0" dirty="0">
                <a:solidFill>
                  <a:schemeClr val="tx1"/>
                </a:solidFill>
              </a:rPr>
              <a:t>     </a:t>
            </a:r>
            <a:r>
              <a:rPr lang="en-US" altLang="zh-CN" b="0" dirty="0" smtClean="0">
                <a:solidFill>
                  <a:schemeClr val="tx1"/>
                </a:solidFill>
              </a:rPr>
              <a:t>   </a:t>
            </a:r>
            <a:r>
              <a:rPr lang="en-US" altLang="zh-CN" sz="2400" b="0" dirty="0" smtClean="0">
                <a:solidFill>
                  <a:schemeClr val="tx1"/>
                </a:solidFill>
              </a:rPr>
              <a:t>On </a:t>
            </a:r>
            <a:r>
              <a:rPr lang="en-US" altLang="zh-CN" sz="2400" b="0" dirty="0">
                <a:solidFill>
                  <a:schemeClr val="tx1"/>
                </a:solidFill>
              </a:rPr>
              <a:t>the premise of the designs of solar-arrays and batteries, </a:t>
            </a:r>
            <a:r>
              <a:rPr lang="en-US" altLang="zh-CN" sz="2400" b="0" i="1" dirty="0">
                <a:solidFill>
                  <a:srgbClr val="B010A8"/>
                </a:solidFill>
              </a:rPr>
              <a:t>a good PSS would be judged by energy balance analysis whether it is in the state of energy balance or not in one or some orbits.</a:t>
            </a:r>
            <a:endParaRPr lang="zh-CN" altLang="en-US" sz="2400" i="1" dirty="0">
              <a:solidFill>
                <a:srgbClr val="B010A8"/>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25</a:t>
            </a:fld>
            <a:r>
              <a:rPr lang="zh-CN" altLang="en-US" smtClean="0"/>
              <a:t> </a:t>
            </a:r>
            <a:endParaRPr lang="zh-CN" altLang="en-US" dirty="0">
              <a:latin typeface="微软雅黑" pitchFamily="34" charset="-122"/>
              <a:ea typeface="微软雅黑" pitchFamily="34" charset="-122"/>
            </a:endParaRPr>
          </a:p>
        </p:txBody>
      </p:sp>
      <p:sp>
        <p:nvSpPr>
          <p:cNvPr id="6" name="矩形 5"/>
          <p:cNvSpPr>
            <a:spLocks noChangeArrowheads="1"/>
          </p:cNvSpPr>
          <p:nvPr/>
        </p:nvSpPr>
        <p:spPr bwMode="auto">
          <a:xfrm>
            <a:off x="141401" y="1860920"/>
            <a:ext cx="9002599" cy="1862048"/>
          </a:xfrm>
          <a:prstGeom prst="rect">
            <a:avLst/>
          </a:prstGeom>
          <a:noFill/>
          <a:ln w="9525">
            <a:noFill/>
            <a:miter lim="800000"/>
            <a:headEnd/>
            <a:tailEnd/>
          </a:ln>
        </p:spPr>
        <p:txBody>
          <a:bodyPr wrap="square">
            <a:spAutoFit/>
          </a:bodyPr>
          <a:lstStyle/>
          <a:p>
            <a:pPr marL="1433513" indent="-1433513" algn="l">
              <a:lnSpc>
                <a:spcPts val="3300"/>
              </a:lnSpc>
            </a:pPr>
            <a:r>
              <a:rPr lang="en-US" altLang="zh-CN" sz="2600" b="1" i="1" dirty="0" smtClean="0">
                <a:solidFill>
                  <a:srgbClr val="00B0F0"/>
                </a:solidFill>
              </a:rPr>
              <a:t>In umbra</a:t>
            </a:r>
            <a:r>
              <a:rPr lang="en-US" altLang="zh-CN" sz="2600" b="0" dirty="0" smtClean="0">
                <a:solidFill>
                  <a:schemeClr val="tx1"/>
                </a:solidFill>
              </a:rPr>
              <a:t>:   </a:t>
            </a:r>
            <a:r>
              <a:rPr lang="en-US" altLang="zh-CN" sz="2400" b="0" dirty="0" smtClean="0">
                <a:solidFill>
                  <a:schemeClr val="tx1"/>
                </a:solidFill>
              </a:rPr>
              <a:t>The loads get the electrical power by battery discharging.</a:t>
            </a:r>
          </a:p>
          <a:p>
            <a:pPr marL="1347788" indent="-1347788" algn="l">
              <a:lnSpc>
                <a:spcPts val="3300"/>
              </a:lnSpc>
              <a:spcBef>
                <a:spcPts val="600"/>
              </a:spcBef>
            </a:pPr>
            <a:r>
              <a:rPr lang="en-US" altLang="zh-CN" sz="2600" b="1" i="1" dirty="0" smtClean="0">
                <a:solidFill>
                  <a:schemeClr val="accent4"/>
                </a:solidFill>
              </a:rPr>
              <a:t>In light   </a:t>
            </a:r>
            <a:r>
              <a:rPr lang="en-US" altLang="zh-CN" sz="2600" b="0" dirty="0" smtClean="0">
                <a:solidFill>
                  <a:schemeClr val="tx1"/>
                </a:solidFill>
              </a:rPr>
              <a:t>:    </a:t>
            </a:r>
            <a:r>
              <a:rPr lang="en-US" altLang="zh-CN" sz="2400" dirty="0" smtClean="0"/>
              <a:t>The electric power generated by solar arrays will be used for power supply and battery charging which has been consummated during the umbra.</a:t>
            </a:r>
          </a:p>
        </p:txBody>
      </p:sp>
      <p:sp>
        <p:nvSpPr>
          <p:cNvPr id="7" name="矩形 6"/>
          <p:cNvSpPr/>
          <p:nvPr/>
        </p:nvSpPr>
        <p:spPr>
          <a:xfrm>
            <a:off x="2518809" y="3884122"/>
            <a:ext cx="6324598" cy="1759456"/>
          </a:xfrm>
          <a:prstGeom prst="rect">
            <a:avLst/>
          </a:prstGeom>
        </p:spPr>
        <p:txBody>
          <a:bodyPr wrap="square">
            <a:spAutoFit/>
          </a:bodyPr>
          <a:lstStyle/>
          <a:p>
            <a:pPr marL="266700" indent="-266700" algn="just">
              <a:lnSpc>
                <a:spcPts val="2600"/>
              </a:lnSpc>
              <a:buFont typeface="Arial" pitchFamily="34" charset="0"/>
              <a:buChar char="•"/>
              <a:defRPr/>
            </a:pPr>
            <a:r>
              <a:rPr lang="en-US" altLang="zh-CN" sz="2200" b="0" dirty="0" smtClean="0"/>
              <a:t>Lead to the battery over-discharge.</a:t>
            </a:r>
          </a:p>
          <a:p>
            <a:pPr marL="263525" indent="-263525">
              <a:lnSpc>
                <a:spcPts val="2600"/>
              </a:lnSpc>
              <a:buFont typeface="Arial" pitchFamily="34" charset="0"/>
              <a:buChar char="•"/>
              <a:defRPr/>
            </a:pPr>
            <a:r>
              <a:rPr lang="en-US" altLang="zh-CN" sz="2200" b="0" dirty="0" smtClean="0"/>
              <a:t>Result </a:t>
            </a:r>
            <a:r>
              <a:rPr lang="en-US" altLang="zh-CN" sz="2200" b="0" dirty="0"/>
              <a:t>in performance degradation and conductivity </a:t>
            </a:r>
            <a:r>
              <a:rPr lang="en-US" altLang="zh-CN" sz="2200" b="0" dirty="0" smtClean="0"/>
              <a:t>decreasing</a:t>
            </a:r>
          </a:p>
          <a:p>
            <a:pPr marL="263525" indent="-263525">
              <a:lnSpc>
                <a:spcPts val="2600"/>
              </a:lnSpc>
              <a:buFont typeface="Arial" pitchFamily="34" charset="0"/>
              <a:buChar char="•"/>
              <a:defRPr/>
            </a:pPr>
            <a:r>
              <a:rPr lang="en-US" altLang="zh-CN" sz="2200" dirty="0" smtClean="0"/>
              <a:t>Cause the abnormal situation of the equipments because of the energy shortage.   </a:t>
            </a:r>
            <a:endParaRPr lang="en-US" altLang="zh-CN" sz="2200" b="0" dirty="0"/>
          </a:p>
        </p:txBody>
      </p:sp>
      <p:sp>
        <p:nvSpPr>
          <p:cNvPr id="8" name="矩形 7"/>
          <p:cNvSpPr/>
          <p:nvPr/>
        </p:nvSpPr>
        <p:spPr>
          <a:xfrm>
            <a:off x="2071670" y="500042"/>
            <a:ext cx="5251759" cy="707886"/>
          </a:xfrm>
          <a:prstGeom prst="rect">
            <a:avLst/>
          </a:prstGeom>
        </p:spPr>
        <p:txBody>
          <a:bodyPr wrap="none">
            <a:spAutoFit/>
          </a:bodyPr>
          <a:lstStyle/>
          <a:p>
            <a:r>
              <a:rPr lang="en-US" altLang="zh-CN" sz="4000" dirty="0" smtClean="0">
                <a:solidFill>
                  <a:srgbClr val="FFFFCC"/>
                </a:solidFill>
                <a:latin typeface="Impact" pitchFamily="34" charset="0"/>
                <a:ea typeface="方正大黑简体" pitchFamily="2" charset="-122"/>
              </a:rPr>
              <a:t>Power balance analysis </a:t>
            </a:r>
            <a:endParaRPr lang="zh-CN" altLang="en-US" sz="4000" dirty="0"/>
          </a:p>
        </p:txBody>
      </p:sp>
      <p:grpSp>
        <p:nvGrpSpPr>
          <p:cNvPr id="9" name="Group 13"/>
          <p:cNvGrpSpPr>
            <a:grpSpLocks/>
          </p:cNvGrpSpPr>
          <p:nvPr/>
        </p:nvGrpSpPr>
        <p:grpSpPr bwMode="auto">
          <a:xfrm>
            <a:off x="181927" y="4258884"/>
            <a:ext cx="2027873" cy="848421"/>
            <a:chOff x="804" y="1570"/>
            <a:chExt cx="1194" cy="521"/>
          </a:xfrm>
        </p:grpSpPr>
        <p:sp>
          <p:nvSpPr>
            <p:cNvPr id="10" name="Freeform 14"/>
            <p:cNvSpPr>
              <a:spLocks/>
            </p:cNvSpPr>
            <p:nvPr/>
          </p:nvSpPr>
          <p:spPr bwMode="gray">
            <a:xfrm>
              <a:off x="893" y="1901"/>
              <a:ext cx="1025" cy="190"/>
            </a:xfrm>
            <a:custGeom>
              <a:avLst/>
              <a:gdLst>
                <a:gd name="T0" fmla="*/ 4464 w 1120"/>
                <a:gd name="T1" fmla="*/ 11 h 252"/>
                <a:gd name="T2" fmla="*/ 4445 w 1120"/>
                <a:gd name="T3" fmla="*/ 11 h 252"/>
                <a:gd name="T4" fmla="*/ 4380 w 1120"/>
                <a:gd name="T5" fmla="*/ 11 h 252"/>
                <a:gd name="T6" fmla="*/ 4282 w 1120"/>
                <a:gd name="T7" fmla="*/ 11 h 252"/>
                <a:gd name="T8" fmla="*/ 4139 w 1120"/>
                <a:gd name="T9" fmla="*/ 11 h 252"/>
                <a:gd name="T10" fmla="*/ 3955 w 1120"/>
                <a:gd name="T11" fmla="*/ 10 h 252"/>
                <a:gd name="T12" fmla="*/ 3742 w 1120"/>
                <a:gd name="T13" fmla="*/ 10 h 252"/>
                <a:gd name="T14" fmla="*/ 3491 w 1120"/>
                <a:gd name="T15" fmla="*/ 10 h 252"/>
                <a:gd name="T16" fmla="*/ 3209 w 1120"/>
                <a:gd name="T17" fmla="*/ 8 h 252"/>
                <a:gd name="T18" fmla="*/ 2911 w 1120"/>
                <a:gd name="T19" fmla="*/ 8 h 252"/>
                <a:gd name="T20" fmla="*/ 2575 w 1120"/>
                <a:gd name="T21" fmla="*/ 8 h 252"/>
                <a:gd name="T22" fmla="*/ 2211 w 1120"/>
                <a:gd name="T23" fmla="*/ 8 h 252"/>
                <a:gd name="T24" fmla="*/ 1855 w 1120"/>
                <a:gd name="T25" fmla="*/ 8 h 252"/>
                <a:gd name="T26" fmla="*/ 1527 w 1120"/>
                <a:gd name="T27" fmla="*/ 8 h 252"/>
                <a:gd name="T28" fmla="*/ 1227 w 1120"/>
                <a:gd name="T29" fmla="*/ 8 h 252"/>
                <a:gd name="T30" fmla="*/ 949 w 1120"/>
                <a:gd name="T31" fmla="*/ 10 h 252"/>
                <a:gd name="T32" fmla="*/ 712 w 1120"/>
                <a:gd name="T33" fmla="*/ 10 h 252"/>
                <a:gd name="T34" fmla="*/ 503 w 1120"/>
                <a:gd name="T35" fmla="*/ 10 h 252"/>
                <a:gd name="T36" fmla="*/ 324 w 1120"/>
                <a:gd name="T37" fmla="*/ 11 h 252"/>
                <a:gd name="T38" fmla="*/ 184 w 1120"/>
                <a:gd name="T39" fmla="*/ 11 h 252"/>
                <a:gd name="T40" fmla="*/ 78 w 1120"/>
                <a:gd name="T41" fmla="*/ 11 h 252"/>
                <a:gd name="T42" fmla="*/ 23 w 1120"/>
                <a:gd name="T43" fmla="*/ 11 h 252"/>
                <a:gd name="T44" fmla="*/ 0 w 1120"/>
                <a:gd name="T45" fmla="*/ 11 h 252"/>
                <a:gd name="T46" fmla="*/ 0 w 1120"/>
                <a:gd name="T47" fmla="*/ 3 h 252"/>
                <a:gd name="T48" fmla="*/ 2229 w 1120"/>
                <a:gd name="T49" fmla="*/ 0 h 252"/>
                <a:gd name="T50" fmla="*/ 4464 w 1120"/>
                <a:gd name="T51" fmla="*/ 3 h 252"/>
                <a:gd name="T52" fmla="*/ 4464 w 1120"/>
                <a:gd name="T53" fmla="*/ 11 h 252"/>
                <a:gd name="T54" fmla="*/ 4464 w 1120"/>
                <a:gd name="T55" fmla="*/ 11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p>
          </p:txBody>
        </p:sp>
        <p:sp>
          <p:nvSpPr>
            <p:cNvPr id="11" name="Rectangle 15"/>
            <p:cNvSpPr>
              <a:spLocks noChangeArrowheads="1"/>
            </p:cNvSpPr>
            <p:nvPr/>
          </p:nvSpPr>
          <p:spPr bwMode="gray">
            <a:xfrm>
              <a:off x="804" y="1570"/>
              <a:ext cx="1194" cy="422"/>
            </a:xfrm>
            <a:prstGeom prst="rect">
              <a:avLst/>
            </a:prstGeom>
            <a:solidFill>
              <a:srgbClr val="0070C0"/>
            </a:solidFill>
            <a:ln w="9525" algn="ctr">
              <a:noFill/>
              <a:miter lim="800000"/>
              <a:headEnd/>
              <a:tailEnd/>
            </a:ln>
            <a:effectLst/>
          </p:spPr>
          <p:txBody>
            <a:bodyPr wrap="none" lIns="115192" tIns="57596" rIns="115192" bIns="57596" anchor="ctr"/>
            <a:lstStyle/>
            <a:p>
              <a:pPr defTabSz="1152525" eaLnBrk="0" hangingPunct="0">
                <a:lnSpc>
                  <a:spcPts val="2000"/>
                </a:lnSpc>
                <a:defRPr/>
              </a:pPr>
              <a:r>
                <a:rPr lang="en-US" altLang="zh-CN" sz="2200" dirty="0" smtClean="0">
                  <a:solidFill>
                    <a:schemeClr val="bg1"/>
                  </a:solidFill>
                  <a:effectLst>
                    <a:outerShdw blurRad="38100" dist="38100" dir="2700000" algn="tl">
                      <a:srgbClr val="000000"/>
                    </a:outerShdw>
                  </a:effectLst>
                  <a:ea typeface="华文细黑" pitchFamily="2" charset="-122"/>
                </a:rPr>
                <a:t>   Non-balance</a:t>
              </a:r>
            </a:p>
            <a:p>
              <a:pPr defTabSz="1152525" eaLnBrk="0" hangingPunct="0">
                <a:lnSpc>
                  <a:spcPts val="2000"/>
                </a:lnSpc>
                <a:defRPr/>
              </a:pPr>
              <a:r>
                <a:rPr lang="en-US" altLang="zh-CN" sz="2200" dirty="0" smtClean="0">
                  <a:solidFill>
                    <a:schemeClr val="bg1"/>
                  </a:solidFill>
                  <a:effectLst>
                    <a:outerShdw blurRad="38100" dist="38100" dir="2700000" algn="tl">
                      <a:srgbClr val="000000"/>
                    </a:outerShdw>
                  </a:effectLst>
                  <a:ea typeface="华文细黑" pitchFamily="2" charset="-122"/>
                </a:rPr>
                <a:t>  Disadvantage</a:t>
              </a:r>
              <a:endParaRPr lang="en-US" altLang="zh-CN" sz="2200" dirty="0">
                <a:solidFill>
                  <a:schemeClr val="bg1"/>
                </a:solidFill>
                <a:effectLst>
                  <a:outerShdw blurRad="38100" dist="38100" dir="2700000" algn="tl">
                    <a:srgbClr val="000000"/>
                  </a:outerShdw>
                </a:effectLst>
                <a:ea typeface="华文细黑" pitchFamily="2" charset="-122"/>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26</a:t>
            </a:fld>
            <a:r>
              <a:rPr lang="zh-CN" altLang="en-US" smtClean="0"/>
              <a:t> </a:t>
            </a:r>
            <a:endParaRPr lang="zh-CN" altLang="en-US" dirty="0">
              <a:latin typeface="微软雅黑" pitchFamily="34" charset="-122"/>
              <a:ea typeface="微软雅黑" pitchFamily="34" charset="-122"/>
            </a:endParaRPr>
          </a:p>
        </p:txBody>
      </p:sp>
      <p:sp>
        <p:nvSpPr>
          <p:cNvPr id="6" name="矩形 27"/>
          <p:cNvSpPr>
            <a:spLocks noChangeArrowheads="1"/>
          </p:cNvSpPr>
          <p:nvPr/>
        </p:nvSpPr>
        <p:spPr bwMode="auto">
          <a:xfrm>
            <a:off x="2217493" y="1986173"/>
            <a:ext cx="6624849" cy="1682512"/>
          </a:xfrm>
          <a:prstGeom prst="rect">
            <a:avLst/>
          </a:prstGeom>
          <a:noFill/>
          <a:ln w="9525">
            <a:noFill/>
            <a:miter lim="800000"/>
            <a:headEnd/>
            <a:tailEnd/>
          </a:ln>
        </p:spPr>
        <p:txBody>
          <a:bodyPr wrap="square">
            <a:spAutoFit/>
          </a:bodyPr>
          <a:lstStyle/>
          <a:p>
            <a:pPr algn="l">
              <a:lnSpc>
                <a:spcPts val="3100"/>
              </a:lnSpc>
              <a:buFont typeface="Arial" pitchFamily="34" charset="0"/>
              <a:buChar char="•"/>
            </a:pPr>
            <a:r>
              <a:rPr lang="en-US" altLang="zh-CN" b="0" dirty="0">
                <a:solidFill>
                  <a:schemeClr val="tx1"/>
                </a:solidFill>
              </a:rPr>
              <a:t>   </a:t>
            </a:r>
            <a:r>
              <a:rPr lang="en-US" altLang="zh-CN" b="0" dirty="0" smtClean="0">
                <a:solidFill>
                  <a:schemeClr val="tx1"/>
                </a:solidFill>
              </a:rPr>
              <a:t>     </a:t>
            </a:r>
            <a:r>
              <a:rPr lang="en-US" altLang="zh-CN" sz="2200" b="0" dirty="0" smtClean="0">
                <a:solidFill>
                  <a:schemeClr val="tx1"/>
                </a:solidFill>
              </a:rPr>
              <a:t>At </a:t>
            </a:r>
            <a:r>
              <a:rPr lang="en-US" altLang="zh-CN" sz="2200" b="0" dirty="0">
                <a:solidFill>
                  <a:schemeClr val="tx1"/>
                </a:solidFill>
              </a:rPr>
              <a:t>the end of life, during the </a:t>
            </a:r>
            <a:r>
              <a:rPr lang="en-US" altLang="zh-CN" sz="2200" b="0" dirty="0">
                <a:solidFill>
                  <a:srgbClr val="00CCFF"/>
                </a:solidFill>
              </a:rPr>
              <a:t>longest time of umbra</a:t>
            </a:r>
            <a:r>
              <a:rPr lang="en-US" altLang="zh-CN" sz="2200" b="0" dirty="0">
                <a:solidFill>
                  <a:schemeClr val="tx1"/>
                </a:solidFill>
              </a:rPr>
              <a:t>, when one battery cell is invalid, the DOD </a:t>
            </a:r>
            <a:r>
              <a:rPr lang="en-US" altLang="zh-CN" sz="2200" b="0" dirty="0" smtClean="0">
                <a:solidFill>
                  <a:schemeClr val="tx1"/>
                </a:solidFill>
              </a:rPr>
              <a:t>(Depth of Discharging)of </a:t>
            </a:r>
            <a:r>
              <a:rPr lang="en-US" altLang="zh-CN" sz="2200" b="0" dirty="0">
                <a:solidFill>
                  <a:schemeClr val="tx1"/>
                </a:solidFill>
              </a:rPr>
              <a:t>the batteries should </a:t>
            </a:r>
            <a:r>
              <a:rPr lang="en-US" altLang="zh-CN" sz="2200" b="0" dirty="0">
                <a:solidFill>
                  <a:srgbClr val="00CCFF"/>
                </a:solidFill>
              </a:rPr>
              <a:t>not be more than </a:t>
            </a:r>
            <a:r>
              <a:rPr lang="en-US" altLang="zh-CN" sz="2200" b="0" dirty="0" smtClean="0">
                <a:solidFill>
                  <a:srgbClr val="00CCFF"/>
                </a:solidFill>
              </a:rPr>
              <a:t>30%. </a:t>
            </a:r>
            <a:endParaRPr lang="en-US" altLang="zh-CN" sz="2200" b="0" dirty="0">
              <a:solidFill>
                <a:srgbClr val="00CCFF"/>
              </a:solidFill>
            </a:endParaRPr>
          </a:p>
        </p:txBody>
      </p:sp>
      <p:grpSp>
        <p:nvGrpSpPr>
          <p:cNvPr id="7" name="组合 6"/>
          <p:cNvGrpSpPr/>
          <p:nvPr/>
        </p:nvGrpSpPr>
        <p:grpSpPr>
          <a:xfrm>
            <a:off x="380480" y="3189918"/>
            <a:ext cx="1398957" cy="1291473"/>
            <a:chOff x="509582" y="4451350"/>
            <a:chExt cx="1562088" cy="1487488"/>
          </a:xfrm>
        </p:grpSpPr>
        <p:sp>
          <p:nvSpPr>
            <p:cNvPr id="8" name="Oval 21"/>
            <p:cNvSpPr>
              <a:spLocks noChangeArrowheads="1"/>
            </p:cNvSpPr>
            <p:nvPr/>
          </p:nvSpPr>
          <p:spPr bwMode="gray">
            <a:xfrm>
              <a:off x="553918" y="4451350"/>
              <a:ext cx="1517752" cy="1487488"/>
            </a:xfrm>
            <a:prstGeom prst="ellipse">
              <a:avLst/>
            </a:prstGeom>
            <a:gradFill rotWithShape="1">
              <a:gsLst>
                <a:gs pos="0">
                  <a:schemeClr val="accent2">
                    <a:lumMod val="60000"/>
                    <a:lumOff val="40000"/>
                  </a:schemeClr>
                </a:gs>
                <a:gs pos="50000">
                  <a:schemeClr val="tx2">
                    <a:alpha val="45000"/>
                  </a:schemeClr>
                </a:gs>
                <a:gs pos="100000">
                  <a:schemeClr val="tx2">
                    <a:gamma/>
                    <a:shade val="26275"/>
                    <a:invGamma/>
                    <a:alpha val="89999"/>
                  </a:schemeClr>
                </a:gs>
              </a:gsLst>
              <a:lin ang="5400000" scaled="1"/>
            </a:gradFill>
            <a:ln w="9525" algn="ctr">
              <a:noFill/>
              <a:round/>
              <a:headEnd/>
              <a:tailEnd/>
            </a:ln>
            <a:effectLst/>
          </p:spPr>
          <p:txBody>
            <a:bodyPr wrap="none" anchor="ctr"/>
            <a:lstStyle/>
            <a:p>
              <a:pPr>
                <a:defRPr/>
              </a:pPr>
              <a:endParaRPr lang="zh-CN" altLang="en-US"/>
            </a:p>
          </p:txBody>
        </p:sp>
        <p:sp>
          <p:nvSpPr>
            <p:cNvPr id="9" name="Freeform 22"/>
            <p:cNvSpPr>
              <a:spLocks/>
            </p:cNvSpPr>
            <p:nvPr/>
          </p:nvSpPr>
          <p:spPr bwMode="gray">
            <a:xfrm>
              <a:off x="727767" y="4487868"/>
              <a:ext cx="1188887" cy="515937"/>
            </a:xfrm>
            <a:custGeom>
              <a:avLst/>
              <a:gdLst>
                <a:gd name="T0" fmla="*/ 2147483647 w 1321"/>
                <a:gd name="T1" fmla="*/ 2147483647 h 712"/>
                <a:gd name="T2" fmla="*/ 2147483647 w 1321"/>
                <a:gd name="T3" fmla="*/ 2147483647 h 712"/>
                <a:gd name="T4" fmla="*/ 2147483647 w 1321"/>
                <a:gd name="T5" fmla="*/ 2147483647 h 712"/>
                <a:gd name="T6" fmla="*/ 2147483647 w 1321"/>
                <a:gd name="T7" fmla="*/ 2147483647 h 712"/>
                <a:gd name="T8" fmla="*/ 2147483647 w 1321"/>
                <a:gd name="T9" fmla="*/ 2147483647 h 712"/>
                <a:gd name="T10" fmla="*/ 2147483647 w 1321"/>
                <a:gd name="T11" fmla="*/ 2147483647 h 712"/>
                <a:gd name="T12" fmla="*/ 2147483647 w 1321"/>
                <a:gd name="T13" fmla="*/ 2147483647 h 712"/>
                <a:gd name="T14" fmla="*/ 2147483647 w 1321"/>
                <a:gd name="T15" fmla="*/ 2147483647 h 712"/>
                <a:gd name="T16" fmla="*/ 2147483647 w 1321"/>
                <a:gd name="T17" fmla="*/ 2147483647 h 712"/>
                <a:gd name="T18" fmla="*/ 2147483647 w 1321"/>
                <a:gd name="T19" fmla="*/ 2147483647 h 712"/>
                <a:gd name="T20" fmla="*/ 2147483647 w 1321"/>
                <a:gd name="T21" fmla="*/ 2147483647 h 712"/>
                <a:gd name="T22" fmla="*/ 2147483647 w 1321"/>
                <a:gd name="T23" fmla="*/ 2147483647 h 712"/>
                <a:gd name="T24" fmla="*/ 2147483647 w 1321"/>
                <a:gd name="T25" fmla="*/ 2147483647 h 712"/>
                <a:gd name="T26" fmla="*/ 2147483647 w 1321"/>
                <a:gd name="T27" fmla="*/ 2147483647 h 712"/>
                <a:gd name="T28" fmla="*/ 2147483647 w 1321"/>
                <a:gd name="T29" fmla="*/ 2147483647 h 712"/>
                <a:gd name="T30" fmla="*/ 2147483647 w 1321"/>
                <a:gd name="T31" fmla="*/ 2147483647 h 712"/>
                <a:gd name="T32" fmla="*/ 2147483647 w 1321"/>
                <a:gd name="T33" fmla="*/ 2147483647 h 712"/>
                <a:gd name="T34" fmla="*/ 2147483647 w 1321"/>
                <a:gd name="T35" fmla="*/ 2147483647 h 712"/>
                <a:gd name="T36" fmla="*/ 2147483647 w 1321"/>
                <a:gd name="T37" fmla="*/ 2147483647 h 712"/>
                <a:gd name="T38" fmla="*/ 2147483647 w 1321"/>
                <a:gd name="T39" fmla="*/ 2147483647 h 712"/>
                <a:gd name="T40" fmla="*/ 2147483647 w 1321"/>
                <a:gd name="T41" fmla="*/ 2147483647 h 712"/>
                <a:gd name="T42" fmla="*/ 2147483647 w 1321"/>
                <a:gd name="T43" fmla="*/ 2147483647 h 712"/>
                <a:gd name="T44" fmla="*/ 2147483647 w 1321"/>
                <a:gd name="T45" fmla="*/ 2147483647 h 712"/>
                <a:gd name="T46" fmla="*/ 2147483647 w 1321"/>
                <a:gd name="T47" fmla="*/ 2147483647 h 712"/>
                <a:gd name="T48" fmla="*/ 2147483647 w 1321"/>
                <a:gd name="T49" fmla="*/ 2147483647 h 712"/>
                <a:gd name="T50" fmla="*/ 2147483647 w 1321"/>
                <a:gd name="T51" fmla="*/ 2147483647 h 712"/>
                <a:gd name="T52" fmla="*/ 2147483647 w 1321"/>
                <a:gd name="T53" fmla="*/ 2147483647 h 712"/>
                <a:gd name="T54" fmla="*/ 2147483647 w 1321"/>
                <a:gd name="T55" fmla="*/ 2147483647 h 712"/>
                <a:gd name="T56" fmla="*/ 0 w 1321"/>
                <a:gd name="T57" fmla="*/ 2147483647 h 712"/>
                <a:gd name="T58" fmla="*/ 0 w 1321"/>
                <a:gd name="T59" fmla="*/ 2147483647 h 712"/>
                <a:gd name="T60" fmla="*/ 2147483647 w 1321"/>
                <a:gd name="T61" fmla="*/ 2147483647 h 712"/>
                <a:gd name="T62" fmla="*/ 2147483647 w 1321"/>
                <a:gd name="T63" fmla="*/ 2147483647 h 712"/>
                <a:gd name="T64" fmla="*/ 2147483647 w 1321"/>
                <a:gd name="T65" fmla="*/ 2147483647 h 712"/>
                <a:gd name="T66" fmla="*/ 2147483647 w 1321"/>
                <a:gd name="T67" fmla="*/ 2147483647 h 712"/>
                <a:gd name="T68" fmla="*/ 2147483647 w 1321"/>
                <a:gd name="T69" fmla="*/ 2147483647 h 712"/>
                <a:gd name="T70" fmla="*/ 2147483647 w 1321"/>
                <a:gd name="T71" fmla="*/ 2147483647 h 712"/>
                <a:gd name="T72" fmla="*/ 2147483647 w 1321"/>
                <a:gd name="T73" fmla="*/ 2147483647 h 712"/>
                <a:gd name="T74" fmla="*/ 2147483647 w 1321"/>
                <a:gd name="T75" fmla="*/ 2147483647 h 712"/>
                <a:gd name="T76" fmla="*/ 2147483647 w 1321"/>
                <a:gd name="T77" fmla="*/ 2147483647 h 712"/>
                <a:gd name="T78" fmla="*/ 2147483647 w 1321"/>
                <a:gd name="T79" fmla="*/ 2147483647 h 712"/>
                <a:gd name="T80" fmla="*/ 2147483647 w 1321"/>
                <a:gd name="T81" fmla="*/ 2147483647 h 712"/>
                <a:gd name="T82" fmla="*/ 2147483647 w 1321"/>
                <a:gd name="T83" fmla="*/ 0 h 712"/>
                <a:gd name="T84" fmla="*/ 2147483647 w 1321"/>
                <a:gd name="T85" fmla="*/ 0 h 712"/>
                <a:gd name="T86" fmla="*/ 2147483647 w 1321"/>
                <a:gd name="T87" fmla="*/ 2147483647 h 712"/>
                <a:gd name="T88" fmla="*/ 2147483647 w 1321"/>
                <a:gd name="T89" fmla="*/ 2147483647 h 712"/>
                <a:gd name="T90" fmla="*/ 2147483647 w 1321"/>
                <a:gd name="T91" fmla="*/ 2147483647 h 712"/>
                <a:gd name="T92" fmla="*/ 2147483647 w 1321"/>
                <a:gd name="T93" fmla="*/ 2147483647 h 712"/>
                <a:gd name="T94" fmla="*/ 2147483647 w 1321"/>
                <a:gd name="T95" fmla="*/ 2147483647 h 712"/>
                <a:gd name="T96" fmla="*/ 2147483647 w 1321"/>
                <a:gd name="T97" fmla="*/ 2147483647 h 712"/>
                <a:gd name="T98" fmla="*/ 2147483647 w 1321"/>
                <a:gd name="T99" fmla="*/ 2147483647 h 712"/>
                <a:gd name="T100" fmla="*/ 2147483647 w 1321"/>
                <a:gd name="T101" fmla="*/ 2147483647 h 712"/>
                <a:gd name="T102" fmla="*/ 2147483647 w 1321"/>
                <a:gd name="T103" fmla="*/ 2147483647 h 712"/>
                <a:gd name="T104" fmla="*/ 2147483647 w 1321"/>
                <a:gd name="T105" fmla="*/ 2147483647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CC99FF">
                    <a:alpha val="17998"/>
                  </a:srgbClr>
                </a:gs>
              </a:gsLst>
              <a:lin ang="5400000" scaled="1"/>
            </a:gradFill>
            <a:ln w="0">
              <a:noFill/>
              <a:round/>
              <a:headEnd/>
              <a:tailEnd/>
            </a:ln>
          </p:spPr>
          <p:txBody>
            <a:bodyPr/>
            <a:lstStyle/>
            <a:p>
              <a:endParaRPr lang="zh-CN" altLang="en-US"/>
            </a:p>
          </p:txBody>
        </p:sp>
        <p:grpSp>
          <p:nvGrpSpPr>
            <p:cNvPr id="10" name="Group 23"/>
            <p:cNvGrpSpPr>
              <a:grpSpLocks/>
            </p:cNvGrpSpPr>
            <p:nvPr/>
          </p:nvGrpSpPr>
          <p:grpSpPr bwMode="auto">
            <a:xfrm>
              <a:off x="662369" y="5615006"/>
              <a:ext cx="1200157" cy="247651"/>
              <a:chOff x="1336" y="1872"/>
              <a:chExt cx="819" cy="156"/>
            </a:xfrm>
          </p:grpSpPr>
          <p:grpSp>
            <p:nvGrpSpPr>
              <p:cNvPr id="12" name="Group 24"/>
              <p:cNvGrpSpPr>
                <a:grpSpLocks/>
              </p:cNvGrpSpPr>
              <p:nvPr/>
            </p:nvGrpSpPr>
            <p:grpSpPr bwMode="auto">
              <a:xfrm rot="-1297425" flipH="1" flipV="1">
                <a:off x="1474" y="1872"/>
                <a:ext cx="681" cy="150"/>
                <a:chOff x="1565" y="2568"/>
                <a:chExt cx="1118" cy="279"/>
              </a:xfrm>
            </p:grpSpPr>
            <p:sp>
              <p:nvSpPr>
                <p:cNvPr id="18" name="AutoShape 25"/>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9" name="AutoShape 26"/>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20" name="AutoShape 27"/>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21" name="AutoShape 28"/>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13" name="Group 29"/>
              <p:cNvGrpSpPr>
                <a:grpSpLocks/>
              </p:cNvGrpSpPr>
              <p:nvPr/>
            </p:nvGrpSpPr>
            <p:grpSpPr bwMode="auto">
              <a:xfrm rot="56115" flipH="1" flipV="1">
                <a:off x="1336" y="1878"/>
                <a:ext cx="681" cy="150"/>
                <a:chOff x="1565" y="2568"/>
                <a:chExt cx="1118" cy="279"/>
              </a:xfrm>
            </p:grpSpPr>
            <p:sp>
              <p:nvSpPr>
                <p:cNvPr id="14" name="AutoShape 30"/>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5" name="AutoShape 31"/>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6" name="AutoShape 32"/>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17" name="AutoShape 33"/>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sp>
          <p:nvSpPr>
            <p:cNvPr id="11" name="矩形 26"/>
            <p:cNvSpPr>
              <a:spLocks noChangeArrowheads="1"/>
            </p:cNvSpPr>
            <p:nvPr/>
          </p:nvSpPr>
          <p:spPr bwMode="auto">
            <a:xfrm>
              <a:off x="509582" y="4904681"/>
              <a:ext cx="1462233" cy="467595"/>
            </a:xfrm>
            <a:prstGeom prst="rect">
              <a:avLst/>
            </a:prstGeom>
            <a:noFill/>
            <a:ln w="9525">
              <a:noFill/>
              <a:miter lim="800000"/>
              <a:headEnd/>
              <a:tailEnd/>
            </a:ln>
          </p:spPr>
          <p:txBody>
            <a:bodyPr wrap="none">
              <a:spAutoFit/>
            </a:bodyPr>
            <a:lstStyle/>
            <a:p>
              <a:r>
                <a:rPr lang="en-US" altLang="zh-CN" sz="2400" i="1" dirty="0">
                  <a:solidFill>
                    <a:schemeClr val="bg1"/>
                  </a:solidFill>
                </a:rPr>
                <a:t>Conditions</a:t>
              </a:r>
              <a:endParaRPr lang="zh-CN" altLang="en-US" sz="2400" dirty="0">
                <a:solidFill>
                  <a:schemeClr val="bg1"/>
                </a:solidFill>
              </a:endParaRPr>
            </a:p>
          </p:txBody>
        </p:sp>
      </p:grpSp>
      <p:sp>
        <p:nvSpPr>
          <p:cNvPr id="22" name="矩形 28"/>
          <p:cNvSpPr>
            <a:spLocks noChangeArrowheads="1"/>
          </p:cNvSpPr>
          <p:nvPr/>
        </p:nvSpPr>
        <p:spPr bwMode="auto">
          <a:xfrm>
            <a:off x="2255921" y="3818190"/>
            <a:ext cx="6572296" cy="1682512"/>
          </a:xfrm>
          <a:prstGeom prst="rect">
            <a:avLst/>
          </a:prstGeom>
          <a:noFill/>
          <a:ln w="9525">
            <a:noFill/>
            <a:miter lim="800000"/>
            <a:headEnd/>
            <a:tailEnd/>
          </a:ln>
        </p:spPr>
        <p:txBody>
          <a:bodyPr wrap="square">
            <a:spAutoFit/>
          </a:bodyPr>
          <a:lstStyle/>
          <a:p>
            <a:pPr>
              <a:lnSpc>
                <a:spcPts val="3100"/>
              </a:lnSpc>
              <a:buFont typeface="Arial" pitchFamily="34" charset="0"/>
              <a:buChar char="•"/>
            </a:pPr>
            <a:r>
              <a:rPr lang="en-US" altLang="zh-CN" sz="2400" b="0" dirty="0">
                <a:solidFill>
                  <a:schemeClr val="tx1"/>
                </a:solidFill>
              </a:rPr>
              <a:t>   </a:t>
            </a:r>
            <a:r>
              <a:rPr lang="en-US" altLang="zh-CN" sz="2400" b="0" dirty="0" smtClean="0">
                <a:solidFill>
                  <a:schemeClr val="tx1"/>
                </a:solidFill>
              </a:rPr>
              <a:t> </a:t>
            </a:r>
            <a:r>
              <a:rPr lang="en-US" altLang="zh-CN" sz="2200" dirty="0" smtClean="0"/>
              <a:t>During </a:t>
            </a:r>
            <a:r>
              <a:rPr lang="en-US" altLang="zh-CN" sz="2200" dirty="0"/>
              <a:t>the shortest time </a:t>
            </a:r>
            <a:r>
              <a:rPr lang="en-US" altLang="zh-CN" sz="2200" dirty="0" smtClean="0"/>
              <a:t>of light, </a:t>
            </a:r>
            <a:r>
              <a:rPr lang="en-US" altLang="zh-CN" sz="2200" dirty="0"/>
              <a:t>the output power of solar-arrays should not only be enough for the loads power, charging power and power loss in circuits, but also have some power margin.</a:t>
            </a:r>
          </a:p>
        </p:txBody>
      </p:sp>
      <p:sp>
        <p:nvSpPr>
          <p:cNvPr id="23" name="矩形 22"/>
          <p:cNvSpPr/>
          <p:nvPr/>
        </p:nvSpPr>
        <p:spPr>
          <a:xfrm>
            <a:off x="2071670" y="428604"/>
            <a:ext cx="5251759" cy="707886"/>
          </a:xfrm>
          <a:prstGeom prst="rect">
            <a:avLst/>
          </a:prstGeom>
        </p:spPr>
        <p:txBody>
          <a:bodyPr wrap="none">
            <a:spAutoFit/>
          </a:bodyPr>
          <a:lstStyle/>
          <a:p>
            <a:r>
              <a:rPr lang="en-US" altLang="zh-CN" sz="4000" dirty="0" smtClean="0">
                <a:solidFill>
                  <a:srgbClr val="FFFFCC"/>
                </a:solidFill>
                <a:latin typeface="Impact" pitchFamily="34" charset="0"/>
                <a:ea typeface="方正大黑简体" pitchFamily="2" charset="-122"/>
              </a:rPr>
              <a:t>Power balance analysis </a:t>
            </a:r>
            <a:endParaRPr lang="zh-CN" altLang="en-US" sz="4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27</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361166" y="2525913"/>
          <a:ext cx="8401834" cy="2747713"/>
        </p:xfrm>
        <a:graphic>
          <a:graphicData uri="http://schemas.openxmlformats.org/drawingml/2006/table">
            <a:tbl>
              <a:tblPr/>
              <a:tblGrid>
                <a:gridCol w="1686709"/>
                <a:gridCol w="819150"/>
                <a:gridCol w="819150"/>
                <a:gridCol w="1352550"/>
                <a:gridCol w="1019175"/>
                <a:gridCol w="895350"/>
                <a:gridCol w="971550"/>
                <a:gridCol w="838200"/>
              </a:tblGrid>
              <a:tr h="373829">
                <a:tc rowSpan="2">
                  <a:txBody>
                    <a:bodyPr/>
                    <a:lstStyle/>
                    <a:p>
                      <a:pPr algn="ctr">
                        <a:lnSpc>
                          <a:spcPts val="1600"/>
                        </a:lnSpc>
                        <a:spcAft>
                          <a:spcPts val="0"/>
                        </a:spcAft>
                      </a:pPr>
                      <a:r>
                        <a:rPr lang="zh-CN" sz="1500" b="1" kern="100" dirty="0">
                          <a:latin typeface="Calibri"/>
                          <a:ea typeface="宋体"/>
                          <a:cs typeface="Times New Roman"/>
                        </a:rPr>
                        <a:t> </a:t>
                      </a:r>
                      <a:r>
                        <a:rPr lang="en-US" sz="1500" b="1" kern="100" dirty="0">
                          <a:latin typeface="Calibri"/>
                          <a:ea typeface="宋体"/>
                          <a:cs typeface="Times New Roman"/>
                        </a:rPr>
                        <a:t>Modes</a:t>
                      </a:r>
                      <a:endParaRPr lang="zh-CN" sz="1500" b="1" kern="100" dirty="0">
                        <a:latin typeface="Calibri"/>
                        <a:ea typeface="宋体"/>
                        <a:cs typeface="Times New Roman"/>
                      </a:endParaRPr>
                    </a:p>
                  </a:txBody>
                  <a:tcPr marL="45912" marR="45912"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5">
                        <a:lumMod val="40000"/>
                        <a:lumOff val="60000"/>
                      </a:schemeClr>
                    </a:solidFill>
                  </a:tcPr>
                </a:tc>
                <a:tc gridSpan="2">
                  <a:txBody>
                    <a:bodyPr/>
                    <a:lstStyle/>
                    <a:p>
                      <a:pPr algn="ctr">
                        <a:lnSpc>
                          <a:spcPts val="1600"/>
                        </a:lnSpc>
                        <a:spcAft>
                          <a:spcPts val="0"/>
                        </a:spcAft>
                      </a:pPr>
                      <a:r>
                        <a:rPr lang="en-US" altLang="zh-CN" sz="1500" b="1" kern="100" dirty="0" smtClean="0">
                          <a:solidFill>
                            <a:schemeClr val="tx1"/>
                          </a:solidFill>
                          <a:latin typeface="Calibri"/>
                          <a:ea typeface="宋体"/>
                          <a:cs typeface="Times New Roman"/>
                        </a:rPr>
                        <a:t>Discharging Capacity (Ah)</a:t>
                      </a:r>
                      <a:endParaRPr lang="zh-CN" sz="1500" b="1" kern="100" dirty="0">
                        <a:solidFill>
                          <a:schemeClr val="tx1"/>
                        </a:solidFill>
                        <a:latin typeface="Calibri"/>
                        <a:ea typeface="宋体"/>
                        <a:cs typeface="Times New Roman"/>
                      </a:endParaRPr>
                    </a:p>
                  </a:txBody>
                  <a:tcPr marL="45912" marR="45912"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5">
                        <a:lumMod val="40000"/>
                        <a:lumOff val="60000"/>
                      </a:schemeClr>
                    </a:solidFill>
                  </a:tcPr>
                </a:tc>
                <a:tc hMerge="1">
                  <a:txBody>
                    <a:bodyPr/>
                    <a:lstStyle/>
                    <a:p>
                      <a:pPr algn="ctr">
                        <a:lnSpc>
                          <a:spcPts val="1600"/>
                        </a:lnSpc>
                        <a:spcAft>
                          <a:spcPts val="0"/>
                        </a:spcAft>
                      </a:pPr>
                      <a:endParaRPr lang="zh-CN" sz="1500" b="1" kern="100" dirty="0">
                        <a:solidFill>
                          <a:schemeClr val="tx1"/>
                        </a:solidFill>
                        <a:latin typeface="Calibri"/>
                        <a:ea typeface="宋体"/>
                        <a:cs typeface="Times New Roman"/>
                      </a:endParaRPr>
                    </a:p>
                  </a:txBody>
                  <a:tcPr marL="45912" marR="45912"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DB3E2"/>
                    </a:solidFill>
                  </a:tcPr>
                </a:tc>
                <a:tc rowSpan="2">
                  <a:txBody>
                    <a:bodyPr/>
                    <a:lstStyle/>
                    <a:p>
                      <a:pPr algn="ctr">
                        <a:lnSpc>
                          <a:spcPts val="1600"/>
                        </a:lnSpc>
                        <a:spcAft>
                          <a:spcPts val="0"/>
                        </a:spcAft>
                      </a:pPr>
                      <a:r>
                        <a:rPr lang="en-US" sz="1500" b="1" kern="100" dirty="0">
                          <a:solidFill>
                            <a:schemeClr val="tx1"/>
                          </a:solidFill>
                          <a:latin typeface="Calibri"/>
                          <a:ea typeface="宋体"/>
                          <a:cs typeface="Times New Roman"/>
                        </a:rPr>
                        <a:t>Need </a:t>
                      </a:r>
                      <a:r>
                        <a:rPr lang="en-US" sz="1500" b="1" kern="100" dirty="0" smtClean="0">
                          <a:solidFill>
                            <a:schemeClr val="tx1"/>
                          </a:solidFill>
                          <a:latin typeface="Calibri"/>
                          <a:ea typeface="宋体"/>
                          <a:cs typeface="Times New Roman"/>
                        </a:rPr>
                        <a:t>to</a:t>
                      </a:r>
                      <a:r>
                        <a:rPr lang="en-US" sz="1500" b="1" kern="100" baseline="0" dirty="0" smtClean="0">
                          <a:solidFill>
                            <a:schemeClr val="tx1"/>
                          </a:solidFill>
                          <a:latin typeface="Calibri"/>
                          <a:ea typeface="宋体"/>
                          <a:cs typeface="Times New Roman"/>
                        </a:rPr>
                        <a:t> </a:t>
                      </a:r>
                      <a:r>
                        <a:rPr lang="en-US" sz="1500" b="1" kern="100" dirty="0" smtClean="0">
                          <a:solidFill>
                            <a:schemeClr val="tx1"/>
                          </a:solidFill>
                          <a:latin typeface="Calibri"/>
                          <a:ea typeface="宋体"/>
                          <a:cs typeface="Times New Roman"/>
                        </a:rPr>
                        <a:t>charge capacity</a:t>
                      </a:r>
                    </a:p>
                    <a:p>
                      <a:pPr algn="ctr">
                        <a:lnSpc>
                          <a:spcPts val="1600"/>
                        </a:lnSpc>
                        <a:spcAft>
                          <a:spcPts val="0"/>
                        </a:spcAft>
                      </a:pPr>
                      <a:r>
                        <a:rPr lang="en-US" sz="1500" b="1" kern="100" dirty="0" smtClean="0">
                          <a:solidFill>
                            <a:schemeClr val="tx1"/>
                          </a:solidFill>
                          <a:latin typeface="Calibri"/>
                          <a:ea typeface="宋体"/>
                          <a:cs typeface="Times New Roman"/>
                        </a:rPr>
                        <a:t>(</a:t>
                      </a:r>
                      <a:r>
                        <a:rPr lang="en-US" sz="1500" b="1" kern="100" dirty="0">
                          <a:solidFill>
                            <a:schemeClr val="tx1"/>
                          </a:solidFill>
                          <a:latin typeface="Calibri"/>
                          <a:ea typeface="宋体"/>
                          <a:cs typeface="Times New Roman"/>
                        </a:rPr>
                        <a:t>Ah)</a:t>
                      </a:r>
                      <a:endParaRPr lang="zh-CN" sz="1500" b="1" kern="100" dirty="0">
                        <a:solidFill>
                          <a:schemeClr val="tx1"/>
                        </a:solidFill>
                        <a:latin typeface="Calibri"/>
                        <a:ea typeface="宋体"/>
                        <a:cs typeface="Times New Roman"/>
                      </a:endParaRPr>
                    </a:p>
                  </a:txBody>
                  <a:tcPr marL="45912" marR="45912"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5">
                        <a:lumMod val="40000"/>
                        <a:lumOff val="60000"/>
                      </a:schemeClr>
                    </a:solidFill>
                  </a:tcPr>
                </a:tc>
                <a:tc rowSpan="2">
                  <a:txBody>
                    <a:bodyPr/>
                    <a:lstStyle/>
                    <a:p>
                      <a:pPr algn="ctr">
                        <a:lnSpc>
                          <a:spcPts val="1600"/>
                        </a:lnSpc>
                        <a:spcAft>
                          <a:spcPts val="0"/>
                        </a:spcAft>
                      </a:pPr>
                      <a:r>
                        <a:rPr lang="en-US" sz="1500" b="1" kern="100" dirty="0">
                          <a:solidFill>
                            <a:schemeClr val="tx1"/>
                          </a:solidFill>
                          <a:latin typeface="Calibri"/>
                          <a:ea typeface="宋体"/>
                          <a:cs typeface="Times New Roman"/>
                        </a:rPr>
                        <a:t>Chargeable </a:t>
                      </a:r>
                      <a:r>
                        <a:rPr lang="en-US" sz="1500" b="1" kern="100" dirty="0" smtClean="0">
                          <a:solidFill>
                            <a:schemeClr val="tx1"/>
                          </a:solidFill>
                          <a:latin typeface="Calibri"/>
                          <a:ea typeface="宋体"/>
                          <a:cs typeface="Times New Roman"/>
                        </a:rPr>
                        <a:t>capacity</a:t>
                      </a:r>
                    </a:p>
                    <a:p>
                      <a:pPr algn="ctr">
                        <a:lnSpc>
                          <a:spcPts val="1600"/>
                        </a:lnSpc>
                        <a:spcAft>
                          <a:spcPts val="0"/>
                        </a:spcAft>
                      </a:pPr>
                      <a:r>
                        <a:rPr lang="en-US" sz="1500" b="1" kern="100" dirty="0" smtClean="0">
                          <a:solidFill>
                            <a:schemeClr val="tx1"/>
                          </a:solidFill>
                          <a:latin typeface="Calibri"/>
                          <a:ea typeface="宋体"/>
                          <a:cs typeface="Times New Roman"/>
                        </a:rPr>
                        <a:t>(</a:t>
                      </a:r>
                      <a:r>
                        <a:rPr lang="en-US" sz="1500" b="1" kern="100" dirty="0">
                          <a:solidFill>
                            <a:schemeClr val="tx1"/>
                          </a:solidFill>
                          <a:latin typeface="Calibri"/>
                          <a:ea typeface="宋体"/>
                          <a:cs typeface="Times New Roman"/>
                        </a:rPr>
                        <a:t>Ah)</a:t>
                      </a:r>
                      <a:endParaRPr lang="zh-CN" sz="1500" b="1" kern="100" dirty="0">
                        <a:solidFill>
                          <a:schemeClr val="tx1"/>
                        </a:solidFill>
                        <a:latin typeface="Calibri"/>
                        <a:ea typeface="宋体"/>
                        <a:cs typeface="Times New Roman"/>
                      </a:endParaRPr>
                    </a:p>
                  </a:txBody>
                  <a:tcPr marL="45912" marR="45912"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0F0"/>
                    </a:solidFill>
                  </a:tcPr>
                </a:tc>
                <a:tc rowSpan="2">
                  <a:txBody>
                    <a:bodyPr/>
                    <a:lstStyle/>
                    <a:p>
                      <a:pPr algn="ctr">
                        <a:lnSpc>
                          <a:spcPts val="1600"/>
                        </a:lnSpc>
                        <a:spcAft>
                          <a:spcPts val="0"/>
                        </a:spcAft>
                      </a:pPr>
                      <a:r>
                        <a:rPr lang="en-US" altLang="zh-CN" sz="1500" b="1" kern="100" dirty="0" smtClean="0">
                          <a:solidFill>
                            <a:schemeClr val="tx1"/>
                          </a:solidFill>
                          <a:latin typeface="Calibri"/>
                          <a:ea typeface="宋体"/>
                          <a:cs typeface="Times New Roman"/>
                        </a:rPr>
                        <a:t>Capacity margin</a:t>
                      </a:r>
                    </a:p>
                    <a:p>
                      <a:pPr algn="ctr">
                        <a:lnSpc>
                          <a:spcPts val="1600"/>
                        </a:lnSpc>
                        <a:spcAft>
                          <a:spcPts val="0"/>
                        </a:spcAft>
                      </a:pPr>
                      <a:r>
                        <a:rPr lang="en-US" altLang="zh-CN" sz="1500" b="1" kern="100" dirty="0" smtClean="0">
                          <a:solidFill>
                            <a:schemeClr val="tx1"/>
                          </a:solidFill>
                          <a:latin typeface="Calibri"/>
                          <a:ea typeface="宋体"/>
                          <a:cs typeface="Times New Roman"/>
                        </a:rPr>
                        <a:t>(Ah)</a:t>
                      </a:r>
                      <a:endParaRPr lang="zh-CN" sz="1500" b="1" kern="100" dirty="0">
                        <a:solidFill>
                          <a:schemeClr val="tx1"/>
                        </a:solidFill>
                        <a:latin typeface="Calibri"/>
                        <a:ea typeface="宋体"/>
                        <a:cs typeface="Times New Roman"/>
                      </a:endParaRPr>
                    </a:p>
                  </a:txBody>
                  <a:tcPr marL="45912" marR="45912"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00"/>
                    </a:solidFill>
                  </a:tcPr>
                </a:tc>
                <a:tc rowSpan="2">
                  <a:txBody>
                    <a:bodyPr/>
                    <a:lstStyle/>
                    <a:p>
                      <a:pPr algn="ctr">
                        <a:lnSpc>
                          <a:spcPts val="1600"/>
                        </a:lnSpc>
                        <a:spcAft>
                          <a:spcPts val="0"/>
                        </a:spcAft>
                      </a:pPr>
                      <a:r>
                        <a:rPr lang="en-US" sz="1500" b="1" kern="100" dirty="0">
                          <a:solidFill>
                            <a:schemeClr val="bg1"/>
                          </a:solidFill>
                          <a:latin typeface="Calibri"/>
                          <a:ea typeface="宋体"/>
                          <a:cs typeface="Times New Roman"/>
                        </a:rPr>
                        <a:t>Depth of </a:t>
                      </a:r>
                      <a:r>
                        <a:rPr lang="en-US" sz="1500" b="1" kern="100" dirty="0" smtClean="0">
                          <a:solidFill>
                            <a:schemeClr val="bg1"/>
                          </a:solidFill>
                          <a:latin typeface="Calibri"/>
                          <a:ea typeface="宋体"/>
                          <a:cs typeface="Times New Roman"/>
                        </a:rPr>
                        <a:t>discharge</a:t>
                      </a:r>
                    </a:p>
                    <a:p>
                      <a:pPr algn="ctr">
                        <a:lnSpc>
                          <a:spcPts val="1600"/>
                        </a:lnSpc>
                        <a:spcAft>
                          <a:spcPts val="0"/>
                        </a:spcAft>
                      </a:pPr>
                      <a:r>
                        <a:rPr lang="en-US" sz="1500" b="1" kern="100" dirty="0" smtClean="0">
                          <a:solidFill>
                            <a:schemeClr val="bg1"/>
                          </a:solidFill>
                          <a:latin typeface="Calibri"/>
                          <a:ea typeface="宋体"/>
                          <a:cs typeface="Times New Roman"/>
                        </a:rPr>
                        <a:t>(%)</a:t>
                      </a:r>
                      <a:endParaRPr lang="zh-CN" sz="1500" b="1" kern="100" dirty="0">
                        <a:solidFill>
                          <a:schemeClr val="bg1"/>
                        </a:solidFill>
                        <a:latin typeface="Calibri"/>
                        <a:ea typeface="宋体"/>
                        <a:cs typeface="Times New Roman"/>
                      </a:endParaRPr>
                    </a:p>
                  </a:txBody>
                  <a:tcPr marL="45912" marR="45912"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34B237"/>
                    </a:solidFill>
                  </a:tcPr>
                </a:tc>
                <a:tc rowSpan="2">
                  <a:txBody>
                    <a:bodyPr/>
                    <a:lstStyle/>
                    <a:p>
                      <a:pPr algn="ctr">
                        <a:lnSpc>
                          <a:spcPts val="1600"/>
                        </a:lnSpc>
                        <a:spcAft>
                          <a:spcPts val="0"/>
                        </a:spcAft>
                      </a:pPr>
                      <a:r>
                        <a:rPr lang="en-US" sz="1500" b="1" kern="100" dirty="0">
                          <a:solidFill>
                            <a:schemeClr val="tx1"/>
                          </a:solidFill>
                          <a:latin typeface="Calibri"/>
                          <a:ea typeface="宋体"/>
                          <a:cs typeface="Times New Roman"/>
                        </a:rPr>
                        <a:t>Balance</a:t>
                      </a:r>
                      <a:endParaRPr lang="zh-CN" sz="1500" b="1" kern="100" dirty="0">
                        <a:solidFill>
                          <a:schemeClr val="tx1"/>
                        </a:solidFill>
                        <a:latin typeface="Calibri"/>
                        <a:ea typeface="宋体"/>
                        <a:cs typeface="Times New Roman"/>
                      </a:endParaRPr>
                    </a:p>
                  </a:txBody>
                  <a:tcPr marL="45912" marR="45912"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DB3E2"/>
                    </a:solidFill>
                  </a:tcPr>
                </a:tc>
              </a:tr>
              <a:tr h="373829">
                <a:tc vMerge="1">
                  <a:txBody>
                    <a:bodyPr/>
                    <a:lstStyle/>
                    <a:p>
                      <a:endParaRPr lang="zh-CN" altLang="en-US"/>
                    </a:p>
                  </a:txBody>
                  <a:tcPr/>
                </a:tc>
                <a:tc>
                  <a:txBody>
                    <a:bodyPr/>
                    <a:lstStyle/>
                    <a:p>
                      <a:pPr algn="ctr">
                        <a:lnSpc>
                          <a:spcPts val="1600"/>
                        </a:lnSpc>
                        <a:spcAft>
                          <a:spcPts val="0"/>
                        </a:spcAft>
                      </a:pPr>
                      <a:r>
                        <a:rPr lang="en-US" altLang="zh-CN" sz="1500" b="1" kern="100" dirty="0" smtClean="0">
                          <a:solidFill>
                            <a:schemeClr val="tx1"/>
                          </a:solidFill>
                          <a:latin typeface="+mn-lt"/>
                          <a:ea typeface="+mn-ea"/>
                          <a:cs typeface="Times New Roman"/>
                        </a:rPr>
                        <a:t>Umbra</a:t>
                      </a:r>
                      <a:endParaRPr lang="zh-CN" sz="1500" b="1" kern="100" dirty="0">
                        <a:solidFill>
                          <a:schemeClr val="tx1"/>
                        </a:solidFill>
                        <a:latin typeface="Calibri"/>
                        <a:ea typeface="宋体"/>
                        <a:cs typeface="Times New Roman"/>
                      </a:endParaRPr>
                    </a:p>
                  </a:txBody>
                  <a:tcPr marL="45912" marR="45912"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marL="0" marR="0" indent="0" algn="ctr" defTabSz="685800" rtl="0" eaLnBrk="1" fontAlgn="auto" latinLnBrk="0" hangingPunct="1">
                        <a:lnSpc>
                          <a:spcPts val="1600"/>
                        </a:lnSpc>
                        <a:spcBef>
                          <a:spcPts val="0"/>
                        </a:spcBef>
                        <a:spcAft>
                          <a:spcPts val="0"/>
                        </a:spcAft>
                        <a:buClrTx/>
                        <a:buSzTx/>
                        <a:buFontTx/>
                        <a:buNone/>
                        <a:tabLst/>
                        <a:defRPr/>
                      </a:pPr>
                      <a:r>
                        <a:rPr lang="en-US" altLang="zh-CN" sz="1500" b="1" kern="100" dirty="0" smtClean="0">
                          <a:solidFill>
                            <a:schemeClr val="tx1"/>
                          </a:solidFill>
                          <a:latin typeface="+mn-lt"/>
                          <a:ea typeface="+mn-ea"/>
                          <a:cs typeface="Times New Roman"/>
                        </a:rPr>
                        <a:t>Light</a:t>
                      </a:r>
                      <a:endParaRPr lang="zh-CN" altLang="en-US" sz="1500" b="1" kern="100" dirty="0" smtClean="0">
                        <a:solidFill>
                          <a:schemeClr val="tx1"/>
                        </a:solidFill>
                        <a:latin typeface="+mn-lt"/>
                        <a:ea typeface="+mn-ea"/>
                        <a:cs typeface="Times New Roman"/>
                      </a:endParaRPr>
                    </a:p>
                  </a:txBody>
                  <a:tcPr marL="45912" marR="45912"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5">
                        <a:lumMod val="40000"/>
                        <a:lumOff val="60000"/>
                      </a:schemeClr>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r>
              <a:tr h="189484">
                <a:tc>
                  <a:txBody>
                    <a:bodyPr/>
                    <a:lstStyle/>
                    <a:p>
                      <a:pPr marL="0" algn="ctr" defTabSz="914400" rtl="0" eaLnBrk="1" latinLnBrk="0" hangingPunct="1">
                        <a:lnSpc>
                          <a:spcPct val="150000"/>
                        </a:lnSpc>
                        <a:spcAft>
                          <a:spcPts val="0"/>
                        </a:spcAft>
                      </a:pPr>
                      <a:r>
                        <a:rPr lang="en-US" sz="1600" b="0" kern="100" dirty="0" smtClean="0">
                          <a:solidFill>
                            <a:schemeClr val="tx1"/>
                          </a:solidFill>
                          <a:latin typeface="Calibri"/>
                          <a:ea typeface="宋体"/>
                          <a:cs typeface="Times New Roman"/>
                        </a:rPr>
                        <a:t>Long-term</a:t>
                      </a:r>
                      <a:endParaRPr lang="zh-CN" sz="1600" b="0" kern="100" dirty="0">
                        <a:solidFill>
                          <a:schemeClr val="tx1"/>
                        </a:solidFill>
                        <a:latin typeface="Calibri"/>
                        <a:ea typeface="宋体"/>
                        <a:cs typeface="Times New Roman"/>
                      </a:endParaRPr>
                    </a:p>
                  </a:txBody>
                  <a:tcPr marL="45912" marR="45912"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smtClean="0">
                          <a:solidFill>
                            <a:schemeClr val="tx1"/>
                          </a:solidFill>
                          <a:latin typeface="Calibri"/>
                          <a:ea typeface="宋体"/>
                          <a:cs typeface="Times New Roman"/>
                        </a:rPr>
                        <a:t>1.62</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smtClean="0">
                          <a:solidFill>
                            <a:schemeClr val="tx1"/>
                          </a:solidFill>
                          <a:latin typeface="Calibri"/>
                          <a:ea typeface="宋体"/>
                          <a:cs typeface="Times New Roman"/>
                        </a:rPr>
                        <a:t>0</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latinLnBrk="0" hangingPunct="1">
                        <a:lnSpc>
                          <a:spcPct val="150000"/>
                        </a:lnSpc>
                        <a:spcAft>
                          <a:spcPts val="0"/>
                        </a:spcAft>
                      </a:pPr>
                      <a:r>
                        <a:rPr lang="en-US" sz="1200" b="1" kern="100" dirty="0" smtClean="0">
                          <a:solidFill>
                            <a:schemeClr val="tx1"/>
                          </a:solidFill>
                          <a:latin typeface="Calibri"/>
                          <a:ea typeface="宋体"/>
                          <a:cs typeface="Times New Roman"/>
                        </a:rPr>
                        <a:t>1.62</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ctr" defTabSz="685800" rtl="0" eaLnBrk="1" latinLnBrk="0" hangingPunct="1">
                        <a:lnSpc>
                          <a:spcPct val="150000"/>
                        </a:lnSpc>
                        <a:spcAft>
                          <a:spcPts val="0"/>
                        </a:spcAft>
                      </a:pPr>
                      <a:r>
                        <a:rPr lang="en-US" sz="1200" b="1" kern="100" dirty="0" smtClean="0">
                          <a:solidFill>
                            <a:schemeClr val="tx1"/>
                          </a:solidFill>
                          <a:latin typeface="Calibri"/>
                          <a:ea typeface="宋体"/>
                          <a:cs typeface="Times New Roman"/>
                        </a:rPr>
                        <a:t>2.97</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algn="ctr" defTabSz="685800" rtl="0" eaLnBrk="1" latinLnBrk="0" hangingPunct="1">
                        <a:lnSpc>
                          <a:spcPct val="150000"/>
                        </a:lnSpc>
                        <a:spcAft>
                          <a:spcPts val="0"/>
                        </a:spcAft>
                      </a:pPr>
                      <a:r>
                        <a:rPr lang="en-US" altLang="zh-CN" sz="1200" b="1" kern="100" dirty="0" smtClean="0">
                          <a:solidFill>
                            <a:schemeClr val="tx1"/>
                          </a:solidFill>
                          <a:latin typeface="Calibri"/>
                          <a:ea typeface="宋体"/>
                          <a:cs typeface="Times New Roman"/>
                        </a:rPr>
                        <a:t>1.35</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algn="ctr" defTabSz="685800" rtl="0" eaLnBrk="1" latinLnBrk="0" hangingPunct="1">
                        <a:lnSpc>
                          <a:spcPct val="150000"/>
                        </a:lnSpc>
                        <a:spcAft>
                          <a:spcPts val="0"/>
                        </a:spcAft>
                      </a:pPr>
                      <a:r>
                        <a:rPr lang="en-US" sz="1200" b="1" kern="100" dirty="0" smtClean="0">
                          <a:solidFill>
                            <a:schemeClr val="tx1"/>
                          </a:solidFill>
                          <a:latin typeface="Calibri"/>
                          <a:ea typeface="宋体"/>
                          <a:cs typeface="Times New Roman"/>
                        </a:rPr>
                        <a:t>16.20%</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4B237"/>
                    </a:solidFill>
                  </a:tcPr>
                </a:tc>
                <a:tc>
                  <a:txBody>
                    <a:bodyPr/>
                    <a:lstStyle/>
                    <a:p>
                      <a:pPr marL="0" algn="ctr" defTabSz="685800" rtl="0" eaLnBrk="1" latinLnBrk="0" hangingPunct="1">
                        <a:lnSpc>
                          <a:spcPct val="150000"/>
                        </a:lnSpc>
                        <a:spcAft>
                          <a:spcPts val="0"/>
                        </a:spcAft>
                      </a:pPr>
                      <a:r>
                        <a:rPr lang="en-US" sz="1200" b="1" kern="100" dirty="0" smtClean="0">
                          <a:solidFill>
                            <a:srgbClr val="FF0000"/>
                          </a:solidFill>
                          <a:latin typeface="Calibri"/>
                          <a:ea typeface="宋体"/>
                          <a:cs typeface="Times New Roman"/>
                        </a:rPr>
                        <a:t>YES</a:t>
                      </a:r>
                      <a:endParaRPr lang="zh-CN" sz="1200" b="1" kern="100" dirty="0">
                        <a:solidFill>
                          <a:srgbClr val="FF0000"/>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9484">
                <a:tc>
                  <a:txBody>
                    <a:bodyPr/>
                    <a:lstStyle/>
                    <a:p>
                      <a:pPr algn="ctr">
                        <a:lnSpc>
                          <a:spcPct val="150000"/>
                        </a:lnSpc>
                        <a:spcAft>
                          <a:spcPts val="0"/>
                        </a:spcAft>
                      </a:pPr>
                      <a:r>
                        <a:rPr lang="en-US" altLang="zh-CN" sz="1600" b="0" kern="100" dirty="0" smtClean="0">
                          <a:solidFill>
                            <a:schemeClr val="tx1"/>
                          </a:solidFill>
                          <a:latin typeface="Calibri"/>
                          <a:ea typeface="宋体"/>
                          <a:cs typeface="Times New Roman"/>
                        </a:rPr>
                        <a:t>Record</a:t>
                      </a:r>
                      <a:endParaRPr lang="zh-CN" sz="1600" b="0" kern="100" dirty="0">
                        <a:solidFill>
                          <a:schemeClr val="tx1"/>
                        </a:solidFill>
                        <a:latin typeface="Calibri"/>
                        <a:ea typeface="宋体"/>
                        <a:cs typeface="Times New Roman"/>
                      </a:endParaRPr>
                    </a:p>
                  </a:txBody>
                  <a:tcPr marL="45912" marR="45912"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smtClean="0">
                          <a:solidFill>
                            <a:schemeClr val="tx1"/>
                          </a:solidFill>
                          <a:latin typeface="Calibri"/>
                          <a:ea typeface="宋体"/>
                          <a:cs typeface="Times New Roman"/>
                        </a:rPr>
                        <a:t>1.62</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smtClean="0">
                          <a:solidFill>
                            <a:schemeClr val="tx1"/>
                          </a:solidFill>
                          <a:latin typeface="Calibri"/>
                          <a:ea typeface="宋体"/>
                          <a:cs typeface="Times New Roman"/>
                        </a:rPr>
                        <a:t>0.18</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latinLnBrk="0" hangingPunct="1">
                        <a:lnSpc>
                          <a:spcPct val="150000"/>
                        </a:lnSpc>
                        <a:spcAft>
                          <a:spcPts val="0"/>
                        </a:spcAft>
                      </a:pPr>
                      <a:r>
                        <a:rPr lang="en-US" altLang="zh-CN" sz="1200" b="1" kern="100" dirty="0" smtClean="0">
                          <a:solidFill>
                            <a:schemeClr val="tx1"/>
                          </a:solidFill>
                          <a:latin typeface="Calibri"/>
                          <a:ea typeface="宋体"/>
                          <a:cs typeface="Times New Roman"/>
                        </a:rPr>
                        <a:t>1.80</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ctr" defTabSz="685800" rtl="0" eaLnBrk="1" latinLnBrk="0" hangingPunct="1">
                        <a:lnSpc>
                          <a:spcPct val="150000"/>
                        </a:lnSpc>
                        <a:spcAft>
                          <a:spcPts val="0"/>
                        </a:spcAft>
                      </a:pPr>
                      <a:r>
                        <a:rPr lang="en-US" sz="1200" b="1" kern="100" dirty="0" smtClean="0">
                          <a:solidFill>
                            <a:schemeClr val="tx1"/>
                          </a:solidFill>
                          <a:latin typeface="Calibri"/>
                          <a:ea typeface="宋体"/>
                          <a:cs typeface="Times New Roman"/>
                        </a:rPr>
                        <a:t>2.33</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algn="ctr" defTabSz="685800" rtl="0" eaLnBrk="1" latinLnBrk="0" hangingPunct="1">
                        <a:lnSpc>
                          <a:spcPct val="150000"/>
                        </a:lnSpc>
                        <a:spcAft>
                          <a:spcPts val="0"/>
                        </a:spcAft>
                      </a:pPr>
                      <a:r>
                        <a:rPr lang="en-US" altLang="zh-CN" sz="1200" b="1" kern="100" dirty="0" smtClean="0">
                          <a:solidFill>
                            <a:schemeClr val="tx1"/>
                          </a:solidFill>
                          <a:latin typeface="Calibri"/>
                          <a:ea typeface="宋体"/>
                          <a:cs typeface="Times New Roman"/>
                        </a:rPr>
                        <a:t>0.53</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algn="ctr" defTabSz="685800" rtl="0" eaLnBrk="1" latinLnBrk="0" hangingPunct="1">
                        <a:lnSpc>
                          <a:spcPct val="150000"/>
                        </a:lnSpc>
                        <a:spcAft>
                          <a:spcPts val="0"/>
                        </a:spcAft>
                      </a:pPr>
                      <a:r>
                        <a:rPr lang="en-US" sz="1200" b="1" kern="100" dirty="0" smtClean="0">
                          <a:solidFill>
                            <a:schemeClr val="tx1"/>
                          </a:solidFill>
                          <a:latin typeface="Calibri"/>
                          <a:ea typeface="宋体"/>
                          <a:cs typeface="Times New Roman"/>
                        </a:rPr>
                        <a:t>18.03%</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4B237"/>
                    </a:solidFill>
                  </a:tcPr>
                </a:tc>
                <a:tc>
                  <a:txBody>
                    <a:bodyPr/>
                    <a:lstStyle/>
                    <a:p>
                      <a:pPr marL="0" algn="ctr" defTabSz="685800" rtl="0" eaLnBrk="1" latinLnBrk="0" hangingPunct="1">
                        <a:lnSpc>
                          <a:spcPct val="150000"/>
                        </a:lnSpc>
                        <a:spcAft>
                          <a:spcPts val="0"/>
                        </a:spcAft>
                      </a:pPr>
                      <a:r>
                        <a:rPr lang="en-US" sz="1200" b="1" kern="100" dirty="0" smtClean="0">
                          <a:solidFill>
                            <a:srgbClr val="FF0000"/>
                          </a:solidFill>
                          <a:latin typeface="+mn-lt"/>
                          <a:ea typeface="宋体"/>
                          <a:cs typeface="Times New Roman"/>
                        </a:rPr>
                        <a:t>YES</a:t>
                      </a:r>
                      <a:endParaRPr lang="zh-CN" sz="1200" b="1" kern="100" dirty="0">
                        <a:solidFill>
                          <a:srgbClr val="FF0000"/>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9484">
                <a:tc>
                  <a:txBody>
                    <a:bodyPr/>
                    <a:lstStyle/>
                    <a:p>
                      <a:pPr algn="ctr">
                        <a:lnSpc>
                          <a:spcPct val="150000"/>
                        </a:lnSpc>
                        <a:spcAft>
                          <a:spcPts val="0"/>
                        </a:spcAft>
                      </a:pPr>
                      <a:r>
                        <a:rPr lang="en-US" sz="1600" b="0" kern="100" dirty="0" smtClean="0">
                          <a:solidFill>
                            <a:schemeClr val="tx1"/>
                          </a:solidFill>
                          <a:latin typeface="Calibri"/>
                          <a:ea typeface="宋体"/>
                          <a:cs typeface="Times New Roman"/>
                        </a:rPr>
                        <a:t>Replay in light</a:t>
                      </a:r>
                      <a:endParaRPr lang="zh-CN" sz="1600" b="0" kern="100" dirty="0">
                        <a:solidFill>
                          <a:schemeClr val="tx1"/>
                        </a:solidFill>
                        <a:latin typeface="Calibri"/>
                        <a:ea typeface="宋体"/>
                        <a:cs typeface="Times New Roman"/>
                      </a:endParaRPr>
                    </a:p>
                  </a:txBody>
                  <a:tcPr marL="45912" marR="45912"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smtClean="0">
                          <a:solidFill>
                            <a:schemeClr val="tx1"/>
                          </a:solidFill>
                          <a:latin typeface="Calibri"/>
                          <a:ea typeface="宋体"/>
                          <a:cs typeface="Times New Roman"/>
                        </a:rPr>
                        <a:t>1.62</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smtClean="0">
                          <a:solidFill>
                            <a:schemeClr val="tx1"/>
                          </a:solidFill>
                          <a:latin typeface="Calibri"/>
                          <a:ea typeface="宋体"/>
                          <a:cs typeface="Times New Roman"/>
                        </a:rPr>
                        <a:t>0.46</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latinLnBrk="0" hangingPunct="1">
                        <a:lnSpc>
                          <a:spcPct val="150000"/>
                        </a:lnSpc>
                        <a:spcAft>
                          <a:spcPts val="0"/>
                        </a:spcAft>
                      </a:pPr>
                      <a:r>
                        <a:rPr lang="en-US" sz="1200" b="1" kern="100" dirty="0" smtClean="0">
                          <a:solidFill>
                            <a:schemeClr val="tx1"/>
                          </a:solidFill>
                          <a:latin typeface="Calibri"/>
                          <a:ea typeface="宋体"/>
                          <a:cs typeface="Times New Roman"/>
                        </a:rPr>
                        <a:t>2.08</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ctr" defTabSz="685800" rtl="0" eaLnBrk="1" latinLnBrk="0" hangingPunct="1">
                        <a:lnSpc>
                          <a:spcPct val="150000"/>
                        </a:lnSpc>
                        <a:spcAft>
                          <a:spcPts val="0"/>
                        </a:spcAft>
                      </a:pPr>
                      <a:r>
                        <a:rPr lang="en-US" sz="1200" b="1" kern="100" dirty="0" smtClean="0">
                          <a:solidFill>
                            <a:schemeClr val="tx1"/>
                          </a:solidFill>
                          <a:latin typeface="Calibri"/>
                          <a:ea typeface="宋体"/>
                          <a:cs typeface="Times New Roman"/>
                        </a:rPr>
                        <a:t>2.24</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algn="ctr" defTabSz="685800" rtl="0" eaLnBrk="1" latinLnBrk="0" hangingPunct="1">
                        <a:lnSpc>
                          <a:spcPct val="150000"/>
                        </a:lnSpc>
                        <a:spcAft>
                          <a:spcPts val="0"/>
                        </a:spcAft>
                      </a:pPr>
                      <a:r>
                        <a:rPr lang="en-US" altLang="zh-CN" sz="1200" b="1" kern="100" dirty="0" smtClean="0">
                          <a:solidFill>
                            <a:schemeClr val="tx1"/>
                          </a:solidFill>
                          <a:latin typeface="Calibri"/>
                          <a:ea typeface="宋体"/>
                          <a:cs typeface="Times New Roman"/>
                        </a:rPr>
                        <a:t>0.16</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algn="ctr" defTabSz="685800" rtl="0" eaLnBrk="1" latinLnBrk="0" hangingPunct="1">
                        <a:lnSpc>
                          <a:spcPct val="150000"/>
                        </a:lnSpc>
                        <a:spcAft>
                          <a:spcPts val="0"/>
                        </a:spcAft>
                      </a:pPr>
                      <a:r>
                        <a:rPr lang="en-US" sz="1200" b="1" kern="100" dirty="0" smtClean="0">
                          <a:solidFill>
                            <a:schemeClr val="tx1"/>
                          </a:solidFill>
                          <a:latin typeface="Calibri"/>
                          <a:ea typeface="宋体"/>
                          <a:cs typeface="Times New Roman"/>
                        </a:rPr>
                        <a:t>20.80%</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4B237"/>
                    </a:solidFill>
                  </a:tcPr>
                </a:tc>
                <a:tc>
                  <a:txBody>
                    <a:bodyPr/>
                    <a:lstStyle/>
                    <a:p>
                      <a:pPr marL="0" algn="ctr" defTabSz="685800" rtl="0" eaLnBrk="1" latinLnBrk="0" hangingPunct="1">
                        <a:lnSpc>
                          <a:spcPct val="150000"/>
                        </a:lnSpc>
                        <a:spcAft>
                          <a:spcPts val="0"/>
                        </a:spcAft>
                      </a:pPr>
                      <a:r>
                        <a:rPr lang="en-US" sz="1200" b="1" kern="100" dirty="0" smtClean="0">
                          <a:solidFill>
                            <a:srgbClr val="FF0000"/>
                          </a:solidFill>
                          <a:latin typeface="+mn-lt"/>
                          <a:ea typeface="宋体"/>
                          <a:cs typeface="Times New Roman"/>
                        </a:rPr>
                        <a:t>YES</a:t>
                      </a:r>
                      <a:endParaRPr lang="zh-CN" altLang="en-US" sz="1200" b="1" kern="100" dirty="0">
                        <a:solidFill>
                          <a:srgbClr val="FF0000"/>
                        </a:solidFill>
                        <a:latin typeface="+mn-lt"/>
                        <a:ea typeface="+mn-ea"/>
                        <a:cs typeface="Times New Roman"/>
                      </a:endParaRPr>
                    </a:p>
                  </a:txBody>
                  <a:tcPr marL="45912" marR="45912"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5324">
                <a:tc>
                  <a:txBody>
                    <a:bodyPr/>
                    <a:lstStyle/>
                    <a:p>
                      <a:pPr marL="0" indent="10795" algn="ctr" defTabSz="914400" rtl="0" eaLnBrk="1" latinLnBrk="0" hangingPunct="1">
                        <a:lnSpc>
                          <a:spcPct val="150000"/>
                        </a:lnSpc>
                        <a:spcAft>
                          <a:spcPts val="0"/>
                        </a:spcAft>
                      </a:pPr>
                      <a:r>
                        <a:rPr lang="en-US" sz="1600" b="0" kern="100" dirty="0" smtClean="0">
                          <a:solidFill>
                            <a:schemeClr val="tx1"/>
                          </a:solidFill>
                          <a:latin typeface="Calibri"/>
                          <a:ea typeface="宋体"/>
                          <a:cs typeface="Times New Roman"/>
                        </a:rPr>
                        <a:t>Replay in umbra</a:t>
                      </a:r>
                      <a:endParaRPr lang="zh-CN" sz="1600" b="0" kern="100" dirty="0">
                        <a:solidFill>
                          <a:schemeClr val="tx1"/>
                        </a:solidFill>
                        <a:latin typeface="Calibri"/>
                        <a:ea typeface="宋体"/>
                        <a:cs typeface="Times New Roman"/>
                      </a:endParaRPr>
                    </a:p>
                  </a:txBody>
                  <a:tcPr marL="45912" marR="45912"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smtClean="0">
                          <a:solidFill>
                            <a:schemeClr val="tx1"/>
                          </a:solidFill>
                          <a:latin typeface="Calibri"/>
                          <a:ea typeface="宋体"/>
                          <a:cs typeface="Times New Roman"/>
                        </a:rPr>
                        <a:t>2.12</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200" b="1" kern="100" dirty="0" smtClean="0">
                          <a:solidFill>
                            <a:schemeClr val="tx1"/>
                          </a:solidFill>
                          <a:latin typeface="Calibri"/>
                          <a:ea typeface="宋体"/>
                          <a:cs typeface="Times New Roman"/>
                        </a:rPr>
                        <a:t>0</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latinLnBrk="0" hangingPunct="1">
                        <a:lnSpc>
                          <a:spcPct val="150000"/>
                        </a:lnSpc>
                        <a:spcAft>
                          <a:spcPts val="0"/>
                        </a:spcAft>
                      </a:pPr>
                      <a:r>
                        <a:rPr lang="en-US" sz="1200" b="1" kern="100" dirty="0" smtClean="0">
                          <a:solidFill>
                            <a:schemeClr val="tx1"/>
                          </a:solidFill>
                          <a:latin typeface="Calibri"/>
                          <a:ea typeface="宋体"/>
                          <a:cs typeface="Times New Roman"/>
                        </a:rPr>
                        <a:t>2.12</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ctr" defTabSz="685800" rtl="0" eaLnBrk="1" latinLnBrk="0" hangingPunct="1">
                        <a:lnSpc>
                          <a:spcPct val="150000"/>
                        </a:lnSpc>
                        <a:spcAft>
                          <a:spcPts val="0"/>
                        </a:spcAft>
                      </a:pPr>
                      <a:r>
                        <a:rPr lang="en-US" sz="1200" b="1" kern="100" dirty="0" smtClean="0">
                          <a:solidFill>
                            <a:schemeClr val="tx1"/>
                          </a:solidFill>
                          <a:latin typeface="Calibri"/>
                          <a:ea typeface="宋体"/>
                          <a:cs typeface="Times New Roman"/>
                        </a:rPr>
                        <a:t>2.97</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algn="ctr" defTabSz="685800" rtl="0" eaLnBrk="1" latinLnBrk="0" hangingPunct="1">
                        <a:lnSpc>
                          <a:spcPct val="150000"/>
                        </a:lnSpc>
                        <a:spcAft>
                          <a:spcPts val="0"/>
                        </a:spcAft>
                      </a:pPr>
                      <a:r>
                        <a:rPr lang="en-US" altLang="zh-CN" sz="1200" b="1" kern="100" dirty="0" smtClean="0">
                          <a:solidFill>
                            <a:schemeClr val="tx1"/>
                          </a:solidFill>
                          <a:latin typeface="Calibri"/>
                          <a:ea typeface="宋体"/>
                          <a:cs typeface="Times New Roman"/>
                        </a:rPr>
                        <a:t>0.75</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algn="ctr" defTabSz="685800" rtl="0" eaLnBrk="1" latinLnBrk="0" hangingPunct="1">
                        <a:lnSpc>
                          <a:spcPct val="150000"/>
                        </a:lnSpc>
                        <a:spcAft>
                          <a:spcPts val="0"/>
                        </a:spcAft>
                      </a:pPr>
                      <a:r>
                        <a:rPr lang="en-US" sz="1200" b="1" kern="100" dirty="0" smtClean="0">
                          <a:solidFill>
                            <a:schemeClr val="tx1"/>
                          </a:solidFill>
                          <a:latin typeface="Calibri"/>
                          <a:ea typeface="宋体"/>
                          <a:cs typeface="Times New Roman"/>
                        </a:rPr>
                        <a:t>21.21%</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4B237"/>
                    </a:solidFill>
                  </a:tcPr>
                </a:tc>
                <a:tc>
                  <a:txBody>
                    <a:bodyPr/>
                    <a:lstStyle/>
                    <a:p>
                      <a:pPr marL="0" algn="ctr" defTabSz="685800" rtl="0" eaLnBrk="1" latinLnBrk="0" hangingPunct="1">
                        <a:lnSpc>
                          <a:spcPct val="150000"/>
                        </a:lnSpc>
                        <a:spcAft>
                          <a:spcPts val="0"/>
                        </a:spcAft>
                      </a:pPr>
                      <a:r>
                        <a:rPr lang="en-US" sz="1200" b="1" kern="100" dirty="0" smtClean="0">
                          <a:solidFill>
                            <a:srgbClr val="FF0000"/>
                          </a:solidFill>
                          <a:latin typeface="+mn-lt"/>
                          <a:ea typeface="宋体"/>
                          <a:cs typeface="Times New Roman"/>
                        </a:rPr>
                        <a:t>YES</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5324">
                <a:tc>
                  <a:txBody>
                    <a:bodyPr/>
                    <a:lstStyle/>
                    <a:p>
                      <a:pPr marL="0" indent="10795" algn="ctr" defTabSz="914400" rtl="0" eaLnBrk="1" latinLnBrk="0" hangingPunct="1">
                        <a:lnSpc>
                          <a:spcPct val="150000"/>
                        </a:lnSpc>
                        <a:spcAft>
                          <a:spcPts val="0"/>
                        </a:spcAft>
                      </a:pPr>
                      <a:r>
                        <a:rPr lang="en-US" altLang="zh-CN" sz="1600" b="0" kern="100" dirty="0" smtClean="0">
                          <a:solidFill>
                            <a:schemeClr val="tx1"/>
                          </a:solidFill>
                          <a:latin typeface="Calibri"/>
                          <a:ea typeface="宋体"/>
                          <a:cs typeface="Times New Roman"/>
                        </a:rPr>
                        <a:t>Record</a:t>
                      </a:r>
                      <a:r>
                        <a:rPr lang="en-US" altLang="zh-CN" sz="1600" b="0" kern="100" baseline="0" dirty="0" smtClean="0">
                          <a:solidFill>
                            <a:schemeClr val="tx1"/>
                          </a:solidFill>
                          <a:latin typeface="Calibri"/>
                          <a:ea typeface="宋体"/>
                          <a:cs typeface="Times New Roman"/>
                        </a:rPr>
                        <a:t> and </a:t>
                      </a:r>
                      <a:r>
                        <a:rPr lang="en-US" altLang="zh-CN" sz="1600" b="0" kern="100" dirty="0" smtClean="0">
                          <a:solidFill>
                            <a:schemeClr val="tx1"/>
                          </a:solidFill>
                          <a:latin typeface="Calibri"/>
                          <a:ea typeface="宋体"/>
                          <a:cs typeface="Times New Roman"/>
                        </a:rPr>
                        <a:t>Replay</a:t>
                      </a:r>
                      <a:endParaRPr lang="zh-CN" sz="1600" b="0" kern="100" dirty="0">
                        <a:solidFill>
                          <a:schemeClr val="tx1"/>
                        </a:solidFill>
                        <a:latin typeface="Calibri"/>
                        <a:ea typeface="宋体"/>
                        <a:cs typeface="Times New Roman"/>
                      </a:endParaRPr>
                    </a:p>
                  </a:txBody>
                  <a:tcPr marL="45912" marR="45912"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altLang="zh-CN" sz="1200" b="1" kern="100" dirty="0" smtClean="0">
                          <a:solidFill>
                            <a:schemeClr val="tx1"/>
                          </a:solidFill>
                          <a:latin typeface="Calibri"/>
                          <a:ea typeface="宋体"/>
                          <a:cs typeface="Times New Roman"/>
                        </a:rPr>
                        <a:t>1.62</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altLang="zh-CN" sz="1200" b="1" kern="100" dirty="0" smtClean="0">
                          <a:solidFill>
                            <a:schemeClr val="tx1"/>
                          </a:solidFill>
                          <a:latin typeface="Calibri"/>
                          <a:ea typeface="宋体"/>
                          <a:cs typeface="Times New Roman"/>
                        </a:rPr>
                        <a:t>0.26</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latinLnBrk="0" hangingPunct="1">
                        <a:lnSpc>
                          <a:spcPct val="150000"/>
                        </a:lnSpc>
                        <a:spcAft>
                          <a:spcPts val="0"/>
                        </a:spcAft>
                      </a:pPr>
                      <a:r>
                        <a:rPr lang="en-US" altLang="zh-CN" sz="1200" b="1" kern="100" dirty="0" smtClean="0">
                          <a:solidFill>
                            <a:schemeClr val="tx1"/>
                          </a:solidFill>
                          <a:latin typeface="Calibri"/>
                          <a:ea typeface="宋体"/>
                          <a:cs typeface="Times New Roman"/>
                        </a:rPr>
                        <a:t>1.88</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ctr" defTabSz="685800" rtl="0" eaLnBrk="1" latinLnBrk="0" hangingPunct="1">
                        <a:lnSpc>
                          <a:spcPct val="150000"/>
                        </a:lnSpc>
                        <a:spcAft>
                          <a:spcPts val="0"/>
                        </a:spcAft>
                      </a:pPr>
                      <a:r>
                        <a:rPr lang="en-US" altLang="zh-CN" sz="1200" b="1" kern="100" dirty="0" smtClean="0">
                          <a:solidFill>
                            <a:schemeClr val="tx1"/>
                          </a:solidFill>
                          <a:latin typeface="Calibri"/>
                          <a:ea typeface="宋体"/>
                          <a:cs typeface="Times New Roman"/>
                        </a:rPr>
                        <a:t>2.52</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algn="ctr" defTabSz="685800" rtl="0" eaLnBrk="1" latinLnBrk="0" hangingPunct="1">
                        <a:lnSpc>
                          <a:spcPct val="150000"/>
                        </a:lnSpc>
                        <a:spcAft>
                          <a:spcPts val="0"/>
                        </a:spcAft>
                      </a:pPr>
                      <a:r>
                        <a:rPr lang="en-US" altLang="zh-CN" sz="1200" b="1" kern="100" dirty="0" smtClean="0">
                          <a:solidFill>
                            <a:schemeClr val="tx1"/>
                          </a:solidFill>
                          <a:latin typeface="Calibri"/>
                          <a:ea typeface="宋体"/>
                          <a:cs typeface="Times New Roman"/>
                        </a:rPr>
                        <a:t>0.64</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algn="ctr" defTabSz="685800" rtl="0" eaLnBrk="1" latinLnBrk="0" hangingPunct="1">
                        <a:lnSpc>
                          <a:spcPct val="150000"/>
                        </a:lnSpc>
                        <a:spcAft>
                          <a:spcPts val="0"/>
                        </a:spcAft>
                      </a:pPr>
                      <a:r>
                        <a:rPr lang="en-US" altLang="zh-CN" sz="1200" b="1" kern="100" dirty="0" smtClean="0">
                          <a:solidFill>
                            <a:schemeClr val="tx1"/>
                          </a:solidFill>
                          <a:latin typeface="Calibri"/>
                          <a:ea typeface="宋体"/>
                          <a:cs typeface="Times New Roman"/>
                        </a:rPr>
                        <a:t>18.84%</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4B237"/>
                    </a:solidFill>
                  </a:tcPr>
                </a:tc>
                <a:tc>
                  <a:txBody>
                    <a:bodyPr/>
                    <a:lstStyle/>
                    <a:p>
                      <a:pPr marL="0" marR="0" indent="0" algn="ctr" defTabSz="685800" rtl="0" eaLnBrk="1" fontAlgn="auto" latinLnBrk="0" hangingPunct="1">
                        <a:lnSpc>
                          <a:spcPct val="150000"/>
                        </a:lnSpc>
                        <a:spcBef>
                          <a:spcPts val="0"/>
                        </a:spcBef>
                        <a:spcAft>
                          <a:spcPts val="0"/>
                        </a:spcAft>
                        <a:buClrTx/>
                        <a:buSzTx/>
                        <a:buFontTx/>
                        <a:buNone/>
                        <a:tabLst/>
                        <a:defRPr/>
                      </a:pPr>
                      <a:r>
                        <a:rPr lang="en-US" sz="1200" b="1" kern="100" dirty="0" smtClean="0">
                          <a:solidFill>
                            <a:srgbClr val="FF0000"/>
                          </a:solidFill>
                          <a:latin typeface="+mn-lt"/>
                          <a:ea typeface="宋体"/>
                          <a:cs typeface="Times New Roman"/>
                        </a:rPr>
                        <a:t>YES</a:t>
                      </a:r>
                      <a:endParaRPr lang="zh-CN" altLang="en-US" sz="1200" b="1" kern="100" dirty="0" smtClean="0">
                        <a:solidFill>
                          <a:schemeClr val="tx1"/>
                        </a:solidFill>
                        <a:latin typeface="+mn-lt"/>
                        <a:ea typeface="+mn-ea"/>
                        <a:cs typeface="Times New Roman"/>
                      </a:endParaRPr>
                    </a:p>
                  </a:txBody>
                  <a:tcPr marL="45912" marR="45912"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5324">
                <a:tc>
                  <a:txBody>
                    <a:bodyPr/>
                    <a:lstStyle/>
                    <a:p>
                      <a:pPr marL="0" indent="10795" algn="ctr" defTabSz="914400" rtl="0" eaLnBrk="1" latinLnBrk="0" hangingPunct="1">
                        <a:lnSpc>
                          <a:spcPct val="150000"/>
                        </a:lnSpc>
                        <a:spcAft>
                          <a:spcPts val="0"/>
                        </a:spcAft>
                      </a:pPr>
                      <a:r>
                        <a:rPr lang="en-US" altLang="zh-CN" sz="1600" b="0" kern="100" dirty="0" smtClean="0">
                          <a:solidFill>
                            <a:schemeClr val="tx1"/>
                          </a:solidFill>
                          <a:latin typeface="Calibri"/>
                          <a:ea typeface="宋体"/>
                          <a:cs typeface="Times New Roman"/>
                        </a:rPr>
                        <a:t>Real-time</a:t>
                      </a:r>
                      <a:endParaRPr lang="zh-CN" sz="1600" b="0" kern="100" dirty="0">
                        <a:solidFill>
                          <a:schemeClr val="tx1"/>
                        </a:solidFill>
                        <a:latin typeface="Calibri"/>
                        <a:ea typeface="宋体"/>
                        <a:cs typeface="Times New Roman"/>
                      </a:endParaRPr>
                    </a:p>
                  </a:txBody>
                  <a:tcPr marL="45912" marR="45912"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altLang="zh-CN" sz="1200" b="1" kern="100" dirty="0" smtClean="0">
                          <a:solidFill>
                            <a:schemeClr val="tx1"/>
                          </a:solidFill>
                          <a:latin typeface="Calibri"/>
                          <a:ea typeface="宋体"/>
                          <a:cs typeface="Times New Roman"/>
                        </a:rPr>
                        <a:t>1.62</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altLang="zh-CN" sz="1200" b="1" kern="100" dirty="0" smtClean="0">
                          <a:solidFill>
                            <a:schemeClr val="tx1"/>
                          </a:solidFill>
                          <a:latin typeface="Calibri"/>
                          <a:ea typeface="宋体"/>
                          <a:cs typeface="Times New Roman"/>
                        </a:rPr>
                        <a:t>0.26</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algn="ctr" defTabSz="685800" rtl="0" eaLnBrk="1" latinLnBrk="0" hangingPunct="1">
                        <a:lnSpc>
                          <a:spcPct val="150000"/>
                        </a:lnSpc>
                        <a:spcAft>
                          <a:spcPts val="0"/>
                        </a:spcAft>
                      </a:pPr>
                      <a:r>
                        <a:rPr lang="en-US" altLang="zh-CN" sz="1200" b="1" kern="100" dirty="0" smtClean="0">
                          <a:solidFill>
                            <a:schemeClr val="tx1"/>
                          </a:solidFill>
                          <a:latin typeface="Calibri"/>
                          <a:ea typeface="宋体"/>
                          <a:cs typeface="Times New Roman"/>
                        </a:rPr>
                        <a:t>1.88</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solidFill>
                  </a:tcPr>
                </a:tc>
                <a:tc>
                  <a:txBody>
                    <a:bodyPr/>
                    <a:lstStyle/>
                    <a:p>
                      <a:pPr marL="0" algn="ctr" defTabSz="685800" rtl="0" eaLnBrk="1" latinLnBrk="0" hangingPunct="1">
                        <a:lnSpc>
                          <a:spcPct val="150000"/>
                        </a:lnSpc>
                        <a:spcAft>
                          <a:spcPts val="0"/>
                        </a:spcAft>
                      </a:pPr>
                      <a:r>
                        <a:rPr lang="en-US" altLang="zh-CN" sz="1200" b="1" kern="100" dirty="0" smtClean="0">
                          <a:solidFill>
                            <a:schemeClr val="tx1"/>
                          </a:solidFill>
                          <a:latin typeface="Calibri"/>
                          <a:ea typeface="宋体"/>
                          <a:cs typeface="Times New Roman"/>
                        </a:rPr>
                        <a:t>2.52</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0F0"/>
                    </a:solidFill>
                  </a:tcPr>
                </a:tc>
                <a:tc>
                  <a:txBody>
                    <a:bodyPr/>
                    <a:lstStyle/>
                    <a:p>
                      <a:pPr marL="0" algn="ctr" defTabSz="685800" rtl="0" eaLnBrk="1" latinLnBrk="0" hangingPunct="1">
                        <a:lnSpc>
                          <a:spcPct val="150000"/>
                        </a:lnSpc>
                        <a:spcAft>
                          <a:spcPts val="0"/>
                        </a:spcAft>
                      </a:pPr>
                      <a:r>
                        <a:rPr lang="en-US" altLang="zh-CN" sz="1200" b="1" kern="100" dirty="0" smtClean="0">
                          <a:solidFill>
                            <a:schemeClr val="tx1"/>
                          </a:solidFill>
                          <a:latin typeface="Calibri"/>
                          <a:ea typeface="宋体"/>
                          <a:cs typeface="Times New Roman"/>
                        </a:rPr>
                        <a:t>0.64</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00"/>
                    </a:solidFill>
                  </a:tcPr>
                </a:tc>
                <a:tc>
                  <a:txBody>
                    <a:bodyPr/>
                    <a:lstStyle/>
                    <a:p>
                      <a:pPr marL="0" algn="ctr" defTabSz="685800" rtl="0" eaLnBrk="1" latinLnBrk="0" hangingPunct="1">
                        <a:lnSpc>
                          <a:spcPct val="150000"/>
                        </a:lnSpc>
                        <a:spcAft>
                          <a:spcPts val="0"/>
                        </a:spcAft>
                      </a:pPr>
                      <a:r>
                        <a:rPr lang="en-US" altLang="zh-CN" sz="1200" b="1" kern="100" dirty="0" smtClean="0">
                          <a:solidFill>
                            <a:schemeClr val="tx1"/>
                          </a:solidFill>
                          <a:latin typeface="Calibri"/>
                          <a:ea typeface="宋体"/>
                          <a:cs typeface="Times New Roman"/>
                        </a:rPr>
                        <a:t>18.84%</a:t>
                      </a:r>
                      <a:endParaRPr lang="zh-CN" sz="1200" b="1" kern="100" dirty="0">
                        <a:solidFill>
                          <a:schemeClr val="tx1"/>
                        </a:solidFill>
                        <a:latin typeface="Calibri"/>
                        <a:ea typeface="宋体"/>
                        <a:cs typeface="Times New Roman"/>
                      </a:endParaRPr>
                    </a:p>
                  </a:txBody>
                  <a:tcPr marL="45912" marR="459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34B237"/>
                    </a:solidFill>
                  </a:tcPr>
                </a:tc>
                <a:tc>
                  <a:txBody>
                    <a:bodyPr/>
                    <a:lstStyle/>
                    <a:p>
                      <a:pPr marL="0" marR="0" indent="0" algn="ctr" defTabSz="685800" rtl="0" eaLnBrk="1" fontAlgn="auto" latinLnBrk="0" hangingPunct="1">
                        <a:lnSpc>
                          <a:spcPct val="150000"/>
                        </a:lnSpc>
                        <a:spcBef>
                          <a:spcPts val="0"/>
                        </a:spcBef>
                        <a:spcAft>
                          <a:spcPts val="0"/>
                        </a:spcAft>
                        <a:buClrTx/>
                        <a:buSzTx/>
                        <a:buFontTx/>
                        <a:buNone/>
                        <a:tabLst/>
                        <a:defRPr/>
                      </a:pPr>
                      <a:r>
                        <a:rPr lang="en-US" sz="1200" b="1" kern="100" dirty="0" smtClean="0">
                          <a:solidFill>
                            <a:srgbClr val="FF0000"/>
                          </a:solidFill>
                          <a:latin typeface="+mn-lt"/>
                          <a:ea typeface="宋体"/>
                          <a:cs typeface="Times New Roman"/>
                        </a:rPr>
                        <a:t>YES</a:t>
                      </a:r>
                      <a:endParaRPr lang="zh-CN" altLang="en-US" sz="1200" b="1" kern="100" dirty="0" smtClean="0">
                        <a:solidFill>
                          <a:schemeClr val="tx1"/>
                        </a:solidFill>
                        <a:latin typeface="+mn-lt"/>
                        <a:ea typeface="+mn-ea"/>
                        <a:cs typeface="Times New Roman"/>
                      </a:endParaRPr>
                    </a:p>
                  </a:txBody>
                  <a:tcPr marL="45912" marR="45912"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7" name="矩形 6"/>
          <p:cNvSpPr/>
          <p:nvPr/>
        </p:nvSpPr>
        <p:spPr>
          <a:xfrm>
            <a:off x="2071670" y="500042"/>
            <a:ext cx="5251759" cy="707886"/>
          </a:xfrm>
          <a:prstGeom prst="rect">
            <a:avLst/>
          </a:prstGeom>
        </p:spPr>
        <p:txBody>
          <a:bodyPr wrap="none">
            <a:spAutoFit/>
          </a:bodyPr>
          <a:lstStyle/>
          <a:p>
            <a:r>
              <a:rPr lang="en-US" altLang="zh-CN" sz="4000" dirty="0" smtClean="0">
                <a:solidFill>
                  <a:srgbClr val="FFFFCC"/>
                </a:solidFill>
                <a:latin typeface="Impact" pitchFamily="34" charset="0"/>
                <a:ea typeface="方正大黑简体" pitchFamily="2" charset="-122"/>
              </a:rPr>
              <a:t>Power balance analysis </a:t>
            </a:r>
            <a:endParaRPr lang="zh-CN" altLang="en-US" sz="4000" dirty="0"/>
          </a:p>
        </p:txBody>
      </p:sp>
      <p:sp>
        <p:nvSpPr>
          <p:cNvPr id="8" name="矩形 27"/>
          <p:cNvSpPr>
            <a:spLocks noChangeArrowheads="1"/>
          </p:cNvSpPr>
          <p:nvPr/>
        </p:nvSpPr>
        <p:spPr bwMode="auto">
          <a:xfrm>
            <a:off x="360118" y="1590480"/>
            <a:ext cx="6624849" cy="887422"/>
          </a:xfrm>
          <a:prstGeom prst="rect">
            <a:avLst/>
          </a:prstGeom>
          <a:noFill/>
          <a:ln w="9525">
            <a:noFill/>
            <a:miter lim="800000"/>
            <a:headEnd/>
            <a:tailEnd/>
          </a:ln>
        </p:spPr>
        <p:txBody>
          <a:bodyPr wrap="square">
            <a:spAutoFit/>
          </a:bodyPr>
          <a:lstStyle/>
          <a:p>
            <a:pPr algn="l">
              <a:lnSpc>
                <a:spcPts val="3100"/>
              </a:lnSpc>
              <a:buFont typeface="Arial" pitchFamily="34" charset="0"/>
              <a:buChar char="•"/>
            </a:pPr>
            <a:r>
              <a:rPr lang="en-US" altLang="zh-CN" b="0" dirty="0">
                <a:solidFill>
                  <a:srgbClr val="FF0000"/>
                </a:solidFill>
              </a:rPr>
              <a:t>   </a:t>
            </a:r>
            <a:r>
              <a:rPr lang="en-US" altLang="zh-CN" b="0" dirty="0" smtClean="0">
                <a:solidFill>
                  <a:srgbClr val="FF0000"/>
                </a:solidFill>
              </a:rPr>
              <a:t>     </a:t>
            </a:r>
            <a:r>
              <a:rPr lang="en-US" altLang="zh-CN" sz="2200" dirty="0" smtClean="0">
                <a:solidFill>
                  <a:srgbClr val="FF0000"/>
                </a:solidFill>
              </a:rPr>
              <a:t>Long-term: SA sun-pointing</a:t>
            </a:r>
          </a:p>
          <a:p>
            <a:pPr algn="l">
              <a:lnSpc>
                <a:spcPts val="3100"/>
              </a:lnSpc>
              <a:buFont typeface="Arial" pitchFamily="34" charset="0"/>
              <a:buChar char="•"/>
            </a:pPr>
            <a:r>
              <a:rPr lang="en-US" altLang="zh-CN" sz="2200" dirty="0" smtClean="0">
                <a:solidFill>
                  <a:srgbClr val="FF0000"/>
                </a:solidFill>
              </a:rPr>
              <a:t>      Operation modes:  SA earth-pointing </a:t>
            </a:r>
            <a:endParaRPr lang="en-US" altLang="zh-CN" sz="2200" b="0"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28</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497621" y="1900300"/>
            <a:ext cx="5334537" cy="461665"/>
          </a:xfrm>
          <a:prstGeom prst="rect">
            <a:avLst/>
          </a:prstGeom>
        </p:spPr>
        <p:txBody>
          <a:bodyPr wrap="none">
            <a:spAutoFit/>
          </a:bodyPr>
          <a:lstStyle/>
          <a:p>
            <a:pPr>
              <a:buFont typeface="Arial" charset="0"/>
              <a:buNone/>
            </a:pPr>
            <a:r>
              <a:rPr lang="en-US" altLang="zh-CN" sz="2400" b="1" dirty="0" smtClean="0">
                <a:solidFill>
                  <a:srgbClr val="C00000"/>
                </a:solidFill>
              </a:rPr>
              <a:t>Requirement</a:t>
            </a:r>
            <a:r>
              <a:rPr lang="zh-CN" altLang="en-US" sz="2400" b="1" dirty="0" smtClean="0"/>
              <a:t>：</a:t>
            </a:r>
            <a:r>
              <a:rPr lang="en-US" altLang="zh-CN" sz="2400" b="1" dirty="0" smtClean="0"/>
              <a:t>one circle power balance</a:t>
            </a:r>
            <a:endParaRPr lang="zh-CN" altLang="en-US" sz="2400" b="1" dirty="0" smtClean="0"/>
          </a:p>
        </p:txBody>
      </p:sp>
      <p:sp>
        <p:nvSpPr>
          <p:cNvPr id="7" name="矩形 6"/>
          <p:cNvSpPr/>
          <p:nvPr/>
        </p:nvSpPr>
        <p:spPr>
          <a:xfrm>
            <a:off x="2000232" y="500042"/>
            <a:ext cx="5251759" cy="707886"/>
          </a:xfrm>
          <a:prstGeom prst="rect">
            <a:avLst/>
          </a:prstGeom>
        </p:spPr>
        <p:txBody>
          <a:bodyPr wrap="none">
            <a:spAutoFit/>
          </a:bodyPr>
          <a:lstStyle/>
          <a:p>
            <a:pPr algn="ctr"/>
            <a:r>
              <a:rPr lang="en-US" altLang="zh-CN" sz="4000" dirty="0" smtClean="0">
                <a:solidFill>
                  <a:srgbClr val="FFFFCC"/>
                </a:solidFill>
                <a:latin typeface="Impact" pitchFamily="34" charset="0"/>
                <a:ea typeface="方正大黑简体" pitchFamily="2" charset="-122"/>
              </a:rPr>
              <a:t>Power balance analysis </a:t>
            </a:r>
            <a:endParaRPr lang="zh-CN" altLang="en-US" sz="4000" dirty="0"/>
          </a:p>
        </p:txBody>
      </p:sp>
      <p:graphicFrame>
        <p:nvGraphicFramePr>
          <p:cNvPr id="8" name="Object 8"/>
          <p:cNvGraphicFramePr>
            <a:graphicFrameLocks noChangeAspect="1"/>
          </p:cNvGraphicFramePr>
          <p:nvPr/>
        </p:nvGraphicFramePr>
        <p:xfrm>
          <a:off x="1909727" y="2369514"/>
          <a:ext cx="3213100" cy="458787"/>
        </p:xfrm>
        <a:graphic>
          <a:graphicData uri="http://schemas.openxmlformats.org/presentationml/2006/ole">
            <mc:AlternateContent xmlns:mc="http://schemas.openxmlformats.org/markup-compatibility/2006">
              <mc:Choice xmlns:v="urn:schemas-microsoft-com:vml" Requires="v">
                <p:oleObj spid="_x0000_s3076" name="Equation" r:id="rId3" imgW="1002865" imgH="241195" progId="">
                  <p:embed/>
                </p:oleObj>
              </mc:Choice>
              <mc:Fallback>
                <p:oleObj name="Equation" r:id="rId3" imgW="1002865" imgH="241195" progId="">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9727" y="2369514"/>
                        <a:ext cx="3213100"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矩形 8"/>
          <p:cNvSpPr/>
          <p:nvPr/>
        </p:nvSpPr>
        <p:spPr>
          <a:xfrm>
            <a:off x="617081" y="2884154"/>
            <a:ext cx="4702954" cy="461665"/>
          </a:xfrm>
          <a:prstGeom prst="rect">
            <a:avLst/>
          </a:prstGeom>
        </p:spPr>
        <p:txBody>
          <a:bodyPr wrap="none">
            <a:spAutoFit/>
          </a:bodyPr>
          <a:lstStyle/>
          <a:p>
            <a:pPr>
              <a:buFont typeface="Wingdings" pitchFamily="2" charset="2"/>
              <a:buChar char="u"/>
            </a:pPr>
            <a:r>
              <a:rPr lang="zh-CN" altLang="en-US" sz="2400" b="1" dirty="0" smtClean="0">
                <a:solidFill>
                  <a:srgbClr val="0070C0"/>
                </a:solidFill>
              </a:rPr>
              <a:t>   </a:t>
            </a:r>
            <a:r>
              <a:rPr lang="en-US" altLang="zh-CN" sz="2400" b="1" dirty="0" smtClean="0">
                <a:solidFill>
                  <a:srgbClr val="0070C0"/>
                </a:solidFill>
              </a:rPr>
              <a:t>Chargeable capacity calculation</a:t>
            </a:r>
          </a:p>
        </p:txBody>
      </p:sp>
      <p:graphicFrame>
        <p:nvGraphicFramePr>
          <p:cNvPr id="10" name="Object 1"/>
          <p:cNvGraphicFramePr>
            <a:graphicFrameLocks noChangeAspect="1"/>
          </p:cNvGraphicFramePr>
          <p:nvPr/>
        </p:nvGraphicFramePr>
        <p:xfrm>
          <a:off x="2704753" y="3501040"/>
          <a:ext cx="2905125" cy="463550"/>
        </p:xfrm>
        <a:graphic>
          <a:graphicData uri="http://schemas.openxmlformats.org/presentationml/2006/ole">
            <mc:AlternateContent xmlns:mc="http://schemas.openxmlformats.org/markup-compatibility/2006">
              <mc:Choice xmlns:v="urn:schemas-microsoft-com:vml" Requires="v">
                <p:oleObj spid="_x0000_s3077" name="Equation" r:id="rId5" imgW="1497950" imgH="241195" progId="">
                  <p:embed/>
                </p:oleObj>
              </mc:Choice>
              <mc:Fallback>
                <p:oleObj name="Equation" r:id="rId5" imgW="1497950" imgH="241195" progId="">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4753" y="3501040"/>
                        <a:ext cx="2905125"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圆角矩形 10"/>
          <p:cNvSpPr/>
          <p:nvPr/>
        </p:nvSpPr>
        <p:spPr>
          <a:xfrm>
            <a:off x="4911558" y="4565664"/>
            <a:ext cx="2702432" cy="792162"/>
          </a:xfrm>
          <a:prstGeom prst="roundRect">
            <a:avLst/>
          </a:prstGeom>
          <a:ln w="28575"/>
        </p:spPr>
        <p:style>
          <a:lnRef idx="2">
            <a:schemeClr val="accent6"/>
          </a:lnRef>
          <a:fillRef idx="1">
            <a:schemeClr val="lt1"/>
          </a:fillRef>
          <a:effectRef idx="0">
            <a:schemeClr val="accent6"/>
          </a:effectRef>
          <a:fontRef idx="minor">
            <a:schemeClr val="dk1"/>
          </a:fontRef>
        </p:style>
        <p:txBody>
          <a:bodyPr anchor="ctr"/>
          <a:lstStyle/>
          <a:p>
            <a:pPr>
              <a:defRPr/>
            </a:pPr>
            <a:r>
              <a:rPr lang="en-US" altLang="zh-CN" sz="1800" dirty="0" smtClean="0"/>
              <a:t>Chargeable </a:t>
            </a:r>
            <a:r>
              <a:rPr lang="en-US" altLang="zh-CN" sz="1800" dirty="0"/>
              <a:t>power under short-term load condition</a:t>
            </a:r>
            <a:endParaRPr lang="zh-CN" altLang="en-US" sz="1800" dirty="0"/>
          </a:p>
        </p:txBody>
      </p:sp>
      <p:grpSp>
        <p:nvGrpSpPr>
          <p:cNvPr id="12" name="组合 11"/>
          <p:cNvGrpSpPr/>
          <p:nvPr/>
        </p:nvGrpSpPr>
        <p:grpSpPr>
          <a:xfrm>
            <a:off x="1342695" y="3990989"/>
            <a:ext cx="2592387" cy="1366837"/>
            <a:chOff x="987344" y="2840005"/>
            <a:chExt cx="2592387" cy="1366837"/>
          </a:xfrm>
        </p:grpSpPr>
        <p:sp>
          <p:nvSpPr>
            <p:cNvPr id="13" name="圆角矩形 12"/>
            <p:cNvSpPr/>
            <p:nvPr/>
          </p:nvSpPr>
          <p:spPr>
            <a:xfrm>
              <a:off x="987344" y="3414680"/>
              <a:ext cx="2592387" cy="792162"/>
            </a:xfrm>
            <a:prstGeom prst="roundRect">
              <a:avLst/>
            </a:prstGeom>
            <a:ln w="19050"/>
          </p:spPr>
          <p:style>
            <a:lnRef idx="2">
              <a:schemeClr val="accent6"/>
            </a:lnRef>
            <a:fillRef idx="1">
              <a:schemeClr val="lt1"/>
            </a:fillRef>
            <a:effectRef idx="0">
              <a:schemeClr val="accent6"/>
            </a:effectRef>
            <a:fontRef idx="minor">
              <a:schemeClr val="dk1"/>
            </a:fontRef>
          </p:style>
          <p:txBody>
            <a:bodyPr anchor="ctr"/>
            <a:lstStyle/>
            <a:p>
              <a:pPr>
                <a:defRPr/>
              </a:pPr>
              <a:r>
                <a:rPr lang="en-US" altLang="zh-CN" sz="1800" dirty="0" smtClean="0"/>
                <a:t>Chargeable </a:t>
              </a:r>
              <a:r>
                <a:rPr lang="en-US" altLang="zh-CN" sz="1800" dirty="0"/>
                <a:t>power under long-term load condition</a:t>
              </a:r>
              <a:endParaRPr lang="zh-CN" altLang="en-US" sz="1800" dirty="0"/>
            </a:p>
          </p:txBody>
        </p:sp>
        <p:cxnSp>
          <p:nvCxnSpPr>
            <p:cNvPr id="14" name="直接箭头连接符 13"/>
            <p:cNvCxnSpPr/>
            <p:nvPr/>
          </p:nvCxnSpPr>
          <p:spPr>
            <a:xfrm rot="5400000" flipH="1" flipV="1">
              <a:off x="3037461" y="2875682"/>
              <a:ext cx="506510" cy="435156"/>
            </a:xfrm>
            <a:prstGeom prst="straightConnector1">
              <a:avLst/>
            </a:prstGeom>
            <a:ln w="28575">
              <a:tailEnd type="arrow"/>
            </a:ln>
          </p:spPr>
          <p:style>
            <a:lnRef idx="2">
              <a:schemeClr val="accent2"/>
            </a:lnRef>
            <a:fillRef idx="0">
              <a:schemeClr val="accent2"/>
            </a:fillRef>
            <a:effectRef idx="1">
              <a:schemeClr val="accent2"/>
            </a:effectRef>
            <a:fontRef idx="minor">
              <a:schemeClr val="tx1"/>
            </a:fontRef>
          </p:style>
        </p:cxnSp>
      </p:grpSp>
      <p:cxnSp>
        <p:nvCxnSpPr>
          <p:cNvPr id="15" name="直接箭头连接符 14"/>
          <p:cNvCxnSpPr/>
          <p:nvPr/>
        </p:nvCxnSpPr>
        <p:spPr>
          <a:xfrm rot="16200000" flipV="1">
            <a:off x="5303247" y="4062690"/>
            <a:ext cx="497083" cy="353683"/>
          </a:xfrm>
          <a:prstGeom prst="straightConnector1">
            <a:avLst/>
          </a:prstGeom>
          <a:ln w="28575">
            <a:tailEnd type="arrow"/>
          </a:ln>
        </p:spPr>
        <p:style>
          <a:lnRef idx="2">
            <a:schemeClr val="accent2"/>
          </a:lnRef>
          <a:fillRef idx="0">
            <a:schemeClr val="accent2"/>
          </a:fillRef>
          <a:effectRef idx="1">
            <a:schemeClr val="accent2"/>
          </a:effectRef>
          <a:fontRef idx="minor">
            <a:schemeClr val="tx1"/>
          </a:fontRef>
        </p:style>
      </p:cxnSp>
      <p:sp>
        <p:nvSpPr>
          <p:cNvPr id="16" name="矩形 15"/>
          <p:cNvSpPr/>
          <p:nvPr/>
        </p:nvSpPr>
        <p:spPr>
          <a:xfrm>
            <a:off x="5268489" y="2315082"/>
            <a:ext cx="2803973" cy="584775"/>
          </a:xfrm>
          <a:prstGeom prst="rect">
            <a:avLst/>
          </a:prstGeom>
        </p:spPr>
        <p:txBody>
          <a:bodyPr wrap="none">
            <a:spAutoFit/>
          </a:bodyPr>
          <a:lstStyle/>
          <a:p>
            <a:r>
              <a:rPr lang="en-US" altLang="zh-CN" sz="2000" dirty="0" smtClean="0"/>
              <a:t>and</a:t>
            </a:r>
            <a:r>
              <a:rPr lang="en-US" altLang="zh-CN" dirty="0" smtClean="0"/>
              <a:t>    </a:t>
            </a:r>
            <a:r>
              <a:rPr lang="en-US" altLang="zh-CN" sz="3200" dirty="0" smtClean="0"/>
              <a:t>DOD ≤  </a:t>
            </a:r>
            <a:r>
              <a:rPr lang="en-US" altLang="zh-CN" sz="3200" dirty="0" smtClean="0">
                <a:solidFill>
                  <a:srgbClr val="FF0000"/>
                </a:solidFill>
              </a:rPr>
              <a:t>30% </a:t>
            </a:r>
            <a:endParaRPr lang="zh-CN" altLang="en-US" sz="3200"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29</a:t>
            </a:fld>
            <a:r>
              <a:rPr lang="zh-CN" altLang="en-US" smtClean="0"/>
              <a:t> </a:t>
            </a:r>
            <a:endParaRPr lang="zh-CN" altLang="en-US" dirty="0">
              <a:latin typeface="微软雅黑" pitchFamily="34" charset="-122"/>
              <a:ea typeface="微软雅黑" pitchFamily="34" charset="-122"/>
            </a:endParaRPr>
          </a:p>
        </p:txBody>
      </p:sp>
      <p:graphicFrame>
        <p:nvGraphicFramePr>
          <p:cNvPr id="6" name="Object 6"/>
          <p:cNvGraphicFramePr>
            <a:graphicFrameLocks noChangeAspect="1"/>
          </p:cNvGraphicFramePr>
          <p:nvPr/>
        </p:nvGraphicFramePr>
        <p:xfrm>
          <a:off x="2362305" y="2296883"/>
          <a:ext cx="4103688" cy="542925"/>
        </p:xfrm>
        <a:graphic>
          <a:graphicData uri="http://schemas.openxmlformats.org/presentationml/2006/ole">
            <mc:AlternateContent xmlns:mc="http://schemas.openxmlformats.org/markup-compatibility/2006">
              <mc:Choice xmlns:v="urn:schemas-microsoft-com:vml" Requires="v">
                <p:oleObj spid="_x0000_s4099" name="Equation" r:id="rId3" imgW="1803400" imgH="241300" progId="">
                  <p:embed/>
                </p:oleObj>
              </mc:Choice>
              <mc:Fallback>
                <p:oleObj name="Equation" r:id="rId3" imgW="1803400" imgH="241300" progId="">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305" y="2296883"/>
                        <a:ext cx="4103688"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p:nvPr/>
        </p:nvSpPr>
        <p:spPr>
          <a:xfrm>
            <a:off x="644440" y="1774415"/>
            <a:ext cx="4211217" cy="461665"/>
          </a:xfrm>
          <a:prstGeom prst="rect">
            <a:avLst/>
          </a:prstGeom>
        </p:spPr>
        <p:txBody>
          <a:bodyPr wrap="none">
            <a:spAutoFit/>
          </a:bodyPr>
          <a:lstStyle/>
          <a:p>
            <a:pPr>
              <a:buFont typeface="Wingdings" pitchFamily="2" charset="2"/>
              <a:buChar char="u"/>
            </a:pPr>
            <a:r>
              <a:rPr lang="en-US" altLang="zh-CN" sz="2400" b="1" dirty="0" smtClean="0">
                <a:solidFill>
                  <a:srgbClr val="0070C0"/>
                </a:solidFill>
              </a:rPr>
              <a:t>  Discharge power calculation</a:t>
            </a:r>
            <a:endParaRPr lang="zh-CN" altLang="en-US" sz="2400" b="1" dirty="0" smtClean="0">
              <a:solidFill>
                <a:srgbClr val="0070C0"/>
              </a:solidFill>
            </a:endParaRPr>
          </a:p>
        </p:txBody>
      </p:sp>
      <p:sp>
        <p:nvSpPr>
          <p:cNvPr id="8" name="矩形 7"/>
          <p:cNvSpPr/>
          <p:nvPr/>
        </p:nvSpPr>
        <p:spPr>
          <a:xfrm>
            <a:off x="1928794" y="500042"/>
            <a:ext cx="5251759" cy="707886"/>
          </a:xfrm>
          <a:prstGeom prst="rect">
            <a:avLst/>
          </a:prstGeom>
        </p:spPr>
        <p:txBody>
          <a:bodyPr wrap="none">
            <a:spAutoFit/>
          </a:bodyPr>
          <a:lstStyle/>
          <a:p>
            <a:r>
              <a:rPr lang="en-US" altLang="zh-CN" sz="4000" dirty="0" smtClean="0">
                <a:solidFill>
                  <a:srgbClr val="FFFFCC"/>
                </a:solidFill>
                <a:latin typeface="Impact" pitchFamily="34" charset="0"/>
                <a:ea typeface="方正大黑简体" pitchFamily="2" charset="-122"/>
              </a:rPr>
              <a:t>Power balance analysis </a:t>
            </a:r>
            <a:endParaRPr lang="zh-CN" altLang="en-US" sz="4000" dirty="0"/>
          </a:p>
        </p:txBody>
      </p:sp>
      <p:grpSp>
        <p:nvGrpSpPr>
          <p:cNvPr id="9" name="组合 8"/>
          <p:cNvGrpSpPr/>
          <p:nvPr/>
        </p:nvGrpSpPr>
        <p:grpSpPr>
          <a:xfrm>
            <a:off x="1538213" y="2756964"/>
            <a:ext cx="6391373" cy="1222128"/>
            <a:chOff x="961533" y="2636839"/>
            <a:chExt cx="6391373" cy="1222128"/>
          </a:xfrm>
        </p:grpSpPr>
        <p:sp>
          <p:nvSpPr>
            <p:cNvPr id="10" name="圆角矩形 9"/>
            <p:cNvSpPr/>
            <p:nvPr/>
          </p:nvSpPr>
          <p:spPr>
            <a:xfrm>
              <a:off x="961533" y="3016576"/>
              <a:ext cx="3073138" cy="842391"/>
            </a:xfrm>
            <a:prstGeom prst="roundRect">
              <a:avLst/>
            </a:prstGeom>
            <a:ln w="28575"/>
          </p:spPr>
          <p:style>
            <a:lnRef idx="2">
              <a:schemeClr val="accent6"/>
            </a:lnRef>
            <a:fillRef idx="1">
              <a:schemeClr val="lt1"/>
            </a:fillRef>
            <a:effectRef idx="0">
              <a:schemeClr val="accent6"/>
            </a:effectRef>
            <a:fontRef idx="minor">
              <a:schemeClr val="dk1"/>
            </a:fontRef>
          </p:style>
          <p:txBody>
            <a:bodyPr anchor="ctr"/>
            <a:lstStyle/>
            <a:p>
              <a:pPr>
                <a:defRPr/>
              </a:pPr>
              <a:r>
                <a:rPr lang="en-US" altLang="zh-CN" sz="1600" dirty="0"/>
                <a:t>Discharge power </a:t>
              </a:r>
              <a:r>
                <a:rPr lang="en-US" altLang="zh-CN" sz="1600" dirty="0" smtClean="0"/>
                <a:t>in </a:t>
              </a:r>
              <a:r>
                <a:rPr lang="en-US" altLang="zh-CN" sz="1600" dirty="0"/>
                <a:t>umbra including long-term and short-term </a:t>
              </a:r>
              <a:r>
                <a:rPr lang="en-US" altLang="zh-CN" sz="1600" dirty="0" smtClean="0"/>
                <a:t>loads</a:t>
              </a:r>
              <a:endParaRPr lang="zh-CN" altLang="en-US" sz="1600" dirty="0"/>
            </a:p>
          </p:txBody>
        </p:sp>
        <p:cxnSp>
          <p:nvCxnSpPr>
            <p:cNvPr id="11" name="直接箭头连接符 10"/>
            <p:cNvCxnSpPr/>
            <p:nvPr/>
          </p:nvCxnSpPr>
          <p:spPr>
            <a:xfrm rot="5400000" flipH="1" flipV="1">
              <a:off x="3220948" y="2664161"/>
              <a:ext cx="336580" cy="330546"/>
            </a:xfrm>
            <a:prstGeom prst="straightConnector1">
              <a:avLst/>
            </a:prstGeom>
            <a:ln w="28575">
              <a:tailEnd type="arrow"/>
            </a:ln>
          </p:spPr>
          <p:style>
            <a:lnRef idx="2">
              <a:schemeClr val="accent2"/>
            </a:lnRef>
            <a:fillRef idx="0">
              <a:schemeClr val="accent2"/>
            </a:fillRef>
            <a:effectRef idx="1">
              <a:schemeClr val="accent2"/>
            </a:effectRef>
            <a:fontRef idx="minor">
              <a:schemeClr val="tx1"/>
            </a:fontRef>
          </p:style>
        </p:cxnSp>
        <p:cxnSp>
          <p:nvCxnSpPr>
            <p:cNvPr id="12" name="直接箭头连接符 11"/>
            <p:cNvCxnSpPr/>
            <p:nvPr/>
          </p:nvCxnSpPr>
          <p:spPr>
            <a:xfrm rot="10800000">
              <a:off x="4859340" y="2636839"/>
              <a:ext cx="381963" cy="332604"/>
            </a:xfrm>
            <a:prstGeom prst="straightConnector1">
              <a:avLst/>
            </a:prstGeom>
            <a:ln w="28575">
              <a:tailEnd type="arrow"/>
            </a:ln>
          </p:spPr>
          <p:style>
            <a:lnRef idx="2">
              <a:schemeClr val="accent2"/>
            </a:lnRef>
            <a:fillRef idx="0">
              <a:schemeClr val="accent2"/>
            </a:fillRef>
            <a:effectRef idx="1">
              <a:schemeClr val="accent2"/>
            </a:effectRef>
            <a:fontRef idx="minor">
              <a:schemeClr val="tx1"/>
            </a:fontRef>
          </p:style>
        </p:cxnSp>
        <p:sp>
          <p:nvSpPr>
            <p:cNvPr id="13" name="圆角矩形 12"/>
            <p:cNvSpPr/>
            <p:nvPr/>
          </p:nvSpPr>
          <p:spPr>
            <a:xfrm>
              <a:off x="4331796" y="3027625"/>
              <a:ext cx="3021110" cy="818511"/>
            </a:xfrm>
            <a:prstGeom prst="roundRect">
              <a:avLst/>
            </a:prstGeom>
            <a:ln w="28575"/>
          </p:spPr>
          <p:style>
            <a:lnRef idx="2">
              <a:schemeClr val="accent6"/>
            </a:lnRef>
            <a:fillRef idx="1">
              <a:schemeClr val="lt1"/>
            </a:fillRef>
            <a:effectRef idx="0">
              <a:schemeClr val="accent6"/>
            </a:effectRef>
            <a:fontRef idx="minor">
              <a:schemeClr val="dk1"/>
            </a:fontRef>
          </p:style>
          <p:txBody>
            <a:bodyPr anchor="ctr"/>
            <a:lstStyle/>
            <a:p>
              <a:pPr>
                <a:defRPr/>
              </a:pPr>
              <a:r>
                <a:rPr lang="en-US" altLang="zh-CN" sz="1800" dirty="0"/>
                <a:t>Discharge power in sunlight period when P</a:t>
              </a:r>
              <a:r>
                <a:rPr lang="en-US" altLang="zh-CN" sz="900" dirty="0"/>
                <a:t>SA</a:t>
              </a:r>
              <a:r>
                <a:rPr lang="en-US" altLang="zh-CN" sz="1400" dirty="0"/>
                <a:t>&lt;</a:t>
              </a:r>
              <a:r>
                <a:rPr lang="en-US" altLang="zh-CN" sz="1800" dirty="0"/>
                <a:t>  </a:t>
              </a:r>
              <a:r>
                <a:rPr lang="en-US" altLang="zh-CN" sz="1800" dirty="0" err="1"/>
                <a:t>P</a:t>
              </a:r>
              <a:r>
                <a:rPr lang="en-US" altLang="zh-CN" sz="900" dirty="0" err="1"/>
                <a:t>load</a:t>
              </a:r>
              <a:endParaRPr lang="zh-CN" altLang="en-US" sz="1800" dirty="0"/>
            </a:p>
          </p:txBody>
        </p:sp>
      </p:grpSp>
      <p:sp>
        <p:nvSpPr>
          <p:cNvPr id="14" name="矩形 13"/>
          <p:cNvSpPr/>
          <p:nvPr/>
        </p:nvSpPr>
        <p:spPr>
          <a:xfrm>
            <a:off x="644440" y="4168823"/>
            <a:ext cx="3053913" cy="461665"/>
          </a:xfrm>
          <a:prstGeom prst="rect">
            <a:avLst/>
          </a:prstGeom>
        </p:spPr>
        <p:txBody>
          <a:bodyPr wrap="none">
            <a:spAutoFit/>
          </a:bodyPr>
          <a:lstStyle/>
          <a:p>
            <a:pPr>
              <a:buFont typeface="Wingdings" pitchFamily="2" charset="2"/>
              <a:buChar char="u"/>
            </a:pPr>
            <a:r>
              <a:rPr lang="en-US" altLang="zh-CN" sz="2400" b="1" dirty="0" smtClean="0">
                <a:solidFill>
                  <a:srgbClr val="0070C0"/>
                </a:solidFill>
              </a:rPr>
              <a:t>  Depth of Discharge</a:t>
            </a:r>
            <a:endParaRPr lang="zh-CN" altLang="en-US" sz="2400" b="1" dirty="0" smtClean="0">
              <a:solidFill>
                <a:srgbClr val="0070C0"/>
              </a:solidFill>
            </a:endParaRPr>
          </a:p>
        </p:txBody>
      </p:sp>
      <p:sp>
        <p:nvSpPr>
          <p:cNvPr id="15" name="矩形 14"/>
          <p:cNvSpPr/>
          <p:nvPr/>
        </p:nvSpPr>
        <p:spPr>
          <a:xfrm>
            <a:off x="2558081" y="4753285"/>
            <a:ext cx="3937873" cy="461665"/>
          </a:xfrm>
          <a:prstGeom prst="rect">
            <a:avLst/>
          </a:prstGeom>
        </p:spPr>
        <p:txBody>
          <a:bodyPr wrap="none">
            <a:spAutoFit/>
          </a:bodyPr>
          <a:lstStyle/>
          <a:p>
            <a:r>
              <a:rPr lang="en-US" altLang="zh-CN" sz="2400" i="1" dirty="0" smtClean="0"/>
              <a:t>DOD</a:t>
            </a:r>
            <a:r>
              <a:rPr lang="en-US" altLang="zh-CN" sz="2400" b="1" dirty="0" smtClean="0"/>
              <a:t> = </a:t>
            </a:r>
            <a:r>
              <a:rPr lang="en-US" sz="2400" dirty="0" smtClean="0"/>
              <a:t>Q </a:t>
            </a:r>
            <a:r>
              <a:rPr lang="en-US" sz="2400" baseline="-25000" dirty="0" smtClean="0"/>
              <a:t>discharge</a:t>
            </a:r>
            <a:r>
              <a:rPr lang="en-US" sz="2400" dirty="0" smtClean="0"/>
              <a:t>/ Q </a:t>
            </a:r>
            <a:r>
              <a:rPr lang="en-US" sz="2400" baseline="-25000" dirty="0" smtClean="0"/>
              <a:t>battery capacity</a:t>
            </a:r>
            <a:endParaRPr lang="zh-CN" altLang="en-US" sz="2400" b="1" dirty="0" smtClean="0">
              <a:solidFill>
                <a:srgbClr val="0070C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30</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2071670" y="500042"/>
            <a:ext cx="5251759" cy="707886"/>
          </a:xfrm>
          <a:prstGeom prst="rect">
            <a:avLst/>
          </a:prstGeom>
        </p:spPr>
        <p:txBody>
          <a:bodyPr wrap="none">
            <a:spAutoFit/>
          </a:bodyPr>
          <a:lstStyle/>
          <a:p>
            <a:r>
              <a:rPr lang="en-US" altLang="zh-CN" sz="4000" dirty="0" smtClean="0">
                <a:solidFill>
                  <a:srgbClr val="FFFFCC"/>
                </a:solidFill>
                <a:latin typeface="Impact" pitchFamily="34" charset="0"/>
                <a:ea typeface="方正大黑简体" pitchFamily="2" charset="-122"/>
              </a:rPr>
              <a:t>Power balance analysis </a:t>
            </a:r>
            <a:endParaRPr lang="zh-CN" altLang="en-US" sz="4000" dirty="0"/>
          </a:p>
        </p:txBody>
      </p:sp>
      <p:graphicFrame>
        <p:nvGraphicFramePr>
          <p:cNvPr id="7" name="表格 6"/>
          <p:cNvGraphicFramePr>
            <a:graphicFrameLocks noGrp="1"/>
          </p:cNvGraphicFramePr>
          <p:nvPr/>
        </p:nvGraphicFramePr>
        <p:xfrm>
          <a:off x="500034" y="2214554"/>
          <a:ext cx="5015061" cy="3541395"/>
        </p:xfrm>
        <a:graphic>
          <a:graphicData uri="http://schemas.openxmlformats.org/drawingml/2006/table">
            <a:tbl>
              <a:tblPr/>
              <a:tblGrid>
                <a:gridCol w="673614"/>
                <a:gridCol w="2803852"/>
                <a:gridCol w="1537595"/>
              </a:tblGrid>
              <a:tr h="274271">
                <a:tc>
                  <a:txBody>
                    <a:bodyPr/>
                    <a:lstStyle/>
                    <a:p>
                      <a:pPr algn="just">
                        <a:lnSpc>
                          <a:spcPct val="150000"/>
                        </a:lnSpc>
                        <a:spcAft>
                          <a:spcPts val="0"/>
                        </a:spcAft>
                      </a:pPr>
                      <a:r>
                        <a:rPr lang="en-US" sz="1600" kern="100" dirty="0">
                          <a:solidFill>
                            <a:schemeClr val="tx1"/>
                          </a:solidFill>
                          <a:latin typeface="Times New Roman"/>
                          <a:ea typeface="宋体"/>
                          <a:cs typeface="+mn-cs"/>
                        </a:rPr>
                        <a:t>No.</a:t>
                      </a:r>
                      <a:endParaRPr lang="zh-CN" sz="1600" kern="100" dirty="0">
                        <a:solidFill>
                          <a:schemeClr val="tx1"/>
                        </a:solidFill>
                        <a:latin typeface="Times New Roman"/>
                        <a:ea typeface="宋体"/>
                        <a:cs typeface="+mn-cs"/>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a:solidFill>
                            <a:schemeClr val="tx1"/>
                          </a:solidFill>
                          <a:latin typeface="Times New Roman"/>
                          <a:ea typeface="宋体"/>
                          <a:cs typeface="+mn-cs"/>
                        </a:rPr>
                        <a:t>Items</a:t>
                      </a:r>
                      <a:endParaRPr lang="zh-CN" sz="1600" kern="100" dirty="0">
                        <a:solidFill>
                          <a:schemeClr val="tx1"/>
                        </a:solidFill>
                        <a:latin typeface="Times New Roman"/>
                        <a:ea typeface="宋体"/>
                        <a:cs typeface="+mn-cs"/>
                      </a:endParaRPr>
                    </a:p>
                  </a:txBody>
                  <a:tcPr marL="68567" marR="6856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a:latin typeface="Times New Roman"/>
                          <a:ea typeface="宋体"/>
                        </a:rPr>
                        <a:t>Parameters</a:t>
                      </a:r>
                      <a:endParaRPr lang="zh-CN" sz="1600" kern="100" dirty="0">
                        <a:latin typeface="Times New Roman"/>
                        <a:ea typeface="宋体"/>
                      </a:endParaRPr>
                    </a:p>
                  </a:txBody>
                  <a:tcPr marL="68567" marR="6856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71">
                <a:tc>
                  <a:txBody>
                    <a:bodyPr/>
                    <a:lstStyle/>
                    <a:p>
                      <a:pPr algn="just">
                        <a:lnSpc>
                          <a:spcPct val="150000"/>
                        </a:lnSpc>
                        <a:spcAft>
                          <a:spcPts val="0"/>
                        </a:spcAft>
                      </a:pPr>
                      <a:r>
                        <a:rPr lang="en-US" sz="1200" kern="100" dirty="0">
                          <a:latin typeface="Times New Roman"/>
                          <a:ea typeface="宋体"/>
                        </a:rPr>
                        <a:t>1</a:t>
                      </a:r>
                      <a:endParaRPr lang="zh-CN" sz="12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smtClean="0">
                          <a:latin typeface="Times New Roman"/>
                          <a:ea typeface="宋体"/>
                        </a:rPr>
                        <a:t>Long-term load</a:t>
                      </a:r>
                      <a:endParaRPr lang="zh-CN" sz="1600" kern="100" dirty="0">
                        <a:latin typeface="Times New Roman"/>
                        <a:ea typeface="宋体"/>
                      </a:endParaRPr>
                    </a:p>
                  </a:txBody>
                  <a:tcPr marL="68567" marR="6856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smtClean="0">
                          <a:latin typeface="Times New Roman"/>
                          <a:ea typeface="宋体"/>
                        </a:rPr>
                        <a:t>70W</a:t>
                      </a:r>
                      <a:endParaRPr lang="zh-CN" sz="1600" kern="100" dirty="0">
                        <a:latin typeface="Times New Roman"/>
                        <a:ea typeface="宋体"/>
                      </a:endParaRPr>
                    </a:p>
                  </a:txBody>
                  <a:tcPr marL="68567" marR="6856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71">
                <a:tc>
                  <a:txBody>
                    <a:bodyPr/>
                    <a:lstStyle/>
                    <a:p>
                      <a:pPr algn="just">
                        <a:lnSpc>
                          <a:spcPct val="150000"/>
                        </a:lnSpc>
                        <a:spcAft>
                          <a:spcPts val="0"/>
                        </a:spcAft>
                      </a:pPr>
                      <a:r>
                        <a:rPr lang="en-US" sz="1200" kern="100" dirty="0">
                          <a:latin typeface="Times New Roman"/>
                          <a:ea typeface="宋体"/>
                        </a:rPr>
                        <a:t>2</a:t>
                      </a:r>
                      <a:endParaRPr lang="zh-CN" sz="12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u="none" kern="100" dirty="0">
                          <a:latin typeface="Times New Roman"/>
                          <a:ea typeface="宋体"/>
                        </a:rPr>
                        <a:t>Max umbra period</a:t>
                      </a:r>
                      <a:endParaRPr lang="zh-CN" sz="1600" u="none" kern="100" dirty="0">
                        <a:latin typeface="Times New Roman"/>
                        <a:ea typeface="宋体"/>
                      </a:endParaRPr>
                    </a:p>
                  </a:txBody>
                  <a:tcPr marL="68567" marR="6856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0" u="none" kern="100" dirty="0" smtClean="0">
                          <a:solidFill>
                            <a:schemeClr val="tx1"/>
                          </a:solidFill>
                          <a:latin typeface="Times New Roman"/>
                          <a:ea typeface="宋体"/>
                          <a:hlinkClick r:id="" action="ppaction://noaction"/>
                        </a:rPr>
                        <a:t>34.8min</a:t>
                      </a:r>
                      <a:endParaRPr lang="zh-CN" sz="1600" b="0" u="none" kern="100" dirty="0">
                        <a:solidFill>
                          <a:schemeClr val="tx1"/>
                        </a:solidFill>
                        <a:latin typeface="Times New Roman"/>
                        <a:ea typeface="宋体"/>
                      </a:endParaRPr>
                    </a:p>
                  </a:txBody>
                  <a:tcPr marL="68567" marR="6856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71">
                <a:tc>
                  <a:txBody>
                    <a:bodyPr/>
                    <a:lstStyle/>
                    <a:p>
                      <a:pPr algn="just">
                        <a:lnSpc>
                          <a:spcPct val="150000"/>
                        </a:lnSpc>
                        <a:spcAft>
                          <a:spcPts val="0"/>
                        </a:spcAft>
                      </a:pPr>
                      <a:r>
                        <a:rPr lang="en-US" altLang="zh-CN" sz="1200" kern="100" dirty="0" smtClean="0">
                          <a:latin typeface="Times New Roman"/>
                          <a:ea typeface="宋体"/>
                        </a:rPr>
                        <a:t>3</a:t>
                      </a:r>
                      <a:endParaRPr lang="zh-CN" sz="12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685800" rtl="0" eaLnBrk="1" fontAlgn="auto" latinLnBrk="0" hangingPunct="1">
                        <a:lnSpc>
                          <a:spcPct val="150000"/>
                        </a:lnSpc>
                        <a:spcBef>
                          <a:spcPts val="0"/>
                        </a:spcBef>
                        <a:spcAft>
                          <a:spcPts val="0"/>
                        </a:spcAft>
                        <a:buClrTx/>
                        <a:buSzTx/>
                        <a:buFontTx/>
                        <a:buNone/>
                        <a:tabLst/>
                        <a:defRPr/>
                      </a:pPr>
                      <a:r>
                        <a:rPr lang="en-US" altLang="zh-CN" sz="1600" u="none" dirty="0" smtClean="0">
                          <a:latin typeface="Times New Roman"/>
                          <a:ea typeface="+mn-ea"/>
                        </a:rPr>
                        <a:t>Min light period</a:t>
                      </a:r>
                      <a:endParaRPr lang="zh-CN" altLang="en-US" sz="1600" u="none" dirty="0" smtClean="0">
                        <a:latin typeface="Times New Roman"/>
                        <a:ea typeface="+mn-ea"/>
                      </a:endParaRPr>
                    </a:p>
                  </a:txBody>
                  <a:tcPr marL="68567" marR="6856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altLang="zh-CN" sz="1600" b="1" u="none" kern="100" dirty="0" smtClean="0">
                          <a:solidFill>
                            <a:srgbClr val="0033CC"/>
                          </a:solidFill>
                          <a:latin typeface="Times New Roman"/>
                          <a:ea typeface="宋体"/>
                        </a:rPr>
                        <a:t>62.65min</a:t>
                      </a:r>
                      <a:endParaRPr lang="zh-CN" sz="1600" b="1" u="none" kern="100" dirty="0">
                        <a:solidFill>
                          <a:srgbClr val="0033CC"/>
                        </a:solidFill>
                        <a:latin typeface="Times New Roman"/>
                        <a:ea typeface="宋体"/>
                      </a:endParaRPr>
                    </a:p>
                  </a:txBody>
                  <a:tcPr marL="68567" marR="6856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71">
                <a:tc>
                  <a:txBody>
                    <a:bodyPr/>
                    <a:lstStyle/>
                    <a:p>
                      <a:pPr algn="just">
                        <a:lnSpc>
                          <a:spcPct val="150000"/>
                        </a:lnSpc>
                        <a:spcAft>
                          <a:spcPts val="0"/>
                        </a:spcAft>
                      </a:pPr>
                      <a:r>
                        <a:rPr lang="en-US" sz="1200" kern="100" dirty="0" smtClean="0">
                          <a:latin typeface="Times New Roman"/>
                          <a:ea typeface="宋体"/>
                        </a:rPr>
                        <a:t>4</a:t>
                      </a:r>
                      <a:endParaRPr lang="zh-CN" sz="12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a:latin typeface="Times New Roman"/>
                          <a:ea typeface="宋体"/>
                        </a:rPr>
                        <a:t>power supplied by solar array</a:t>
                      </a:r>
                      <a:endParaRPr lang="zh-CN" sz="16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smtClean="0">
                          <a:latin typeface="Times New Roman"/>
                          <a:ea typeface="宋体"/>
                        </a:rPr>
                        <a:t>151W</a:t>
                      </a:r>
                      <a:endParaRPr lang="zh-CN" sz="16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71">
                <a:tc>
                  <a:txBody>
                    <a:bodyPr/>
                    <a:lstStyle/>
                    <a:p>
                      <a:pPr algn="just">
                        <a:lnSpc>
                          <a:spcPct val="150000"/>
                        </a:lnSpc>
                        <a:spcAft>
                          <a:spcPts val="0"/>
                        </a:spcAft>
                      </a:pPr>
                      <a:r>
                        <a:rPr lang="en-US" sz="1200" kern="100" dirty="0" smtClean="0">
                          <a:latin typeface="Times New Roman"/>
                          <a:ea typeface="宋体"/>
                        </a:rPr>
                        <a:t>5</a:t>
                      </a:r>
                      <a:endParaRPr lang="zh-CN" sz="12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a:solidFill>
                            <a:schemeClr val="tx1"/>
                          </a:solidFill>
                          <a:latin typeface="Times New Roman"/>
                          <a:ea typeface="宋体"/>
                        </a:rPr>
                        <a:t>Battery discharge voltage</a:t>
                      </a:r>
                      <a:endParaRPr lang="zh-CN" sz="1600" kern="100" dirty="0">
                        <a:solidFill>
                          <a:schemeClr val="tx1"/>
                        </a:solidFill>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smtClean="0">
                          <a:solidFill>
                            <a:schemeClr val="tx1"/>
                          </a:solidFill>
                          <a:latin typeface="Times New Roman"/>
                          <a:ea typeface="宋体"/>
                        </a:rPr>
                        <a:t>3.60V</a:t>
                      </a:r>
                      <a:endParaRPr lang="zh-CN" sz="1600" kern="100" dirty="0">
                        <a:solidFill>
                          <a:schemeClr val="tx1"/>
                        </a:solidFill>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71">
                <a:tc>
                  <a:txBody>
                    <a:bodyPr/>
                    <a:lstStyle/>
                    <a:p>
                      <a:pPr algn="just">
                        <a:lnSpc>
                          <a:spcPct val="150000"/>
                        </a:lnSpc>
                        <a:spcAft>
                          <a:spcPts val="0"/>
                        </a:spcAft>
                      </a:pPr>
                      <a:r>
                        <a:rPr lang="en-US" sz="1200" kern="100" dirty="0" smtClean="0">
                          <a:latin typeface="Times New Roman"/>
                          <a:ea typeface="宋体"/>
                        </a:rPr>
                        <a:t>6</a:t>
                      </a:r>
                      <a:endParaRPr lang="zh-CN" sz="12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a:solidFill>
                            <a:schemeClr val="tx1"/>
                          </a:solidFill>
                          <a:latin typeface="Times New Roman"/>
                          <a:ea typeface="宋体"/>
                        </a:rPr>
                        <a:t>Battery charge voltage</a:t>
                      </a:r>
                      <a:endParaRPr lang="zh-CN" sz="1600" kern="100" dirty="0">
                        <a:solidFill>
                          <a:schemeClr val="tx1"/>
                        </a:solidFill>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smtClean="0">
                          <a:solidFill>
                            <a:schemeClr val="tx1"/>
                          </a:solidFill>
                          <a:latin typeface="Times New Roman"/>
                          <a:ea typeface="宋体"/>
                        </a:rPr>
                        <a:t>4.10V</a:t>
                      </a:r>
                      <a:endParaRPr lang="zh-CN" sz="1600" kern="100" dirty="0">
                        <a:solidFill>
                          <a:schemeClr val="tx1"/>
                        </a:solidFill>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71">
                <a:tc>
                  <a:txBody>
                    <a:bodyPr/>
                    <a:lstStyle/>
                    <a:p>
                      <a:pPr algn="just">
                        <a:lnSpc>
                          <a:spcPct val="150000"/>
                        </a:lnSpc>
                        <a:spcAft>
                          <a:spcPts val="0"/>
                        </a:spcAft>
                      </a:pPr>
                      <a:r>
                        <a:rPr lang="en-US" sz="1200" kern="100" dirty="0" smtClean="0">
                          <a:latin typeface="Times New Roman"/>
                          <a:ea typeface="宋体"/>
                        </a:rPr>
                        <a:t>7</a:t>
                      </a:r>
                      <a:endParaRPr lang="zh-CN" sz="12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a:latin typeface="Times New Roman"/>
                          <a:ea typeface="宋体"/>
                        </a:rPr>
                        <a:t>Battery Series number</a:t>
                      </a:r>
                      <a:endParaRPr lang="zh-CN" sz="16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smtClean="0">
                          <a:latin typeface="Times New Roman"/>
                          <a:ea typeface="宋体"/>
                        </a:rPr>
                        <a:t>7</a:t>
                      </a:r>
                      <a:endParaRPr lang="zh-CN" sz="16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71">
                <a:tc>
                  <a:txBody>
                    <a:bodyPr/>
                    <a:lstStyle/>
                    <a:p>
                      <a:pPr algn="just">
                        <a:lnSpc>
                          <a:spcPct val="150000"/>
                        </a:lnSpc>
                        <a:spcAft>
                          <a:spcPts val="0"/>
                        </a:spcAft>
                      </a:pPr>
                      <a:r>
                        <a:rPr lang="en-US" sz="1200" kern="100" dirty="0" smtClean="0">
                          <a:latin typeface="Times New Roman"/>
                          <a:ea typeface="宋体"/>
                        </a:rPr>
                        <a:t>8</a:t>
                      </a:r>
                      <a:endParaRPr lang="zh-CN" sz="12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a:latin typeface="Times New Roman"/>
                          <a:ea typeface="宋体"/>
                        </a:rPr>
                        <a:t>Battery </a:t>
                      </a:r>
                      <a:r>
                        <a:rPr lang="en-US" sz="1600" kern="100" dirty="0" smtClean="0">
                          <a:latin typeface="Times New Roman"/>
                          <a:ea typeface="宋体"/>
                        </a:rPr>
                        <a:t>capability (total)</a:t>
                      </a:r>
                      <a:endParaRPr lang="zh-CN" sz="16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smtClean="0">
                          <a:latin typeface="Times New Roman"/>
                          <a:ea typeface="宋体"/>
                        </a:rPr>
                        <a:t>10Ah</a:t>
                      </a:r>
                      <a:endParaRPr lang="zh-CN" sz="16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71">
                <a:tc>
                  <a:txBody>
                    <a:bodyPr/>
                    <a:lstStyle/>
                    <a:p>
                      <a:pPr algn="just">
                        <a:lnSpc>
                          <a:spcPct val="150000"/>
                        </a:lnSpc>
                        <a:spcAft>
                          <a:spcPts val="0"/>
                        </a:spcAft>
                      </a:pPr>
                      <a:r>
                        <a:rPr lang="en-US" sz="1200" kern="100" dirty="0" smtClean="0">
                          <a:latin typeface="Times New Roman"/>
                          <a:ea typeface="宋体"/>
                        </a:rPr>
                        <a:t>9</a:t>
                      </a:r>
                      <a:endParaRPr lang="zh-CN" sz="12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a:latin typeface="Times New Roman"/>
                          <a:ea typeface="宋体"/>
                        </a:rPr>
                        <a:t>Discharge line loss factor</a:t>
                      </a:r>
                      <a:endParaRPr lang="zh-CN" sz="16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a:latin typeface="Times New Roman"/>
                          <a:ea typeface="宋体"/>
                        </a:rPr>
                        <a:t>97%</a:t>
                      </a:r>
                      <a:endParaRPr lang="zh-CN" sz="16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71">
                <a:tc>
                  <a:txBody>
                    <a:bodyPr/>
                    <a:lstStyle/>
                    <a:p>
                      <a:pPr algn="just">
                        <a:lnSpc>
                          <a:spcPct val="150000"/>
                        </a:lnSpc>
                        <a:spcAft>
                          <a:spcPts val="0"/>
                        </a:spcAft>
                      </a:pPr>
                      <a:r>
                        <a:rPr lang="en-US" sz="1200" kern="100" dirty="0" smtClean="0">
                          <a:latin typeface="Times New Roman"/>
                          <a:ea typeface="宋体"/>
                        </a:rPr>
                        <a:t>10</a:t>
                      </a:r>
                      <a:endParaRPr lang="zh-CN" sz="12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smtClean="0">
                          <a:latin typeface="Times New Roman"/>
                          <a:ea typeface="宋体"/>
                        </a:rPr>
                        <a:t>Charge</a:t>
                      </a:r>
                      <a:r>
                        <a:rPr lang="en-US" sz="1600" kern="100" dirty="0">
                          <a:latin typeface="Times New Roman"/>
                          <a:ea typeface="宋体"/>
                        </a:rPr>
                        <a:t>/</a:t>
                      </a:r>
                      <a:r>
                        <a:rPr lang="en-US" sz="1600" kern="100" dirty="0" smtClean="0">
                          <a:latin typeface="Times New Roman"/>
                          <a:ea typeface="宋体"/>
                        </a:rPr>
                        <a:t>discharge </a:t>
                      </a:r>
                      <a:r>
                        <a:rPr lang="en-US" sz="1600" kern="100" dirty="0">
                          <a:latin typeface="Times New Roman"/>
                          <a:ea typeface="宋体"/>
                        </a:rPr>
                        <a:t>ratio</a:t>
                      </a:r>
                      <a:endParaRPr lang="zh-CN" sz="16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kern="100" dirty="0" smtClean="0">
                          <a:latin typeface="Times New Roman"/>
                          <a:ea typeface="宋体"/>
                        </a:rPr>
                        <a:t>1.01</a:t>
                      </a:r>
                      <a:endParaRPr lang="zh-CN" sz="1600" kern="100" dirty="0">
                        <a:latin typeface="Times New Roman"/>
                        <a:ea typeface="宋体"/>
                      </a:endParaRPr>
                    </a:p>
                  </a:txBody>
                  <a:tcPr marL="68567" marR="685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8" name="矩形 27"/>
          <p:cNvSpPr>
            <a:spLocks noChangeArrowheads="1"/>
          </p:cNvSpPr>
          <p:nvPr/>
        </p:nvSpPr>
        <p:spPr bwMode="auto">
          <a:xfrm>
            <a:off x="1071538" y="1581800"/>
            <a:ext cx="4500594" cy="489878"/>
          </a:xfrm>
          <a:prstGeom prst="rect">
            <a:avLst/>
          </a:prstGeom>
          <a:noFill/>
          <a:ln w="9525">
            <a:noFill/>
            <a:miter lim="800000"/>
            <a:headEnd/>
            <a:tailEnd/>
          </a:ln>
        </p:spPr>
        <p:txBody>
          <a:bodyPr wrap="square">
            <a:spAutoFit/>
          </a:bodyPr>
          <a:lstStyle/>
          <a:p>
            <a:pPr>
              <a:lnSpc>
                <a:spcPts val="3100"/>
              </a:lnSpc>
            </a:pPr>
            <a:r>
              <a:rPr lang="en-US" altLang="zh-CN" sz="2000" dirty="0" smtClean="0">
                <a:ea typeface="华文细黑" pitchFamily="2" charset="-122"/>
              </a:rPr>
              <a:t> Parameters for power balance analysis</a:t>
            </a:r>
            <a:endParaRPr lang="zh-CN" altLang="en-US" sz="2000" dirty="0" smtClean="0">
              <a:ea typeface="华文细黑" pitchFamily="2" charset="-122"/>
            </a:endParaRPr>
          </a:p>
        </p:txBody>
      </p:sp>
      <p:sp>
        <p:nvSpPr>
          <p:cNvPr id="9" name="圆角矩形 8"/>
          <p:cNvSpPr/>
          <p:nvPr/>
        </p:nvSpPr>
        <p:spPr>
          <a:xfrm>
            <a:off x="6000760" y="2500306"/>
            <a:ext cx="1584325" cy="288925"/>
          </a:xfrm>
          <a:prstGeom prst="roundRect">
            <a:avLst/>
          </a:prstGeom>
          <a:ln w="19050">
            <a:solidFill>
              <a:srgbClr val="FFC000"/>
            </a:solidFill>
          </a:ln>
        </p:spPr>
        <p:style>
          <a:lnRef idx="2">
            <a:schemeClr val="accent6"/>
          </a:lnRef>
          <a:fillRef idx="1">
            <a:schemeClr val="lt1"/>
          </a:fillRef>
          <a:effectRef idx="0">
            <a:schemeClr val="accent6"/>
          </a:effectRef>
          <a:fontRef idx="minor">
            <a:schemeClr val="dk1"/>
          </a:fontRef>
        </p:style>
        <p:txBody>
          <a:bodyPr anchor="ctr"/>
          <a:lstStyle/>
          <a:p>
            <a:pPr>
              <a:defRPr/>
            </a:pPr>
            <a:r>
              <a:rPr lang="en-US" altLang="zh-CN" sz="1800" dirty="0"/>
              <a:t>Power budget</a:t>
            </a:r>
            <a:endParaRPr lang="zh-CN" altLang="en-US" sz="1800" dirty="0"/>
          </a:p>
        </p:txBody>
      </p:sp>
      <p:sp>
        <p:nvSpPr>
          <p:cNvPr id="10" name="圆角矩形 9"/>
          <p:cNvSpPr/>
          <p:nvPr/>
        </p:nvSpPr>
        <p:spPr>
          <a:xfrm>
            <a:off x="6003726" y="3070224"/>
            <a:ext cx="2854554" cy="287338"/>
          </a:xfrm>
          <a:prstGeom prst="roundRect">
            <a:avLst/>
          </a:prstGeom>
          <a:ln w="19050">
            <a:solidFill>
              <a:srgbClr val="FFC000"/>
            </a:solidFill>
          </a:ln>
        </p:spPr>
        <p:style>
          <a:lnRef idx="2">
            <a:schemeClr val="accent6"/>
          </a:lnRef>
          <a:fillRef idx="1">
            <a:schemeClr val="lt1"/>
          </a:fillRef>
          <a:effectRef idx="0">
            <a:schemeClr val="accent6"/>
          </a:effectRef>
          <a:fontRef idx="minor">
            <a:schemeClr val="dk1"/>
          </a:fontRef>
        </p:style>
        <p:txBody>
          <a:bodyPr anchor="ctr"/>
          <a:lstStyle/>
          <a:p>
            <a:pPr>
              <a:defRPr/>
            </a:pPr>
            <a:r>
              <a:rPr lang="en-US" altLang="zh-CN" sz="1800" dirty="0" smtClean="0"/>
              <a:t>Sunlight  and orbit condition</a:t>
            </a:r>
            <a:endParaRPr lang="zh-CN" altLang="en-US" sz="1800" dirty="0"/>
          </a:p>
        </p:txBody>
      </p:sp>
      <p:sp>
        <p:nvSpPr>
          <p:cNvPr id="11" name="圆角矩形 10"/>
          <p:cNvSpPr/>
          <p:nvPr/>
        </p:nvSpPr>
        <p:spPr>
          <a:xfrm>
            <a:off x="6021106" y="3561405"/>
            <a:ext cx="2694298" cy="300037"/>
          </a:xfrm>
          <a:prstGeom prst="roundRect">
            <a:avLst/>
          </a:prstGeom>
          <a:ln w="19050">
            <a:solidFill>
              <a:schemeClr val="accent4"/>
            </a:solidFill>
          </a:ln>
        </p:spPr>
        <p:style>
          <a:lnRef idx="2">
            <a:schemeClr val="accent6"/>
          </a:lnRef>
          <a:fillRef idx="1">
            <a:schemeClr val="lt1"/>
          </a:fillRef>
          <a:effectRef idx="0">
            <a:schemeClr val="accent6"/>
          </a:effectRef>
          <a:fontRef idx="minor">
            <a:schemeClr val="dk1"/>
          </a:fontRef>
        </p:style>
        <p:txBody>
          <a:bodyPr anchor="ctr"/>
          <a:lstStyle/>
          <a:p>
            <a:pPr>
              <a:defRPr/>
            </a:pPr>
            <a:r>
              <a:rPr lang="en-US" altLang="zh-CN" sz="1800" dirty="0"/>
              <a:t>SA output </a:t>
            </a:r>
            <a:r>
              <a:rPr lang="en-US" altLang="zh-CN" sz="1800" dirty="0" smtClean="0"/>
              <a:t>power(EOL)</a:t>
            </a:r>
            <a:endParaRPr lang="zh-CN" altLang="en-US" sz="1800" dirty="0"/>
          </a:p>
        </p:txBody>
      </p:sp>
      <p:sp>
        <p:nvSpPr>
          <p:cNvPr id="12" name="左大括号 11"/>
          <p:cNvSpPr/>
          <p:nvPr/>
        </p:nvSpPr>
        <p:spPr>
          <a:xfrm flipH="1" flipV="1">
            <a:off x="5643570" y="3000371"/>
            <a:ext cx="142876" cy="43666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左大括号 12"/>
          <p:cNvSpPr/>
          <p:nvPr/>
        </p:nvSpPr>
        <p:spPr>
          <a:xfrm flipH="1" flipV="1">
            <a:off x="5671908" y="3929066"/>
            <a:ext cx="114537" cy="1000132"/>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左大括号 13"/>
          <p:cNvSpPr/>
          <p:nvPr/>
        </p:nvSpPr>
        <p:spPr>
          <a:xfrm flipH="1" flipV="1">
            <a:off x="5683636" y="5613335"/>
            <a:ext cx="102810" cy="458871"/>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圆角矩形 14"/>
          <p:cNvSpPr/>
          <p:nvPr/>
        </p:nvSpPr>
        <p:spPr>
          <a:xfrm>
            <a:off x="6021106" y="5700731"/>
            <a:ext cx="2694298" cy="300037"/>
          </a:xfrm>
          <a:prstGeom prst="roundRect">
            <a:avLst/>
          </a:prstGeom>
          <a:ln w="19050">
            <a:solidFill>
              <a:schemeClr val="accent4"/>
            </a:solidFill>
          </a:ln>
        </p:spPr>
        <p:style>
          <a:lnRef idx="2">
            <a:schemeClr val="accent6"/>
          </a:lnRef>
          <a:fillRef idx="1">
            <a:schemeClr val="lt1"/>
          </a:fillRef>
          <a:effectRef idx="0">
            <a:schemeClr val="accent6"/>
          </a:effectRef>
          <a:fontRef idx="minor">
            <a:schemeClr val="dk1"/>
          </a:fontRef>
        </p:style>
        <p:txBody>
          <a:bodyPr anchor="ctr"/>
          <a:lstStyle/>
          <a:p>
            <a:pPr>
              <a:defRPr/>
            </a:pPr>
            <a:r>
              <a:rPr lang="en-US" altLang="zh-CN" sz="1800" dirty="0" smtClean="0"/>
              <a:t>Various  efficiencies</a:t>
            </a:r>
            <a:endParaRPr lang="zh-CN" altLang="en-US" sz="1800" dirty="0"/>
          </a:p>
        </p:txBody>
      </p:sp>
      <p:sp>
        <p:nvSpPr>
          <p:cNvPr id="16" name="圆角矩形 15"/>
          <p:cNvSpPr/>
          <p:nvPr/>
        </p:nvSpPr>
        <p:spPr>
          <a:xfrm>
            <a:off x="6000760" y="4286256"/>
            <a:ext cx="2854554" cy="287338"/>
          </a:xfrm>
          <a:prstGeom prst="roundRect">
            <a:avLst/>
          </a:prstGeom>
          <a:ln w="19050">
            <a:solidFill>
              <a:srgbClr val="FFC000"/>
            </a:solidFill>
          </a:ln>
        </p:spPr>
        <p:style>
          <a:lnRef idx="2">
            <a:schemeClr val="accent6"/>
          </a:lnRef>
          <a:fillRef idx="1">
            <a:schemeClr val="lt1"/>
          </a:fillRef>
          <a:effectRef idx="0">
            <a:schemeClr val="accent6"/>
          </a:effectRef>
          <a:fontRef idx="minor">
            <a:schemeClr val="dk1"/>
          </a:fontRef>
        </p:style>
        <p:txBody>
          <a:bodyPr anchor="ctr"/>
          <a:lstStyle/>
          <a:p>
            <a:pPr>
              <a:defRPr/>
            </a:pPr>
            <a:r>
              <a:rPr lang="en-US" altLang="zh-CN" sz="1800" dirty="0" smtClean="0"/>
              <a:t>Parameters about battery</a:t>
            </a:r>
            <a:endParaRPr lang="zh-CN" alt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31</a:t>
            </a:fld>
            <a:r>
              <a:rPr lang="zh-CN" altLang="en-US" smtClean="0"/>
              <a:t> </a:t>
            </a:r>
            <a:endParaRPr lang="zh-CN" altLang="en-US" dirty="0">
              <a:latin typeface="微软雅黑" pitchFamily="34" charset="-122"/>
              <a:ea typeface="微软雅黑" pitchFamily="34" charset="-122"/>
            </a:endParaRPr>
          </a:p>
        </p:txBody>
      </p:sp>
      <p:pic>
        <p:nvPicPr>
          <p:cNvPr id="16" name="Picture 1" descr="D:\resources for ppt\sat5.jpg"/>
          <p:cNvPicPr>
            <a:picLocks noChangeAspect="1" noChangeArrowheads="1"/>
          </p:cNvPicPr>
          <p:nvPr/>
        </p:nvPicPr>
        <p:blipFill>
          <a:blip r:embed="rId2" cstate="email"/>
          <a:stretch>
            <a:fillRect/>
          </a:stretch>
        </p:blipFill>
        <p:spPr bwMode="auto">
          <a:xfrm>
            <a:off x="1563604" y="1842909"/>
            <a:ext cx="381198"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8" name="单圆角矩形 17"/>
          <p:cNvSpPr/>
          <p:nvPr/>
        </p:nvSpPr>
        <p:spPr>
          <a:xfrm>
            <a:off x="2172148" y="1785926"/>
            <a:ext cx="5706406" cy="486054"/>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spcBef>
                <a:spcPct val="50000"/>
              </a:spcBef>
              <a:buClr>
                <a:srgbClr val="FF0000"/>
              </a:buClr>
              <a:defRPr/>
            </a:pPr>
            <a:r>
              <a:rPr lang="en-US" altLang="zh-CN" sz="3200" i="1" dirty="0" smtClean="0">
                <a:solidFill>
                  <a:schemeClr val="lt1"/>
                </a:solidFill>
              </a:rPr>
              <a:t>Concept and Function</a:t>
            </a:r>
            <a:endParaRPr lang="en-US" altLang="zh-CN" sz="3200" i="1" dirty="0">
              <a:solidFill>
                <a:schemeClr val="lt1"/>
              </a:solidFill>
            </a:endParaRPr>
          </a:p>
        </p:txBody>
      </p:sp>
      <p:sp>
        <p:nvSpPr>
          <p:cNvPr id="19" name="单圆角矩形 18"/>
          <p:cNvSpPr/>
          <p:nvPr/>
        </p:nvSpPr>
        <p:spPr>
          <a:xfrm>
            <a:off x="2172147" y="2615244"/>
            <a:ext cx="5678905" cy="48696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3200" i="1" dirty="0" smtClean="0">
                <a:solidFill>
                  <a:schemeClr val="bg1"/>
                </a:solidFill>
              </a:rPr>
              <a:t>Compositions of PSS</a:t>
            </a:r>
          </a:p>
        </p:txBody>
      </p:sp>
      <p:pic>
        <p:nvPicPr>
          <p:cNvPr id="20" name="Picture 1" descr="D:\resources for ppt\sat5.jpg"/>
          <p:cNvPicPr>
            <a:picLocks noChangeAspect="1" noChangeArrowheads="1"/>
          </p:cNvPicPr>
          <p:nvPr/>
        </p:nvPicPr>
        <p:blipFill>
          <a:blip r:embed="rId2" cstate="email"/>
          <a:stretch>
            <a:fillRect/>
          </a:stretch>
        </p:blipFill>
        <p:spPr bwMode="auto">
          <a:xfrm>
            <a:off x="1536468" y="3510055"/>
            <a:ext cx="389913"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21" name="单圆角矩形 20"/>
          <p:cNvSpPr/>
          <p:nvPr/>
        </p:nvSpPr>
        <p:spPr>
          <a:xfrm>
            <a:off x="2163870" y="3440424"/>
            <a:ext cx="5685781" cy="48577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3200" i="1" dirty="0" smtClean="0">
                <a:solidFill>
                  <a:schemeClr val="bg1"/>
                </a:solidFill>
              </a:rPr>
              <a:t>Work principles of PSS</a:t>
            </a:r>
          </a:p>
        </p:txBody>
      </p:sp>
      <p:pic>
        <p:nvPicPr>
          <p:cNvPr id="22" name="Picture 1" descr="D:\resources for ppt\sat5.jpg"/>
          <p:cNvPicPr>
            <a:picLocks noChangeAspect="1" noChangeArrowheads="1"/>
          </p:cNvPicPr>
          <p:nvPr/>
        </p:nvPicPr>
        <p:blipFill>
          <a:blip r:embed="rId2" cstate="email"/>
          <a:stretch>
            <a:fillRect/>
          </a:stretch>
        </p:blipFill>
        <p:spPr bwMode="auto">
          <a:xfrm>
            <a:off x="1538596" y="2702145"/>
            <a:ext cx="381198"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pic>
        <p:nvPicPr>
          <p:cNvPr id="24" name="Picture 1" descr="D:\resources for ppt\sat5.jpg"/>
          <p:cNvPicPr>
            <a:picLocks noChangeAspect="1" noChangeArrowheads="1"/>
          </p:cNvPicPr>
          <p:nvPr/>
        </p:nvPicPr>
        <p:blipFill>
          <a:blip r:embed="rId2" cstate="email"/>
          <a:stretch>
            <a:fillRect/>
          </a:stretch>
        </p:blipFill>
        <p:spPr bwMode="auto">
          <a:xfrm>
            <a:off x="1500166" y="5192482"/>
            <a:ext cx="389913"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25" name="单圆角矩形 24"/>
          <p:cNvSpPr/>
          <p:nvPr/>
        </p:nvSpPr>
        <p:spPr>
          <a:xfrm>
            <a:off x="2172367" y="5143512"/>
            <a:ext cx="5685781" cy="485775"/>
          </a:xfrm>
          <a:prstGeom prst="round1Rect">
            <a:avLst/>
          </a:prstGeom>
          <a:ln/>
          <a:effectLst>
            <a:glow rad="228600">
              <a:schemeClr val="accent6">
                <a:satMod val="175000"/>
                <a:alpha val="40000"/>
              </a:schemeClr>
            </a:glow>
          </a:effectLst>
        </p:spPr>
        <p:style>
          <a:lnRef idx="3">
            <a:schemeClr val="lt1"/>
          </a:lnRef>
          <a:fillRef idx="1">
            <a:schemeClr val="accent6"/>
          </a:fillRef>
          <a:effectRef idx="1">
            <a:schemeClr val="accent6"/>
          </a:effectRef>
          <a:fontRef idx="minor">
            <a:schemeClr val="lt1"/>
          </a:fontRef>
        </p:style>
        <p:txBody>
          <a:bodyPr anchor="ctr"/>
          <a:lstStyle/>
          <a:p>
            <a:pPr algn="ctr">
              <a:buClr>
                <a:srgbClr val="FF0000"/>
              </a:buClr>
              <a:defRPr/>
            </a:pPr>
            <a:r>
              <a:rPr lang="en-US" altLang="zh-CN" sz="2800" i="1" dirty="0" smtClean="0">
                <a:solidFill>
                  <a:schemeClr val="bg1"/>
                </a:solidFill>
                <a:latin typeface="Arial" pitchFamily="34" charset="0"/>
                <a:cs typeface="Arial" pitchFamily="34" charset="0"/>
              </a:rPr>
              <a:t>Telemetries and Tele-commands</a:t>
            </a:r>
            <a:endParaRPr lang="en-US" altLang="zh-CN" sz="2800" i="1" dirty="0">
              <a:solidFill>
                <a:schemeClr val="bg1"/>
              </a:solidFill>
              <a:latin typeface="Arial" pitchFamily="34" charset="0"/>
              <a:cs typeface="Arial" pitchFamily="34" charset="0"/>
            </a:endParaRPr>
          </a:p>
        </p:txBody>
      </p:sp>
      <p:pic>
        <p:nvPicPr>
          <p:cNvPr id="26" name="Picture 1" descr="D:\resources for ppt\sat5.jpg"/>
          <p:cNvPicPr>
            <a:picLocks noChangeAspect="1" noChangeArrowheads="1"/>
          </p:cNvPicPr>
          <p:nvPr/>
        </p:nvPicPr>
        <p:blipFill>
          <a:blip r:embed="rId2" cstate="email"/>
          <a:stretch>
            <a:fillRect/>
          </a:stretch>
        </p:blipFill>
        <p:spPr bwMode="auto">
          <a:xfrm>
            <a:off x="1538881" y="4346460"/>
            <a:ext cx="389913" cy="365367"/>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27" name="单圆角矩形 26"/>
          <p:cNvSpPr/>
          <p:nvPr/>
        </p:nvSpPr>
        <p:spPr>
          <a:xfrm>
            <a:off x="2172367" y="4286256"/>
            <a:ext cx="5685781" cy="485775"/>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Clr>
                <a:srgbClr val="FF0000"/>
              </a:buClr>
              <a:defRPr/>
            </a:pPr>
            <a:r>
              <a:rPr lang="en-US" altLang="zh-CN" sz="3200" i="1" dirty="0" smtClean="0">
                <a:solidFill>
                  <a:schemeClr val="lt1"/>
                </a:solidFill>
              </a:rPr>
              <a:t>Power balance analysis</a:t>
            </a:r>
            <a:endParaRPr lang="en-US" altLang="zh-CN" sz="3200" i="1" dirty="0">
              <a:solidFill>
                <a:schemeClr val="lt1"/>
              </a:solidFill>
            </a:endParaRPr>
          </a:p>
        </p:txBody>
      </p:sp>
      <p:sp>
        <p:nvSpPr>
          <p:cNvPr id="28" name="矩形 27"/>
          <p:cNvSpPr/>
          <p:nvPr/>
        </p:nvSpPr>
        <p:spPr>
          <a:xfrm>
            <a:off x="3643306" y="428604"/>
            <a:ext cx="2081019" cy="707886"/>
          </a:xfrm>
          <a:prstGeom prst="rect">
            <a:avLst/>
          </a:prstGeom>
        </p:spPr>
        <p:txBody>
          <a:bodyPr wrap="none">
            <a:spAutoFit/>
          </a:bodyPr>
          <a:lstStyle/>
          <a:p>
            <a:pPr algn="ctr"/>
            <a:r>
              <a:rPr lang="en-US" altLang="zh-CN" sz="4000" dirty="0">
                <a:solidFill>
                  <a:srgbClr val="FFFFCC"/>
                </a:solidFill>
                <a:latin typeface="Impact" pitchFamily="34" charset="0"/>
                <a:ea typeface="方正大黑简体" pitchFamily="2" charset="-122"/>
              </a:rPr>
              <a:t>OUTLINES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32</a:t>
            </a:fld>
            <a:r>
              <a:rPr lang="zh-CN" altLang="en-US" smtClean="0"/>
              <a:t> </a:t>
            </a:r>
            <a:endParaRPr lang="zh-CN" altLang="en-US" dirty="0">
              <a:latin typeface="微软雅黑" pitchFamily="34" charset="-122"/>
              <a:ea typeface="微软雅黑" pitchFamily="34" charset="-122"/>
            </a:endParaRPr>
          </a:p>
        </p:txBody>
      </p:sp>
      <p:sp>
        <p:nvSpPr>
          <p:cNvPr id="8" name="矩形 7"/>
          <p:cNvSpPr/>
          <p:nvPr/>
        </p:nvSpPr>
        <p:spPr>
          <a:xfrm>
            <a:off x="357188" y="558784"/>
            <a:ext cx="4687887" cy="584200"/>
          </a:xfrm>
          <a:prstGeom prst="rect">
            <a:avLst/>
          </a:prstGeom>
        </p:spPr>
        <p:txBody>
          <a:bodyPr wrap="none">
            <a:spAutoFit/>
          </a:bodyPr>
          <a:lstStyle/>
          <a:p>
            <a:pPr fontAlgn="auto">
              <a:spcBef>
                <a:spcPts val="0"/>
              </a:spcBef>
              <a:spcAft>
                <a:spcPts val="0"/>
              </a:spcAft>
              <a:defRPr/>
            </a:pPr>
            <a:r>
              <a:rPr lang="en-US" altLang="zh-CN" sz="3200" b="1" i="1" kern="0" dirty="0">
                <a:solidFill>
                  <a:schemeClr val="bg1"/>
                </a:solidFill>
                <a:latin typeface="+mn-lt"/>
                <a:ea typeface="+mn-ea"/>
              </a:rPr>
              <a:t>Key Telemetry Parameters</a:t>
            </a:r>
            <a:endParaRPr lang="zh-CN" altLang="en-US" sz="3200" b="1" i="1" dirty="0">
              <a:solidFill>
                <a:schemeClr val="bg1"/>
              </a:solidFill>
              <a:latin typeface="+mn-lt"/>
              <a:ea typeface="+mn-ea"/>
            </a:endParaRPr>
          </a:p>
        </p:txBody>
      </p:sp>
      <p:sp>
        <p:nvSpPr>
          <p:cNvPr id="9" name="矩形 2"/>
          <p:cNvSpPr>
            <a:spLocks noChangeArrowheads="1"/>
          </p:cNvSpPr>
          <p:nvPr/>
        </p:nvSpPr>
        <p:spPr bwMode="auto">
          <a:xfrm>
            <a:off x="214347" y="1276341"/>
            <a:ext cx="9215437" cy="938213"/>
          </a:xfrm>
          <a:prstGeom prst="rect">
            <a:avLst/>
          </a:prstGeom>
          <a:noFill/>
          <a:ln w="9525">
            <a:noFill/>
            <a:miter lim="800000"/>
            <a:headEnd/>
            <a:tailEnd/>
          </a:ln>
        </p:spPr>
        <p:txBody>
          <a:bodyPr>
            <a:spAutoFit/>
          </a:bodyPr>
          <a:lstStyle/>
          <a:p>
            <a:pPr>
              <a:lnSpc>
                <a:spcPts val="3300"/>
              </a:lnSpc>
            </a:pPr>
            <a:r>
              <a:rPr lang="en-US" altLang="zh-CN" dirty="0">
                <a:latin typeface="Calibri" pitchFamily="34" charset="0"/>
              </a:rPr>
              <a:t>      </a:t>
            </a:r>
            <a:r>
              <a:rPr lang="en-US" altLang="zh-CN" sz="2400" dirty="0">
                <a:latin typeface="Calibri" pitchFamily="34" charset="0"/>
              </a:rPr>
              <a:t>According to the importance of different telemetries, transmission periods of TMs are still different. </a:t>
            </a:r>
          </a:p>
        </p:txBody>
      </p:sp>
      <p:grpSp>
        <p:nvGrpSpPr>
          <p:cNvPr id="10" name="Group 13"/>
          <p:cNvGrpSpPr>
            <a:grpSpLocks/>
          </p:cNvGrpSpPr>
          <p:nvPr/>
        </p:nvGrpSpPr>
        <p:grpSpPr bwMode="auto">
          <a:xfrm>
            <a:off x="361938" y="2720975"/>
            <a:ext cx="2495550" cy="779463"/>
            <a:chOff x="800" y="1587"/>
            <a:chExt cx="1502" cy="512"/>
          </a:xfrm>
        </p:grpSpPr>
        <p:sp>
          <p:nvSpPr>
            <p:cNvPr id="11" name="Freeform 14"/>
            <p:cNvSpPr>
              <a:spLocks/>
            </p:cNvSpPr>
            <p:nvPr/>
          </p:nvSpPr>
          <p:spPr bwMode="gray">
            <a:xfrm>
              <a:off x="905" y="1909"/>
              <a:ext cx="1270" cy="190"/>
            </a:xfrm>
            <a:custGeom>
              <a:avLst/>
              <a:gdLst>
                <a:gd name="T0" fmla="*/ 12203 w 1120"/>
                <a:gd name="T1" fmla="*/ 2 h 252"/>
                <a:gd name="T2" fmla="*/ 12148 w 1120"/>
                <a:gd name="T3" fmla="*/ 2 h 252"/>
                <a:gd name="T4" fmla="*/ 11972 w 1120"/>
                <a:gd name="T5" fmla="*/ 2 h 252"/>
                <a:gd name="T6" fmla="*/ 11702 w 1120"/>
                <a:gd name="T7" fmla="*/ 2 h 252"/>
                <a:gd name="T8" fmla="*/ 11312 w 1120"/>
                <a:gd name="T9" fmla="*/ 2 h 252"/>
                <a:gd name="T10" fmla="*/ 10811 w 1120"/>
                <a:gd name="T11" fmla="*/ 2 h 252"/>
                <a:gd name="T12" fmla="*/ 10226 w 1120"/>
                <a:gd name="T13" fmla="*/ 2 h 252"/>
                <a:gd name="T14" fmla="*/ 9543 w 1120"/>
                <a:gd name="T15" fmla="*/ 2 h 252"/>
                <a:gd name="T16" fmla="*/ 8773 w 1120"/>
                <a:gd name="T17" fmla="*/ 2 h 252"/>
                <a:gd name="T18" fmla="*/ 7956 w 1120"/>
                <a:gd name="T19" fmla="*/ 2 h 252"/>
                <a:gd name="T20" fmla="*/ 7037 w 1120"/>
                <a:gd name="T21" fmla="*/ 2 h 252"/>
                <a:gd name="T22" fmla="*/ 6045 w 1120"/>
                <a:gd name="T23" fmla="*/ 2 h 252"/>
                <a:gd name="T24" fmla="*/ 5070 w 1120"/>
                <a:gd name="T25" fmla="*/ 2 h 252"/>
                <a:gd name="T26" fmla="*/ 4174 w 1120"/>
                <a:gd name="T27" fmla="*/ 2 h 252"/>
                <a:gd name="T28" fmla="*/ 3351 w 1120"/>
                <a:gd name="T29" fmla="*/ 2 h 252"/>
                <a:gd name="T30" fmla="*/ 2592 w 1120"/>
                <a:gd name="T31" fmla="*/ 2 h 252"/>
                <a:gd name="T32" fmla="*/ 1947 w 1120"/>
                <a:gd name="T33" fmla="*/ 2 h 252"/>
                <a:gd name="T34" fmla="*/ 1373 w 1120"/>
                <a:gd name="T35" fmla="*/ 2 h 252"/>
                <a:gd name="T36" fmla="*/ 884 w 1120"/>
                <a:gd name="T37" fmla="*/ 2 h 252"/>
                <a:gd name="T38" fmla="*/ 503 w 1120"/>
                <a:gd name="T39" fmla="*/ 2 h 252"/>
                <a:gd name="T40" fmla="*/ 211 w 1120"/>
                <a:gd name="T41" fmla="*/ 2 h 252"/>
                <a:gd name="T42" fmla="*/ 61 w 1120"/>
                <a:gd name="T43" fmla="*/ 2 h 252"/>
                <a:gd name="T44" fmla="*/ 0 w 1120"/>
                <a:gd name="T45" fmla="*/ 2 h 252"/>
                <a:gd name="T46" fmla="*/ 0 w 1120"/>
                <a:gd name="T47" fmla="*/ 2 h 252"/>
                <a:gd name="T48" fmla="*/ 6095 w 1120"/>
                <a:gd name="T49" fmla="*/ 0 h 252"/>
                <a:gd name="T50" fmla="*/ 12203 w 1120"/>
                <a:gd name="T51" fmla="*/ 2 h 252"/>
                <a:gd name="T52" fmla="*/ 12203 w 1120"/>
                <a:gd name="T53" fmla="*/ 2 h 252"/>
                <a:gd name="T54" fmla="*/ 12203 w 1120"/>
                <a:gd name="T55" fmla="*/ 2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solidFill>
            <a:ln w="0">
              <a:noFill/>
              <a:round/>
              <a:headEnd/>
              <a:tailEnd/>
            </a:ln>
          </p:spPr>
          <p:txBody>
            <a:bodyPr/>
            <a:lstStyle/>
            <a:p>
              <a:endParaRPr lang="zh-CN" altLang="en-US">
                <a:latin typeface="Calibri" pitchFamily="34" charset="0"/>
              </a:endParaRPr>
            </a:p>
          </p:txBody>
        </p:sp>
        <p:sp>
          <p:nvSpPr>
            <p:cNvPr id="12" name="Rectangle 15"/>
            <p:cNvSpPr>
              <a:spLocks noChangeArrowheads="1"/>
            </p:cNvSpPr>
            <p:nvPr/>
          </p:nvSpPr>
          <p:spPr bwMode="gray">
            <a:xfrm>
              <a:off x="800" y="1587"/>
              <a:ext cx="1502" cy="393"/>
            </a:xfrm>
            <a:prstGeom prst="rect">
              <a:avLst/>
            </a:prstGeom>
            <a:solidFill>
              <a:schemeClr val="accent6"/>
            </a:solidFill>
            <a:ln w="9525" algn="ctr">
              <a:noFill/>
              <a:miter lim="800000"/>
              <a:headEnd/>
              <a:tailEnd/>
            </a:ln>
            <a:effectLst/>
          </p:spPr>
          <p:txBody>
            <a:bodyPr wrap="none" lIns="115192" tIns="57596" rIns="115192" bIns="57596" anchor="ctr"/>
            <a:lstStyle/>
            <a:p>
              <a:pPr defTabSz="1152525" eaLnBrk="0" fontAlgn="auto" hangingPunct="0">
                <a:spcBef>
                  <a:spcPts val="0"/>
                </a:spcBef>
                <a:spcAft>
                  <a:spcPts val="0"/>
                </a:spcAft>
                <a:defRPr/>
              </a:pPr>
              <a:r>
                <a:rPr lang="en-US" altLang="zh-CN" sz="2400" i="1" dirty="0">
                  <a:solidFill>
                    <a:schemeClr val="bg1"/>
                  </a:solidFill>
                  <a:effectLst>
                    <a:outerShdw blurRad="38100" dist="38100" dir="2700000" algn="tl">
                      <a:srgbClr val="000000"/>
                    </a:outerShdw>
                  </a:effectLst>
                  <a:latin typeface="+mn-lt"/>
                  <a:ea typeface="华文细黑" pitchFamily="2" charset="-122"/>
                </a:rPr>
                <a:t>  Telemetries Type</a:t>
              </a:r>
            </a:p>
          </p:txBody>
        </p:sp>
      </p:grpSp>
      <p:sp>
        <p:nvSpPr>
          <p:cNvPr id="13" name="左大括号 7"/>
          <p:cNvSpPr>
            <a:spLocks/>
          </p:cNvSpPr>
          <p:nvPr/>
        </p:nvSpPr>
        <p:spPr bwMode="auto">
          <a:xfrm>
            <a:off x="2928926" y="2643183"/>
            <a:ext cx="269875" cy="785818"/>
          </a:xfrm>
          <a:prstGeom prst="leftBrace">
            <a:avLst>
              <a:gd name="adj1" fmla="val 8331"/>
              <a:gd name="adj2" fmla="val 50000"/>
            </a:avLst>
          </a:prstGeom>
          <a:solidFill>
            <a:schemeClr val="bg1"/>
          </a:solidFill>
          <a:ln w="31750" algn="ctr">
            <a:solidFill>
              <a:schemeClr val="folHlink"/>
            </a:solidFill>
            <a:round/>
            <a:headEnd/>
            <a:tailEnd/>
          </a:ln>
        </p:spPr>
        <p:txBody>
          <a:bodyPr wrap="none" anchor="ctr"/>
          <a:lstStyle/>
          <a:p>
            <a:endParaRPr lang="zh-CN" altLang="en-US">
              <a:latin typeface="Calibri" pitchFamily="34" charset="0"/>
            </a:endParaRPr>
          </a:p>
        </p:txBody>
      </p:sp>
      <p:sp>
        <p:nvSpPr>
          <p:cNvPr id="14" name="矩形 8"/>
          <p:cNvSpPr>
            <a:spLocks noChangeArrowheads="1"/>
          </p:cNvSpPr>
          <p:nvPr/>
        </p:nvSpPr>
        <p:spPr bwMode="auto">
          <a:xfrm>
            <a:off x="3286116" y="2395534"/>
            <a:ext cx="5392738" cy="461962"/>
          </a:xfrm>
          <a:prstGeom prst="rect">
            <a:avLst/>
          </a:prstGeom>
          <a:noFill/>
          <a:ln w="9525">
            <a:noFill/>
            <a:miter lim="800000"/>
            <a:headEnd/>
            <a:tailEnd/>
          </a:ln>
        </p:spPr>
        <p:txBody>
          <a:bodyPr>
            <a:spAutoFit/>
          </a:bodyPr>
          <a:lstStyle/>
          <a:p>
            <a:r>
              <a:rPr lang="en-US" altLang="zh-CN" sz="2000" dirty="0" smtClean="0">
                <a:latin typeface="Calibri" pitchFamily="34" charset="0"/>
              </a:rPr>
              <a:t>Quick </a:t>
            </a:r>
            <a:r>
              <a:rPr lang="en-US" altLang="zh-CN" sz="2000" dirty="0">
                <a:latin typeface="Calibri" pitchFamily="34" charset="0"/>
              </a:rPr>
              <a:t>changing telemetries</a:t>
            </a:r>
            <a:r>
              <a:rPr lang="en-US" altLang="zh-CN" sz="2400" dirty="0">
                <a:latin typeface="Calibri" pitchFamily="34" charset="0"/>
              </a:rPr>
              <a:t> </a:t>
            </a:r>
            <a:r>
              <a:rPr lang="en-US" altLang="zh-CN" sz="2400" dirty="0" smtClean="0">
                <a:latin typeface="Calibri" pitchFamily="34" charset="0"/>
              </a:rPr>
              <a:t> </a:t>
            </a:r>
            <a:r>
              <a:rPr lang="en-US" altLang="zh-CN" dirty="0" smtClean="0">
                <a:latin typeface="Calibri" pitchFamily="34" charset="0"/>
              </a:rPr>
              <a:t>( per 2 seconds </a:t>
            </a:r>
            <a:r>
              <a:rPr lang="en-US" altLang="zh-CN" dirty="0">
                <a:latin typeface="Calibri" pitchFamily="34" charset="0"/>
              </a:rPr>
              <a:t>) </a:t>
            </a:r>
            <a:endParaRPr lang="zh-CN" altLang="en-US" dirty="0">
              <a:latin typeface="Calibri" pitchFamily="34" charset="0"/>
            </a:endParaRPr>
          </a:p>
        </p:txBody>
      </p:sp>
      <p:sp>
        <p:nvSpPr>
          <p:cNvPr id="15" name="矩形 9"/>
          <p:cNvSpPr>
            <a:spLocks noChangeArrowheads="1"/>
          </p:cNvSpPr>
          <p:nvPr/>
        </p:nvSpPr>
        <p:spPr bwMode="auto">
          <a:xfrm>
            <a:off x="3286116" y="3214686"/>
            <a:ext cx="5857884" cy="400110"/>
          </a:xfrm>
          <a:prstGeom prst="rect">
            <a:avLst/>
          </a:prstGeom>
          <a:noFill/>
          <a:ln w="9525">
            <a:noFill/>
            <a:miter lim="800000"/>
            <a:headEnd/>
            <a:tailEnd/>
          </a:ln>
        </p:spPr>
        <p:txBody>
          <a:bodyPr wrap="square">
            <a:spAutoFit/>
          </a:bodyPr>
          <a:lstStyle/>
          <a:p>
            <a:r>
              <a:rPr lang="en-US" altLang="zh-CN" sz="2000" dirty="0">
                <a:latin typeface="Calibri" pitchFamily="34" charset="0"/>
              </a:rPr>
              <a:t>Slow  changing </a:t>
            </a:r>
            <a:r>
              <a:rPr lang="en-US" altLang="zh-CN" sz="2000" dirty="0" smtClean="0">
                <a:latin typeface="Calibri" pitchFamily="34" charset="0"/>
              </a:rPr>
              <a:t>telemetries </a:t>
            </a:r>
            <a:r>
              <a:rPr lang="en-US" altLang="zh-CN" dirty="0" smtClean="0">
                <a:latin typeface="Calibri" pitchFamily="34" charset="0"/>
              </a:rPr>
              <a:t>(per 16 seconds / 4 seconds ) </a:t>
            </a:r>
            <a:endParaRPr lang="zh-CN" altLang="en-US" dirty="0">
              <a:latin typeface="Calibri" pitchFamily="34" charset="0"/>
            </a:endParaRPr>
          </a:p>
        </p:txBody>
      </p:sp>
      <p:sp>
        <p:nvSpPr>
          <p:cNvPr id="16" name="矩形 11"/>
          <p:cNvSpPr>
            <a:spLocks noChangeArrowheads="1"/>
          </p:cNvSpPr>
          <p:nvPr/>
        </p:nvSpPr>
        <p:spPr bwMode="auto">
          <a:xfrm>
            <a:off x="357158" y="4143380"/>
            <a:ext cx="8156575" cy="1143070"/>
          </a:xfrm>
          <a:prstGeom prst="rect">
            <a:avLst/>
          </a:prstGeom>
          <a:noFill/>
          <a:ln w="9525">
            <a:noFill/>
            <a:miter lim="800000"/>
            <a:headEnd/>
            <a:tailEnd/>
          </a:ln>
        </p:spPr>
        <p:txBody>
          <a:bodyPr>
            <a:spAutoFit/>
          </a:bodyPr>
          <a:lstStyle/>
          <a:p>
            <a:pPr algn="just">
              <a:lnSpc>
                <a:spcPct val="150000"/>
              </a:lnSpc>
            </a:pPr>
            <a:r>
              <a:rPr lang="en-US" altLang="zh-CN" dirty="0">
                <a:latin typeface="Calibri" pitchFamily="34" charset="0"/>
              </a:rPr>
              <a:t>    </a:t>
            </a:r>
            <a:r>
              <a:rPr lang="en-US" altLang="zh-CN" sz="2400" dirty="0">
                <a:latin typeface="Calibri" pitchFamily="34" charset="0"/>
              </a:rPr>
              <a:t>There are </a:t>
            </a:r>
            <a:r>
              <a:rPr lang="en-US" altLang="zh-CN" sz="2400" dirty="0" smtClean="0">
                <a:latin typeface="Calibri" pitchFamily="34" charset="0"/>
              </a:rPr>
              <a:t>27 quick </a:t>
            </a:r>
            <a:r>
              <a:rPr lang="en-US" altLang="zh-CN" sz="2400" dirty="0">
                <a:latin typeface="Calibri" pitchFamily="34" charset="0"/>
              </a:rPr>
              <a:t>changing telemetries and </a:t>
            </a:r>
            <a:r>
              <a:rPr lang="en-US" altLang="zh-CN" sz="2400" dirty="0" smtClean="0">
                <a:latin typeface="Calibri" pitchFamily="34" charset="0"/>
              </a:rPr>
              <a:t>32 </a:t>
            </a:r>
            <a:r>
              <a:rPr lang="en-US" altLang="zh-CN" sz="2400" dirty="0">
                <a:latin typeface="Calibri" pitchFamily="34" charset="0"/>
              </a:rPr>
              <a:t>slow changing telemetries in </a:t>
            </a:r>
            <a:r>
              <a:rPr lang="en-US" altLang="zh-CN" sz="2400" dirty="0" smtClean="0">
                <a:latin typeface="Calibri" pitchFamily="34" charset="0"/>
              </a:rPr>
              <a:t>PCDU</a:t>
            </a:r>
            <a:r>
              <a:rPr lang="en-US" altLang="zh-CN" sz="2400" dirty="0">
                <a:latin typeface="Calibri" pitchFamily="34" charset="0"/>
              </a:rPr>
              <a:t>.</a:t>
            </a:r>
            <a:endParaRPr lang="zh-CN" altLang="en-US" sz="2400" dirty="0">
              <a:latin typeface="Calibri"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33</a:t>
            </a:fld>
            <a:r>
              <a:rPr lang="zh-CN" altLang="en-US" smtClean="0"/>
              <a:t> </a:t>
            </a:r>
            <a:endParaRPr lang="zh-CN" altLang="en-US" dirty="0">
              <a:latin typeface="微软雅黑" pitchFamily="34" charset="-122"/>
              <a:ea typeface="微软雅黑" pitchFamily="34" charset="-122"/>
            </a:endParaRPr>
          </a:p>
        </p:txBody>
      </p:sp>
      <p:sp>
        <p:nvSpPr>
          <p:cNvPr id="6" name="矩形 2"/>
          <p:cNvSpPr>
            <a:spLocks noChangeArrowheads="1"/>
          </p:cNvSpPr>
          <p:nvPr/>
        </p:nvSpPr>
        <p:spPr bwMode="auto">
          <a:xfrm>
            <a:off x="292100" y="1214422"/>
            <a:ext cx="4927759" cy="461665"/>
          </a:xfrm>
          <a:prstGeom prst="rect">
            <a:avLst/>
          </a:prstGeom>
          <a:noFill/>
          <a:ln w="9525">
            <a:noFill/>
            <a:miter lim="800000"/>
            <a:headEnd/>
            <a:tailEnd/>
          </a:ln>
        </p:spPr>
        <p:txBody>
          <a:bodyPr wrap="none">
            <a:spAutoFit/>
          </a:bodyPr>
          <a:lstStyle/>
          <a:p>
            <a:pPr>
              <a:buFont typeface="Wingdings" pitchFamily="2" charset="2"/>
              <a:buChar char="l"/>
            </a:pPr>
            <a:r>
              <a:rPr lang="en-US" altLang="zh-CN" i="1" dirty="0">
                <a:latin typeface="Calibri" pitchFamily="34" charset="0"/>
              </a:rPr>
              <a:t>  </a:t>
            </a:r>
            <a:r>
              <a:rPr lang="en-US" altLang="zh-CN" sz="2400" i="1" dirty="0" smtClean="0">
                <a:solidFill>
                  <a:srgbClr val="B010A8"/>
                </a:solidFill>
                <a:latin typeface="Calibri" pitchFamily="34" charset="0"/>
              </a:rPr>
              <a:t>Quick </a:t>
            </a:r>
            <a:r>
              <a:rPr lang="en-US" altLang="zh-CN" sz="2400" i="1" dirty="0">
                <a:solidFill>
                  <a:srgbClr val="B010A8"/>
                </a:solidFill>
                <a:latin typeface="Calibri" pitchFamily="34" charset="0"/>
              </a:rPr>
              <a:t>changing telemetries in </a:t>
            </a:r>
            <a:r>
              <a:rPr lang="en-US" altLang="zh-CN" sz="2400" i="1" dirty="0" smtClean="0">
                <a:solidFill>
                  <a:srgbClr val="B010A8"/>
                </a:solidFill>
                <a:latin typeface="Calibri" pitchFamily="34" charset="0"/>
              </a:rPr>
              <a:t>PCDU</a:t>
            </a:r>
            <a:endParaRPr lang="zh-CN" altLang="en-US" sz="2400" i="1" dirty="0">
              <a:solidFill>
                <a:srgbClr val="B010A8"/>
              </a:solidFill>
              <a:latin typeface="Calibri" pitchFamily="34" charset="0"/>
            </a:endParaRPr>
          </a:p>
        </p:txBody>
      </p:sp>
      <p:sp>
        <p:nvSpPr>
          <p:cNvPr id="7" name="Rectangle 1"/>
          <p:cNvSpPr>
            <a:spLocks noChangeArrowheads="1"/>
          </p:cNvSpPr>
          <p:nvPr/>
        </p:nvSpPr>
        <p:spPr bwMode="gray">
          <a:xfrm>
            <a:off x="357158" y="1643050"/>
            <a:ext cx="3929090" cy="5909310"/>
          </a:xfrm>
          <a:prstGeom prst="rect">
            <a:avLst/>
          </a:prstGeom>
          <a:noFill/>
          <a:ln w="9525" cap="flat" cmpd="sng" algn="ctr">
            <a:noFill/>
            <a:prstDash val="solid"/>
            <a:miter lim="800000"/>
            <a:headEnd/>
            <a:tailEnd/>
          </a:ln>
          <a:effectLst/>
        </p:spPr>
        <p:txBody>
          <a:bodyPr wrap="square" anchor="ctr">
            <a:spAutoFit/>
          </a:bodyPr>
          <a:lstStyle/>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28V Bus Voltage     </a:t>
            </a:r>
            <a:r>
              <a:rPr lang="en-US" sz="2000" dirty="0" smtClean="0"/>
              <a:t>23V</a:t>
            </a:r>
            <a:r>
              <a:rPr lang="zh-CN" altLang="en-US" sz="2000" dirty="0" smtClean="0"/>
              <a:t>～</a:t>
            </a:r>
            <a:r>
              <a:rPr lang="en-US" sz="2000" dirty="0" smtClean="0"/>
              <a:t>29V</a:t>
            </a:r>
            <a:endParaRPr lang="en-US" altLang="zh-CN" sz="2000" dirty="0" smtClean="0">
              <a:solidFill>
                <a:srgbClr val="00B050"/>
              </a:solidFill>
              <a:latin typeface="Times New Roman" pitchFamily="18" charset="0"/>
              <a:cs typeface="Times New Roman" pitchFamily="18" charset="0"/>
            </a:endParaRP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+12V Bus Voltage    </a:t>
            </a:r>
            <a:r>
              <a:rPr lang="en-US" sz="2000" dirty="0" smtClean="0"/>
              <a:t>10V</a:t>
            </a:r>
            <a:r>
              <a:rPr lang="zh-CN" altLang="en-US" sz="2000" dirty="0" smtClean="0"/>
              <a:t>～</a:t>
            </a:r>
            <a:r>
              <a:rPr lang="en-US" sz="2000" dirty="0" smtClean="0"/>
              <a:t>13V</a:t>
            </a:r>
            <a:endParaRPr lang="en-US" altLang="zh-CN" sz="2000" dirty="0" smtClean="0">
              <a:solidFill>
                <a:srgbClr val="00B050"/>
              </a:solidFill>
              <a:latin typeface="Times New Roman" pitchFamily="18" charset="0"/>
              <a:cs typeface="Times New Roman" pitchFamily="18" charset="0"/>
            </a:endParaRP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+5V Bus Voltage      </a:t>
            </a:r>
            <a:r>
              <a:rPr lang="en-US" sz="2000" dirty="0" smtClean="0"/>
              <a:t>4.5V</a:t>
            </a:r>
            <a:r>
              <a:rPr lang="zh-CN" altLang="en-US" sz="2000" dirty="0" smtClean="0"/>
              <a:t>～</a:t>
            </a:r>
            <a:r>
              <a:rPr lang="en-US" sz="2000" dirty="0" smtClean="0"/>
              <a:t>5.5V</a:t>
            </a:r>
            <a:endParaRPr lang="en-US" altLang="zh-CN" sz="2000" dirty="0" smtClean="0">
              <a:solidFill>
                <a:srgbClr val="00B050"/>
              </a:solidFill>
              <a:latin typeface="Times New Roman" pitchFamily="18" charset="0"/>
              <a:cs typeface="Times New Roman" pitchFamily="18" charset="0"/>
            </a:endParaRP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-12V Bus Voltage    </a:t>
            </a:r>
            <a:r>
              <a:rPr lang="en-US" sz="2000" dirty="0" smtClean="0"/>
              <a:t>-10V</a:t>
            </a:r>
            <a:r>
              <a:rPr lang="zh-CN" altLang="en-US" sz="2000" dirty="0" smtClean="0"/>
              <a:t>～</a:t>
            </a:r>
            <a:r>
              <a:rPr lang="en-US" sz="2000" dirty="0" smtClean="0"/>
              <a:t>-14V</a:t>
            </a:r>
            <a:endParaRPr lang="en-US" altLang="zh-CN" sz="2000" dirty="0" smtClean="0">
              <a:solidFill>
                <a:srgbClr val="00B050"/>
              </a:solidFill>
              <a:latin typeface="Times New Roman" pitchFamily="18" charset="0"/>
              <a:cs typeface="Times New Roman" pitchFamily="18" charset="0"/>
            </a:endParaRP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Battery Voltage        </a:t>
            </a:r>
            <a:r>
              <a:rPr lang="en-US" sz="2000" dirty="0" smtClean="0"/>
              <a:t>23V</a:t>
            </a:r>
            <a:r>
              <a:rPr lang="zh-CN" altLang="en-US" sz="2000" dirty="0" smtClean="0"/>
              <a:t>～</a:t>
            </a:r>
            <a:r>
              <a:rPr lang="en-US" sz="2000" dirty="0" smtClean="0"/>
              <a:t>29V</a:t>
            </a:r>
            <a:endParaRPr lang="en-US" altLang="zh-CN" sz="2000" dirty="0" smtClean="0">
              <a:solidFill>
                <a:srgbClr val="00B050"/>
              </a:solidFill>
              <a:latin typeface="Times New Roman" pitchFamily="18" charset="0"/>
              <a:cs typeface="Times New Roman" pitchFamily="18" charset="0"/>
            </a:endParaRP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Load Current            </a:t>
            </a:r>
            <a:r>
              <a:rPr lang="en-US" sz="2000" dirty="0" smtClean="0"/>
              <a:t>0A</a:t>
            </a:r>
            <a:r>
              <a:rPr lang="zh-CN" altLang="en-US" sz="2000" dirty="0" smtClean="0"/>
              <a:t>～</a:t>
            </a:r>
            <a:r>
              <a:rPr lang="en-US" sz="2000" dirty="0" smtClean="0"/>
              <a:t>6A</a:t>
            </a:r>
            <a:endParaRPr lang="en-US" altLang="zh-CN" sz="2000" dirty="0" smtClean="0">
              <a:solidFill>
                <a:srgbClr val="00B050"/>
              </a:solidFill>
              <a:latin typeface="Times New Roman" pitchFamily="18" charset="0"/>
              <a:cs typeface="Times New Roman" pitchFamily="18" charset="0"/>
            </a:endParaRP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SA Output Current   </a:t>
            </a:r>
            <a:r>
              <a:rPr lang="en-US" sz="2000" dirty="0" smtClean="0"/>
              <a:t>0A</a:t>
            </a:r>
            <a:r>
              <a:rPr lang="zh-CN" altLang="en-US" sz="2000" dirty="0" smtClean="0"/>
              <a:t>～</a:t>
            </a:r>
            <a:r>
              <a:rPr lang="en-US" sz="2000" dirty="0" smtClean="0"/>
              <a:t>7A</a:t>
            </a:r>
            <a:endParaRPr lang="en-US" altLang="zh-CN" sz="2000" dirty="0" smtClean="0">
              <a:solidFill>
                <a:srgbClr val="00B050"/>
              </a:solidFill>
              <a:latin typeface="Times New Roman" pitchFamily="18" charset="0"/>
              <a:cs typeface="Times New Roman" pitchFamily="18" charset="0"/>
            </a:endParaRP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Charge Current         </a:t>
            </a:r>
            <a:r>
              <a:rPr lang="en-US" sz="2000" dirty="0" smtClean="0"/>
              <a:t>0A</a:t>
            </a:r>
            <a:r>
              <a:rPr lang="zh-CN" altLang="en-US" sz="2000" dirty="0" smtClean="0"/>
              <a:t>～</a:t>
            </a:r>
            <a:r>
              <a:rPr lang="en-US" sz="2000" dirty="0" smtClean="0"/>
              <a:t>5A</a:t>
            </a:r>
            <a:endParaRPr lang="en-US" altLang="zh-CN" sz="2000" dirty="0" smtClean="0">
              <a:solidFill>
                <a:srgbClr val="00B050"/>
              </a:solidFill>
              <a:latin typeface="Times New Roman" pitchFamily="18" charset="0"/>
              <a:cs typeface="Times New Roman" pitchFamily="18" charset="0"/>
            </a:endParaRP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Discharge Current    </a:t>
            </a:r>
            <a:r>
              <a:rPr lang="en-US" sz="2000" dirty="0" smtClean="0"/>
              <a:t>0A</a:t>
            </a:r>
            <a:r>
              <a:rPr lang="zh-CN" altLang="en-US" sz="2000" dirty="0" smtClean="0"/>
              <a:t>～</a:t>
            </a:r>
            <a:r>
              <a:rPr lang="en-US" sz="2000" dirty="0" smtClean="0"/>
              <a:t>6A</a:t>
            </a:r>
            <a:endParaRPr lang="en-US" altLang="zh-CN" sz="2000" dirty="0" smtClean="0">
              <a:solidFill>
                <a:srgbClr val="00B050"/>
              </a:solidFill>
              <a:latin typeface="Times New Roman" pitchFamily="18" charset="0"/>
              <a:cs typeface="Times New Roman" pitchFamily="18" charset="0"/>
            </a:endParaRP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Battery temperature 1  </a:t>
            </a:r>
            <a:r>
              <a:rPr lang="en-US" sz="2000" dirty="0" smtClean="0"/>
              <a:t>0</a:t>
            </a:r>
            <a:r>
              <a:rPr lang="en-US" sz="2000" baseline="30000" dirty="0" smtClean="0"/>
              <a:t>o</a:t>
            </a:r>
            <a:r>
              <a:rPr lang="en-US" sz="2000" dirty="0" smtClean="0"/>
              <a:t>C</a:t>
            </a:r>
            <a:r>
              <a:rPr lang="zh-CN" altLang="en-US" sz="2000" dirty="0" smtClean="0"/>
              <a:t>～</a:t>
            </a:r>
            <a:r>
              <a:rPr lang="en-US" sz="2000" dirty="0" smtClean="0"/>
              <a:t>35</a:t>
            </a:r>
            <a:r>
              <a:rPr lang="en-US" sz="2000" baseline="30000" dirty="0" smtClean="0"/>
              <a:t>o</a:t>
            </a:r>
            <a:r>
              <a:rPr lang="en-US" sz="2000" dirty="0" smtClean="0"/>
              <a:t>C</a:t>
            </a:r>
            <a:endParaRPr lang="en-US" altLang="zh-CN" sz="2000" dirty="0" smtClean="0">
              <a:solidFill>
                <a:srgbClr val="00B050"/>
              </a:solidFill>
              <a:latin typeface="Times New Roman" pitchFamily="18" charset="0"/>
              <a:cs typeface="Times New Roman" pitchFamily="18" charset="0"/>
            </a:endParaRPr>
          </a:p>
          <a:p>
            <a:pPr eaLnBrk="0" fontAlgn="auto" hangingPunct="0">
              <a:spcBef>
                <a:spcPts val="0"/>
              </a:spcBef>
              <a:spcAft>
                <a:spcPts val="0"/>
              </a:spcAft>
              <a:defRPr/>
            </a:pPr>
            <a:r>
              <a:rPr lang="en-US" altLang="zh-CN" sz="2000" dirty="0" smtClean="0"/>
              <a:t>        </a:t>
            </a:r>
          </a:p>
          <a:p>
            <a:pPr eaLnBrk="0" fontAlgn="auto" hangingPunct="0">
              <a:spcBef>
                <a:spcPts val="0"/>
              </a:spcBef>
              <a:spcAft>
                <a:spcPts val="0"/>
              </a:spcAft>
              <a:defRPr/>
            </a:pPr>
            <a:endParaRPr lang="en-US" altLang="zh-CN" sz="2000" dirty="0" smtClean="0"/>
          </a:p>
          <a:p>
            <a:pPr eaLnBrk="0" fontAlgn="auto" hangingPunct="0">
              <a:spcBef>
                <a:spcPts val="0"/>
              </a:spcBef>
              <a:spcAft>
                <a:spcPts val="0"/>
              </a:spcAft>
              <a:defRPr/>
            </a:pPr>
            <a:endParaRPr lang="en-US" altLang="zh-CN" sz="2000" dirty="0" err="1">
              <a:solidFill>
                <a:srgbClr val="00B050"/>
              </a:solidFill>
              <a:latin typeface="Times New Roman" pitchFamily="18" charset="0"/>
              <a:cs typeface="Times New Roman" pitchFamily="18" charset="0"/>
            </a:endParaRPr>
          </a:p>
          <a:p>
            <a:pPr fontAlgn="auto">
              <a:spcBef>
                <a:spcPts val="0"/>
              </a:spcBef>
              <a:spcAft>
                <a:spcPts val="600"/>
              </a:spcAft>
              <a:defRPr/>
            </a:pPr>
            <a:endParaRPr lang="en-US" altLang="zh-CN" dirty="0" err="1">
              <a:solidFill>
                <a:schemeClr val="accent6">
                  <a:lumMod val="60000"/>
                  <a:lumOff val="40000"/>
                </a:schemeClr>
              </a:solidFill>
              <a:latin typeface="Times New Roman" pitchFamily="18" charset="0"/>
              <a:ea typeface="+mn-ea"/>
              <a:cs typeface="Times New Roman" pitchFamily="18" charset="0"/>
            </a:endParaRPr>
          </a:p>
        </p:txBody>
      </p:sp>
      <p:sp>
        <p:nvSpPr>
          <p:cNvPr id="13" name="矩形 12"/>
          <p:cNvSpPr/>
          <p:nvPr/>
        </p:nvSpPr>
        <p:spPr>
          <a:xfrm>
            <a:off x="357188" y="500042"/>
            <a:ext cx="4687887" cy="584200"/>
          </a:xfrm>
          <a:prstGeom prst="rect">
            <a:avLst/>
          </a:prstGeom>
        </p:spPr>
        <p:txBody>
          <a:bodyPr wrap="none">
            <a:spAutoFit/>
          </a:bodyPr>
          <a:lstStyle/>
          <a:p>
            <a:pPr fontAlgn="auto">
              <a:spcBef>
                <a:spcPts val="0"/>
              </a:spcBef>
              <a:spcAft>
                <a:spcPts val="0"/>
              </a:spcAft>
              <a:defRPr/>
            </a:pPr>
            <a:r>
              <a:rPr lang="en-US" altLang="zh-CN" sz="3200" b="1" i="1" kern="0" dirty="0">
                <a:solidFill>
                  <a:schemeClr val="bg1"/>
                </a:solidFill>
                <a:latin typeface="+mn-lt"/>
                <a:ea typeface="+mn-ea"/>
              </a:rPr>
              <a:t>Key Telemetry Parameters</a:t>
            </a:r>
            <a:endParaRPr lang="zh-CN" altLang="en-US" sz="3200" b="1" i="1" dirty="0">
              <a:solidFill>
                <a:schemeClr val="bg1"/>
              </a:solidFill>
              <a:latin typeface="+mn-lt"/>
              <a:ea typeface="+mn-ea"/>
            </a:endParaRPr>
          </a:p>
        </p:txBody>
      </p:sp>
      <p:sp>
        <p:nvSpPr>
          <p:cNvPr id="14" name="Rectangle 1"/>
          <p:cNvSpPr>
            <a:spLocks noChangeArrowheads="1"/>
          </p:cNvSpPr>
          <p:nvPr/>
        </p:nvSpPr>
        <p:spPr bwMode="gray">
          <a:xfrm>
            <a:off x="4500562" y="1643050"/>
            <a:ext cx="4643438" cy="5262979"/>
          </a:xfrm>
          <a:prstGeom prst="rect">
            <a:avLst/>
          </a:prstGeom>
          <a:noFill/>
          <a:ln w="9525" cap="flat" cmpd="sng" algn="ctr">
            <a:noFill/>
            <a:prstDash val="solid"/>
            <a:miter lim="800000"/>
            <a:headEnd/>
            <a:tailEnd/>
          </a:ln>
          <a:effectLst/>
        </p:spPr>
        <p:txBody>
          <a:bodyPr wrap="square" anchor="ctr">
            <a:spAutoFit/>
          </a:bodyPr>
          <a:lstStyle/>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Discharge Relay Status   </a:t>
            </a:r>
            <a:r>
              <a:rPr lang="en-US" sz="1600" dirty="0" smtClean="0"/>
              <a:t>0</a:t>
            </a:r>
            <a:r>
              <a:rPr lang="zh-CN" altLang="en-US" sz="1600" dirty="0" smtClean="0"/>
              <a:t>：</a:t>
            </a:r>
            <a:r>
              <a:rPr lang="en-US" altLang="zh-CN" sz="1600" dirty="0" smtClean="0"/>
              <a:t>ON</a:t>
            </a:r>
            <a:r>
              <a:rPr lang="zh-CN" altLang="en-US" sz="1600" dirty="0" smtClean="0"/>
              <a:t>，</a:t>
            </a:r>
            <a:r>
              <a:rPr lang="en-US" sz="1600" dirty="0" smtClean="0"/>
              <a:t>1</a:t>
            </a:r>
            <a:r>
              <a:rPr lang="zh-CN" altLang="en-US" sz="1600" dirty="0" smtClean="0"/>
              <a:t>：</a:t>
            </a:r>
            <a:r>
              <a:rPr lang="en-US" altLang="zh-CN" sz="1600" dirty="0" smtClean="0"/>
              <a:t>OFF</a:t>
            </a:r>
            <a:endParaRPr lang="en-US" altLang="zh-CN" sz="1600" dirty="0" smtClean="0">
              <a:solidFill>
                <a:srgbClr val="00B050"/>
              </a:solidFill>
              <a:latin typeface="Times New Roman" pitchFamily="18" charset="0"/>
              <a:cs typeface="Times New Roman" pitchFamily="18" charset="0"/>
            </a:endParaRP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-Y Wing Deployment Status  </a:t>
            </a:r>
          </a:p>
          <a:p>
            <a:pPr eaLnBrk="0" fontAlgn="auto" hangingPunct="0">
              <a:lnSpc>
                <a:spcPct val="150000"/>
              </a:lnSpc>
              <a:spcBef>
                <a:spcPts val="0"/>
              </a:spcBef>
              <a:spcAft>
                <a:spcPts val="0"/>
              </a:spcAft>
              <a:defRPr/>
            </a:pPr>
            <a:r>
              <a:rPr lang="en-US" altLang="zh-CN" sz="1600" dirty="0" smtClean="0"/>
              <a:t>         1</a:t>
            </a:r>
            <a:r>
              <a:rPr lang="zh-CN" altLang="en-US" sz="1600" dirty="0" smtClean="0"/>
              <a:t>：</a:t>
            </a:r>
            <a:r>
              <a:rPr lang="en-US" altLang="zh-CN" sz="1600" dirty="0" smtClean="0"/>
              <a:t>Deployed</a:t>
            </a:r>
            <a:r>
              <a:rPr lang="zh-CN" altLang="en-US" sz="1600" dirty="0" smtClean="0"/>
              <a:t>，</a:t>
            </a:r>
            <a:r>
              <a:rPr lang="en-US" altLang="zh-CN" sz="1600" dirty="0" smtClean="0"/>
              <a:t>0</a:t>
            </a:r>
            <a:r>
              <a:rPr lang="zh-CN" altLang="en-US" sz="1600" dirty="0" smtClean="0"/>
              <a:t>：</a:t>
            </a:r>
            <a:r>
              <a:rPr lang="en-US" altLang="zh-CN" sz="1600" dirty="0" smtClean="0"/>
              <a:t>Folded</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+Y Wing Deployment Status</a:t>
            </a:r>
          </a:p>
          <a:p>
            <a:pPr eaLnBrk="0" hangingPunct="0">
              <a:lnSpc>
                <a:spcPct val="150000"/>
              </a:lnSpc>
              <a:defRPr/>
            </a:pPr>
            <a:r>
              <a:rPr lang="en-US" altLang="zh-CN" sz="1600" dirty="0" smtClean="0"/>
              <a:t>         1</a:t>
            </a:r>
            <a:r>
              <a:rPr lang="zh-CN" altLang="en-US" sz="1600" dirty="0" smtClean="0"/>
              <a:t>：</a:t>
            </a:r>
            <a:r>
              <a:rPr lang="en-US" altLang="zh-CN" sz="1600" dirty="0" smtClean="0"/>
              <a:t>Deployed</a:t>
            </a:r>
            <a:r>
              <a:rPr lang="zh-CN" altLang="en-US" sz="1600" dirty="0" smtClean="0"/>
              <a:t>，</a:t>
            </a:r>
            <a:r>
              <a:rPr lang="en-US" altLang="zh-CN" sz="1600" dirty="0" smtClean="0"/>
              <a:t>0</a:t>
            </a:r>
            <a:r>
              <a:rPr lang="zh-CN" altLang="en-US" sz="1600" dirty="0" smtClean="0"/>
              <a:t>：</a:t>
            </a:r>
            <a:r>
              <a:rPr lang="en-US" altLang="zh-CN" sz="1600" dirty="0" smtClean="0"/>
              <a:t>Folded</a:t>
            </a: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Battery Heater Status</a:t>
            </a:r>
            <a:r>
              <a:rPr lang="en-US" sz="2000" dirty="0" smtClean="0"/>
              <a:t>       </a:t>
            </a:r>
            <a:r>
              <a:rPr lang="en-US" sz="1600" dirty="0" smtClean="0"/>
              <a:t>0</a:t>
            </a:r>
            <a:r>
              <a:rPr lang="zh-CN" altLang="en-US" sz="1600" dirty="0" smtClean="0"/>
              <a:t>：</a:t>
            </a:r>
            <a:r>
              <a:rPr lang="en-US" altLang="zh-CN" sz="1600" dirty="0" smtClean="0"/>
              <a:t>ON</a:t>
            </a:r>
            <a:r>
              <a:rPr lang="zh-CN" altLang="en-US" sz="1600" dirty="0" smtClean="0"/>
              <a:t>，</a:t>
            </a:r>
            <a:r>
              <a:rPr lang="en-US" sz="1600" dirty="0" smtClean="0"/>
              <a:t>1</a:t>
            </a:r>
            <a:r>
              <a:rPr lang="zh-CN" altLang="en-US" sz="1600" dirty="0" smtClean="0"/>
              <a:t>：</a:t>
            </a:r>
            <a:r>
              <a:rPr lang="en-US" altLang="zh-CN" sz="1600" dirty="0" smtClean="0"/>
              <a:t>OFF</a:t>
            </a:r>
            <a:endParaRPr lang="en-US" altLang="zh-CN" sz="1600" dirty="0" smtClean="0">
              <a:solidFill>
                <a:srgbClr val="00B050"/>
              </a:solidFill>
              <a:latin typeface="Times New Roman" pitchFamily="18" charset="0"/>
              <a:cs typeface="Times New Roman" pitchFamily="18" charset="0"/>
            </a:endParaRP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Over-discharge Flag </a:t>
            </a: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a:t>
            </a:r>
            <a:r>
              <a:rPr lang="en-US" altLang="zh-CN" sz="1600" dirty="0" smtClean="0"/>
              <a:t>0</a:t>
            </a:r>
            <a:r>
              <a:rPr lang="zh-CN" altLang="en-US" sz="1600" dirty="0" smtClean="0"/>
              <a:t>：</a:t>
            </a:r>
            <a:r>
              <a:rPr lang="en-US" altLang="zh-CN" sz="1600" dirty="0" smtClean="0"/>
              <a:t>Normal</a:t>
            </a:r>
            <a:r>
              <a:rPr lang="zh-CN" altLang="en-US" sz="1600" dirty="0" smtClean="0"/>
              <a:t>，</a:t>
            </a:r>
            <a:r>
              <a:rPr lang="en-US" altLang="zh-CN" sz="1600" dirty="0" smtClean="0"/>
              <a:t>1</a:t>
            </a:r>
            <a:r>
              <a:rPr lang="zh-CN" altLang="en-US" sz="1600" dirty="0" smtClean="0"/>
              <a:t>：</a:t>
            </a:r>
            <a:r>
              <a:rPr lang="en-US" altLang="zh-CN" sz="1600" dirty="0" smtClean="0"/>
              <a:t>Over-discharge</a:t>
            </a: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BMU Status          </a:t>
            </a:r>
            <a:r>
              <a:rPr lang="en-US" altLang="zh-CN" sz="1600" dirty="0" smtClean="0"/>
              <a:t>0</a:t>
            </a:r>
            <a:r>
              <a:rPr lang="zh-CN" altLang="en-US" sz="1600" dirty="0" smtClean="0"/>
              <a:t>：</a:t>
            </a:r>
            <a:r>
              <a:rPr lang="en-US" altLang="zh-CN" sz="1600" dirty="0" smtClean="0"/>
              <a:t>OFF</a:t>
            </a:r>
            <a:r>
              <a:rPr lang="zh-CN" altLang="en-US" sz="1600" dirty="0" smtClean="0"/>
              <a:t>，</a:t>
            </a:r>
            <a:r>
              <a:rPr lang="en-US" altLang="zh-CN" sz="1600" dirty="0" smtClean="0"/>
              <a:t>1</a:t>
            </a:r>
            <a:r>
              <a:rPr lang="zh-CN" altLang="en-US" sz="1600" dirty="0" smtClean="0"/>
              <a:t>：</a:t>
            </a:r>
            <a:r>
              <a:rPr lang="en-US" altLang="zh-CN" sz="1600" dirty="0" smtClean="0"/>
              <a:t>ON</a:t>
            </a:r>
          </a:p>
          <a:p>
            <a:pPr eaLnBrk="0" fontAlgn="auto" hangingPunct="0">
              <a:spcBef>
                <a:spcPts val="0"/>
              </a:spcBef>
              <a:spcAft>
                <a:spcPts val="0"/>
              </a:spcAft>
              <a:defRPr/>
            </a:pPr>
            <a:r>
              <a:rPr lang="en-US" altLang="zh-CN" sz="2000" dirty="0" smtClean="0"/>
              <a:t>        </a:t>
            </a:r>
          </a:p>
          <a:p>
            <a:pPr eaLnBrk="0" fontAlgn="auto" hangingPunct="0">
              <a:spcBef>
                <a:spcPts val="0"/>
              </a:spcBef>
              <a:spcAft>
                <a:spcPts val="0"/>
              </a:spcAft>
              <a:defRPr/>
            </a:pPr>
            <a:endParaRPr lang="en-US" altLang="zh-CN" sz="2000" dirty="0" smtClean="0"/>
          </a:p>
          <a:p>
            <a:pPr eaLnBrk="0" fontAlgn="auto" hangingPunct="0">
              <a:spcBef>
                <a:spcPts val="0"/>
              </a:spcBef>
              <a:spcAft>
                <a:spcPts val="0"/>
              </a:spcAft>
              <a:defRPr/>
            </a:pPr>
            <a:endParaRPr lang="en-US" altLang="zh-CN" sz="2000" dirty="0" err="1">
              <a:solidFill>
                <a:srgbClr val="00B050"/>
              </a:solidFill>
              <a:latin typeface="Times New Roman" pitchFamily="18" charset="0"/>
              <a:cs typeface="Times New Roman" pitchFamily="18" charset="0"/>
            </a:endParaRPr>
          </a:p>
          <a:p>
            <a:pPr fontAlgn="auto">
              <a:spcBef>
                <a:spcPts val="0"/>
              </a:spcBef>
              <a:spcAft>
                <a:spcPts val="600"/>
              </a:spcAft>
              <a:defRPr/>
            </a:pPr>
            <a:endParaRPr lang="en-US" altLang="zh-CN" dirty="0" err="1">
              <a:solidFill>
                <a:schemeClr val="accent6">
                  <a:lumMod val="60000"/>
                  <a:lumOff val="40000"/>
                </a:schemeClr>
              </a:solidFill>
              <a:latin typeface="Times New Roman" pitchFamily="18" charset="0"/>
              <a:ea typeface="+mn-ea"/>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34</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357188" y="500042"/>
            <a:ext cx="4687887" cy="584200"/>
          </a:xfrm>
          <a:prstGeom prst="rect">
            <a:avLst/>
          </a:prstGeom>
        </p:spPr>
        <p:txBody>
          <a:bodyPr wrap="none">
            <a:spAutoFit/>
          </a:bodyPr>
          <a:lstStyle/>
          <a:p>
            <a:pPr fontAlgn="auto">
              <a:spcBef>
                <a:spcPts val="0"/>
              </a:spcBef>
              <a:spcAft>
                <a:spcPts val="0"/>
              </a:spcAft>
              <a:defRPr/>
            </a:pPr>
            <a:r>
              <a:rPr lang="en-US" altLang="zh-CN" sz="3200" b="1" i="1" kern="0" dirty="0">
                <a:solidFill>
                  <a:schemeClr val="bg1"/>
                </a:solidFill>
                <a:latin typeface="+mn-lt"/>
                <a:ea typeface="+mn-ea"/>
              </a:rPr>
              <a:t>Key Telemetry Parameters</a:t>
            </a:r>
            <a:endParaRPr lang="zh-CN" altLang="en-US" sz="3200" b="1" i="1" dirty="0">
              <a:solidFill>
                <a:schemeClr val="bg1"/>
              </a:solidFill>
              <a:latin typeface="+mn-lt"/>
              <a:ea typeface="+mn-ea"/>
            </a:endParaRPr>
          </a:p>
        </p:txBody>
      </p:sp>
      <p:sp>
        <p:nvSpPr>
          <p:cNvPr id="7" name="矩形 2"/>
          <p:cNvSpPr>
            <a:spLocks noChangeArrowheads="1"/>
          </p:cNvSpPr>
          <p:nvPr/>
        </p:nvSpPr>
        <p:spPr bwMode="auto">
          <a:xfrm>
            <a:off x="292100" y="1181385"/>
            <a:ext cx="4812471" cy="461665"/>
          </a:xfrm>
          <a:prstGeom prst="rect">
            <a:avLst/>
          </a:prstGeom>
          <a:noFill/>
          <a:ln w="9525">
            <a:noFill/>
            <a:miter lim="800000"/>
            <a:headEnd/>
            <a:tailEnd/>
          </a:ln>
        </p:spPr>
        <p:txBody>
          <a:bodyPr wrap="none">
            <a:spAutoFit/>
          </a:bodyPr>
          <a:lstStyle/>
          <a:p>
            <a:pPr>
              <a:buFont typeface="Wingdings" pitchFamily="2" charset="2"/>
              <a:buChar char="l"/>
            </a:pPr>
            <a:r>
              <a:rPr lang="en-US" altLang="zh-CN" i="1" dirty="0">
                <a:latin typeface="Calibri" pitchFamily="34" charset="0"/>
              </a:rPr>
              <a:t>  </a:t>
            </a:r>
            <a:r>
              <a:rPr lang="en-US" altLang="zh-CN" sz="2400" i="1" dirty="0" smtClean="0">
                <a:solidFill>
                  <a:srgbClr val="B010A8"/>
                </a:solidFill>
                <a:latin typeface="Calibri" pitchFamily="34" charset="0"/>
              </a:rPr>
              <a:t>Slow </a:t>
            </a:r>
            <a:r>
              <a:rPr lang="en-US" altLang="zh-CN" sz="2400" i="1" dirty="0">
                <a:solidFill>
                  <a:srgbClr val="B010A8"/>
                </a:solidFill>
                <a:latin typeface="Calibri" pitchFamily="34" charset="0"/>
              </a:rPr>
              <a:t>changing telemetries in </a:t>
            </a:r>
            <a:r>
              <a:rPr lang="en-US" altLang="zh-CN" sz="2400" i="1" dirty="0" smtClean="0">
                <a:solidFill>
                  <a:srgbClr val="B010A8"/>
                </a:solidFill>
                <a:latin typeface="Calibri" pitchFamily="34" charset="0"/>
              </a:rPr>
              <a:t>PCDU</a:t>
            </a:r>
            <a:endParaRPr lang="zh-CN" altLang="en-US" sz="2400" i="1" dirty="0">
              <a:solidFill>
                <a:srgbClr val="B010A8"/>
              </a:solidFill>
              <a:latin typeface="Calibri" pitchFamily="34" charset="0"/>
            </a:endParaRPr>
          </a:p>
        </p:txBody>
      </p:sp>
      <p:sp>
        <p:nvSpPr>
          <p:cNvPr id="8" name="Rectangle 1"/>
          <p:cNvSpPr>
            <a:spLocks noChangeArrowheads="1"/>
          </p:cNvSpPr>
          <p:nvPr/>
        </p:nvSpPr>
        <p:spPr bwMode="gray">
          <a:xfrm>
            <a:off x="357158" y="1542243"/>
            <a:ext cx="7786742" cy="6063198"/>
          </a:xfrm>
          <a:prstGeom prst="rect">
            <a:avLst/>
          </a:prstGeom>
          <a:noFill/>
          <a:ln w="9525" cap="flat" cmpd="sng" algn="ctr">
            <a:noFill/>
            <a:prstDash val="solid"/>
            <a:miter lim="800000"/>
            <a:headEnd/>
            <a:tailEnd/>
          </a:ln>
          <a:effectLst/>
        </p:spPr>
        <p:txBody>
          <a:bodyPr wrap="square" anchor="ctr">
            <a:spAutoFit/>
          </a:bodyPr>
          <a:lstStyle/>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a:t>
            </a:r>
            <a:r>
              <a:rPr lang="en-US" sz="2000" dirty="0" smtClean="0"/>
              <a:t>   </a:t>
            </a:r>
            <a:r>
              <a:rPr lang="en-US" altLang="zh-CN" sz="2000" dirty="0" smtClean="0">
                <a:solidFill>
                  <a:srgbClr val="00B050"/>
                </a:solidFill>
                <a:latin typeface="Times New Roman" pitchFamily="18" charset="0"/>
                <a:cs typeface="Times New Roman" pitchFamily="18" charset="0"/>
              </a:rPr>
              <a:t>Battery current capacity</a:t>
            </a: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Battery charge capacity</a:t>
            </a: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Battery discharge capacity</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Power Alarm Status</a:t>
            </a: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Sub Computer </a:t>
            </a:r>
            <a:r>
              <a:rPr lang="en-US" altLang="zh-CN" sz="2000" dirty="0" err="1" smtClean="0">
                <a:solidFill>
                  <a:srgbClr val="00B050"/>
                </a:solidFill>
                <a:latin typeface="Times New Roman" pitchFamily="18" charset="0"/>
                <a:cs typeface="Times New Roman" pitchFamily="18" charset="0"/>
              </a:rPr>
              <a:t>Selfcheck</a:t>
            </a:r>
            <a:r>
              <a:rPr lang="en-US" altLang="zh-CN" sz="2000" dirty="0" smtClean="0">
                <a:solidFill>
                  <a:srgbClr val="00B050"/>
                </a:solidFill>
                <a:latin typeface="Times New Roman" pitchFamily="18" charset="0"/>
                <a:cs typeface="Times New Roman" pitchFamily="18" charset="0"/>
              </a:rPr>
              <a:t> Status</a:t>
            </a:r>
          </a:p>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a:t>
            </a:r>
            <a:r>
              <a:rPr lang="en-US" sz="2000" dirty="0" smtClean="0"/>
              <a:t>   </a:t>
            </a:r>
            <a:r>
              <a:rPr lang="en-US" altLang="zh-CN" sz="2000" dirty="0" smtClean="0">
                <a:solidFill>
                  <a:srgbClr val="00B050"/>
                </a:solidFill>
                <a:latin typeface="Times New Roman" pitchFamily="18" charset="0"/>
                <a:cs typeface="Times New Roman" pitchFamily="18" charset="0"/>
              </a:rPr>
              <a:t>Sub-computer Status</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Heater Stop Temperature/  Heater start temperature</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Charge/Discharge Ratio</a:t>
            </a:r>
            <a:endParaRPr lang="zh-CN" altLang="en-US" sz="2000" dirty="0" smtClean="0">
              <a:solidFill>
                <a:srgbClr val="00B050"/>
              </a:solidFill>
              <a:latin typeface="Times New Roman" pitchFamily="18" charset="0"/>
              <a:cs typeface="Times New Roman" pitchFamily="18" charset="0"/>
            </a:endParaRP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a:t>
            </a:r>
            <a:r>
              <a:rPr lang="en-US" altLang="zh-CN" sz="2000" dirty="0" err="1" smtClean="0">
                <a:solidFill>
                  <a:srgbClr val="00B050"/>
                </a:solidFill>
                <a:latin typeface="Times New Roman" pitchFamily="18" charset="0"/>
                <a:cs typeface="Times New Roman" pitchFamily="18" charset="0"/>
              </a:rPr>
              <a:t>Batt</a:t>
            </a:r>
            <a:r>
              <a:rPr lang="en-US" altLang="zh-CN" sz="2000" dirty="0" smtClean="0">
                <a:solidFill>
                  <a:srgbClr val="00B050"/>
                </a:solidFill>
                <a:latin typeface="Times New Roman" pitchFamily="18" charset="0"/>
                <a:cs typeface="Times New Roman" pitchFamily="18" charset="0"/>
              </a:rPr>
              <a:t> Voltage Alarm Threshold</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a:t>
            </a:r>
            <a:r>
              <a:rPr lang="en-US" altLang="zh-CN" sz="2000" dirty="0" err="1" smtClean="0">
                <a:solidFill>
                  <a:srgbClr val="00B050"/>
                </a:solidFill>
                <a:latin typeface="Times New Roman" pitchFamily="18" charset="0"/>
                <a:cs typeface="Times New Roman" pitchFamily="18" charset="0"/>
              </a:rPr>
              <a:t>Batt</a:t>
            </a:r>
            <a:r>
              <a:rPr lang="en-US" altLang="zh-CN" sz="2000" dirty="0" smtClean="0">
                <a:solidFill>
                  <a:srgbClr val="00B050"/>
                </a:solidFill>
                <a:latin typeface="Times New Roman" pitchFamily="18" charset="0"/>
                <a:cs typeface="Times New Roman" pitchFamily="18" charset="0"/>
              </a:rPr>
              <a:t> Voltage Pre-alarm Threshold</a:t>
            </a:r>
          </a:p>
          <a:p>
            <a:pPr eaLnBrk="0" hangingPunct="0">
              <a:lnSpc>
                <a:spcPct val="150000"/>
              </a:lnSpc>
              <a:defRPr/>
            </a:pPr>
            <a:endParaRPr lang="zh-CN" altLang="en-US" sz="2000" dirty="0" smtClean="0">
              <a:solidFill>
                <a:srgbClr val="00B050"/>
              </a:solidFill>
              <a:latin typeface="Times New Roman" pitchFamily="18" charset="0"/>
              <a:cs typeface="Times New Roman" pitchFamily="18" charset="0"/>
            </a:endParaRPr>
          </a:p>
          <a:p>
            <a:pPr eaLnBrk="0" fontAlgn="auto" hangingPunct="0">
              <a:spcBef>
                <a:spcPts val="0"/>
              </a:spcBef>
              <a:spcAft>
                <a:spcPts val="0"/>
              </a:spcAft>
              <a:defRPr/>
            </a:pPr>
            <a:endParaRPr lang="en-US" altLang="zh-CN" sz="2000" dirty="0" smtClean="0"/>
          </a:p>
          <a:p>
            <a:pPr eaLnBrk="0" fontAlgn="auto" hangingPunct="0">
              <a:spcBef>
                <a:spcPts val="0"/>
              </a:spcBef>
              <a:spcAft>
                <a:spcPts val="0"/>
              </a:spcAft>
              <a:defRPr/>
            </a:pPr>
            <a:endParaRPr lang="en-US" altLang="zh-CN" sz="2000" dirty="0" err="1">
              <a:solidFill>
                <a:srgbClr val="00B050"/>
              </a:solidFill>
              <a:latin typeface="Times New Roman" pitchFamily="18" charset="0"/>
              <a:cs typeface="Times New Roman" pitchFamily="18" charset="0"/>
            </a:endParaRPr>
          </a:p>
          <a:p>
            <a:pPr fontAlgn="auto">
              <a:spcBef>
                <a:spcPts val="0"/>
              </a:spcBef>
              <a:spcAft>
                <a:spcPts val="600"/>
              </a:spcAft>
              <a:defRPr/>
            </a:pPr>
            <a:endParaRPr lang="en-US" altLang="zh-CN" dirty="0" err="1">
              <a:solidFill>
                <a:schemeClr val="accent6">
                  <a:lumMod val="60000"/>
                  <a:lumOff val="40000"/>
                </a:schemeClr>
              </a:solidFill>
              <a:latin typeface="Times New Roman" pitchFamily="18" charset="0"/>
              <a:ea typeface="+mn-ea"/>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35</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500034" y="571480"/>
            <a:ext cx="3724096" cy="584775"/>
          </a:xfrm>
          <a:prstGeom prst="rect">
            <a:avLst/>
          </a:prstGeom>
        </p:spPr>
        <p:txBody>
          <a:bodyPr wrap="none">
            <a:spAutoFit/>
          </a:bodyPr>
          <a:lstStyle/>
          <a:p>
            <a:pPr fontAlgn="auto">
              <a:spcBef>
                <a:spcPts val="0"/>
              </a:spcBef>
              <a:spcAft>
                <a:spcPts val="0"/>
              </a:spcAft>
              <a:defRPr/>
            </a:pPr>
            <a:r>
              <a:rPr lang="en-US" altLang="zh-CN" sz="3200" b="1" i="1" kern="0" dirty="0" smtClean="0">
                <a:solidFill>
                  <a:schemeClr val="bg1"/>
                </a:solidFill>
              </a:rPr>
              <a:t>Key Tele-commands</a:t>
            </a:r>
            <a:endParaRPr lang="zh-CN" altLang="en-US" sz="3200" b="1" i="1" kern="0" dirty="0">
              <a:solidFill>
                <a:schemeClr val="bg1"/>
              </a:solidFill>
            </a:endParaRPr>
          </a:p>
        </p:txBody>
      </p:sp>
      <p:sp>
        <p:nvSpPr>
          <p:cNvPr id="8" name="矩形 7"/>
          <p:cNvSpPr/>
          <p:nvPr/>
        </p:nvSpPr>
        <p:spPr>
          <a:xfrm>
            <a:off x="795340" y="1702346"/>
            <a:ext cx="1838965" cy="507831"/>
          </a:xfrm>
          <a:prstGeom prst="rect">
            <a:avLst/>
          </a:prstGeom>
        </p:spPr>
        <p:txBody>
          <a:bodyPr wrap="none">
            <a:spAutoFit/>
          </a:bodyPr>
          <a:lstStyle/>
          <a:p>
            <a:pPr eaLnBrk="0" fontAlgn="auto" hangingPunct="0">
              <a:lnSpc>
                <a:spcPct val="150000"/>
              </a:lnSpc>
              <a:spcBef>
                <a:spcPts val="0"/>
              </a:spcBef>
              <a:spcAft>
                <a:spcPts val="0"/>
              </a:spcAft>
              <a:buFont typeface="Wingdings" pitchFamily="2" charset="2"/>
              <a:buChar char="l"/>
              <a:defRPr/>
            </a:pPr>
            <a:r>
              <a:rPr lang="en-US" altLang="zh-CN" dirty="0" smtClean="0">
                <a:solidFill>
                  <a:schemeClr val="accent4">
                    <a:lumMod val="75000"/>
                  </a:schemeClr>
                </a:solidFill>
                <a:latin typeface="Times New Roman" pitchFamily="18" charset="0"/>
                <a:cs typeface="Times New Roman" pitchFamily="18" charset="0"/>
              </a:rPr>
              <a:t> OBDH _M ON</a:t>
            </a:r>
          </a:p>
        </p:txBody>
      </p:sp>
      <p:sp>
        <p:nvSpPr>
          <p:cNvPr id="9" name="矩形 8"/>
          <p:cNvSpPr/>
          <p:nvPr/>
        </p:nvSpPr>
        <p:spPr>
          <a:xfrm>
            <a:off x="795340" y="2202412"/>
            <a:ext cx="1838965" cy="507831"/>
          </a:xfrm>
          <a:prstGeom prst="rect">
            <a:avLst/>
          </a:prstGeom>
        </p:spPr>
        <p:txBody>
          <a:bodyPr wrap="none">
            <a:spAutoFit/>
          </a:bodyPr>
          <a:lstStyle/>
          <a:p>
            <a:pPr eaLnBrk="0" fontAlgn="auto" hangingPunct="0">
              <a:lnSpc>
                <a:spcPct val="150000"/>
              </a:lnSpc>
              <a:spcBef>
                <a:spcPts val="0"/>
              </a:spcBef>
              <a:spcAft>
                <a:spcPts val="0"/>
              </a:spcAft>
              <a:buFont typeface="Wingdings" pitchFamily="2" charset="2"/>
              <a:buChar char="l"/>
              <a:defRPr/>
            </a:pPr>
            <a:r>
              <a:rPr lang="en-US" altLang="zh-CN" dirty="0" smtClean="0">
                <a:solidFill>
                  <a:schemeClr val="accent4">
                    <a:lumMod val="75000"/>
                  </a:schemeClr>
                </a:solidFill>
                <a:latin typeface="Times New Roman" pitchFamily="18" charset="0"/>
                <a:cs typeface="Times New Roman" pitchFamily="18" charset="0"/>
              </a:rPr>
              <a:t> OBDH _B ON</a:t>
            </a:r>
          </a:p>
        </p:txBody>
      </p:sp>
      <p:sp>
        <p:nvSpPr>
          <p:cNvPr id="10" name="矩形 9"/>
          <p:cNvSpPr/>
          <p:nvPr/>
        </p:nvSpPr>
        <p:spPr>
          <a:xfrm>
            <a:off x="795340" y="2702478"/>
            <a:ext cx="3348032" cy="507831"/>
          </a:xfrm>
          <a:prstGeom prst="rect">
            <a:avLst/>
          </a:prstGeom>
        </p:spPr>
        <p:txBody>
          <a:bodyPr wrap="none">
            <a:spAutoFit/>
          </a:bodyPr>
          <a:lstStyle/>
          <a:p>
            <a:pPr eaLnBrk="0" fontAlgn="auto" hangingPunct="0">
              <a:lnSpc>
                <a:spcPct val="150000"/>
              </a:lnSpc>
              <a:spcBef>
                <a:spcPts val="0"/>
              </a:spcBef>
              <a:spcAft>
                <a:spcPts val="0"/>
              </a:spcAft>
              <a:buFont typeface="Wingdings" pitchFamily="2" charset="2"/>
              <a:buChar char="l"/>
              <a:defRPr/>
            </a:pPr>
            <a:r>
              <a:rPr lang="en-US" altLang="zh-CN" dirty="0" smtClean="0">
                <a:solidFill>
                  <a:schemeClr val="accent4">
                    <a:lumMod val="75000"/>
                  </a:schemeClr>
                </a:solidFill>
                <a:latin typeface="Times New Roman" pitchFamily="18" charset="0"/>
                <a:cs typeface="Times New Roman" pitchFamily="18" charset="0"/>
              </a:rPr>
              <a:t> </a:t>
            </a:r>
            <a:r>
              <a:rPr lang="en-US" altLang="zh-CN" dirty="0" err="1" smtClean="0">
                <a:solidFill>
                  <a:schemeClr val="accent4">
                    <a:lumMod val="75000"/>
                  </a:schemeClr>
                </a:solidFill>
                <a:latin typeface="Times New Roman" pitchFamily="18" charset="0"/>
                <a:cs typeface="Times New Roman" pitchFamily="18" charset="0"/>
              </a:rPr>
              <a:t>Batt_Discharge_Relay_CLOSE</a:t>
            </a:r>
            <a:endParaRPr lang="en-US" altLang="zh-CN" dirty="0" smtClean="0">
              <a:solidFill>
                <a:schemeClr val="accent4">
                  <a:lumMod val="75000"/>
                </a:schemeClr>
              </a:solidFill>
              <a:latin typeface="Times New Roman" pitchFamily="18" charset="0"/>
              <a:cs typeface="Times New Roman" pitchFamily="18" charset="0"/>
            </a:endParaRPr>
          </a:p>
        </p:txBody>
      </p:sp>
      <p:sp>
        <p:nvSpPr>
          <p:cNvPr id="11" name="矩形 10"/>
          <p:cNvSpPr/>
          <p:nvPr/>
        </p:nvSpPr>
        <p:spPr>
          <a:xfrm>
            <a:off x="795340" y="3202544"/>
            <a:ext cx="3219792" cy="507831"/>
          </a:xfrm>
          <a:prstGeom prst="rect">
            <a:avLst/>
          </a:prstGeom>
        </p:spPr>
        <p:txBody>
          <a:bodyPr wrap="none">
            <a:spAutoFit/>
          </a:bodyPr>
          <a:lstStyle/>
          <a:p>
            <a:pPr eaLnBrk="0" fontAlgn="auto" hangingPunct="0">
              <a:lnSpc>
                <a:spcPct val="150000"/>
              </a:lnSpc>
              <a:spcBef>
                <a:spcPts val="0"/>
              </a:spcBef>
              <a:spcAft>
                <a:spcPts val="0"/>
              </a:spcAft>
              <a:buFont typeface="Wingdings" pitchFamily="2" charset="2"/>
              <a:buChar char="l"/>
              <a:defRPr/>
            </a:pPr>
            <a:r>
              <a:rPr lang="en-US" altLang="zh-CN" dirty="0" smtClean="0">
                <a:solidFill>
                  <a:schemeClr val="accent4">
                    <a:lumMod val="75000"/>
                  </a:schemeClr>
                </a:solidFill>
                <a:latin typeface="Times New Roman" pitchFamily="18" charset="0"/>
                <a:cs typeface="Times New Roman" pitchFamily="18" charset="0"/>
              </a:rPr>
              <a:t> </a:t>
            </a:r>
            <a:r>
              <a:rPr lang="en-US" altLang="zh-CN" dirty="0" err="1" smtClean="0">
                <a:solidFill>
                  <a:schemeClr val="accent4">
                    <a:lumMod val="75000"/>
                  </a:schemeClr>
                </a:solidFill>
                <a:latin typeface="Times New Roman" pitchFamily="18" charset="0"/>
                <a:cs typeface="Times New Roman" pitchFamily="18" charset="0"/>
              </a:rPr>
              <a:t>Batt_Discharge_Relay_OPEN</a:t>
            </a:r>
            <a:endParaRPr lang="en-US" altLang="zh-CN" dirty="0" smtClean="0">
              <a:solidFill>
                <a:schemeClr val="accent4">
                  <a:lumMod val="75000"/>
                </a:schemeClr>
              </a:solidFill>
              <a:latin typeface="Times New Roman" pitchFamily="18" charset="0"/>
              <a:cs typeface="Times New Roman" pitchFamily="18" charset="0"/>
            </a:endParaRPr>
          </a:p>
        </p:txBody>
      </p:sp>
      <p:sp>
        <p:nvSpPr>
          <p:cNvPr id="13" name="矩形 12"/>
          <p:cNvSpPr/>
          <p:nvPr/>
        </p:nvSpPr>
        <p:spPr>
          <a:xfrm>
            <a:off x="795340" y="3702610"/>
            <a:ext cx="3219792" cy="369332"/>
          </a:xfrm>
          <a:prstGeom prst="rect">
            <a:avLst/>
          </a:prstGeom>
        </p:spPr>
        <p:txBody>
          <a:bodyPr wrap="none">
            <a:spAutoFit/>
          </a:bodyPr>
          <a:lstStyle/>
          <a:p>
            <a:pPr>
              <a:buFont typeface="Wingdings" pitchFamily="2" charset="2"/>
              <a:buChar char="l"/>
            </a:pPr>
            <a:r>
              <a:rPr lang="en-US" altLang="zh-CN" dirty="0" smtClean="0">
                <a:solidFill>
                  <a:schemeClr val="accent4">
                    <a:lumMod val="75000"/>
                  </a:schemeClr>
                </a:solidFill>
                <a:latin typeface="Times New Roman" pitchFamily="18" charset="0"/>
                <a:cs typeface="Times New Roman" pitchFamily="18" charset="0"/>
              </a:rPr>
              <a:t> </a:t>
            </a:r>
            <a:r>
              <a:rPr lang="en-US" altLang="zh-CN" dirty="0" err="1" smtClean="0">
                <a:solidFill>
                  <a:schemeClr val="accent4">
                    <a:lumMod val="75000"/>
                  </a:schemeClr>
                </a:solidFill>
                <a:latin typeface="Times New Roman" pitchFamily="18" charset="0"/>
                <a:cs typeface="Times New Roman" pitchFamily="18" charset="0"/>
              </a:rPr>
              <a:t>Overdischarge_s</a:t>
            </a:r>
            <a:r>
              <a:rPr lang="en-US" altLang="zh-CN" dirty="0" smtClean="0">
                <a:solidFill>
                  <a:schemeClr val="accent4">
                    <a:lumMod val="75000"/>
                  </a:schemeClr>
                </a:solidFill>
                <a:latin typeface="Times New Roman" pitchFamily="18" charset="0"/>
                <a:cs typeface="Times New Roman" pitchFamily="18" charset="0"/>
              </a:rPr>
              <a:t>/</a:t>
            </a:r>
            <a:r>
              <a:rPr lang="en-US" altLang="zh-CN" dirty="0" err="1" smtClean="0">
                <a:solidFill>
                  <a:schemeClr val="accent4">
                    <a:lumMod val="75000"/>
                  </a:schemeClr>
                </a:solidFill>
                <a:latin typeface="Times New Roman" pitchFamily="18" charset="0"/>
                <a:cs typeface="Times New Roman" pitchFamily="18" charset="0"/>
              </a:rPr>
              <a:t>w_ENABLE</a:t>
            </a:r>
            <a:endParaRPr lang="zh-CN" altLang="en-US" dirty="0" smtClean="0">
              <a:solidFill>
                <a:schemeClr val="accent4">
                  <a:lumMod val="75000"/>
                </a:schemeClr>
              </a:solidFill>
              <a:latin typeface="Times New Roman" pitchFamily="18" charset="0"/>
              <a:cs typeface="Times New Roman" pitchFamily="18" charset="0"/>
            </a:endParaRPr>
          </a:p>
        </p:txBody>
      </p:sp>
      <p:sp>
        <p:nvSpPr>
          <p:cNvPr id="14" name="矩形 13"/>
          <p:cNvSpPr/>
          <p:nvPr/>
        </p:nvSpPr>
        <p:spPr>
          <a:xfrm>
            <a:off x="795340" y="4131238"/>
            <a:ext cx="3283912" cy="369332"/>
          </a:xfrm>
          <a:prstGeom prst="rect">
            <a:avLst/>
          </a:prstGeom>
        </p:spPr>
        <p:txBody>
          <a:bodyPr wrap="none">
            <a:spAutoFit/>
          </a:bodyPr>
          <a:lstStyle/>
          <a:p>
            <a:pPr>
              <a:buFont typeface="Wingdings" pitchFamily="2" charset="2"/>
              <a:buChar char="l"/>
            </a:pPr>
            <a:r>
              <a:rPr lang="en-US" altLang="zh-CN" dirty="0" smtClean="0">
                <a:solidFill>
                  <a:schemeClr val="accent4">
                    <a:lumMod val="75000"/>
                  </a:schemeClr>
                </a:solidFill>
                <a:latin typeface="Times New Roman" pitchFamily="18" charset="0"/>
                <a:cs typeface="Times New Roman" pitchFamily="18" charset="0"/>
              </a:rPr>
              <a:t> </a:t>
            </a:r>
            <a:r>
              <a:rPr lang="en-US" altLang="zh-CN" dirty="0" err="1" smtClean="0">
                <a:solidFill>
                  <a:schemeClr val="accent4">
                    <a:lumMod val="75000"/>
                  </a:schemeClr>
                </a:solidFill>
                <a:latin typeface="Times New Roman" pitchFamily="18" charset="0"/>
                <a:cs typeface="Times New Roman" pitchFamily="18" charset="0"/>
              </a:rPr>
              <a:t>Overdischarge_s</a:t>
            </a:r>
            <a:r>
              <a:rPr lang="en-US" altLang="zh-CN" dirty="0" smtClean="0">
                <a:solidFill>
                  <a:schemeClr val="accent4">
                    <a:lumMod val="75000"/>
                  </a:schemeClr>
                </a:solidFill>
                <a:latin typeface="Times New Roman" pitchFamily="18" charset="0"/>
                <a:cs typeface="Times New Roman" pitchFamily="18" charset="0"/>
              </a:rPr>
              <a:t>/</a:t>
            </a:r>
            <a:r>
              <a:rPr lang="en-US" altLang="zh-CN" dirty="0" err="1" smtClean="0">
                <a:solidFill>
                  <a:schemeClr val="accent4">
                    <a:lumMod val="75000"/>
                  </a:schemeClr>
                </a:solidFill>
                <a:latin typeface="Times New Roman" pitchFamily="18" charset="0"/>
                <a:cs typeface="Times New Roman" pitchFamily="18" charset="0"/>
              </a:rPr>
              <a:t>w_DISABLE</a:t>
            </a:r>
            <a:endParaRPr lang="zh-CN" altLang="en-US" dirty="0" smtClean="0">
              <a:solidFill>
                <a:schemeClr val="accent4">
                  <a:lumMod val="75000"/>
                </a:schemeClr>
              </a:solidFill>
              <a:latin typeface="Times New Roman" pitchFamily="18" charset="0"/>
              <a:cs typeface="Times New Roman" pitchFamily="18" charset="0"/>
            </a:endParaRPr>
          </a:p>
        </p:txBody>
      </p:sp>
      <p:sp>
        <p:nvSpPr>
          <p:cNvPr id="15" name="矩形 14"/>
          <p:cNvSpPr/>
          <p:nvPr/>
        </p:nvSpPr>
        <p:spPr>
          <a:xfrm>
            <a:off x="795340" y="4559866"/>
            <a:ext cx="3147015" cy="369332"/>
          </a:xfrm>
          <a:prstGeom prst="rect">
            <a:avLst/>
          </a:prstGeom>
        </p:spPr>
        <p:txBody>
          <a:bodyPr wrap="none">
            <a:spAutoFit/>
          </a:bodyPr>
          <a:lstStyle/>
          <a:p>
            <a:pPr>
              <a:buFont typeface="Wingdings" pitchFamily="2" charset="2"/>
              <a:buChar char="l"/>
            </a:pPr>
            <a:r>
              <a:rPr lang="en-US" altLang="zh-CN" dirty="0" smtClean="0">
                <a:solidFill>
                  <a:schemeClr val="accent4">
                    <a:lumMod val="75000"/>
                  </a:schemeClr>
                </a:solidFill>
                <a:latin typeface="Times New Roman" pitchFamily="18" charset="0"/>
                <a:cs typeface="Times New Roman" pitchFamily="18" charset="0"/>
              </a:rPr>
              <a:t> </a:t>
            </a:r>
            <a:r>
              <a:rPr lang="en-US" altLang="zh-CN" dirty="0" err="1" smtClean="0">
                <a:solidFill>
                  <a:schemeClr val="accent4">
                    <a:lumMod val="75000"/>
                  </a:schemeClr>
                </a:solidFill>
                <a:latin typeface="Times New Roman" pitchFamily="18" charset="0"/>
                <a:cs typeface="Times New Roman" pitchFamily="18" charset="0"/>
              </a:rPr>
              <a:t>Batt_Connect_s</a:t>
            </a:r>
            <a:r>
              <a:rPr lang="en-US" altLang="zh-CN" dirty="0" smtClean="0">
                <a:solidFill>
                  <a:schemeClr val="accent4">
                    <a:lumMod val="75000"/>
                  </a:schemeClr>
                </a:solidFill>
                <a:latin typeface="Times New Roman" pitchFamily="18" charset="0"/>
                <a:cs typeface="Times New Roman" pitchFamily="18" charset="0"/>
              </a:rPr>
              <a:t>/</a:t>
            </a:r>
            <a:r>
              <a:rPr lang="en-US" altLang="zh-CN" dirty="0" err="1" smtClean="0">
                <a:solidFill>
                  <a:schemeClr val="accent4">
                    <a:lumMod val="75000"/>
                  </a:schemeClr>
                </a:solidFill>
                <a:latin typeface="Times New Roman" pitchFamily="18" charset="0"/>
                <a:cs typeface="Times New Roman" pitchFamily="18" charset="0"/>
              </a:rPr>
              <a:t>w_ENABLE</a:t>
            </a:r>
            <a:endParaRPr lang="zh-CN" altLang="en-US" dirty="0" smtClean="0">
              <a:solidFill>
                <a:schemeClr val="accent4">
                  <a:lumMod val="75000"/>
                </a:schemeClr>
              </a:solidFill>
              <a:latin typeface="Times New Roman" pitchFamily="18" charset="0"/>
              <a:cs typeface="Times New Roman" pitchFamily="18" charset="0"/>
            </a:endParaRPr>
          </a:p>
        </p:txBody>
      </p:sp>
      <p:sp>
        <p:nvSpPr>
          <p:cNvPr id="16" name="矩形 15"/>
          <p:cNvSpPr/>
          <p:nvPr/>
        </p:nvSpPr>
        <p:spPr>
          <a:xfrm>
            <a:off x="795340" y="5059932"/>
            <a:ext cx="3211135" cy="369332"/>
          </a:xfrm>
          <a:prstGeom prst="rect">
            <a:avLst/>
          </a:prstGeom>
        </p:spPr>
        <p:txBody>
          <a:bodyPr wrap="none">
            <a:spAutoFit/>
          </a:bodyPr>
          <a:lstStyle/>
          <a:p>
            <a:pPr>
              <a:buFont typeface="Wingdings" pitchFamily="2" charset="2"/>
              <a:buChar char="l"/>
            </a:pPr>
            <a:r>
              <a:rPr lang="en-US" altLang="zh-CN" dirty="0" smtClean="0">
                <a:solidFill>
                  <a:schemeClr val="accent4">
                    <a:lumMod val="75000"/>
                  </a:schemeClr>
                </a:solidFill>
                <a:latin typeface="Times New Roman" pitchFamily="18" charset="0"/>
                <a:cs typeface="Times New Roman" pitchFamily="18" charset="0"/>
              </a:rPr>
              <a:t> </a:t>
            </a:r>
            <a:r>
              <a:rPr lang="en-US" altLang="zh-CN" dirty="0" err="1" smtClean="0">
                <a:solidFill>
                  <a:schemeClr val="accent4">
                    <a:lumMod val="75000"/>
                  </a:schemeClr>
                </a:solidFill>
                <a:latin typeface="Times New Roman" pitchFamily="18" charset="0"/>
                <a:cs typeface="Times New Roman" pitchFamily="18" charset="0"/>
              </a:rPr>
              <a:t>Batt_Connect_s</a:t>
            </a:r>
            <a:r>
              <a:rPr lang="en-US" altLang="zh-CN" dirty="0" smtClean="0">
                <a:solidFill>
                  <a:schemeClr val="accent4">
                    <a:lumMod val="75000"/>
                  </a:schemeClr>
                </a:solidFill>
                <a:latin typeface="Times New Roman" pitchFamily="18" charset="0"/>
                <a:cs typeface="Times New Roman" pitchFamily="18" charset="0"/>
              </a:rPr>
              <a:t>/</a:t>
            </a:r>
            <a:r>
              <a:rPr lang="en-US" altLang="zh-CN" dirty="0" err="1" smtClean="0">
                <a:solidFill>
                  <a:schemeClr val="accent4">
                    <a:lumMod val="75000"/>
                  </a:schemeClr>
                </a:solidFill>
                <a:latin typeface="Times New Roman" pitchFamily="18" charset="0"/>
                <a:cs typeface="Times New Roman" pitchFamily="18" charset="0"/>
              </a:rPr>
              <a:t>w_DISABLE</a:t>
            </a:r>
            <a:endParaRPr lang="zh-CN" altLang="en-US" dirty="0" smtClean="0">
              <a:solidFill>
                <a:schemeClr val="accent4">
                  <a:lumMod val="75000"/>
                </a:schemeClr>
              </a:solidFill>
              <a:latin typeface="Times New Roman" pitchFamily="18" charset="0"/>
              <a:cs typeface="Times New Roman" pitchFamily="18" charset="0"/>
            </a:endParaRPr>
          </a:p>
        </p:txBody>
      </p:sp>
      <p:sp>
        <p:nvSpPr>
          <p:cNvPr id="18" name="矩形 17"/>
          <p:cNvSpPr/>
          <p:nvPr/>
        </p:nvSpPr>
        <p:spPr>
          <a:xfrm>
            <a:off x="5286380" y="1714488"/>
            <a:ext cx="2230675" cy="507831"/>
          </a:xfrm>
          <a:prstGeom prst="rect">
            <a:avLst/>
          </a:prstGeom>
        </p:spPr>
        <p:txBody>
          <a:bodyPr wrap="none">
            <a:spAutoFit/>
          </a:bodyPr>
          <a:lstStyle/>
          <a:p>
            <a:pPr eaLnBrk="0" fontAlgn="auto" hangingPunct="0">
              <a:lnSpc>
                <a:spcPct val="150000"/>
              </a:lnSpc>
              <a:spcBef>
                <a:spcPts val="0"/>
              </a:spcBef>
              <a:spcAft>
                <a:spcPts val="0"/>
              </a:spcAft>
              <a:buFont typeface="Wingdings" pitchFamily="2" charset="2"/>
              <a:buChar char="l"/>
              <a:defRPr/>
            </a:pPr>
            <a:r>
              <a:rPr lang="en-US" altLang="zh-CN" dirty="0" smtClean="0">
                <a:solidFill>
                  <a:schemeClr val="accent4">
                    <a:lumMod val="75000"/>
                  </a:schemeClr>
                </a:solidFill>
                <a:latin typeface="Times New Roman" pitchFamily="18" charset="0"/>
                <a:cs typeface="Times New Roman" pitchFamily="18" charset="0"/>
              </a:rPr>
              <a:t> Transponder A_ON</a:t>
            </a:r>
          </a:p>
        </p:txBody>
      </p:sp>
      <p:sp>
        <p:nvSpPr>
          <p:cNvPr id="19" name="矩形 18"/>
          <p:cNvSpPr/>
          <p:nvPr/>
        </p:nvSpPr>
        <p:spPr>
          <a:xfrm>
            <a:off x="5286380" y="2185108"/>
            <a:ext cx="2320443" cy="507831"/>
          </a:xfrm>
          <a:prstGeom prst="rect">
            <a:avLst/>
          </a:prstGeom>
        </p:spPr>
        <p:txBody>
          <a:bodyPr wrap="none">
            <a:spAutoFit/>
          </a:bodyPr>
          <a:lstStyle/>
          <a:p>
            <a:pPr eaLnBrk="0" fontAlgn="auto" hangingPunct="0">
              <a:lnSpc>
                <a:spcPct val="150000"/>
              </a:lnSpc>
              <a:spcBef>
                <a:spcPts val="0"/>
              </a:spcBef>
              <a:spcAft>
                <a:spcPts val="0"/>
              </a:spcAft>
              <a:buFont typeface="Wingdings" pitchFamily="2" charset="2"/>
              <a:buChar char="l"/>
              <a:defRPr/>
            </a:pPr>
            <a:r>
              <a:rPr lang="en-US" altLang="zh-CN" dirty="0" smtClean="0">
                <a:solidFill>
                  <a:schemeClr val="accent4">
                    <a:lumMod val="75000"/>
                  </a:schemeClr>
                </a:solidFill>
                <a:latin typeface="Times New Roman" pitchFamily="18" charset="0"/>
                <a:cs typeface="Times New Roman" pitchFamily="18" charset="0"/>
              </a:rPr>
              <a:t> Transponder A_OFF</a:t>
            </a:r>
          </a:p>
        </p:txBody>
      </p:sp>
      <p:sp>
        <p:nvSpPr>
          <p:cNvPr id="21" name="矩形 20"/>
          <p:cNvSpPr/>
          <p:nvPr/>
        </p:nvSpPr>
        <p:spPr>
          <a:xfrm>
            <a:off x="5286380" y="2643182"/>
            <a:ext cx="2230611" cy="507831"/>
          </a:xfrm>
          <a:prstGeom prst="rect">
            <a:avLst/>
          </a:prstGeom>
        </p:spPr>
        <p:txBody>
          <a:bodyPr wrap="none">
            <a:spAutoFit/>
          </a:bodyPr>
          <a:lstStyle/>
          <a:p>
            <a:pPr eaLnBrk="0" fontAlgn="auto" hangingPunct="0">
              <a:lnSpc>
                <a:spcPct val="150000"/>
              </a:lnSpc>
              <a:spcBef>
                <a:spcPts val="0"/>
              </a:spcBef>
              <a:spcAft>
                <a:spcPts val="0"/>
              </a:spcAft>
              <a:buFont typeface="Wingdings" pitchFamily="2" charset="2"/>
              <a:buChar char="l"/>
              <a:defRPr/>
            </a:pPr>
            <a:r>
              <a:rPr lang="en-US" altLang="zh-CN" dirty="0" smtClean="0">
                <a:solidFill>
                  <a:schemeClr val="accent4">
                    <a:lumMod val="75000"/>
                  </a:schemeClr>
                </a:solidFill>
                <a:latin typeface="Times New Roman" pitchFamily="18" charset="0"/>
                <a:cs typeface="Times New Roman" pitchFamily="18" charset="0"/>
              </a:rPr>
              <a:t> Transponder B_ON</a:t>
            </a:r>
          </a:p>
        </p:txBody>
      </p:sp>
      <p:sp>
        <p:nvSpPr>
          <p:cNvPr id="22" name="矩形 21"/>
          <p:cNvSpPr/>
          <p:nvPr/>
        </p:nvSpPr>
        <p:spPr>
          <a:xfrm>
            <a:off x="5286380" y="3071810"/>
            <a:ext cx="2320379" cy="507831"/>
          </a:xfrm>
          <a:prstGeom prst="rect">
            <a:avLst/>
          </a:prstGeom>
        </p:spPr>
        <p:txBody>
          <a:bodyPr wrap="none">
            <a:spAutoFit/>
          </a:bodyPr>
          <a:lstStyle/>
          <a:p>
            <a:pPr eaLnBrk="0" fontAlgn="auto" hangingPunct="0">
              <a:lnSpc>
                <a:spcPct val="150000"/>
              </a:lnSpc>
              <a:spcBef>
                <a:spcPts val="0"/>
              </a:spcBef>
              <a:spcAft>
                <a:spcPts val="0"/>
              </a:spcAft>
              <a:buFont typeface="Wingdings" pitchFamily="2" charset="2"/>
              <a:buChar char="l"/>
              <a:defRPr/>
            </a:pPr>
            <a:r>
              <a:rPr lang="en-US" altLang="zh-CN" dirty="0" smtClean="0">
                <a:solidFill>
                  <a:schemeClr val="accent4">
                    <a:lumMod val="75000"/>
                  </a:schemeClr>
                </a:solidFill>
                <a:latin typeface="Times New Roman" pitchFamily="18" charset="0"/>
                <a:cs typeface="Times New Roman" pitchFamily="18" charset="0"/>
              </a:rPr>
              <a:t> Transponder B_OFF</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36</a:t>
            </a:fld>
            <a:r>
              <a:rPr lang="zh-CN" altLang="en-US" smtClean="0"/>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357188" y="574660"/>
            <a:ext cx="8229600" cy="711200"/>
          </a:xfrm>
          <a:prstGeom prst="rect">
            <a:avLst/>
          </a:prstGeom>
          <a:noFill/>
          <a:ln w="9525">
            <a:noFill/>
            <a:miter lim="800000"/>
            <a:headEnd/>
            <a:tailEnd/>
          </a:ln>
        </p:spPr>
        <p:txBody>
          <a:bodyPr/>
          <a:lstStyle/>
          <a:p>
            <a:pPr eaLnBrk="0" hangingPunct="0"/>
            <a:r>
              <a:rPr lang="en-US" altLang="zh-CN" sz="3200" b="1" i="1" dirty="0">
                <a:solidFill>
                  <a:schemeClr val="bg1"/>
                </a:solidFill>
                <a:latin typeface="Calibri" pitchFamily="34" charset="0"/>
              </a:rPr>
              <a:t>Data blocks for </a:t>
            </a:r>
            <a:r>
              <a:rPr lang="en-US" altLang="zh-CN" sz="3200" b="1" i="1" dirty="0" smtClean="0">
                <a:solidFill>
                  <a:schemeClr val="bg1"/>
                </a:solidFill>
                <a:latin typeface="Calibri" pitchFamily="34" charset="0"/>
              </a:rPr>
              <a:t>PCDU</a:t>
            </a:r>
            <a:endParaRPr lang="en-US" altLang="zh-CN" sz="3200" b="1" i="1" dirty="0">
              <a:solidFill>
                <a:schemeClr val="bg1"/>
              </a:solidFill>
              <a:latin typeface="Calibri" pitchFamily="34" charset="0"/>
            </a:endParaRPr>
          </a:p>
          <a:p>
            <a:pPr eaLnBrk="0" hangingPunct="0"/>
            <a:endParaRPr lang="zh-CN" altLang="en-US" sz="2800" dirty="0">
              <a:latin typeface="Calibri" pitchFamily="34" charset="0"/>
            </a:endParaRPr>
          </a:p>
          <a:p>
            <a:pPr eaLnBrk="0" hangingPunct="0"/>
            <a:endParaRPr lang="en-US" altLang="zh-CN" sz="2800" dirty="0">
              <a:latin typeface="Calibri" pitchFamily="34" charset="0"/>
            </a:endParaRPr>
          </a:p>
          <a:p>
            <a:pPr eaLnBrk="0" hangingPunct="0"/>
            <a:endParaRPr lang="zh-CN" altLang="en-US" sz="3200" dirty="0">
              <a:solidFill>
                <a:schemeClr val="tx2"/>
              </a:solidFill>
              <a:latin typeface="Calibri" pitchFamily="34" charset="0"/>
            </a:endParaRPr>
          </a:p>
        </p:txBody>
      </p:sp>
      <p:sp>
        <p:nvSpPr>
          <p:cNvPr id="7" name="矩形 3"/>
          <p:cNvSpPr>
            <a:spLocks noChangeArrowheads="1"/>
          </p:cNvSpPr>
          <p:nvPr/>
        </p:nvSpPr>
        <p:spPr bwMode="auto">
          <a:xfrm>
            <a:off x="292100" y="1214422"/>
            <a:ext cx="4225925" cy="461962"/>
          </a:xfrm>
          <a:prstGeom prst="rect">
            <a:avLst/>
          </a:prstGeom>
          <a:noFill/>
          <a:ln w="9525">
            <a:noFill/>
            <a:miter lim="800000"/>
            <a:headEnd/>
            <a:tailEnd/>
          </a:ln>
        </p:spPr>
        <p:txBody>
          <a:bodyPr wrap="none">
            <a:spAutoFit/>
          </a:bodyPr>
          <a:lstStyle/>
          <a:p>
            <a:pPr>
              <a:buFont typeface="Wingdings" pitchFamily="2" charset="2"/>
              <a:buChar char="ü"/>
            </a:pPr>
            <a:r>
              <a:rPr lang="en-US" altLang="zh-CN" sz="2400" dirty="0">
                <a:latin typeface="Calibri" pitchFamily="34" charset="0"/>
              </a:rPr>
              <a:t>   </a:t>
            </a:r>
            <a:r>
              <a:rPr lang="en-US" altLang="zh-CN" sz="2400" dirty="0">
                <a:solidFill>
                  <a:srgbClr val="0070C0"/>
                </a:solidFill>
                <a:latin typeface="Calibri" pitchFamily="34" charset="0"/>
              </a:rPr>
              <a:t>Charge parameters block </a:t>
            </a:r>
          </a:p>
        </p:txBody>
      </p:sp>
      <p:graphicFrame>
        <p:nvGraphicFramePr>
          <p:cNvPr id="8" name="表格 7"/>
          <p:cNvGraphicFramePr>
            <a:graphicFrameLocks noGrp="1"/>
          </p:cNvGraphicFramePr>
          <p:nvPr/>
        </p:nvGraphicFramePr>
        <p:xfrm>
          <a:off x="1643042" y="2500306"/>
          <a:ext cx="6500840" cy="3399856"/>
        </p:xfrm>
        <a:graphic>
          <a:graphicData uri="http://schemas.openxmlformats.org/drawingml/2006/table">
            <a:tbl>
              <a:tblPr/>
              <a:tblGrid>
                <a:gridCol w="1236357"/>
                <a:gridCol w="1121097"/>
                <a:gridCol w="4143386"/>
              </a:tblGrid>
              <a:tr h="377056">
                <a:tc>
                  <a:txBody>
                    <a:bodyPr/>
                    <a:lstStyle/>
                    <a:p>
                      <a:pPr algn="ctr">
                        <a:lnSpc>
                          <a:spcPct val="150000"/>
                        </a:lnSpc>
                        <a:spcAft>
                          <a:spcPts val="0"/>
                        </a:spcAft>
                      </a:pPr>
                      <a:r>
                        <a:rPr lang="en-US" sz="2000" b="1" kern="100" dirty="0">
                          <a:latin typeface="Calibri"/>
                          <a:ea typeface="宋体"/>
                          <a:cs typeface="Times New Roman"/>
                        </a:rPr>
                        <a:t>Bit</a:t>
                      </a:r>
                      <a:endParaRPr lang="zh-CN" sz="1600" b="1" kern="100" dirty="0">
                        <a:latin typeface="Calibri"/>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D9F1"/>
                    </a:solidFill>
                  </a:tcPr>
                </a:tc>
                <a:tc>
                  <a:txBody>
                    <a:bodyPr/>
                    <a:lstStyle/>
                    <a:p>
                      <a:pPr indent="228600" algn="just">
                        <a:lnSpc>
                          <a:spcPct val="150000"/>
                        </a:lnSpc>
                        <a:spcAft>
                          <a:spcPts val="0"/>
                        </a:spcAft>
                      </a:pPr>
                      <a:r>
                        <a:rPr lang="en-US" sz="2000" b="1" kern="100" dirty="0">
                          <a:latin typeface="Calibri"/>
                          <a:ea typeface="宋体"/>
                          <a:cs typeface="Times New Roman"/>
                        </a:rPr>
                        <a:t>Data </a:t>
                      </a:r>
                      <a:endParaRPr lang="zh-CN" sz="1600" b="1" kern="100" dirty="0">
                        <a:latin typeface="Calibri"/>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D9F1"/>
                    </a:solidFill>
                  </a:tcPr>
                </a:tc>
                <a:tc>
                  <a:txBody>
                    <a:bodyPr/>
                    <a:lstStyle/>
                    <a:p>
                      <a:pPr algn="ctr">
                        <a:lnSpc>
                          <a:spcPct val="150000"/>
                        </a:lnSpc>
                        <a:spcAft>
                          <a:spcPts val="0"/>
                        </a:spcAft>
                      </a:pPr>
                      <a:r>
                        <a:rPr lang="en-US" sz="2000" b="1" kern="100" dirty="0">
                          <a:latin typeface="Calibri"/>
                          <a:ea typeface="宋体"/>
                          <a:cs typeface="Times New Roman"/>
                        </a:rPr>
                        <a:t>Annotation</a:t>
                      </a:r>
                      <a:endParaRPr lang="zh-CN" sz="1600" b="1" kern="100" dirty="0">
                        <a:latin typeface="Calibri"/>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D9F1"/>
                    </a:solidFill>
                  </a:tcPr>
                </a:tc>
              </a:tr>
              <a:tr h="346086">
                <a:tc>
                  <a:txBody>
                    <a:bodyPr/>
                    <a:lstStyle/>
                    <a:p>
                      <a:pPr marL="0" indent="0" algn="ctr">
                        <a:lnSpc>
                          <a:spcPts val="1900"/>
                        </a:lnSpc>
                        <a:spcAft>
                          <a:spcPts val="0"/>
                        </a:spcAft>
                      </a:pPr>
                      <a:r>
                        <a:rPr lang="en-US" sz="1800" b="0" kern="100" dirty="0">
                          <a:solidFill>
                            <a:schemeClr val="tx1"/>
                          </a:solidFill>
                          <a:latin typeface="+mn-lt"/>
                          <a:ea typeface="宋体"/>
                          <a:cs typeface="Times New Roman"/>
                        </a:rPr>
                        <a:t>0</a:t>
                      </a:r>
                      <a:endParaRPr lang="zh-CN" sz="1800" b="0" kern="100" dirty="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8290" algn="just">
                        <a:lnSpc>
                          <a:spcPts val="1900"/>
                        </a:lnSpc>
                        <a:spcAft>
                          <a:spcPts val="0"/>
                        </a:spcAft>
                      </a:pPr>
                      <a:r>
                        <a:rPr lang="en-US" sz="1800" b="0" kern="100" dirty="0">
                          <a:solidFill>
                            <a:schemeClr val="tx1"/>
                          </a:solidFill>
                          <a:latin typeface="+mn-lt"/>
                          <a:ea typeface="宋体"/>
                          <a:cs typeface="Times New Roman"/>
                        </a:rPr>
                        <a:t>##H</a:t>
                      </a:r>
                      <a:endParaRPr lang="zh-CN" sz="1800" b="0" kern="100" dirty="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900"/>
                        </a:lnSpc>
                        <a:spcAft>
                          <a:spcPts val="0"/>
                        </a:spcAft>
                      </a:pPr>
                      <a:r>
                        <a:rPr lang="en-US" sz="1800" b="0" kern="100" dirty="0">
                          <a:solidFill>
                            <a:schemeClr val="tx1"/>
                          </a:solidFill>
                          <a:latin typeface="+mn-lt"/>
                          <a:ea typeface="宋体"/>
                          <a:cs typeface="Times New Roman"/>
                        </a:rPr>
                        <a:t>55H : data </a:t>
                      </a:r>
                      <a:r>
                        <a:rPr lang="en-US" sz="1800" b="0" kern="100" dirty="0" smtClean="0">
                          <a:solidFill>
                            <a:schemeClr val="tx1"/>
                          </a:solidFill>
                          <a:latin typeface="+mn-lt"/>
                          <a:ea typeface="宋体"/>
                          <a:cs typeface="Times New Roman"/>
                        </a:rPr>
                        <a:t>block</a:t>
                      </a:r>
                      <a:endParaRPr lang="zh-CN" sz="1800" b="0" kern="100" dirty="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9350">
                <a:tc>
                  <a:txBody>
                    <a:bodyPr/>
                    <a:lstStyle/>
                    <a:p>
                      <a:pPr marL="0" indent="0" algn="ctr">
                        <a:lnSpc>
                          <a:spcPts val="1900"/>
                        </a:lnSpc>
                        <a:spcAft>
                          <a:spcPts val="0"/>
                        </a:spcAft>
                      </a:pPr>
                      <a:r>
                        <a:rPr lang="en-US" sz="1800" b="0" kern="100" dirty="0">
                          <a:solidFill>
                            <a:schemeClr val="tx1"/>
                          </a:solidFill>
                          <a:latin typeface="+mn-lt"/>
                          <a:ea typeface="宋体"/>
                          <a:cs typeface="Times New Roman"/>
                        </a:rPr>
                        <a:t>1</a:t>
                      </a:r>
                      <a:endParaRPr lang="zh-CN" sz="1800" b="0" kern="100" dirty="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8290" algn="just">
                        <a:lnSpc>
                          <a:spcPts val="1900"/>
                        </a:lnSpc>
                        <a:spcAft>
                          <a:spcPts val="0"/>
                        </a:spcAft>
                      </a:pPr>
                      <a:r>
                        <a:rPr lang="en-US" sz="1800" b="0" kern="100" dirty="0">
                          <a:solidFill>
                            <a:schemeClr val="tx1"/>
                          </a:solidFill>
                          <a:latin typeface="+mn-lt"/>
                          <a:ea typeface="宋体"/>
                          <a:cs typeface="Times New Roman"/>
                        </a:rPr>
                        <a:t>##H</a:t>
                      </a:r>
                      <a:endParaRPr lang="zh-CN" sz="1800" b="0" kern="100" dirty="0">
                        <a:solidFill>
                          <a:schemeClr val="tx1"/>
                        </a:solidFill>
                        <a:latin typeface="+mn-lt"/>
                        <a:ea typeface="宋体"/>
                        <a:cs typeface="Times New Roman"/>
                      </a:endParaRPr>
                    </a:p>
                  </a:txBody>
                  <a:tcPr marL="68581" marR="68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900"/>
                        </a:lnSpc>
                        <a:spcAft>
                          <a:spcPts val="0"/>
                        </a:spcAft>
                      </a:pPr>
                      <a:r>
                        <a:rPr lang="en-US" sz="1800" b="0" kern="100" dirty="0">
                          <a:solidFill>
                            <a:schemeClr val="tx1"/>
                          </a:solidFill>
                          <a:latin typeface="+mn-lt"/>
                          <a:ea typeface="宋体"/>
                          <a:cs typeface="Times New Roman"/>
                        </a:rPr>
                        <a:t>01H: charge parameters block</a:t>
                      </a:r>
                      <a:endParaRPr lang="zh-CN" sz="1800" b="0" kern="100" dirty="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9350">
                <a:tc>
                  <a:txBody>
                    <a:bodyPr/>
                    <a:lstStyle/>
                    <a:p>
                      <a:pPr marL="0" indent="0" algn="ctr">
                        <a:lnSpc>
                          <a:spcPts val="1900"/>
                        </a:lnSpc>
                        <a:spcAft>
                          <a:spcPts val="0"/>
                        </a:spcAft>
                      </a:pPr>
                      <a:r>
                        <a:rPr lang="en-US" sz="1800" b="0" kern="100" dirty="0">
                          <a:solidFill>
                            <a:schemeClr val="tx1"/>
                          </a:solidFill>
                          <a:latin typeface="+mn-lt"/>
                          <a:ea typeface="宋体"/>
                          <a:cs typeface="Times New Roman"/>
                        </a:rPr>
                        <a:t>2</a:t>
                      </a:r>
                      <a:endParaRPr lang="zh-CN" sz="1800" b="0" kern="100" dirty="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8290" algn="just">
                        <a:lnSpc>
                          <a:spcPts val="1900"/>
                        </a:lnSpc>
                        <a:spcAft>
                          <a:spcPts val="0"/>
                        </a:spcAft>
                      </a:pPr>
                      <a:r>
                        <a:rPr lang="en-US" sz="1800" b="0" kern="100">
                          <a:solidFill>
                            <a:schemeClr val="tx1"/>
                          </a:solidFill>
                          <a:latin typeface="+mn-lt"/>
                          <a:ea typeface="宋体"/>
                          <a:cs typeface="Times New Roman"/>
                        </a:rPr>
                        <a:t>##H</a:t>
                      </a:r>
                      <a:endParaRPr lang="zh-CN" sz="1800" b="0" kern="100">
                        <a:solidFill>
                          <a:schemeClr val="tx1"/>
                        </a:solidFill>
                        <a:latin typeface="+mn-lt"/>
                        <a:ea typeface="宋体"/>
                        <a:cs typeface="Times New Roman"/>
                      </a:endParaRPr>
                    </a:p>
                  </a:txBody>
                  <a:tcPr marL="68581" marR="68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1900"/>
                        </a:lnSpc>
                        <a:spcAft>
                          <a:spcPts val="0"/>
                        </a:spcAft>
                      </a:pPr>
                      <a:r>
                        <a:rPr lang="en-US" sz="1800" b="0" kern="100" dirty="0" smtClean="0">
                          <a:solidFill>
                            <a:schemeClr val="tx1"/>
                          </a:solidFill>
                          <a:latin typeface="+mn-lt"/>
                          <a:ea typeface="宋体"/>
                          <a:cs typeface="Times New Roman"/>
                        </a:rPr>
                        <a:t>Charge/Discharge Ratio</a:t>
                      </a:r>
                      <a:endParaRPr lang="zh-CN" altLang="en-US" sz="1800" b="0" kern="100" dirty="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9350">
                <a:tc>
                  <a:txBody>
                    <a:bodyPr/>
                    <a:lstStyle/>
                    <a:p>
                      <a:pPr marL="0" indent="0" algn="ctr">
                        <a:lnSpc>
                          <a:spcPts val="1900"/>
                        </a:lnSpc>
                        <a:spcAft>
                          <a:spcPts val="0"/>
                        </a:spcAft>
                      </a:pPr>
                      <a:r>
                        <a:rPr lang="en-US" sz="1800" b="0" kern="100" dirty="0">
                          <a:solidFill>
                            <a:schemeClr val="tx1"/>
                          </a:solidFill>
                          <a:latin typeface="+mn-lt"/>
                          <a:ea typeface="宋体"/>
                          <a:cs typeface="Times New Roman"/>
                        </a:rPr>
                        <a:t>3</a:t>
                      </a:r>
                      <a:endParaRPr lang="zh-CN" sz="1800" b="0" kern="100" dirty="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8290" algn="just">
                        <a:lnSpc>
                          <a:spcPts val="1900"/>
                        </a:lnSpc>
                        <a:spcAft>
                          <a:spcPts val="0"/>
                        </a:spcAft>
                      </a:pPr>
                      <a:r>
                        <a:rPr lang="en-US" sz="1800" b="0" kern="100">
                          <a:solidFill>
                            <a:schemeClr val="tx1"/>
                          </a:solidFill>
                          <a:latin typeface="+mn-lt"/>
                          <a:ea typeface="宋体"/>
                          <a:cs typeface="Times New Roman"/>
                        </a:rPr>
                        <a:t>##H</a:t>
                      </a:r>
                      <a:endParaRPr lang="zh-CN" sz="1800" b="0" kern="100">
                        <a:solidFill>
                          <a:schemeClr val="tx1"/>
                        </a:solidFill>
                        <a:latin typeface="+mn-lt"/>
                        <a:ea typeface="宋体"/>
                        <a:cs typeface="Times New Roman"/>
                      </a:endParaRPr>
                    </a:p>
                  </a:txBody>
                  <a:tcPr marL="68581" marR="68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ts val="1900"/>
                        </a:lnSpc>
                        <a:spcBef>
                          <a:spcPts val="600"/>
                        </a:spcBef>
                        <a:spcAft>
                          <a:spcPts val="0"/>
                        </a:spcAft>
                        <a:buClrTx/>
                        <a:buSzTx/>
                        <a:buFontTx/>
                        <a:buNone/>
                        <a:tabLst/>
                        <a:defRPr/>
                      </a:pPr>
                      <a:r>
                        <a:rPr lang="en-US" sz="1800" b="0" kern="100" dirty="0" smtClean="0">
                          <a:solidFill>
                            <a:schemeClr val="tx1"/>
                          </a:solidFill>
                          <a:latin typeface="+mn-lt"/>
                          <a:ea typeface="宋体"/>
                          <a:cs typeface="Times New Roman"/>
                        </a:rPr>
                        <a:t>Battery Current Capacity</a:t>
                      </a:r>
                      <a:endParaRPr lang="zh-CN" altLang="en-US" sz="1800" b="0" kern="100" dirty="0" smtClean="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8364">
                <a:tc>
                  <a:txBody>
                    <a:bodyPr/>
                    <a:lstStyle/>
                    <a:p>
                      <a:pPr marL="0" indent="0" algn="ctr">
                        <a:lnSpc>
                          <a:spcPts val="1900"/>
                        </a:lnSpc>
                        <a:spcAft>
                          <a:spcPts val="0"/>
                        </a:spcAft>
                      </a:pPr>
                      <a:r>
                        <a:rPr lang="en-US" sz="1800" b="0" kern="100" dirty="0">
                          <a:solidFill>
                            <a:schemeClr val="tx1"/>
                          </a:solidFill>
                          <a:latin typeface="+mn-lt"/>
                          <a:ea typeface="宋体"/>
                          <a:cs typeface="Times New Roman"/>
                        </a:rPr>
                        <a:t>4</a:t>
                      </a:r>
                      <a:endParaRPr lang="zh-CN" sz="1800" b="0" kern="100" dirty="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8290" algn="just">
                        <a:lnSpc>
                          <a:spcPts val="1900"/>
                        </a:lnSpc>
                        <a:spcAft>
                          <a:spcPts val="0"/>
                        </a:spcAft>
                      </a:pPr>
                      <a:r>
                        <a:rPr lang="en-US" sz="1800" b="0" kern="100">
                          <a:solidFill>
                            <a:schemeClr val="tx1"/>
                          </a:solidFill>
                          <a:latin typeface="+mn-lt"/>
                          <a:ea typeface="宋体"/>
                          <a:cs typeface="Times New Roman"/>
                        </a:rPr>
                        <a:t>##H</a:t>
                      </a:r>
                      <a:endParaRPr lang="zh-CN" sz="1800" b="0" kern="100">
                        <a:solidFill>
                          <a:schemeClr val="tx1"/>
                        </a:solidFill>
                        <a:latin typeface="+mn-lt"/>
                        <a:ea typeface="宋体"/>
                        <a:cs typeface="Times New Roman"/>
                      </a:endParaRPr>
                    </a:p>
                  </a:txBody>
                  <a:tcPr marL="68581" marR="68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ts val="1900"/>
                        </a:lnSpc>
                        <a:spcBef>
                          <a:spcPts val="0"/>
                        </a:spcBef>
                        <a:spcAft>
                          <a:spcPts val="0"/>
                        </a:spcAft>
                        <a:buClrTx/>
                        <a:buSzTx/>
                        <a:buFontTx/>
                        <a:buNone/>
                        <a:tabLst/>
                        <a:defRPr/>
                      </a:pPr>
                      <a:r>
                        <a:rPr lang="en-US" sz="1800" b="0" kern="100" dirty="0" smtClean="0">
                          <a:solidFill>
                            <a:schemeClr val="tx1"/>
                          </a:solidFill>
                          <a:latin typeface="+mn-lt"/>
                          <a:ea typeface="宋体"/>
                          <a:cs typeface="Times New Roman"/>
                        </a:rPr>
                        <a:t>Battery Voltage Alarm Threshold</a:t>
                      </a:r>
                      <a:endParaRPr lang="zh-CN" altLang="en-US" sz="1800" b="0" kern="100" dirty="0" smtClean="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9350">
                <a:tc>
                  <a:txBody>
                    <a:bodyPr/>
                    <a:lstStyle/>
                    <a:p>
                      <a:pPr marL="0" indent="0" algn="ctr">
                        <a:lnSpc>
                          <a:spcPts val="1900"/>
                        </a:lnSpc>
                        <a:spcAft>
                          <a:spcPts val="0"/>
                        </a:spcAft>
                      </a:pPr>
                      <a:r>
                        <a:rPr lang="en-US" sz="1800" b="0" kern="100" dirty="0">
                          <a:solidFill>
                            <a:schemeClr val="tx1"/>
                          </a:solidFill>
                          <a:latin typeface="+mn-lt"/>
                          <a:ea typeface="宋体"/>
                          <a:cs typeface="Times New Roman"/>
                        </a:rPr>
                        <a:t>5</a:t>
                      </a:r>
                      <a:endParaRPr lang="zh-CN" sz="1800" b="0" kern="100" dirty="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8290" algn="just">
                        <a:lnSpc>
                          <a:spcPts val="1900"/>
                        </a:lnSpc>
                        <a:spcAft>
                          <a:spcPts val="0"/>
                        </a:spcAft>
                      </a:pPr>
                      <a:r>
                        <a:rPr lang="en-US" sz="1800" b="0" kern="100">
                          <a:solidFill>
                            <a:schemeClr val="tx1"/>
                          </a:solidFill>
                          <a:latin typeface="+mn-lt"/>
                          <a:ea typeface="宋体"/>
                          <a:cs typeface="Times New Roman"/>
                        </a:rPr>
                        <a:t>##H</a:t>
                      </a:r>
                      <a:endParaRPr lang="zh-CN" sz="1800" b="0" kern="100">
                        <a:solidFill>
                          <a:schemeClr val="tx1"/>
                        </a:solidFill>
                        <a:latin typeface="+mn-lt"/>
                        <a:ea typeface="宋体"/>
                        <a:cs typeface="Times New Roman"/>
                      </a:endParaRPr>
                    </a:p>
                  </a:txBody>
                  <a:tcPr marL="68581" marR="68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ts val="1900"/>
                        </a:lnSpc>
                        <a:spcBef>
                          <a:spcPts val="0"/>
                        </a:spcBef>
                        <a:spcAft>
                          <a:spcPts val="0"/>
                        </a:spcAft>
                        <a:buClrTx/>
                        <a:buSzTx/>
                        <a:buFontTx/>
                        <a:buNone/>
                        <a:tabLst/>
                        <a:defRPr/>
                      </a:pPr>
                      <a:r>
                        <a:rPr lang="en-US" sz="1800" b="0" kern="100" dirty="0" smtClean="0">
                          <a:solidFill>
                            <a:schemeClr val="tx1"/>
                          </a:solidFill>
                          <a:latin typeface="+mn-lt"/>
                          <a:ea typeface="宋体"/>
                          <a:cs typeface="Times New Roman"/>
                        </a:rPr>
                        <a:t>Battery Voltage Discharge Alarm Threshold</a:t>
                      </a:r>
                      <a:endParaRPr lang="zh-CN" altLang="en-US" sz="1800" b="0" kern="100" dirty="0" smtClean="0">
                        <a:solidFill>
                          <a:schemeClr val="tx1"/>
                        </a:solidFill>
                        <a:latin typeface="+mn-lt"/>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9350">
                <a:tc>
                  <a:txBody>
                    <a:bodyPr/>
                    <a:lstStyle/>
                    <a:p>
                      <a:pPr marL="0" indent="0" algn="ctr">
                        <a:lnSpc>
                          <a:spcPts val="1900"/>
                        </a:lnSpc>
                        <a:spcAft>
                          <a:spcPts val="0"/>
                        </a:spcAft>
                      </a:pPr>
                      <a:r>
                        <a:rPr lang="en-US" sz="1800" b="0" kern="100" dirty="0">
                          <a:solidFill>
                            <a:schemeClr val="tx1"/>
                          </a:solidFill>
                          <a:latin typeface="+mn-lt"/>
                          <a:ea typeface="宋体"/>
                          <a:cs typeface="Times New Roman"/>
                        </a:rPr>
                        <a:t>6</a:t>
                      </a:r>
                      <a:endParaRPr lang="zh-CN" sz="1800" b="0" kern="100" dirty="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8290" algn="just">
                        <a:lnSpc>
                          <a:spcPts val="1900"/>
                        </a:lnSpc>
                        <a:spcAft>
                          <a:spcPts val="0"/>
                        </a:spcAft>
                      </a:pPr>
                      <a:r>
                        <a:rPr lang="en-US" sz="1800" b="0" kern="100" dirty="0">
                          <a:solidFill>
                            <a:schemeClr val="tx1"/>
                          </a:solidFill>
                          <a:latin typeface="+mn-lt"/>
                          <a:ea typeface="宋体"/>
                          <a:cs typeface="Times New Roman"/>
                        </a:rPr>
                        <a:t>##H</a:t>
                      </a:r>
                      <a:endParaRPr lang="zh-CN" sz="1800" b="0" kern="100" dirty="0">
                        <a:solidFill>
                          <a:schemeClr val="tx1"/>
                        </a:solidFill>
                        <a:latin typeface="+mn-lt"/>
                        <a:ea typeface="宋体"/>
                        <a:cs typeface="Times New Roman"/>
                      </a:endParaRPr>
                    </a:p>
                  </a:txBody>
                  <a:tcPr marL="68581" marR="68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lnSpc>
                          <a:spcPts val="1900"/>
                        </a:lnSpc>
                        <a:spcAft>
                          <a:spcPts val="0"/>
                        </a:spcAft>
                      </a:pPr>
                      <a:r>
                        <a:rPr lang="en-US" sz="1800" b="0" kern="100" dirty="0" smtClean="0">
                          <a:solidFill>
                            <a:schemeClr val="tx1"/>
                          </a:solidFill>
                          <a:latin typeface="+mn-lt"/>
                          <a:ea typeface="宋体"/>
                          <a:cs typeface="Times New Roman"/>
                        </a:rPr>
                        <a:t>Battery Voltage Pre-alarm Threshold</a:t>
                      </a:r>
                      <a:endParaRPr lang="zh-CN" sz="1800" b="0" kern="100" dirty="0" smtClean="0">
                        <a:solidFill>
                          <a:schemeClr val="tx1"/>
                        </a:solidFill>
                        <a:latin typeface="+mn-lt"/>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9350">
                <a:tc>
                  <a:txBody>
                    <a:bodyPr/>
                    <a:lstStyle/>
                    <a:p>
                      <a:pPr marL="0" indent="0" algn="ctr">
                        <a:lnSpc>
                          <a:spcPts val="1900"/>
                        </a:lnSpc>
                        <a:spcAft>
                          <a:spcPts val="0"/>
                        </a:spcAft>
                      </a:pPr>
                      <a:r>
                        <a:rPr lang="en-US" altLang="zh-CN" sz="1800" b="0" kern="100" dirty="0" smtClean="0">
                          <a:solidFill>
                            <a:schemeClr val="tx1"/>
                          </a:solidFill>
                          <a:latin typeface="+mn-lt"/>
                          <a:ea typeface="宋体"/>
                          <a:cs typeface="Times New Roman"/>
                        </a:rPr>
                        <a:t>7</a:t>
                      </a:r>
                      <a:endParaRPr lang="zh-CN" sz="1800" b="0" kern="100" dirty="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8290" algn="just">
                        <a:lnSpc>
                          <a:spcPts val="1900"/>
                        </a:lnSpc>
                        <a:spcAft>
                          <a:spcPts val="0"/>
                        </a:spcAft>
                      </a:pPr>
                      <a:r>
                        <a:rPr lang="en-US" sz="1800" b="0" kern="100" smtClean="0">
                          <a:solidFill>
                            <a:schemeClr val="tx1"/>
                          </a:solidFill>
                          <a:latin typeface="+mn-lt"/>
                          <a:ea typeface="宋体"/>
                          <a:cs typeface="Times New Roman"/>
                        </a:rPr>
                        <a:t>##H</a:t>
                      </a:r>
                      <a:endParaRPr lang="zh-CN" sz="1800" b="0" kern="100" dirty="0">
                        <a:solidFill>
                          <a:schemeClr val="tx1"/>
                        </a:solidFill>
                        <a:latin typeface="+mn-lt"/>
                        <a:ea typeface="宋体"/>
                        <a:cs typeface="Times New Roman"/>
                      </a:endParaRPr>
                    </a:p>
                  </a:txBody>
                  <a:tcPr marL="68581" marR="68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ts val="1900"/>
                        </a:lnSpc>
                        <a:spcBef>
                          <a:spcPts val="0"/>
                        </a:spcBef>
                        <a:spcAft>
                          <a:spcPts val="0"/>
                        </a:spcAft>
                        <a:buClrTx/>
                        <a:buSzTx/>
                        <a:buFontTx/>
                        <a:buNone/>
                        <a:tabLst/>
                        <a:defRPr/>
                      </a:pPr>
                      <a:r>
                        <a:rPr lang="en-US" sz="1800" b="0" kern="100" dirty="0" smtClean="0">
                          <a:solidFill>
                            <a:schemeClr val="tx1"/>
                          </a:solidFill>
                          <a:latin typeface="+mn-lt"/>
                          <a:ea typeface="宋体"/>
                          <a:cs typeface="Times New Roman"/>
                        </a:rPr>
                        <a:t>Battery Capacity Alarm Threshold</a:t>
                      </a:r>
                      <a:endParaRPr lang="zh-CN" altLang="en-US" sz="1800" b="0" kern="100" dirty="0" smtClean="0">
                        <a:solidFill>
                          <a:schemeClr val="tx1"/>
                        </a:solidFill>
                        <a:latin typeface="+mn-lt"/>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9350">
                <a:tc>
                  <a:txBody>
                    <a:bodyPr/>
                    <a:lstStyle/>
                    <a:p>
                      <a:pPr marL="0" indent="0" algn="ctr">
                        <a:lnSpc>
                          <a:spcPts val="1900"/>
                        </a:lnSpc>
                        <a:spcAft>
                          <a:spcPts val="0"/>
                        </a:spcAft>
                      </a:pPr>
                      <a:r>
                        <a:rPr lang="en-US" altLang="zh-CN" sz="1800" b="0" kern="100" dirty="0" smtClean="0">
                          <a:solidFill>
                            <a:schemeClr val="tx1"/>
                          </a:solidFill>
                          <a:latin typeface="+mn-lt"/>
                          <a:ea typeface="宋体"/>
                          <a:cs typeface="Times New Roman"/>
                        </a:rPr>
                        <a:t>8</a:t>
                      </a:r>
                      <a:endParaRPr lang="zh-CN" sz="1800" b="0" kern="100" dirty="0">
                        <a:solidFill>
                          <a:schemeClr val="tx1"/>
                        </a:solidFill>
                        <a:latin typeface="+mn-lt"/>
                        <a:ea typeface="宋体"/>
                        <a:cs typeface="Times New Roman"/>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8290" algn="just">
                        <a:lnSpc>
                          <a:spcPts val="1900"/>
                        </a:lnSpc>
                        <a:spcAft>
                          <a:spcPts val="0"/>
                        </a:spcAft>
                      </a:pPr>
                      <a:r>
                        <a:rPr lang="en-US" sz="1800" b="0" kern="100" dirty="0" smtClean="0">
                          <a:solidFill>
                            <a:schemeClr val="tx1"/>
                          </a:solidFill>
                          <a:latin typeface="+mn-lt"/>
                          <a:ea typeface="宋体"/>
                          <a:cs typeface="Times New Roman"/>
                        </a:rPr>
                        <a:t>##H</a:t>
                      </a:r>
                      <a:endParaRPr lang="zh-CN" sz="1800" b="0" kern="100" dirty="0">
                        <a:solidFill>
                          <a:schemeClr val="tx1"/>
                        </a:solidFill>
                        <a:latin typeface="+mn-lt"/>
                        <a:ea typeface="宋体"/>
                        <a:cs typeface="Times New Roman"/>
                      </a:endParaRPr>
                    </a:p>
                  </a:txBody>
                  <a:tcPr marL="68581" marR="68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lnSpc>
                          <a:spcPts val="1900"/>
                        </a:lnSpc>
                        <a:spcAft>
                          <a:spcPts val="0"/>
                        </a:spcAft>
                      </a:pPr>
                      <a:r>
                        <a:rPr lang="en-US" sz="1800" b="0" kern="100" dirty="0" smtClean="0">
                          <a:solidFill>
                            <a:schemeClr val="tx1"/>
                          </a:solidFill>
                          <a:latin typeface="+mn-lt"/>
                          <a:ea typeface="宋体"/>
                          <a:cs typeface="Times New Roman"/>
                        </a:rPr>
                        <a:t>AAH</a:t>
                      </a:r>
                      <a:endParaRPr lang="zh-CN" sz="1800" b="0" kern="100" dirty="0" smtClean="0">
                        <a:solidFill>
                          <a:schemeClr val="tx1"/>
                        </a:solidFill>
                        <a:latin typeface="+mn-lt"/>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9" name="矩形 5"/>
          <p:cNvSpPr>
            <a:spLocks noChangeArrowheads="1"/>
          </p:cNvSpPr>
          <p:nvPr/>
        </p:nvSpPr>
        <p:spPr bwMode="auto">
          <a:xfrm>
            <a:off x="285750" y="1643050"/>
            <a:ext cx="9144000" cy="369332"/>
          </a:xfrm>
          <a:prstGeom prst="rect">
            <a:avLst/>
          </a:prstGeom>
          <a:noFill/>
          <a:ln w="9525">
            <a:noFill/>
            <a:miter lim="800000"/>
            <a:headEnd/>
            <a:tailEnd/>
          </a:ln>
        </p:spPr>
        <p:txBody>
          <a:bodyPr>
            <a:spAutoFit/>
          </a:bodyPr>
          <a:lstStyle/>
          <a:p>
            <a:r>
              <a:rPr lang="en-US" altLang="zh-CN" dirty="0">
                <a:latin typeface="Calibri" pitchFamily="34" charset="0"/>
              </a:rPr>
              <a:t>    If the injection parameter is 00H, the parameter will keep as it was without changing.</a:t>
            </a:r>
            <a:endParaRPr lang="zh-CN" altLang="en-US" dirty="0">
              <a:latin typeface="Calibri" pitchFamily="34" charset="0"/>
            </a:endParaRPr>
          </a:p>
        </p:txBody>
      </p:sp>
      <p:sp>
        <p:nvSpPr>
          <p:cNvPr id="10" name="矩形 6"/>
          <p:cNvSpPr>
            <a:spLocks noChangeArrowheads="1"/>
          </p:cNvSpPr>
          <p:nvPr/>
        </p:nvSpPr>
        <p:spPr bwMode="auto">
          <a:xfrm>
            <a:off x="3307731" y="2071678"/>
            <a:ext cx="2835905" cy="400110"/>
          </a:xfrm>
          <a:prstGeom prst="rect">
            <a:avLst/>
          </a:prstGeom>
          <a:noFill/>
          <a:ln w="9525">
            <a:noFill/>
            <a:miter lim="800000"/>
            <a:headEnd/>
            <a:tailEnd/>
          </a:ln>
        </p:spPr>
        <p:txBody>
          <a:bodyPr wrap="none">
            <a:spAutoFit/>
          </a:bodyPr>
          <a:lstStyle/>
          <a:p>
            <a:r>
              <a:rPr lang="en-US" altLang="zh-CN" sz="2000" dirty="0">
                <a:latin typeface="Calibri" pitchFamily="34" charset="0"/>
              </a:rPr>
              <a:t>Charge parameters block </a:t>
            </a:r>
            <a:endParaRPr lang="zh-CN" altLang="en-US" sz="2000" dirty="0">
              <a:latin typeface="Calibri"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37</a:t>
            </a:fld>
            <a:r>
              <a:rPr lang="zh-CN" altLang="en-US" smtClean="0"/>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357188" y="500042"/>
            <a:ext cx="8229600" cy="711200"/>
          </a:xfrm>
          <a:prstGeom prst="rect">
            <a:avLst/>
          </a:prstGeom>
          <a:noFill/>
          <a:ln w="9525">
            <a:noFill/>
            <a:miter lim="800000"/>
            <a:headEnd/>
            <a:tailEnd/>
          </a:ln>
        </p:spPr>
        <p:txBody>
          <a:bodyPr/>
          <a:lstStyle/>
          <a:p>
            <a:pPr eaLnBrk="0" hangingPunct="0"/>
            <a:r>
              <a:rPr lang="en-US" altLang="zh-CN" sz="3200" b="1" i="1" dirty="0">
                <a:solidFill>
                  <a:schemeClr val="bg1"/>
                </a:solidFill>
                <a:latin typeface="Calibri" pitchFamily="34" charset="0"/>
              </a:rPr>
              <a:t>Data blocks for </a:t>
            </a:r>
            <a:r>
              <a:rPr lang="en-US" altLang="zh-CN" sz="3200" b="1" i="1" dirty="0" smtClean="0">
                <a:solidFill>
                  <a:schemeClr val="bg1"/>
                </a:solidFill>
                <a:latin typeface="Calibri" pitchFamily="34" charset="0"/>
              </a:rPr>
              <a:t>PCDU</a:t>
            </a:r>
            <a:endParaRPr lang="en-US" altLang="zh-CN" sz="3200" b="1" i="1" dirty="0">
              <a:solidFill>
                <a:schemeClr val="bg1"/>
              </a:solidFill>
              <a:latin typeface="Calibri" pitchFamily="34" charset="0"/>
            </a:endParaRPr>
          </a:p>
          <a:p>
            <a:pPr eaLnBrk="0" hangingPunct="0"/>
            <a:endParaRPr lang="zh-CN" altLang="en-US" sz="2800" dirty="0">
              <a:latin typeface="Calibri" pitchFamily="34" charset="0"/>
            </a:endParaRPr>
          </a:p>
          <a:p>
            <a:pPr eaLnBrk="0" hangingPunct="0"/>
            <a:endParaRPr lang="en-US" altLang="zh-CN" sz="2800" dirty="0">
              <a:latin typeface="Calibri" pitchFamily="34" charset="0"/>
            </a:endParaRPr>
          </a:p>
          <a:p>
            <a:pPr eaLnBrk="0" hangingPunct="0"/>
            <a:endParaRPr lang="zh-CN" altLang="en-US" sz="3200" dirty="0">
              <a:solidFill>
                <a:schemeClr val="tx2"/>
              </a:solidFill>
              <a:latin typeface="Calibri" pitchFamily="34" charset="0"/>
            </a:endParaRPr>
          </a:p>
        </p:txBody>
      </p:sp>
      <p:sp>
        <p:nvSpPr>
          <p:cNvPr id="7" name="矩形 2"/>
          <p:cNvSpPr>
            <a:spLocks noChangeArrowheads="1"/>
          </p:cNvSpPr>
          <p:nvPr/>
        </p:nvSpPr>
        <p:spPr bwMode="auto">
          <a:xfrm>
            <a:off x="3000364" y="1500174"/>
            <a:ext cx="3429024" cy="461665"/>
          </a:xfrm>
          <a:prstGeom prst="rect">
            <a:avLst/>
          </a:prstGeom>
          <a:noFill/>
          <a:ln w="9525">
            <a:noFill/>
            <a:miter lim="800000"/>
            <a:headEnd/>
            <a:tailEnd/>
          </a:ln>
        </p:spPr>
        <p:txBody>
          <a:bodyPr wrap="square">
            <a:spAutoFit/>
          </a:bodyPr>
          <a:lstStyle/>
          <a:p>
            <a:r>
              <a:rPr lang="en-US" altLang="zh-CN" sz="2400" dirty="0" smtClean="0">
                <a:latin typeface="Calibri" pitchFamily="34" charset="0"/>
              </a:rPr>
              <a:t>Heater control block </a:t>
            </a:r>
            <a:endParaRPr lang="en-US" altLang="zh-CN" sz="2400" dirty="0">
              <a:latin typeface="Calibri" pitchFamily="34" charset="0"/>
            </a:endParaRPr>
          </a:p>
        </p:txBody>
      </p:sp>
      <p:graphicFrame>
        <p:nvGraphicFramePr>
          <p:cNvPr id="8" name="表格 7"/>
          <p:cNvGraphicFramePr>
            <a:graphicFrameLocks noGrp="1"/>
          </p:cNvGraphicFramePr>
          <p:nvPr/>
        </p:nvGraphicFramePr>
        <p:xfrm>
          <a:off x="1071538" y="2214555"/>
          <a:ext cx="6929486" cy="3698733"/>
        </p:xfrm>
        <a:graphic>
          <a:graphicData uri="http://schemas.openxmlformats.org/drawingml/2006/table">
            <a:tbl>
              <a:tblPr/>
              <a:tblGrid>
                <a:gridCol w="963320"/>
                <a:gridCol w="1271583"/>
                <a:gridCol w="4694583"/>
              </a:tblGrid>
              <a:tr h="326727">
                <a:tc>
                  <a:txBody>
                    <a:bodyPr/>
                    <a:lstStyle/>
                    <a:p>
                      <a:pPr marL="0" algn="ctr" defTabSz="914400" rtl="0" eaLnBrk="1" latinLnBrk="0" hangingPunct="1">
                        <a:lnSpc>
                          <a:spcPts val="1800"/>
                        </a:lnSpc>
                        <a:spcAft>
                          <a:spcPts val="0"/>
                        </a:spcAft>
                      </a:pPr>
                      <a:r>
                        <a:rPr lang="en-US" sz="1800" b="1" kern="100" dirty="0">
                          <a:solidFill>
                            <a:schemeClr val="tx1"/>
                          </a:solidFill>
                          <a:latin typeface="Calibri"/>
                          <a:ea typeface="宋体"/>
                          <a:cs typeface="Times New Roman"/>
                        </a:rPr>
                        <a:t>Bit</a:t>
                      </a:r>
                      <a:endParaRPr lang="zh-CN" sz="1800" b="1"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800"/>
                        </a:lnSpc>
                        <a:spcAft>
                          <a:spcPts val="0"/>
                        </a:spcAft>
                      </a:pPr>
                      <a:r>
                        <a:rPr lang="en-US" sz="1800" b="1" kern="100" dirty="0">
                          <a:solidFill>
                            <a:schemeClr val="tx1"/>
                          </a:solidFill>
                          <a:latin typeface="Calibri"/>
                          <a:ea typeface="宋体"/>
                          <a:cs typeface="Times New Roman"/>
                        </a:rPr>
                        <a:t>Data </a:t>
                      </a:r>
                      <a:endParaRPr lang="zh-CN" sz="1800" b="1"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1800"/>
                        </a:lnSpc>
                        <a:spcAft>
                          <a:spcPts val="0"/>
                        </a:spcAft>
                      </a:pPr>
                      <a:r>
                        <a:rPr lang="en-US" sz="1800" b="1" kern="100" dirty="0">
                          <a:solidFill>
                            <a:schemeClr val="tx1"/>
                          </a:solidFill>
                          <a:latin typeface="Calibri"/>
                          <a:ea typeface="宋体"/>
                          <a:cs typeface="Times New Roman"/>
                        </a:rPr>
                        <a:t>Annotation</a:t>
                      </a:r>
                      <a:endParaRPr lang="zh-CN" sz="1800" b="1"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3403">
                <a:tc>
                  <a:txBody>
                    <a:bodyPr/>
                    <a:lstStyle/>
                    <a:p>
                      <a:pPr marL="0" indent="0" algn="ctr">
                        <a:lnSpc>
                          <a:spcPts val="1000"/>
                        </a:lnSpc>
                        <a:spcAft>
                          <a:spcPts val="0"/>
                        </a:spcAft>
                      </a:pPr>
                      <a:r>
                        <a:rPr lang="en-US" sz="1600" b="0" kern="100" dirty="0">
                          <a:solidFill>
                            <a:schemeClr val="tx1"/>
                          </a:solidFill>
                          <a:latin typeface="Calibri"/>
                          <a:ea typeface="宋体"/>
                          <a:cs typeface="Times New Roman"/>
                        </a:rPr>
                        <a:t>0</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442913" algn="l">
                        <a:lnSpc>
                          <a:spcPts val="1000"/>
                        </a:lnSpc>
                        <a:spcAft>
                          <a:spcPts val="0"/>
                        </a:spcAft>
                      </a:pPr>
                      <a:r>
                        <a:rPr lang="en-US" sz="1600" b="0" kern="100" dirty="0">
                          <a:solidFill>
                            <a:schemeClr val="tx1"/>
                          </a:solidFill>
                          <a:latin typeface="Calibri"/>
                          <a:ea typeface="宋体"/>
                          <a:cs typeface="Times New Roman"/>
                        </a:rPr>
                        <a:t>##H</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fontAlgn="b" latinLnBrk="0" hangingPunct="1">
                        <a:lnSpc>
                          <a:spcPts val="1700"/>
                        </a:lnSpc>
                        <a:spcAft>
                          <a:spcPts val="0"/>
                        </a:spcAft>
                      </a:pPr>
                      <a:r>
                        <a:rPr lang="en-US" sz="1600" b="0" kern="100" dirty="0">
                          <a:solidFill>
                            <a:schemeClr val="tx1"/>
                          </a:solidFill>
                          <a:latin typeface="Calibri"/>
                          <a:ea typeface="宋体"/>
                          <a:cs typeface="Times New Roman"/>
                        </a:rPr>
                        <a:t>55H : data block</a:t>
                      </a:r>
                      <a:r>
                        <a:rPr lang="en-US" sz="1600" b="0" kern="100" dirty="0" smtClean="0">
                          <a:solidFill>
                            <a:schemeClr val="tx1"/>
                          </a:solidFill>
                          <a:latin typeface="Calibri"/>
                          <a:ea typeface="宋体"/>
                          <a:cs typeface="Times New Roman"/>
                        </a:rPr>
                        <a:t>;</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5571">
                <a:tc>
                  <a:txBody>
                    <a:bodyPr/>
                    <a:lstStyle/>
                    <a:p>
                      <a:pPr marL="0" indent="0" algn="ctr">
                        <a:lnSpc>
                          <a:spcPts val="1300"/>
                        </a:lnSpc>
                        <a:spcAft>
                          <a:spcPts val="0"/>
                        </a:spcAft>
                      </a:pPr>
                      <a:r>
                        <a:rPr lang="en-US" sz="1600" b="0" kern="100" dirty="0">
                          <a:solidFill>
                            <a:schemeClr val="tx1"/>
                          </a:solidFill>
                          <a:latin typeface="Calibri"/>
                          <a:ea typeface="宋体"/>
                          <a:cs typeface="Times New Roman"/>
                        </a:rPr>
                        <a:t>1</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442913" algn="l">
                        <a:lnSpc>
                          <a:spcPts val="1300"/>
                        </a:lnSpc>
                        <a:spcAft>
                          <a:spcPts val="0"/>
                        </a:spcAft>
                      </a:pPr>
                      <a:r>
                        <a:rPr lang="en-US" sz="1600" b="0" kern="100" dirty="0">
                          <a:solidFill>
                            <a:schemeClr val="tx1"/>
                          </a:solidFill>
                          <a:latin typeface="Calibri"/>
                          <a:ea typeface="宋体"/>
                          <a:cs typeface="Times New Roman"/>
                        </a:rPr>
                        <a:t>##H</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fontAlgn="b" latinLnBrk="0" hangingPunct="1">
                        <a:lnSpc>
                          <a:spcPts val="1700"/>
                        </a:lnSpc>
                        <a:spcAft>
                          <a:spcPts val="0"/>
                        </a:spcAft>
                      </a:pPr>
                      <a:r>
                        <a:rPr lang="en-US" sz="1600" b="0" kern="100" dirty="0">
                          <a:solidFill>
                            <a:schemeClr val="tx1"/>
                          </a:solidFill>
                          <a:latin typeface="Calibri"/>
                          <a:ea typeface="宋体"/>
                          <a:cs typeface="Times New Roman"/>
                        </a:rPr>
                        <a:t>02H: heaters control parameters block</a:t>
                      </a:r>
                      <a:endParaRPr lang="zh-CN" sz="1600" b="0" kern="100" dirty="0">
                        <a:solidFill>
                          <a:schemeClr val="tx1"/>
                        </a:solidFill>
                        <a:latin typeface="Calibri"/>
                        <a:ea typeface="宋体"/>
                        <a:cs typeface="Times New Roman"/>
                      </a:endParaRPr>
                    </a:p>
                  </a:txBody>
                  <a:tcPr marL="48969" marR="4896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1686">
                <a:tc>
                  <a:txBody>
                    <a:bodyPr/>
                    <a:lstStyle/>
                    <a:p>
                      <a:pPr marL="0" indent="0" algn="ctr">
                        <a:lnSpc>
                          <a:spcPts val="1300"/>
                        </a:lnSpc>
                        <a:spcAft>
                          <a:spcPts val="0"/>
                        </a:spcAft>
                      </a:pPr>
                      <a:r>
                        <a:rPr lang="en-US" sz="1600" b="0" kern="100" dirty="0">
                          <a:solidFill>
                            <a:schemeClr val="tx1"/>
                          </a:solidFill>
                          <a:latin typeface="Calibri"/>
                          <a:ea typeface="宋体"/>
                          <a:cs typeface="Times New Roman"/>
                        </a:rPr>
                        <a:t>2</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442913" algn="l">
                        <a:lnSpc>
                          <a:spcPts val="1300"/>
                        </a:lnSpc>
                        <a:spcAft>
                          <a:spcPts val="0"/>
                        </a:spcAft>
                      </a:pPr>
                      <a:r>
                        <a:rPr lang="en-US" sz="1600" b="0" kern="100" dirty="0">
                          <a:solidFill>
                            <a:schemeClr val="tx1"/>
                          </a:solidFill>
                          <a:latin typeface="Calibri"/>
                          <a:ea typeface="宋体"/>
                          <a:cs typeface="Times New Roman"/>
                        </a:rPr>
                        <a:t>##H</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b">
                        <a:lnSpc>
                          <a:spcPts val="1700"/>
                        </a:lnSpc>
                        <a:spcAft>
                          <a:spcPts val="0"/>
                        </a:spcAft>
                      </a:pPr>
                      <a:r>
                        <a:rPr lang="en-US" sz="1600" b="0" kern="100" dirty="0" smtClean="0">
                          <a:solidFill>
                            <a:schemeClr val="tx1"/>
                          </a:solidFill>
                          <a:latin typeface="Calibri"/>
                          <a:ea typeface="宋体"/>
                          <a:cs typeface="Times New Roman"/>
                        </a:rPr>
                        <a:t>Temperature control mode</a:t>
                      </a:r>
                      <a:endParaRPr lang="zh-CN" altLang="en-US" sz="1600" b="0" kern="100" dirty="0" smtClean="0">
                        <a:solidFill>
                          <a:schemeClr val="tx1"/>
                        </a:solidFill>
                        <a:latin typeface="Calibri"/>
                        <a:ea typeface="宋体"/>
                        <a:cs typeface="Times New Roman"/>
                      </a:endParaRPr>
                    </a:p>
                    <a:p>
                      <a:pPr algn="just" fontAlgn="b">
                        <a:lnSpc>
                          <a:spcPts val="1700"/>
                        </a:lnSpc>
                        <a:spcAft>
                          <a:spcPts val="0"/>
                        </a:spcAft>
                      </a:pPr>
                      <a:r>
                        <a:rPr lang="en-US" sz="1600" b="0" kern="100" dirty="0" smtClean="0">
                          <a:solidFill>
                            <a:schemeClr val="tx1"/>
                          </a:solidFill>
                          <a:latin typeface="Calibri"/>
                          <a:ea typeface="宋体"/>
                          <a:cs typeface="Times New Roman"/>
                        </a:rPr>
                        <a:t>D7D6</a:t>
                      </a:r>
                      <a:r>
                        <a:rPr lang="zh-CN" altLang="en-US" sz="1600" b="0" kern="100" dirty="0" smtClean="0">
                          <a:solidFill>
                            <a:schemeClr val="tx1"/>
                          </a:solidFill>
                          <a:latin typeface="Calibri"/>
                          <a:ea typeface="宋体"/>
                          <a:cs typeface="Times New Roman"/>
                        </a:rPr>
                        <a:t>：</a:t>
                      </a:r>
                      <a:r>
                        <a:rPr lang="en-US" sz="1600" b="0" kern="100" dirty="0" smtClean="0">
                          <a:solidFill>
                            <a:schemeClr val="tx1"/>
                          </a:solidFill>
                          <a:latin typeface="Calibri"/>
                          <a:ea typeface="宋体"/>
                          <a:cs typeface="Times New Roman"/>
                        </a:rPr>
                        <a:t>01-closed loop</a:t>
                      </a:r>
                      <a:r>
                        <a:rPr lang="zh-CN" altLang="en-US" sz="1600" b="0" kern="100" dirty="0" smtClean="0">
                          <a:solidFill>
                            <a:schemeClr val="tx1"/>
                          </a:solidFill>
                          <a:latin typeface="Calibri"/>
                          <a:ea typeface="宋体"/>
                          <a:cs typeface="Times New Roman"/>
                        </a:rPr>
                        <a:t>，</a:t>
                      </a:r>
                      <a:r>
                        <a:rPr lang="en-US" sz="1600" b="0" kern="100" dirty="0" smtClean="0">
                          <a:solidFill>
                            <a:schemeClr val="tx1"/>
                          </a:solidFill>
                          <a:latin typeface="Calibri"/>
                          <a:ea typeface="宋体"/>
                          <a:cs typeface="Times New Roman"/>
                        </a:rPr>
                        <a:t>10-open loop</a:t>
                      </a:r>
                      <a:endParaRPr lang="zh-CN" altLang="en-US" sz="1600" b="0" kern="100" dirty="0" smtClean="0">
                        <a:solidFill>
                          <a:schemeClr val="tx1"/>
                        </a:solidFill>
                        <a:latin typeface="Calibri"/>
                        <a:ea typeface="宋体"/>
                        <a:cs typeface="Times New Roman"/>
                      </a:endParaRPr>
                    </a:p>
                    <a:p>
                      <a:pPr marL="452755" indent="-452755" algn="just" fontAlgn="b">
                        <a:lnSpc>
                          <a:spcPts val="1700"/>
                        </a:lnSpc>
                        <a:spcAft>
                          <a:spcPts val="0"/>
                        </a:spcAft>
                      </a:pPr>
                      <a:r>
                        <a:rPr lang="en-US" sz="1600" b="0" kern="100" dirty="0" smtClean="0">
                          <a:solidFill>
                            <a:schemeClr val="tx1"/>
                          </a:solidFill>
                          <a:latin typeface="Calibri"/>
                          <a:ea typeface="宋体"/>
                          <a:cs typeface="Times New Roman"/>
                        </a:rPr>
                        <a:t>D5</a:t>
                      </a:r>
                      <a:r>
                        <a:rPr lang="zh-CN" altLang="en-US" sz="1600" b="0" kern="100" dirty="0" smtClean="0">
                          <a:solidFill>
                            <a:schemeClr val="tx1"/>
                          </a:solidFill>
                          <a:latin typeface="Calibri"/>
                          <a:ea typeface="宋体"/>
                          <a:cs typeface="Times New Roman"/>
                        </a:rPr>
                        <a:t>：</a:t>
                      </a:r>
                      <a:r>
                        <a:rPr lang="en-US" altLang="zh-CN" sz="1600" b="0" kern="100" dirty="0" smtClean="0">
                          <a:solidFill>
                            <a:schemeClr val="tx1"/>
                          </a:solidFill>
                          <a:latin typeface="Calibri"/>
                          <a:ea typeface="宋体"/>
                          <a:cs typeface="Times New Roman"/>
                        </a:rPr>
                        <a:t>     </a:t>
                      </a:r>
                      <a:r>
                        <a:rPr lang="en-US" sz="1600" b="0" kern="100" dirty="0" smtClean="0">
                          <a:solidFill>
                            <a:schemeClr val="tx1"/>
                          </a:solidFill>
                          <a:latin typeface="Calibri"/>
                          <a:ea typeface="宋体"/>
                          <a:cs typeface="Times New Roman"/>
                        </a:rPr>
                        <a:t>1- Heater start when open loop</a:t>
                      </a:r>
                      <a:endParaRPr lang="zh-CN" altLang="en-US" sz="1600" b="0" kern="100" dirty="0" smtClean="0">
                        <a:solidFill>
                          <a:schemeClr val="tx1"/>
                        </a:solidFill>
                        <a:latin typeface="Calibri"/>
                        <a:ea typeface="宋体"/>
                        <a:cs typeface="Times New Roman"/>
                      </a:endParaRPr>
                    </a:p>
                    <a:p>
                      <a:pPr marL="379730" algn="just" fontAlgn="b">
                        <a:lnSpc>
                          <a:spcPts val="1700"/>
                        </a:lnSpc>
                        <a:spcAft>
                          <a:spcPts val="0"/>
                        </a:spcAft>
                      </a:pPr>
                      <a:r>
                        <a:rPr lang="en-US" sz="1600" b="0" kern="100" dirty="0" smtClean="0">
                          <a:solidFill>
                            <a:schemeClr val="tx1"/>
                          </a:solidFill>
                          <a:latin typeface="Calibri"/>
                          <a:ea typeface="宋体"/>
                          <a:cs typeface="Times New Roman"/>
                        </a:rPr>
                        <a:t>       0- Heater stop when open loop</a:t>
                      </a:r>
                      <a:endParaRPr lang="zh-CN" altLang="en-US" sz="1600" b="0" kern="100" dirty="0">
                        <a:solidFill>
                          <a:schemeClr val="tx1"/>
                        </a:solidFill>
                        <a:latin typeface="Calibri"/>
                        <a:ea typeface="宋体"/>
                        <a:cs typeface="Times New Roman"/>
                      </a:endParaRPr>
                    </a:p>
                  </a:txBody>
                  <a:tcPr marL="48969" marR="4896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7190">
                <a:tc>
                  <a:txBody>
                    <a:bodyPr/>
                    <a:lstStyle/>
                    <a:p>
                      <a:pPr marL="0" indent="0" algn="ctr">
                        <a:lnSpc>
                          <a:spcPts val="1300"/>
                        </a:lnSpc>
                        <a:spcAft>
                          <a:spcPts val="0"/>
                        </a:spcAft>
                      </a:pPr>
                      <a:r>
                        <a:rPr lang="en-US" sz="1600" b="0" kern="100" dirty="0">
                          <a:solidFill>
                            <a:schemeClr val="tx1"/>
                          </a:solidFill>
                          <a:latin typeface="Calibri"/>
                          <a:ea typeface="宋体"/>
                          <a:cs typeface="Times New Roman"/>
                        </a:rPr>
                        <a:t>3</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442913" algn="l">
                        <a:lnSpc>
                          <a:spcPts val="1300"/>
                        </a:lnSpc>
                        <a:spcAft>
                          <a:spcPts val="0"/>
                        </a:spcAft>
                      </a:pPr>
                      <a:r>
                        <a:rPr lang="en-US" sz="1600" b="0" kern="100" dirty="0">
                          <a:solidFill>
                            <a:schemeClr val="tx1"/>
                          </a:solidFill>
                          <a:latin typeface="Calibri"/>
                          <a:ea typeface="宋体"/>
                          <a:cs typeface="Times New Roman"/>
                        </a:rPr>
                        <a:t>##H</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lnSpc>
                          <a:spcPts val="1300"/>
                        </a:lnSpc>
                        <a:spcAft>
                          <a:spcPts val="0"/>
                        </a:spcAft>
                      </a:pPr>
                      <a:r>
                        <a:rPr lang="en-US" sz="1600" b="0" kern="100" dirty="0">
                          <a:solidFill>
                            <a:schemeClr val="tx1"/>
                          </a:solidFill>
                          <a:latin typeface="Calibri"/>
                          <a:ea typeface="宋体"/>
                          <a:cs typeface="Times New Roman"/>
                        </a:rPr>
                        <a:t>Heater stop temperature</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1872">
                <a:tc>
                  <a:txBody>
                    <a:bodyPr/>
                    <a:lstStyle/>
                    <a:p>
                      <a:pPr marL="0" indent="0" algn="ctr" defTabSz="914400" rtl="0" eaLnBrk="1" latinLnBrk="0" hangingPunct="1">
                        <a:lnSpc>
                          <a:spcPts val="1300"/>
                        </a:lnSpc>
                        <a:spcAft>
                          <a:spcPts val="0"/>
                        </a:spcAft>
                      </a:pPr>
                      <a:r>
                        <a:rPr lang="en-US" sz="1600" b="0" kern="100" dirty="0">
                          <a:solidFill>
                            <a:schemeClr val="tx1"/>
                          </a:solidFill>
                          <a:latin typeface="Calibri"/>
                          <a:ea typeface="宋体"/>
                          <a:cs typeface="Times New Roman"/>
                        </a:rPr>
                        <a:t>4</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442913" algn="l" defTabSz="914400" rtl="0" eaLnBrk="1" latinLnBrk="0" hangingPunct="1">
                        <a:lnSpc>
                          <a:spcPts val="1300"/>
                        </a:lnSpc>
                        <a:spcAft>
                          <a:spcPts val="0"/>
                        </a:spcAft>
                      </a:pPr>
                      <a:r>
                        <a:rPr lang="en-US" sz="1600" b="0" kern="100" dirty="0">
                          <a:solidFill>
                            <a:schemeClr val="tx1"/>
                          </a:solidFill>
                          <a:latin typeface="Calibri"/>
                          <a:ea typeface="宋体"/>
                          <a:cs typeface="Times New Roman"/>
                        </a:rPr>
                        <a:t>##H</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lnSpc>
                          <a:spcPts val="1300"/>
                        </a:lnSpc>
                        <a:spcAft>
                          <a:spcPts val="0"/>
                        </a:spcAft>
                      </a:pPr>
                      <a:r>
                        <a:rPr lang="en-US" sz="1600" b="0" kern="100" dirty="0">
                          <a:solidFill>
                            <a:schemeClr val="tx1"/>
                          </a:solidFill>
                          <a:latin typeface="Calibri"/>
                          <a:ea typeface="宋体"/>
                          <a:cs typeface="Times New Roman"/>
                        </a:rPr>
                        <a:t>Heater start temperature</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5571">
                <a:tc>
                  <a:txBody>
                    <a:bodyPr/>
                    <a:lstStyle/>
                    <a:p>
                      <a:pPr marL="0" indent="0" algn="ctr" defTabSz="914400" rtl="0" eaLnBrk="1" latinLnBrk="0" hangingPunct="1">
                        <a:lnSpc>
                          <a:spcPts val="1300"/>
                        </a:lnSpc>
                        <a:spcAft>
                          <a:spcPts val="0"/>
                        </a:spcAft>
                      </a:pPr>
                      <a:r>
                        <a:rPr lang="en-US" sz="1600" b="0" kern="100" dirty="0">
                          <a:solidFill>
                            <a:schemeClr val="tx1"/>
                          </a:solidFill>
                          <a:latin typeface="Calibri"/>
                          <a:ea typeface="宋体"/>
                          <a:cs typeface="Times New Roman"/>
                        </a:rPr>
                        <a:t>5</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442913" algn="l" defTabSz="914400" rtl="0" eaLnBrk="1" latinLnBrk="0" hangingPunct="1">
                        <a:lnSpc>
                          <a:spcPts val="1300"/>
                        </a:lnSpc>
                        <a:spcAft>
                          <a:spcPts val="0"/>
                        </a:spcAft>
                      </a:pPr>
                      <a:r>
                        <a:rPr lang="en-US" sz="1600" b="0" kern="100" dirty="0">
                          <a:solidFill>
                            <a:schemeClr val="tx1"/>
                          </a:solidFill>
                          <a:latin typeface="Calibri"/>
                          <a:ea typeface="宋体"/>
                          <a:cs typeface="Times New Roman"/>
                        </a:rPr>
                        <a:t>##H</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lnSpc>
                          <a:spcPts val="1300"/>
                        </a:lnSpc>
                        <a:spcAft>
                          <a:spcPts val="0"/>
                        </a:spcAft>
                      </a:pPr>
                      <a:r>
                        <a:rPr lang="en-US" altLang="zh-CN" sz="1600" b="0" kern="100" dirty="0" smtClean="0">
                          <a:solidFill>
                            <a:schemeClr val="tx1"/>
                          </a:solidFill>
                          <a:latin typeface="Calibri"/>
                          <a:ea typeface="宋体"/>
                          <a:cs typeface="Times New Roman"/>
                        </a:rPr>
                        <a:t>AAH</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5571">
                <a:tc>
                  <a:txBody>
                    <a:bodyPr/>
                    <a:lstStyle/>
                    <a:p>
                      <a:pPr marL="0" indent="0" algn="ctr" defTabSz="914400" rtl="0" eaLnBrk="1" latinLnBrk="0" hangingPunct="1">
                        <a:lnSpc>
                          <a:spcPts val="1300"/>
                        </a:lnSpc>
                        <a:spcAft>
                          <a:spcPts val="0"/>
                        </a:spcAft>
                      </a:pPr>
                      <a:r>
                        <a:rPr lang="en-US" sz="1600" b="0" kern="100" dirty="0">
                          <a:solidFill>
                            <a:schemeClr val="tx1"/>
                          </a:solidFill>
                          <a:latin typeface="Calibri"/>
                          <a:ea typeface="宋体"/>
                          <a:cs typeface="Times New Roman"/>
                        </a:rPr>
                        <a:t>6</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442913" algn="l" defTabSz="914400" rtl="0" eaLnBrk="1" latinLnBrk="0" hangingPunct="1">
                        <a:lnSpc>
                          <a:spcPts val="1300"/>
                        </a:lnSpc>
                        <a:spcAft>
                          <a:spcPts val="0"/>
                        </a:spcAft>
                      </a:pPr>
                      <a:r>
                        <a:rPr lang="en-US" sz="1600" b="0" kern="100" dirty="0">
                          <a:solidFill>
                            <a:schemeClr val="tx1"/>
                          </a:solidFill>
                          <a:latin typeface="Calibri"/>
                          <a:ea typeface="宋体"/>
                          <a:cs typeface="Times New Roman"/>
                        </a:rPr>
                        <a:t>##H</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lnSpc>
                          <a:spcPts val="1300"/>
                        </a:lnSpc>
                        <a:spcAft>
                          <a:spcPts val="0"/>
                        </a:spcAft>
                      </a:pPr>
                      <a:r>
                        <a:rPr lang="en-US" altLang="zh-CN" sz="1600" b="0" kern="100" dirty="0" smtClean="0">
                          <a:solidFill>
                            <a:schemeClr val="tx1"/>
                          </a:solidFill>
                          <a:latin typeface="Calibri"/>
                          <a:ea typeface="宋体"/>
                          <a:cs typeface="Times New Roman"/>
                        </a:rPr>
                        <a:t>AAH</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5571">
                <a:tc>
                  <a:txBody>
                    <a:bodyPr/>
                    <a:lstStyle/>
                    <a:p>
                      <a:pPr marL="0" indent="0" algn="ctr" defTabSz="914400" rtl="0" eaLnBrk="1" latinLnBrk="0" hangingPunct="1">
                        <a:lnSpc>
                          <a:spcPts val="1300"/>
                        </a:lnSpc>
                        <a:spcAft>
                          <a:spcPts val="0"/>
                        </a:spcAft>
                      </a:pPr>
                      <a:r>
                        <a:rPr lang="en-US" altLang="zh-CN" sz="1600" b="0" kern="100" dirty="0" smtClean="0">
                          <a:solidFill>
                            <a:schemeClr val="tx1"/>
                          </a:solidFill>
                          <a:latin typeface="Calibri"/>
                          <a:ea typeface="宋体"/>
                          <a:cs typeface="Times New Roman"/>
                        </a:rPr>
                        <a:t>7</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442913" algn="l" defTabSz="914400" rtl="0" eaLnBrk="1" latinLnBrk="0" hangingPunct="1">
                        <a:lnSpc>
                          <a:spcPts val="1300"/>
                        </a:lnSpc>
                        <a:spcAft>
                          <a:spcPts val="0"/>
                        </a:spcAft>
                      </a:pPr>
                      <a:r>
                        <a:rPr lang="en-US" sz="1600" b="0" kern="100" dirty="0">
                          <a:solidFill>
                            <a:schemeClr val="tx1"/>
                          </a:solidFill>
                          <a:latin typeface="Calibri"/>
                          <a:ea typeface="宋体"/>
                          <a:cs typeface="Times New Roman"/>
                        </a:rPr>
                        <a:t>##H</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lnSpc>
                          <a:spcPts val="1300"/>
                        </a:lnSpc>
                        <a:spcAft>
                          <a:spcPts val="0"/>
                        </a:spcAft>
                      </a:pPr>
                      <a:r>
                        <a:rPr lang="en-US" altLang="zh-CN" sz="1600" b="0" kern="100" dirty="0" smtClean="0">
                          <a:solidFill>
                            <a:schemeClr val="tx1"/>
                          </a:solidFill>
                          <a:latin typeface="Calibri"/>
                          <a:ea typeface="宋体"/>
                          <a:cs typeface="Times New Roman"/>
                        </a:rPr>
                        <a:t>AAH</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5571">
                <a:tc>
                  <a:txBody>
                    <a:bodyPr/>
                    <a:lstStyle/>
                    <a:p>
                      <a:pPr marL="0" indent="0" algn="ctr" defTabSz="914400" rtl="0" eaLnBrk="1" latinLnBrk="0" hangingPunct="1">
                        <a:lnSpc>
                          <a:spcPts val="1300"/>
                        </a:lnSpc>
                        <a:spcAft>
                          <a:spcPts val="0"/>
                        </a:spcAft>
                      </a:pPr>
                      <a:r>
                        <a:rPr lang="en-US" altLang="zh-CN" sz="1600" b="0" kern="100" dirty="0" smtClean="0">
                          <a:solidFill>
                            <a:schemeClr val="tx1"/>
                          </a:solidFill>
                          <a:latin typeface="Calibri"/>
                          <a:ea typeface="宋体"/>
                          <a:cs typeface="Times New Roman"/>
                        </a:rPr>
                        <a:t>8</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442913" algn="l" defTabSz="914400" rtl="0" eaLnBrk="1" latinLnBrk="0" hangingPunct="1">
                        <a:lnSpc>
                          <a:spcPts val="1300"/>
                        </a:lnSpc>
                        <a:spcAft>
                          <a:spcPts val="0"/>
                        </a:spcAft>
                      </a:pPr>
                      <a:r>
                        <a:rPr lang="en-US" sz="1600" b="0" kern="100" dirty="0">
                          <a:solidFill>
                            <a:schemeClr val="tx1"/>
                          </a:solidFill>
                          <a:latin typeface="Calibri"/>
                          <a:ea typeface="宋体"/>
                          <a:cs typeface="Times New Roman"/>
                        </a:rPr>
                        <a:t>##H</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lnSpc>
                          <a:spcPts val="1300"/>
                        </a:lnSpc>
                        <a:spcAft>
                          <a:spcPts val="0"/>
                        </a:spcAft>
                      </a:pPr>
                      <a:r>
                        <a:rPr lang="en-US" altLang="zh-CN" sz="1600" b="0" kern="100" dirty="0" smtClean="0">
                          <a:solidFill>
                            <a:schemeClr val="tx1"/>
                          </a:solidFill>
                          <a:latin typeface="Calibri"/>
                          <a:ea typeface="宋体"/>
                          <a:cs typeface="Times New Roman"/>
                        </a:rPr>
                        <a:t>AAH</a:t>
                      </a:r>
                      <a:endParaRPr lang="zh-CN" sz="1600" b="0" kern="100" dirty="0">
                        <a:solidFill>
                          <a:schemeClr val="tx1"/>
                        </a:solidFill>
                        <a:latin typeface="Calibri"/>
                        <a:ea typeface="宋体"/>
                        <a:cs typeface="Times New Roman"/>
                      </a:endParaRPr>
                    </a:p>
                  </a:txBody>
                  <a:tcPr marL="48969" marR="489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38</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428596" y="558784"/>
            <a:ext cx="6048451" cy="584775"/>
          </a:xfrm>
          <a:prstGeom prst="rect">
            <a:avLst/>
          </a:prstGeom>
        </p:spPr>
        <p:txBody>
          <a:bodyPr wrap="none">
            <a:spAutoFit/>
          </a:bodyPr>
          <a:lstStyle/>
          <a:p>
            <a:pPr fontAlgn="auto">
              <a:spcBef>
                <a:spcPts val="0"/>
              </a:spcBef>
              <a:spcAft>
                <a:spcPts val="0"/>
              </a:spcAft>
              <a:defRPr/>
            </a:pPr>
            <a:r>
              <a:rPr lang="en-US" altLang="zh-CN" sz="3200" b="1" i="1" kern="0" dirty="0">
                <a:solidFill>
                  <a:schemeClr val="bg1"/>
                </a:solidFill>
                <a:latin typeface="+mn-lt"/>
                <a:ea typeface="+mn-ea"/>
              </a:rPr>
              <a:t>Key Telemetry </a:t>
            </a:r>
            <a:r>
              <a:rPr lang="en-US" altLang="zh-CN" sz="3200" b="1" i="1" kern="0" dirty="0" smtClean="0">
                <a:solidFill>
                  <a:schemeClr val="bg1"/>
                </a:solidFill>
                <a:latin typeface="+mn-lt"/>
                <a:ea typeface="+mn-ea"/>
              </a:rPr>
              <a:t>Parameters in BMU</a:t>
            </a:r>
            <a:endParaRPr lang="zh-CN" altLang="en-US" sz="3200" b="1" i="1" dirty="0">
              <a:solidFill>
                <a:schemeClr val="bg1"/>
              </a:solidFill>
              <a:latin typeface="+mn-lt"/>
              <a:ea typeface="+mn-ea"/>
            </a:endParaRPr>
          </a:p>
        </p:txBody>
      </p:sp>
      <p:sp>
        <p:nvSpPr>
          <p:cNvPr id="8" name="Rectangle 1"/>
          <p:cNvSpPr>
            <a:spLocks noChangeArrowheads="1"/>
          </p:cNvSpPr>
          <p:nvPr/>
        </p:nvSpPr>
        <p:spPr bwMode="gray">
          <a:xfrm>
            <a:off x="785786" y="1428736"/>
            <a:ext cx="3929090" cy="4985980"/>
          </a:xfrm>
          <a:prstGeom prst="rect">
            <a:avLst/>
          </a:prstGeom>
          <a:noFill/>
          <a:ln w="9525" cap="flat" cmpd="sng" algn="ctr">
            <a:noFill/>
            <a:prstDash val="solid"/>
            <a:miter lim="800000"/>
            <a:headEnd/>
            <a:tailEnd/>
          </a:ln>
          <a:effectLst/>
        </p:spPr>
        <p:txBody>
          <a:bodyPr wrap="square" anchor="ctr">
            <a:spAutoFit/>
          </a:bodyPr>
          <a:lstStyle/>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Battery Voltage</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a:t>
            </a:r>
            <a:r>
              <a:rPr lang="en-US" altLang="zh-CN" sz="2000" dirty="0" err="1" smtClean="0">
                <a:solidFill>
                  <a:srgbClr val="00B050"/>
                </a:solidFill>
                <a:latin typeface="Times New Roman" pitchFamily="18" charset="0"/>
                <a:cs typeface="Times New Roman" pitchFamily="18" charset="0"/>
              </a:rPr>
              <a:t>Batt_Cell</a:t>
            </a:r>
            <a:r>
              <a:rPr lang="en-US" altLang="zh-CN" sz="2000" dirty="0" smtClean="0">
                <a:solidFill>
                  <a:srgbClr val="00B050"/>
                </a:solidFill>
                <a:latin typeface="Times New Roman" pitchFamily="18" charset="0"/>
                <a:cs typeface="Times New Roman" pitchFamily="18" charset="0"/>
              </a:rPr>
              <a:t> 1 Voltage</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a:t>
            </a:r>
            <a:r>
              <a:rPr lang="en-US" altLang="zh-CN" sz="2000" dirty="0" err="1" smtClean="0">
                <a:solidFill>
                  <a:srgbClr val="00B050"/>
                </a:solidFill>
                <a:latin typeface="Times New Roman" pitchFamily="18" charset="0"/>
                <a:cs typeface="Times New Roman" pitchFamily="18" charset="0"/>
              </a:rPr>
              <a:t>Batt_Cell</a:t>
            </a:r>
            <a:r>
              <a:rPr lang="en-US" altLang="zh-CN" sz="2000" dirty="0" smtClean="0">
                <a:solidFill>
                  <a:srgbClr val="00B050"/>
                </a:solidFill>
                <a:latin typeface="Times New Roman" pitchFamily="18" charset="0"/>
                <a:cs typeface="Times New Roman" pitchFamily="18" charset="0"/>
              </a:rPr>
              <a:t> 2 Voltage</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a:t>
            </a:r>
            <a:r>
              <a:rPr lang="en-US" altLang="zh-CN" sz="2000" dirty="0" err="1" smtClean="0">
                <a:solidFill>
                  <a:srgbClr val="00B050"/>
                </a:solidFill>
                <a:latin typeface="Times New Roman" pitchFamily="18" charset="0"/>
                <a:cs typeface="Times New Roman" pitchFamily="18" charset="0"/>
              </a:rPr>
              <a:t>Batt_Cell</a:t>
            </a:r>
            <a:r>
              <a:rPr lang="en-US" altLang="zh-CN" sz="2000" dirty="0" smtClean="0">
                <a:solidFill>
                  <a:srgbClr val="00B050"/>
                </a:solidFill>
                <a:latin typeface="Times New Roman" pitchFamily="18" charset="0"/>
                <a:cs typeface="Times New Roman" pitchFamily="18" charset="0"/>
              </a:rPr>
              <a:t> 3 Voltage</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a:t>
            </a:r>
            <a:r>
              <a:rPr lang="en-US" altLang="zh-CN" sz="2000" dirty="0" err="1" smtClean="0">
                <a:solidFill>
                  <a:srgbClr val="00B050"/>
                </a:solidFill>
                <a:latin typeface="Times New Roman" pitchFamily="18" charset="0"/>
                <a:cs typeface="Times New Roman" pitchFamily="18" charset="0"/>
              </a:rPr>
              <a:t>Batt_Cell</a:t>
            </a:r>
            <a:r>
              <a:rPr lang="en-US" altLang="zh-CN" sz="2000" dirty="0" smtClean="0">
                <a:solidFill>
                  <a:srgbClr val="00B050"/>
                </a:solidFill>
                <a:latin typeface="Times New Roman" pitchFamily="18" charset="0"/>
                <a:cs typeface="Times New Roman" pitchFamily="18" charset="0"/>
              </a:rPr>
              <a:t> 4 Voltage</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a:t>
            </a:r>
            <a:r>
              <a:rPr lang="en-US" altLang="zh-CN" sz="2000" dirty="0" err="1" smtClean="0">
                <a:solidFill>
                  <a:srgbClr val="00B050"/>
                </a:solidFill>
                <a:latin typeface="Times New Roman" pitchFamily="18" charset="0"/>
                <a:cs typeface="Times New Roman" pitchFamily="18" charset="0"/>
              </a:rPr>
              <a:t>Batt_Cell</a:t>
            </a:r>
            <a:r>
              <a:rPr lang="en-US" altLang="zh-CN" sz="2000" dirty="0" smtClean="0">
                <a:solidFill>
                  <a:srgbClr val="00B050"/>
                </a:solidFill>
                <a:latin typeface="Times New Roman" pitchFamily="18" charset="0"/>
                <a:cs typeface="Times New Roman" pitchFamily="18" charset="0"/>
              </a:rPr>
              <a:t> 5 Voltage</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a:t>
            </a:r>
            <a:r>
              <a:rPr lang="en-US" altLang="zh-CN" sz="2000" dirty="0" err="1" smtClean="0">
                <a:solidFill>
                  <a:srgbClr val="00B050"/>
                </a:solidFill>
                <a:latin typeface="Times New Roman" pitchFamily="18" charset="0"/>
                <a:cs typeface="Times New Roman" pitchFamily="18" charset="0"/>
              </a:rPr>
              <a:t>Batt_Cell</a:t>
            </a:r>
            <a:r>
              <a:rPr lang="en-US" altLang="zh-CN" sz="2000" dirty="0" smtClean="0">
                <a:solidFill>
                  <a:srgbClr val="00B050"/>
                </a:solidFill>
                <a:latin typeface="Times New Roman" pitchFamily="18" charset="0"/>
                <a:cs typeface="Times New Roman" pitchFamily="18" charset="0"/>
              </a:rPr>
              <a:t> 6 Voltage</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a:t>
            </a:r>
            <a:r>
              <a:rPr lang="en-US" altLang="zh-CN" sz="2000" dirty="0" err="1" smtClean="0">
                <a:solidFill>
                  <a:srgbClr val="00B050"/>
                </a:solidFill>
                <a:latin typeface="Times New Roman" pitchFamily="18" charset="0"/>
                <a:cs typeface="Times New Roman" pitchFamily="18" charset="0"/>
              </a:rPr>
              <a:t>Batt</a:t>
            </a:r>
            <a:r>
              <a:rPr lang="en-US" altLang="zh-CN" sz="2000" dirty="0" smtClean="0">
                <a:solidFill>
                  <a:srgbClr val="00B050"/>
                </a:solidFill>
                <a:latin typeface="Times New Roman" pitchFamily="18" charset="0"/>
                <a:cs typeface="Times New Roman" pitchFamily="18" charset="0"/>
              </a:rPr>
              <a:t> _Cell 7 Voltage</a:t>
            </a:r>
          </a:p>
          <a:p>
            <a:pPr eaLnBrk="0" fontAlgn="auto" hangingPunct="0">
              <a:spcBef>
                <a:spcPts val="0"/>
              </a:spcBef>
              <a:spcAft>
                <a:spcPts val="0"/>
              </a:spcAft>
              <a:defRPr/>
            </a:pPr>
            <a:r>
              <a:rPr lang="en-US" altLang="zh-CN" sz="2000" dirty="0" smtClean="0"/>
              <a:t>        </a:t>
            </a:r>
          </a:p>
          <a:p>
            <a:pPr eaLnBrk="0" fontAlgn="auto" hangingPunct="0">
              <a:spcBef>
                <a:spcPts val="0"/>
              </a:spcBef>
              <a:spcAft>
                <a:spcPts val="0"/>
              </a:spcAft>
              <a:defRPr/>
            </a:pPr>
            <a:endParaRPr lang="en-US" altLang="zh-CN" sz="2000" dirty="0" smtClean="0"/>
          </a:p>
          <a:p>
            <a:pPr eaLnBrk="0" fontAlgn="auto" hangingPunct="0">
              <a:spcBef>
                <a:spcPts val="0"/>
              </a:spcBef>
              <a:spcAft>
                <a:spcPts val="0"/>
              </a:spcAft>
              <a:defRPr/>
            </a:pPr>
            <a:endParaRPr lang="en-US" altLang="zh-CN" sz="2000" dirty="0" err="1">
              <a:solidFill>
                <a:srgbClr val="00B050"/>
              </a:solidFill>
              <a:latin typeface="Times New Roman" pitchFamily="18" charset="0"/>
              <a:cs typeface="Times New Roman" pitchFamily="18" charset="0"/>
            </a:endParaRPr>
          </a:p>
          <a:p>
            <a:pPr fontAlgn="auto">
              <a:spcBef>
                <a:spcPts val="0"/>
              </a:spcBef>
              <a:spcAft>
                <a:spcPts val="600"/>
              </a:spcAft>
              <a:defRPr/>
            </a:pPr>
            <a:endParaRPr lang="en-US" altLang="zh-CN" dirty="0" err="1">
              <a:solidFill>
                <a:schemeClr val="accent6">
                  <a:lumMod val="60000"/>
                  <a:lumOff val="40000"/>
                </a:schemeClr>
              </a:solidFill>
              <a:latin typeface="Times New Roman" pitchFamily="18" charset="0"/>
              <a:ea typeface="+mn-ea"/>
              <a:cs typeface="Times New Roman" pitchFamily="18" charset="0"/>
            </a:endParaRPr>
          </a:p>
        </p:txBody>
      </p:sp>
      <p:sp>
        <p:nvSpPr>
          <p:cNvPr id="10" name="Rectangle 1"/>
          <p:cNvSpPr>
            <a:spLocks noChangeArrowheads="1"/>
          </p:cNvSpPr>
          <p:nvPr/>
        </p:nvSpPr>
        <p:spPr bwMode="gray">
          <a:xfrm>
            <a:off x="4643438" y="1428736"/>
            <a:ext cx="3929090" cy="4985980"/>
          </a:xfrm>
          <a:prstGeom prst="rect">
            <a:avLst/>
          </a:prstGeom>
          <a:noFill/>
          <a:ln w="9525" cap="flat" cmpd="sng" algn="ctr">
            <a:noFill/>
            <a:prstDash val="solid"/>
            <a:miter lim="800000"/>
            <a:headEnd/>
            <a:tailEnd/>
          </a:ln>
          <a:effectLst/>
        </p:spPr>
        <p:txBody>
          <a:bodyPr wrap="square" anchor="ctr">
            <a:spAutoFit/>
          </a:bodyPr>
          <a:lstStyle/>
          <a:p>
            <a:pPr eaLnBrk="0" fontAlgn="auto" hangingPunct="0">
              <a:lnSpc>
                <a:spcPct val="150000"/>
              </a:lnSpc>
              <a:spcBef>
                <a:spcPts val="0"/>
              </a:spcBef>
              <a:spcAft>
                <a:spcPts val="0"/>
              </a:spcAft>
              <a:defRPr/>
            </a:pPr>
            <a:r>
              <a:rPr lang="en-US" altLang="zh-CN" sz="2000" dirty="0" smtClean="0">
                <a:solidFill>
                  <a:srgbClr val="00B050"/>
                </a:solidFill>
                <a:latin typeface="Times New Roman" pitchFamily="18" charset="0"/>
                <a:cs typeface="Times New Roman" pitchFamily="18" charset="0"/>
              </a:rPr>
              <a:t>#  Batt_Cell1_Bal_Status</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Batt_Cell2_Bal_Status</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Batt_Cell3_Bal_Status</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Batt_Cell4_Bal_Status</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Batt_Cell5_Bal_Status</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Batt_Cell6_Bal_Status</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Batt_Cell7_Bal_Status</a:t>
            </a:r>
          </a:p>
          <a:p>
            <a:pPr eaLnBrk="0" hangingPunct="0">
              <a:lnSpc>
                <a:spcPct val="150000"/>
              </a:lnSpc>
              <a:defRPr/>
            </a:pPr>
            <a:r>
              <a:rPr lang="en-US" altLang="zh-CN" sz="2000" dirty="0" smtClean="0">
                <a:solidFill>
                  <a:srgbClr val="00B050"/>
                </a:solidFill>
                <a:latin typeface="Times New Roman" pitchFamily="18" charset="0"/>
                <a:cs typeface="Times New Roman" pitchFamily="18" charset="0"/>
              </a:rPr>
              <a:t>#  </a:t>
            </a:r>
            <a:r>
              <a:rPr lang="en-US" altLang="zh-CN" sz="2000" dirty="0" err="1" smtClean="0">
                <a:solidFill>
                  <a:srgbClr val="00B050"/>
                </a:solidFill>
                <a:latin typeface="Times New Roman" pitchFamily="18" charset="0"/>
                <a:cs typeface="Times New Roman" pitchFamily="18" charset="0"/>
              </a:rPr>
              <a:t>Batt_Bal_s</a:t>
            </a:r>
            <a:r>
              <a:rPr lang="en-US" altLang="zh-CN" sz="2000" dirty="0" smtClean="0">
                <a:solidFill>
                  <a:srgbClr val="00B050"/>
                </a:solidFill>
                <a:latin typeface="Times New Roman" pitchFamily="18" charset="0"/>
                <a:cs typeface="Times New Roman" pitchFamily="18" charset="0"/>
              </a:rPr>
              <a:t>/w Status</a:t>
            </a:r>
          </a:p>
          <a:p>
            <a:pPr eaLnBrk="0" fontAlgn="auto" hangingPunct="0">
              <a:spcBef>
                <a:spcPts val="0"/>
              </a:spcBef>
              <a:spcAft>
                <a:spcPts val="0"/>
              </a:spcAft>
              <a:defRPr/>
            </a:pPr>
            <a:r>
              <a:rPr lang="en-US" altLang="zh-CN" sz="2000" dirty="0" smtClean="0"/>
              <a:t>        </a:t>
            </a:r>
          </a:p>
          <a:p>
            <a:pPr eaLnBrk="0" fontAlgn="auto" hangingPunct="0">
              <a:spcBef>
                <a:spcPts val="0"/>
              </a:spcBef>
              <a:spcAft>
                <a:spcPts val="0"/>
              </a:spcAft>
              <a:defRPr/>
            </a:pPr>
            <a:endParaRPr lang="en-US" altLang="zh-CN" sz="2000" dirty="0" smtClean="0"/>
          </a:p>
          <a:p>
            <a:pPr eaLnBrk="0" fontAlgn="auto" hangingPunct="0">
              <a:spcBef>
                <a:spcPts val="0"/>
              </a:spcBef>
              <a:spcAft>
                <a:spcPts val="0"/>
              </a:spcAft>
              <a:defRPr/>
            </a:pPr>
            <a:endParaRPr lang="en-US" altLang="zh-CN" sz="2000" dirty="0" err="1">
              <a:solidFill>
                <a:srgbClr val="00B050"/>
              </a:solidFill>
              <a:latin typeface="Times New Roman" pitchFamily="18" charset="0"/>
              <a:cs typeface="Times New Roman" pitchFamily="18" charset="0"/>
            </a:endParaRPr>
          </a:p>
          <a:p>
            <a:pPr fontAlgn="auto">
              <a:spcBef>
                <a:spcPts val="0"/>
              </a:spcBef>
              <a:spcAft>
                <a:spcPts val="600"/>
              </a:spcAft>
              <a:defRPr/>
            </a:pPr>
            <a:endParaRPr lang="en-US" altLang="zh-CN" dirty="0" err="1">
              <a:solidFill>
                <a:schemeClr val="accent6">
                  <a:lumMod val="60000"/>
                  <a:lumOff val="40000"/>
                </a:schemeClr>
              </a:solidFill>
              <a:latin typeface="Times New Roman" pitchFamily="18" charset="0"/>
              <a:ea typeface="+mn-ea"/>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9"/>
          <p:cNvPicPr>
            <a:picLocks noChangeAspect="1" noChangeArrowheads="1"/>
          </p:cNvPicPr>
          <p:nvPr/>
        </p:nvPicPr>
        <p:blipFill>
          <a:blip r:embed="rId2"/>
          <a:srcRect/>
          <a:stretch>
            <a:fillRect/>
          </a:stretch>
        </p:blipFill>
        <p:spPr bwMode="auto">
          <a:xfrm>
            <a:off x="0" y="1214422"/>
            <a:ext cx="9144000" cy="5143500"/>
          </a:xfrm>
          <a:prstGeom prst="rect">
            <a:avLst/>
          </a:prstGeom>
          <a:noFill/>
          <a:ln w="9525">
            <a:noFill/>
            <a:miter lim="800000"/>
            <a:headEnd/>
            <a:tailEnd/>
          </a:ln>
        </p:spPr>
      </p:pic>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39</a:t>
            </a:fld>
            <a:r>
              <a:rPr lang="zh-CN" altLang="en-US" smtClean="0"/>
              <a:t> </a:t>
            </a:r>
            <a:endParaRPr lang="zh-CN" altLang="en-US" dirty="0">
              <a:latin typeface="微软雅黑" pitchFamily="34" charset="-122"/>
              <a:ea typeface="微软雅黑" pitchFamily="34" charset="-122"/>
            </a:endParaRPr>
          </a:p>
        </p:txBody>
      </p:sp>
      <p:sp>
        <p:nvSpPr>
          <p:cNvPr id="8" name="矩形 5"/>
          <p:cNvSpPr>
            <a:spLocks noChangeArrowheads="1"/>
          </p:cNvSpPr>
          <p:nvPr/>
        </p:nvSpPr>
        <p:spPr bwMode="auto">
          <a:xfrm>
            <a:off x="2775561" y="2500306"/>
            <a:ext cx="6368439" cy="653449"/>
          </a:xfrm>
          <a:prstGeom prst="rect">
            <a:avLst/>
          </a:prstGeom>
          <a:noFill/>
          <a:ln w="9525">
            <a:noFill/>
            <a:miter lim="800000"/>
            <a:headEnd/>
            <a:tailEnd/>
          </a:ln>
        </p:spPr>
        <p:txBody>
          <a:bodyPr wrap="square">
            <a:spAutoFit/>
          </a:bodyPr>
          <a:lstStyle/>
          <a:p>
            <a:pPr algn="l">
              <a:lnSpc>
                <a:spcPts val="3300"/>
              </a:lnSpc>
            </a:pPr>
            <a:r>
              <a:rPr lang="en-US" altLang="zh-CN" sz="72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Thanks!</a:t>
            </a:r>
            <a:endParaRPr lang="en-US" altLang="zh-CN" sz="72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穿越">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15602</TotalTime>
  <Words>3814</Words>
  <Application>Microsoft Office PowerPoint</Application>
  <PresentationFormat>全屏显示(4:3)</PresentationFormat>
  <Paragraphs>551</Paragraphs>
  <Slides>39</Slides>
  <Notes>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39</vt:i4>
      </vt:variant>
    </vt:vector>
  </HeadingPairs>
  <TitlesOfParts>
    <vt:vector size="42" baseType="lpstr">
      <vt:lpstr>Office 主题</vt:lpstr>
      <vt:lpstr>Visio</vt:lpstr>
      <vt:lpstr>Equation</vt:lpstr>
      <vt:lpstr>ETRSS-1  Power  Supply Subsystem Design</vt:lpstr>
      <vt:lpstr>PowerPoint 演示文稿</vt:lpstr>
      <vt:lpstr>PowerPoint 演示文稿</vt:lpstr>
      <vt:lpstr>Concept and Function</vt:lpstr>
      <vt:lpstr>PowerPoint 演示文稿</vt:lpstr>
      <vt:lpstr>PowerPoint 演示文稿</vt:lpstr>
      <vt:lpstr>PowerPoint 演示文稿</vt:lpstr>
      <vt:lpstr>Compositions of PSS</vt:lpstr>
      <vt:lpstr>Compositions of PSS</vt:lpstr>
      <vt:lpstr>Compositions of PSS ( Solar Array)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dfh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单悌磊</dc:creator>
  <cp:lastModifiedBy>侯天宝</cp:lastModifiedBy>
  <cp:revision>743</cp:revision>
  <dcterms:created xsi:type="dcterms:W3CDTF">2013-04-18T01:59:38Z</dcterms:created>
  <dcterms:modified xsi:type="dcterms:W3CDTF">2019-02-22T06:40:36Z</dcterms:modified>
</cp:coreProperties>
</file>