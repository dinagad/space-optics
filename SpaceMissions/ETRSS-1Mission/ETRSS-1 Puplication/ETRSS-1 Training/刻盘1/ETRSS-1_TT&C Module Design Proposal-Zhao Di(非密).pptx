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notesSlides/notesSlide2.xml" ContentType="application/vnd.openxmlformats-officedocument.presentationml.notesSlide+xml"/>
  <Override PartName="/ppt/diagrams/drawing2.xml" ContentType="application/vnd.ms-office.drawingml.diagramDrawing+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Layouts/slideLayout6.xml" ContentType="application/vnd.openxmlformats-officedocument.presentationml.slideLayout+xml"/>
  <Override PartName="/ppt/diagrams/quickStyle2.xml" ContentType="application/vnd.openxmlformats-officedocument.drawingml.diagramStyle+xml"/>
  <Override PartName="/ppt/notesSlides/notesSlide38.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diagrams/layout1.xml" ContentType="application/vnd.openxmlformats-officedocument.drawingml.diagramLayout+xml"/>
  <Override PartName="/ppt/diagrams/data2.xml" ContentType="application/vnd.openxmlformats-officedocument.drawingml.diagramData+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Default Extension="bin" ContentType="application/vnd.openxmlformats-officedocument.oleObject"/>
  <Override PartName="/ppt/diagrams/colors2.xml" ContentType="application/vnd.openxmlformats-officedocument.drawingml.diagramColors+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diagrams/drawing1.xml" ContentType="application/vnd.ms-office.drawingml.diagramDrawing+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Override PartName="/ppt/notesSlides/notesSlide17.xml" ContentType="application/vnd.openxmlformats-officedocument.presentationml.notesSlide+xml"/>
  <Default Extension="emf" ContentType="image/x-emf"/>
  <Override PartName="/ppt/notesSlides/notesSlide28.xml" ContentType="application/vnd.openxmlformats-officedocument.presentationml.notesSlide+xml"/>
  <Override PartName="/ppt/notesSlides/notesSlide3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ppt/notesSlides/notesSlide4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Default Extension="wdp" ContentType="image/vnd.ms-photo"/>
  <Override PartName="/ppt/notesSlides/notesSlide8.xml" ContentType="application/vnd.openxmlformats-officedocument.presentationml.notesSlide+xml"/>
  <Override PartName="/ppt/notesSlides/notesSlide11.xml" ContentType="application/vnd.openxmlformats-officedocument.presentationml.notesSlide+xml"/>
  <Default Extension="vml" ContentType="application/vnd.openxmlformats-officedocument.vmlDrawing"/>
  <Override PartName="/ppt/notesSlides/notesSlide20.xml" ContentType="application/vnd.openxmlformats-officedocument.presentationml.notesSlide+xml"/>
  <Override PartName="/ppt/notesSlides/notesSlide31.xml" ContentType="application/vnd.openxmlformats-officedocument.presentationml.notesSlide+xml"/>
  <Override PartName="/ppt/diagrams/layout2.xml" ContentType="application/vnd.openxmlformats-officedocument.drawingml.diagramLayout+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ppt/diagrams/data1.xml" ContentType="application/vnd.openxmlformats-officedocument.drawingml.diagramData+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Default Extension="wmf" ContentType="image/x-wmf"/>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4"/>
  </p:notesMasterIdLst>
  <p:handoutMasterIdLst>
    <p:handoutMasterId r:id="rId55"/>
  </p:handoutMasterIdLst>
  <p:sldIdLst>
    <p:sldId id="275" r:id="rId2"/>
    <p:sldId id="468" r:id="rId3"/>
    <p:sldId id="463" r:id="rId4"/>
    <p:sldId id="412" r:id="rId5"/>
    <p:sldId id="413" r:id="rId6"/>
    <p:sldId id="414" r:id="rId7"/>
    <p:sldId id="415" r:id="rId8"/>
    <p:sldId id="416" r:id="rId9"/>
    <p:sldId id="417" r:id="rId10"/>
    <p:sldId id="419" r:id="rId11"/>
    <p:sldId id="464" r:id="rId12"/>
    <p:sldId id="420" r:id="rId13"/>
    <p:sldId id="473" r:id="rId14"/>
    <p:sldId id="474" r:id="rId15"/>
    <p:sldId id="475" r:id="rId16"/>
    <p:sldId id="470" r:id="rId17"/>
    <p:sldId id="476" r:id="rId18"/>
    <p:sldId id="478" r:id="rId19"/>
    <p:sldId id="479" r:id="rId20"/>
    <p:sldId id="477" r:id="rId21"/>
    <p:sldId id="466" r:id="rId22"/>
    <p:sldId id="429" r:id="rId23"/>
    <p:sldId id="432" r:id="rId24"/>
    <p:sldId id="433" r:id="rId25"/>
    <p:sldId id="487" r:id="rId26"/>
    <p:sldId id="436" r:id="rId27"/>
    <p:sldId id="480" r:id="rId28"/>
    <p:sldId id="434" r:id="rId29"/>
    <p:sldId id="488" r:id="rId30"/>
    <p:sldId id="482" r:id="rId31"/>
    <p:sldId id="437" r:id="rId32"/>
    <p:sldId id="438" r:id="rId33"/>
    <p:sldId id="439" r:id="rId34"/>
    <p:sldId id="440" r:id="rId35"/>
    <p:sldId id="449" r:id="rId36"/>
    <p:sldId id="450" r:id="rId37"/>
    <p:sldId id="451" r:id="rId38"/>
    <p:sldId id="452" r:id="rId39"/>
    <p:sldId id="453" r:id="rId40"/>
    <p:sldId id="454" r:id="rId41"/>
    <p:sldId id="467" r:id="rId42"/>
    <p:sldId id="456" r:id="rId43"/>
    <p:sldId id="486" r:id="rId44"/>
    <p:sldId id="457" r:id="rId45"/>
    <p:sldId id="458" r:id="rId46"/>
    <p:sldId id="459" r:id="rId47"/>
    <p:sldId id="460" r:id="rId48"/>
    <p:sldId id="461" r:id="rId49"/>
    <p:sldId id="489" r:id="rId50"/>
    <p:sldId id="462" r:id="rId51"/>
    <p:sldId id="490" r:id="rId52"/>
    <p:sldId id="491" r:id="rId5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xmlns="">
        <p14:section name="默认节" id="{D98E4EC8-262F-4493-A17B-40E3C335E374}">
          <p14:sldIdLst>
            <p14:sldId id="275"/>
            <p14:sldId id="468"/>
            <p14:sldId id="463"/>
            <p14:sldId id="412"/>
            <p14:sldId id="413"/>
            <p14:sldId id="414"/>
            <p14:sldId id="415"/>
            <p14:sldId id="416"/>
            <p14:sldId id="417"/>
            <p14:sldId id="419"/>
            <p14:sldId id="464"/>
            <p14:sldId id="420"/>
            <p14:sldId id="473"/>
            <p14:sldId id="474"/>
            <p14:sldId id="475"/>
            <p14:sldId id="470"/>
            <p14:sldId id="476"/>
            <p14:sldId id="478"/>
            <p14:sldId id="479"/>
            <p14:sldId id="477"/>
            <p14:sldId id="466"/>
            <p14:sldId id="429"/>
            <p14:sldId id="432"/>
            <p14:sldId id="433"/>
            <p14:sldId id="487"/>
            <p14:sldId id="436"/>
            <p14:sldId id="480"/>
            <p14:sldId id="434"/>
            <p14:sldId id="488"/>
            <p14:sldId id="482"/>
            <p14:sldId id="437"/>
            <p14:sldId id="438"/>
            <p14:sldId id="439"/>
            <p14:sldId id="440"/>
            <p14:sldId id="449"/>
            <p14:sldId id="450"/>
            <p14:sldId id="451"/>
            <p14:sldId id="452"/>
            <p14:sldId id="453"/>
            <p14:sldId id="454"/>
            <p14:sldId id="467"/>
            <p14:sldId id="456"/>
            <p14:sldId id="486"/>
            <p14:sldId id="457"/>
            <p14:sldId id="458"/>
            <p14:sldId id="459"/>
            <p14:sldId id="460"/>
            <p14:sldId id="461"/>
            <p14:sldId id="489"/>
            <p14:sldId id="462"/>
            <p14:sldId id="490"/>
            <p14:sldId id="491"/>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983F1"/>
    <a:srgbClr val="0099FF"/>
    <a:srgbClr val="165676"/>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84070" autoAdjust="0"/>
  </p:normalViewPr>
  <p:slideViewPr>
    <p:cSldViewPr>
      <p:cViewPr varScale="1">
        <p:scale>
          <a:sx n="65" d="100"/>
          <a:sy n="65" d="100"/>
        </p:scale>
        <p:origin x="-1314" y="-96"/>
      </p:cViewPr>
      <p:guideLst>
        <p:guide orient="horz" pos="2160"/>
        <p:guide pos="2880"/>
      </p:guideLst>
    </p:cSldViewPr>
  </p:slideViewPr>
  <p:notesTextViewPr>
    <p:cViewPr>
      <p:scale>
        <a:sx n="100" d="100"/>
        <a:sy n="100" d="100"/>
      </p:scale>
      <p:origin x="0" y="0"/>
    </p:cViewPr>
  </p:notesTextViewPr>
  <p:notesViewPr>
    <p:cSldViewPr>
      <p:cViewPr varScale="1">
        <p:scale>
          <a:sx n="80" d="100"/>
          <a:sy n="80" d="100"/>
        </p:scale>
        <p:origin x="-978" y="-90"/>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6C74396-B132-4CDC-834A-4CDAE1D1A652}"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zh-CN" altLang="en-US"/>
        </a:p>
      </dgm:t>
    </dgm:pt>
    <dgm:pt modelId="{A7D216EF-1CC6-4922-B6C5-0D0B3632DFB7}">
      <dgm:prSet phldrT="[文本]" custT="1"/>
      <dgm:spPr/>
      <dgm:t>
        <a:bodyPr/>
        <a:lstStyle/>
        <a:p>
          <a:r>
            <a:rPr lang="en-US" altLang="zh-CN" sz="2000" dirty="0" smtClean="0">
              <a:latin typeface="Times New Roman" pitchFamily="18" charset="0"/>
              <a:cs typeface="Times New Roman" pitchFamily="18" charset="0"/>
            </a:rPr>
            <a:t>Transponder</a:t>
          </a:r>
          <a:endParaRPr lang="zh-CN" altLang="en-US" sz="2000" dirty="0">
            <a:latin typeface="Times New Roman" pitchFamily="18" charset="0"/>
            <a:cs typeface="Times New Roman" pitchFamily="18" charset="0"/>
          </a:endParaRPr>
        </a:p>
      </dgm:t>
    </dgm:pt>
    <dgm:pt modelId="{895C243F-A5C9-4133-BED6-880965CA7D66}" type="parTrans" cxnId="{44C311CE-A35A-4380-8E3D-3C1EF2AA2CFC}">
      <dgm:prSet/>
      <dgm:spPr/>
      <dgm:t>
        <a:bodyPr/>
        <a:lstStyle/>
        <a:p>
          <a:endParaRPr lang="zh-CN" altLang="en-US"/>
        </a:p>
      </dgm:t>
    </dgm:pt>
    <dgm:pt modelId="{107463A6-6511-4077-A7C7-5D304FA25478}" type="sibTrans" cxnId="{44C311CE-A35A-4380-8E3D-3C1EF2AA2CFC}">
      <dgm:prSet/>
      <dgm:spPr/>
      <dgm:t>
        <a:bodyPr/>
        <a:lstStyle/>
        <a:p>
          <a:endParaRPr lang="zh-CN" altLang="en-US"/>
        </a:p>
      </dgm:t>
    </dgm:pt>
    <dgm:pt modelId="{FEF0A3BD-43E7-4B12-95D9-83D3181A8BEB}">
      <dgm:prSet phldrT="[文本]" custT="1"/>
      <dgm:spPr/>
      <dgm:t>
        <a:bodyPr/>
        <a:lstStyle/>
        <a:p>
          <a:r>
            <a:rPr lang="x-none" altLang="zh-CN" sz="2000" b="1" dirty="0" smtClean="0">
              <a:latin typeface="Times New Roman" pitchFamily="18" charset="0"/>
              <a:cs typeface="Times New Roman" pitchFamily="18" charset="0"/>
            </a:rPr>
            <a:t>To transmit telemetry</a:t>
          </a:r>
          <a:r>
            <a:rPr lang="en-US" altLang="zh-CN" sz="2000" b="1" dirty="0" smtClean="0">
              <a:latin typeface="Times New Roman" pitchFamily="18" charset="0"/>
              <a:cs typeface="Times New Roman" pitchFamily="18" charset="0"/>
            </a:rPr>
            <a:t>.</a:t>
          </a:r>
          <a:endParaRPr lang="zh-CN" altLang="en-US" sz="2000" dirty="0"/>
        </a:p>
      </dgm:t>
    </dgm:pt>
    <dgm:pt modelId="{6F87C2DA-68E6-4A4D-8113-F384ED48164E}" type="parTrans" cxnId="{07D9CACA-A1BC-420B-B5E0-A0683F41B273}">
      <dgm:prSet/>
      <dgm:spPr/>
      <dgm:t>
        <a:bodyPr/>
        <a:lstStyle/>
        <a:p>
          <a:endParaRPr lang="zh-CN" altLang="en-US"/>
        </a:p>
      </dgm:t>
    </dgm:pt>
    <dgm:pt modelId="{974615E0-5C9C-42DD-B106-8C1867B41975}" type="sibTrans" cxnId="{07D9CACA-A1BC-420B-B5E0-A0683F41B273}">
      <dgm:prSet/>
      <dgm:spPr/>
      <dgm:t>
        <a:bodyPr/>
        <a:lstStyle/>
        <a:p>
          <a:endParaRPr lang="zh-CN" altLang="en-US"/>
        </a:p>
      </dgm:t>
    </dgm:pt>
    <dgm:pt modelId="{B9497FEF-5546-4128-A091-05065B18CA34}">
      <dgm:prSet phldrT="[文本]" custT="1"/>
      <dgm:spPr/>
      <dgm:t>
        <a:bodyPr/>
        <a:lstStyle/>
        <a:p>
          <a:r>
            <a:rPr lang="en-US" altLang="zh-CN" sz="2000" dirty="0" smtClean="0"/>
            <a:t>GPS receiver</a:t>
          </a:r>
          <a:endParaRPr lang="zh-CN" altLang="en-US" sz="2000" dirty="0"/>
        </a:p>
      </dgm:t>
    </dgm:pt>
    <dgm:pt modelId="{472E4583-8526-4505-B743-256E723D09E7}" type="parTrans" cxnId="{E2608EEB-2FCC-4C42-8266-AB682348D13A}">
      <dgm:prSet/>
      <dgm:spPr/>
      <dgm:t>
        <a:bodyPr/>
        <a:lstStyle/>
        <a:p>
          <a:endParaRPr lang="zh-CN" altLang="en-US"/>
        </a:p>
      </dgm:t>
    </dgm:pt>
    <dgm:pt modelId="{FEA886D9-130D-48E7-B8FF-C74EFC01BD73}" type="sibTrans" cxnId="{E2608EEB-2FCC-4C42-8266-AB682348D13A}">
      <dgm:prSet/>
      <dgm:spPr/>
      <dgm:t>
        <a:bodyPr/>
        <a:lstStyle/>
        <a:p>
          <a:endParaRPr lang="zh-CN" altLang="en-US"/>
        </a:p>
      </dgm:t>
    </dgm:pt>
    <dgm:pt modelId="{B92880BC-21E1-4EF1-B583-F59A965AD62A}">
      <dgm:prSet phldrT="[文本]" custT="1"/>
      <dgm:spPr/>
      <dgm:t>
        <a:bodyPr/>
        <a:lstStyle/>
        <a:p>
          <a:r>
            <a:rPr lang="en-US" altLang="zh-CN" sz="2000" b="1" dirty="0" smtClean="0">
              <a:latin typeface="Times New Roman" pitchFamily="18" charset="0"/>
              <a:cs typeface="Times New Roman" pitchFamily="18" charset="0"/>
            </a:rPr>
            <a:t>Output</a:t>
          </a:r>
          <a:r>
            <a:rPr lang="x-none" altLang="zh-CN" sz="2000" b="1" dirty="0" smtClean="0">
              <a:latin typeface="Times New Roman" pitchFamily="18" charset="0"/>
              <a:cs typeface="Times New Roman" pitchFamily="18" charset="0"/>
            </a:rPr>
            <a:t> positi</a:t>
          </a:r>
          <a:r>
            <a:rPr lang="en-US" altLang="zh-CN" sz="2000" b="1" dirty="0" smtClean="0">
              <a:latin typeface="Times New Roman" pitchFamily="18" charset="0"/>
              <a:cs typeface="Times New Roman" pitchFamily="18" charset="0"/>
            </a:rPr>
            <a:t>on </a:t>
          </a:r>
          <a:r>
            <a:rPr lang="x-none" altLang="zh-CN" sz="2000" b="1" dirty="0" smtClean="0">
              <a:latin typeface="Times New Roman" pitchFamily="18" charset="0"/>
              <a:cs typeface="Times New Roman" pitchFamily="18" charset="0"/>
            </a:rPr>
            <a:t>and orbit determination messages</a:t>
          </a:r>
          <a:endParaRPr lang="zh-CN" altLang="en-US" sz="2000" dirty="0"/>
        </a:p>
      </dgm:t>
    </dgm:pt>
    <dgm:pt modelId="{B3E2C527-B746-44A6-914C-8154DEED0316}" type="parTrans" cxnId="{147E2A6F-EE79-46A5-B351-599BBCBC79D3}">
      <dgm:prSet/>
      <dgm:spPr/>
      <dgm:t>
        <a:bodyPr/>
        <a:lstStyle/>
        <a:p>
          <a:endParaRPr lang="zh-CN" altLang="en-US"/>
        </a:p>
      </dgm:t>
    </dgm:pt>
    <dgm:pt modelId="{11D493B8-7D70-4841-A904-994A3AED6535}" type="sibTrans" cxnId="{147E2A6F-EE79-46A5-B351-599BBCBC79D3}">
      <dgm:prSet/>
      <dgm:spPr/>
      <dgm:t>
        <a:bodyPr/>
        <a:lstStyle/>
        <a:p>
          <a:endParaRPr lang="zh-CN" altLang="en-US"/>
        </a:p>
      </dgm:t>
    </dgm:pt>
    <dgm:pt modelId="{510CF909-F6CC-4EA1-8637-7E652EEE6399}">
      <dgm:prSet phldrT="[文本]" custT="1"/>
      <dgm:spPr/>
      <dgm:t>
        <a:bodyPr/>
        <a:lstStyle/>
        <a:p>
          <a:r>
            <a:rPr lang="en-US" altLang="zh-CN" sz="2000" dirty="0" smtClean="0"/>
            <a:t>Antenna </a:t>
          </a:r>
          <a:endParaRPr lang="zh-CN" altLang="en-US" sz="2000" dirty="0"/>
        </a:p>
      </dgm:t>
    </dgm:pt>
    <dgm:pt modelId="{59C697ED-73BF-440A-A83D-DB8A051E974B}" type="parTrans" cxnId="{D4AB38D3-0E2B-4503-9A36-DCB2913A202C}">
      <dgm:prSet/>
      <dgm:spPr/>
      <dgm:t>
        <a:bodyPr/>
        <a:lstStyle/>
        <a:p>
          <a:endParaRPr lang="zh-CN" altLang="en-US"/>
        </a:p>
      </dgm:t>
    </dgm:pt>
    <dgm:pt modelId="{10FD02C4-4922-45C6-B9EB-A6C28B1CFB88}" type="sibTrans" cxnId="{D4AB38D3-0E2B-4503-9A36-DCB2913A202C}">
      <dgm:prSet/>
      <dgm:spPr/>
      <dgm:t>
        <a:bodyPr/>
        <a:lstStyle/>
        <a:p>
          <a:endParaRPr lang="zh-CN" altLang="en-US"/>
        </a:p>
      </dgm:t>
    </dgm:pt>
    <dgm:pt modelId="{67DAB766-ADEC-4BF5-8D83-9BE1ACCE2BBA}">
      <dgm:prSet phldrT="[文本]" custT="1"/>
      <dgm:spPr/>
      <dgm:t>
        <a:bodyPr/>
        <a:lstStyle/>
        <a:p>
          <a:r>
            <a:rPr lang="en-US" sz="2000" b="1" dirty="0" smtClean="0">
              <a:latin typeface="Times New Roman" pitchFamily="18" charset="0"/>
              <a:cs typeface="Times New Roman" pitchFamily="18" charset="0"/>
            </a:rPr>
            <a:t>The TT&amp;C antenna receives or transmits the TT&amp;C signal.</a:t>
          </a:r>
          <a:endParaRPr lang="zh-CN" altLang="en-US" sz="2000" b="1" dirty="0">
            <a:latin typeface="Times New Roman" pitchFamily="18" charset="0"/>
            <a:cs typeface="Times New Roman" pitchFamily="18" charset="0"/>
          </a:endParaRPr>
        </a:p>
      </dgm:t>
    </dgm:pt>
    <dgm:pt modelId="{7DD309FE-8E21-46D9-9870-0EC0F16B6377}" type="parTrans" cxnId="{B6BF1D9D-756B-48C2-8AC3-AC39A0025C49}">
      <dgm:prSet/>
      <dgm:spPr/>
      <dgm:t>
        <a:bodyPr/>
        <a:lstStyle/>
        <a:p>
          <a:endParaRPr lang="zh-CN" altLang="en-US"/>
        </a:p>
      </dgm:t>
    </dgm:pt>
    <dgm:pt modelId="{59BA63FA-34D0-4A85-9C0A-9CFFC5E13D48}" type="sibTrans" cxnId="{B6BF1D9D-756B-48C2-8AC3-AC39A0025C49}">
      <dgm:prSet/>
      <dgm:spPr/>
      <dgm:t>
        <a:bodyPr/>
        <a:lstStyle/>
        <a:p>
          <a:endParaRPr lang="zh-CN" altLang="en-US"/>
        </a:p>
      </dgm:t>
    </dgm:pt>
    <dgm:pt modelId="{C64AC37B-DED3-4E6E-8C7D-B1E2EFF06A8B}">
      <dgm:prSet phldrT="[文本]" custT="1"/>
      <dgm:spPr/>
      <dgm:t>
        <a:bodyPr/>
        <a:lstStyle/>
        <a:p>
          <a:r>
            <a:rPr lang="en-US" sz="2000" b="1" dirty="0" smtClean="0">
              <a:latin typeface="Times New Roman" pitchFamily="18" charset="0"/>
              <a:cs typeface="Times New Roman" pitchFamily="18" charset="0"/>
            </a:rPr>
            <a:t>The GPS antenna receives signals from the GPS navigation satellites.</a:t>
          </a:r>
          <a:endParaRPr lang="zh-CN" altLang="en-US" sz="2000" b="1" dirty="0">
            <a:latin typeface="Times New Roman" pitchFamily="18" charset="0"/>
            <a:cs typeface="Times New Roman" pitchFamily="18" charset="0"/>
          </a:endParaRPr>
        </a:p>
      </dgm:t>
    </dgm:pt>
    <dgm:pt modelId="{D59D470C-4FC1-4E49-AC24-908854C8E7C6}" type="parTrans" cxnId="{321CC7FB-253F-464F-9946-C9B81B5907E3}">
      <dgm:prSet/>
      <dgm:spPr/>
      <dgm:t>
        <a:bodyPr/>
        <a:lstStyle/>
        <a:p>
          <a:endParaRPr lang="zh-CN" altLang="en-US"/>
        </a:p>
      </dgm:t>
    </dgm:pt>
    <dgm:pt modelId="{6D5EF14E-E0BD-49EF-8531-4E19298A4AA0}" type="sibTrans" cxnId="{321CC7FB-253F-464F-9946-C9B81B5907E3}">
      <dgm:prSet/>
      <dgm:spPr/>
      <dgm:t>
        <a:bodyPr/>
        <a:lstStyle/>
        <a:p>
          <a:endParaRPr lang="zh-CN" altLang="en-US"/>
        </a:p>
      </dgm:t>
    </dgm:pt>
    <dgm:pt modelId="{E8C85801-D847-4F48-96F9-55A93732915B}">
      <dgm:prSet phldrT="[文本]" custT="1"/>
      <dgm:spPr/>
      <dgm:t>
        <a:bodyPr/>
        <a:lstStyle/>
        <a:p>
          <a:r>
            <a:rPr lang="en-US" altLang="zh-CN" sz="2000" b="1" dirty="0" smtClean="0">
              <a:latin typeface="Times New Roman" pitchFamily="18" charset="0"/>
              <a:cs typeface="Times New Roman" pitchFamily="18" charset="0"/>
            </a:rPr>
            <a:t>To receive and demodulate the uplink signals and output PCM signal to OBDH.</a:t>
          </a:r>
          <a:endParaRPr lang="zh-CN" altLang="en-US" sz="2000" dirty="0"/>
        </a:p>
      </dgm:t>
    </dgm:pt>
    <dgm:pt modelId="{77D3B5E2-719C-453E-9237-0A3DB29704D3}" type="parTrans" cxnId="{E37625C2-A5D7-41A4-AF76-B2E6B6600319}">
      <dgm:prSet/>
      <dgm:spPr/>
      <dgm:t>
        <a:bodyPr/>
        <a:lstStyle/>
        <a:p>
          <a:endParaRPr lang="zh-CN" altLang="en-US"/>
        </a:p>
      </dgm:t>
    </dgm:pt>
    <dgm:pt modelId="{8638D784-B690-4351-8139-EDF3FFE2C962}" type="sibTrans" cxnId="{E37625C2-A5D7-41A4-AF76-B2E6B6600319}">
      <dgm:prSet/>
      <dgm:spPr/>
      <dgm:t>
        <a:bodyPr/>
        <a:lstStyle/>
        <a:p>
          <a:endParaRPr lang="zh-CN" altLang="en-US"/>
        </a:p>
      </dgm:t>
    </dgm:pt>
    <dgm:pt modelId="{84D57974-B432-4AE1-8C66-A435030D4657}">
      <dgm:prSet phldrT="[文本]" custT="1"/>
      <dgm:spPr/>
      <dgm:t>
        <a:bodyPr/>
        <a:lstStyle/>
        <a:p>
          <a:r>
            <a:rPr lang="en-US" altLang="zh-CN" sz="2000" b="1" dirty="0" smtClean="0">
              <a:latin typeface="Times New Roman" pitchFamily="18" charset="0"/>
              <a:cs typeface="Times New Roman" pitchFamily="18" charset="0"/>
            </a:rPr>
            <a:t>B</a:t>
          </a:r>
          <a:r>
            <a:rPr lang="x-none" altLang="zh-CN" sz="2000" b="1" dirty="0" smtClean="0">
              <a:latin typeface="Times New Roman" pitchFamily="18" charset="0"/>
              <a:cs typeface="Times New Roman" pitchFamily="18" charset="0"/>
            </a:rPr>
            <a:t>roadcast</a:t>
          </a:r>
          <a:r>
            <a:rPr lang="en-US" altLang="zh-CN" sz="2000" b="1" dirty="0" smtClean="0">
              <a:latin typeface="Times New Roman" pitchFamily="18" charset="0"/>
              <a:cs typeface="Times New Roman" pitchFamily="18" charset="0"/>
            </a:rPr>
            <a:t> </a:t>
          </a:r>
          <a:r>
            <a:rPr lang="x-none" altLang="zh-CN" sz="2000" b="1" dirty="0" smtClean="0">
              <a:latin typeface="Times New Roman" pitchFamily="18" charset="0"/>
              <a:cs typeface="Times New Roman" pitchFamily="18" charset="0"/>
            </a:rPr>
            <a:t>the PPS signal which synchronizes satellite time</a:t>
          </a:r>
          <a:endParaRPr lang="zh-CN" altLang="en-US" sz="2000" dirty="0"/>
        </a:p>
      </dgm:t>
    </dgm:pt>
    <dgm:pt modelId="{C4711036-786E-4202-959F-0986008DCB4A}" type="parTrans" cxnId="{5D3D7BF7-0C7A-4BDB-A396-30B626E62E71}">
      <dgm:prSet/>
      <dgm:spPr/>
      <dgm:t>
        <a:bodyPr/>
        <a:lstStyle/>
        <a:p>
          <a:endParaRPr lang="zh-CN" altLang="en-US"/>
        </a:p>
      </dgm:t>
    </dgm:pt>
    <dgm:pt modelId="{5AFB8079-F4CB-4982-BF0A-922E84A38E78}" type="sibTrans" cxnId="{5D3D7BF7-0C7A-4BDB-A396-30B626E62E71}">
      <dgm:prSet/>
      <dgm:spPr/>
      <dgm:t>
        <a:bodyPr/>
        <a:lstStyle/>
        <a:p>
          <a:endParaRPr lang="zh-CN" altLang="en-US"/>
        </a:p>
      </dgm:t>
    </dgm:pt>
    <dgm:pt modelId="{08FCA213-4E58-4ADA-95C4-F47628DD4B33}">
      <dgm:prSet phldrT="[文本]" custT="1"/>
      <dgm:spPr/>
      <dgm:t>
        <a:bodyPr/>
        <a:lstStyle/>
        <a:p>
          <a:r>
            <a:rPr lang="en-US" sz="2000" b="1" dirty="0" smtClean="0">
              <a:latin typeface="Times New Roman" pitchFamily="18" charset="0"/>
              <a:cs typeface="Times New Roman" pitchFamily="18" charset="0"/>
            </a:rPr>
            <a:t>The Multiplexer blends or distributes the TT&amp;C signal.</a:t>
          </a:r>
          <a:endParaRPr lang="zh-CN" altLang="en-US" sz="2000" b="1" dirty="0">
            <a:latin typeface="Times New Roman" pitchFamily="18" charset="0"/>
            <a:cs typeface="Times New Roman" pitchFamily="18" charset="0"/>
          </a:endParaRPr>
        </a:p>
      </dgm:t>
    </dgm:pt>
    <dgm:pt modelId="{609AC512-B6D5-4096-9160-D7E47A62731A}" type="parTrans" cxnId="{E173F2F7-A948-48F6-9AE0-945BAC25BD0D}">
      <dgm:prSet/>
      <dgm:spPr/>
      <dgm:t>
        <a:bodyPr/>
        <a:lstStyle/>
        <a:p>
          <a:endParaRPr lang="zh-CN" altLang="en-US"/>
        </a:p>
      </dgm:t>
    </dgm:pt>
    <dgm:pt modelId="{0509E9BB-8220-4AD5-AEEA-A257CD2DB52A}" type="sibTrans" cxnId="{E173F2F7-A948-48F6-9AE0-945BAC25BD0D}">
      <dgm:prSet/>
      <dgm:spPr/>
      <dgm:t>
        <a:bodyPr/>
        <a:lstStyle/>
        <a:p>
          <a:endParaRPr lang="zh-CN" altLang="en-US"/>
        </a:p>
      </dgm:t>
    </dgm:pt>
    <dgm:pt modelId="{4D87263E-D85F-4990-BB58-DAB8DC9E9D43}">
      <dgm:prSet phldrT="[文本]" custT="1"/>
      <dgm:spPr/>
      <dgm:t>
        <a:bodyPr/>
        <a:lstStyle/>
        <a:p>
          <a:r>
            <a:rPr lang="en-US" altLang="zh-CN" sz="2000" b="1" dirty="0" smtClean="0">
              <a:latin typeface="Times New Roman" pitchFamily="18" charset="0"/>
              <a:cs typeface="Times New Roman" pitchFamily="18" charset="0"/>
            </a:rPr>
            <a:t>B</a:t>
          </a:r>
          <a:r>
            <a:rPr lang="x-none" altLang="zh-CN" sz="2000" b="1" dirty="0" smtClean="0">
              <a:latin typeface="Times New Roman" pitchFamily="18" charset="0"/>
              <a:cs typeface="Times New Roman" pitchFamily="18" charset="0"/>
            </a:rPr>
            <a:t>roadcast</a:t>
          </a:r>
          <a:r>
            <a:rPr lang="en-US" altLang="zh-CN" sz="2000" b="1" dirty="0" smtClean="0">
              <a:latin typeface="Times New Roman" pitchFamily="18" charset="0"/>
              <a:cs typeface="Times New Roman" pitchFamily="18" charset="0"/>
            </a:rPr>
            <a:t> UTC time </a:t>
          </a:r>
          <a:endParaRPr lang="zh-CN" altLang="en-US" sz="2000" dirty="0"/>
        </a:p>
      </dgm:t>
    </dgm:pt>
    <dgm:pt modelId="{16303A20-50C5-44A0-8383-B63525BBF634}" type="parTrans" cxnId="{C69EEB17-DEA9-4449-8D28-43084F41761C}">
      <dgm:prSet/>
      <dgm:spPr/>
      <dgm:t>
        <a:bodyPr/>
        <a:lstStyle/>
        <a:p>
          <a:endParaRPr lang="zh-CN" altLang="en-US"/>
        </a:p>
      </dgm:t>
    </dgm:pt>
    <dgm:pt modelId="{2FF68AE2-3E63-4E53-89F6-40EB77F68F48}" type="sibTrans" cxnId="{C69EEB17-DEA9-4449-8D28-43084F41761C}">
      <dgm:prSet/>
      <dgm:spPr/>
      <dgm:t>
        <a:bodyPr/>
        <a:lstStyle/>
        <a:p>
          <a:endParaRPr lang="zh-CN" altLang="en-US"/>
        </a:p>
      </dgm:t>
    </dgm:pt>
    <dgm:pt modelId="{25AAB105-FE87-4428-9AC7-0D8FF0A98AAF}" type="pres">
      <dgm:prSet presAssocID="{46C74396-B132-4CDC-834A-4CDAE1D1A652}" presName="linearFlow" presStyleCnt="0">
        <dgm:presLayoutVars>
          <dgm:dir/>
          <dgm:animLvl val="lvl"/>
          <dgm:resizeHandles val="exact"/>
        </dgm:presLayoutVars>
      </dgm:prSet>
      <dgm:spPr/>
      <dgm:t>
        <a:bodyPr/>
        <a:lstStyle/>
        <a:p>
          <a:endParaRPr lang="zh-CN" altLang="en-US"/>
        </a:p>
      </dgm:t>
    </dgm:pt>
    <dgm:pt modelId="{7B78F930-F183-4EBA-893A-DA8102F5EF2E}" type="pres">
      <dgm:prSet presAssocID="{A7D216EF-1CC6-4922-B6C5-0D0B3632DFB7}" presName="composite" presStyleCnt="0"/>
      <dgm:spPr/>
    </dgm:pt>
    <dgm:pt modelId="{7025EDF0-DF87-4927-9B13-48A072C53FAB}" type="pres">
      <dgm:prSet presAssocID="{A7D216EF-1CC6-4922-B6C5-0D0B3632DFB7}" presName="parentText" presStyleLbl="alignNode1" presStyleIdx="0" presStyleCnt="3" custScaleX="103788" custLinFactNeighborX="-1278">
        <dgm:presLayoutVars>
          <dgm:chMax val="1"/>
          <dgm:bulletEnabled val="1"/>
        </dgm:presLayoutVars>
      </dgm:prSet>
      <dgm:spPr/>
      <dgm:t>
        <a:bodyPr/>
        <a:lstStyle/>
        <a:p>
          <a:endParaRPr lang="zh-CN" altLang="en-US"/>
        </a:p>
      </dgm:t>
    </dgm:pt>
    <dgm:pt modelId="{AC07C0B1-0571-4F32-975F-E6674EA290F7}" type="pres">
      <dgm:prSet presAssocID="{A7D216EF-1CC6-4922-B6C5-0D0B3632DFB7}" presName="descendantText" presStyleLbl="alignAcc1" presStyleIdx="0" presStyleCnt="3" custScaleY="100000" custLinFactNeighborY="3123">
        <dgm:presLayoutVars>
          <dgm:bulletEnabled val="1"/>
        </dgm:presLayoutVars>
      </dgm:prSet>
      <dgm:spPr/>
      <dgm:t>
        <a:bodyPr/>
        <a:lstStyle/>
        <a:p>
          <a:endParaRPr lang="zh-CN" altLang="en-US"/>
        </a:p>
      </dgm:t>
    </dgm:pt>
    <dgm:pt modelId="{3B4A776A-4F60-4272-9F13-294C465F3D88}" type="pres">
      <dgm:prSet presAssocID="{107463A6-6511-4077-A7C7-5D304FA25478}" presName="sp" presStyleCnt="0"/>
      <dgm:spPr/>
    </dgm:pt>
    <dgm:pt modelId="{A7C9F600-B58F-46CE-9104-8D36EFBAA7AC}" type="pres">
      <dgm:prSet presAssocID="{B9497FEF-5546-4128-A091-05065B18CA34}" presName="composite" presStyleCnt="0"/>
      <dgm:spPr/>
    </dgm:pt>
    <dgm:pt modelId="{7271C218-2752-485F-AFAD-BED97068C1D6}" type="pres">
      <dgm:prSet presAssocID="{B9497FEF-5546-4128-A091-05065B18CA34}" presName="parentText" presStyleLbl="alignNode1" presStyleIdx="1" presStyleCnt="3">
        <dgm:presLayoutVars>
          <dgm:chMax val="1"/>
          <dgm:bulletEnabled val="1"/>
        </dgm:presLayoutVars>
      </dgm:prSet>
      <dgm:spPr/>
      <dgm:t>
        <a:bodyPr/>
        <a:lstStyle/>
        <a:p>
          <a:endParaRPr lang="zh-CN" altLang="en-US"/>
        </a:p>
      </dgm:t>
    </dgm:pt>
    <dgm:pt modelId="{F37FFDCE-17C9-4208-9FB4-2FC21FC66D27}" type="pres">
      <dgm:prSet presAssocID="{B9497FEF-5546-4128-A091-05065B18CA34}" presName="descendantText" presStyleLbl="alignAcc1" presStyleIdx="1" presStyleCnt="3" custScaleY="119995" custLinFactNeighborX="259" custLinFactNeighborY="2289">
        <dgm:presLayoutVars>
          <dgm:bulletEnabled val="1"/>
        </dgm:presLayoutVars>
      </dgm:prSet>
      <dgm:spPr/>
      <dgm:t>
        <a:bodyPr/>
        <a:lstStyle/>
        <a:p>
          <a:endParaRPr lang="zh-CN" altLang="en-US"/>
        </a:p>
      </dgm:t>
    </dgm:pt>
    <dgm:pt modelId="{9D56AEEE-87B4-4E73-BB8E-A961CBAE91D6}" type="pres">
      <dgm:prSet presAssocID="{FEA886D9-130D-48E7-B8FF-C74EFC01BD73}" presName="sp" presStyleCnt="0"/>
      <dgm:spPr/>
    </dgm:pt>
    <dgm:pt modelId="{85FB3288-04BC-468D-BC82-B5EC319BBF30}" type="pres">
      <dgm:prSet presAssocID="{510CF909-F6CC-4EA1-8637-7E652EEE6399}" presName="composite" presStyleCnt="0"/>
      <dgm:spPr/>
    </dgm:pt>
    <dgm:pt modelId="{8C408CDA-E92F-472E-B29E-27C907C24381}" type="pres">
      <dgm:prSet presAssocID="{510CF909-F6CC-4EA1-8637-7E652EEE6399}" presName="parentText" presStyleLbl="alignNode1" presStyleIdx="2" presStyleCnt="3" custLinFactNeighborY="-10433">
        <dgm:presLayoutVars>
          <dgm:chMax val="1"/>
          <dgm:bulletEnabled val="1"/>
        </dgm:presLayoutVars>
      </dgm:prSet>
      <dgm:spPr/>
      <dgm:t>
        <a:bodyPr/>
        <a:lstStyle/>
        <a:p>
          <a:endParaRPr lang="zh-CN" altLang="en-US"/>
        </a:p>
      </dgm:t>
    </dgm:pt>
    <dgm:pt modelId="{1683C194-8780-442E-88E1-EDCB9360945B}" type="pres">
      <dgm:prSet presAssocID="{510CF909-F6CC-4EA1-8637-7E652EEE6399}" presName="descendantText" presStyleLbl="alignAcc1" presStyleIdx="2" presStyleCnt="3" custScaleY="149315" custLinFactNeighborX="137" custLinFactNeighborY="1609">
        <dgm:presLayoutVars>
          <dgm:bulletEnabled val="1"/>
        </dgm:presLayoutVars>
      </dgm:prSet>
      <dgm:spPr/>
      <dgm:t>
        <a:bodyPr/>
        <a:lstStyle/>
        <a:p>
          <a:endParaRPr lang="zh-CN" altLang="en-US"/>
        </a:p>
      </dgm:t>
    </dgm:pt>
  </dgm:ptLst>
  <dgm:cxnLst>
    <dgm:cxn modelId="{147E2A6F-EE79-46A5-B351-599BBCBC79D3}" srcId="{B9497FEF-5546-4128-A091-05065B18CA34}" destId="{B92880BC-21E1-4EF1-B583-F59A965AD62A}" srcOrd="0" destOrd="0" parTransId="{B3E2C527-B746-44A6-914C-8154DEED0316}" sibTransId="{11D493B8-7D70-4841-A904-994A3AED6535}"/>
    <dgm:cxn modelId="{5D3D7BF7-0C7A-4BDB-A396-30B626E62E71}" srcId="{B9497FEF-5546-4128-A091-05065B18CA34}" destId="{84D57974-B432-4AE1-8C66-A435030D4657}" srcOrd="2" destOrd="0" parTransId="{C4711036-786E-4202-959F-0986008DCB4A}" sibTransId="{5AFB8079-F4CB-4982-BF0A-922E84A38E78}"/>
    <dgm:cxn modelId="{CCB2C068-EF9E-4FC1-B9DA-3640D2699B75}" type="presOf" srcId="{510CF909-F6CC-4EA1-8637-7E652EEE6399}" destId="{8C408CDA-E92F-472E-B29E-27C907C24381}" srcOrd="0" destOrd="0" presId="urn:microsoft.com/office/officeart/2005/8/layout/chevron2"/>
    <dgm:cxn modelId="{E37625C2-A5D7-41A4-AF76-B2E6B6600319}" srcId="{A7D216EF-1CC6-4922-B6C5-0D0B3632DFB7}" destId="{E8C85801-D847-4F48-96F9-55A93732915B}" srcOrd="1" destOrd="0" parTransId="{77D3B5E2-719C-453E-9237-0A3DB29704D3}" sibTransId="{8638D784-B690-4351-8139-EDF3FFE2C962}"/>
    <dgm:cxn modelId="{77985BC5-6175-40E7-A25A-5A2DA3B532FE}" type="presOf" srcId="{4D87263E-D85F-4990-BB58-DAB8DC9E9D43}" destId="{F37FFDCE-17C9-4208-9FB4-2FC21FC66D27}" srcOrd="0" destOrd="1" presId="urn:microsoft.com/office/officeart/2005/8/layout/chevron2"/>
    <dgm:cxn modelId="{07D9CACA-A1BC-420B-B5E0-A0683F41B273}" srcId="{A7D216EF-1CC6-4922-B6C5-0D0B3632DFB7}" destId="{FEF0A3BD-43E7-4B12-95D9-83D3181A8BEB}" srcOrd="0" destOrd="0" parTransId="{6F87C2DA-68E6-4A4D-8113-F384ED48164E}" sibTransId="{974615E0-5C9C-42DD-B106-8C1867B41975}"/>
    <dgm:cxn modelId="{44C311CE-A35A-4380-8E3D-3C1EF2AA2CFC}" srcId="{46C74396-B132-4CDC-834A-4CDAE1D1A652}" destId="{A7D216EF-1CC6-4922-B6C5-0D0B3632DFB7}" srcOrd="0" destOrd="0" parTransId="{895C243F-A5C9-4133-BED6-880965CA7D66}" sibTransId="{107463A6-6511-4077-A7C7-5D304FA25478}"/>
    <dgm:cxn modelId="{E173F2F7-A948-48F6-9AE0-945BAC25BD0D}" srcId="{510CF909-F6CC-4EA1-8637-7E652EEE6399}" destId="{08FCA213-4E58-4ADA-95C4-F47628DD4B33}" srcOrd="2" destOrd="0" parTransId="{609AC512-B6D5-4096-9160-D7E47A62731A}" sibTransId="{0509E9BB-8220-4AD5-AEEA-A257CD2DB52A}"/>
    <dgm:cxn modelId="{C05AC42E-138B-4CA2-BB33-B6AFC9599B78}" type="presOf" srcId="{FEF0A3BD-43E7-4B12-95D9-83D3181A8BEB}" destId="{AC07C0B1-0571-4F32-975F-E6674EA290F7}" srcOrd="0" destOrd="0" presId="urn:microsoft.com/office/officeart/2005/8/layout/chevron2"/>
    <dgm:cxn modelId="{422AA3B8-3AE8-4B25-A3F6-BF51D88EEDEA}" type="presOf" srcId="{46C74396-B132-4CDC-834A-4CDAE1D1A652}" destId="{25AAB105-FE87-4428-9AC7-0D8FF0A98AAF}" srcOrd="0" destOrd="0" presId="urn:microsoft.com/office/officeart/2005/8/layout/chevron2"/>
    <dgm:cxn modelId="{321CC7FB-253F-464F-9946-C9B81B5907E3}" srcId="{510CF909-F6CC-4EA1-8637-7E652EEE6399}" destId="{C64AC37B-DED3-4E6E-8C7D-B1E2EFF06A8B}" srcOrd="1" destOrd="0" parTransId="{D59D470C-4FC1-4E49-AC24-908854C8E7C6}" sibTransId="{6D5EF14E-E0BD-49EF-8531-4E19298A4AA0}"/>
    <dgm:cxn modelId="{C69EEB17-DEA9-4449-8D28-43084F41761C}" srcId="{B9497FEF-5546-4128-A091-05065B18CA34}" destId="{4D87263E-D85F-4990-BB58-DAB8DC9E9D43}" srcOrd="1" destOrd="0" parTransId="{16303A20-50C5-44A0-8383-B63525BBF634}" sibTransId="{2FF68AE2-3E63-4E53-89F6-40EB77F68F48}"/>
    <dgm:cxn modelId="{CAF7BE28-7F64-4F61-9304-C4D3C487D383}" type="presOf" srcId="{08FCA213-4E58-4ADA-95C4-F47628DD4B33}" destId="{1683C194-8780-442E-88E1-EDCB9360945B}" srcOrd="0" destOrd="2" presId="urn:microsoft.com/office/officeart/2005/8/layout/chevron2"/>
    <dgm:cxn modelId="{CCBEF8D1-862F-4607-8D63-362A55A6EA5C}" type="presOf" srcId="{84D57974-B432-4AE1-8C66-A435030D4657}" destId="{F37FFDCE-17C9-4208-9FB4-2FC21FC66D27}" srcOrd="0" destOrd="2" presId="urn:microsoft.com/office/officeart/2005/8/layout/chevron2"/>
    <dgm:cxn modelId="{DAB7B435-CFB3-412C-BE31-633ED1FEF41A}" type="presOf" srcId="{B9497FEF-5546-4128-A091-05065B18CA34}" destId="{7271C218-2752-485F-AFAD-BED97068C1D6}" srcOrd="0" destOrd="0" presId="urn:microsoft.com/office/officeart/2005/8/layout/chevron2"/>
    <dgm:cxn modelId="{D4AB38D3-0E2B-4503-9A36-DCB2913A202C}" srcId="{46C74396-B132-4CDC-834A-4CDAE1D1A652}" destId="{510CF909-F6CC-4EA1-8637-7E652EEE6399}" srcOrd="2" destOrd="0" parTransId="{59C697ED-73BF-440A-A83D-DB8A051E974B}" sibTransId="{10FD02C4-4922-45C6-B9EB-A6C28B1CFB88}"/>
    <dgm:cxn modelId="{E2608EEB-2FCC-4C42-8266-AB682348D13A}" srcId="{46C74396-B132-4CDC-834A-4CDAE1D1A652}" destId="{B9497FEF-5546-4128-A091-05065B18CA34}" srcOrd="1" destOrd="0" parTransId="{472E4583-8526-4505-B743-256E723D09E7}" sibTransId="{FEA886D9-130D-48E7-B8FF-C74EFC01BD73}"/>
    <dgm:cxn modelId="{D1AAC06F-5A75-4982-A004-785C85C063D0}" type="presOf" srcId="{C64AC37B-DED3-4E6E-8C7D-B1E2EFF06A8B}" destId="{1683C194-8780-442E-88E1-EDCB9360945B}" srcOrd="0" destOrd="1" presId="urn:microsoft.com/office/officeart/2005/8/layout/chevron2"/>
    <dgm:cxn modelId="{722CA8CB-2982-4AD2-A17A-4853193DC6F3}" type="presOf" srcId="{A7D216EF-1CC6-4922-B6C5-0D0B3632DFB7}" destId="{7025EDF0-DF87-4927-9B13-48A072C53FAB}" srcOrd="0" destOrd="0" presId="urn:microsoft.com/office/officeart/2005/8/layout/chevron2"/>
    <dgm:cxn modelId="{EDAF71F1-BA94-442C-8600-3D9AE9689D5D}" type="presOf" srcId="{67DAB766-ADEC-4BF5-8D83-9BE1ACCE2BBA}" destId="{1683C194-8780-442E-88E1-EDCB9360945B}" srcOrd="0" destOrd="0" presId="urn:microsoft.com/office/officeart/2005/8/layout/chevron2"/>
    <dgm:cxn modelId="{B6BF1D9D-756B-48C2-8AC3-AC39A0025C49}" srcId="{510CF909-F6CC-4EA1-8637-7E652EEE6399}" destId="{67DAB766-ADEC-4BF5-8D83-9BE1ACCE2BBA}" srcOrd="0" destOrd="0" parTransId="{7DD309FE-8E21-46D9-9870-0EC0F16B6377}" sibTransId="{59BA63FA-34D0-4A85-9C0A-9CFFC5E13D48}"/>
    <dgm:cxn modelId="{CE0AC550-A52C-4BD7-A4A7-EB1EEA257326}" type="presOf" srcId="{E8C85801-D847-4F48-96F9-55A93732915B}" destId="{AC07C0B1-0571-4F32-975F-E6674EA290F7}" srcOrd="0" destOrd="1" presId="urn:microsoft.com/office/officeart/2005/8/layout/chevron2"/>
    <dgm:cxn modelId="{CF01669C-7F6E-4D49-9A53-90E1D0C099E6}" type="presOf" srcId="{B92880BC-21E1-4EF1-B583-F59A965AD62A}" destId="{F37FFDCE-17C9-4208-9FB4-2FC21FC66D27}" srcOrd="0" destOrd="0" presId="urn:microsoft.com/office/officeart/2005/8/layout/chevron2"/>
    <dgm:cxn modelId="{D3F4BEF2-C97D-4DD8-BE78-AAE708E2F63F}" type="presParOf" srcId="{25AAB105-FE87-4428-9AC7-0D8FF0A98AAF}" destId="{7B78F930-F183-4EBA-893A-DA8102F5EF2E}" srcOrd="0" destOrd="0" presId="urn:microsoft.com/office/officeart/2005/8/layout/chevron2"/>
    <dgm:cxn modelId="{4D04597A-CC8A-40EA-BEFE-808493C87D5E}" type="presParOf" srcId="{7B78F930-F183-4EBA-893A-DA8102F5EF2E}" destId="{7025EDF0-DF87-4927-9B13-48A072C53FAB}" srcOrd="0" destOrd="0" presId="urn:microsoft.com/office/officeart/2005/8/layout/chevron2"/>
    <dgm:cxn modelId="{E74BE952-60FD-4FC7-BBF6-D2A41D05DC8A}" type="presParOf" srcId="{7B78F930-F183-4EBA-893A-DA8102F5EF2E}" destId="{AC07C0B1-0571-4F32-975F-E6674EA290F7}" srcOrd="1" destOrd="0" presId="urn:microsoft.com/office/officeart/2005/8/layout/chevron2"/>
    <dgm:cxn modelId="{10B8F981-5780-42ED-8B16-D8FF4E782037}" type="presParOf" srcId="{25AAB105-FE87-4428-9AC7-0D8FF0A98AAF}" destId="{3B4A776A-4F60-4272-9F13-294C465F3D88}" srcOrd="1" destOrd="0" presId="urn:microsoft.com/office/officeart/2005/8/layout/chevron2"/>
    <dgm:cxn modelId="{AFF31DDE-22F1-4BA4-81F4-4F862C3A26B5}" type="presParOf" srcId="{25AAB105-FE87-4428-9AC7-0D8FF0A98AAF}" destId="{A7C9F600-B58F-46CE-9104-8D36EFBAA7AC}" srcOrd="2" destOrd="0" presId="urn:microsoft.com/office/officeart/2005/8/layout/chevron2"/>
    <dgm:cxn modelId="{ABA85E9C-46C6-4D59-A1D8-C378E7D5FDD5}" type="presParOf" srcId="{A7C9F600-B58F-46CE-9104-8D36EFBAA7AC}" destId="{7271C218-2752-485F-AFAD-BED97068C1D6}" srcOrd="0" destOrd="0" presId="urn:microsoft.com/office/officeart/2005/8/layout/chevron2"/>
    <dgm:cxn modelId="{D5BC3A07-5233-41E9-914D-AE7E8F06494A}" type="presParOf" srcId="{A7C9F600-B58F-46CE-9104-8D36EFBAA7AC}" destId="{F37FFDCE-17C9-4208-9FB4-2FC21FC66D27}" srcOrd="1" destOrd="0" presId="urn:microsoft.com/office/officeart/2005/8/layout/chevron2"/>
    <dgm:cxn modelId="{74F47BA4-4A86-47F2-8D91-7C8400F61705}" type="presParOf" srcId="{25AAB105-FE87-4428-9AC7-0D8FF0A98AAF}" destId="{9D56AEEE-87B4-4E73-BB8E-A961CBAE91D6}" srcOrd="3" destOrd="0" presId="urn:microsoft.com/office/officeart/2005/8/layout/chevron2"/>
    <dgm:cxn modelId="{BB25452B-C76B-4FE7-886C-8D2363EC26B4}" type="presParOf" srcId="{25AAB105-FE87-4428-9AC7-0D8FF0A98AAF}" destId="{85FB3288-04BC-468D-BC82-B5EC319BBF30}" srcOrd="4" destOrd="0" presId="urn:microsoft.com/office/officeart/2005/8/layout/chevron2"/>
    <dgm:cxn modelId="{3C983A13-ADCF-4801-BFE0-38C2768F6294}" type="presParOf" srcId="{85FB3288-04BC-468D-BC82-B5EC319BBF30}" destId="{8C408CDA-E92F-472E-B29E-27C907C24381}" srcOrd="0" destOrd="0" presId="urn:microsoft.com/office/officeart/2005/8/layout/chevron2"/>
    <dgm:cxn modelId="{EF76F792-0FCE-4F79-A906-CCD63A540C93}" type="presParOf" srcId="{85FB3288-04BC-468D-BC82-B5EC319BBF30}" destId="{1683C194-8780-442E-88E1-EDCB9360945B}" srcOrd="1" destOrd="0" presId="urn:microsoft.com/office/officeart/2005/8/layout/chevron2"/>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AAF389C-85AD-4E19-A880-E82DDEB6326D}"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zh-CN" altLang="en-US"/>
        </a:p>
      </dgm:t>
    </dgm:pt>
    <dgm:pt modelId="{7B7E846E-DCC8-4CCC-A847-53FA8B147F23}">
      <dgm:prSet phldrT="[文本]"/>
      <dgm:spPr>
        <a:solidFill>
          <a:srgbClr val="00B0F0"/>
        </a:solidFill>
      </dgm:spPr>
      <dgm:t>
        <a:bodyPr/>
        <a:lstStyle/>
        <a:p>
          <a:r>
            <a:rPr lang="en-US" altLang="zh-CN" dirty="0" smtClean="0"/>
            <a:t>Mode 1</a:t>
          </a:r>
          <a:endParaRPr lang="zh-CN" altLang="en-US" dirty="0"/>
        </a:p>
      </dgm:t>
    </dgm:pt>
    <dgm:pt modelId="{89A4AD40-D72F-45F0-A274-75509278697A}" type="parTrans" cxnId="{2A6938EE-6020-4ED8-83BE-5FE67F26227F}">
      <dgm:prSet/>
      <dgm:spPr/>
      <dgm:t>
        <a:bodyPr/>
        <a:lstStyle/>
        <a:p>
          <a:endParaRPr lang="zh-CN" altLang="en-US"/>
        </a:p>
      </dgm:t>
    </dgm:pt>
    <dgm:pt modelId="{21B8898B-A3B7-47DF-8B66-2C26E194443E}" type="sibTrans" cxnId="{2A6938EE-6020-4ED8-83BE-5FE67F26227F}">
      <dgm:prSet/>
      <dgm:spPr/>
      <dgm:t>
        <a:bodyPr/>
        <a:lstStyle/>
        <a:p>
          <a:endParaRPr lang="zh-CN" altLang="en-US"/>
        </a:p>
      </dgm:t>
    </dgm:pt>
    <dgm:pt modelId="{1AD54BDC-ADC4-4E27-A4D0-2895A1094723}">
      <dgm:prSet phldrT="[文本]" custT="1"/>
      <dgm:spPr/>
      <dgm:t>
        <a:bodyPr/>
        <a:lstStyle/>
        <a:p>
          <a:r>
            <a:rPr lang="en-US" altLang="zh-CN" sz="1400" dirty="0" smtClean="0"/>
            <a:t>Early phase of lunch phase</a:t>
          </a:r>
          <a:endParaRPr lang="zh-CN" altLang="en-US" sz="1400" dirty="0"/>
        </a:p>
      </dgm:t>
    </dgm:pt>
    <dgm:pt modelId="{560C859C-7516-494E-B1F8-9AF2C5433191}" type="parTrans" cxnId="{A895AEAD-D4BA-4377-B522-CCF94589D709}">
      <dgm:prSet/>
      <dgm:spPr/>
      <dgm:t>
        <a:bodyPr/>
        <a:lstStyle/>
        <a:p>
          <a:endParaRPr lang="zh-CN" altLang="en-US"/>
        </a:p>
      </dgm:t>
    </dgm:pt>
    <dgm:pt modelId="{CA278869-975A-43CC-9475-C95AED07F5D9}" type="sibTrans" cxnId="{A895AEAD-D4BA-4377-B522-CCF94589D709}">
      <dgm:prSet/>
      <dgm:spPr/>
      <dgm:t>
        <a:bodyPr/>
        <a:lstStyle/>
        <a:p>
          <a:endParaRPr lang="zh-CN" altLang="en-US"/>
        </a:p>
      </dgm:t>
    </dgm:pt>
    <dgm:pt modelId="{FCE5DA9E-CE53-4034-B5D7-03D8E7F0E182}">
      <dgm:prSet phldrT="[文本]" custT="1"/>
      <dgm:spPr/>
      <dgm:t>
        <a:bodyPr/>
        <a:lstStyle/>
        <a:p>
          <a:r>
            <a:rPr lang="en-US" altLang="zh-CN" sz="1400" dirty="0" smtClean="0"/>
            <a:t>Out of the ground station’s access</a:t>
          </a:r>
          <a:endParaRPr lang="zh-CN" altLang="en-US" sz="1400" dirty="0"/>
        </a:p>
      </dgm:t>
    </dgm:pt>
    <dgm:pt modelId="{9529BB13-A976-4384-9973-D36DE2E43B6A}" type="parTrans" cxnId="{B540CF40-3C2F-4A18-BF86-C09A5852075A}">
      <dgm:prSet/>
      <dgm:spPr/>
      <dgm:t>
        <a:bodyPr/>
        <a:lstStyle/>
        <a:p>
          <a:endParaRPr lang="zh-CN" altLang="en-US"/>
        </a:p>
      </dgm:t>
    </dgm:pt>
    <dgm:pt modelId="{1D9CE4FF-727F-45D3-AF27-DE964E7374B4}" type="sibTrans" cxnId="{B540CF40-3C2F-4A18-BF86-C09A5852075A}">
      <dgm:prSet/>
      <dgm:spPr/>
      <dgm:t>
        <a:bodyPr/>
        <a:lstStyle/>
        <a:p>
          <a:endParaRPr lang="zh-CN" altLang="en-US"/>
        </a:p>
      </dgm:t>
    </dgm:pt>
    <dgm:pt modelId="{B1D750DD-BBCC-40E8-BE18-863176CDEDEC}">
      <dgm:prSet phldrT="[文本]"/>
      <dgm:spPr>
        <a:solidFill>
          <a:srgbClr val="00B0F0"/>
        </a:solidFill>
      </dgm:spPr>
      <dgm:t>
        <a:bodyPr/>
        <a:lstStyle/>
        <a:p>
          <a:r>
            <a:rPr lang="en-US" altLang="zh-CN" dirty="0" smtClean="0"/>
            <a:t>Mode 2</a:t>
          </a:r>
          <a:endParaRPr lang="zh-CN" altLang="en-US" dirty="0"/>
        </a:p>
      </dgm:t>
    </dgm:pt>
    <dgm:pt modelId="{D62961B8-4B7F-46DB-AE43-21048B9A05E3}" type="parTrans" cxnId="{096641B2-DEB4-408F-AD29-4243342BEFF3}">
      <dgm:prSet/>
      <dgm:spPr/>
      <dgm:t>
        <a:bodyPr/>
        <a:lstStyle/>
        <a:p>
          <a:endParaRPr lang="zh-CN" altLang="en-US"/>
        </a:p>
      </dgm:t>
    </dgm:pt>
    <dgm:pt modelId="{16506A38-BBEA-40A0-8609-C0C0F3E9CF73}" type="sibTrans" cxnId="{096641B2-DEB4-408F-AD29-4243342BEFF3}">
      <dgm:prSet/>
      <dgm:spPr/>
      <dgm:t>
        <a:bodyPr/>
        <a:lstStyle/>
        <a:p>
          <a:endParaRPr lang="zh-CN" altLang="en-US"/>
        </a:p>
      </dgm:t>
    </dgm:pt>
    <dgm:pt modelId="{7230597C-B083-4F66-AFB3-FE38B1AC6143}">
      <dgm:prSet phldrT="[文本]" custT="1"/>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en-US" sz="1800" dirty="0" smtClean="0"/>
            <a:t>When the satellite passing the ground station, and GS is sending TC.</a:t>
          </a:r>
          <a:endParaRPr lang="zh-CN" altLang="en-US" sz="1800" dirty="0" smtClean="0"/>
        </a:p>
        <a:p>
          <a:pPr marL="171450" indent="0" defTabSz="800100">
            <a:lnSpc>
              <a:spcPct val="90000"/>
            </a:lnSpc>
            <a:spcBef>
              <a:spcPct val="0"/>
            </a:spcBef>
            <a:spcAft>
              <a:spcPct val="15000"/>
            </a:spcAft>
            <a:buNone/>
          </a:pPr>
          <a:endParaRPr lang="zh-CN" altLang="en-US" sz="1800" dirty="0"/>
        </a:p>
      </dgm:t>
    </dgm:pt>
    <dgm:pt modelId="{51BC4EFD-A4B1-46D9-B686-8D89264CC2E1}" type="parTrans" cxnId="{067B9D1F-D4C9-42BE-A3AB-AE9B1BF80187}">
      <dgm:prSet/>
      <dgm:spPr/>
      <dgm:t>
        <a:bodyPr/>
        <a:lstStyle/>
        <a:p>
          <a:endParaRPr lang="zh-CN" altLang="en-US"/>
        </a:p>
      </dgm:t>
    </dgm:pt>
    <dgm:pt modelId="{9D8E87EC-0DB4-4C08-BF14-C2A52C53439E}" type="sibTrans" cxnId="{067B9D1F-D4C9-42BE-A3AB-AE9B1BF80187}">
      <dgm:prSet/>
      <dgm:spPr/>
      <dgm:t>
        <a:bodyPr/>
        <a:lstStyle/>
        <a:p>
          <a:endParaRPr lang="zh-CN" altLang="en-US"/>
        </a:p>
      </dgm:t>
    </dgm:pt>
    <dgm:pt modelId="{5C30C55D-9557-44B9-B24C-1652066B92BC}">
      <dgm:prSet phldrT="[文本]" custT="1"/>
      <dgm:spPr/>
      <dgm:t>
        <a:bodyPr/>
        <a:lstStyle/>
        <a:p>
          <a:r>
            <a:rPr lang="en-US" altLang="zh-CN" sz="1400" dirty="0" smtClean="0"/>
            <a:t>When the satellite just fly into the ground station’s view, and the transponder has not capture the uplink signal.</a:t>
          </a:r>
          <a:endParaRPr lang="zh-CN" altLang="en-US" sz="1400" dirty="0"/>
        </a:p>
      </dgm:t>
    </dgm:pt>
    <dgm:pt modelId="{3F1E175C-BB6B-455C-B728-DF8D3DE3952B}" type="parTrans" cxnId="{5E632FAB-B2C7-436A-9835-016FAE91170A}">
      <dgm:prSet/>
      <dgm:spPr/>
      <dgm:t>
        <a:bodyPr/>
        <a:lstStyle/>
        <a:p>
          <a:endParaRPr lang="zh-CN" altLang="en-US"/>
        </a:p>
      </dgm:t>
    </dgm:pt>
    <dgm:pt modelId="{8A684B13-3B3A-4BAF-9185-07FBCF1D829C}" type="sibTrans" cxnId="{5E632FAB-B2C7-436A-9835-016FAE91170A}">
      <dgm:prSet/>
      <dgm:spPr/>
      <dgm:t>
        <a:bodyPr/>
        <a:lstStyle/>
        <a:p>
          <a:endParaRPr lang="zh-CN" altLang="en-US"/>
        </a:p>
      </dgm:t>
    </dgm:pt>
    <dgm:pt modelId="{32BDDE44-74A5-4207-A0C5-B430E1B33749}">
      <dgm:prSet phldrT="[文本]" custT="1"/>
      <dgm:spPr/>
      <dgm:t>
        <a:bodyPr/>
        <a:lstStyle/>
        <a:p>
          <a:r>
            <a:rPr lang="en-US" sz="1400" dirty="0" smtClean="0"/>
            <a:t>When the satellite pass the ground station, and there is no TC</a:t>
          </a:r>
          <a:endParaRPr lang="zh-CN" altLang="en-US" sz="1400" b="1" dirty="0"/>
        </a:p>
      </dgm:t>
    </dgm:pt>
    <dgm:pt modelId="{63B02471-C78C-41AD-AC42-87A8639C2E29}" type="parTrans" cxnId="{09C6F9E3-2D21-4AC3-BC2D-410B865437F9}">
      <dgm:prSet/>
      <dgm:spPr/>
      <dgm:t>
        <a:bodyPr/>
        <a:lstStyle/>
        <a:p>
          <a:endParaRPr lang="zh-CN" altLang="en-US"/>
        </a:p>
      </dgm:t>
    </dgm:pt>
    <dgm:pt modelId="{09558D6C-923D-417C-AB31-A14A24803256}" type="sibTrans" cxnId="{09C6F9E3-2D21-4AC3-BC2D-410B865437F9}">
      <dgm:prSet/>
      <dgm:spPr/>
      <dgm:t>
        <a:bodyPr/>
        <a:lstStyle/>
        <a:p>
          <a:endParaRPr lang="zh-CN" altLang="en-US"/>
        </a:p>
      </dgm:t>
    </dgm:pt>
    <dgm:pt modelId="{419F1CF2-6ED4-4C14-95D1-0DA9AFDE18A9}" type="pres">
      <dgm:prSet presAssocID="{8AAF389C-85AD-4E19-A880-E82DDEB6326D}" presName="linearFlow" presStyleCnt="0">
        <dgm:presLayoutVars>
          <dgm:dir/>
          <dgm:animLvl val="lvl"/>
          <dgm:resizeHandles val="exact"/>
        </dgm:presLayoutVars>
      </dgm:prSet>
      <dgm:spPr/>
      <dgm:t>
        <a:bodyPr/>
        <a:lstStyle/>
        <a:p>
          <a:endParaRPr lang="zh-CN" altLang="en-US"/>
        </a:p>
      </dgm:t>
    </dgm:pt>
    <dgm:pt modelId="{32D53FD4-22B1-48B8-997A-7370BBAFF43C}" type="pres">
      <dgm:prSet presAssocID="{7B7E846E-DCC8-4CCC-A847-53FA8B147F23}" presName="composite" presStyleCnt="0"/>
      <dgm:spPr/>
    </dgm:pt>
    <dgm:pt modelId="{4F3E2660-680B-4282-9873-C49BE5C9E1BF}" type="pres">
      <dgm:prSet presAssocID="{7B7E846E-DCC8-4CCC-A847-53FA8B147F23}" presName="parentText" presStyleLbl="alignNode1" presStyleIdx="0" presStyleCnt="2">
        <dgm:presLayoutVars>
          <dgm:chMax val="1"/>
          <dgm:bulletEnabled val="1"/>
        </dgm:presLayoutVars>
      </dgm:prSet>
      <dgm:spPr/>
      <dgm:t>
        <a:bodyPr/>
        <a:lstStyle/>
        <a:p>
          <a:endParaRPr lang="zh-CN" altLang="en-US"/>
        </a:p>
      </dgm:t>
    </dgm:pt>
    <dgm:pt modelId="{CB894DFC-48A2-4751-BF3D-BBCA19DA08E2}" type="pres">
      <dgm:prSet presAssocID="{7B7E846E-DCC8-4CCC-A847-53FA8B147F23}" presName="descendantText" presStyleLbl="alignAcc1" presStyleIdx="0" presStyleCnt="2" custScaleY="151202">
        <dgm:presLayoutVars>
          <dgm:bulletEnabled val="1"/>
        </dgm:presLayoutVars>
      </dgm:prSet>
      <dgm:spPr/>
      <dgm:t>
        <a:bodyPr/>
        <a:lstStyle/>
        <a:p>
          <a:endParaRPr lang="zh-CN" altLang="en-US"/>
        </a:p>
      </dgm:t>
    </dgm:pt>
    <dgm:pt modelId="{5C8AD0B9-6265-4D01-B652-FB891C99BAE9}" type="pres">
      <dgm:prSet presAssocID="{21B8898B-A3B7-47DF-8B66-2C26E194443E}" presName="sp" presStyleCnt="0"/>
      <dgm:spPr/>
    </dgm:pt>
    <dgm:pt modelId="{659A7AC2-9B7B-4C0D-9919-A861BF890E35}" type="pres">
      <dgm:prSet presAssocID="{B1D750DD-BBCC-40E8-BE18-863176CDEDEC}" presName="composite" presStyleCnt="0"/>
      <dgm:spPr/>
    </dgm:pt>
    <dgm:pt modelId="{77F6D8EC-6488-4FB9-B305-E6EDC30A933D}" type="pres">
      <dgm:prSet presAssocID="{B1D750DD-BBCC-40E8-BE18-863176CDEDEC}" presName="parentText" presStyleLbl="alignNode1" presStyleIdx="1" presStyleCnt="2">
        <dgm:presLayoutVars>
          <dgm:chMax val="1"/>
          <dgm:bulletEnabled val="1"/>
        </dgm:presLayoutVars>
      </dgm:prSet>
      <dgm:spPr/>
      <dgm:t>
        <a:bodyPr/>
        <a:lstStyle/>
        <a:p>
          <a:endParaRPr lang="zh-CN" altLang="en-US"/>
        </a:p>
      </dgm:t>
    </dgm:pt>
    <dgm:pt modelId="{660035D1-0ACF-4742-8580-600705FDAFFE}" type="pres">
      <dgm:prSet presAssocID="{B1D750DD-BBCC-40E8-BE18-863176CDEDEC}" presName="descendantText" presStyleLbl="alignAcc1" presStyleIdx="1" presStyleCnt="2">
        <dgm:presLayoutVars>
          <dgm:bulletEnabled val="1"/>
        </dgm:presLayoutVars>
      </dgm:prSet>
      <dgm:spPr/>
      <dgm:t>
        <a:bodyPr/>
        <a:lstStyle/>
        <a:p>
          <a:endParaRPr lang="zh-CN" altLang="en-US"/>
        </a:p>
      </dgm:t>
    </dgm:pt>
  </dgm:ptLst>
  <dgm:cxnLst>
    <dgm:cxn modelId="{067B9D1F-D4C9-42BE-A3AB-AE9B1BF80187}" srcId="{B1D750DD-BBCC-40E8-BE18-863176CDEDEC}" destId="{7230597C-B083-4F66-AFB3-FE38B1AC6143}" srcOrd="0" destOrd="0" parTransId="{51BC4EFD-A4B1-46D9-B686-8D89264CC2E1}" sibTransId="{9D8E87EC-0DB4-4C08-BF14-C2A52C53439E}"/>
    <dgm:cxn modelId="{2A6938EE-6020-4ED8-83BE-5FE67F26227F}" srcId="{8AAF389C-85AD-4E19-A880-E82DDEB6326D}" destId="{7B7E846E-DCC8-4CCC-A847-53FA8B147F23}" srcOrd="0" destOrd="0" parTransId="{89A4AD40-D72F-45F0-A274-75509278697A}" sibTransId="{21B8898B-A3B7-47DF-8B66-2C26E194443E}"/>
    <dgm:cxn modelId="{E3A758F9-11B9-47DE-9426-6769226D48D2}" type="presOf" srcId="{32BDDE44-74A5-4207-A0C5-B430E1B33749}" destId="{CB894DFC-48A2-4751-BF3D-BBCA19DA08E2}" srcOrd="0" destOrd="3" presId="urn:microsoft.com/office/officeart/2005/8/layout/chevron2"/>
    <dgm:cxn modelId="{D5E8ECAD-4850-4C71-87C5-69716196C1B1}" type="presOf" srcId="{B1D750DD-BBCC-40E8-BE18-863176CDEDEC}" destId="{77F6D8EC-6488-4FB9-B305-E6EDC30A933D}" srcOrd="0" destOrd="0" presId="urn:microsoft.com/office/officeart/2005/8/layout/chevron2"/>
    <dgm:cxn modelId="{B540CF40-3C2F-4A18-BF86-C09A5852075A}" srcId="{7B7E846E-DCC8-4CCC-A847-53FA8B147F23}" destId="{FCE5DA9E-CE53-4034-B5D7-03D8E7F0E182}" srcOrd="1" destOrd="0" parTransId="{9529BB13-A976-4384-9973-D36DE2E43B6A}" sibTransId="{1D9CE4FF-727F-45D3-AF27-DE964E7374B4}"/>
    <dgm:cxn modelId="{E0CDCB82-F1BE-4717-B3F5-10735EA8BDB0}" type="presOf" srcId="{1AD54BDC-ADC4-4E27-A4D0-2895A1094723}" destId="{CB894DFC-48A2-4751-BF3D-BBCA19DA08E2}" srcOrd="0" destOrd="0" presId="urn:microsoft.com/office/officeart/2005/8/layout/chevron2"/>
    <dgm:cxn modelId="{C7AB40DA-56D6-427B-8247-1DFA4AC1248F}" type="presOf" srcId="{8AAF389C-85AD-4E19-A880-E82DDEB6326D}" destId="{419F1CF2-6ED4-4C14-95D1-0DA9AFDE18A9}" srcOrd="0" destOrd="0" presId="urn:microsoft.com/office/officeart/2005/8/layout/chevron2"/>
    <dgm:cxn modelId="{09C6F9E3-2D21-4AC3-BC2D-410B865437F9}" srcId="{7B7E846E-DCC8-4CCC-A847-53FA8B147F23}" destId="{32BDDE44-74A5-4207-A0C5-B430E1B33749}" srcOrd="3" destOrd="0" parTransId="{63B02471-C78C-41AD-AC42-87A8639C2E29}" sibTransId="{09558D6C-923D-417C-AB31-A14A24803256}"/>
    <dgm:cxn modelId="{5E632FAB-B2C7-436A-9835-016FAE91170A}" srcId="{7B7E846E-DCC8-4CCC-A847-53FA8B147F23}" destId="{5C30C55D-9557-44B9-B24C-1652066B92BC}" srcOrd="2" destOrd="0" parTransId="{3F1E175C-BB6B-455C-B728-DF8D3DE3952B}" sibTransId="{8A684B13-3B3A-4BAF-9185-07FBCF1D829C}"/>
    <dgm:cxn modelId="{E14483B4-3541-4399-93A8-2FF1004E891C}" type="presOf" srcId="{5C30C55D-9557-44B9-B24C-1652066B92BC}" destId="{CB894DFC-48A2-4751-BF3D-BBCA19DA08E2}" srcOrd="0" destOrd="2" presId="urn:microsoft.com/office/officeart/2005/8/layout/chevron2"/>
    <dgm:cxn modelId="{8295FBD0-7770-44C6-8AE9-4A758C4CD5BD}" type="presOf" srcId="{7230597C-B083-4F66-AFB3-FE38B1AC6143}" destId="{660035D1-0ACF-4742-8580-600705FDAFFE}" srcOrd="0" destOrd="0" presId="urn:microsoft.com/office/officeart/2005/8/layout/chevron2"/>
    <dgm:cxn modelId="{096641B2-DEB4-408F-AD29-4243342BEFF3}" srcId="{8AAF389C-85AD-4E19-A880-E82DDEB6326D}" destId="{B1D750DD-BBCC-40E8-BE18-863176CDEDEC}" srcOrd="1" destOrd="0" parTransId="{D62961B8-4B7F-46DB-AE43-21048B9A05E3}" sibTransId="{16506A38-BBEA-40A0-8609-C0C0F3E9CF73}"/>
    <dgm:cxn modelId="{FAC668BD-193D-4B15-8055-83AD0F573F5A}" type="presOf" srcId="{FCE5DA9E-CE53-4034-B5D7-03D8E7F0E182}" destId="{CB894DFC-48A2-4751-BF3D-BBCA19DA08E2}" srcOrd="0" destOrd="1" presId="urn:microsoft.com/office/officeart/2005/8/layout/chevron2"/>
    <dgm:cxn modelId="{A895AEAD-D4BA-4377-B522-CCF94589D709}" srcId="{7B7E846E-DCC8-4CCC-A847-53FA8B147F23}" destId="{1AD54BDC-ADC4-4E27-A4D0-2895A1094723}" srcOrd="0" destOrd="0" parTransId="{560C859C-7516-494E-B1F8-9AF2C5433191}" sibTransId="{CA278869-975A-43CC-9475-C95AED07F5D9}"/>
    <dgm:cxn modelId="{B138212A-9E4A-4C9F-8D93-BD437A0002B3}" type="presOf" srcId="{7B7E846E-DCC8-4CCC-A847-53FA8B147F23}" destId="{4F3E2660-680B-4282-9873-C49BE5C9E1BF}" srcOrd="0" destOrd="0" presId="urn:microsoft.com/office/officeart/2005/8/layout/chevron2"/>
    <dgm:cxn modelId="{493DFDD5-024D-48B7-BD98-B78EDD41DB4E}" type="presParOf" srcId="{419F1CF2-6ED4-4C14-95D1-0DA9AFDE18A9}" destId="{32D53FD4-22B1-48B8-997A-7370BBAFF43C}" srcOrd="0" destOrd="0" presId="urn:microsoft.com/office/officeart/2005/8/layout/chevron2"/>
    <dgm:cxn modelId="{6ED48C2D-D4FA-4496-BDA6-CCED1FC30DEB}" type="presParOf" srcId="{32D53FD4-22B1-48B8-997A-7370BBAFF43C}" destId="{4F3E2660-680B-4282-9873-C49BE5C9E1BF}" srcOrd="0" destOrd="0" presId="urn:microsoft.com/office/officeart/2005/8/layout/chevron2"/>
    <dgm:cxn modelId="{13624D80-BA88-4BE1-807E-A834FAFC5B8F}" type="presParOf" srcId="{32D53FD4-22B1-48B8-997A-7370BBAFF43C}" destId="{CB894DFC-48A2-4751-BF3D-BBCA19DA08E2}" srcOrd="1" destOrd="0" presId="urn:microsoft.com/office/officeart/2005/8/layout/chevron2"/>
    <dgm:cxn modelId="{B475A4EA-0260-45E5-856D-544D05C989D3}" type="presParOf" srcId="{419F1CF2-6ED4-4C14-95D1-0DA9AFDE18A9}" destId="{5C8AD0B9-6265-4D01-B652-FB891C99BAE9}" srcOrd="1" destOrd="0" presId="urn:microsoft.com/office/officeart/2005/8/layout/chevron2"/>
    <dgm:cxn modelId="{B879797A-5F4B-40EA-A785-9F8EF411C64E}" type="presParOf" srcId="{419F1CF2-6ED4-4C14-95D1-0DA9AFDE18A9}" destId="{659A7AC2-9B7B-4C0D-9919-A861BF890E35}" srcOrd="2" destOrd="0" presId="urn:microsoft.com/office/officeart/2005/8/layout/chevron2"/>
    <dgm:cxn modelId="{ED036C93-026F-429C-BA9C-9CB4344DE94C}" type="presParOf" srcId="{659A7AC2-9B7B-4C0D-9919-A861BF890E35}" destId="{77F6D8EC-6488-4FB9-B305-E6EDC30A933D}" srcOrd="0" destOrd="0" presId="urn:microsoft.com/office/officeart/2005/8/layout/chevron2"/>
    <dgm:cxn modelId="{D5140338-952C-4EA3-A9D2-CA5919700DB3}" type="presParOf" srcId="{659A7AC2-9B7B-4C0D-9919-A861BF890E35}" destId="{660035D1-0ACF-4742-8580-600705FDAFFE}" srcOrd="1" destOrd="0" presId="urn:microsoft.com/office/officeart/2005/8/layout/chevron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25EDF0-DF87-4927-9B13-48A072C53FAB}">
      <dsp:nvSpPr>
        <dsp:cNvPr id="0" name=""/>
        <dsp:cNvSpPr/>
      </dsp:nvSpPr>
      <dsp:spPr>
        <a:xfrm rot="5400000">
          <a:off x="-221804" y="216912"/>
          <a:ext cx="1547066" cy="1123968"/>
        </a:xfrm>
        <a:prstGeom prst="chevron">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altLang="zh-CN" sz="2000" kern="1200" dirty="0" smtClean="0">
              <a:latin typeface="Times New Roman" pitchFamily="18" charset="0"/>
              <a:cs typeface="Times New Roman" pitchFamily="18" charset="0"/>
            </a:rPr>
            <a:t>Transponder</a:t>
          </a:r>
          <a:endParaRPr lang="zh-CN" altLang="en-US" sz="2000" kern="1200" dirty="0">
            <a:latin typeface="Times New Roman" pitchFamily="18" charset="0"/>
            <a:cs typeface="Times New Roman" pitchFamily="18" charset="0"/>
          </a:endParaRPr>
        </a:p>
      </dsp:txBody>
      <dsp:txXfrm rot="-5400000">
        <a:off x="-10255" y="567347"/>
        <a:ext cx="1123968" cy="423098"/>
      </dsp:txXfrm>
    </dsp:sp>
    <dsp:sp modelId="{AC07C0B1-0571-4F32-975F-E6674EA290F7}">
      <dsp:nvSpPr>
        <dsp:cNvPr id="0" name=""/>
        <dsp:cNvSpPr/>
      </dsp:nvSpPr>
      <dsp:spPr>
        <a:xfrm rot="5400000">
          <a:off x="4405151" y="-3275165"/>
          <a:ext cx="1006122" cy="7630021"/>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x-none" altLang="zh-CN" sz="2000" b="1" kern="1200" dirty="0" smtClean="0">
              <a:latin typeface="Times New Roman" pitchFamily="18" charset="0"/>
              <a:cs typeface="Times New Roman" pitchFamily="18" charset="0"/>
            </a:rPr>
            <a:t>To transmit telemetry</a:t>
          </a:r>
          <a:r>
            <a:rPr lang="en-US" altLang="zh-CN" sz="2000" b="1" kern="1200" dirty="0" smtClean="0">
              <a:latin typeface="Times New Roman" pitchFamily="18" charset="0"/>
              <a:cs typeface="Times New Roman" pitchFamily="18" charset="0"/>
            </a:rPr>
            <a:t>.</a:t>
          </a:r>
          <a:endParaRPr lang="zh-CN" altLang="en-US" sz="2000" kern="1200" dirty="0"/>
        </a:p>
        <a:p>
          <a:pPr marL="228600" lvl="1" indent="-228600" algn="l" defTabSz="889000">
            <a:lnSpc>
              <a:spcPct val="90000"/>
            </a:lnSpc>
            <a:spcBef>
              <a:spcPct val="0"/>
            </a:spcBef>
            <a:spcAft>
              <a:spcPct val="15000"/>
            </a:spcAft>
            <a:buChar char="••"/>
          </a:pPr>
          <a:r>
            <a:rPr lang="en-US" altLang="zh-CN" sz="2000" b="1" kern="1200" dirty="0" smtClean="0">
              <a:latin typeface="Times New Roman" pitchFamily="18" charset="0"/>
              <a:cs typeface="Times New Roman" pitchFamily="18" charset="0"/>
            </a:rPr>
            <a:t>To receive and demodulate the uplink signals and output PCM signal to OBDH.</a:t>
          </a:r>
          <a:endParaRPr lang="zh-CN" altLang="en-US" sz="2000" kern="1200" dirty="0"/>
        </a:p>
      </dsp:txBody>
      <dsp:txXfrm rot="-5400000">
        <a:off x="1093202" y="85899"/>
        <a:ext cx="7580906" cy="907892"/>
      </dsp:txXfrm>
    </dsp:sp>
    <dsp:sp modelId="{7271C218-2752-485F-AFAD-BED97068C1D6}">
      <dsp:nvSpPr>
        <dsp:cNvPr id="0" name=""/>
        <dsp:cNvSpPr/>
      </dsp:nvSpPr>
      <dsp:spPr>
        <a:xfrm rot="5400000">
          <a:off x="-242315" y="1706551"/>
          <a:ext cx="1547066" cy="1082946"/>
        </a:xfrm>
        <a:prstGeom prst="chevron">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altLang="zh-CN" sz="2000" kern="1200" dirty="0" smtClean="0"/>
            <a:t>GPS receiver</a:t>
          </a:r>
          <a:endParaRPr lang="zh-CN" altLang="en-US" sz="2000" kern="1200" dirty="0"/>
        </a:p>
      </dsp:txBody>
      <dsp:txXfrm rot="-5400000">
        <a:off x="-10255" y="2015964"/>
        <a:ext cx="1082946" cy="464120"/>
      </dsp:txXfrm>
    </dsp:sp>
    <dsp:sp modelId="{F37FFDCE-17C9-4208-9FB4-2FC21FC66D27}">
      <dsp:nvSpPr>
        <dsp:cNvPr id="0" name=""/>
        <dsp:cNvSpPr/>
      </dsp:nvSpPr>
      <dsp:spPr>
        <a:xfrm rot="5400000">
          <a:off x="4294626" y="-1814704"/>
          <a:ext cx="1206661" cy="7630021"/>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altLang="zh-CN" sz="2000" b="1" kern="1200" dirty="0" smtClean="0">
              <a:latin typeface="Times New Roman" pitchFamily="18" charset="0"/>
              <a:cs typeface="Times New Roman" pitchFamily="18" charset="0"/>
            </a:rPr>
            <a:t>Output</a:t>
          </a:r>
          <a:r>
            <a:rPr lang="x-none" altLang="zh-CN" sz="2000" b="1" kern="1200" dirty="0" smtClean="0">
              <a:latin typeface="Times New Roman" pitchFamily="18" charset="0"/>
              <a:cs typeface="Times New Roman" pitchFamily="18" charset="0"/>
            </a:rPr>
            <a:t> positi</a:t>
          </a:r>
          <a:r>
            <a:rPr lang="en-US" altLang="zh-CN" sz="2000" b="1" kern="1200" dirty="0" smtClean="0">
              <a:latin typeface="Times New Roman" pitchFamily="18" charset="0"/>
              <a:cs typeface="Times New Roman" pitchFamily="18" charset="0"/>
            </a:rPr>
            <a:t>on </a:t>
          </a:r>
          <a:r>
            <a:rPr lang="x-none" altLang="zh-CN" sz="2000" b="1" kern="1200" dirty="0" smtClean="0">
              <a:latin typeface="Times New Roman" pitchFamily="18" charset="0"/>
              <a:cs typeface="Times New Roman" pitchFamily="18" charset="0"/>
            </a:rPr>
            <a:t>and orbit determination messages</a:t>
          </a:r>
          <a:endParaRPr lang="zh-CN" altLang="en-US" sz="2000" kern="1200" dirty="0"/>
        </a:p>
        <a:p>
          <a:pPr marL="228600" lvl="1" indent="-228600" algn="l" defTabSz="889000">
            <a:lnSpc>
              <a:spcPct val="90000"/>
            </a:lnSpc>
            <a:spcBef>
              <a:spcPct val="0"/>
            </a:spcBef>
            <a:spcAft>
              <a:spcPct val="15000"/>
            </a:spcAft>
            <a:buChar char="••"/>
          </a:pPr>
          <a:r>
            <a:rPr lang="en-US" altLang="zh-CN" sz="2000" b="1" kern="1200" dirty="0" smtClean="0">
              <a:latin typeface="Times New Roman" pitchFamily="18" charset="0"/>
              <a:cs typeface="Times New Roman" pitchFamily="18" charset="0"/>
            </a:rPr>
            <a:t>B</a:t>
          </a:r>
          <a:r>
            <a:rPr lang="x-none" altLang="zh-CN" sz="2000" b="1" kern="1200" dirty="0" smtClean="0">
              <a:latin typeface="Times New Roman" pitchFamily="18" charset="0"/>
              <a:cs typeface="Times New Roman" pitchFamily="18" charset="0"/>
            </a:rPr>
            <a:t>roadcast</a:t>
          </a:r>
          <a:r>
            <a:rPr lang="en-US" altLang="zh-CN" sz="2000" b="1" kern="1200" dirty="0" smtClean="0">
              <a:latin typeface="Times New Roman" pitchFamily="18" charset="0"/>
              <a:cs typeface="Times New Roman" pitchFamily="18" charset="0"/>
            </a:rPr>
            <a:t> UTC time </a:t>
          </a:r>
          <a:endParaRPr lang="zh-CN" altLang="en-US" sz="2000" kern="1200" dirty="0"/>
        </a:p>
        <a:p>
          <a:pPr marL="228600" lvl="1" indent="-228600" algn="l" defTabSz="889000">
            <a:lnSpc>
              <a:spcPct val="90000"/>
            </a:lnSpc>
            <a:spcBef>
              <a:spcPct val="0"/>
            </a:spcBef>
            <a:spcAft>
              <a:spcPct val="15000"/>
            </a:spcAft>
            <a:buChar char="••"/>
          </a:pPr>
          <a:r>
            <a:rPr lang="en-US" altLang="zh-CN" sz="2000" b="1" kern="1200" dirty="0" smtClean="0">
              <a:latin typeface="Times New Roman" pitchFamily="18" charset="0"/>
              <a:cs typeface="Times New Roman" pitchFamily="18" charset="0"/>
            </a:rPr>
            <a:t>B</a:t>
          </a:r>
          <a:r>
            <a:rPr lang="x-none" altLang="zh-CN" sz="2000" b="1" kern="1200" dirty="0" smtClean="0">
              <a:latin typeface="Times New Roman" pitchFamily="18" charset="0"/>
              <a:cs typeface="Times New Roman" pitchFamily="18" charset="0"/>
            </a:rPr>
            <a:t>roadcast</a:t>
          </a:r>
          <a:r>
            <a:rPr lang="en-US" altLang="zh-CN" sz="2000" b="1" kern="1200" dirty="0" smtClean="0">
              <a:latin typeface="Times New Roman" pitchFamily="18" charset="0"/>
              <a:cs typeface="Times New Roman" pitchFamily="18" charset="0"/>
            </a:rPr>
            <a:t> </a:t>
          </a:r>
          <a:r>
            <a:rPr lang="x-none" altLang="zh-CN" sz="2000" b="1" kern="1200" dirty="0" smtClean="0">
              <a:latin typeface="Times New Roman" pitchFamily="18" charset="0"/>
              <a:cs typeface="Times New Roman" pitchFamily="18" charset="0"/>
            </a:rPr>
            <a:t>the PPS signal which synchronizes satellite time</a:t>
          </a:r>
          <a:endParaRPr lang="zh-CN" altLang="en-US" sz="2000" kern="1200" dirty="0"/>
        </a:p>
      </dsp:txBody>
      <dsp:txXfrm rot="-5400000">
        <a:off x="1082946" y="1455880"/>
        <a:ext cx="7571117" cy="1088853"/>
      </dsp:txXfrm>
    </dsp:sp>
    <dsp:sp modelId="{8C408CDA-E92F-472E-B29E-27C907C24381}">
      <dsp:nvSpPr>
        <dsp:cNvPr id="0" name=""/>
        <dsp:cNvSpPr/>
      </dsp:nvSpPr>
      <dsp:spPr>
        <a:xfrm rot="5400000">
          <a:off x="-242315" y="3161694"/>
          <a:ext cx="1547066" cy="1082946"/>
        </a:xfrm>
        <a:prstGeom prst="chevron">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lvl="0" algn="ctr" defTabSz="889000">
            <a:lnSpc>
              <a:spcPct val="90000"/>
            </a:lnSpc>
            <a:spcBef>
              <a:spcPct val="0"/>
            </a:spcBef>
            <a:spcAft>
              <a:spcPct val="35000"/>
            </a:spcAft>
          </a:pPr>
          <a:r>
            <a:rPr lang="en-US" altLang="zh-CN" sz="2000" kern="1200" dirty="0" smtClean="0"/>
            <a:t>Antenna </a:t>
          </a:r>
          <a:endParaRPr lang="zh-CN" altLang="en-US" sz="2000" kern="1200" dirty="0"/>
        </a:p>
      </dsp:txBody>
      <dsp:txXfrm rot="-5400000">
        <a:off x="-10255" y="3471107"/>
        <a:ext cx="1082946" cy="464120"/>
      </dsp:txXfrm>
    </dsp:sp>
    <dsp:sp modelId="{1683C194-8780-442E-88E1-EDCB9360945B}">
      <dsp:nvSpPr>
        <dsp:cNvPr id="0" name=""/>
        <dsp:cNvSpPr/>
      </dsp:nvSpPr>
      <dsp:spPr>
        <a:xfrm rot="5400000">
          <a:off x="4147206" y="-204994"/>
          <a:ext cx="1501501" cy="7630021"/>
        </a:xfrm>
        <a:prstGeom prst="round2Same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Char char="••"/>
          </a:pPr>
          <a:r>
            <a:rPr lang="en-US" sz="2000" b="1" kern="1200" dirty="0" smtClean="0">
              <a:latin typeface="Times New Roman" pitchFamily="18" charset="0"/>
              <a:cs typeface="Times New Roman" pitchFamily="18" charset="0"/>
            </a:rPr>
            <a:t>The TT&amp;C antenna receives or transmits the TT&amp;C signal.</a:t>
          </a:r>
          <a:endParaRPr lang="zh-CN" altLang="en-US" sz="2000" b="1" kern="1200" dirty="0">
            <a:latin typeface="Times New Roman" pitchFamily="18" charset="0"/>
            <a:cs typeface="Times New Roman" pitchFamily="18" charset="0"/>
          </a:endParaRPr>
        </a:p>
        <a:p>
          <a:pPr marL="228600" lvl="1" indent="-228600" algn="l" defTabSz="889000">
            <a:lnSpc>
              <a:spcPct val="90000"/>
            </a:lnSpc>
            <a:spcBef>
              <a:spcPct val="0"/>
            </a:spcBef>
            <a:spcAft>
              <a:spcPct val="15000"/>
            </a:spcAft>
            <a:buChar char="••"/>
          </a:pPr>
          <a:r>
            <a:rPr lang="en-US" sz="2000" b="1" kern="1200" dirty="0" smtClean="0">
              <a:latin typeface="Times New Roman" pitchFamily="18" charset="0"/>
              <a:cs typeface="Times New Roman" pitchFamily="18" charset="0"/>
            </a:rPr>
            <a:t>The GPS antenna receives signals from the GPS navigation satellites.</a:t>
          </a:r>
          <a:endParaRPr lang="zh-CN" altLang="en-US" sz="2000" b="1" kern="1200" dirty="0">
            <a:latin typeface="Times New Roman" pitchFamily="18" charset="0"/>
            <a:cs typeface="Times New Roman" pitchFamily="18" charset="0"/>
          </a:endParaRPr>
        </a:p>
        <a:p>
          <a:pPr marL="228600" lvl="1" indent="-228600" algn="l" defTabSz="889000">
            <a:lnSpc>
              <a:spcPct val="90000"/>
            </a:lnSpc>
            <a:spcBef>
              <a:spcPct val="0"/>
            </a:spcBef>
            <a:spcAft>
              <a:spcPct val="15000"/>
            </a:spcAft>
            <a:buChar char="••"/>
          </a:pPr>
          <a:r>
            <a:rPr lang="en-US" sz="2000" b="1" kern="1200" dirty="0" smtClean="0">
              <a:latin typeface="Times New Roman" pitchFamily="18" charset="0"/>
              <a:cs typeface="Times New Roman" pitchFamily="18" charset="0"/>
            </a:rPr>
            <a:t>The Multiplexer blends or distributes the TT&amp;C signal.</a:t>
          </a:r>
          <a:endParaRPr lang="zh-CN" altLang="en-US" sz="2000" b="1" kern="1200" dirty="0">
            <a:latin typeface="Times New Roman" pitchFamily="18" charset="0"/>
            <a:cs typeface="Times New Roman" pitchFamily="18" charset="0"/>
          </a:endParaRPr>
        </a:p>
      </dsp:txBody>
      <dsp:txXfrm rot="-5400000">
        <a:off x="1082947" y="2932562"/>
        <a:ext cx="7556724" cy="135490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 Id="rId5" Type="http://schemas.openxmlformats.org/officeDocument/2006/relationships/image" Target="../media/image19.wmf"/><Relationship Id="rId4" Type="http://schemas.openxmlformats.org/officeDocument/2006/relationships/image" Target="../media/image18.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image" Target="../media/image2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6.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7.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3.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A22DA29-CCC5-4846-9B28-545A914610E2}" type="datetimeFigureOut">
              <a:rPr lang="zh-CN" altLang="en-US" smtClean="0"/>
              <a:pPr/>
              <a:t>2019/3/1</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A860109-53DF-457F-AED6-1BA9F3CD28FC}" type="slidenum">
              <a:rPr lang="zh-CN" altLang="en-US" smtClean="0"/>
              <a:pPr/>
              <a:t>‹#›</a:t>
            </a:fld>
            <a:endParaRPr lang="zh-CN" altLang="en-US"/>
          </a:p>
        </p:txBody>
      </p:sp>
    </p:spTree>
    <p:extLst>
      <p:ext uri="{BB962C8B-B14F-4D97-AF65-F5344CB8AC3E}">
        <p14:creationId xmlns:p14="http://schemas.microsoft.com/office/powerpoint/2010/main" xmlns="" val="30415896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ED8E1AA-0947-4ECF-BF79-B825971169E5}" type="datetimeFigureOut">
              <a:rPr lang="zh-CN" altLang="en-US" smtClean="0"/>
              <a:pPr/>
              <a:t>2019/3/1</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4935D53-AD83-4E32-86F2-0C01B0AFA71E}" type="slidenum">
              <a:rPr lang="zh-CN" altLang="en-US" smtClean="0"/>
              <a:pPr/>
              <a:t>‹#›</a:t>
            </a:fld>
            <a:endParaRPr lang="zh-CN" altLang="en-US"/>
          </a:p>
        </p:txBody>
      </p:sp>
    </p:spTree>
    <p:extLst>
      <p:ext uri="{BB962C8B-B14F-4D97-AF65-F5344CB8AC3E}">
        <p14:creationId xmlns:p14="http://schemas.microsoft.com/office/powerpoint/2010/main" xmlns="" val="2124609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a:ln/>
        </p:spPr>
      </p:sp>
      <p:sp>
        <p:nvSpPr>
          <p:cNvPr id="80899" name="备注占位符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dirty="0" smtClean="0">
              <a:latin typeface="Arial" charset="0"/>
            </a:endParaRPr>
          </a:p>
        </p:txBody>
      </p:sp>
      <p:sp>
        <p:nvSpPr>
          <p:cNvPr id="80900" name="灯片编号占位符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1200" b="1">
                <a:solidFill>
                  <a:schemeClr val="bg1"/>
                </a:solidFill>
                <a:latin typeface="Arial" charset="0"/>
                <a:ea typeface="楷体_GB2312" pitchFamily="49" charset="-122"/>
              </a:defRPr>
            </a:lvl1pPr>
            <a:lvl2pPr marL="741538" indent="-285207" eaLnBrk="0" hangingPunct="0">
              <a:defRPr sz="1200" b="1">
                <a:solidFill>
                  <a:schemeClr val="bg1"/>
                </a:solidFill>
                <a:latin typeface="Arial" charset="0"/>
                <a:ea typeface="楷体_GB2312" pitchFamily="49" charset="-122"/>
              </a:defRPr>
            </a:lvl2pPr>
            <a:lvl3pPr marL="1140828" indent="-228166" eaLnBrk="0" hangingPunct="0">
              <a:defRPr sz="1200" b="1">
                <a:solidFill>
                  <a:schemeClr val="bg1"/>
                </a:solidFill>
                <a:latin typeface="Arial" charset="0"/>
                <a:ea typeface="楷体_GB2312" pitchFamily="49" charset="-122"/>
              </a:defRPr>
            </a:lvl3pPr>
            <a:lvl4pPr marL="1597160" indent="-228166" eaLnBrk="0" hangingPunct="0">
              <a:defRPr sz="1200" b="1">
                <a:solidFill>
                  <a:schemeClr val="bg1"/>
                </a:solidFill>
                <a:latin typeface="Arial" charset="0"/>
                <a:ea typeface="楷体_GB2312" pitchFamily="49" charset="-122"/>
              </a:defRPr>
            </a:lvl4pPr>
            <a:lvl5pPr marL="2053491" indent="-228166" eaLnBrk="0" hangingPunct="0">
              <a:defRPr sz="1200" b="1">
                <a:solidFill>
                  <a:schemeClr val="bg1"/>
                </a:solidFill>
                <a:latin typeface="Arial" charset="0"/>
                <a:ea typeface="楷体_GB2312" pitchFamily="49" charset="-122"/>
              </a:defRPr>
            </a:lvl5pPr>
            <a:lvl6pPr marL="2509822" indent="-228166" eaLnBrk="0" fontAlgn="base" hangingPunct="0">
              <a:spcBef>
                <a:spcPct val="0"/>
              </a:spcBef>
              <a:spcAft>
                <a:spcPct val="0"/>
              </a:spcAft>
              <a:defRPr sz="1200" b="1">
                <a:solidFill>
                  <a:schemeClr val="bg1"/>
                </a:solidFill>
                <a:latin typeface="Arial" charset="0"/>
                <a:ea typeface="楷体_GB2312" pitchFamily="49" charset="-122"/>
              </a:defRPr>
            </a:lvl6pPr>
            <a:lvl7pPr marL="2966154" indent="-228166" eaLnBrk="0" fontAlgn="base" hangingPunct="0">
              <a:spcBef>
                <a:spcPct val="0"/>
              </a:spcBef>
              <a:spcAft>
                <a:spcPct val="0"/>
              </a:spcAft>
              <a:defRPr sz="1200" b="1">
                <a:solidFill>
                  <a:schemeClr val="bg1"/>
                </a:solidFill>
                <a:latin typeface="Arial" charset="0"/>
                <a:ea typeface="楷体_GB2312" pitchFamily="49" charset="-122"/>
              </a:defRPr>
            </a:lvl7pPr>
            <a:lvl8pPr marL="3422485" indent="-228166" eaLnBrk="0" fontAlgn="base" hangingPunct="0">
              <a:spcBef>
                <a:spcPct val="0"/>
              </a:spcBef>
              <a:spcAft>
                <a:spcPct val="0"/>
              </a:spcAft>
              <a:defRPr sz="1200" b="1">
                <a:solidFill>
                  <a:schemeClr val="bg1"/>
                </a:solidFill>
                <a:latin typeface="Arial" charset="0"/>
                <a:ea typeface="楷体_GB2312" pitchFamily="49" charset="-122"/>
              </a:defRPr>
            </a:lvl8pPr>
            <a:lvl9pPr marL="3878816" indent="-228166" eaLnBrk="0" fontAlgn="base" hangingPunct="0">
              <a:spcBef>
                <a:spcPct val="0"/>
              </a:spcBef>
              <a:spcAft>
                <a:spcPct val="0"/>
              </a:spcAft>
              <a:defRPr sz="1200" b="1">
                <a:solidFill>
                  <a:schemeClr val="bg1"/>
                </a:solidFill>
                <a:latin typeface="Arial" charset="0"/>
                <a:ea typeface="楷体_GB2312" pitchFamily="49" charset="-122"/>
              </a:defRPr>
            </a:lvl9pPr>
          </a:lstStyle>
          <a:p>
            <a:pPr eaLnBrk="1" hangingPunct="1"/>
            <a:fld id="{C8D2D69D-7271-4C5C-B365-A7BED2E1D114}" type="slidenum">
              <a:rPr lang="en-US" altLang="zh-CN" b="0" smtClean="0">
                <a:solidFill>
                  <a:schemeClr val="tx1"/>
                </a:solidFill>
                <a:ea typeface="宋体" pitchFamily="2" charset="-122"/>
              </a:rPr>
              <a:pPr eaLnBrk="1" hangingPunct="1"/>
              <a:t>2</a:t>
            </a:fld>
            <a:endParaRPr lang="en-US" altLang="zh-CN" b="0" smtClean="0">
              <a:solidFill>
                <a:schemeClr val="tx1"/>
              </a:solidFill>
              <a:ea typeface="宋体"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TextEdit="1"/>
          </p:cNvSpPr>
          <p:nvPr>
            <p:ph type="sldImg"/>
          </p:nvPr>
        </p:nvSpPr>
        <p:spPr bwMode="auto">
          <a:noFill/>
          <a:ln>
            <a:solidFill>
              <a:srgbClr val="000000"/>
            </a:solidFill>
            <a:miter lim="800000"/>
            <a:headEnd/>
            <a:tailEnd/>
          </a:ln>
        </p:spPr>
      </p:sp>
      <p:sp>
        <p:nvSpPr>
          <p:cNvPr id="53251"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61444" name="灯片编号占位符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356A1352-D519-4912-86D8-D9298499EDA7}" type="slidenum">
              <a:rPr lang="zh-CN" altLang="en-US"/>
              <a:pPr fontAlgn="base">
                <a:spcBef>
                  <a:spcPct val="0"/>
                </a:spcBef>
                <a:spcAft>
                  <a:spcPct val="0"/>
                </a:spcAft>
                <a:defRPr/>
              </a:pPr>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lvl="1" algn="just">
              <a:buClr>
                <a:srgbClr val="FF0000"/>
              </a:buClr>
              <a:buFont typeface="Wingdings" pitchFamily="2" charset="2"/>
              <a:buNone/>
            </a:pPr>
            <a:r>
              <a:rPr lang="en-US" altLang="zh-CN" sz="1200" dirty="0" smtClean="0">
                <a:solidFill>
                  <a:schemeClr val="tx1"/>
                </a:solidFill>
              </a:rPr>
              <a:t>First we should know what is TT&amp;C:</a:t>
            </a:r>
          </a:p>
          <a:p>
            <a:pPr lvl="1" algn="just">
              <a:buClr>
                <a:srgbClr val="FF0000"/>
              </a:buClr>
              <a:buFont typeface="Wingdings" pitchFamily="2" charset="2"/>
              <a:buNone/>
            </a:pPr>
            <a:r>
              <a:rPr lang="en-US" altLang="zh-CN" sz="1800" dirty="0" smtClean="0">
                <a:solidFill>
                  <a:schemeClr val="tx1"/>
                </a:solidFill>
                <a:latin typeface="Times New Roman" pitchFamily="18" charset="0"/>
                <a:cs typeface="Times New Roman" pitchFamily="18" charset="0"/>
              </a:rPr>
              <a:t>TT&amp;C subsystem is one of the important part of satellite which accomplish command, control when satellite passes over a S-Band Ground Station. </a:t>
            </a:r>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5</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6</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7</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8</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9</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10</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TextEdit="1"/>
          </p:cNvSpPr>
          <p:nvPr>
            <p:ph type="sldImg"/>
          </p:nvPr>
        </p:nvSpPr>
        <p:spPr bwMode="auto">
          <a:noFill/>
          <a:ln>
            <a:solidFill>
              <a:srgbClr val="000000"/>
            </a:solidFill>
            <a:miter lim="800000"/>
            <a:headEnd/>
            <a:tailEnd/>
          </a:ln>
        </p:spPr>
      </p:sp>
      <p:sp>
        <p:nvSpPr>
          <p:cNvPr id="53251"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61444" name="灯片编号占位符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356A1352-D519-4912-86D8-D9298499EDA7}" type="slidenum">
              <a:rPr lang="zh-CN" altLang="en-US"/>
              <a:pPr fontAlgn="base">
                <a:spcBef>
                  <a:spcPct val="0"/>
                </a:spcBef>
                <a:spcAft>
                  <a:spcPct val="0"/>
                </a:spcAft>
                <a:defRPr/>
              </a:pPr>
              <a:t>11</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12</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13</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14</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15</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16</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18</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19</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20</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TextEdit="1"/>
          </p:cNvSpPr>
          <p:nvPr>
            <p:ph type="sldImg"/>
          </p:nvPr>
        </p:nvSpPr>
        <p:spPr bwMode="auto">
          <a:noFill/>
          <a:ln>
            <a:solidFill>
              <a:srgbClr val="000000"/>
            </a:solidFill>
            <a:miter lim="800000"/>
            <a:headEnd/>
            <a:tailEnd/>
          </a:ln>
        </p:spPr>
      </p:sp>
      <p:sp>
        <p:nvSpPr>
          <p:cNvPr id="53251"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61444" name="灯片编号占位符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356A1352-D519-4912-86D8-D9298499EDA7}" type="slidenum">
              <a:rPr lang="zh-CN" altLang="en-US"/>
              <a:pPr fontAlgn="base">
                <a:spcBef>
                  <a:spcPct val="0"/>
                </a:spcBef>
                <a:spcAft>
                  <a:spcPct val="0"/>
                </a:spcAft>
                <a:defRPr/>
              </a:pPr>
              <a:t>21</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22</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92500" lnSpcReduction="10000"/>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23</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24</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25</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77500" lnSpcReduction="20000"/>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26</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27</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28</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77500" lnSpcReduction="20000"/>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29</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31</a:t>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33</a:t>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34</a:t>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35</a:t>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37</a:t>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38</a:t>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39</a:t>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40</a:t>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TextEdit="1"/>
          </p:cNvSpPr>
          <p:nvPr>
            <p:ph type="sldImg"/>
          </p:nvPr>
        </p:nvSpPr>
        <p:spPr bwMode="auto">
          <a:noFill/>
          <a:ln>
            <a:solidFill>
              <a:srgbClr val="000000"/>
            </a:solidFill>
            <a:miter lim="800000"/>
            <a:headEnd/>
            <a:tailEnd/>
          </a:ln>
        </p:spPr>
      </p:sp>
      <p:sp>
        <p:nvSpPr>
          <p:cNvPr id="53251" name="备注占位符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zh-CN" altLang="en-US" dirty="0" smtClean="0"/>
          </a:p>
        </p:txBody>
      </p:sp>
      <p:sp>
        <p:nvSpPr>
          <p:cNvPr id="61444" name="灯片编号占位符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356A1352-D519-4912-86D8-D9298499EDA7}" type="slidenum">
              <a:rPr lang="zh-CN" altLang="en-US"/>
              <a:pPr fontAlgn="base">
                <a:spcBef>
                  <a:spcPct val="0"/>
                </a:spcBef>
                <a:spcAft>
                  <a:spcPct val="0"/>
                </a:spcAft>
                <a:defRPr/>
              </a:pPr>
              <a:t>41</a:t>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42</a:t>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43</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44</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fontScale="77500" lnSpcReduction="20000"/>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45</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p:cNvSpPr>
            <a:spLocks noGrp="1" noRot="1" noChangeAspect="1" noTextEdit="1"/>
          </p:cNvSpPr>
          <p:nvPr>
            <p:ph type="sldImg"/>
          </p:nvPr>
        </p:nvSpPr>
        <p:spPr>
          <a:ln/>
        </p:spPr>
      </p:sp>
      <p:sp>
        <p:nvSpPr>
          <p:cNvPr id="72707" name="备注占位符 2"/>
          <p:cNvSpPr>
            <a:spLocks noGrp="1"/>
          </p:cNvSpPr>
          <p:nvPr>
            <p:ph type="body" idx="1"/>
          </p:nvPr>
        </p:nvSpPr>
        <p:spPr>
          <a:noFill/>
          <a:ln/>
        </p:spPr>
        <p:txBody>
          <a:bodyPr/>
          <a:lstStyle/>
          <a:p>
            <a:endParaRPr lang="zh-CN" altLang="en-US" dirty="0" smtClean="0">
              <a:latin typeface="Arial" pitchFamily="34" charset="0"/>
            </a:endParaRPr>
          </a:p>
        </p:txBody>
      </p:sp>
      <p:sp>
        <p:nvSpPr>
          <p:cNvPr id="72708" name="灯片编号占位符 3"/>
          <p:cNvSpPr>
            <a:spLocks noGrp="1"/>
          </p:cNvSpPr>
          <p:nvPr>
            <p:ph type="sldNum" sz="quarter" idx="5"/>
          </p:nvPr>
        </p:nvSpPr>
        <p:spPr>
          <a:noFill/>
        </p:spPr>
        <p:txBody>
          <a:bodyPr/>
          <a:lstStyle/>
          <a:p>
            <a:fld id="{8F2EBF4B-083B-42AB-9AB2-9834D72E6E2E}" type="slidenum">
              <a:rPr lang="en-US" altLang="zh-CN" smtClean="0">
                <a:latin typeface="Arial" pitchFamily="34" charset="0"/>
              </a:rPr>
              <a:pPr/>
              <a:t>47</a:t>
            </a:fld>
            <a:endParaRPr lang="en-US" altLang="zh-CN" smtClean="0">
              <a:latin typeface="Arial"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48</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50</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p:cNvSpPr>
            <a:spLocks noGrp="1" noRot="1" noChangeAspect="1" noTextEdit="1"/>
          </p:cNvSpPr>
          <p:nvPr>
            <p:ph type="sldImg"/>
          </p:nvPr>
        </p:nvSpPr>
        <p:spPr>
          <a:ln/>
        </p:spPr>
      </p:sp>
      <p:sp>
        <p:nvSpPr>
          <p:cNvPr id="110595" name="备注占位符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zh-CN" altLang="en-US" dirty="0" smtClean="0">
              <a:latin typeface="Arial" charset="0"/>
            </a:endParaRPr>
          </a:p>
        </p:txBody>
      </p:sp>
      <p:sp>
        <p:nvSpPr>
          <p:cNvPr id="110596" name="灯片编号占位符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1200" b="1">
                <a:solidFill>
                  <a:schemeClr val="bg1"/>
                </a:solidFill>
                <a:latin typeface="Arial" charset="0"/>
                <a:ea typeface="楷体_GB2312" pitchFamily="49" charset="-122"/>
              </a:defRPr>
            </a:lvl1pPr>
            <a:lvl2pPr marL="741538" indent="-285207" eaLnBrk="0" hangingPunct="0">
              <a:defRPr sz="1200" b="1">
                <a:solidFill>
                  <a:schemeClr val="bg1"/>
                </a:solidFill>
                <a:latin typeface="Arial" charset="0"/>
                <a:ea typeface="楷体_GB2312" pitchFamily="49" charset="-122"/>
              </a:defRPr>
            </a:lvl2pPr>
            <a:lvl3pPr marL="1140828" indent="-228166" eaLnBrk="0" hangingPunct="0">
              <a:defRPr sz="1200" b="1">
                <a:solidFill>
                  <a:schemeClr val="bg1"/>
                </a:solidFill>
                <a:latin typeface="Arial" charset="0"/>
                <a:ea typeface="楷体_GB2312" pitchFamily="49" charset="-122"/>
              </a:defRPr>
            </a:lvl3pPr>
            <a:lvl4pPr marL="1597160" indent="-228166" eaLnBrk="0" hangingPunct="0">
              <a:defRPr sz="1200" b="1">
                <a:solidFill>
                  <a:schemeClr val="bg1"/>
                </a:solidFill>
                <a:latin typeface="Arial" charset="0"/>
                <a:ea typeface="楷体_GB2312" pitchFamily="49" charset="-122"/>
              </a:defRPr>
            </a:lvl4pPr>
            <a:lvl5pPr marL="2053491" indent="-228166" eaLnBrk="0" hangingPunct="0">
              <a:defRPr sz="1200" b="1">
                <a:solidFill>
                  <a:schemeClr val="bg1"/>
                </a:solidFill>
                <a:latin typeface="Arial" charset="0"/>
                <a:ea typeface="楷体_GB2312" pitchFamily="49" charset="-122"/>
              </a:defRPr>
            </a:lvl5pPr>
            <a:lvl6pPr marL="2509822" indent="-228166" eaLnBrk="0" fontAlgn="base" hangingPunct="0">
              <a:spcBef>
                <a:spcPct val="0"/>
              </a:spcBef>
              <a:spcAft>
                <a:spcPct val="0"/>
              </a:spcAft>
              <a:defRPr sz="1200" b="1">
                <a:solidFill>
                  <a:schemeClr val="bg1"/>
                </a:solidFill>
                <a:latin typeface="Arial" charset="0"/>
                <a:ea typeface="楷体_GB2312" pitchFamily="49" charset="-122"/>
              </a:defRPr>
            </a:lvl6pPr>
            <a:lvl7pPr marL="2966154" indent="-228166" eaLnBrk="0" fontAlgn="base" hangingPunct="0">
              <a:spcBef>
                <a:spcPct val="0"/>
              </a:spcBef>
              <a:spcAft>
                <a:spcPct val="0"/>
              </a:spcAft>
              <a:defRPr sz="1200" b="1">
                <a:solidFill>
                  <a:schemeClr val="bg1"/>
                </a:solidFill>
                <a:latin typeface="Arial" charset="0"/>
                <a:ea typeface="楷体_GB2312" pitchFamily="49" charset="-122"/>
              </a:defRPr>
            </a:lvl7pPr>
            <a:lvl8pPr marL="3422485" indent="-228166" eaLnBrk="0" fontAlgn="base" hangingPunct="0">
              <a:spcBef>
                <a:spcPct val="0"/>
              </a:spcBef>
              <a:spcAft>
                <a:spcPct val="0"/>
              </a:spcAft>
              <a:defRPr sz="1200" b="1">
                <a:solidFill>
                  <a:schemeClr val="bg1"/>
                </a:solidFill>
                <a:latin typeface="Arial" charset="0"/>
                <a:ea typeface="楷体_GB2312" pitchFamily="49" charset="-122"/>
              </a:defRPr>
            </a:lvl8pPr>
            <a:lvl9pPr marL="3878816" indent="-228166" eaLnBrk="0" fontAlgn="base" hangingPunct="0">
              <a:spcBef>
                <a:spcPct val="0"/>
              </a:spcBef>
              <a:spcAft>
                <a:spcPct val="0"/>
              </a:spcAft>
              <a:defRPr sz="1200" b="1">
                <a:solidFill>
                  <a:schemeClr val="bg1"/>
                </a:solidFill>
                <a:latin typeface="Arial" charset="0"/>
                <a:ea typeface="楷体_GB2312" pitchFamily="49" charset="-122"/>
              </a:defRPr>
            </a:lvl9pPr>
          </a:lstStyle>
          <a:p>
            <a:pPr eaLnBrk="1" hangingPunct="1"/>
            <a:fld id="{0BE22482-EC2A-4F97-9A2D-3386FE5A9F15}" type="slidenum">
              <a:rPr lang="en-US" altLang="zh-CN" b="0" smtClean="0">
                <a:solidFill>
                  <a:schemeClr val="tx1"/>
                </a:solidFill>
                <a:ea typeface="宋体" pitchFamily="2" charset="-122"/>
              </a:rPr>
              <a:pPr eaLnBrk="1" hangingPunct="1"/>
              <a:t>51</a:t>
            </a:fld>
            <a:endParaRPr lang="en-US" altLang="zh-CN" b="0" smtClean="0">
              <a:solidFill>
                <a:schemeClr val="tx1"/>
              </a:solidFill>
              <a:ea typeface="宋体"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pic>
        <p:nvPicPr>
          <p:cNvPr id="7" name="图片 6" descr="2938668_150805002142_2.jpg"/>
          <p:cNvPicPr>
            <a:picLocks noChangeAspect="1"/>
          </p:cNvPicPr>
          <p:nvPr userDrawn="1"/>
        </p:nvPicPr>
        <p:blipFill>
          <a:blip r:embed="rId2"/>
          <a:srcRect b="4167"/>
          <a:stretch>
            <a:fillRect/>
          </a:stretch>
        </p:blipFill>
        <p:spPr>
          <a:xfrm>
            <a:off x="0" y="0"/>
            <a:ext cx="9144000" cy="6858000"/>
          </a:xfrm>
          <a:prstGeom prst="rect">
            <a:avLst/>
          </a:prstGeom>
        </p:spPr>
      </p:pic>
      <p:sp>
        <p:nvSpPr>
          <p:cNvPr id="3" name="副标题 2"/>
          <p:cNvSpPr>
            <a:spLocks noGrp="1"/>
          </p:cNvSpPr>
          <p:nvPr>
            <p:ph type="subTitle" idx="1" hasCustomPrompt="1"/>
          </p:nvPr>
        </p:nvSpPr>
        <p:spPr>
          <a:xfrm>
            <a:off x="2195736" y="5085184"/>
            <a:ext cx="4914912" cy="685808"/>
          </a:xfrm>
        </p:spPr>
        <p:txBody>
          <a:bodyPr>
            <a:noAutofit/>
          </a:bodyPr>
          <a:lstStyle>
            <a:lvl1pPr marL="0" indent="0" algn="ctr">
              <a:buNone/>
              <a:defRPr sz="3200" b="1" cap="none" spc="0">
                <a:ln>
                  <a:noFill/>
                </a:ln>
                <a:solidFill>
                  <a:schemeClr val="bg1"/>
                </a:solidFill>
                <a:effectLst>
                  <a:outerShdw blurRad="38100" dist="38100" dir="2700000" algn="tl">
                    <a:srgbClr val="000000">
                      <a:alpha val="43137"/>
                    </a:srgbClr>
                  </a:outerShdw>
                </a:effectLst>
                <a:latin typeface="微软雅黑" pitchFamily="34" charset="-122"/>
                <a:ea typeface="微软雅黑"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dirty="0" smtClean="0"/>
              <a:t>DFH SATELLITE </a:t>
            </a:r>
            <a:r>
              <a:rPr lang="en-US" altLang="zh-CN" dirty="0" err="1" smtClean="0"/>
              <a:t>Co.,Ltd</a:t>
            </a:r>
            <a:endParaRPr lang="zh-CN" altLang="en-US" dirty="0"/>
          </a:p>
        </p:txBody>
      </p:sp>
      <p:sp>
        <p:nvSpPr>
          <p:cNvPr id="15" name="标题 14"/>
          <p:cNvSpPr>
            <a:spLocks noGrp="1"/>
          </p:cNvSpPr>
          <p:nvPr>
            <p:ph type="title"/>
          </p:nvPr>
        </p:nvSpPr>
        <p:spPr>
          <a:xfrm>
            <a:off x="714348" y="2409248"/>
            <a:ext cx="7586658" cy="1082660"/>
          </a:xfrm>
        </p:spPr>
        <p:txBody>
          <a:bodyPr>
            <a:normAutofit/>
          </a:bodyPr>
          <a:lstStyle>
            <a:lvl1pPr>
              <a:defRPr sz="4800">
                <a:solidFill>
                  <a:srgbClr val="002060"/>
                </a:solidFill>
                <a:effectLst>
                  <a:outerShdw blurRad="38100" dist="38100" dir="2700000" algn="tl">
                    <a:srgbClr val="000000">
                      <a:alpha val="43137"/>
                    </a:srgbClr>
                  </a:outerShdw>
                </a:effectLst>
              </a:defRPr>
            </a:lvl1pPr>
          </a:lstStyle>
          <a:p>
            <a:r>
              <a:rPr lang="zh-CN" altLang="en-US" dirty="0" smtClean="0"/>
              <a:t>单击此处编辑母版标题样式</a:t>
            </a:r>
            <a:endParaRPr lang="zh-CN" altLang="en-US" dirty="0"/>
          </a:p>
        </p:txBody>
      </p:sp>
      <p:pic>
        <p:nvPicPr>
          <p:cNvPr id="11267" name="Picture 3"/>
          <p:cNvPicPr>
            <a:picLocks noChangeAspect="1" noChangeArrowheads="1"/>
          </p:cNvPicPr>
          <p:nvPr userDrawn="1"/>
        </p:nvPicPr>
        <p:blipFill>
          <a:blip r:embed="rId3" cstate="print">
            <a:extLst>
              <a:ext uri="{BEBA8EAE-BF5A-486C-A8C5-ECC9F3942E4B}">
                <a14:imgProps xmlns:a14="http://schemas.microsoft.com/office/drawing/2010/main" xmlns="">
                  <a14:imgLayer r:embed="rId4">
                    <a14:imgEffect>
                      <a14:backgroundRemoval t="3196" b="99696" l="321" r="100000">
                        <a14:foregroundMark x1="7066" y1="8828" x2="16809" y2="9132"/>
                        <a14:foregroundMark x1="8565" y1="10046" x2="11242" y2="8828"/>
                        <a14:foregroundMark x1="12527" y1="7915" x2="12527" y2="7915"/>
                      </a14:backgroundRemoval>
                    </a14:imgEffect>
                  </a14:imgLayer>
                </a14:imgProps>
              </a:ext>
              <a:ext uri="{28A0092B-C50C-407E-A947-70E740481C1C}">
                <a14:useLocalDpi xmlns:a14="http://schemas.microsoft.com/office/drawing/2010/main" xmlns="" val="0"/>
              </a:ext>
            </a:extLst>
          </a:blip>
          <a:srcRect/>
          <a:stretch>
            <a:fillRect/>
          </a:stretch>
        </p:blipFill>
        <p:spPr bwMode="auto">
          <a:xfrm>
            <a:off x="7092280" y="188640"/>
            <a:ext cx="1843743" cy="12969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页脚占位符 4"/>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5"/>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5" name="页脚占位符 4"/>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5"/>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6" name="页脚占位符 5"/>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7" name="灯片编号占位符 6"/>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仅标题">
    <p:spTree>
      <p:nvGrpSpPr>
        <p:cNvPr id="1" name=""/>
        <p:cNvGrpSpPr/>
        <p:nvPr/>
      </p:nvGrpSpPr>
      <p:grpSpPr>
        <a:xfrm>
          <a:off x="0" y="0"/>
          <a:ext cx="0" cy="0"/>
          <a:chOff x="0" y="0"/>
          <a:chExt cx="0" cy="0"/>
        </a:xfrm>
      </p:grpSpPr>
      <p:pic>
        <p:nvPicPr>
          <p:cNvPr id="6" name="图片 5" descr="2938668_150805002142_2.jpg"/>
          <p:cNvPicPr>
            <a:picLocks noChangeAspect="1"/>
          </p:cNvPicPr>
          <p:nvPr userDrawn="1"/>
        </p:nvPicPr>
        <p:blipFill>
          <a:blip r:embed="rId2"/>
          <a:srcRect b="4167"/>
          <a:stretch>
            <a:fillRect/>
          </a:stretch>
        </p:blipFill>
        <p:spPr>
          <a:xfrm>
            <a:off x="0" y="0"/>
            <a:ext cx="9144000" cy="6858000"/>
          </a:xfrm>
          <a:prstGeom prst="rect">
            <a:avLst/>
          </a:prstGeom>
        </p:spPr>
      </p:pic>
      <p:pic>
        <p:nvPicPr>
          <p:cNvPr id="13314"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6422410" y="0"/>
            <a:ext cx="2754307" cy="194421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大小标题">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160748"/>
            <a:ext cx="8229600" cy="4525963"/>
          </a:xfrm>
          <a:prstGeom prst="rect">
            <a:avLst/>
          </a:prstGeom>
        </p:spPr>
        <p:txBody>
          <a:bodyPr/>
          <a:lstStyle>
            <a:lvl1pPr>
              <a:defRPr b="1"/>
            </a:lvl1pPr>
            <a:lvl2pPr>
              <a:defRPr b="1"/>
            </a:lvl2pPr>
            <a:lvl3pPr>
              <a:defRPr b="1"/>
            </a:lvl3pPr>
            <a:lvl4pPr>
              <a:defRPr b="1"/>
            </a:lvl4pPr>
            <a:lvl5pPr marL="1828800" indent="0">
              <a:buNone/>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p:txBody>
      </p:sp>
      <p:sp>
        <p:nvSpPr>
          <p:cNvPr id="5" name="标题 1"/>
          <p:cNvSpPr>
            <a:spLocks noGrp="1"/>
          </p:cNvSpPr>
          <p:nvPr>
            <p:ph type="title"/>
          </p:nvPr>
        </p:nvSpPr>
        <p:spPr>
          <a:xfrm>
            <a:off x="457200" y="274638"/>
            <a:ext cx="8229600" cy="1143000"/>
          </a:xfrm>
          <a:prstGeom prst="rect">
            <a:avLst/>
          </a:prstGeom>
        </p:spPr>
        <p:txBody>
          <a:bodyPr/>
          <a:lstStyle>
            <a:lvl1pPr algn="l">
              <a:defRPr sz="3600" b="1"/>
            </a:lvl1pPr>
          </a:lstStyle>
          <a:p>
            <a:r>
              <a:rPr lang="zh-CN" altLang="en-US" smtClean="0"/>
              <a:t>单击此处编辑母版标题样式</a:t>
            </a:r>
            <a:endParaRPr lang="zh-CN" altLang="en-US" dirty="0"/>
          </a:p>
        </p:txBody>
      </p:sp>
      <p:sp>
        <p:nvSpPr>
          <p:cNvPr id="4" name="页脚占位符 3"/>
          <p:cNvSpPr>
            <a:spLocks noGrp="1"/>
          </p:cNvSpPr>
          <p:nvPr userDrawn="1">
            <p:ph type="ftr" sz="quarter" idx="11"/>
          </p:nvPr>
        </p:nvSpPr>
        <p:spPr>
          <a:xfrm>
            <a:off x="971600"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6"/>
          <p:cNvSpPr>
            <a:spLocks noGrp="1"/>
          </p:cNvSpPr>
          <p:nvPr>
            <p:ph type="sldNum" sz="quarter" idx="12"/>
          </p:nvPr>
        </p:nvSpPr>
        <p:spPr>
          <a:xfrm>
            <a:off x="7884368" y="6356350"/>
            <a:ext cx="802432" cy="365125"/>
          </a:xfrm>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a:xfrm>
            <a:off x="457200" y="6356350"/>
            <a:ext cx="2133600" cy="365125"/>
          </a:xfrm>
          <a:prstGeom prst="rect">
            <a:avLst/>
          </a:prstGeom>
        </p:spPr>
        <p:txBody>
          <a:bodyPr/>
          <a:lstStyle>
            <a:lvl1pPr>
              <a:defRPr/>
            </a:lvl1pPr>
          </a:lstStyle>
          <a:p>
            <a:pPr>
              <a:defRPr/>
            </a:pPr>
            <a:fld id="{F1C32E87-504E-4BC3-898F-B53016F05E78}" type="datetimeFigureOut">
              <a:rPr lang="en-US"/>
              <a:pPr>
                <a:defRPr/>
              </a:pPr>
              <a:t>3/1/2019</a:t>
            </a:fld>
            <a:endParaRPr 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9C4483F7-AF4C-45F3-A27B-ED7F2334F4AE}" type="slidenum">
              <a:rPr lang="en-US"/>
              <a:pPr>
                <a:defRPr/>
              </a:pPr>
              <a:t>‹#›</a:t>
            </a:fld>
            <a:endParaRPr lang="zh-CN" altLang="en-US"/>
          </a:p>
        </p:txBody>
      </p:sp>
    </p:spTree>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519113" y="115888"/>
            <a:ext cx="8229600" cy="553561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4"/>
          <p:cNvSpPr>
            <a:spLocks noGrp="1"/>
          </p:cNvSpPr>
          <p:nvPr>
            <p:ph type="ftr" sz="quarter" idx="11"/>
          </p:nvPr>
        </p:nvSpPr>
        <p:spPr>
          <a:xfrm>
            <a:off x="971600"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7" name="灯片编号占位符 5"/>
          <p:cNvSpPr>
            <a:spLocks noGrp="1"/>
          </p:cNvSpPr>
          <p:nvPr>
            <p:ph type="sldNum" sz="quarter" idx="12"/>
          </p:nvPr>
        </p:nvSpPr>
        <p:spPr>
          <a:xfrm>
            <a:off x="7884368" y="6356350"/>
            <a:ext cx="802432" cy="365125"/>
          </a:xfrm>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xmlns="" val="4079872474"/>
      </p:ext>
    </p:extLst>
  </p:cSld>
  <p:clrMapOvr>
    <a:masterClrMapping/>
  </p:clrMapOvr>
  <p:transition>
    <p:random/>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图片 6" descr="2938668_150805002142_2.jpg"/>
          <p:cNvPicPr>
            <a:picLocks noChangeAspect="1"/>
          </p:cNvPicPr>
          <p:nvPr userDrawn="1"/>
        </p:nvPicPr>
        <p:blipFill>
          <a:blip r:embed="rId10"/>
          <a:srcRect t="10773" b="69020"/>
          <a:stretch>
            <a:fillRect/>
          </a:stretch>
        </p:blipFill>
        <p:spPr>
          <a:xfrm>
            <a:off x="0" y="0"/>
            <a:ext cx="9144000" cy="1214422"/>
          </a:xfrm>
          <a:prstGeom prst="rect">
            <a:avLst/>
          </a:prstGeom>
        </p:spPr>
      </p:pic>
      <p:sp>
        <p:nvSpPr>
          <p:cNvPr id="2" name="标题占位符 1"/>
          <p:cNvSpPr>
            <a:spLocks noGrp="1"/>
          </p:cNvSpPr>
          <p:nvPr>
            <p:ph type="title"/>
          </p:nvPr>
        </p:nvSpPr>
        <p:spPr>
          <a:xfrm>
            <a:off x="457200" y="274638"/>
            <a:ext cx="8229600" cy="1082660"/>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457200" y="1357298"/>
            <a:ext cx="8229600" cy="4768865"/>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5" name="页脚占位符 4"/>
          <p:cNvSpPr>
            <a:spLocks noGrp="1"/>
          </p:cNvSpPr>
          <p:nvPr>
            <p:ph type="ftr" sz="quarter" idx="3"/>
          </p:nvPr>
        </p:nvSpPr>
        <p:spPr>
          <a:xfrm>
            <a:off x="971600" y="6359525"/>
            <a:ext cx="6480720" cy="363558"/>
          </a:xfrm>
          <a:prstGeom prst="rect">
            <a:avLst/>
          </a:prstGeom>
        </p:spPr>
        <p:txBody>
          <a:bodyPr vert="horz" lIns="91440" tIns="45720" rIns="91440" bIns="45720" rtlCol="0" anchor="ctr"/>
          <a:lstStyle>
            <a:lvl1pPr algn="ctr">
              <a:defRPr sz="700" b="0">
                <a:solidFill>
                  <a:schemeClr val="tx1"/>
                </a:solidFill>
                <a:latin typeface="微软雅黑" pitchFamily="34" charset="-122"/>
                <a:ea typeface="微软雅黑" pitchFamily="34" charset="-122"/>
                <a:cs typeface="Arial" pitchFamily="34" charset="0"/>
              </a:defRPr>
            </a:lvl1p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5"/>
          <p:cNvSpPr>
            <a:spLocks noGrp="1"/>
          </p:cNvSpPr>
          <p:nvPr>
            <p:ph type="sldNum" sz="quarter" idx="4"/>
          </p:nvPr>
        </p:nvSpPr>
        <p:spPr>
          <a:xfrm>
            <a:off x="7884368" y="6356350"/>
            <a:ext cx="802432" cy="365125"/>
          </a:xfrm>
          <a:prstGeom prst="rect">
            <a:avLst/>
          </a:prstGeom>
        </p:spPr>
        <p:txBody>
          <a:bodyPr vert="horz" lIns="91440" tIns="45720" rIns="91440" bIns="45720" rtlCol="0" anchor="ctr"/>
          <a:lstStyle>
            <a:lvl1pPr algn="r">
              <a:defRPr sz="1200">
                <a:solidFill>
                  <a:schemeClr val="tx1"/>
                </a:solidFill>
                <a:latin typeface="Arial" pitchFamily="34" charset="0"/>
                <a:cs typeface="Arial" pitchFamily="34" charset="0"/>
              </a:defRPr>
            </a:lvl1pPr>
          </a:lstStyle>
          <a:p>
            <a:r>
              <a:rPr lang="en-US" altLang="zh-CN" sz="1050" dirty="0" smtClean="0">
                <a:latin typeface="微软雅黑" pitchFamily="34" charset="-122"/>
                <a:ea typeface="微软雅黑" pitchFamily="34" charset="-122"/>
              </a:rPr>
              <a:t>PAGE</a:t>
            </a:r>
            <a:r>
              <a:rPr lang="zh-CN" altLang="en-US" sz="1050" dirty="0" smtClean="0"/>
              <a:t> </a:t>
            </a:r>
            <a:fld id="{E1EFCB46-C834-4067-A327-0EA79FD50686}" type="slidenum">
              <a:rPr lang="zh-CN" altLang="en-US" sz="1050" smtClean="0"/>
              <a:pPr/>
              <a:t>‹#›</a:t>
            </a:fld>
            <a:r>
              <a:rPr lang="zh-CN" altLang="en-US" dirty="0" smtClean="0"/>
              <a:t> </a:t>
            </a:r>
            <a:endParaRPr lang="zh-CN" altLang="en-US" dirty="0">
              <a:latin typeface="微软雅黑" pitchFamily="34" charset="-122"/>
              <a:ea typeface="微软雅黑" pitchFamily="34" charset="-122"/>
            </a:endParaRPr>
          </a:p>
        </p:txBody>
      </p:sp>
      <p:pic>
        <p:nvPicPr>
          <p:cNvPr id="8" name="图片 7" descr="2938668_150805002142_2.jpg"/>
          <p:cNvPicPr>
            <a:picLocks noChangeAspect="1"/>
          </p:cNvPicPr>
          <p:nvPr userDrawn="1"/>
        </p:nvPicPr>
        <p:blipFill>
          <a:blip r:embed="rId10"/>
          <a:srcRect t="52304" b="41753"/>
          <a:stretch>
            <a:fillRect/>
          </a:stretch>
        </p:blipFill>
        <p:spPr>
          <a:xfrm>
            <a:off x="0" y="6715149"/>
            <a:ext cx="9144000" cy="321458"/>
          </a:xfrm>
          <a:prstGeom prst="rect">
            <a:avLst/>
          </a:prstGeom>
        </p:spPr>
      </p:pic>
      <p:pic>
        <p:nvPicPr>
          <p:cNvPr id="16" name="图片 15"/>
          <p:cNvPicPr>
            <a:picLocks noChangeAspect="1"/>
          </p:cNvPicPr>
          <p:nvPr userDrawn="1"/>
        </p:nvPicPr>
        <p:blipFill rotWithShape="1">
          <a:blip r:embed="rId11" cstate="print">
            <a:extLst>
              <a:ext uri="{28A0092B-C50C-407E-A947-70E740481C1C}">
                <a14:useLocalDpi xmlns:a14="http://schemas.microsoft.com/office/drawing/2010/main" xmlns="" val="0"/>
              </a:ext>
            </a:extLst>
          </a:blip>
          <a:srcRect b="34726"/>
          <a:stretch/>
        </p:blipFill>
        <p:spPr>
          <a:xfrm>
            <a:off x="171892" y="6339800"/>
            <a:ext cx="432048" cy="345317"/>
          </a:xfrm>
          <a:prstGeom prst="rect">
            <a:avLst/>
          </a:prstGeom>
        </p:spPr>
      </p:pic>
      <p:pic>
        <p:nvPicPr>
          <p:cNvPr id="12290" name="Picture 2"/>
          <p:cNvPicPr>
            <a:picLocks noChangeAspect="1" noChangeArrowheads="1"/>
          </p:cNvPicPr>
          <p:nvPr userDrawn="1"/>
        </p:nvPicPr>
        <p:blipFill>
          <a:blip r:embed="rId12">
            <a:extLst>
              <a:ext uri="{28A0092B-C50C-407E-A947-70E740481C1C}">
                <a14:useLocalDpi xmlns:a14="http://schemas.microsoft.com/office/drawing/2010/main" xmlns="" val="0"/>
              </a:ext>
            </a:extLst>
          </a:blip>
          <a:srcRect/>
          <a:stretch>
            <a:fillRect/>
          </a:stretch>
        </p:blipFill>
        <p:spPr bwMode="auto">
          <a:xfrm>
            <a:off x="7884368" y="213488"/>
            <a:ext cx="1115549" cy="78744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7" r:id="rId4"/>
    <p:sldLayoutId id="2147483654" r:id="rId5"/>
    <p:sldLayoutId id="2147483661" r:id="rId6"/>
    <p:sldLayoutId id="2147483662" r:id="rId7"/>
    <p:sldLayoutId id="2147483663" r:id="rId8"/>
  </p:sldLayoutIdLst>
  <p:timing>
    <p:tnLst>
      <p:par>
        <p:cTn id="1" dur="indefinite" restart="never" nodeType="tmRoot"/>
      </p:par>
    </p:tnLst>
  </p:timing>
  <p:hf hdr="0"/>
  <p:txStyles>
    <p:titleStyle>
      <a:lvl1pPr algn="ctr" defTabSz="914400" rtl="0" eaLnBrk="1" latinLnBrk="0" hangingPunct="1">
        <a:spcBef>
          <a:spcPct val="0"/>
        </a:spcBef>
        <a:buNone/>
        <a:defRPr sz="4000" b="1" kern="1200">
          <a:solidFill>
            <a:schemeClr val="bg1"/>
          </a:solidFill>
          <a:latin typeface="微软雅黑" pitchFamily="34" charset="-122"/>
          <a:ea typeface="微软雅黑" pitchFamily="34" charset="-122"/>
          <a:cs typeface="+mj-cs"/>
        </a:defRPr>
      </a:lvl1pPr>
    </p:titleStyle>
    <p:bodyStyle>
      <a:lvl1pPr marL="342900" indent="-342900" algn="l" defTabSz="914400" rtl="0" eaLnBrk="1" latinLnBrk="0" hangingPunct="1">
        <a:lnSpc>
          <a:spcPct val="150000"/>
        </a:lnSpc>
        <a:spcBef>
          <a:spcPts val="0"/>
        </a:spcBef>
        <a:buFont typeface="Arial" pitchFamily="34" charset="0"/>
        <a:buChar char="•"/>
        <a:defRPr sz="3200" b="1" kern="1200">
          <a:solidFill>
            <a:schemeClr val="tx1">
              <a:lumMod val="75000"/>
              <a:lumOff val="25000"/>
            </a:schemeClr>
          </a:solidFill>
          <a:latin typeface="微软雅黑" pitchFamily="34" charset="-122"/>
          <a:ea typeface="微软雅黑" pitchFamily="34" charset="-122"/>
          <a:cs typeface="+mn-cs"/>
        </a:defRPr>
      </a:lvl1pPr>
      <a:lvl2pPr marL="742950" indent="-285750" algn="l" defTabSz="914400" rtl="0" eaLnBrk="1" latinLnBrk="0" hangingPunct="1">
        <a:lnSpc>
          <a:spcPct val="150000"/>
        </a:lnSpc>
        <a:spcBef>
          <a:spcPts val="0"/>
        </a:spcBef>
        <a:buFont typeface="Arial" pitchFamily="34" charset="0"/>
        <a:buChar char="–"/>
        <a:defRPr sz="2800" b="1" kern="1200">
          <a:solidFill>
            <a:schemeClr val="tx1">
              <a:lumMod val="75000"/>
              <a:lumOff val="25000"/>
            </a:schemeClr>
          </a:solidFill>
          <a:latin typeface="微软雅黑" pitchFamily="34" charset="-122"/>
          <a:ea typeface="微软雅黑" pitchFamily="34" charset="-122"/>
          <a:cs typeface="+mn-cs"/>
        </a:defRPr>
      </a:lvl2pPr>
      <a:lvl3pPr marL="1143000" indent="-228600" algn="l" defTabSz="914400" rtl="0" eaLnBrk="1" latinLnBrk="0" hangingPunct="1">
        <a:lnSpc>
          <a:spcPct val="150000"/>
        </a:lnSpc>
        <a:spcBef>
          <a:spcPts val="0"/>
        </a:spcBef>
        <a:buFont typeface="Arial" pitchFamily="34" charset="0"/>
        <a:buChar char="•"/>
        <a:defRPr sz="2400" b="1" kern="1200">
          <a:solidFill>
            <a:schemeClr val="tx1">
              <a:lumMod val="75000"/>
              <a:lumOff val="25000"/>
            </a:schemeClr>
          </a:solidFill>
          <a:latin typeface="微软雅黑" pitchFamily="34" charset="-122"/>
          <a:ea typeface="微软雅黑" pitchFamily="34" charset="-122"/>
          <a:cs typeface="+mn-cs"/>
        </a:defRPr>
      </a:lvl3pPr>
      <a:lvl4pPr marL="1600200" indent="-228600" algn="l" defTabSz="914400" rtl="0" eaLnBrk="1" latinLnBrk="0" hangingPunct="1">
        <a:lnSpc>
          <a:spcPct val="150000"/>
        </a:lnSpc>
        <a:spcBef>
          <a:spcPts val="0"/>
        </a:spcBef>
        <a:buFont typeface="Arial" pitchFamily="34" charset="0"/>
        <a:buChar char="–"/>
        <a:defRPr sz="2000" b="1" kern="1200">
          <a:solidFill>
            <a:schemeClr val="tx1">
              <a:lumMod val="75000"/>
              <a:lumOff val="25000"/>
            </a:schemeClr>
          </a:solidFill>
          <a:latin typeface="微软雅黑" pitchFamily="34" charset="-122"/>
          <a:ea typeface="微软雅黑" pitchFamily="34" charset="-122"/>
          <a:cs typeface="+mn-cs"/>
        </a:defRPr>
      </a:lvl4pPr>
      <a:lvl5pPr marL="2057400" indent="-228600" algn="l" defTabSz="914400" rtl="0" eaLnBrk="1" latinLnBrk="0" hangingPunct="1">
        <a:lnSpc>
          <a:spcPct val="150000"/>
        </a:lnSpc>
        <a:spcBef>
          <a:spcPts val="0"/>
        </a:spcBef>
        <a:buFont typeface="Arial" pitchFamily="34" charset="0"/>
        <a:buChar char="»"/>
        <a:defRPr sz="2000" b="1" kern="1200">
          <a:solidFill>
            <a:schemeClr val="tx1">
              <a:lumMod val="75000"/>
              <a:lumOff val="25000"/>
            </a:schemeClr>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image" Target="../media/image20.png"/><Relationship Id="rId7"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3.bin"/><Relationship Id="rId5" Type="http://schemas.openxmlformats.org/officeDocument/2006/relationships/oleObject" Target="../embeddings/oleObject2.bin"/><Relationship Id="rId4" Type="http://schemas.openxmlformats.org/officeDocument/2006/relationships/oleObject" Target="../embeddings/oleObject1.bin"/></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8.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7"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7.bin"/><Relationship Id="rId5" Type="http://schemas.openxmlformats.org/officeDocument/2006/relationships/oleObject" Target="../embeddings/oleObject6.bin"/><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33.png"/><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oleObject" Target="../embeddings/oleObject9.bin"/></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7.xml"/><Relationship Id="rId1" Type="http://schemas.openxmlformats.org/officeDocument/2006/relationships/vmlDrawing" Target="../drawings/vmlDrawing4.v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7.xml"/><Relationship Id="rId1" Type="http://schemas.openxmlformats.org/officeDocument/2006/relationships/vmlDrawing" Target="../drawings/vmlDrawing5.vml"/><Relationship Id="rId4" Type="http://schemas.openxmlformats.org/officeDocument/2006/relationships/oleObject" Target="../embeddings/oleObject11.bin"/></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7.xml"/><Relationship Id="rId1" Type="http://schemas.openxmlformats.org/officeDocument/2006/relationships/vmlDrawing" Target="../drawings/vmlDrawing6.vml"/><Relationship Id="rId4" Type="http://schemas.openxmlformats.org/officeDocument/2006/relationships/oleObject" Target="../embeddings/oleObject12.bin"/></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40.emf"/></Relationships>
</file>

<file path=ppt/slides/_rels/slide40.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8.jpeg"/></Relationships>
</file>

<file path=ppt/slides/_rels/slide4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7.xml"/><Relationship Id="rId1" Type="http://schemas.openxmlformats.org/officeDocument/2006/relationships/vmlDrawing" Target="../drawings/vmlDrawing7.vml"/><Relationship Id="rId4" Type="http://schemas.openxmlformats.org/officeDocument/2006/relationships/oleObject" Target="../embeddings/oleObject13.bin"/></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7.xml"/><Relationship Id="rId1" Type="http://schemas.openxmlformats.org/officeDocument/2006/relationships/vmlDrawing" Target="../drawings/vmlDrawing8.vml"/><Relationship Id="rId5" Type="http://schemas.openxmlformats.org/officeDocument/2006/relationships/image" Target="../media/image46.png"/><Relationship Id="rId4" Type="http://schemas.openxmlformats.org/officeDocument/2006/relationships/oleObject" Target="../embeddings/oleObject14.bin"/></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195736" y="4797152"/>
            <a:ext cx="4914912" cy="1512168"/>
          </a:xfrm>
        </p:spPr>
        <p:txBody>
          <a:bodyPr/>
          <a:lstStyle/>
          <a:p>
            <a:r>
              <a:rPr lang="en-US" altLang="zh-CN" sz="2800" dirty="0">
                <a:solidFill>
                  <a:schemeClr val="bg1"/>
                </a:solidFill>
                <a:effectLst>
                  <a:outerShdw blurRad="38100" dist="38100" dir="2700000" algn="tl">
                    <a:srgbClr val="000000">
                      <a:alpha val="43137"/>
                    </a:srgbClr>
                  </a:outerShdw>
                </a:effectLst>
              </a:rPr>
              <a:t>DFH SATELLITE </a:t>
            </a:r>
            <a:r>
              <a:rPr lang="en-US" altLang="zh-CN" sz="2800" dirty="0" smtClean="0">
                <a:solidFill>
                  <a:schemeClr val="bg1"/>
                </a:solidFill>
                <a:effectLst>
                  <a:outerShdw blurRad="38100" dist="38100" dir="2700000" algn="tl">
                    <a:srgbClr val="000000">
                      <a:alpha val="43137"/>
                    </a:srgbClr>
                  </a:outerShdw>
                </a:effectLst>
              </a:rPr>
              <a:t>CO.,LTD</a:t>
            </a:r>
          </a:p>
          <a:p>
            <a:r>
              <a:rPr lang="en-US" altLang="zh-CN" sz="2800" dirty="0" smtClean="0"/>
              <a:t>February.</a:t>
            </a:r>
            <a:r>
              <a:rPr lang="en-US" altLang="zh-CN" sz="2800" dirty="0" smtClean="0">
                <a:solidFill>
                  <a:schemeClr val="bg1"/>
                </a:solidFill>
                <a:effectLst>
                  <a:outerShdw blurRad="38100" dist="38100" dir="2700000" algn="tl">
                    <a:srgbClr val="000000">
                      <a:alpha val="43137"/>
                    </a:srgbClr>
                  </a:outerShdw>
                </a:effectLst>
              </a:rPr>
              <a:t>2019</a:t>
            </a:r>
          </a:p>
          <a:p>
            <a:endParaRPr lang="zh-CN" altLang="en-US" dirty="0"/>
          </a:p>
          <a:p>
            <a:endParaRPr lang="zh-CN" altLang="en-US" dirty="0"/>
          </a:p>
        </p:txBody>
      </p:sp>
      <p:sp>
        <p:nvSpPr>
          <p:cNvPr id="3" name="标题 2"/>
          <p:cNvSpPr>
            <a:spLocks noGrp="1"/>
          </p:cNvSpPr>
          <p:nvPr>
            <p:ph type="title"/>
          </p:nvPr>
        </p:nvSpPr>
        <p:spPr>
          <a:xfrm>
            <a:off x="714348" y="1772816"/>
            <a:ext cx="7586658" cy="2088232"/>
          </a:xfrm>
        </p:spPr>
        <p:txBody>
          <a:bodyPr>
            <a:normAutofit/>
          </a:bodyPr>
          <a:lstStyle/>
          <a:p>
            <a:r>
              <a:rPr lang="en-US" altLang="zh-CN" dirty="0" smtClean="0"/>
              <a:t>ETRSS-1 </a:t>
            </a:r>
            <a:br>
              <a:rPr lang="en-US" altLang="zh-CN" dirty="0" smtClean="0"/>
            </a:br>
            <a:r>
              <a:rPr lang="en-US" altLang="zh-CN" dirty="0" smtClean="0"/>
              <a:t>TT&amp;C Module Design</a:t>
            </a:r>
            <a:endParaRPr lang="zh-CN" altLang="en-US"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xmlns="" val="34529731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8" name="灯片编号占位符 4"/>
          <p:cNvSpPr>
            <a:spLocks noGrp="1"/>
          </p:cNvSpPr>
          <p:nvPr>
            <p:ph type="sldNum" sz="quarter" idx="12"/>
          </p:nvPr>
        </p:nvSpPr>
        <p:spPr>
          <a:xfrm>
            <a:off x="7884368" y="6356350"/>
            <a:ext cx="802432" cy="365125"/>
          </a:xfrm>
        </p:spPr>
        <p:txBody>
          <a:bodyPr/>
          <a:lstStyle>
            <a:lvl1pPr eaLnBrk="0" hangingPunct="0">
              <a:defRPr sz="1200" b="1">
                <a:solidFill>
                  <a:schemeClr val="bg1"/>
                </a:solidFill>
                <a:latin typeface="Arial" charset="0"/>
                <a:ea typeface="楷体_GB2312" pitchFamily="49" charset="-122"/>
              </a:defRPr>
            </a:lvl1pPr>
            <a:lvl2pPr marL="742950" indent="-285750" eaLnBrk="0" hangingPunct="0">
              <a:defRPr sz="1200" b="1">
                <a:solidFill>
                  <a:schemeClr val="bg1"/>
                </a:solidFill>
                <a:latin typeface="Arial" charset="0"/>
                <a:ea typeface="楷体_GB2312" pitchFamily="49" charset="-122"/>
              </a:defRPr>
            </a:lvl2pPr>
            <a:lvl3pPr marL="1143000" indent="-228600" eaLnBrk="0" hangingPunct="0">
              <a:defRPr sz="1200" b="1">
                <a:solidFill>
                  <a:schemeClr val="bg1"/>
                </a:solidFill>
                <a:latin typeface="Arial" charset="0"/>
                <a:ea typeface="楷体_GB2312" pitchFamily="49" charset="-122"/>
              </a:defRPr>
            </a:lvl3pPr>
            <a:lvl4pPr marL="1600200" indent="-228600" eaLnBrk="0" hangingPunct="0">
              <a:defRPr sz="1200" b="1">
                <a:solidFill>
                  <a:schemeClr val="bg1"/>
                </a:solidFill>
                <a:latin typeface="Arial" charset="0"/>
                <a:ea typeface="楷体_GB2312" pitchFamily="49" charset="-122"/>
              </a:defRPr>
            </a:lvl4pPr>
            <a:lvl5pPr marL="2057400" indent="-228600" eaLnBrk="0" hangingPunct="0">
              <a:defRPr sz="1200" b="1">
                <a:solidFill>
                  <a:schemeClr val="bg1"/>
                </a:solidFill>
                <a:latin typeface="Arial" charset="0"/>
                <a:ea typeface="楷体_GB2312" pitchFamily="49" charset="-122"/>
              </a:defRPr>
            </a:lvl5pPr>
            <a:lvl6pPr marL="2514600" indent="-228600" eaLnBrk="0" fontAlgn="base" hangingPunct="0">
              <a:spcBef>
                <a:spcPct val="0"/>
              </a:spcBef>
              <a:spcAft>
                <a:spcPct val="0"/>
              </a:spcAft>
              <a:defRPr sz="1200" b="1">
                <a:solidFill>
                  <a:schemeClr val="bg1"/>
                </a:solidFill>
                <a:latin typeface="Arial" charset="0"/>
                <a:ea typeface="楷体_GB2312" pitchFamily="49" charset="-122"/>
              </a:defRPr>
            </a:lvl6pPr>
            <a:lvl7pPr marL="2971800" indent="-228600" eaLnBrk="0" fontAlgn="base" hangingPunct="0">
              <a:spcBef>
                <a:spcPct val="0"/>
              </a:spcBef>
              <a:spcAft>
                <a:spcPct val="0"/>
              </a:spcAft>
              <a:defRPr sz="1200" b="1">
                <a:solidFill>
                  <a:schemeClr val="bg1"/>
                </a:solidFill>
                <a:latin typeface="Arial" charset="0"/>
                <a:ea typeface="楷体_GB2312" pitchFamily="49" charset="-122"/>
              </a:defRPr>
            </a:lvl7pPr>
            <a:lvl8pPr marL="3429000" indent="-228600" eaLnBrk="0" fontAlgn="base" hangingPunct="0">
              <a:spcBef>
                <a:spcPct val="0"/>
              </a:spcBef>
              <a:spcAft>
                <a:spcPct val="0"/>
              </a:spcAft>
              <a:defRPr sz="1200" b="1">
                <a:solidFill>
                  <a:schemeClr val="bg1"/>
                </a:solidFill>
                <a:latin typeface="Arial" charset="0"/>
                <a:ea typeface="楷体_GB2312" pitchFamily="49" charset="-122"/>
              </a:defRPr>
            </a:lvl8pPr>
            <a:lvl9pPr marL="3886200" indent="-228600" eaLnBrk="0" fontAlgn="base" hangingPunct="0">
              <a:spcBef>
                <a:spcPct val="0"/>
              </a:spcBef>
              <a:spcAft>
                <a:spcPct val="0"/>
              </a:spcAft>
              <a:defRPr sz="1200" b="1">
                <a:solidFill>
                  <a:schemeClr val="bg1"/>
                </a:solidFill>
                <a:latin typeface="Arial" charset="0"/>
                <a:ea typeface="楷体_GB2312" pitchFamily="49" charset="-122"/>
              </a:defRPr>
            </a:lvl9pPr>
          </a:lstStyle>
          <a:p>
            <a:r>
              <a:rPr lang="en-US" altLang="zh-CN" smtClean="0"/>
              <a:t>PAGE</a:t>
            </a:r>
            <a:r>
              <a:rPr lang="zh-CN" altLang="en-US" smtClean="0"/>
              <a:t> </a:t>
            </a:r>
            <a:fld id="{0E6CAFD0-8E33-4F0C-BB2C-FD328BCEE58B}" type="slidenum">
              <a:rPr lang="zh-CN" altLang="en-US" smtClean="0"/>
              <a:pPr/>
              <a:t>2</a:t>
            </a:fld>
            <a:r>
              <a:rPr lang="zh-CN" altLang="en-US" smtClean="0"/>
              <a:t> </a:t>
            </a:r>
          </a:p>
        </p:txBody>
      </p:sp>
      <p:sp>
        <p:nvSpPr>
          <p:cNvPr id="10242" name="标题 1"/>
          <p:cNvSpPr>
            <a:spLocks noGrp="1"/>
          </p:cNvSpPr>
          <p:nvPr>
            <p:ph type="title" idx="4294967295"/>
          </p:nvPr>
        </p:nvSpPr>
        <p:spPr>
          <a:xfrm>
            <a:off x="0" y="274638"/>
            <a:ext cx="8229600" cy="1082675"/>
          </a:xfrm>
        </p:spPr>
        <p:txBody>
          <a:bodyPr/>
          <a:lstStyle/>
          <a:p>
            <a:r>
              <a:rPr lang="en-US" altLang="zh-CN" smtClean="0"/>
              <a:t>Terms and Abbreviations</a:t>
            </a:r>
            <a:endParaRPr lang="zh-CN" altLang="en-US" dirty="0" smtClean="0"/>
          </a:p>
        </p:txBody>
      </p:sp>
      <p:grpSp>
        <p:nvGrpSpPr>
          <p:cNvPr id="2" name="组合 9"/>
          <p:cNvGrpSpPr>
            <a:grpSpLocks/>
          </p:cNvGrpSpPr>
          <p:nvPr/>
        </p:nvGrpSpPr>
        <p:grpSpPr bwMode="auto">
          <a:xfrm>
            <a:off x="1357290" y="1071546"/>
            <a:ext cx="6286544" cy="5472175"/>
            <a:chOff x="860360" y="901875"/>
            <a:chExt cx="5536504" cy="6554415"/>
          </a:xfrm>
        </p:grpSpPr>
        <p:sp>
          <p:nvSpPr>
            <p:cNvPr id="6" name="圆角矩形 5"/>
            <p:cNvSpPr/>
            <p:nvPr/>
          </p:nvSpPr>
          <p:spPr bwMode="auto">
            <a:xfrm>
              <a:off x="860360" y="1215976"/>
              <a:ext cx="5536504" cy="6240314"/>
            </a:xfrm>
            <a:prstGeom prst="roundRect">
              <a:avLst/>
            </a:prstGeom>
            <a:ln>
              <a:solidFill>
                <a:srgbClr val="FFC000"/>
              </a:solidFill>
              <a:headEnd type="none" w="med" len="med"/>
              <a:tailEnd type="none" w="med" len="med"/>
            </a:ln>
            <a:effectLst>
              <a:glow rad="63500">
                <a:schemeClr val="accent2">
                  <a:satMod val="175000"/>
                  <a:alpha val="40000"/>
                </a:schemeClr>
              </a:glow>
            </a:effectLst>
          </p:spPr>
          <p:style>
            <a:lnRef idx="2">
              <a:schemeClr val="accent2"/>
            </a:lnRef>
            <a:fillRef idx="1">
              <a:schemeClr val="lt1"/>
            </a:fillRef>
            <a:effectRef idx="0">
              <a:schemeClr val="accent2"/>
            </a:effectRef>
            <a:fontRef idx="minor">
              <a:schemeClr val="dk1"/>
            </a:fontRef>
          </p:style>
          <p:txBody>
            <a:bodyPr>
              <a:spAutoFit/>
            </a:bodyPr>
            <a:lstStyle/>
            <a:p>
              <a:pPr marL="609600" indent="-609600">
                <a:lnSpc>
                  <a:spcPct val="150000"/>
                </a:lnSpc>
                <a:spcBef>
                  <a:spcPts val="0"/>
                </a:spcBef>
                <a:buClr>
                  <a:schemeClr val="tx2"/>
                </a:buClr>
                <a:buFont typeface="Wingdings" pitchFamily="2" charset="2"/>
                <a:buChar char="l"/>
                <a:defRPr/>
              </a:pPr>
              <a:r>
                <a:rPr lang="en-GB" altLang="zh-CN" sz="2000" dirty="0" smtClean="0">
                  <a:solidFill>
                    <a:srgbClr val="003366"/>
                  </a:solidFill>
                  <a:latin typeface="Times New Roman" pitchFamily="18" charset="0"/>
                  <a:cs typeface="Times New Roman" pitchFamily="18" charset="0"/>
                </a:rPr>
                <a:t>EIRP </a:t>
              </a:r>
              <a:r>
                <a:rPr lang="en-US" altLang="zh-CN" sz="2000" dirty="0">
                  <a:solidFill>
                    <a:srgbClr val="003366"/>
                  </a:solidFill>
                  <a:latin typeface="Times New Roman" pitchFamily="18" charset="0"/>
                  <a:cs typeface="Times New Roman" pitchFamily="18" charset="0"/>
                </a:rPr>
                <a:t>—— </a:t>
              </a:r>
              <a:r>
                <a:rPr lang="en-GB" altLang="zh-CN" sz="2000" dirty="0">
                  <a:solidFill>
                    <a:srgbClr val="003366"/>
                  </a:solidFill>
                  <a:latin typeface="Times New Roman" pitchFamily="18" charset="0"/>
                  <a:cs typeface="Times New Roman" pitchFamily="18" charset="0"/>
                </a:rPr>
                <a:t>Equivalent Isotropic Radiated Power</a:t>
              </a:r>
              <a:endParaRPr lang="zh-CN" altLang="en-US" sz="2000" dirty="0">
                <a:solidFill>
                  <a:srgbClr val="003366"/>
                </a:solidFill>
                <a:latin typeface="Times New Roman" pitchFamily="18" charset="0"/>
                <a:cs typeface="Times New Roman" pitchFamily="18" charset="0"/>
              </a:endParaRPr>
            </a:p>
            <a:p>
              <a:pPr marL="609600" indent="-609600">
                <a:lnSpc>
                  <a:spcPct val="150000"/>
                </a:lnSpc>
                <a:spcBef>
                  <a:spcPts val="0"/>
                </a:spcBef>
                <a:buClr>
                  <a:schemeClr val="tx2"/>
                </a:buClr>
                <a:buFont typeface="Wingdings" pitchFamily="2" charset="2"/>
                <a:buChar char="l"/>
                <a:defRPr/>
              </a:pPr>
              <a:r>
                <a:rPr lang="en-GB" altLang="zh-CN" sz="2000" dirty="0" smtClean="0">
                  <a:solidFill>
                    <a:srgbClr val="003366"/>
                  </a:solidFill>
                  <a:latin typeface="Times New Roman" pitchFamily="18" charset="0"/>
                  <a:cs typeface="Times New Roman" pitchFamily="18" charset="0"/>
                </a:rPr>
                <a:t>OBDH</a:t>
              </a:r>
              <a:r>
                <a:rPr lang="en-US" altLang="zh-CN" sz="2000" dirty="0">
                  <a:solidFill>
                    <a:srgbClr val="003366"/>
                  </a:solidFill>
                  <a:latin typeface="Times New Roman" pitchFamily="18" charset="0"/>
                  <a:cs typeface="Times New Roman" pitchFamily="18" charset="0"/>
                </a:rPr>
                <a:t>——</a:t>
              </a:r>
              <a:r>
                <a:rPr lang="en-GB" altLang="zh-CN" sz="2000" dirty="0">
                  <a:solidFill>
                    <a:srgbClr val="003366"/>
                  </a:solidFill>
                  <a:latin typeface="Times New Roman" pitchFamily="18" charset="0"/>
                  <a:cs typeface="Times New Roman" pitchFamily="18" charset="0"/>
                </a:rPr>
                <a:t>On Board Data Handling</a:t>
              </a:r>
              <a:endParaRPr lang="zh-CN" altLang="en-US" sz="2000" dirty="0">
                <a:solidFill>
                  <a:srgbClr val="003366"/>
                </a:solidFill>
                <a:latin typeface="Times New Roman" pitchFamily="18" charset="0"/>
                <a:cs typeface="Times New Roman" pitchFamily="18" charset="0"/>
              </a:endParaRPr>
            </a:p>
            <a:p>
              <a:pPr marL="609600" indent="-609600">
                <a:lnSpc>
                  <a:spcPct val="150000"/>
                </a:lnSpc>
                <a:spcBef>
                  <a:spcPts val="0"/>
                </a:spcBef>
                <a:buClr>
                  <a:schemeClr val="tx2"/>
                </a:buClr>
                <a:buFont typeface="Wingdings" pitchFamily="2" charset="2"/>
                <a:buChar char="l"/>
                <a:defRPr/>
              </a:pPr>
              <a:r>
                <a:rPr lang="en-US" altLang="zh-CN" sz="2000" dirty="0" smtClean="0">
                  <a:solidFill>
                    <a:srgbClr val="003366"/>
                  </a:solidFill>
                  <a:latin typeface="Times New Roman" pitchFamily="18" charset="0"/>
                  <a:cs typeface="Times New Roman" pitchFamily="18" charset="0"/>
                </a:rPr>
                <a:t>PCM</a:t>
              </a:r>
              <a:r>
                <a:rPr lang="en-US" altLang="zh-CN" sz="2000" dirty="0">
                  <a:solidFill>
                    <a:srgbClr val="003366"/>
                  </a:solidFill>
                  <a:latin typeface="Times New Roman" pitchFamily="18" charset="0"/>
                  <a:cs typeface="Times New Roman" pitchFamily="18" charset="0"/>
                </a:rPr>
                <a:t>——Pulse Code Modulation</a:t>
              </a:r>
              <a:endParaRPr lang="zh-CN" altLang="en-US" sz="2000" dirty="0">
                <a:solidFill>
                  <a:srgbClr val="003366"/>
                </a:solidFill>
                <a:latin typeface="Times New Roman" pitchFamily="18" charset="0"/>
                <a:cs typeface="Times New Roman" pitchFamily="18" charset="0"/>
              </a:endParaRPr>
            </a:p>
            <a:p>
              <a:pPr marL="609600" indent="-609600">
                <a:lnSpc>
                  <a:spcPct val="150000"/>
                </a:lnSpc>
                <a:spcBef>
                  <a:spcPts val="0"/>
                </a:spcBef>
                <a:buClr>
                  <a:schemeClr val="tx2"/>
                </a:buClr>
                <a:buFont typeface="Wingdings" pitchFamily="2" charset="2"/>
                <a:buChar char="l"/>
                <a:defRPr/>
              </a:pPr>
              <a:r>
                <a:rPr lang="en-GB" altLang="zh-CN" sz="2000" dirty="0">
                  <a:solidFill>
                    <a:srgbClr val="003366"/>
                  </a:solidFill>
                  <a:latin typeface="Times New Roman" pitchFamily="18" charset="0"/>
                  <a:cs typeface="Times New Roman" pitchFamily="18" charset="0"/>
                </a:rPr>
                <a:t>PM</a:t>
              </a:r>
              <a:r>
                <a:rPr lang="en-US" altLang="zh-CN" sz="2000" dirty="0">
                  <a:solidFill>
                    <a:srgbClr val="003366"/>
                  </a:solidFill>
                  <a:latin typeface="Times New Roman" pitchFamily="18" charset="0"/>
                  <a:cs typeface="Times New Roman" pitchFamily="18" charset="0"/>
                </a:rPr>
                <a:t>——</a:t>
              </a:r>
              <a:r>
                <a:rPr lang="en-GB" altLang="zh-CN" sz="2000" dirty="0">
                  <a:solidFill>
                    <a:srgbClr val="003366"/>
                  </a:solidFill>
                  <a:latin typeface="Times New Roman" pitchFamily="18" charset="0"/>
                  <a:cs typeface="Times New Roman" pitchFamily="18" charset="0"/>
                </a:rPr>
                <a:t>Phase </a:t>
              </a:r>
              <a:r>
                <a:rPr lang="en-GB" altLang="zh-CN" sz="2000" dirty="0" smtClean="0">
                  <a:solidFill>
                    <a:srgbClr val="003366"/>
                  </a:solidFill>
                  <a:latin typeface="Times New Roman" pitchFamily="18" charset="0"/>
                  <a:cs typeface="Times New Roman" pitchFamily="18" charset="0"/>
                </a:rPr>
                <a:t>Modulation</a:t>
              </a:r>
            </a:p>
            <a:p>
              <a:pPr marL="609600" indent="-609600">
                <a:lnSpc>
                  <a:spcPct val="150000"/>
                </a:lnSpc>
                <a:spcBef>
                  <a:spcPts val="0"/>
                </a:spcBef>
                <a:buClr>
                  <a:schemeClr val="tx2"/>
                </a:buClr>
                <a:buFont typeface="Wingdings" pitchFamily="2" charset="2"/>
                <a:buChar char="l"/>
                <a:defRPr/>
              </a:pPr>
              <a:r>
                <a:rPr lang="en-GB" altLang="zh-CN" sz="2000" dirty="0" smtClean="0">
                  <a:solidFill>
                    <a:srgbClr val="003366"/>
                  </a:solidFill>
                  <a:latin typeface="Times New Roman" pitchFamily="18" charset="0"/>
                  <a:cs typeface="Times New Roman" pitchFamily="18" charset="0"/>
                </a:rPr>
                <a:t>PSK</a:t>
              </a:r>
              <a:r>
                <a:rPr lang="en-US" altLang="zh-CN" sz="2000" dirty="0" smtClean="0">
                  <a:solidFill>
                    <a:srgbClr val="003366"/>
                  </a:solidFill>
                  <a:latin typeface="Times New Roman" pitchFamily="18" charset="0"/>
                  <a:cs typeface="Times New Roman" pitchFamily="18" charset="0"/>
                </a:rPr>
                <a:t>——Phase Shift Keying</a:t>
              </a:r>
              <a:endParaRPr lang="zh-CN" altLang="en-US" sz="2000" dirty="0" smtClean="0">
                <a:solidFill>
                  <a:srgbClr val="003366"/>
                </a:solidFill>
                <a:latin typeface="Times New Roman" pitchFamily="18" charset="0"/>
                <a:cs typeface="Times New Roman" pitchFamily="18" charset="0"/>
              </a:endParaRPr>
            </a:p>
            <a:p>
              <a:pPr marL="609600" indent="-609600">
                <a:lnSpc>
                  <a:spcPct val="150000"/>
                </a:lnSpc>
                <a:spcBef>
                  <a:spcPts val="0"/>
                </a:spcBef>
                <a:buClr>
                  <a:schemeClr val="tx2"/>
                </a:buClr>
                <a:buFont typeface="Wingdings" pitchFamily="2" charset="2"/>
                <a:buChar char="l"/>
                <a:defRPr/>
              </a:pPr>
              <a:r>
                <a:rPr lang="en-GB" altLang="zh-CN" sz="2000" dirty="0" smtClean="0">
                  <a:solidFill>
                    <a:srgbClr val="003366"/>
                  </a:solidFill>
                  <a:latin typeface="Times New Roman" pitchFamily="18" charset="0"/>
                  <a:cs typeface="Times New Roman" pitchFamily="18" charset="0"/>
                </a:rPr>
                <a:t>SNR</a:t>
              </a:r>
              <a:r>
                <a:rPr lang="en-US" altLang="zh-CN" sz="2000" dirty="0" smtClean="0">
                  <a:solidFill>
                    <a:srgbClr val="003366"/>
                  </a:solidFill>
                  <a:latin typeface="Times New Roman" pitchFamily="18" charset="0"/>
                  <a:cs typeface="Times New Roman" pitchFamily="18" charset="0"/>
                </a:rPr>
                <a:t>——</a:t>
              </a:r>
              <a:r>
                <a:rPr lang="en-GB" altLang="zh-CN" sz="2000" dirty="0" smtClean="0">
                  <a:solidFill>
                    <a:srgbClr val="003366"/>
                  </a:solidFill>
                  <a:latin typeface="Times New Roman" pitchFamily="18" charset="0"/>
                  <a:cs typeface="Times New Roman" pitchFamily="18" charset="0"/>
                </a:rPr>
                <a:t>Signal to Noise Ratio</a:t>
              </a:r>
            </a:p>
            <a:p>
              <a:pPr marL="609600" indent="-609600">
                <a:lnSpc>
                  <a:spcPct val="150000"/>
                </a:lnSpc>
                <a:spcBef>
                  <a:spcPts val="0"/>
                </a:spcBef>
                <a:buClr>
                  <a:schemeClr val="tx2"/>
                </a:buClr>
                <a:buFont typeface="Wingdings" pitchFamily="2" charset="2"/>
                <a:buChar char="l"/>
                <a:defRPr/>
              </a:pPr>
              <a:r>
                <a:rPr lang="en-GB" altLang="zh-CN" sz="2000" dirty="0" smtClean="0">
                  <a:solidFill>
                    <a:srgbClr val="003366"/>
                  </a:solidFill>
                  <a:latin typeface="Times New Roman" pitchFamily="18" charset="0"/>
                  <a:cs typeface="Times New Roman" pitchFamily="18" charset="0"/>
                </a:rPr>
                <a:t>USB</a:t>
              </a:r>
              <a:r>
                <a:rPr lang="en-US" altLang="zh-CN" sz="2000" dirty="0" smtClean="0">
                  <a:solidFill>
                    <a:srgbClr val="003366"/>
                  </a:solidFill>
                  <a:latin typeface="Times New Roman" pitchFamily="18" charset="0"/>
                  <a:cs typeface="Times New Roman" pitchFamily="18" charset="0"/>
                </a:rPr>
                <a:t>——</a:t>
              </a:r>
              <a:r>
                <a:rPr lang="en-GB" altLang="zh-CN" sz="2000" dirty="0" smtClean="0">
                  <a:solidFill>
                    <a:srgbClr val="003366"/>
                  </a:solidFill>
                  <a:latin typeface="Times New Roman" pitchFamily="18" charset="0"/>
                  <a:cs typeface="Times New Roman" pitchFamily="18" charset="0"/>
                </a:rPr>
                <a:t>Unified S-band</a:t>
              </a:r>
            </a:p>
            <a:p>
              <a:pPr marL="609600" indent="-609600">
                <a:lnSpc>
                  <a:spcPct val="150000"/>
                </a:lnSpc>
                <a:spcBef>
                  <a:spcPts val="0"/>
                </a:spcBef>
                <a:buClr>
                  <a:schemeClr val="tx2"/>
                </a:buClr>
                <a:buFont typeface="Wingdings" pitchFamily="2" charset="2"/>
                <a:buChar char="l"/>
                <a:defRPr/>
              </a:pPr>
              <a:r>
                <a:rPr lang="en-GB" altLang="zh-CN" sz="2000" dirty="0" smtClean="0">
                  <a:solidFill>
                    <a:srgbClr val="003366"/>
                  </a:solidFill>
                  <a:latin typeface="Times New Roman" pitchFamily="18" charset="0"/>
                  <a:cs typeface="Times New Roman" pitchFamily="18" charset="0"/>
                </a:rPr>
                <a:t>TC  </a:t>
              </a:r>
              <a:r>
                <a:rPr lang="en-US" altLang="zh-CN" sz="2000" dirty="0" smtClean="0">
                  <a:solidFill>
                    <a:srgbClr val="003366"/>
                  </a:solidFill>
                  <a:latin typeface="Times New Roman" pitchFamily="18" charset="0"/>
                  <a:cs typeface="Times New Roman" pitchFamily="18" charset="0"/>
                </a:rPr>
                <a:t>——</a:t>
              </a:r>
              <a:r>
                <a:rPr lang="en-GB" altLang="zh-CN" sz="2000" dirty="0" smtClean="0">
                  <a:solidFill>
                    <a:srgbClr val="003366"/>
                  </a:solidFill>
                  <a:latin typeface="Times New Roman" pitchFamily="18" charset="0"/>
                  <a:cs typeface="Times New Roman" pitchFamily="18" charset="0"/>
                </a:rPr>
                <a:t>Tele-Command</a:t>
              </a:r>
              <a:endParaRPr lang="zh-CN" altLang="en-US" sz="2000" dirty="0" smtClean="0">
                <a:solidFill>
                  <a:srgbClr val="003366"/>
                </a:solidFill>
                <a:latin typeface="Times New Roman" pitchFamily="18" charset="0"/>
                <a:cs typeface="Times New Roman" pitchFamily="18" charset="0"/>
              </a:endParaRPr>
            </a:p>
            <a:p>
              <a:pPr marL="609600" indent="-609600">
                <a:lnSpc>
                  <a:spcPct val="150000"/>
                </a:lnSpc>
                <a:spcBef>
                  <a:spcPts val="0"/>
                </a:spcBef>
                <a:buClr>
                  <a:schemeClr val="tx2"/>
                </a:buClr>
                <a:buFont typeface="Wingdings" pitchFamily="2" charset="2"/>
                <a:buChar char="l"/>
                <a:defRPr/>
              </a:pPr>
              <a:r>
                <a:rPr lang="en-US" altLang="zh-CN" sz="2000" dirty="0" smtClean="0">
                  <a:solidFill>
                    <a:srgbClr val="003366"/>
                  </a:solidFill>
                  <a:latin typeface="Times New Roman" pitchFamily="18" charset="0"/>
                  <a:cs typeface="Times New Roman" pitchFamily="18" charset="0"/>
                </a:rPr>
                <a:t>TM ——Telemetry</a:t>
              </a:r>
              <a:endParaRPr lang="zh-CN" altLang="en-US" sz="2000" dirty="0" smtClean="0">
                <a:solidFill>
                  <a:srgbClr val="003366"/>
                </a:solidFill>
                <a:latin typeface="Times New Roman" pitchFamily="18" charset="0"/>
                <a:cs typeface="Times New Roman" pitchFamily="18" charset="0"/>
              </a:endParaRPr>
            </a:p>
            <a:p>
              <a:pPr marL="609600" indent="-609600">
                <a:lnSpc>
                  <a:spcPct val="150000"/>
                </a:lnSpc>
                <a:spcBef>
                  <a:spcPts val="0"/>
                </a:spcBef>
                <a:buClr>
                  <a:schemeClr val="tx2"/>
                </a:buClr>
                <a:buFont typeface="Wingdings" pitchFamily="2" charset="2"/>
                <a:buChar char="l"/>
                <a:defRPr/>
              </a:pPr>
              <a:r>
                <a:rPr lang="en-GB" altLang="zh-CN" sz="2000" dirty="0" smtClean="0">
                  <a:solidFill>
                    <a:srgbClr val="003366"/>
                  </a:solidFill>
                  <a:latin typeface="Times New Roman" pitchFamily="18" charset="0"/>
                  <a:cs typeface="Times New Roman" pitchFamily="18" charset="0"/>
                </a:rPr>
                <a:t>UTC</a:t>
              </a:r>
              <a:r>
                <a:rPr lang="en-US" altLang="zh-CN" sz="2000" dirty="0" smtClean="0">
                  <a:solidFill>
                    <a:srgbClr val="003366"/>
                  </a:solidFill>
                  <a:latin typeface="Times New Roman" pitchFamily="18" charset="0"/>
                  <a:cs typeface="Times New Roman" pitchFamily="18" charset="0"/>
                </a:rPr>
                <a:t>——</a:t>
              </a:r>
              <a:r>
                <a:rPr lang="en-GB" altLang="zh-CN" sz="2000" dirty="0" smtClean="0">
                  <a:solidFill>
                    <a:srgbClr val="003366"/>
                  </a:solidFill>
                  <a:latin typeface="Times New Roman" pitchFamily="18" charset="0"/>
                  <a:cs typeface="Times New Roman" pitchFamily="18" charset="0"/>
                </a:rPr>
                <a:t>Coordinated Universal Time</a:t>
              </a:r>
              <a:endParaRPr lang="zh-CN" altLang="en-US" sz="2000" dirty="0">
                <a:solidFill>
                  <a:srgbClr val="003366"/>
                </a:solidFill>
                <a:latin typeface="Times New Roman" pitchFamily="18" charset="0"/>
                <a:cs typeface="Times New Roman" pitchFamily="18" charset="0"/>
              </a:endParaRPr>
            </a:p>
          </p:txBody>
        </p:sp>
        <p:sp>
          <p:nvSpPr>
            <p:cNvPr id="10252" name="十字星 6"/>
            <p:cNvSpPr>
              <a:spLocks noChangeArrowheads="1"/>
            </p:cNvSpPr>
            <p:nvPr/>
          </p:nvSpPr>
          <p:spPr bwMode="auto">
            <a:xfrm>
              <a:off x="2267212" y="901875"/>
              <a:ext cx="563671" cy="814192"/>
            </a:xfrm>
            <a:prstGeom prst="star4">
              <a:avLst>
                <a:gd name="adj" fmla="val 11384"/>
              </a:avLst>
            </a:prstGeom>
            <a:solidFill>
              <a:srgbClr val="FFC000"/>
            </a:solidFill>
            <a:ln w="9525" algn="ctr">
              <a:solidFill>
                <a:srgbClr val="FFFF00"/>
              </a:solidFill>
              <a:round/>
              <a:headEnd/>
              <a:tailEnd/>
            </a:ln>
          </p:spPr>
          <p:txBody>
            <a:bodyPr>
              <a:spAutoFit/>
            </a:bodyPr>
            <a:lstStyle/>
            <a:p>
              <a:pPr>
                <a:spcBef>
                  <a:spcPct val="50000"/>
                </a:spcBef>
                <a:buClr>
                  <a:srgbClr val="FF0000"/>
                </a:buClr>
                <a:buFont typeface="Wingdings" pitchFamily="2" charset="2"/>
                <a:buChar char="n"/>
              </a:pPr>
              <a:endParaRPr lang="zh-CN" altLang="en-US" sz="2000" b="0">
                <a:solidFill>
                  <a:schemeClr val="tx1"/>
                </a:solidFill>
                <a:latin typeface="Haettenschweiler" pitchFamily="34" charset="0"/>
              </a:endParaRPr>
            </a:p>
          </p:txBody>
        </p:sp>
        <p:sp>
          <p:nvSpPr>
            <p:cNvPr id="10253" name="十字星 7"/>
            <p:cNvSpPr>
              <a:spLocks noChangeArrowheads="1"/>
            </p:cNvSpPr>
            <p:nvPr/>
          </p:nvSpPr>
          <p:spPr bwMode="auto">
            <a:xfrm>
              <a:off x="2620028" y="954067"/>
              <a:ext cx="563671" cy="599160"/>
            </a:xfrm>
            <a:prstGeom prst="star4">
              <a:avLst>
                <a:gd name="adj" fmla="val 11384"/>
              </a:avLst>
            </a:prstGeom>
            <a:solidFill>
              <a:srgbClr val="FFC000"/>
            </a:solidFill>
            <a:ln w="9525" algn="ctr">
              <a:solidFill>
                <a:srgbClr val="FFFF00"/>
              </a:solidFill>
              <a:round/>
              <a:headEnd/>
              <a:tailEnd/>
            </a:ln>
          </p:spPr>
          <p:txBody>
            <a:bodyPr>
              <a:spAutoFit/>
            </a:bodyPr>
            <a:lstStyle/>
            <a:p>
              <a:pPr>
                <a:spcBef>
                  <a:spcPct val="50000"/>
                </a:spcBef>
                <a:buClr>
                  <a:srgbClr val="FF0000"/>
                </a:buClr>
                <a:buFont typeface="Wingdings" pitchFamily="2" charset="2"/>
                <a:buChar char="n"/>
              </a:pPr>
              <a:endParaRPr lang="zh-CN" altLang="en-US" sz="2000" b="0">
                <a:solidFill>
                  <a:schemeClr val="tx1"/>
                </a:solidFill>
                <a:latin typeface="Haettenschweiler" pitchFamily="34" charset="0"/>
              </a:endParaRPr>
            </a:p>
          </p:txBody>
        </p:sp>
        <p:sp>
          <p:nvSpPr>
            <p:cNvPr id="10254" name="十字星 8"/>
            <p:cNvSpPr>
              <a:spLocks noChangeArrowheads="1"/>
            </p:cNvSpPr>
            <p:nvPr/>
          </p:nvSpPr>
          <p:spPr bwMode="auto">
            <a:xfrm>
              <a:off x="2947793" y="1006258"/>
              <a:ext cx="563671" cy="496865"/>
            </a:xfrm>
            <a:prstGeom prst="star4">
              <a:avLst>
                <a:gd name="adj" fmla="val 11384"/>
              </a:avLst>
            </a:prstGeom>
            <a:solidFill>
              <a:srgbClr val="FFC000"/>
            </a:solidFill>
            <a:ln w="9525" algn="ctr">
              <a:solidFill>
                <a:srgbClr val="FFFF00"/>
              </a:solidFill>
              <a:round/>
              <a:headEnd/>
              <a:tailEnd/>
            </a:ln>
          </p:spPr>
          <p:txBody>
            <a:bodyPr>
              <a:spAutoFit/>
            </a:bodyPr>
            <a:lstStyle/>
            <a:p>
              <a:pPr>
                <a:spcBef>
                  <a:spcPct val="50000"/>
                </a:spcBef>
                <a:buClr>
                  <a:srgbClr val="FF0000"/>
                </a:buClr>
                <a:buFont typeface="Wingdings" pitchFamily="2" charset="2"/>
                <a:buChar char="n"/>
              </a:pPr>
              <a:endParaRPr lang="zh-CN" altLang="en-US" sz="2000" b="0">
                <a:solidFill>
                  <a:schemeClr val="tx1"/>
                </a:solidFill>
                <a:latin typeface="Haettenschweiler" pitchFamily="34" charset="0"/>
              </a:endParaRPr>
            </a:p>
          </p:txBody>
        </p:sp>
      </p:grpSp>
      <p:pic>
        <p:nvPicPr>
          <p:cNvPr id="10246" name="Picture 5" descr="C:\Program Files\Microsoft Office\MEDIA\CAGCAT10\j0292020.wmf"/>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6072198" y="4357694"/>
            <a:ext cx="1409700" cy="1336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1" name="页脚占位符 3"/>
          <p:cNvSpPr>
            <a:spLocks noGrp="1"/>
          </p:cNvSpPr>
          <p:nvPr>
            <p:ph type="ftr" sz="quarter" idx="11"/>
          </p:nvPr>
        </p:nvSpPr>
        <p:spPr>
          <a:xfrm>
            <a:off x="1142012" y="6494462"/>
            <a:ext cx="6480175" cy="363538"/>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1200" b="1">
                <a:solidFill>
                  <a:schemeClr val="bg1"/>
                </a:solidFill>
                <a:latin typeface="Arial" charset="0"/>
                <a:ea typeface="楷体_GB2312" pitchFamily="49" charset="-122"/>
              </a:defRPr>
            </a:lvl1pPr>
            <a:lvl2pPr marL="742950" indent="-285750" eaLnBrk="0" hangingPunct="0">
              <a:defRPr sz="1200" b="1">
                <a:solidFill>
                  <a:schemeClr val="bg1"/>
                </a:solidFill>
                <a:latin typeface="Arial" charset="0"/>
                <a:ea typeface="楷体_GB2312" pitchFamily="49" charset="-122"/>
              </a:defRPr>
            </a:lvl2pPr>
            <a:lvl3pPr marL="1143000" indent="-228600" eaLnBrk="0" hangingPunct="0">
              <a:defRPr sz="1200" b="1">
                <a:solidFill>
                  <a:schemeClr val="bg1"/>
                </a:solidFill>
                <a:latin typeface="Arial" charset="0"/>
                <a:ea typeface="楷体_GB2312" pitchFamily="49" charset="-122"/>
              </a:defRPr>
            </a:lvl3pPr>
            <a:lvl4pPr marL="1600200" indent="-228600" eaLnBrk="0" hangingPunct="0">
              <a:defRPr sz="1200" b="1">
                <a:solidFill>
                  <a:schemeClr val="bg1"/>
                </a:solidFill>
                <a:latin typeface="Arial" charset="0"/>
                <a:ea typeface="楷体_GB2312" pitchFamily="49" charset="-122"/>
              </a:defRPr>
            </a:lvl4pPr>
            <a:lvl5pPr marL="2057400" indent="-228600" eaLnBrk="0" hangingPunct="0">
              <a:defRPr sz="1200" b="1">
                <a:solidFill>
                  <a:schemeClr val="bg1"/>
                </a:solidFill>
                <a:latin typeface="Arial" charset="0"/>
                <a:ea typeface="楷体_GB2312" pitchFamily="49" charset="-122"/>
              </a:defRPr>
            </a:lvl5pPr>
            <a:lvl6pPr marL="2514600" indent="-228600" eaLnBrk="0" fontAlgn="base" hangingPunct="0">
              <a:spcBef>
                <a:spcPct val="0"/>
              </a:spcBef>
              <a:spcAft>
                <a:spcPct val="0"/>
              </a:spcAft>
              <a:defRPr sz="1200" b="1">
                <a:solidFill>
                  <a:schemeClr val="bg1"/>
                </a:solidFill>
                <a:latin typeface="Arial" charset="0"/>
                <a:ea typeface="楷体_GB2312" pitchFamily="49" charset="-122"/>
              </a:defRPr>
            </a:lvl6pPr>
            <a:lvl7pPr marL="2971800" indent="-228600" eaLnBrk="0" fontAlgn="base" hangingPunct="0">
              <a:spcBef>
                <a:spcPct val="0"/>
              </a:spcBef>
              <a:spcAft>
                <a:spcPct val="0"/>
              </a:spcAft>
              <a:defRPr sz="1200" b="1">
                <a:solidFill>
                  <a:schemeClr val="bg1"/>
                </a:solidFill>
                <a:latin typeface="Arial" charset="0"/>
                <a:ea typeface="楷体_GB2312" pitchFamily="49" charset="-122"/>
              </a:defRPr>
            </a:lvl7pPr>
            <a:lvl8pPr marL="3429000" indent="-228600" eaLnBrk="0" fontAlgn="base" hangingPunct="0">
              <a:spcBef>
                <a:spcPct val="0"/>
              </a:spcBef>
              <a:spcAft>
                <a:spcPct val="0"/>
              </a:spcAft>
              <a:defRPr sz="1200" b="1">
                <a:solidFill>
                  <a:schemeClr val="bg1"/>
                </a:solidFill>
                <a:latin typeface="Arial" charset="0"/>
                <a:ea typeface="楷体_GB2312" pitchFamily="49" charset="-122"/>
              </a:defRPr>
            </a:lvl8pPr>
            <a:lvl9pPr marL="3886200" indent="-228600" eaLnBrk="0" fontAlgn="base" hangingPunct="0">
              <a:spcBef>
                <a:spcPct val="0"/>
              </a:spcBef>
              <a:spcAft>
                <a:spcPct val="0"/>
              </a:spcAft>
              <a:defRPr sz="1200" b="1">
                <a:solidFill>
                  <a:schemeClr val="bg1"/>
                </a:solidFill>
                <a:latin typeface="Arial" charset="0"/>
                <a:ea typeface="楷体_GB2312" pitchFamily="49" charset="-122"/>
              </a:defRPr>
            </a:lvl9pPr>
          </a:lstStyle>
          <a:p>
            <a:pPr eaLnBrk="1" hangingPunct="1"/>
            <a:r>
              <a:rPr lang="en-US" altLang="zh-CN" sz="700" b="0" dirty="0" smtClean="0">
                <a:solidFill>
                  <a:schemeClr val="tx1"/>
                </a:solidFill>
                <a:latin typeface="微软雅黑" pitchFamily="34" charset="-122"/>
                <a:ea typeface="微软雅黑" pitchFamily="34" charset="-122"/>
              </a:rPr>
              <a:t>THIS DOCUMENT CONTAINS PROPRIETARY INFORMATION OF CHINA ACADEMY OF SPACE TECHNOLOGY, AND MAY NOT BE REPRODUCED, COPIED, DISCLOSED, UTILIZED, PLACED OR TRANSMITTED ON INTERNET, IN WHOLE OR IN PART, WITHOUT PRIOR WRITTEN AUTHORIZATION.</a:t>
            </a:r>
          </a:p>
        </p:txBody>
      </p:sp>
      <p:sp>
        <p:nvSpPr>
          <p:cNvPr id="13"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2</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Tree>
    <p:extLst>
      <p:ext uri="{BB962C8B-B14F-4D97-AF65-F5344CB8AC3E}">
        <p14:creationId xmlns:p14="http://schemas.microsoft.com/office/powerpoint/2010/main" xmlns="" val="124345622"/>
      </p:ext>
    </p:extLst>
  </p:cSld>
  <p:clrMapOvr>
    <a:masterClrMapping/>
  </p:clrMapOvr>
  <mc:AlternateContent xmlns:mc="http://schemas.openxmlformats.org/markup-compatibility/2006">
    <mc:Choice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未标题-2 拷贝"/>
          <p:cNvPicPr>
            <a:picLocks noChangeAspect="1" noChangeArrowheads="1"/>
          </p:cNvPicPr>
          <p:nvPr/>
        </p:nvPicPr>
        <p:blipFill>
          <a:blip r:embed="rId3"/>
          <a:srcRect/>
          <a:stretch>
            <a:fillRect/>
          </a:stretch>
        </p:blipFill>
        <p:spPr bwMode="auto">
          <a:xfrm>
            <a:off x="171450" y="1311275"/>
            <a:ext cx="2803525" cy="5037138"/>
          </a:xfrm>
          <a:prstGeom prst="rect">
            <a:avLst/>
          </a:prstGeom>
          <a:noFill/>
          <a:ln w="9525">
            <a:noFill/>
            <a:miter lim="800000"/>
            <a:headEnd/>
            <a:tailEnd/>
          </a:ln>
        </p:spPr>
      </p:pic>
      <p:pic>
        <p:nvPicPr>
          <p:cNvPr id="6" name="Picture 2" descr="D:\resources for ppt\sino6_W020100905714056942648.jpg"/>
          <p:cNvPicPr>
            <a:picLocks noChangeAspect="1" noChangeArrowheads="1"/>
          </p:cNvPicPr>
          <p:nvPr/>
        </p:nvPicPr>
        <p:blipFill>
          <a:blip r:embed="rId4" cstate="email"/>
          <a:stretch>
            <a:fillRect/>
          </a:stretch>
        </p:blipFill>
        <p:spPr bwMode="auto">
          <a:xfrm>
            <a:off x="2357681" y="2194433"/>
            <a:ext cx="426409" cy="535923"/>
          </a:xfrm>
          <a:prstGeom prst="ellipse">
            <a:avLst/>
          </a:prstGeom>
          <a:ln w="136525" cap="rnd">
            <a:gradFill>
              <a:gsLst>
                <a:gs pos="0">
                  <a:srgbClr val="FBEAC7"/>
                </a:gs>
                <a:gs pos="17999">
                  <a:srgbClr val="FEE7F2"/>
                </a:gs>
                <a:gs pos="36000">
                  <a:srgbClr val="FAC77D"/>
                </a:gs>
                <a:gs pos="61000">
                  <a:srgbClr val="FBA97D"/>
                </a:gs>
                <a:gs pos="82001">
                  <a:srgbClr val="FBD49C"/>
                </a:gs>
                <a:gs pos="100000">
                  <a:srgbClr val="FEE7F2"/>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
        <p:nvSpPr>
          <p:cNvPr id="8" name="单圆角矩形 7"/>
          <p:cNvSpPr/>
          <p:nvPr/>
        </p:nvSpPr>
        <p:spPr>
          <a:xfrm>
            <a:off x="3000364" y="2145233"/>
            <a:ext cx="5706406" cy="648072"/>
          </a:xfrm>
          <a:prstGeom prst="round1Rect">
            <a:avLst/>
          </a:prstGeom>
          <a:solidFill>
            <a:srgbClr val="F79600"/>
          </a:solidFill>
          <a:ln>
            <a:solidFill>
              <a:srgbClr val="FFC064"/>
            </a:solidFill>
          </a:ln>
          <a:effectLst>
            <a:glow rad="139700">
              <a:srgbClr val="FF9600">
                <a:alpha val="40000"/>
              </a:srgbClr>
            </a:glow>
          </a:effectLst>
        </p:spPr>
        <p:style>
          <a:lnRef idx="2">
            <a:schemeClr val="accent6">
              <a:shade val="50000"/>
            </a:schemeClr>
          </a:lnRef>
          <a:fillRef idx="1">
            <a:schemeClr val="accent6"/>
          </a:fillRef>
          <a:effectRef idx="0">
            <a:schemeClr val="accent6"/>
          </a:effectRef>
          <a:fontRef idx="minor">
            <a:schemeClr val="lt1"/>
          </a:fontRef>
        </p:style>
        <p:txBody>
          <a:bodyPr anchor="ctr"/>
          <a:lstStyle/>
          <a:p>
            <a:pPr lvl="0"/>
            <a:r>
              <a:rPr lang="en-US" altLang="zh-CN" sz="2400" b="1" dirty="0" smtClean="0">
                <a:solidFill>
                  <a:schemeClr val="tx1"/>
                </a:solidFill>
                <a:latin typeface="Arial" pitchFamily="34" charset="0"/>
                <a:cs typeface="Arial" pitchFamily="34" charset="0"/>
              </a:rPr>
              <a:t>1   Introduction</a:t>
            </a:r>
            <a:endParaRPr lang="zh-CN" altLang="en-US" sz="2400" b="1" dirty="0">
              <a:solidFill>
                <a:schemeClr val="tx1"/>
              </a:solidFill>
              <a:latin typeface="Arial" pitchFamily="34" charset="0"/>
              <a:cs typeface="Arial" pitchFamily="34" charset="0"/>
            </a:endParaRPr>
          </a:p>
        </p:txBody>
      </p:sp>
      <p:pic>
        <p:nvPicPr>
          <p:cNvPr id="11" name="Picture 1" descr="D:\resources for ppt\sat5.jpg"/>
          <p:cNvPicPr>
            <a:picLocks noChangeAspect="1" noChangeArrowheads="1"/>
          </p:cNvPicPr>
          <p:nvPr/>
        </p:nvPicPr>
        <p:blipFill>
          <a:blip r:embed="rId5" cstate="email"/>
          <a:stretch>
            <a:fillRect/>
          </a:stretch>
        </p:blipFill>
        <p:spPr bwMode="auto">
          <a:xfrm>
            <a:off x="2377256" y="3163544"/>
            <a:ext cx="381198" cy="487156"/>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15" name="单圆角矩形 14"/>
          <p:cNvSpPr/>
          <p:nvPr/>
        </p:nvSpPr>
        <p:spPr>
          <a:xfrm>
            <a:off x="3024189" y="3067052"/>
            <a:ext cx="5678487" cy="647700"/>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pPr lvl="0"/>
            <a:r>
              <a:rPr lang="en-US" altLang="zh-CN" sz="2400" b="1" dirty="0" smtClean="0">
                <a:solidFill>
                  <a:schemeClr val="tx1"/>
                </a:solidFill>
                <a:latin typeface="微软雅黑" pitchFamily="34" charset="-122"/>
                <a:ea typeface="微软雅黑" pitchFamily="34" charset="-122"/>
              </a:rPr>
              <a:t>2</a:t>
            </a:r>
            <a:r>
              <a:rPr lang="en-US" altLang="zh-CN" sz="2400" b="1" dirty="0" smtClean="0">
                <a:solidFill>
                  <a:schemeClr val="bg1"/>
                </a:solidFill>
                <a:latin typeface="微软雅黑" pitchFamily="34" charset="-122"/>
                <a:ea typeface="微软雅黑" pitchFamily="34" charset="-122"/>
              </a:rPr>
              <a:t>  </a:t>
            </a:r>
            <a:r>
              <a:rPr lang="en-US" altLang="zh-CN" sz="2400" b="1" dirty="0" smtClean="0"/>
              <a:t>Technical Specification Analysis</a:t>
            </a:r>
            <a:endParaRPr lang="zh-CN" altLang="en-US" sz="2400" b="1" dirty="0"/>
          </a:p>
        </p:txBody>
      </p:sp>
      <p:sp>
        <p:nvSpPr>
          <p:cNvPr id="12" name="标题 2"/>
          <p:cNvSpPr>
            <a:spLocks noGrp="1"/>
          </p:cNvSpPr>
          <p:nvPr>
            <p:ph type="title"/>
          </p:nvPr>
        </p:nvSpPr>
        <p:spPr>
          <a:xfrm>
            <a:off x="457200" y="274638"/>
            <a:ext cx="8229600" cy="1143000"/>
          </a:xfrm>
        </p:spPr>
        <p:txBody>
          <a:bodyPr anchor="t">
            <a:normAutofit/>
          </a:bodyPr>
          <a:lstStyle/>
          <a:p>
            <a:pPr algn="l"/>
            <a:r>
              <a:rPr lang="en-US" altLang="zh-CN" sz="3600" dirty="0" smtClean="0"/>
              <a:t>Outlines</a:t>
            </a:r>
            <a:endParaRPr lang="zh-CN" altLang="en-US" sz="3600" dirty="0" smtClean="0"/>
          </a:p>
        </p:txBody>
      </p:sp>
      <p:pic>
        <p:nvPicPr>
          <p:cNvPr id="13" name="Picture 1" descr="D:\resources for ppt\sat5.jpg"/>
          <p:cNvPicPr>
            <a:picLocks noChangeAspect="1" noChangeArrowheads="1"/>
          </p:cNvPicPr>
          <p:nvPr/>
        </p:nvPicPr>
        <p:blipFill>
          <a:blip r:embed="rId5" cstate="email"/>
          <a:stretch>
            <a:fillRect/>
          </a:stretch>
        </p:blipFill>
        <p:spPr bwMode="auto">
          <a:xfrm>
            <a:off x="2389984" y="5089962"/>
            <a:ext cx="381198" cy="487156"/>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14" name="单圆角矩形 13"/>
          <p:cNvSpPr/>
          <p:nvPr/>
        </p:nvSpPr>
        <p:spPr>
          <a:xfrm>
            <a:off x="3036917" y="5000636"/>
            <a:ext cx="5678487" cy="649817"/>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pPr lvl="0"/>
            <a:r>
              <a:rPr lang="en-US" altLang="zh-CN" sz="2400" b="1" dirty="0" smtClean="0"/>
              <a:t>4</a:t>
            </a:r>
            <a:r>
              <a:rPr lang="en-US" altLang="zh-CN" sz="2400" b="1" dirty="0" smtClean="0">
                <a:solidFill>
                  <a:schemeClr val="tx1"/>
                </a:solidFill>
                <a:latin typeface="微软雅黑" pitchFamily="34" charset="-122"/>
                <a:ea typeface="微软雅黑" pitchFamily="34" charset="-122"/>
              </a:rPr>
              <a:t> </a:t>
            </a:r>
            <a:r>
              <a:rPr lang="en-US" altLang="zh-CN" sz="2400" b="1" dirty="0" smtClean="0">
                <a:solidFill>
                  <a:schemeClr val="bg1"/>
                </a:solidFill>
                <a:latin typeface="微软雅黑" pitchFamily="34" charset="-122"/>
                <a:ea typeface="微软雅黑" pitchFamily="34" charset="-122"/>
              </a:rPr>
              <a:t> </a:t>
            </a:r>
            <a:r>
              <a:rPr lang="en-US" altLang="zh-CN" sz="2400" b="1" dirty="0" smtClean="0"/>
              <a:t>Position and Orbit Determination</a:t>
            </a:r>
            <a:endParaRPr lang="zh-CN" altLang="en-US" sz="2400" b="1" dirty="0"/>
          </a:p>
        </p:txBody>
      </p:sp>
      <p:pic>
        <p:nvPicPr>
          <p:cNvPr id="16" name="Picture 1" descr="D:\resources for ppt\sat5.jpg"/>
          <p:cNvPicPr>
            <a:picLocks noChangeAspect="1" noChangeArrowheads="1"/>
          </p:cNvPicPr>
          <p:nvPr/>
        </p:nvPicPr>
        <p:blipFill>
          <a:blip r:embed="rId5" cstate="email"/>
          <a:stretch>
            <a:fillRect/>
          </a:stretch>
        </p:blipFill>
        <p:spPr bwMode="auto">
          <a:xfrm>
            <a:off x="2389984" y="4168434"/>
            <a:ext cx="381198" cy="487156"/>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17" name="单圆角矩形 16"/>
          <p:cNvSpPr/>
          <p:nvPr/>
        </p:nvSpPr>
        <p:spPr>
          <a:xfrm>
            <a:off x="3036917" y="4071942"/>
            <a:ext cx="5678487" cy="647700"/>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pPr lvl="0"/>
            <a:r>
              <a:rPr lang="en-US" altLang="zh-CN" sz="2400" b="1" dirty="0" smtClean="0"/>
              <a:t>3   Telemetry And Command</a:t>
            </a:r>
            <a:endParaRPr lang="zh-CN" altLang="en-US" sz="2400" b="1" dirty="0"/>
          </a:p>
        </p:txBody>
      </p:sp>
      <p:sp>
        <p:nvSpPr>
          <p:cNvPr id="18"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9"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3</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Box 5"/>
          <p:cNvSpPr txBox="1">
            <a:spLocks noChangeArrowheads="1"/>
          </p:cNvSpPr>
          <p:nvPr/>
        </p:nvSpPr>
        <p:spPr bwMode="auto">
          <a:xfrm>
            <a:off x="539750" y="1341438"/>
            <a:ext cx="8289925" cy="530040"/>
          </a:xfrm>
          <a:prstGeom prst="rect">
            <a:avLst/>
          </a:prstGeom>
          <a:noFill/>
          <a:ln>
            <a:noFill/>
          </a:ln>
          <a:extLst/>
        </p:spPr>
        <p:txBody>
          <a:bodyPr lIns="82954" tIns="41477" rIns="82954" bIns="41477">
            <a:spAutoFit/>
          </a:bodyPr>
          <a:lstStyle>
            <a:lvl1pPr eaLnBrk="0" hangingPunct="0">
              <a:defRPr sz="2000" b="1">
                <a:solidFill>
                  <a:srgbClr val="575F6D"/>
                </a:solidFill>
                <a:latin typeface="Arial" charset="0"/>
                <a:ea typeface="宋体" pitchFamily="2" charset="-122"/>
              </a:defRPr>
            </a:lvl1pPr>
            <a:lvl2pPr marL="742950" indent="-285750" eaLnBrk="0" hangingPunct="0">
              <a:defRPr sz="2000" b="1">
                <a:solidFill>
                  <a:srgbClr val="575F6D"/>
                </a:solidFill>
                <a:latin typeface="Arial" charset="0"/>
                <a:ea typeface="宋体" pitchFamily="2" charset="-122"/>
              </a:defRPr>
            </a:lvl2pPr>
            <a:lvl3pPr marL="1143000" indent="-228600" eaLnBrk="0" hangingPunct="0">
              <a:defRPr sz="2000" b="1">
                <a:solidFill>
                  <a:srgbClr val="575F6D"/>
                </a:solidFill>
                <a:latin typeface="Arial" charset="0"/>
                <a:ea typeface="宋体" pitchFamily="2" charset="-122"/>
              </a:defRPr>
            </a:lvl3pPr>
            <a:lvl4pPr marL="1600200" indent="-228600" eaLnBrk="0" hangingPunct="0">
              <a:defRPr sz="2000" b="1">
                <a:solidFill>
                  <a:srgbClr val="575F6D"/>
                </a:solidFill>
                <a:latin typeface="Arial" charset="0"/>
                <a:ea typeface="宋体" pitchFamily="2" charset="-122"/>
              </a:defRPr>
            </a:lvl4pPr>
            <a:lvl5pPr marL="2057400" indent="-228600" eaLnBrk="0" hangingPunct="0">
              <a:defRPr sz="2000" b="1">
                <a:solidFill>
                  <a:srgbClr val="575F6D"/>
                </a:solidFill>
                <a:latin typeface="Arial"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charset="0"/>
                <a:ea typeface="宋体" pitchFamily="2" charset="-122"/>
              </a:defRPr>
            </a:lvl9pPr>
          </a:lstStyle>
          <a:p>
            <a:pPr marL="457200" indent="-457200" algn="l" eaLnBrk="1" hangingPunct="1">
              <a:spcAft>
                <a:spcPts val="1200"/>
              </a:spcAft>
              <a:buFont typeface="Wingdings" pitchFamily="2" charset="2"/>
              <a:buChar char="p"/>
              <a:defRPr/>
            </a:pPr>
            <a:r>
              <a:rPr lang="en-US" altLang="zh-CN" sz="2900" dirty="0" smtClean="0">
                <a:solidFill>
                  <a:srgbClr val="0070C0"/>
                </a:solidFill>
              </a:rPr>
              <a:t>What is TT&amp;C</a:t>
            </a:r>
          </a:p>
        </p:txBody>
      </p:sp>
      <p:grpSp>
        <p:nvGrpSpPr>
          <p:cNvPr id="2" name="组合 6"/>
          <p:cNvGrpSpPr/>
          <p:nvPr/>
        </p:nvGrpSpPr>
        <p:grpSpPr>
          <a:xfrm>
            <a:off x="711391" y="2786058"/>
            <a:ext cx="2565777" cy="761844"/>
            <a:chOff x="3762" y="861215"/>
            <a:chExt cx="2565777" cy="761844"/>
          </a:xfrm>
          <a:solidFill>
            <a:srgbClr val="00B0F0"/>
          </a:solidFill>
        </p:grpSpPr>
        <p:sp>
          <p:nvSpPr>
            <p:cNvPr id="8" name="矩形 7"/>
            <p:cNvSpPr/>
            <p:nvPr/>
          </p:nvSpPr>
          <p:spPr>
            <a:xfrm>
              <a:off x="3762" y="861215"/>
              <a:ext cx="2565777" cy="761844"/>
            </a:xfrm>
            <a:prstGeom prst="rect">
              <a:avLst/>
            </a:prstGeom>
            <a:grpFill/>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9" name="矩形 8"/>
            <p:cNvSpPr/>
            <p:nvPr/>
          </p:nvSpPr>
          <p:spPr>
            <a:xfrm>
              <a:off x="3762" y="861215"/>
              <a:ext cx="2565777" cy="761844"/>
            </a:xfrm>
            <a:prstGeom prst="rect">
              <a:avLst/>
            </a:prstGeom>
            <a:grpFill/>
          </p:spPr>
          <p:style>
            <a:lnRef idx="0">
              <a:scrgbClr r="0" g="0" b="0"/>
            </a:lnRef>
            <a:fillRef idx="0">
              <a:scrgbClr r="0" g="0" b="0"/>
            </a:fillRef>
            <a:effectRef idx="0">
              <a:scrgbClr r="0" g="0" b="0"/>
            </a:effectRef>
            <a:fontRef idx="minor">
              <a:schemeClr val="dk1">
                <a:hueOff val="0"/>
                <a:satOff val="0"/>
                <a:lumOff val="0"/>
                <a:alphaOff val="0"/>
              </a:schemeClr>
            </a:fontRef>
          </p:style>
          <p:txBody>
            <a:bodyPr lIns="305816" tIns="54610" rIns="305816" bIns="54610" spcCol="1270" anchor="ctr"/>
            <a:lstStyle/>
            <a:p>
              <a:pPr algn="ctr" defTabSz="1911350">
                <a:lnSpc>
                  <a:spcPct val="90000"/>
                </a:lnSpc>
                <a:spcAft>
                  <a:spcPct val="35000"/>
                </a:spcAft>
                <a:defRPr/>
              </a:pPr>
              <a:endParaRPr lang="zh-CN" altLang="en-US" sz="2800" dirty="0"/>
            </a:p>
          </p:txBody>
        </p:sp>
      </p:grpSp>
      <p:grpSp>
        <p:nvGrpSpPr>
          <p:cNvPr id="3" name="组合 9"/>
          <p:cNvGrpSpPr/>
          <p:nvPr/>
        </p:nvGrpSpPr>
        <p:grpSpPr>
          <a:xfrm>
            <a:off x="642910" y="2786058"/>
            <a:ext cx="5200035" cy="761844"/>
            <a:chOff x="-2630496" y="861215"/>
            <a:chExt cx="5200035" cy="761844"/>
          </a:xfrm>
          <a:solidFill>
            <a:srgbClr val="00B0F0"/>
          </a:solidFill>
        </p:grpSpPr>
        <p:sp>
          <p:nvSpPr>
            <p:cNvPr id="11" name="矩形 10"/>
            <p:cNvSpPr/>
            <p:nvPr/>
          </p:nvSpPr>
          <p:spPr>
            <a:xfrm>
              <a:off x="3762" y="861215"/>
              <a:ext cx="2565777" cy="761844"/>
            </a:xfrm>
            <a:prstGeom prst="rect">
              <a:avLst/>
            </a:prstGeom>
            <a:grpFill/>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12" name="矩形 11"/>
            <p:cNvSpPr/>
            <p:nvPr/>
          </p:nvSpPr>
          <p:spPr>
            <a:xfrm>
              <a:off x="-2630496" y="861215"/>
              <a:ext cx="2565777" cy="761844"/>
            </a:xfrm>
            <a:prstGeom prst="rect">
              <a:avLst/>
            </a:prstGeom>
            <a:grpFill/>
          </p:spPr>
          <p:style>
            <a:lnRef idx="0">
              <a:scrgbClr r="0" g="0" b="0"/>
            </a:lnRef>
            <a:fillRef idx="0">
              <a:scrgbClr r="0" g="0" b="0"/>
            </a:fillRef>
            <a:effectRef idx="0">
              <a:scrgbClr r="0" g="0" b="0"/>
            </a:effectRef>
            <a:fontRef idx="minor">
              <a:schemeClr val="dk1">
                <a:hueOff val="0"/>
                <a:satOff val="0"/>
                <a:lumOff val="0"/>
                <a:alphaOff val="0"/>
              </a:schemeClr>
            </a:fontRef>
          </p:style>
          <p:txBody>
            <a:bodyPr lIns="305816" tIns="54610" rIns="305816" bIns="54610" spcCol="1270" anchor="ctr"/>
            <a:lstStyle/>
            <a:p>
              <a:pPr algn="ctr" defTabSz="1911350">
                <a:lnSpc>
                  <a:spcPct val="90000"/>
                </a:lnSpc>
                <a:spcAft>
                  <a:spcPct val="35000"/>
                </a:spcAft>
                <a:defRPr/>
              </a:pPr>
              <a:r>
                <a:rPr lang="en-US" altLang="zh-CN" sz="2800" dirty="0" smtClean="0"/>
                <a:t>Telemetry</a:t>
              </a:r>
              <a:endParaRPr lang="zh-CN" altLang="en-US" sz="2800" dirty="0"/>
            </a:p>
          </p:txBody>
        </p:sp>
      </p:grpSp>
      <p:grpSp>
        <p:nvGrpSpPr>
          <p:cNvPr id="4" name="组合 12"/>
          <p:cNvGrpSpPr/>
          <p:nvPr/>
        </p:nvGrpSpPr>
        <p:grpSpPr>
          <a:xfrm>
            <a:off x="5858651" y="2786058"/>
            <a:ext cx="2565777" cy="761844"/>
            <a:chOff x="3762" y="861215"/>
            <a:chExt cx="2565777" cy="761844"/>
          </a:xfrm>
          <a:solidFill>
            <a:srgbClr val="00B0F0"/>
          </a:solidFill>
        </p:grpSpPr>
        <p:sp>
          <p:nvSpPr>
            <p:cNvPr id="14" name="矩形 13"/>
            <p:cNvSpPr/>
            <p:nvPr/>
          </p:nvSpPr>
          <p:spPr>
            <a:xfrm>
              <a:off x="3762" y="861215"/>
              <a:ext cx="2565777" cy="761844"/>
            </a:xfrm>
            <a:prstGeom prst="rect">
              <a:avLst/>
            </a:prstGeom>
            <a:grpFill/>
          </p:spPr>
          <p:style>
            <a:lnRef idx="2">
              <a:schemeClr val="accent1">
                <a:alpha val="90000"/>
                <a:tint val="40000"/>
                <a:hueOff val="0"/>
                <a:satOff val="0"/>
                <a:lumOff val="0"/>
                <a:alphaOff val="0"/>
              </a:schemeClr>
            </a:lnRef>
            <a:fillRef idx="1">
              <a:schemeClr val="accent1">
                <a:alpha val="90000"/>
                <a:tint val="40000"/>
                <a:hueOff val="0"/>
                <a:satOff val="0"/>
                <a:lumOff val="0"/>
                <a:alphaOff val="0"/>
              </a:schemeClr>
            </a:fillRef>
            <a:effectRef idx="0">
              <a:schemeClr val="accent1">
                <a:alpha val="90000"/>
                <a:tint val="40000"/>
                <a:hueOff val="0"/>
                <a:satOff val="0"/>
                <a:lumOff val="0"/>
                <a:alphaOff val="0"/>
              </a:schemeClr>
            </a:effectRef>
            <a:fontRef idx="minor">
              <a:schemeClr val="dk1">
                <a:hueOff val="0"/>
                <a:satOff val="0"/>
                <a:lumOff val="0"/>
                <a:alphaOff val="0"/>
              </a:schemeClr>
            </a:fontRef>
          </p:style>
        </p:sp>
        <p:sp>
          <p:nvSpPr>
            <p:cNvPr id="15" name="矩形 14"/>
            <p:cNvSpPr/>
            <p:nvPr/>
          </p:nvSpPr>
          <p:spPr>
            <a:xfrm>
              <a:off x="3762" y="861215"/>
              <a:ext cx="2565777" cy="761844"/>
            </a:xfrm>
            <a:prstGeom prst="rect">
              <a:avLst/>
            </a:prstGeom>
            <a:grpFill/>
          </p:spPr>
          <p:style>
            <a:lnRef idx="0">
              <a:scrgbClr r="0" g="0" b="0"/>
            </a:lnRef>
            <a:fillRef idx="0">
              <a:scrgbClr r="0" g="0" b="0"/>
            </a:fillRef>
            <a:effectRef idx="0">
              <a:scrgbClr r="0" g="0" b="0"/>
            </a:effectRef>
            <a:fontRef idx="minor">
              <a:schemeClr val="dk1">
                <a:hueOff val="0"/>
                <a:satOff val="0"/>
                <a:lumOff val="0"/>
                <a:alphaOff val="0"/>
              </a:schemeClr>
            </a:fontRef>
          </p:style>
          <p:txBody>
            <a:bodyPr lIns="305816" tIns="54610" rIns="305816" bIns="54610" spcCol="1270" anchor="ctr"/>
            <a:lstStyle/>
            <a:p>
              <a:pPr algn="ctr" defTabSz="1911350">
                <a:lnSpc>
                  <a:spcPct val="90000"/>
                </a:lnSpc>
                <a:spcAft>
                  <a:spcPct val="35000"/>
                </a:spcAft>
                <a:defRPr/>
              </a:pPr>
              <a:r>
                <a:rPr lang="en-US" altLang="zh-CN" sz="2800" dirty="0" smtClean="0"/>
                <a:t>Position</a:t>
              </a:r>
              <a:endParaRPr lang="zh-CN" altLang="en-US" sz="2800" dirty="0"/>
            </a:p>
          </p:txBody>
        </p:sp>
      </p:grpSp>
      <p:sp>
        <p:nvSpPr>
          <p:cNvPr id="33799" name="下箭头 3"/>
          <p:cNvSpPr>
            <a:spLocks noChangeArrowheads="1"/>
          </p:cNvSpPr>
          <p:nvPr/>
        </p:nvSpPr>
        <p:spPr bwMode="auto">
          <a:xfrm>
            <a:off x="4319588" y="3650315"/>
            <a:ext cx="504825" cy="792162"/>
          </a:xfrm>
          <a:prstGeom prst="downArrow">
            <a:avLst>
              <a:gd name="adj1" fmla="val 50000"/>
              <a:gd name="adj2" fmla="val 49930"/>
            </a:avLst>
          </a:prstGeom>
          <a:solidFill>
            <a:srgbClr val="00B0F0"/>
          </a:solidFill>
          <a:ln w="9525" algn="ctr">
            <a:solidFill>
              <a:schemeClr val="bg1"/>
            </a:solidFill>
            <a:round/>
            <a:headEnd/>
            <a:tailEnd/>
          </a:ln>
        </p:spPr>
        <p:txBody>
          <a:bodyPr wrap="none" anchor="ctr"/>
          <a:lstStyle/>
          <a:p>
            <a:endParaRPr lang="zh-CN" altLang="en-US"/>
          </a:p>
        </p:txBody>
      </p:sp>
      <p:sp>
        <p:nvSpPr>
          <p:cNvPr id="5" name="矩形 4"/>
          <p:cNvSpPr/>
          <p:nvPr/>
        </p:nvSpPr>
        <p:spPr>
          <a:xfrm>
            <a:off x="3697289" y="4643446"/>
            <a:ext cx="1803405" cy="480131"/>
          </a:xfrm>
          <a:prstGeom prst="rect">
            <a:avLst/>
          </a:prstGeom>
        </p:spPr>
        <p:txBody>
          <a:bodyPr wrap="square">
            <a:spAutoFit/>
          </a:bodyPr>
          <a:lstStyle/>
          <a:p>
            <a:pPr defTabSz="1911350">
              <a:lnSpc>
                <a:spcPct val="90000"/>
              </a:lnSpc>
              <a:spcAft>
                <a:spcPct val="35000"/>
              </a:spcAft>
              <a:defRPr/>
            </a:pPr>
            <a:r>
              <a:rPr lang="en-US" altLang="zh-CN" sz="2800" dirty="0">
                <a:solidFill>
                  <a:schemeClr val="dk1">
                    <a:hueOff val="0"/>
                    <a:satOff val="0"/>
                    <a:lumOff val="0"/>
                    <a:alphaOff val="0"/>
                  </a:schemeClr>
                </a:solidFill>
                <a:latin typeface="+mn-lt"/>
                <a:ea typeface="+mn-ea"/>
              </a:rPr>
              <a:t>TT&amp;C Task</a:t>
            </a:r>
            <a:endParaRPr lang="zh-CN" altLang="en-US" sz="2800" dirty="0">
              <a:solidFill>
                <a:schemeClr val="dk1">
                  <a:hueOff val="0"/>
                  <a:satOff val="0"/>
                  <a:lumOff val="0"/>
                  <a:alphaOff val="0"/>
                </a:schemeClr>
              </a:solidFill>
              <a:latin typeface="+mn-lt"/>
              <a:ea typeface="+mn-ea"/>
            </a:endParaRPr>
          </a:p>
        </p:txBody>
      </p:sp>
      <p:sp>
        <p:nvSpPr>
          <p:cNvPr id="16"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4</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18"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9" name="标题 2"/>
          <p:cNvSpPr txBox="1">
            <a:spLocks/>
          </p:cNvSpPr>
          <p:nvPr/>
        </p:nvSpPr>
        <p:spPr>
          <a:xfrm>
            <a:off x="457200" y="274638"/>
            <a:ext cx="6257940" cy="725470"/>
          </a:xfrm>
          <a:prstGeom prst="rect">
            <a:avLst/>
          </a:prstGeom>
          <a:extLst/>
        </p:spPr>
        <p:txBody>
          <a:bodyPr rtlCol="0" anchor="t">
            <a:normAutofit/>
          </a:bodyPr>
          <a:lstStyle/>
          <a:p>
            <a:pPr lvl="0">
              <a:spcBef>
                <a:spcPct val="0"/>
              </a:spcBef>
              <a:defRPr/>
            </a:pPr>
            <a:r>
              <a:rPr kumimoji="0" lang="en-US" altLang="zh-CN" sz="3600" b="1" i="0" u="none" strike="noStrike" kern="1700" cap="none" spc="0" normalizeH="0" baseline="0" noProof="0" dirty="0" smtClean="0">
                <a:ln>
                  <a:noFill/>
                </a:ln>
                <a:solidFill>
                  <a:schemeClr val="bg1"/>
                </a:solidFill>
                <a:effectLst/>
                <a:uLnTx/>
                <a:uFillTx/>
                <a:latin typeface="微软雅黑" pitchFamily="34" charset="-122"/>
                <a:ea typeface="微软雅黑" pitchFamily="34" charset="-122"/>
                <a:cs typeface="+mj-cs"/>
              </a:rPr>
              <a:t>1   TT&amp;C </a:t>
            </a:r>
            <a:r>
              <a:rPr lang="en-US" altLang="zh-CN" sz="3600" b="1" kern="1700" dirty="0" smtClean="0">
                <a:solidFill>
                  <a:schemeClr val="bg1"/>
                </a:solidFill>
                <a:latin typeface="微软雅黑" pitchFamily="34" charset="-122"/>
                <a:ea typeface="微软雅黑" pitchFamily="34" charset="-122"/>
                <a:cs typeface="+mj-cs"/>
              </a:rPr>
              <a:t>Introduction</a:t>
            </a:r>
            <a:endParaRPr lang="zh-CN" altLang="en-US" sz="3600" b="1" kern="1700" dirty="0" smtClean="0">
              <a:solidFill>
                <a:schemeClr val="bg1"/>
              </a:solidFill>
              <a:latin typeface="微软雅黑" pitchFamily="34" charset="-122"/>
              <a:ea typeface="微软雅黑" pitchFamily="34" charset="-122"/>
              <a:cs typeface="+mj-cs"/>
            </a:endParaRPr>
          </a:p>
        </p:txBody>
      </p:sp>
      <p:sp>
        <p:nvSpPr>
          <p:cNvPr id="21" name="矩形 20"/>
          <p:cNvSpPr/>
          <p:nvPr/>
        </p:nvSpPr>
        <p:spPr>
          <a:xfrm>
            <a:off x="3286116" y="2928934"/>
            <a:ext cx="2500330" cy="480131"/>
          </a:xfrm>
          <a:prstGeom prst="rect">
            <a:avLst/>
          </a:prstGeom>
        </p:spPr>
        <p:txBody>
          <a:bodyPr wrap="square">
            <a:spAutoFit/>
          </a:bodyPr>
          <a:lstStyle/>
          <a:p>
            <a:pPr algn="ctr" defTabSz="1911350">
              <a:lnSpc>
                <a:spcPct val="90000"/>
              </a:lnSpc>
              <a:spcAft>
                <a:spcPct val="35000"/>
              </a:spcAft>
              <a:defRPr/>
            </a:pPr>
            <a:r>
              <a:rPr lang="en-US" altLang="zh-CN" sz="2800" dirty="0" smtClean="0">
                <a:solidFill>
                  <a:schemeClr val="dk1">
                    <a:hueOff val="0"/>
                    <a:satOff val="0"/>
                    <a:lumOff val="0"/>
                    <a:alphaOff val="0"/>
                  </a:schemeClr>
                </a:solidFill>
              </a:rPr>
              <a:t>Command</a:t>
            </a:r>
            <a:endParaRPr lang="zh-CN" altLang="en-US" sz="2800" dirty="0" smtClean="0">
              <a:solidFill>
                <a:schemeClr val="dk1">
                  <a:hueOff val="0"/>
                  <a:satOff val="0"/>
                  <a:lumOff val="0"/>
                  <a:alphaOff val="0"/>
                </a:schemeClr>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标题 2"/>
          <p:cNvSpPr txBox="1">
            <a:spLocks/>
          </p:cNvSpPr>
          <p:nvPr/>
        </p:nvSpPr>
        <p:spPr bwMode="auto">
          <a:xfrm>
            <a:off x="50800" y="233363"/>
            <a:ext cx="8229600" cy="1143000"/>
          </a:xfrm>
          <a:prstGeom prst="rect">
            <a:avLst/>
          </a:prstGeom>
          <a:noFill/>
          <a:ln w="9525">
            <a:noFill/>
            <a:miter lim="800000"/>
            <a:headEnd/>
            <a:tailEnd/>
          </a:ln>
        </p:spPr>
        <p:txBody>
          <a:bodyPr/>
          <a:lstStyle/>
          <a:p>
            <a:pPr eaLnBrk="0" hangingPunct="0"/>
            <a:endParaRPr lang="zh-CN" altLang="en-US" sz="4400">
              <a:solidFill>
                <a:schemeClr val="tx2"/>
              </a:solidFill>
            </a:endParaRPr>
          </a:p>
        </p:txBody>
      </p:sp>
      <p:sp>
        <p:nvSpPr>
          <p:cNvPr id="5" name="TextBox 5"/>
          <p:cNvSpPr txBox="1">
            <a:spLocks noChangeArrowheads="1"/>
          </p:cNvSpPr>
          <p:nvPr/>
        </p:nvSpPr>
        <p:spPr bwMode="auto">
          <a:xfrm>
            <a:off x="179388" y="1285860"/>
            <a:ext cx="4465637" cy="4685024"/>
          </a:xfrm>
          <a:prstGeom prst="rect">
            <a:avLst/>
          </a:prstGeom>
          <a:noFill/>
          <a:ln>
            <a:noFill/>
          </a:ln>
          <a:extLst/>
        </p:spPr>
        <p:txBody>
          <a:bodyPr lIns="82954" tIns="41477" rIns="82954" bIns="41477">
            <a:spAutoFit/>
          </a:bodyPr>
          <a:lstStyle>
            <a:lvl1pPr eaLnBrk="0" hangingPunct="0">
              <a:defRPr sz="2000" b="1">
                <a:solidFill>
                  <a:srgbClr val="575F6D"/>
                </a:solidFill>
                <a:latin typeface="Arial" charset="0"/>
                <a:ea typeface="宋体" pitchFamily="2" charset="-122"/>
              </a:defRPr>
            </a:lvl1pPr>
            <a:lvl2pPr marL="742950" indent="-285750" eaLnBrk="0" hangingPunct="0">
              <a:defRPr sz="2000" b="1">
                <a:solidFill>
                  <a:srgbClr val="575F6D"/>
                </a:solidFill>
                <a:latin typeface="Arial" charset="0"/>
                <a:ea typeface="宋体" pitchFamily="2" charset="-122"/>
              </a:defRPr>
            </a:lvl2pPr>
            <a:lvl3pPr marL="1143000" indent="-228600" eaLnBrk="0" hangingPunct="0">
              <a:defRPr sz="2000" b="1">
                <a:solidFill>
                  <a:srgbClr val="575F6D"/>
                </a:solidFill>
                <a:latin typeface="Arial" charset="0"/>
                <a:ea typeface="宋体" pitchFamily="2" charset="-122"/>
              </a:defRPr>
            </a:lvl3pPr>
            <a:lvl4pPr marL="1600200" indent="-228600" eaLnBrk="0" hangingPunct="0">
              <a:defRPr sz="2000" b="1">
                <a:solidFill>
                  <a:srgbClr val="575F6D"/>
                </a:solidFill>
                <a:latin typeface="Arial" charset="0"/>
                <a:ea typeface="宋体" pitchFamily="2" charset="-122"/>
              </a:defRPr>
            </a:lvl4pPr>
            <a:lvl5pPr marL="2057400" indent="-228600" eaLnBrk="0" hangingPunct="0">
              <a:defRPr sz="2000" b="1">
                <a:solidFill>
                  <a:srgbClr val="575F6D"/>
                </a:solidFill>
                <a:latin typeface="Arial"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charset="0"/>
                <a:ea typeface="宋体" pitchFamily="2" charset="-122"/>
              </a:defRPr>
            </a:lvl9pPr>
          </a:lstStyle>
          <a:p>
            <a:pPr marL="457200" indent="-457200" algn="l" eaLnBrk="1" hangingPunct="1">
              <a:spcAft>
                <a:spcPts val="1200"/>
              </a:spcAft>
              <a:buFont typeface="Wingdings" pitchFamily="2" charset="2"/>
              <a:buChar char="p"/>
              <a:defRPr/>
            </a:pPr>
            <a:r>
              <a:rPr lang="en-US" altLang="zh-CN" sz="2900" dirty="0" smtClean="0">
                <a:solidFill>
                  <a:srgbClr val="0070C0"/>
                </a:solidFill>
              </a:rPr>
              <a:t>TT&amp;C System</a:t>
            </a:r>
          </a:p>
          <a:p>
            <a:pPr marL="720000" indent="-360000" algn="just" eaLnBrk="1" hangingPunct="1">
              <a:lnSpc>
                <a:spcPct val="200000"/>
              </a:lnSpc>
              <a:spcAft>
                <a:spcPts val="1200"/>
              </a:spcAft>
              <a:buFont typeface="Wingdings" pitchFamily="2" charset="2"/>
              <a:buChar char="n"/>
              <a:defRPr/>
            </a:pPr>
            <a:r>
              <a:rPr lang="en-US" altLang="zh-CN" sz="2400" dirty="0" smtClean="0">
                <a:solidFill>
                  <a:schemeClr val="tx1"/>
                </a:solidFill>
              </a:rPr>
              <a:t>Composed</a:t>
            </a:r>
          </a:p>
          <a:p>
            <a:pPr marL="720000" indent="-360000" algn="just" eaLnBrk="1" hangingPunct="1">
              <a:lnSpc>
                <a:spcPct val="200000"/>
              </a:lnSpc>
              <a:spcAft>
                <a:spcPts val="1200"/>
              </a:spcAft>
              <a:buFont typeface="Wingdings" pitchFamily="2" charset="2"/>
              <a:buChar char="n"/>
              <a:defRPr/>
            </a:pPr>
            <a:r>
              <a:rPr lang="en-US" altLang="zh-CN" sz="2400" dirty="0" smtClean="0">
                <a:solidFill>
                  <a:schemeClr val="tx1"/>
                </a:solidFill>
              </a:rPr>
              <a:t>How to complete the TT&amp;C task</a:t>
            </a:r>
          </a:p>
          <a:p>
            <a:pPr marL="720000" indent="-360000" algn="just" eaLnBrk="1" hangingPunct="1">
              <a:lnSpc>
                <a:spcPct val="200000"/>
              </a:lnSpc>
              <a:spcAft>
                <a:spcPts val="1200"/>
              </a:spcAft>
              <a:buFont typeface="Wingdings" pitchFamily="2" charset="2"/>
              <a:buChar char="n"/>
              <a:defRPr/>
            </a:pPr>
            <a:r>
              <a:rPr lang="en-US" altLang="zh-CN" sz="2400" dirty="0" smtClean="0">
                <a:solidFill>
                  <a:schemeClr val="tx1"/>
                </a:solidFill>
              </a:rPr>
              <a:t>TT&amp;C subsystem of satellite</a:t>
            </a:r>
            <a:endParaRPr lang="en-US" altLang="zh-CN" sz="2900" dirty="0" smtClean="0">
              <a:solidFill>
                <a:schemeClr val="tx1"/>
              </a:solidFill>
            </a:endParaRPr>
          </a:p>
        </p:txBody>
      </p:sp>
      <p:grpSp>
        <p:nvGrpSpPr>
          <p:cNvPr id="3" name="Group 40"/>
          <p:cNvGrpSpPr>
            <a:grpSpLocks/>
          </p:cNvGrpSpPr>
          <p:nvPr/>
        </p:nvGrpSpPr>
        <p:grpSpPr bwMode="auto">
          <a:xfrm>
            <a:off x="7116763" y="3640138"/>
            <a:ext cx="1884362" cy="1162050"/>
            <a:chOff x="332" y="1979"/>
            <a:chExt cx="1187" cy="732"/>
          </a:xfrm>
        </p:grpSpPr>
        <p:pic>
          <p:nvPicPr>
            <p:cNvPr id="34836" name="Picture 30" descr="地面站"/>
            <p:cNvPicPr>
              <a:picLocks noChangeAspect="1" noChangeArrowheads="1"/>
            </p:cNvPicPr>
            <p:nvPr/>
          </p:nvPicPr>
          <p:blipFill>
            <a:blip r:embed="rId3"/>
            <a:srcRect/>
            <a:stretch>
              <a:fillRect/>
            </a:stretch>
          </p:blipFill>
          <p:spPr bwMode="auto">
            <a:xfrm>
              <a:off x="793" y="1979"/>
              <a:ext cx="348" cy="486"/>
            </a:xfrm>
            <a:prstGeom prst="rect">
              <a:avLst/>
            </a:prstGeom>
            <a:noFill/>
            <a:ln w="9525">
              <a:noFill/>
              <a:miter lim="800000"/>
              <a:headEnd/>
              <a:tailEnd/>
            </a:ln>
          </p:spPr>
        </p:pic>
        <p:sp>
          <p:nvSpPr>
            <p:cNvPr id="34837" name="Text Box 37"/>
            <p:cNvSpPr txBox="1">
              <a:spLocks noChangeArrowheads="1"/>
            </p:cNvSpPr>
            <p:nvPr/>
          </p:nvSpPr>
          <p:spPr bwMode="auto">
            <a:xfrm>
              <a:off x="332" y="2478"/>
              <a:ext cx="1187" cy="233"/>
            </a:xfrm>
            <a:prstGeom prst="rect">
              <a:avLst/>
            </a:prstGeom>
            <a:noFill/>
            <a:ln w="9525" algn="ctr">
              <a:noFill/>
              <a:miter lim="800000"/>
              <a:headEnd/>
              <a:tailEnd/>
            </a:ln>
          </p:spPr>
          <p:txBody>
            <a:bodyPr>
              <a:spAutoFit/>
            </a:bodyPr>
            <a:lstStyle/>
            <a:p>
              <a:pPr>
                <a:spcBef>
                  <a:spcPct val="50000"/>
                </a:spcBef>
              </a:pPr>
              <a:r>
                <a:rPr lang="en-US" altLang="zh-CN" sz="1800"/>
                <a:t>Ground Station</a:t>
              </a:r>
              <a:endParaRPr lang="zh-CN" altLang="en-US" sz="1800"/>
            </a:p>
          </p:txBody>
        </p:sp>
      </p:grpSp>
      <p:grpSp>
        <p:nvGrpSpPr>
          <p:cNvPr id="37" name="组合 36"/>
          <p:cNvGrpSpPr/>
          <p:nvPr/>
        </p:nvGrpSpPr>
        <p:grpSpPr>
          <a:xfrm>
            <a:off x="4929190" y="1500174"/>
            <a:ext cx="3643338" cy="4572032"/>
            <a:chOff x="4752975" y="1125538"/>
            <a:chExt cx="3382963" cy="5365750"/>
          </a:xfrm>
        </p:grpSpPr>
        <p:grpSp>
          <p:nvGrpSpPr>
            <p:cNvPr id="2" name="Group 29"/>
            <p:cNvGrpSpPr>
              <a:grpSpLocks/>
            </p:cNvGrpSpPr>
            <p:nvPr/>
          </p:nvGrpSpPr>
          <p:grpSpPr bwMode="auto">
            <a:xfrm>
              <a:off x="5651501" y="2216150"/>
              <a:ext cx="2447925" cy="4275138"/>
              <a:chOff x="1549" y="454"/>
              <a:chExt cx="1542" cy="2693"/>
            </a:xfrm>
          </p:grpSpPr>
          <p:sp>
            <p:nvSpPr>
              <p:cNvPr id="34838" name="computr1"/>
              <p:cNvSpPr>
                <a:spLocks noEditPoints="1" noChangeArrowheads="1"/>
              </p:cNvSpPr>
              <p:nvPr/>
            </p:nvSpPr>
            <p:spPr bwMode="auto">
              <a:xfrm>
                <a:off x="1746" y="2659"/>
                <a:ext cx="181" cy="18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893 w 21600"/>
                  <a:gd name="T43" fmla="*/ 2506 h 21600"/>
                  <a:gd name="T44" fmla="*/ 16707 w 21600"/>
                  <a:gd name="T45" fmla="*/ 11098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endParaRPr lang="zh-CN" altLang="en-US"/>
              </a:p>
            </p:txBody>
          </p:sp>
          <p:sp>
            <p:nvSpPr>
              <p:cNvPr id="34839" name="computr1"/>
              <p:cNvSpPr>
                <a:spLocks noEditPoints="1" noChangeArrowheads="1"/>
              </p:cNvSpPr>
              <p:nvPr/>
            </p:nvSpPr>
            <p:spPr bwMode="auto">
              <a:xfrm>
                <a:off x="1973" y="2659"/>
                <a:ext cx="181" cy="18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893 w 21600"/>
                  <a:gd name="T43" fmla="*/ 2506 h 21600"/>
                  <a:gd name="T44" fmla="*/ 16707 w 21600"/>
                  <a:gd name="T45" fmla="*/ 11098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endParaRPr lang="zh-CN" altLang="en-US"/>
              </a:p>
            </p:txBody>
          </p:sp>
          <p:sp>
            <p:nvSpPr>
              <p:cNvPr id="34840" name="computr1"/>
              <p:cNvSpPr>
                <a:spLocks noEditPoints="1" noChangeArrowheads="1"/>
              </p:cNvSpPr>
              <p:nvPr/>
            </p:nvSpPr>
            <p:spPr bwMode="auto">
              <a:xfrm>
                <a:off x="2200" y="2659"/>
                <a:ext cx="181" cy="18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893 w 21600"/>
                  <a:gd name="T43" fmla="*/ 2506 h 21600"/>
                  <a:gd name="T44" fmla="*/ 16707 w 21600"/>
                  <a:gd name="T45" fmla="*/ 11098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endParaRPr lang="zh-CN" altLang="en-US"/>
              </a:p>
            </p:txBody>
          </p:sp>
          <p:sp>
            <p:nvSpPr>
              <p:cNvPr id="34841" name="computr1"/>
              <p:cNvSpPr>
                <a:spLocks noEditPoints="1" noChangeArrowheads="1"/>
              </p:cNvSpPr>
              <p:nvPr/>
            </p:nvSpPr>
            <p:spPr bwMode="auto">
              <a:xfrm>
                <a:off x="2426" y="2659"/>
                <a:ext cx="181" cy="18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893 w 21600"/>
                  <a:gd name="T43" fmla="*/ 2506 h 21600"/>
                  <a:gd name="T44" fmla="*/ 16707 w 21600"/>
                  <a:gd name="T45" fmla="*/ 11098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endParaRPr lang="zh-CN" altLang="en-US"/>
              </a:p>
            </p:txBody>
          </p:sp>
          <p:sp>
            <p:nvSpPr>
              <p:cNvPr id="34842" name="computr1"/>
              <p:cNvSpPr>
                <a:spLocks noEditPoints="1" noChangeArrowheads="1"/>
              </p:cNvSpPr>
              <p:nvPr/>
            </p:nvSpPr>
            <p:spPr bwMode="auto">
              <a:xfrm>
                <a:off x="2653" y="2659"/>
                <a:ext cx="181" cy="18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893 w 21600"/>
                  <a:gd name="T43" fmla="*/ 2506 h 21600"/>
                  <a:gd name="T44" fmla="*/ 16707 w 21600"/>
                  <a:gd name="T45" fmla="*/ 11098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endParaRPr lang="zh-CN" altLang="en-US"/>
              </a:p>
            </p:txBody>
          </p:sp>
          <p:sp>
            <p:nvSpPr>
              <p:cNvPr id="34843" name="computr1"/>
              <p:cNvSpPr>
                <a:spLocks noEditPoints="1" noChangeArrowheads="1"/>
              </p:cNvSpPr>
              <p:nvPr/>
            </p:nvSpPr>
            <p:spPr bwMode="auto">
              <a:xfrm>
                <a:off x="1836" y="2432"/>
                <a:ext cx="181" cy="18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893 w 21600"/>
                  <a:gd name="T43" fmla="*/ 2506 h 21600"/>
                  <a:gd name="T44" fmla="*/ 16707 w 21600"/>
                  <a:gd name="T45" fmla="*/ 11098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endParaRPr lang="zh-CN" altLang="en-US"/>
              </a:p>
            </p:txBody>
          </p:sp>
          <p:sp>
            <p:nvSpPr>
              <p:cNvPr id="34844" name="computr1"/>
              <p:cNvSpPr>
                <a:spLocks noEditPoints="1" noChangeArrowheads="1"/>
              </p:cNvSpPr>
              <p:nvPr/>
            </p:nvSpPr>
            <p:spPr bwMode="auto">
              <a:xfrm>
                <a:off x="2063" y="2432"/>
                <a:ext cx="181" cy="18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893 w 21600"/>
                  <a:gd name="T43" fmla="*/ 2506 h 21600"/>
                  <a:gd name="T44" fmla="*/ 16707 w 21600"/>
                  <a:gd name="T45" fmla="*/ 11098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endParaRPr lang="zh-CN" altLang="en-US"/>
              </a:p>
            </p:txBody>
          </p:sp>
          <p:sp>
            <p:nvSpPr>
              <p:cNvPr id="34845" name="computr1"/>
              <p:cNvSpPr>
                <a:spLocks noEditPoints="1" noChangeArrowheads="1"/>
              </p:cNvSpPr>
              <p:nvPr/>
            </p:nvSpPr>
            <p:spPr bwMode="auto">
              <a:xfrm>
                <a:off x="2290" y="2432"/>
                <a:ext cx="181" cy="18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893 w 21600"/>
                  <a:gd name="T43" fmla="*/ 2506 h 21600"/>
                  <a:gd name="T44" fmla="*/ 16707 w 21600"/>
                  <a:gd name="T45" fmla="*/ 11098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endParaRPr lang="zh-CN" altLang="en-US"/>
              </a:p>
            </p:txBody>
          </p:sp>
          <p:sp>
            <p:nvSpPr>
              <p:cNvPr id="34846" name="computr1"/>
              <p:cNvSpPr>
                <a:spLocks noEditPoints="1" noChangeArrowheads="1"/>
              </p:cNvSpPr>
              <p:nvPr/>
            </p:nvSpPr>
            <p:spPr bwMode="auto">
              <a:xfrm>
                <a:off x="2516" y="2432"/>
                <a:ext cx="181" cy="181"/>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w 21600"/>
                  <a:gd name="T21" fmla="*/ 0 h 21600"/>
                  <a:gd name="T22" fmla="*/ 0 w 21600"/>
                  <a:gd name="T23" fmla="*/ 0 h 21600"/>
                  <a:gd name="T24" fmla="*/ 0 w 21600"/>
                  <a:gd name="T25" fmla="*/ 0 h 21600"/>
                  <a:gd name="T26" fmla="*/ 0 w 21600"/>
                  <a:gd name="T27" fmla="*/ 0 h 216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4893 w 21600"/>
                  <a:gd name="T43" fmla="*/ 2506 h 21600"/>
                  <a:gd name="T44" fmla="*/ 16707 w 21600"/>
                  <a:gd name="T45" fmla="*/ 11098 h 216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21600" h="21600" extrusionOk="0">
                    <a:moveTo>
                      <a:pt x="16994" y="15388"/>
                    </a:moveTo>
                    <a:lnTo>
                      <a:pt x="16994" y="13553"/>
                    </a:lnTo>
                    <a:lnTo>
                      <a:pt x="19535" y="13553"/>
                    </a:lnTo>
                    <a:lnTo>
                      <a:pt x="19535" y="10729"/>
                    </a:lnTo>
                    <a:lnTo>
                      <a:pt x="19535" y="6776"/>
                    </a:lnTo>
                    <a:lnTo>
                      <a:pt x="19535" y="0"/>
                    </a:lnTo>
                    <a:lnTo>
                      <a:pt x="10800" y="0"/>
                    </a:lnTo>
                    <a:lnTo>
                      <a:pt x="2065" y="0"/>
                    </a:lnTo>
                    <a:lnTo>
                      <a:pt x="2065" y="6776"/>
                    </a:lnTo>
                    <a:lnTo>
                      <a:pt x="2065" y="10729"/>
                    </a:lnTo>
                    <a:lnTo>
                      <a:pt x="2065" y="13553"/>
                    </a:lnTo>
                    <a:lnTo>
                      <a:pt x="4606" y="13553"/>
                    </a:lnTo>
                    <a:lnTo>
                      <a:pt x="4606" y="15388"/>
                    </a:lnTo>
                    <a:lnTo>
                      <a:pt x="0" y="15388"/>
                    </a:lnTo>
                    <a:lnTo>
                      <a:pt x="0" y="21600"/>
                    </a:lnTo>
                    <a:lnTo>
                      <a:pt x="10800" y="21600"/>
                    </a:lnTo>
                    <a:lnTo>
                      <a:pt x="21600" y="21600"/>
                    </a:lnTo>
                    <a:lnTo>
                      <a:pt x="21600" y="15388"/>
                    </a:lnTo>
                    <a:lnTo>
                      <a:pt x="16994" y="15388"/>
                    </a:lnTo>
                    <a:close/>
                  </a:path>
                  <a:path w="21600" h="21600" extrusionOk="0">
                    <a:moveTo>
                      <a:pt x="4606" y="15388"/>
                    </a:moveTo>
                    <a:lnTo>
                      <a:pt x="4606" y="13553"/>
                    </a:lnTo>
                    <a:lnTo>
                      <a:pt x="16994" y="13553"/>
                    </a:lnTo>
                    <a:lnTo>
                      <a:pt x="16994" y="15388"/>
                    </a:lnTo>
                    <a:lnTo>
                      <a:pt x="4606" y="15388"/>
                    </a:lnTo>
                  </a:path>
                  <a:path w="21600" h="21600" extrusionOk="0">
                    <a:moveTo>
                      <a:pt x="4606" y="11294"/>
                    </a:moveTo>
                    <a:lnTo>
                      <a:pt x="4606" y="2259"/>
                    </a:lnTo>
                    <a:lnTo>
                      <a:pt x="16994" y="2259"/>
                    </a:lnTo>
                    <a:lnTo>
                      <a:pt x="16994" y="11294"/>
                    </a:lnTo>
                    <a:lnTo>
                      <a:pt x="4606" y="11294"/>
                    </a:lnTo>
                    <a:moveTo>
                      <a:pt x="13976" y="17082"/>
                    </a:moveTo>
                    <a:lnTo>
                      <a:pt x="13976" y="16376"/>
                    </a:lnTo>
                    <a:lnTo>
                      <a:pt x="20171" y="16376"/>
                    </a:lnTo>
                    <a:lnTo>
                      <a:pt x="20171" y="17082"/>
                    </a:lnTo>
                    <a:lnTo>
                      <a:pt x="13976" y="17082"/>
                    </a:lnTo>
                  </a:path>
                </a:pathLst>
              </a:custGeom>
              <a:solidFill>
                <a:srgbClr val="FFFFCC"/>
              </a:solidFill>
              <a:ln w="9525">
                <a:solidFill>
                  <a:srgbClr val="000000"/>
                </a:solidFill>
                <a:miter lim="800000"/>
                <a:headEnd/>
                <a:tailEnd/>
              </a:ln>
            </p:spPr>
            <p:txBody>
              <a:bodyPr/>
              <a:lstStyle/>
              <a:p>
                <a:endParaRPr lang="zh-CN" altLang="en-US"/>
              </a:p>
            </p:txBody>
          </p:sp>
          <p:sp>
            <p:nvSpPr>
              <p:cNvPr id="34847" name="Text Box 28"/>
              <p:cNvSpPr txBox="1">
                <a:spLocks noChangeArrowheads="1"/>
              </p:cNvSpPr>
              <p:nvPr/>
            </p:nvSpPr>
            <p:spPr bwMode="auto">
              <a:xfrm>
                <a:off x="1549" y="2895"/>
                <a:ext cx="1542" cy="252"/>
              </a:xfrm>
              <a:prstGeom prst="rect">
                <a:avLst/>
              </a:prstGeom>
              <a:noFill/>
              <a:ln w="9525" algn="ctr">
                <a:noFill/>
                <a:miter lim="800000"/>
                <a:headEnd/>
                <a:tailEnd/>
              </a:ln>
            </p:spPr>
            <p:txBody>
              <a:bodyPr>
                <a:spAutoFit/>
              </a:bodyPr>
              <a:lstStyle/>
              <a:p>
                <a:pPr>
                  <a:spcBef>
                    <a:spcPct val="50000"/>
                  </a:spcBef>
                </a:pPr>
                <a:r>
                  <a:rPr lang="en-US" altLang="zh-CN"/>
                  <a:t> Command Center</a:t>
                </a:r>
                <a:endParaRPr lang="zh-CN" altLang="en-US"/>
              </a:p>
            </p:txBody>
          </p:sp>
          <p:sp>
            <p:nvSpPr>
              <p:cNvPr id="34848" name="Text Box 28"/>
              <p:cNvSpPr txBox="1">
                <a:spLocks noChangeArrowheads="1"/>
              </p:cNvSpPr>
              <p:nvPr/>
            </p:nvSpPr>
            <p:spPr bwMode="auto">
              <a:xfrm>
                <a:off x="1735" y="454"/>
                <a:ext cx="1097" cy="273"/>
              </a:xfrm>
              <a:prstGeom prst="rect">
                <a:avLst/>
              </a:prstGeom>
              <a:noFill/>
              <a:ln w="9525" algn="ctr">
                <a:noFill/>
                <a:miter lim="800000"/>
                <a:headEnd/>
                <a:tailEnd/>
              </a:ln>
            </p:spPr>
            <p:txBody>
              <a:bodyPr wrap="square">
                <a:spAutoFit/>
              </a:bodyPr>
              <a:lstStyle/>
              <a:p>
                <a:pPr>
                  <a:spcBef>
                    <a:spcPct val="50000"/>
                  </a:spcBef>
                </a:pPr>
                <a:r>
                  <a:rPr lang="en-US" altLang="zh-CN" dirty="0"/>
                  <a:t> TT&amp;C Subsystem</a:t>
                </a:r>
                <a:endParaRPr lang="zh-CN" altLang="en-US" dirty="0"/>
              </a:p>
            </p:txBody>
          </p:sp>
        </p:grpSp>
        <p:pic>
          <p:nvPicPr>
            <p:cNvPr id="34822" name="Picture 34"/>
            <p:cNvPicPr>
              <a:picLocks noChangeAspect="1" noChangeArrowheads="1"/>
            </p:cNvPicPr>
            <p:nvPr/>
          </p:nvPicPr>
          <p:blipFill>
            <a:blip r:embed="rId4"/>
            <a:srcRect/>
            <a:stretch>
              <a:fillRect/>
            </a:stretch>
          </p:blipFill>
          <p:spPr bwMode="auto">
            <a:xfrm>
              <a:off x="6102350" y="1125538"/>
              <a:ext cx="1098550" cy="1212850"/>
            </a:xfrm>
            <a:prstGeom prst="rect">
              <a:avLst/>
            </a:prstGeom>
            <a:noFill/>
            <a:ln w="19050" cap="rnd">
              <a:noFill/>
              <a:prstDash val="sysDot"/>
              <a:miter lim="800000"/>
              <a:headEnd/>
              <a:tailEnd/>
            </a:ln>
          </p:spPr>
        </p:pic>
        <p:grpSp>
          <p:nvGrpSpPr>
            <p:cNvPr id="6" name="Group 42"/>
            <p:cNvGrpSpPr>
              <a:grpSpLocks/>
            </p:cNvGrpSpPr>
            <p:nvPr/>
          </p:nvGrpSpPr>
          <p:grpSpPr bwMode="auto">
            <a:xfrm>
              <a:off x="4752975" y="3640138"/>
              <a:ext cx="1862138" cy="1162050"/>
              <a:chOff x="1859" y="3385"/>
              <a:chExt cx="1173" cy="732"/>
            </a:xfrm>
          </p:grpSpPr>
          <p:pic>
            <p:nvPicPr>
              <p:cNvPr id="34834" name="Picture 32" descr="地面站"/>
              <p:cNvPicPr>
                <a:picLocks noChangeAspect="1" noChangeArrowheads="1"/>
              </p:cNvPicPr>
              <p:nvPr/>
            </p:nvPicPr>
            <p:blipFill>
              <a:blip r:embed="rId3"/>
              <a:srcRect/>
              <a:stretch>
                <a:fillRect/>
              </a:stretch>
            </p:blipFill>
            <p:spPr bwMode="auto">
              <a:xfrm>
                <a:off x="2290" y="3385"/>
                <a:ext cx="348" cy="486"/>
              </a:xfrm>
              <a:prstGeom prst="rect">
                <a:avLst/>
              </a:prstGeom>
              <a:noFill/>
              <a:ln w="9525">
                <a:noFill/>
                <a:miter lim="800000"/>
                <a:headEnd/>
                <a:tailEnd/>
              </a:ln>
            </p:spPr>
          </p:pic>
          <p:sp>
            <p:nvSpPr>
              <p:cNvPr id="34835" name="Text Box 39"/>
              <p:cNvSpPr txBox="1">
                <a:spLocks noChangeArrowheads="1"/>
              </p:cNvSpPr>
              <p:nvPr/>
            </p:nvSpPr>
            <p:spPr bwMode="auto">
              <a:xfrm>
                <a:off x="1859" y="3884"/>
                <a:ext cx="1173" cy="233"/>
              </a:xfrm>
              <a:prstGeom prst="rect">
                <a:avLst/>
              </a:prstGeom>
              <a:noFill/>
              <a:ln w="9525" algn="ctr">
                <a:noFill/>
                <a:miter lim="800000"/>
                <a:headEnd/>
                <a:tailEnd/>
              </a:ln>
            </p:spPr>
            <p:txBody>
              <a:bodyPr>
                <a:spAutoFit/>
              </a:bodyPr>
              <a:lstStyle/>
              <a:p>
                <a:pPr>
                  <a:spcBef>
                    <a:spcPct val="50000"/>
                  </a:spcBef>
                </a:pPr>
                <a:r>
                  <a:rPr lang="en-US" altLang="zh-CN" sz="1800" dirty="0"/>
                  <a:t>Ground Station</a:t>
                </a:r>
                <a:endParaRPr lang="zh-CN" altLang="en-US" sz="1800" dirty="0"/>
              </a:p>
            </p:txBody>
          </p:sp>
        </p:grpSp>
        <p:sp>
          <p:nvSpPr>
            <p:cNvPr id="34825" name="Line 47"/>
            <p:cNvSpPr>
              <a:spLocks noChangeShapeType="1"/>
            </p:cNvSpPr>
            <p:nvPr/>
          </p:nvSpPr>
          <p:spPr bwMode="auto">
            <a:xfrm>
              <a:off x="7439025" y="2638425"/>
              <a:ext cx="661988" cy="982663"/>
            </a:xfrm>
            <a:prstGeom prst="line">
              <a:avLst/>
            </a:prstGeom>
            <a:noFill/>
            <a:ln w="19050">
              <a:solidFill>
                <a:schemeClr val="tx1"/>
              </a:solidFill>
              <a:round/>
              <a:headEnd/>
              <a:tailEnd type="triangle" w="med" len="med"/>
            </a:ln>
          </p:spPr>
          <p:txBody>
            <a:bodyPr/>
            <a:lstStyle/>
            <a:p>
              <a:endParaRPr lang="zh-CN" altLang="en-US"/>
            </a:p>
          </p:txBody>
        </p:sp>
        <p:sp>
          <p:nvSpPr>
            <p:cNvPr id="34826" name="Line 48"/>
            <p:cNvSpPr>
              <a:spLocks noChangeShapeType="1"/>
            </p:cNvSpPr>
            <p:nvPr/>
          </p:nvSpPr>
          <p:spPr bwMode="auto">
            <a:xfrm>
              <a:off x="5499100" y="4797425"/>
              <a:ext cx="512763" cy="738188"/>
            </a:xfrm>
            <a:prstGeom prst="line">
              <a:avLst/>
            </a:prstGeom>
            <a:noFill/>
            <a:ln w="19050">
              <a:solidFill>
                <a:srgbClr val="008000"/>
              </a:solidFill>
              <a:round/>
              <a:headEnd/>
              <a:tailEnd type="triangle" w="med" len="med"/>
            </a:ln>
          </p:spPr>
          <p:txBody>
            <a:bodyPr/>
            <a:lstStyle/>
            <a:p>
              <a:endParaRPr lang="zh-CN" altLang="en-US"/>
            </a:p>
          </p:txBody>
        </p:sp>
        <p:sp>
          <p:nvSpPr>
            <p:cNvPr id="34827" name="Line 50"/>
            <p:cNvSpPr>
              <a:spLocks noChangeShapeType="1"/>
            </p:cNvSpPr>
            <p:nvPr/>
          </p:nvSpPr>
          <p:spPr bwMode="auto">
            <a:xfrm flipH="1" flipV="1">
              <a:off x="5632450" y="4797425"/>
              <a:ext cx="452438" cy="676275"/>
            </a:xfrm>
            <a:prstGeom prst="line">
              <a:avLst/>
            </a:prstGeom>
            <a:noFill/>
            <a:ln w="19050">
              <a:solidFill>
                <a:srgbClr val="008000"/>
              </a:solidFill>
              <a:round/>
              <a:headEnd/>
              <a:tailEnd type="triangle" w="med" len="med"/>
            </a:ln>
          </p:spPr>
          <p:txBody>
            <a:bodyPr/>
            <a:lstStyle/>
            <a:p>
              <a:endParaRPr lang="zh-CN" altLang="en-US"/>
            </a:p>
          </p:txBody>
        </p:sp>
        <p:sp>
          <p:nvSpPr>
            <p:cNvPr id="34828" name="Line 47"/>
            <p:cNvSpPr>
              <a:spLocks noChangeShapeType="1"/>
            </p:cNvSpPr>
            <p:nvPr/>
          </p:nvSpPr>
          <p:spPr bwMode="auto">
            <a:xfrm flipH="1">
              <a:off x="5668963" y="2638425"/>
              <a:ext cx="595312" cy="935038"/>
            </a:xfrm>
            <a:prstGeom prst="line">
              <a:avLst/>
            </a:prstGeom>
            <a:noFill/>
            <a:ln w="19050">
              <a:solidFill>
                <a:schemeClr val="tx1"/>
              </a:solidFill>
              <a:round/>
              <a:headEnd/>
              <a:tailEnd type="triangle" w="med" len="med"/>
            </a:ln>
          </p:spPr>
          <p:txBody>
            <a:bodyPr/>
            <a:lstStyle/>
            <a:p>
              <a:endParaRPr lang="zh-CN" altLang="en-US"/>
            </a:p>
          </p:txBody>
        </p:sp>
        <p:sp>
          <p:nvSpPr>
            <p:cNvPr id="34829" name="Line 47"/>
            <p:cNvSpPr>
              <a:spLocks noChangeShapeType="1"/>
            </p:cNvSpPr>
            <p:nvPr/>
          </p:nvSpPr>
          <p:spPr bwMode="auto">
            <a:xfrm flipV="1">
              <a:off x="5845175" y="2600325"/>
              <a:ext cx="635000" cy="1001713"/>
            </a:xfrm>
            <a:prstGeom prst="line">
              <a:avLst/>
            </a:prstGeom>
            <a:noFill/>
            <a:ln w="19050">
              <a:solidFill>
                <a:schemeClr val="tx1"/>
              </a:solidFill>
              <a:round/>
              <a:headEnd/>
              <a:tailEnd type="triangle" w="med" len="med"/>
            </a:ln>
          </p:spPr>
          <p:txBody>
            <a:bodyPr/>
            <a:lstStyle/>
            <a:p>
              <a:endParaRPr lang="zh-CN" altLang="en-US"/>
            </a:p>
          </p:txBody>
        </p:sp>
        <p:sp>
          <p:nvSpPr>
            <p:cNvPr id="34830" name="Line 47"/>
            <p:cNvSpPr>
              <a:spLocks noChangeShapeType="1"/>
            </p:cNvSpPr>
            <p:nvPr/>
          </p:nvSpPr>
          <p:spPr bwMode="auto">
            <a:xfrm flipH="1" flipV="1">
              <a:off x="7277100" y="2638425"/>
              <a:ext cx="679450" cy="1001713"/>
            </a:xfrm>
            <a:prstGeom prst="line">
              <a:avLst/>
            </a:prstGeom>
            <a:noFill/>
            <a:ln w="19050">
              <a:solidFill>
                <a:schemeClr val="tx1"/>
              </a:solidFill>
              <a:round/>
              <a:headEnd/>
              <a:tailEnd type="triangle" w="med" len="med"/>
            </a:ln>
          </p:spPr>
          <p:txBody>
            <a:bodyPr/>
            <a:lstStyle/>
            <a:p>
              <a:endParaRPr lang="zh-CN" altLang="en-US"/>
            </a:p>
          </p:txBody>
        </p:sp>
        <p:sp>
          <p:nvSpPr>
            <p:cNvPr id="34831" name="Line 50"/>
            <p:cNvSpPr>
              <a:spLocks noChangeShapeType="1"/>
            </p:cNvSpPr>
            <p:nvPr/>
          </p:nvSpPr>
          <p:spPr bwMode="auto">
            <a:xfrm flipV="1">
              <a:off x="7632700" y="4789488"/>
              <a:ext cx="363538" cy="709612"/>
            </a:xfrm>
            <a:prstGeom prst="line">
              <a:avLst/>
            </a:prstGeom>
            <a:noFill/>
            <a:ln w="19050">
              <a:solidFill>
                <a:srgbClr val="008000"/>
              </a:solidFill>
              <a:round/>
              <a:headEnd/>
              <a:tailEnd type="triangle" w="med" len="med"/>
            </a:ln>
          </p:spPr>
          <p:txBody>
            <a:bodyPr/>
            <a:lstStyle/>
            <a:p>
              <a:endParaRPr lang="zh-CN" altLang="en-US"/>
            </a:p>
          </p:txBody>
        </p:sp>
        <p:sp>
          <p:nvSpPr>
            <p:cNvPr id="34832" name="Line 48"/>
            <p:cNvSpPr>
              <a:spLocks noChangeShapeType="1"/>
            </p:cNvSpPr>
            <p:nvPr/>
          </p:nvSpPr>
          <p:spPr bwMode="auto">
            <a:xfrm flipH="1">
              <a:off x="7781925" y="4797425"/>
              <a:ext cx="354013" cy="738188"/>
            </a:xfrm>
            <a:prstGeom prst="line">
              <a:avLst/>
            </a:prstGeom>
            <a:noFill/>
            <a:ln w="19050">
              <a:solidFill>
                <a:srgbClr val="008000"/>
              </a:solidFill>
              <a:round/>
              <a:headEnd/>
              <a:tailEnd type="triangle" w="med" len="med"/>
            </a:ln>
          </p:spPr>
          <p:txBody>
            <a:bodyPr/>
            <a:lstStyle/>
            <a:p>
              <a:endParaRPr lang="zh-CN" altLang="en-US"/>
            </a:p>
          </p:txBody>
        </p:sp>
        <p:sp>
          <p:nvSpPr>
            <p:cNvPr id="34833" name="Oval 54"/>
            <p:cNvSpPr>
              <a:spLocks noChangeArrowheads="1"/>
            </p:cNvSpPr>
            <p:nvPr/>
          </p:nvSpPr>
          <p:spPr bwMode="auto">
            <a:xfrm>
              <a:off x="5400675" y="2095500"/>
              <a:ext cx="2735263" cy="684213"/>
            </a:xfrm>
            <a:prstGeom prst="ellipse">
              <a:avLst/>
            </a:prstGeom>
            <a:noFill/>
            <a:ln w="25400" algn="ctr">
              <a:solidFill>
                <a:schemeClr val="accent2"/>
              </a:solidFill>
              <a:prstDash val="dash"/>
              <a:round/>
              <a:headEnd/>
              <a:tailEnd/>
            </a:ln>
          </p:spPr>
          <p:txBody>
            <a:bodyPr wrap="none" anchor="ctr"/>
            <a:lstStyle/>
            <a:p>
              <a:endParaRPr lang="zh-CN" altLang="en-US"/>
            </a:p>
          </p:txBody>
        </p:sp>
      </p:grpSp>
      <p:sp>
        <p:nvSpPr>
          <p:cNvPr id="33"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5</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36"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38" name="标题 2"/>
          <p:cNvSpPr txBox="1">
            <a:spLocks/>
          </p:cNvSpPr>
          <p:nvPr/>
        </p:nvSpPr>
        <p:spPr>
          <a:xfrm>
            <a:off x="457200" y="274638"/>
            <a:ext cx="6257940" cy="725470"/>
          </a:xfrm>
          <a:prstGeom prst="rect">
            <a:avLst/>
          </a:prstGeom>
          <a:extLst/>
        </p:spPr>
        <p:txBody>
          <a:bodyPr rtlCol="0" anchor="t">
            <a:normAutofit/>
          </a:bodyPr>
          <a:lstStyle/>
          <a:p>
            <a:pPr lvl="0">
              <a:spcBef>
                <a:spcPct val="0"/>
              </a:spcBef>
              <a:defRPr/>
            </a:pPr>
            <a:r>
              <a:rPr kumimoji="0" lang="en-US" altLang="zh-CN" sz="3600" b="1" i="0" u="none" strike="noStrike" kern="1700" cap="none" spc="0" normalizeH="0" baseline="0" noProof="0" dirty="0" smtClean="0">
                <a:ln>
                  <a:noFill/>
                </a:ln>
                <a:solidFill>
                  <a:schemeClr val="bg1"/>
                </a:solidFill>
                <a:effectLst/>
                <a:uLnTx/>
                <a:uFillTx/>
                <a:latin typeface="微软雅黑" pitchFamily="34" charset="-122"/>
                <a:ea typeface="微软雅黑" pitchFamily="34" charset="-122"/>
                <a:cs typeface="+mj-cs"/>
              </a:rPr>
              <a:t>1  </a:t>
            </a:r>
            <a:r>
              <a:rPr lang="en-US" altLang="zh-CN" sz="3600" b="1" kern="1700" dirty="0" smtClean="0">
                <a:solidFill>
                  <a:schemeClr val="bg1"/>
                </a:solidFill>
                <a:latin typeface="微软雅黑" pitchFamily="34" charset="-122"/>
                <a:ea typeface="微软雅黑" pitchFamily="34" charset="-122"/>
              </a:rPr>
              <a:t>TT&amp;C Introduction</a:t>
            </a:r>
            <a:endParaRPr kumimoji="0" lang="zh-CN" altLang="en-US" sz="3600" b="1" i="0" u="none" strike="noStrike" kern="1200" cap="none" spc="0" normalizeH="0" baseline="0" noProof="0" dirty="0" smtClean="0">
              <a:ln>
                <a:noFill/>
              </a:ln>
              <a:solidFill>
                <a:schemeClr val="bg1"/>
              </a:solidFill>
              <a:effectLst/>
              <a:uLnTx/>
              <a:uFillTx/>
              <a:latin typeface="微软雅黑" pitchFamily="34" charset="-122"/>
              <a:ea typeface="微软雅黑" pitchFamily="34" charset="-122"/>
              <a:cs typeface="+mj-cs"/>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2"/>
          <p:cNvSpPr txBox="1">
            <a:spLocks/>
          </p:cNvSpPr>
          <p:nvPr/>
        </p:nvSpPr>
        <p:spPr bwMode="auto">
          <a:xfrm>
            <a:off x="50800" y="233363"/>
            <a:ext cx="8229600" cy="1143000"/>
          </a:xfrm>
          <a:prstGeom prst="rect">
            <a:avLst/>
          </a:prstGeom>
          <a:noFill/>
          <a:ln w="9525">
            <a:noFill/>
            <a:miter lim="800000"/>
            <a:headEnd/>
            <a:tailEnd/>
          </a:ln>
        </p:spPr>
        <p:txBody>
          <a:bodyPr/>
          <a:lstStyle/>
          <a:p>
            <a:pPr eaLnBrk="0" hangingPunct="0"/>
            <a:endParaRPr lang="zh-CN" altLang="en-US" sz="4400">
              <a:solidFill>
                <a:schemeClr val="tx2"/>
              </a:solidFill>
            </a:endParaRPr>
          </a:p>
        </p:txBody>
      </p:sp>
      <p:sp>
        <p:nvSpPr>
          <p:cNvPr id="5" name="TextBox 5"/>
          <p:cNvSpPr txBox="1">
            <a:spLocks noChangeArrowheads="1"/>
          </p:cNvSpPr>
          <p:nvPr/>
        </p:nvSpPr>
        <p:spPr bwMode="auto">
          <a:xfrm>
            <a:off x="574707" y="1357298"/>
            <a:ext cx="8069259" cy="2076617"/>
          </a:xfrm>
          <a:prstGeom prst="rect">
            <a:avLst/>
          </a:prstGeom>
          <a:noFill/>
          <a:ln>
            <a:noFill/>
          </a:ln>
          <a:extLst/>
        </p:spPr>
        <p:txBody>
          <a:bodyPr wrap="square" lIns="82954" tIns="41477" rIns="82954" bIns="41477">
            <a:spAutoFit/>
          </a:bodyPr>
          <a:lstStyle>
            <a:lvl1pPr eaLnBrk="0" hangingPunct="0">
              <a:defRPr sz="2000" b="1">
                <a:solidFill>
                  <a:srgbClr val="575F6D"/>
                </a:solidFill>
                <a:latin typeface="Arial" charset="0"/>
                <a:ea typeface="宋体" pitchFamily="2" charset="-122"/>
              </a:defRPr>
            </a:lvl1pPr>
            <a:lvl2pPr marL="742950" indent="-285750" eaLnBrk="0" hangingPunct="0">
              <a:defRPr sz="2000" b="1">
                <a:solidFill>
                  <a:srgbClr val="575F6D"/>
                </a:solidFill>
                <a:latin typeface="Arial" charset="0"/>
                <a:ea typeface="宋体" pitchFamily="2" charset="-122"/>
              </a:defRPr>
            </a:lvl2pPr>
            <a:lvl3pPr marL="1143000" indent="-228600" eaLnBrk="0" hangingPunct="0">
              <a:defRPr sz="2000" b="1">
                <a:solidFill>
                  <a:srgbClr val="575F6D"/>
                </a:solidFill>
                <a:latin typeface="Arial" charset="0"/>
                <a:ea typeface="宋体" pitchFamily="2" charset="-122"/>
              </a:defRPr>
            </a:lvl3pPr>
            <a:lvl4pPr marL="1600200" indent="-228600" eaLnBrk="0" hangingPunct="0">
              <a:defRPr sz="2000" b="1">
                <a:solidFill>
                  <a:srgbClr val="575F6D"/>
                </a:solidFill>
                <a:latin typeface="Arial" charset="0"/>
                <a:ea typeface="宋体" pitchFamily="2" charset="-122"/>
              </a:defRPr>
            </a:lvl4pPr>
            <a:lvl5pPr marL="2057400" indent="-228600" eaLnBrk="0" hangingPunct="0">
              <a:defRPr sz="2000" b="1">
                <a:solidFill>
                  <a:srgbClr val="575F6D"/>
                </a:solidFill>
                <a:latin typeface="Arial"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charset="0"/>
                <a:ea typeface="宋体" pitchFamily="2" charset="-122"/>
              </a:defRPr>
            </a:lvl9pPr>
          </a:lstStyle>
          <a:p>
            <a:pPr marL="457200" indent="-457200" algn="l" eaLnBrk="1" hangingPunct="1">
              <a:lnSpc>
                <a:spcPct val="150000"/>
              </a:lnSpc>
              <a:spcAft>
                <a:spcPts val="1200"/>
              </a:spcAft>
              <a:buFont typeface="Wingdings" pitchFamily="2" charset="2"/>
              <a:buChar char="p"/>
              <a:defRPr/>
            </a:pPr>
            <a:r>
              <a:rPr lang="en-US" altLang="zh-CN" sz="2800" dirty="0" smtClean="0">
                <a:solidFill>
                  <a:srgbClr val="0070C0"/>
                </a:solidFill>
              </a:rPr>
              <a:t>TT&amp;C Significance</a:t>
            </a:r>
            <a:endParaRPr lang="en-US" altLang="zh-CN" sz="2800" dirty="0" smtClean="0">
              <a:solidFill>
                <a:srgbClr val="FF0000"/>
              </a:solidFill>
            </a:endParaRPr>
          </a:p>
          <a:p>
            <a:pPr marL="720000" indent="-360000" algn="just" eaLnBrk="1" hangingPunct="1">
              <a:lnSpc>
                <a:spcPct val="150000"/>
              </a:lnSpc>
              <a:spcAft>
                <a:spcPts val="1200"/>
              </a:spcAft>
              <a:buFont typeface="Wingdings" pitchFamily="2" charset="2"/>
              <a:buChar char="n"/>
              <a:defRPr/>
            </a:pPr>
            <a:r>
              <a:rPr lang="x-none" altLang="zh-CN" sz="2200" dirty="0" smtClean="0">
                <a:solidFill>
                  <a:schemeClr val="tx1"/>
                </a:solidFill>
              </a:rPr>
              <a:t>know and control the satellite</a:t>
            </a:r>
            <a:endParaRPr lang="en-US" altLang="zh-CN" sz="2200" dirty="0" smtClean="0">
              <a:solidFill>
                <a:schemeClr val="tx1"/>
              </a:solidFill>
            </a:endParaRPr>
          </a:p>
          <a:p>
            <a:pPr marL="720000" indent="-360000" algn="just" eaLnBrk="1" hangingPunct="1">
              <a:lnSpc>
                <a:spcPct val="150000"/>
              </a:lnSpc>
              <a:spcAft>
                <a:spcPts val="1200"/>
              </a:spcAft>
              <a:buFont typeface="Wingdings" pitchFamily="2" charset="2"/>
              <a:buChar char="n"/>
              <a:defRPr/>
            </a:pPr>
            <a:r>
              <a:rPr lang="x-none" altLang="zh-CN" sz="2200" dirty="0" smtClean="0">
                <a:solidFill>
                  <a:schemeClr val="tx1"/>
                </a:solidFill>
              </a:rPr>
              <a:t>whole lifecycle</a:t>
            </a:r>
            <a:endParaRPr lang="en-US" altLang="zh-CN" sz="2200" dirty="0" smtClean="0"/>
          </a:p>
        </p:txBody>
      </p:sp>
      <p:sp>
        <p:nvSpPr>
          <p:cNvPr id="34" name="TextBox 5"/>
          <p:cNvSpPr txBox="1">
            <a:spLocks noChangeArrowheads="1"/>
          </p:cNvSpPr>
          <p:nvPr/>
        </p:nvSpPr>
        <p:spPr bwMode="auto">
          <a:xfrm>
            <a:off x="539813" y="3597809"/>
            <a:ext cx="8069259" cy="2122784"/>
          </a:xfrm>
          <a:prstGeom prst="rect">
            <a:avLst/>
          </a:prstGeom>
          <a:noFill/>
          <a:ln>
            <a:noFill/>
          </a:ln>
          <a:extLst/>
        </p:spPr>
        <p:txBody>
          <a:bodyPr wrap="square" lIns="82954" tIns="41477" rIns="82954" bIns="41477">
            <a:spAutoFit/>
          </a:bodyPr>
          <a:lstStyle>
            <a:lvl1pPr eaLnBrk="0" hangingPunct="0">
              <a:defRPr sz="2000" b="1">
                <a:solidFill>
                  <a:srgbClr val="575F6D"/>
                </a:solidFill>
                <a:latin typeface="Arial" charset="0"/>
                <a:ea typeface="宋体" pitchFamily="2" charset="-122"/>
              </a:defRPr>
            </a:lvl1pPr>
            <a:lvl2pPr marL="742950" indent="-285750" eaLnBrk="0" hangingPunct="0">
              <a:defRPr sz="2000" b="1">
                <a:solidFill>
                  <a:srgbClr val="575F6D"/>
                </a:solidFill>
                <a:latin typeface="Arial" charset="0"/>
                <a:ea typeface="宋体" pitchFamily="2" charset="-122"/>
              </a:defRPr>
            </a:lvl2pPr>
            <a:lvl3pPr marL="1143000" indent="-228600" eaLnBrk="0" hangingPunct="0">
              <a:defRPr sz="2000" b="1">
                <a:solidFill>
                  <a:srgbClr val="575F6D"/>
                </a:solidFill>
                <a:latin typeface="Arial" charset="0"/>
                <a:ea typeface="宋体" pitchFamily="2" charset="-122"/>
              </a:defRPr>
            </a:lvl3pPr>
            <a:lvl4pPr marL="1600200" indent="-228600" eaLnBrk="0" hangingPunct="0">
              <a:defRPr sz="2000" b="1">
                <a:solidFill>
                  <a:srgbClr val="575F6D"/>
                </a:solidFill>
                <a:latin typeface="Arial" charset="0"/>
                <a:ea typeface="宋体" pitchFamily="2" charset="-122"/>
              </a:defRPr>
            </a:lvl4pPr>
            <a:lvl5pPr marL="2057400" indent="-228600" eaLnBrk="0" hangingPunct="0">
              <a:defRPr sz="2000" b="1">
                <a:solidFill>
                  <a:srgbClr val="575F6D"/>
                </a:solidFill>
                <a:latin typeface="Arial"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charset="0"/>
                <a:ea typeface="宋体" pitchFamily="2" charset="-122"/>
              </a:defRPr>
            </a:lvl9pPr>
          </a:lstStyle>
          <a:p>
            <a:pPr marL="457200" indent="-457200" algn="l" eaLnBrk="1" hangingPunct="1">
              <a:lnSpc>
                <a:spcPct val="150000"/>
              </a:lnSpc>
              <a:spcAft>
                <a:spcPts val="1200"/>
              </a:spcAft>
              <a:buFont typeface="Wingdings" pitchFamily="2" charset="2"/>
              <a:buChar char="p"/>
              <a:defRPr/>
            </a:pPr>
            <a:r>
              <a:rPr lang="en-US" altLang="zh-CN" sz="2800" dirty="0" smtClean="0">
                <a:solidFill>
                  <a:srgbClr val="0070C0"/>
                </a:solidFill>
              </a:rPr>
              <a:t>Difference with Payload communication</a:t>
            </a:r>
          </a:p>
          <a:p>
            <a:pPr marL="720000" indent="-360000" algn="just" eaLnBrk="1" hangingPunct="1">
              <a:lnSpc>
                <a:spcPct val="150000"/>
              </a:lnSpc>
              <a:spcAft>
                <a:spcPts val="1200"/>
              </a:spcAft>
              <a:buFont typeface="Wingdings" pitchFamily="2" charset="2"/>
              <a:buChar char="n"/>
              <a:defRPr/>
            </a:pPr>
            <a:r>
              <a:rPr lang="x-none" altLang="zh-CN" sz="2200" dirty="0" smtClean="0">
                <a:solidFill>
                  <a:schemeClr val="tx1"/>
                </a:solidFill>
              </a:rPr>
              <a:t>status data</a:t>
            </a:r>
            <a:r>
              <a:rPr lang="en-US" altLang="zh-CN" sz="2200" dirty="0" smtClean="0">
                <a:solidFill>
                  <a:schemeClr val="tx1"/>
                </a:solidFill>
              </a:rPr>
              <a:t> and command data</a:t>
            </a:r>
            <a:r>
              <a:rPr lang="en-US" altLang="zh-CN" sz="2400" dirty="0" smtClean="0">
                <a:solidFill>
                  <a:schemeClr val="tx1"/>
                </a:solidFill>
              </a:rPr>
              <a:t> </a:t>
            </a:r>
            <a:r>
              <a:rPr lang="x-none" altLang="zh-CN" sz="2400" dirty="0" smtClean="0">
                <a:solidFill>
                  <a:schemeClr val="tx1"/>
                </a:solidFill>
              </a:rPr>
              <a:t>for </a:t>
            </a:r>
            <a:r>
              <a:rPr lang="en-US" altLang="zh-CN" sz="2400" dirty="0" smtClean="0">
                <a:solidFill>
                  <a:schemeClr val="tx1"/>
                </a:solidFill>
              </a:rPr>
              <a:t>normal operation </a:t>
            </a:r>
            <a:endParaRPr lang="en-US" altLang="zh-CN" sz="2200" dirty="0" smtClean="0">
              <a:solidFill>
                <a:schemeClr val="tx1"/>
              </a:solidFill>
            </a:endParaRPr>
          </a:p>
          <a:p>
            <a:pPr marL="720000" indent="-360000" algn="just" eaLnBrk="1" hangingPunct="1">
              <a:lnSpc>
                <a:spcPct val="150000"/>
              </a:lnSpc>
              <a:spcAft>
                <a:spcPts val="1200"/>
              </a:spcAft>
              <a:buFont typeface="Wingdings" pitchFamily="2" charset="2"/>
              <a:buChar char="n"/>
              <a:defRPr/>
            </a:pPr>
            <a:r>
              <a:rPr lang="x-none" altLang="zh-CN" sz="2200" dirty="0" smtClean="0">
                <a:solidFill>
                  <a:schemeClr val="tx1"/>
                </a:solidFill>
              </a:rPr>
              <a:t>payload data for using</a:t>
            </a:r>
            <a:endParaRPr lang="en-US" altLang="zh-CN" sz="2200" dirty="0" smtClean="0">
              <a:solidFill>
                <a:schemeClr val="tx1"/>
              </a:solidFill>
            </a:endParaRPr>
          </a:p>
        </p:txBody>
      </p:sp>
      <p:sp>
        <p:nvSpPr>
          <p:cNvPr id="6"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6</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9"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8" name="标题 2"/>
          <p:cNvSpPr txBox="1">
            <a:spLocks/>
          </p:cNvSpPr>
          <p:nvPr/>
        </p:nvSpPr>
        <p:spPr>
          <a:xfrm>
            <a:off x="457200" y="274638"/>
            <a:ext cx="6257940" cy="725470"/>
          </a:xfrm>
          <a:prstGeom prst="rect">
            <a:avLst/>
          </a:prstGeom>
          <a:extLst/>
        </p:spPr>
        <p:txBody>
          <a:bodyPr rtlCol="0" anchor="t">
            <a:normAutofit/>
          </a:bodyPr>
          <a:lstStyle/>
          <a:p>
            <a:pPr lvl="0">
              <a:spcBef>
                <a:spcPct val="0"/>
              </a:spcBef>
              <a:defRPr/>
            </a:pPr>
            <a:r>
              <a:rPr kumimoji="0" lang="en-US" altLang="zh-CN" sz="3600" b="1" i="0" u="none" strike="noStrike" kern="1700" cap="none" spc="0" normalizeH="0" baseline="0" noProof="0" dirty="0" smtClean="0">
                <a:ln>
                  <a:noFill/>
                </a:ln>
                <a:solidFill>
                  <a:schemeClr val="bg1"/>
                </a:solidFill>
                <a:effectLst/>
                <a:uLnTx/>
                <a:uFillTx/>
                <a:latin typeface="微软雅黑" pitchFamily="34" charset="-122"/>
                <a:ea typeface="微软雅黑" pitchFamily="34" charset="-122"/>
                <a:cs typeface="+mj-cs"/>
              </a:rPr>
              <a:t>1  </a:t>
            </a:r>
            <a:r>
              <a:rPr lang="en-US" altLang="zh-CN" sz="3600" b="1" kern="1700" dirty="0" smtClean="0">
                <a:solidFill>
                  <a:schemeClr val="bg1"/>
                </a:solidFill>
                <a:latin typeface="微软雅黑" pitchFamily="34" charset="-122"/>
                <a:ea typeface="微软雅黑" pitchFamily="34" charset="-122"/>
              </a:rPr>
              <a:t>TT&amp;C Introduction</a:t>
            </a:r>
            <a:endParaRPr kumimoji="0" lang="zh-CN" altLang="en-US" sz="3600" b="1" i="0" u="none" strike="noStrike" kern="1200" cap="none" spc="0" normalizeH="0" baseline="0" noProof="0" dirty="0" smtClean="0">
              <a:ln>
                <a:noFill/>
              </a:ln>
              <a:solidFill>
                <a:schemeClr val="bg1"/>
              </a:solidFill>
              <a:effectLst/>
              <a:uLnTx/>
              <a:uFillTx/>
              <a:latin typeface="微软雅黑" pitchFamily="34" charset="-122"/>
              <a:ea typeface="微软雅黑" pitchFamily="34" charset="-122"/>
              <a:cs typeface="+mj-cs"/>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2"/>
          <p:cNvSpPr txBox="1">
            <a:spLocks/>
          </p:cNvSpPr>
          <p:nvPr/>
        </p:nvSpPr>
        <p:spPr bwMode="auto">
          <a:xfrm>
            <a:off x="50800" y="233363"/>
            <a:ext cx="8229600" cy="1143000"/>
          </a:xfrm>
          <a:prstGeom prst="rect">
            <a:avLst/>
          </a:prstGeom>
          <a:noFill/>
          <a:ln w="9525">
            <a:noFill/>
            <a:miter lim="800000"/>
            <a:headEnd/>
            <a:tailEnd/>
          </a:ln>
        </p:spPr>
        <p:txBody>
          <a:bodyPr/>
          <a:lstStyle/>
          <a:p>
            <a:pPr eaLnBrk="0" hangingPunct="0"/>
            <a:endParaRPr lang="zh-CN" altLang="en-US" sz="4400">
              <a:solidFill>
                <a:schemeClr val="tx2"/>
              </a:solidFill>
            </a:endParaRPr>
          </a:p>
        </p:txBody>
      </p:sp>
      <p:sp>
        <p:nvSpPr>
          <p:cNvPr id="5" name="TextBox 5"/>
          <p:cNvSpPr txBox="1">
            <a:spLocks noChangeArrowheads="1"/>
          </p:cNvSpPr>
          <p:nvPr/>
        </p:nvSpPr>
        <p:spPr bwMode="auto">
          <a:xfrm>
            <a:off x="625476" y="2071678"/>
            <a:ext cx="5160970" cy="3584722"/>
          </a:xfrm>
          <a:prstGeom prst="rect">
            <a:avLst/>
          </a:prstGeom>
          <a:noFill/>
          <a:ln>
            <a:noFill/>
          </a:ln>
          <a:extLst/>
        </p:spPr>
        <p:txBody>
          <a:bodyPr wrap="square" lIns="82954" tIns="41477" rIns="82954" bIns="41477">
            <a:spAutoFit/>
          </a:bodyPr>
          <a:lstStyle>
            <a:lvl1pPr eaLnBrk="0" hangingPunct="0">
              <a:defRPr sz="2000" b="1">
                <a:solidFill>
                  <a:srgbClr val="575F6D"/>
                </a:solidFill>
                <a:latin typeface="Arial" charset="0"/>
                <a:ea typeface="宋体" pitchFamily="2" charset="-122"/>
              </a:defRPr>
            </a:lvl1pPr>
            <a:lvl2pPr marL="742950" indent="-285750" eaLnBrk="0" hangingPunct="0">
              <a:defRPr sz="2000" b="1">
                <a:solidFill>
                  <a:srgbClr val="575F6D"/>
                </a:solidFill>
                <a:latin typeface="Arial" charset="0"/>
                <a:ea typeface="宋体" pitchFamily="2" charset="-122"/>
              </a:defRPr>
            </a:lvl2pPr>
            <a:lvl3pPr marL="1143000" indent="-228600" eaLnBrk="0" hangingPunct="0">
              <a:defRPr sz="2000" b="1">
                <a:solidFill>
                  <a:srgbClr val="575F6D"/>
                </a:solidFill>
                <a:latin typeface="Arial" charset="0"/>
                <a:ea typeface="宋体" pitchFamily="2" charset="-122"/>
              </a:defRPr>
            </a:lvl3pPr>
            <a:lvl4pPr marL="1600200" indent="-228600" eaLnBrk="0" hangingPunct="0">
              <a:defRPr sz="2000" b="1">
                <a:solidFill>
                  <a:srgbClr val="575F6D"/>
                </a:solidFill>
                <a:latin typeface="Arial" charset="0"/>
                <a:ea typeface="宋体" pitchFamily="2" charset="-122"/>
              </a:defRPr>
            </a:lvl4pPr>
            <a:lvl5pPr marL="2057400" indent="-228600" eaLnBrk="0" hangingPunct="0">
              <a:defRPr sz="2000" b="1">
                <a:solidFill>
                  <a:srgbClr val="575F6D"/>
                </a:solidFill>
                <a:latin typeface="Arial"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charset="0"/>
                <a:ea typeface="宋体" pitchFamily="2" charset="-122"/>
              </a:defRPr>
            </a:lvl9pPr>
          </a:lstStyle>
          <a:p>
            <a:pPr marL="457200" indent="-457200" algn="just" eaLnBrk="1" hangingPunct="1">
              <a:lnSpc>
                <a:spcPct val="150000"/>
              </a:lnSpc>
              <a:spcAft>
                <a:spcPts val="1200"/>
              </a:spcAft>
              <a:buFont typeface="Wingdings" pitchFamily="2" charset="2"/>
              <a:buChar char="p"/>
              <a:defRPr/>
            </a:pPr>
            <a:r>
              <a:rPr lang="en-US" altLang="zh-CN" sz="2900" dirty="0" smtClean="0">
                <a:solidFill>
                  <a:srgbClr val="0070C0"/>
                </a:solidFill>
              </a:rPr>
              <a:t>Telemetry</a:t>
            </a:r>
          </a:p>
          <a:p>
            <a:pPr marL="720000" indent="-360000" algn="just" eaLnBrk="1" hangingPunct="1">
              <a:lnSpc>
                <a:spcPct val="150000"/>
              </a:lnSpc>
              <a:spcAft>
                <a:spcPts val="1200"/>
              </a:spcAft>
              <a:buFont typeface="Wingdings" pitchFamily="2" charset="2"/>
              <a:buChar char="n"/>
              <a:defRPr/>
            </a:pPr>
            <a:r>
              <a:rPr lang="en-US" altLang="zh-CN" sz="2400" dirty="0" smtClean="0">
                <a:solidFill>
                  <a:schemeClr val="tx1"/>
                </a:solidFill>
              </a:rPr>
              <a:t>status and parameters(PCM)</a:t>
            </a:r>
          </a:p>
          <a:p>
            <a:pPr marL="720000" indent="-360000" algn="just" eaLnBrk="1" hangingPunct="1">
              <a:lnSpc>
                <a:spcPct val="150000"/>
              </a:lnSpc>
              <a:spcAft>
                <a:spcPts val="1200"/>
              </a:spcAft>
              <a:buFont typeface="Wingdings" pitchFamily="2" charset="2"/>
              <a:buChar char="n"/>
              <a:defRPr/>
            </a:pPr>
            <a:r>
              <a:rPr lang="en-US" altLang="zh-CN" sz="2400" dirty="0" smtClean="0">
                <a:solidFill>
                  <a:schemeClr val="tx1"/>
                </a:solidFill>
                <a:latin typeface="Times New Roman" pitchFamily="18" charset="0"/>
                <a:cs typeface="Times New Roman" pitchFamily="18" charset="0"/>
              </a:rPr>
              <a:t>TM subcarrier(PSK)</a:t>
            </a:r>
            <a:endParaRPr lang="en-US" altLang="zh-CN" sz="2400" dirty="0" smtClean="0">
              <a:solidFill>
                <a:schemeClr val="tx1"/>
              </a:solidFill>
            </a:endParaRPr>
          </a:p>
          <a:p>
            <a:pPr marL="720000" indent="-360000" algn="just" eaLnBrk="1" hangingPunct="1">
              <a:lnSpc>
                <a:spcPct val="150000"/>
              </a:lnSpc>
              <a:spcAft>
                <a:spcPts val="1200"/>
              </a:spcAft>
              <a:buFont typeface="Wingdings" pitchFamily="2" charset="2"/>
              <a:buChar char="n"/>
              <a:defRPr/>
            </a:pPr>
            <a:r>
              <a:rPr lang="en-US" altLang="zh-CN" sz="2400" dirty="0" smtClean="0">
                <a:solidFill>
                  <a:schemeClr val="tx1"/>
                </a:solidFill>
                <a:latin typeface="Times New Roman" pitchFamily="18" charset="0"/>
                <a:cs typeface="Times New Roman" pitchFamily="18" charset="0"/>
              </a:rPr>
              <a:t>Carrier(PM) </a:t>
            </a:r>
          </a:p>
          <a:p>
            <a:pPr marL="720000" indent="-360000" algn="just" eaLnBrk="1" hangingPunct="1">
              <a:lnSpc>
                <a:spcPct val="150000"/>
              </a:lnSpc>
              <a:spcAft>
                <a:spcPts val="1200"/>
              </a:spcAft>
              <a:buFont typeface="Wingdings" pitchFamily="2" charset="2"/>
              <a:buChar char="n"/>
              <a:defRPr/>
            </a:pPr>
            <a:r>
              <a:rPr lang="en-US" altLang="zh-CN" sz="2400" dirty="0" smtClean="0">
                <a:solidFill>
                  <a:schemeClr val="tx1"/>
                </a:solidFill>
              </a:rPr>
              <a:t>downlink</a:t>
            </a:r>
            <a:r>
              <a:rPr lang="x-none" altLang="zh-CN" sz="2400" dirty="0" smtClean="0">
                <a:solidFill>
                  <a:schemeClr val="tx1"/>
                </a:solidFill>
              </a:rPr>
              <a:t> </a:t>
            </a:r>
            <a:r>
              <a:rPr lang="en-US" altLang="zh-CN" sz="2400" dirty="0" smtClean="0">
                <a:solidFill>
                  <a:schemeClr val="tx1"/>
                </a:solidFill>
              </a:rPr>
              <a:t>channel</a:t>
            </a:r>
            <a:r>
              <a:rPr lang="x-none" altLang="zh-CN" sz="2400" dirty="0" smtClean="0">
                <a:solidFill>
                  <a:schemeClr val="tx1"/>
                </a:solidFill>
              </a:rPr>
              <a:t> </a:t>
            </a:r>
            <a:r>
              <a:rPr lang="en-US" altLang="zh-CN" sz="2400" dirty="0" smtClean="0">
                <a:solidFill>
                  <a:schemeClr val="tx1"/>
                </a:solidFill>
              </a:rPr>
              <a:t>  </a:t>
            </a:r>
          </a:p>
        </p:txBody>
      </p:sp>
      <p:pic>
        <p:nvPicPr>
          <p:cNvPr id="36869" name="Picture 2"/>
          <p:cNvPicPr>
            <a:picLocks noChangeAspect="1" noChangeArrowheads="1"/>
          </p:cNvPicPr>
          <p:nvPr/>
        </p:nvPicPr>
        <p:blipFill>
          <a:blip r:embed="rId3"/>
          <a:srcRect/>
          <a:stretch>
            <a:fillRect/>
          </a:stretch>
        </p:blipFill>
        <p:spPr bwMode="gray">
          <a:xfrm>
            <a:off x="5857884" y="1571612"/>
            <a:ext cx="2691882" cy="4573599"/>
          </a:xfrm>
          <a:prstGeom prst="rect">
            <a:avLst/>
          </a:prstGeom>
          <a:noFill/>
          <a:ln w="9525" algn="ctr">
            <a:noFill/>
            <a:miter lim="800000"/>
            <a:headEnd/>
            <a:tailEnd/>
          </a:ln>
        </p:spPr>
      </p:pic>
      <p:sp>
        <p:nvSpPr>
          <p:cNvPr id="6"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7</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9"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8" name="标题 2"/>
          <p:cNvSpPr txBox="1">
            <a:spLocks/>
          </p:cNvSpPr>
          <p:nvPr/>
        </p:nvSpPr>
        <p:spPr>
          <a:xfrm>
            <a:off x="457200" y="274638"/>
            <a:ext cx="6257940" cy="725470"/>
          </a:xfrm>
          <a:prstGeom prst="rect">
            <a:avLst/>
          </a:prstGeom>
          <a:extLst/>
        </p:spPr>
        <p:txBody>
          <a:bodyPr rtlCol="0" anchor="t">
            <a:normAutofit/>
          </a:bodyPr>
          <a:lstStyle/>
          <a:p>
            <a:pPr lvl="0">
              <a:spcBef>
                <a:spcPct val="0"/>
              </a:spcBef>
              <a:defRPr/>
            </a:pPr>
            <a:r>
              <a:rPr kumimoji="0" lang="en-US" altLang="zh-CN" sz="3600" b="1" i="0" u="none" strike="noStrike" kern="1700" cap="none" spc="0" normalizeH="0" baseline="0" noProof="0" dirty="0" smtClean="0">
                <a:ln>
                  <a:noFill/>
                </a:ln>
                <a:solidFill>
                  <a:schemeClr val="bg1"/>
                </a:solidFill>
                <a:effectLst/>
                <a:uLnTx/>
                <a:uFillTx/>
                <a:latin typeface="微软雅黑" pitchFamily="34" charset="-122"/>
                <a:ea typeface="微软雅黑" pitchFamily="34" charset="-122"/>
                <a:cs typeface="+mj-cs"/>
              </a:rPr>
              <a:t>1  </a:t>
            </a:r>
            <a:r>
              <a:rPr lang="en-US" altLang="zh-CN" sz="3600" b="1" kern="1700" dirty="0" smtClean="0">
                <a:solidFill>
                  <a:schemeClr val="bg1"/>
                </a:solidFill>
                <a:latin typeface="微软雅黑" pitchFamily="34" charset="-122"/>
                <a:ea typeface="微软雅黑" pitchFamily="34" charset="-122"/>
              </a:rPr>
              <a:t>TT&amp;C Introduction</a:t>
            </a:r>
            <a:endParaRPr kumimoji="0" lang="zh-CN" altLang="en-US" sz="3600" b="1" i="0" u="none" strike="noStrike" kern="1200" cap="none" spc="0" normalizeH="0" baseline="0" noProof="0" dirty="0" smtClean="0">
              <a:ln>
                <a:noFill/>
              </a:ln>
              <a:solidFill>
                <a:schemeClr val="bg1"/>
              </a:solidFill>
              <a:effectLst/>
              <a:uLnTx/>
              <a:uFillTx/>
              <a:latin typeface="微软雅黑" pitchFamily="34" charset="-122"/>
              <a:ea typeface="微软雅黑" pitchFamily="34" charset="-122"/>
              <a:cs typeface="+mj-cs"/>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2"/>
          <p:cNvSpPr txBox="1">
            <a:spLocks/>
          </p:cNvSpPr>
          <p:nvPr/>
        </p:nvSpPr>
        <p:spPr bwMode="auto">
          <a:xfrm>
            <a:off x="50800" y="233363"/>
            <a:ext cx="8229600" cy="1143000"/>
          </a:xfrm>
          <a:prstGeom prst="rect">
            <a:avLst/>
          </a:prstGeom>
          <a:noFill/>
          <a:ln w="9525">
            <a:noFill/>
            <a:miter lim="800000"/>
            <a:headEnd/>
            <a:tailEnd/>
          </a:ln>
        </p:spPr>
        <p:txBody>
          <a:bodyPr/>
          <a:lstStyle/>
          <a:p>
            <a:pPr eaLnBrk="0" hangingPunct="0"/>
            <a:endParaRPr lang="zh-CN" altLang="en-US" sz="4400">
              <a:solidFill>
                <a:schemeClr val="tx2"/>
              </a:solidFill>
            </a:endParaRPr>
          </a:p>
        </p:txBody>
      </p:sp>
      <p:sp>
        <p:nvSpPr>
          <p:cNvPr id="5" name="TextBox 5"/>
          <p:cNvSpPr txBox="1">
            <a:spLocks noChangeArrowheads="1"/>
          </p:cNvSpPr>
          <p:nvPr/>
        </p:nvSpPr>
        <p:spPr bwMode="auto">
          <a:xfrm>
            <a:off x="1142976" y="2214554"/>
            <a:ext cx="3571900" cy="2761420"/>
          </a:xfrm>
          <a:prstGeom prst="rect">
            <a:avLst/>
          </a:prstGeom>
          <a:noFill/>
          <a:ln>
            <a:noFill/>
          </a:ln>
          <a:extLst/>
        </p:spPr>
        <p:txBody>
          <a:bodyPr wrap="square" lIns="82954" tIns="41477" rIns="82954" bIns="41477">
            <a:spAutoFit/>
          </a:bodyPr>
          <a:lstStyle>
            <a:lvl1pPr eaLnBrk="0" hangingPunct="0">
              <a:defRPr sz="2000" b="1">
                <a:solidFill>
                  <a:srgbClr val="575F6D"/>
                </a:solidFill>
                <a:latin typeface="Arial" charset="0"/>
                <a:ea typeface="宋体" pitchFamily="2" charset="-122"/>
              </a:defRPr>
            </a:lvl1pPr>
            <a:lvl2pPr marL="742950" indent="-285750" eaLnBrk="0" hangingPunct="0">
              <a:defRPr sz="2000" b="1">
                <a:solidFill>
                  <a:srgbClr val="575F6D"/>
                </a:solidFill>
                <a:latin typeface="Arial" charset="0"/>
                <a:ea typeface="宋体" pitchFamily="2" charset="-122"/>
              </a:defRPr>
            </a:lvl2pPr>
            <a:lvl3pPr marL="1143000" indent="-228600" eaLnBrk="0" hangingPunct="0">
              <a:defRPr sz="2000" b="1">
                <a:solidFill>
                  <a:srgbClr val="575F6D"/>
                </a:solidFill>
                <a:latin typeface="Arial" charset="0"/>
                <a:ea typeface="宋体" pitchFamily="2" charset="-122"/>
              </a:defRPr>
            </a:lvl3pPr>
            <a:lvl4pPr marL="1600200" indent="-228600" eaLnBrk="0" hangingPunct="0">
              <a:defRPr sz="2000" b="1">
                <a:solidFill>
                  <a:srgbClr val="575F6D"/>
                </a:solidFill>
                <a:latin typeface="Arial" charset="0"/>
                <a:ea typeface="宋体" pitchFamily="2" charset="-122"/>
              </a:defRPr>
            </a:lvl4pPr>
            <a:lvl5pPr marL="2057400" indent="-228600" eaLnBrk="0" hangingPunct="0">
              <a:defRPr sz="2000" b="1">
                <a:solidFill>
                  <a:srgbClr val="575F6D"/>
                </a:solidFill>
                <a:latin typeface="Arial"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charset="0"/>
                <a:ea typeface="宋体" pitchFamily="2" charset="-122"/>
              </a:defRPr>
            </a:lvl9pPr>
          </a:lstStyle>
          <a:p>
            <a:pPr marL="457200" indent="-457200" algn="l" eaLnBrk="1" hangingPunct="1">
              <a:lnSpc>
                <a:spcPct val="200000"/>
              </a:lnSpc>
              <a:spcAft>
                <a:spcPts val="1200"/>
              </a:spcAft>
              <a:buFont typeface="Wingdings" pitchFamily="2" charset="2"/>
              <a:buChar char="p"/>
              <a:defRPr/>
            </a:pPr>
            <a:r>
              <a:rPr lang="en-US" altLang="zh-CN" sz="2900" dirty="0" smtClean="0">
                <a:solidFill>
                  <a:srgbClr val="0070C0"/>
                </a:solidFill>
              </a:rPr>
              <a:t>Command</a:t>
            </a:r>
          </a:p>
          <a:p>
            <a:pPr marL="720000" indent="-360000" algn="just" eaLnBrk="1" hangingPunct="1">
              <a:lnSpc>
                <a:spcPct val="200000"/>
              </a:lnSpc>
              <a:spcAft>
                <a:spcPts val="1200"/>
              </a:spcAft>
              <a:buFont typeface="Wingdings" pitchFamily="2" charset="2"/>
              <a:buChar char="n"/>
              <a:defRPr/>
            </a:pPr>
            <a:r>
              <a:rPr lang="en-US" altLang="zh-CN" sz="2400" dirty="0" smtClean="0">
                <a:solidFill>
                  <a:schemeClr val="tx1"/>
                </a:solidFill>
              </a:rPr>
              <a:t>uplink channel</a:t>
            </a:r>
          </a:p>
          <a:p>
            <a:pPr marL="720000" indent="-360000" algn="just" eaLnBrk="1" hangingPunct="1">
              <a:lnSpc>
                <a:spcPct val="200000"/>
              </a:lnSpc>
              <a:spcAft>
                <a:spcPts val="1200"/>
              </a:spcAft>
              <a:buFont typeface="Wingdings" pitchFamily="2" charset="2"/>
              <a:buChar char="n"/>
              <a:defRPr/>
            </a:pPr>
            <a:r>
              <a:rPr lang="en-US" altLang="zh-CN" sz="2400" dirty="0" smtClean="0">
                <a:solidFill>
                  <a:schemeClr val="tx1"/>
                </a:solidFill>
              </a:rPr>
              <a:t>demodulated</a:t>
            </a:r>
          </a:p>
        </p:txBody>
      </p:sp>
      <p:pic>
        <p:nvPicPr>
          <p:cNvPr id="37893" name="Picture 2"/>
          <p:cNvPicPr>
            <a:picLocks noChangeAspect="1" noChangeArrowheads="1"/>
          </p:cNvPicPr>
          <p:nvPr/>
        </p:nvPicPr>
        <p:blipFill>
          <a:blip r:embed="rId3"/>
          <a:srcRect/>
          <a:stretch>
            <a:fillRect/>
          </a:stretch>
        </p:blipFill>
        <p:spPr bwMode="gray">
          <a:xfrm>
            <a:off x="4929190" y="1643050"/>
            <a:ext cx="2606041" cy="4429157"/>
          </a:xfrm>
          <a:prstGeom prst="rect">
            <a:avLst/>
          </a:prstGeom>
          <a:noFill/>
          <a:ln w="9525" algn="ctr">
            <a:noFill/>
            <a:miter lim="800000"/>
            <a:headEnd/>
            <a:tailEnd/>
          </a:ln>
        </p:spPr>
      </p:pic>
      <p:sp>
        <p:nvSpPr>
          <p:cNvPr id="6"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8</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7"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8" name="标题 2"/>
          <p:cNvSpPr txBox="1">
            <a:spLocks/>
          </p:cNvSpPr>
          <p:nvPr/>
        </p:nvSpPr>
        <p:spPr>
          <a:xfrm>
            <a:off x="457200" y="274638"/>
            <a:ext cx="6257940" cy="725470"/>
          </a:xfrm>
          <a:prstGeom prst="rect">
            <a:avLst/>
          </a:prstGeom>
          <a:extLst/>
        </p:spPr>
        <p:txBody>
          <a:bodyPr rtlCol="0" anchor="t">
            <a:normAutofit/>
          </a:bodyPr>
          <a:lstStyle/>
          <a:p>
            <a:pPr lvl="0">
              <a:spcBef>
                <a:spcPct val="0"/>
              </a:spcBef>
              <a:defRPr/>
            </a:pPr>
            <a:r>
              <a:rPr kumimoji="0" lang="en-US" altLang="zh-CN" sz="3600" b="1" i="0" u="none" strike="noStrike" kern="1700" cap="none" spc="0" normalizeH="0" baseline="0" noProof="0" dirty="0" smtClean="0">
                <a:ln>
                  <a:noFill/>
                </a:ln>
                <a:solidFill>
                  <a:schemeClr val="bg1"/>
                </a:solidFill>
                <a:effectLst/>
                <a:uLnTx/>
                <a:uFillTx/>
                <a:latin typeface="微软雅黑" pitchFamily="34" charset="-122"/>
                <a:ea typeface="微软雅黑" pitchFamily="34" charset="-122"/>
                <a:cs typeface="+mj-cs"/>
              </a:rPr>
              <a:t>1  </a:t>
            </a:r>
            <a:r>
              <a:rPr lang="en-US" altLang="zh-CN" sz="3600" b="1" kern="1700" dirty="0" smtClean="0">
                <a:solidFill>
                  <a:schemeClr val="bg1"/>
                </a:solidFill>
                <a:latin typeface="微软雅黑" pitchFamily="34" charset="-122"/>
                <a:ea typeface="微软雅黑" pitchFamily="34" charset="-122"/>
              </a:rPr>
              <a:t>TT&amp;C Introduction</a:t>
            </a:r>
            <a:endParaRPr kumimoji="0" lang="zh-CN" altLang="en-US" sz="3600" b="1" i="0" u="none" strike="noStrike" kern="1200" cap="none" spc="0" normalizeH="0" baseline="0" noProof="0" dirty="0" smtClean="0">
              <a:ln>
                <a:noFill/>
              </a:ln>
              <a:solidFill>
                <a:schemeClr val="bg1"/>
              </a:solidFill>
              <a:effectLst/>
              <a:uLnTx/>
              <a:uFillTx/>
              <a:latin typeface="微软雅黑" pitchFamily="34" charset="-122"/>
              <a:ea typeface="微软雅黑" pitchFamily="34" charset="-122"/>
              <a:cs typeface="+mj-cs"/>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2"/>
          <p:cNvSpPr txBox="1">
            <a:spLocks/>
          </p:cNvSpPr>
          <p:nvPr/>
        </p:nvSpPr>
        <p:spPr bwMode="auto">
          <a:xfrm>
            <a:off x="50800" y="233363"/>
            <a:ext cx="8229600" cy="1143000"/>
          </a:xfrm>
          <a:prstGeom prst="rect">
            <a:avLst/>
          </a:prstGeom>
          <a:noFill/>
          <a:ln w="9525">
            <a:noFill/>
            <a:miter lim="800000"/>
            <a:headEnd/>
            <a:tailEnd/>
          </a:ln>
        </p:spPr>
        <p:txBody>
          <a:bodyPr/>
          <a:lstStyle/>
          <a:p>
            <a:pPr eaLnBrk="0" hangingPunct="0"/>
            <a:endParaRPr lang="zh-CN" altLang="en-US" sz="4400">
              <a:solidFill>
                <a:schemeClr val="tx2"/>
              </a:solidFill>
            </a:endParaRPr>
          </a:p>
        </p:txBody>
      </p:sp>
      <p:sp>
        <p:nvSpPr>
          <p:cNvPr id="5" name="TextBox 5"/>
          <p:cNvSpPr txBox="1">
            <a:spLocks noChangeArrowheads="1"/>
          </p:cNvSpPr>
          <p:nvPr/>
        </p:nvSpPr>
        <p:spPr bwMode="auto">
          <a:xfrm>
            <a:off x="714348" y="1714488"/>
            <a:ext cx="7594600" cy="4546524"/>
          </a:xfrm>
          <a:prstGeom prst="rect">
            <a:avLst/>
          </a:prstGeom>
          <a:noFill/>
          <a:ln>
            <a:noFill/>
          </a:ln>
          <a:extLst/>
        </p:spPr>
        <p:txBody>
          <a:bodyPr lIns="82954" tIns="41477" rIns="82954" bIns="41477">
            <a:spAutoFit/>
          </a:bodyPr>
          <a:lstStyle>
            <a:lvl1pPr eaLnBrk="0" hangingPunct="0">
              <a:defRPr sz="2000" b="1">
                <a:solidFill>
                  <a:srgbClr val="575F6D"/>
                </a:solidFill>
                <a:latin typeface="Arial" charset="0"/>
                <a:ea typeface="宋体" pitchFamily="2" charset="-122"/>
              </a:defRPr>
            </a:lvl1pPr>
            <a:lvl2pPr marL="742950" indent="-285750" eaLnBrk="0" hangingPunct="0">
              <a:defRPr sz="2000" b="1">
                <a:solidFill>
                  <a:srgbClr val="575F6D"/>
                </a:solidFill>
                <a:latin typeface="Arial" charset="0"/>
                <a:ea typeface="宋体" pitchFamily="2" charset="-122"/>
              </a:defRPr>
            </a:lvl2pPr>
            <a:lvl3pPr marL="1143000" indent="-228600" eaLnBrk="0" hangingPunct="0">
              <a:defRPr sz="2000" b="1">
                <a:solidFill>
                  <a:srgbClr val="575F6D"/>
                </a:solidFill>
                <a:latin typeface="Arial" charset="0"/>
                <a:ea typeface="宋体" pitchFamily="2" charset="-122"/>
              </a:defRPr>
            </a:lvl3pPr>
            <a:lvl4pPr marL="1600200" indent="-228600" eaLnBrk="0" hangingPunct="0">
              <a:defRPr sz="2000" b="1">
                <a:solidFill>
                  <a:srgbClr val="575F6D"/>
                </a:solidFill>
                <a:latin typeface="Arial" charset="0"/>
                <a:ea typeface="宋体" pitchFamily="2" charset="-122"/>
              </a:defRPr>
            </a:lvl4pPr>
            <a:lvl5pPr marL="2057400" indent="-228600" eaLnBrk="0" hangingPunct="0">
              <a:defRPr sz="2000" b="1">
                <a:solidFill>
                  <a:srgbClr val="575F6D"/>
                </a:solidFill>
                <a:latin typeface="Arial"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charset="0"/>
                <a:ea typeface="宋体" pitchFamily="2" charset="-122"/>
              </a:defRPr>
            </a:lvl9pPr>
          </a:lstStyle>
          <a:p>
            <a:pPr marL="457200" indent="-457200" algn="l" eaLnBrk="1" hangingPunct="1">
              <a:lnSpc>
                <a:spcPct val="200000"/>
              </a:lnSpc>
              <a:spcAft>
                <a:spcPts val="1200"/>
              </a:spcAft>
              <a:buFont typeface="Wingdings" pitchFamily="2" charset="2"/>
              <a:buChar char="p"/>
              <a:defRPr/>
            </a:pPr>
            <a:r>
              <a:rPr lang="en-US" altLang="zh-CN" sz="2900" dirty="0" smtClean="0">
                <a:solidFill>
                  <a:srgbClr val="0070C0"/>
                </a:solidFill>
              </a:rPr>
              <a:t>Difference of Telemetry and Command</a:t>
            </a:r>
          </a:p>
          <a:p>
            <a:pPr marL="720000" indent="-360000" algn="just" eaLnBrk="1" hangingPunct="1">
              <a:lnSpc>
                <a:spcPct val="200000"/>
              </a:lnSpc>
              <a:spcAft>
                <a:spcPts val="1200"/>
              </a:spcAft>
              <a:buFont typeface="Wingdings" pitchFamily="2" charset="2"/>
              <a:buChar char="n"/>
              <a:defRPr/>
            </a:pPr>
            <a:r>
              <a:rPr lang="en-US" altLang="zh-CN" sz="2400" dirty="0" smtClean="0">
                <a:solidFill>
                  <a:schemeClr val="tx1"/>
                </a:solidFill>
              </a:rPr>
              <a:t>Continuity: TM--</a:t>
            </a:r>
            <a:r>
              <a:rPr lang="x-none" altLang="zh-CN" sz="2400" dirty="0" smtClean="0">
                <a:solidFill>
                  <a:schemeClr val="tx1"/>
                </a:solidFill>
              </a:rPr>
              <a:t>continuously</a:t>
            </a:r>
            <a:endParaRPr lang="en-US" altLang="zh-CN" sz="2400" dirty="0" smtClean="0">
              <a:solidFill>
                <a:schemeClr val="tx1"/>
              </a:solidFill>
            </a:endParaRPr>
          </a:p>
          <a:p>
            <a:pPr marL="720000" indent="-360000" algn="just" eaLnBrk="1" hangingPunct="1">
              <a:lnSpc>
                <a:spcPct val="200000"/>
              </a:lnSpc>
              <a:spcAft>
                <a:spcPts val="1200"/>
              </a:spcAft>
              <a:defRPr/>
            </a:pPr>
            <a:r>
              <a:rPr lang="en-US" altLang="zh-CN" sz="2400" dirty="0" smtClean="0">
                <a:solidFill>
                  <a:schemeClr val="tx1"/>
                </a:solidFill>
              </a:rPr>
              <a:t>                         TC-- casually</a:t>
            </a:r>
          </a:p>
          <a:p>
            <a:pPr marL="720000" indent="-360000" algn="just" eaLnBrk="1" hangingPunct="1">
              <a:lnSpc>
                <a:spcPct val="200000"/>
              </a:lnSpc>
              <a:spcAft>
                <a:spcPts val="1200"/>
              </a:spcAft>
              <a:buFont typeface="Wingdings" pitchFamily="2" charset="2"/>
              <a:buChar char="n"/>
              <a:defRPr/>
            </a:pPr>
            <a:r>
              <a:rPr lang="en-US" altLang="zh-CN" sz="2400" dirty="0" smtClean="0">
                <a:solidFill>
                  <a:schemeClr val="tx1"/>
                </a:solidFill>
              </a:rPr>
              <a:t>D</a:t>
            </a:r>
            <a:r>
              <a:rPr lang="x-none" altLang="zh-CN" sz="2400" dirty="0" smtClean="0">
                <a:solidFill>
                  <a:schemeClr val="tx1"/>
                </a:solidFill>
              </a:rPr>
              <a:t>ata rate</a:t>
            </a:r>
            <a:r>
              <a:rPr lang="en-US" altLang="zh-CN" sz="2400" dirty="0" smtClean="0">
                <a:solidFill>
                  <a:schemeClr val="tx1"/>
                </a:solidFill>
              </a:rPr>
              <a:t>:    Downlink  4.096kbit/s  </a:t>
            </a:r>
          </a:p>
          <a:p>
            <a:pPr marL="720000" indent="-360000" algn="just" eaLnBrk="1" hangingPunct="1">
              <a:lnSpc>
                <a:spcPct val="200000"/>
              </a:lnSpc>
              <a:spcAft>
                <a:spcPts val="1200"/>
              </a:spcAft>
              <a:defRPr/>
            </a:pPr>
            <a:r>
              <a:rPr lang="en-US" altLang="zh-CN" sz="2400" dirty="0" smtClean="0">
                <a:solidFill>
                  <a:schemeClr val="tx1"/>
                </a:solidFill>
              </a:rPr>
              <a:t>                         Uplink: 2kbit/s</a:t>
            </a:r>
          </a:p>
        </p:txBody>
      </p:sp>
      <p:sp>
        <p:nvSpPr>
          <p:cNvPr id="6"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9</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7"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8" name="标题 2"/>
          <p:cNvSpPr txBox="1">
            <a:spLocks/>
          </p:cNvSpPr>
          <p:nvPr/>
        </p:nvSpPr>
        <p:spPr>
          <a:xfrm>
            <a:off x="457200" y="274638"/>
            <a:ext cx="6257940" cy="725470"/>
          </a:xfrm>
          <a:prstGeom prst="rect">
            <a:avLst/>
          </a:prstGeom>
          <a:extLst/>
        </p:spPr>
        <p:txBody>
          <a:bodyPr rtlCol="0" anchor="t">
            <a:normAutofit/>
          </a:bodyPr>
          <a:lstStyle/>
          <a:p>
            <a:pPr lvl="0">
              <a:spcBef>
                <a:spcPct val="0"/>
              </a:spcBef>
              <a:defRPr/>
            </a:pPr>
            <a:r>
              <a:rPr kumimoji="0" lang="en-US" altLang="zh-CN" sz="3600" b="1" i="0" u="none" strike="noStrike" kern="1700" cap="none" spc="0" normalizeH="0" baseline="0" noProof="0" dirty="0" smtClean="0">
                <a:ln>
                  <a:noFill/>
                </a:ln>
                <a:solidFill>
                  <a:schemeClr val="bg1"/>
                </a:solidFill>
                <a:effectLst/>
                <a:uLnTx/>
                <a:uFillTx/>
                <a:latin typeface="微软雅黑" pitchFamily="34" charset="-122"/>
                <a:ea typeface="微软雅黑" pitchFamily="34" charset="-122"/>
                <a:cs typeface="+mj-cs"/>
              </a:rPr>
              <a:t>1  </a:t>
            </a:r>
            <a:r>
              <a:rPr lang="en-US" altLang="zh-CN" sz="3600" b="1" kern="1700" dirty="0" smtClean="0">
                <a:solidFill>
                  <a:schemeClr val="bg1"/>
                </a:solidFill>
                <a:latin typeface="微软雅黑" pitchFamily="34" charset="-122"/>
                <a:ea typeface="微软雅黑" pitchFamily="34" charset="-122"/>
              </a:rPr>
              <a:t>TT&amp;C Introduction</a:t>
            </a:r>
            <a:endParaRPr kumimoji="0" lang="zh-CN" altLang="en-US" sz="3600" b="1" i="0" u="none" strike="noStrike" kern="1200" cap="none" spc="0" normalizeH="0" baseline="0" noProof="0" dirty="0" smtClean="0">
              <a:ln>
                <a:noFill/>
              </a:ln>
              <a:solidFill>
                <a:schemeClr val="bg1"/>
              </a:solidFill>
              <a:effectLst/>
              <a:uLnTx/>
              <a:uFillTx/>
              <a:latin typeface="微软雅黑" pitchFamily="34" charset="-122"/>
              <a:ea typeface="微软雅黑" pitchFamily="34" charset="-122"/>
              <a:cs typeface="+mj-cs"/>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标题 2"/>
          <p:cNvSpPr txBox="1">
            <a:spLocks/>
          </p:cNvSpPr>
          <p:nvPr/>
        </p:nvSpPr>
        <p:spPr bwMode="auto">
          <a:xfrm>
            <a:off x="50800" y="233363"/>
            <a:ext cx="8229600" cy="1143000"/>
          </a:xfrm>
          <a:prstGeom prst="rect">
            <a:avLst/>
          </a:prstGeom>
          <a:noFill/>
          <a:ln w="9525">
            <a:noFill/>
            <a:miter lim="800000"/>
            <a:headEnd/>
            <a:tailEnd/>
          </a:ln>
        </p:spPr>
        <p:txBody>
          <a:bodyPr/>
          <a:lstStyle/>
          <a:p>
            <a:pPr eaLnBrk="0" hangingPunct="0"/>
            <a:endParaRPr lang="zh-CN" altLang="en-US" sz="4400">
              <a:solidFill>
                <a:schemeClr val="tx2"/>
              </a:solidFill>
            </a:endParaRPr>
          </a:p>
        </p:txBody>
      </p:sp>
      <p:sp>
        <p:nvSpPr>
          <p:cNvPr id="5" name="TextBox 5"/>
          <p:cNvSpPr txBox="1">
            <a:spLocks noChangeArrowheads="1"/>
          </p:cNvSpPr>
          <p:nvPr/>
        </p:nvSpPr>
        <p:spPr bwMode="auto">
          <a:xfrm>
            <a:off x="428596" y="1857364"/>
            <a:ext cx="6357982" cy="3653972"/>
          </a:xfrm>
          <a:prstGeom prst="rect">
            <a:avLst/>
          </a:prstGeom>
          <a:noFill/>
          <a:ln>
            <a:noFill/>
          </a:ln>
          <a:extLst/>
        </p:spPr>
        <p:txBody>
          <a:bodyPr wrap="square" lIns="82954" tIns="41477" rIns="82954" bIns="41477">
            <a:spAutoFit/>
          </a:bodyPr>
          <a:lstStyle>
            <a:lvl1pPr eaLnBrk="0" hangingPunct="0">
              <a:defRPr sz="2000" b="1">
                <a:solidFill>
                  <a:srgbClr val="575F6D"/>
                </a:solidFill>
                <a:latin typeface="Arial" charset="0"/>
                <a:ea typeface="宋体" pitchFamily="2" charset="-122"/>
              </a:defRPr>
            </a:lvl1pPr>
            <a:lvl2pPr marL="742950" indent="-285750" eaLnBrk="0" hangingPunct="0">
              <a:defRPr sz="2000" b="1">
                <a:solidFill>
                  <a:srgbClr val="575F6D"/>
                </a:solidFill>
                <a:latin typeface="Arial" charset="0"/>
                <a:ea typeface="宋体" pitchFamily="2" charset="-122"/>
              </a:defRPr>
            </a:lvl2pPr>
            <a:lvl3pPr marL="1143000" indent="-228600" eaLnBrk="0" hangingPunct="0">
              <a:defRPr sz="2000" b="1">
                <a:solidFill>
                  <a:srgbClr val="575F6D"/>
                </a:solidFill>
                <a:latin typeface="Arial" charset="0"/>
                <a:ea typeface="宋体" pitchFamily="2" charset="-122"/>
              </a:defRPr>
            </a:lvl3pPr>
            <a:lvl4pPr marL="1600200" indent="-228600" eaLnBrk="0" hangingPunct="0">
              <a:defRPr sz="2000" b="1">
                <a:solidFill>
                  <a:srgbClr val="575F6D"/>
                </a:solidFill>
                <a:latin typeface="Arial" charset="0"/>
                <a:ea typeface="宋体" pitchFamily="2" charset="-122"/>
              </a:defRPr>
            </a:lvl4pPr>
            <a:lvl5pPr marL="2057400" indent="-228600" eaLnBrk="0" hangingPunct="0">
              <a:defRPr sz="2000" b="1">
                <a:solidFill>
                  <a:srgbClr val="575F6D"/>
                </a:solidFill>
                <a:latin typeface="Arial"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charset="0"/>
                <a:ea typeface="宋体" pitchFamily="2" charset="-122"/>
              </a:defRPr>
            </a:lvl9pPr>
          </a:lstStyle>
          <a:p>
            <a:pPr marL="457200" indent="-457200" eaLnBrk="1" hangingPunct="1">
              <a:lnSpc>
                <a:spcPct val="200000"/>
              </a:lnSpc>
              <a:spcAft>
                <a:spcPts val="1200"/>
              </a:spcAft>
              <a:buFont typeface="Wingdings" pitchFamily="2" charset="2"/>
              <a:buChar char="p"/>
              <a:defRPr/>
            </a:pPr>
            <a:r>
              <a:rPr lang="x-none" altLang="zh-CN" sz="2900" dirty="0" smtClean="0">
                <a:solidFill>
                  <a:srgbClr val="0070C0"/>
                </a:solidFill>
              </a:rPr>
              <a:t>position and orbit etermination </a:t>
            </a:r>
            <a:endParaRPr lang="en-US" altLang="zh-CN" sz="2900" dirty="0" smtClean="0">
              <a:solidFill>
                <a:srgbClr val="0070C0"/>
              </a:solidFill>
            </a:endParaRPr>
          </a:p>
          <a:p>
            <a:pPr marL="720000" indent="-360000" algn="just" eaLnBrk="1" hangingPunct="1">
              <a:lnSpc>
                <a:spcPct val="200000"/>
              </a:lnSpc>
              <a:spcAft>
                <a:spcPts val="1200"/>
              </a:spcAft>
              <a:buFont typeface="Wingdings" pitchFamily="2" charset="2"/>
              <a:buChar char="n"/>
              <a:defRPr/>
            </a:pPr>
            <a:r>
              <a:rPr lang="x-none" altLang="zh-CN" sz="2400" dirty="0" smtClean="0">
                <a:solidFill>
                  <a:schemeClr val="tx1"/>
                </a:solidFill>
              </a:rPr>
              <a:t>Global Position System</a:t>
            </a:r>
            <a:r>
              <a:rPr lang="en-US" altLang="zh-CN" sz="2400" dirty="0" smtClean="0">
                <a:solidFill>
                  <a:schemeClr val="tx1"/>
                </a:solidFill>
              </a:rPr>
              <a:t> (GPS)</a:t>
            </a:r>
          </a:p>
          <a:p>
            <a:pPr marL="720000" indent="-360000" algn="just" eaLnBrk="1" hangingPunct="1">
              <a:lnSpc>
                <a:spcPct val="200000"/>
              </a:lnSpc>
              <a:spcAft>
                <a:spcPts val="1200"/>
              </a:spcAft>
              <a:buFont typeface="Wingdings" pitchFamily="2" charset="2"/>
              <a:buChar char="n"/>
              <a:defRPr/>
            </a:pPr>
            <a:r>
              <a:rPr lang="en-US" altLang="zh-CN" sz="2400" dirty="0" smtClean="0">
                <a:solidFill>
                  <a:schemeClr val="tx1"/>
                </a:solidFill>
              </a:rPr>
              <a:t>GPS data </a:t>
            </a:r>
            <a:r>
              <a:rPr lang="x-none" altLang="zh-CN" sz="2400" dirty="0" smtClean="0">
                <a:solidFill>
                  <a:schemeClr val="tx1"/>
                </a:solidFill>
              </a:rPr>
              <a:t>transferred</a:t>
            </a:r>
            <a:endParaRPr lang="en-US" altLang="zh-CN" sz="2400" dirty="0" smtClean="0">
              <a:solidFill>
                <a:schemeClr val="tx1"/>
              </a:solidFill>
            </a:endParaRPr>
          </a:p>
          <a:p>
            <a:pPr marL="720000" indent="-360000" algn="just" eaLnBrk="1" hangingPunct="1">
              <a:lnSpc>
                <a:spcPct val="200000"/>
              </a:lnSpc>
              <a:spcAft>
                <a:spcPts val="1200"/>
              </a:spcAft>
              <a:buFont typeface="Wingdings" pitchFamily="2" charset="2"/>
              <a:buChar char="n"/>
              <a:defRPr/>
            </a:pPr>
            <a:r>
              <a:rPr lang="en-US" altLang="zh-CN" sz="2400" dirty="0" smtClean="0">
                <a:solidFill>
                  <a:schemeClr val="tx1"/>
                </a:solidFill>
              </a:rPr>
              <a:t>GPS data used by other </a:t>
            </a:r>
            <a:r>
              <a:rPr lang="en-US" altLang="zh-CN" sz="2400" dirty="0" err="1" smtClean="0">
                <a:solidFill>
                  <a:schemeClr val="tx1"/>
                </a:solidFill>
              </a:rPr>
              <a:t>subsysterms</a:t>
            </a:r>
            <a:endParaRPr lang="en-US" altLang="zh-CN" sz="2400" dirty="0" smtClean="0">
              <a:solidFill>
                <a:schemeClr val="tx1"/>
              </a:solidFill>
            </a:endParaRPr>
          </a:p>
        </p:txBody>
      </p:sp>
      <p:pic>
        <p:nvPicPr>
          <p:cNvPr id="40965" name="Picture 20"/>
          <p:cNvPicPr>
            <a:picLocks noChangeAspect="1" noChangeArrowheads="1"/>
          </p:cNvPicPr>
          <p:nvPr/>
        </p:nvPicPr>
        <p:blipFill>
          <a:blip r:embed="rId3"/>
          <a:srcRect r="75978"/>
          <a:stretch>
            <a:fillRect/>
          </a:stretch>
        </p:blipFill>
        <p:spPr bwMode="auto">
          <a:xfrm>
            <a:off x="6970743" y="1643050"/>
            <a:ext cx="1887537" cy="4478337"/>
          </a:xfrm>
          <a:prstGeom prst="rect">
            <a:avLst/>
          </a:prstGeom>
          <a:noFill/>
          <a:ln w="9525">
            <a:noFill/>
            <a:miter lim="800000"/>
            <a:headEnd/>
            <a:tailEnd/>
          </a:ln>
        </p:spPr>
      </p:pic>
      <p:sp>
        <p:nvSpPr>
          <p:cNvPr id="7"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10</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8" name="标题 2"/>
          <p:cNvSpPr txBox="1">
            <a:spLocks/>
          </p:cNvSpPr>
          <p:nvPr/>
        </p:nvSpPr>
        <p:spPr>
          <a:xfrm>
            <a:off x="457200" y="274638"/>
            <a:ext cx="6257940" cy="725470"/>
          </a:xfrm>
          <a:prstGeom prst="rect">
            <a:avLst/>
          </a:prstGeom>
          <a:extLst/>
        </p:spPr>
        <p:txBody>
          <a:bodyPr rtlCol="0" anchor="t">
            <a:normAutofit/>
          </a:bodyPr>
          <a:lstStyle/>
          <a:p>
            <a:pPr lvl="0">
              <a:spcBef>
                <a:spcPct val="0"/>
              </a:spcBef>
              <a:defRPr/>
            </a:pPr>
            <a:r>
              <a:rPr kumimoji="0" lang="en-US" altLang="zh-CN" sz="3600" b="1" i="0" u="none" strike="noStrike" kern="1700" cap="none" spc="0" normalizeH="0" baseline="0" noProof="0" dirty="0" smtClean="0">
                <a:ln>
                  <a:noFill/>
                </a:ln>
                <a:solidFill>
                  <a:schemeClr val="bg1"/>
                </a:solidFill>
                <a:effectLst/>
                <a:uLnTx/>
                <a:uFillTx/>
                <a:latin typeface="微软雅黑" pitchFamily="34" charset="-122"/>
                <a:ea typeface="微软雅黑" pitchFamily="34" charset="-122"/>
                <a:cs typeface="+mj-cs"/>
              </a:rPr>
              <a:t>1 </a:t>
            </a:r>
            <a:r>
              <a:rPr lang="en-US" altLang="zh-CN" sz="3600" b="1" kern="1700" dirty="0" smtClean="0">
                <a:solidFill>
                  <a:schemeClr val="bg1"/>
                </a:solidFill>
                <a:latin typeface="微软雅黑" pitchFamily="34" charset="-122"/>
                <a:ea typeface="微软雅黑" pitchFamily="34" charset="-122"/>
              </a:rPr>
              <a:t>TT&amp;C Introduction</a:t>
            </a:r>
            <a:endParaRPr kumimoji="0" lang="zh-CN" altLang="en-US" sz="3600" b="1" i="0" u="none" strike="noStrike" kern="1200" cap="none" spc="0" normalizeH="0" baseline="0" noProof="0" dirty="0" smtClean="0">
              <a:ln>
                <a:noFill/>
              </a:ln>
              <a:solidFill>
                <a:schemeClr val="bg1"/>
              </a:solidFill>
              <a:effectLst/>
              <a:uLnTx/>
              <a:uFillTx/>
              <a:latin typeface="微软雅黑" pitchFamily="34" charset="-122"/>
              <a:ea typeface="微软雅黑" pitchFamily="34" charset="-122"/>
              <a:cs typeface="+mj-cs"/>
            </a:endParaRPr>
          </a:p>
        </p:txBody>
      </p:sp>
      <p:sp>
        <p:nvSpPr>
          <p:cNvPr id="9"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未标题-2 拷贝"/>
          <p:cNvPicPr>
            <a:picLocks noChangeAspect="1" noChangeArrowheads="1"/>
          </p:cNvPicPr>
          <p:nvPr/>
        </p:nvPicPr>
        <p:blipFill>
          <a:blip r:embed="rId3"/>
          <a:srcRect/>
          <a:stretch>
            <a:fillRect/>
          </a:stretch>
        </p:blipFill>
        <p:spPr bwMode="auto">
          <a:xfrm>
            <a:off x="171450" y="1311275"/>
            <a:ext cx="2803525" cy="5037138"/>
          </a:xfrm>
          <a:prstGeom prst="rect">
            <a:avLst/>
          </a:prstGeom>
          <a:noFill/>
          <a:ln w="9525">
            <a:noFill/>
            <a:miter lim="800000"/>
            <a:headEnd/>
            <a:tailEnd/>
          </a:ln>
        </p:spPr>
      </p:pic>
      <p:sp>
        <p:nvSpPr>
          <p:cNvPr id="8" name="单圆角矩形 7"/>
          <p:cNvSpPr/>
          <p:nvPr/>
        </p:nvSpPr>
        <p:spPr>
          <a:xfrm>
            <a:off x="3000364" y="3138118"/>
            <a:ext cx="5706406" cy="648072"/>
          </a:xfrm>
          <a:prstGeom prst="round1Rect">
            <a:avLst/>
          </a:prstGeom>
          <a:solidFill>
            <a:srgbClr val="F79600"/>
          </a:solidFill>
          <a:ln>
            <a:solidFill>
              <a:srgbClr val="FFC064"/>
            </a:solidFill>
          </a:ln>
          <a:effectLst>
            <a:glow rad="139700">
              <a:srgbClr val="FF9600">
                <a:alpha val="40000"/>
              </a:srgbClr>
            </a:glow>
          </a:effectLst>
        </p:spPr>
        <p:style>
          <a:lnRef idx="2">
            <a:schemeClr val="accent6">
              <a:shade val="50000"/>
            </a:schemeClr>
          </a:lnRef>
          <a:fillRef idx="1">
            <a:schemeClr val="accent6"/>
          </a:fillRef>
          <a:effectRef idx="0">
            <a:schemeClr val="accent6"/>
          </a:effectRef>
          <a:fontRef idx="minor">
            <a:schemeClr val="lt1"/>
          </a:fontRef>
        </p:style>
        <p:txBody>
          <a:bodyPr anchor="ctr"/>
          <a:lstStyle/>
          <a:p>
            <a:pPr lvl="0"/>
            <a:r>
              <a:rPr lang="en-US" altLang="zh-CN" sz="2400" b="1" dirty="0" smtClean="0">
                <a:solidFill>
                  <a:schemeClr val="tx1"/>
                </a:solidFill>
                <a:latin typeface="微软雅黑" pitchFamily="34" charset="-122"/>
                <a:ea typeface="微软雅黑" pitchFamily="34" charset="-122"/>
              </a:rPr>
              <a:t>2</a:t>
            </a:r>
            <a:r>
              <a:rPr lang="en-US" altLang="zh-CN" sz="2400" b="1" dirty="0" smtClean="0">
                <a:solidFill>
                  <a:schemeClr val="bg1"/>
                </a:solidFill>
                <a:latin typeface="微软雅黑" pitchFamily="34" charset="-122"/>
                <a:ea typeface="微软雅黑" pitchFamily="34" charset="-122"/>
              </a:rPr>
              <a:t>  </a:t>
            </a:r>
            <a:r>
              <a:rPr lang="en-US" altLang="zh-CN" sz="2400" b="1" dirty="0" smtClean="0">
                <a:solidFill>
                  <a:schemeClr val="tx1"/>
                </a:solidFill>
              </a:rPr>
              <a:t>Technical Specification Analysis</a:t>
            </a:r>
            <a:endParaRPr lang="zh-CN" altLang="en-US" sz="2400" b="1" dirty="0">
              <a:solidFill>
                <a:schemeClr val="tx1"/>
              </a:solidFill>
            </a:endParaRPr>
          </a:p>
        </p:txBody>
      </p:sp>
      <p:pic>
        <p:nvPicPr>
          <p:cNvPr id="11" name="Picture 1" descr="D:\resources for ppt\sat5.jpg"/>
          <p:cNvPicPr>
            <a:picLocks noChangeAspect="1" noChangeArrowheads="1"/>
          </p:cNvPicPr>
          <p:nvPr/>
        </p:nvPicPr>
        <p:blipFill>
          <a:blip r:embed="rId4" cstate="email"/>
          <a:stretch>
            <a:fillRect/>
          </a:stretch>
        </p:blipFill>
        <p:spPr bwMode="auto">
          <a:xfrm>
            <a:off x="2357422" y="2280862"/>
            <a:ext cx="381198" cy="487156"/>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12" name="标题 2"/>
          <p:cNvSpPr>
            <a:spLocks noGrp="1"/>
          </p:cNvSpPr>
          <p:nvPr>
            <p:ph type="title"/>
          </p:nvPr>
        </p:nvSpPr>
        <p:spPr>
          <a:xfrm>
            <a:off x="457200" y="274638"/>
            <a:ext cx="8229600" cy="796908"/>
          </a:xfrm>
        </p:spPr>
        <p:txBody>
          <a:bodyPr anchor="t">
            <a:normAutofit/>
          </a:bodyPr>
          <a:lstStyle/>
          <a:p>
            <a:pPr algn="l"/>
            <a:r>
              <a:rPr lang="en-US" altLang="zh-CN" sz="3200" dirty="0" smtClean="0"/>
              <a:t>Outlines</a:t>
            </a:r>
            <a:endParaRPr lang="zh-CN" altLang="en-US" sz="3200" dirty="0" smtClean="0"/>
          </a:p>
        </p:txBody>
      </p:sp>
      <p:pic>
        <p:nvPicPr>
          <p:cNvPr id="13" name="Picture 1" descr="D:\resources for ppt\sat5.jpg"/>
          <p:cNvPicPr>
            <a:picLocks noChangeAspect="1" noChangeArrowheads="1"/>
          </p:cNvPicPr>
          <p:nvPr/>
        </p:nvPicPr>
        <p:blipFill>
          <a:blip r:embed="rId4" cstate="email"/>
          <a:stretch>
            <a:fillRect/>
          </a:stretch>
        </p:blipFill>
        <p:spPr bwMode="auto">
          <a:xfrm>
            <a:off x="2389984" y="5161400"/>
            <a:ext cx="381198" cy="487156"/>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14" name="单圆角矩形 13"/>
          <p:cNvSpPr/>
          <p:nvPr/>
        </p:nvSpPr>
        <p:spPr>
          <a:xfrm>
            <a:off x="3036917" y="5072074"/>
            <a:ext cx="5678487" cy="649817"/>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pPr lvl="0"/>
            <a:r>
              <a:rPr lang="en-US" altLang="zh-CN" sz="2400" b="1" dirty="0" smtClean="0">
                <a:solidFill>
                  <a:schemeClr val="tx1"/>
                </a:solidFill>
                <a:latin typeface="微软雅黑" pitchFamily="34" charset="-122"/>
                <a:ea typeface="微软雅黑" pitchFamily="34" charset="-122"/>
              </a:rPr>
              <a:t>4 </a:t>
            </a:r>
            <a:r>
              <a:rPr lang="en-US" altLang="zh-CN" sz="2400" b="1" dirty="0" smtClean="0">
                <a:solidFill>
                  <a:schemeClr val="bg1"/>
                </a:solidFill>
                <a:latin typeface="微软雅黑" pitchFamily="34" charset="-122"/>
                <a:ea typeface="微软雅黑" pitchFamily="34" charset="-122"/>
              </a:rPr>
              <a:t>  </a:t>
            </a:r>
            <a:r>
              <a:rPr lang="en-US" altLang="zh-CN" sz="2400" b="1" dirty="0" smtClean="0"/>
              <a:t>Positioning and Orbit Determination</a:t>
            </a:r>
            <a:endParaRPr lang="zh-CN" altLang="en-US" sz="2400" b="1" dirty="0"/>
          </a:p>
        </p:txBody>
      </p:sp>
      <p:pic>
        <p:nvPicPr>
          <p:cNvPr id="16" name="Picture 1" descr="D:\resources for ppt\sat5.jpg"/>
          <p:cNvPicPr>
            <a:picLocks noChangeAspect="1" noChangeArrowheads="1"/>
          </p:cNvPicPr>
          <p:nvPr/>
        </p:nvPicPr>
        <p:blipFill>
          <a:blip r:embed="rId4" cstate="email"/>
          <a:stretch>
            <a:fillRect/>
          </a:stretch>
        </p:blipFill>
        <p:spPr bwMode="auto">
          <a:xfrm>
            <a:off x="2389984" y="4239872"/>
            <a:ext cx="381198" cy="487156"/>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17" name="单圆角矩形 16"/>
          <p:cNvSpPr/>
          <p:nvPr/>
        </p:nvSpPr>
        <p:spPr>
          <a:xfrm>
            <a:off x="3036917" y="4143380"/>
            <a:ext cx="5678487" cy="647700"/>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pPr lvl="0"/>
            <a:r>
              <a:rPr lang="en-US" altLang="zh-CN" sz="2400" b="1" dirty="0" smtClean="0"/>
              <a:t>3   Telemetry And Command</a:t>
            </a:r>
            <a:endParaRPr lang="zh-CN" altLang="en-US" sz="2400" b="1" dirty="0"/>
          </a:p>
        </p:txBody>
      </p:sp>
      <p:sp>
        <p:nvSpPr>
          <p:cNvPr id="18"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9"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11</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20" name="单圆角矩形 19"/>
          <p:cNvSpPr/>
          <p:nvPr/>
        </p:nvSpPr>
        <p:spPr>
          <a:xfrm>
            <a:off x="3000364" y="2209424"/>
            <a:ext cx="5678487" cy="647700"/>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r>
              <a:rPr lang="en-US" altLang="zh-CN" sz="2400" b="1" dirty="0" smtClean="0">
                <a:solidFill>
                  <a:schemeClr val="tx1"/>
                </a:solidFill>
                <a:latin typeface="Arial" pitchFamily="34" charset="0"/>
                <a:cs typeface="Arial" pitchFamily="34" charset="0"/>
              </a:rPr>
              <a:t>1  Introduction</a:t>
            </a:r>
            <a:endParaRPr lang="zh-CN" altLang="en-US" sz="2400" b="1" dirty="0" smtClean="0">
              <a:solidFill>
                <a:schemeClr val="tx1"/>
              </a:solidFill>
              <a:latin typeface="Arial" pitchFamily="34" charset="0"/>
              <a:cs typeface="Arial" pitchFamily="34" charset="0"/>
            </a:endParaRPr>
          </a:p>
        </p:txBody>
      </p:sp>
      <p:pic>
        <p:nvPicPr>
          <p:cNvPr id="21" name="Picture 2" descr="D:\resources for ppt\sino6_W020100905714056942648.jpg"/>
          <p:cNvPicPr>
            <a:picLocks noChangeAspect="1" noChangeArrowheads="1"/>
          </p:cNvPicPr>
          <p:nvPr/>
        </p:nvPicPr>
        <p:blipFill>
          <a:blip r:embed="rId5" cstate="email"/>
          <a:stretch>
            <a:fillRect/>
          </a:stretch>
        </p:blipFill>
        <p:spPr bwMode="auto">
          <a:xfrm>
            <a:off x="2357422" y="3178829"/>
            <a:ext cx="426409" cy="535923"/>
          </a:xfrm>
          <a:prstGeom prst="ellipse">
            <a:avLst/>
          </a:prstGeom>
          <a:ln w="136525" cap="rnd">
            <a:gradFill>
              <a:gsLst>
                <a:gs pos="0">
                  <a:srgbClr val="FBEAC7"/>
                </a:gs>
                <a:gs pos="17999">
                  <a:srgbClr val="FEE7F2"/>
                </a:gs>
                <a:gs pos="36000">
                  <a:srgbClr val="FAC77D"/>
                </a:gs>
                <a:gs pos="61000">
                  <a:srgbClr val="FBA97D"/>
                </a:gs>
                <a:gs pos="82001">
                  <a:srgbClr val="FBD49C"/>
                </a:gs>
                <a:gs pos="100000">
                  <a:srgbClr val="FEE7F2"/>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2"/>
          <p:cNvSpPr txBox="1">
            <a:spLocks/>
          </p:cNvSpPr>
          <p:nvPr/>
        </p:nvSpPr>
        <p:spPr bwMode="auto">
          <a:xfrm>
            <a:off x="50800" y="233363"/>
            <a:ext cx="8229600" cy="1143000"/>
          </a:xfrm>
          <a:prstGeom prst="rect">
            <a:avLst/>
          </a:prstGeom>
          <a:noFill/>
          <a:ln w="9525">
            <a:noFill/>
            <a:miter lim="800000"/>
            <a:headEnd/>
            <a:tailEnd/>
          </a:ln>
        </p:spPr>
        <p:txBody>
          <a:bodyPr/>
          <a:lstStyle/>
          <a:p>
            <a:pPr eaLnBrk="0" hangingPunct="0"/>
            <a:endParaRPr lang="zh-CN" altLang="en-US" sz="4400">
              <a:solidFill>
                <a:schemeClr val="tx2"/>
              </a:solidFill>
            </a:endParaRPr>
          </a:p>
        </p:txBody>
      </p:sp>
      <p:sp>
        <p:nvSpPr>
          <p:cNvPr id="4" name="矩形 3"/>
          <p:cNvSpPr/>
          <p:nvPr/>
        </p:nvSpPr>
        <p:spPr>
          <a:xfrm>
            <a:off x="261938" y="261938"/>
            <a:ext cx="7168565" cy="584775"/>
          </a:xfrm>
          <a:prstGeom prst="rect">
            <a:avLst/>
          </a:prstGeom>
        </p:spPr>
        <p:txBody>
          <a:bodyPr wrap="none">
            <a:spAutoFit/>
          </a:bodyPr>
          <a:lstStyle/>
          <a:p>
            <a:pPr>
              <a:spcBef>
                <a:spcPct val="0"/>
              </a:spcBef>
              <a:defRPr/>
            </a:pPr>
            <a:r>
              <a:rPr lang="en-US" altLang="zh-CN" sz="3200" b="1" kern="1700" dirty="0" smtClean="0">
                <a:solidFill>
                  <a:schemeClr val="bg1"/>
                </a:solidFill>
                <a:latin typeface="微软雅黑" pitchFamily="34" charset="-122"/>
                <a:ea typeface="微软雅黑" pitchFamily="34" charset="-122"/>
                <a:cs typeface="+mj-cs"/>
              </a:rPr>
              <a:t>2  Technical Specification Analysis</a:t>
            </a:r>
            <a:endParaRPr lang="zh-CN" altLang="en-US" sz="3200" b="1" kern="1700" dirty="0">
              <a:solidFill>
                <a:schemeClr val="bg1"/>
              </a:solidFill>
              <a:latin typeface="微软雅黑" pitchFamily="34" charset="-122"/>
              <a:ea typeface="微软雅黑" pitchFamily="34" charset="-122"/>
              <a:cs typeface="+mj-cs"/>
            </a:endParaRPr>
          </a:p>
        </p:txBody>
      </p:sp>
      <p:sp>
        <p:nvSpPr>
          <p:cNvPr id="5" name="TextBox 5"/>
          <p:cNvSpPr txBox="1">
            <a:spLocks noChangeArrowheads="1"/>
          </p:cNvSpPr>
          <p:nvPr/>
        </p:nvSpPr>
        <p:spPr bwMode="auto">
          <a:xfrm>
            <a:off x="571472" y="1571612"/>
            <a:ext cx="8081963" cy="3653972"/>
          </a:xfrm>
          <a:prstGeom prst="rect">
            <a:avLst/>
          </a:prstGeom>
          <a:noFill/>
          <a:ln>
            <a:noFill/>
          </a:ln>
          <a:extLst/>
        </p:spPr>
        <p:txBody>
          <a:bodyPr lIns="82954" tIns="41477" rIns="82954" bIns="41477">
            <a:spAutoFit/>
          </a:bodyPr>
          <a:lstStyle>
            <a:lvl1pPr eaLnBrk="0" hangingPunct="0">
              <a:defRPr sz="2000" b="1">
                <a:solidFill>
                  <a:srgbClr val="575F6D"/>
                </a:solidFill>
                <a:latin typeface="Arial" charset="0"/>
                <a:ea typeface="宋体" pitchFamily="2" charset="-122"/>
              </a:defRPr>
            </a:lvl1pPr>
            <a:lvl2pPr marL="742950" indent="-285750" eaLnBrk="0" hangingPunct="0">
              <a:defRPr sz="2000" b="1">
                <a:solidFill>
                  <a:srgbClr val="575F6D"/>
                </a:solidFill>
                <a:latin typeface="Arial" charset="0"/>
                <a:ea typeface="宋体" pitchFamily="2" charset="-122"/>
              </a:defRPr>
            </a:lvl2pPr>
            <a:lvl3pPr marL="1143000" indent="-228600" eaLnBrk="0" hangingPunct="0">
              <a:defRPr sz="2000" b="1">
                <a:solidFill>
                  <a:srgbClr val="575F6D"/>
                </a:solidFill>
                <a:latin typeface="Arial" charset="0"/>
                <a:ea typeface="宋体" pitchFamily="2" charset="-122"/>
              </a:defRPr>
            </a:lvl3pPr>
            <a:lvl4pPr marL="1600200" indent="-228600" eaLnBrk="0" hangingPunct="0">
              <a:defRPr sz="2000" b="1">
                <a:solidFill>
                  <a:srgbClr val="575F6D"/>
                </a:solidFill>
                <a:latin typeface="Arial" charset="0"/>
                <a:ea typeface="宋体" pitchFamily="2" charset="-122"/>
              </a:defRPr>
            </a:lvl4pPr>
            <a:lvl5pPr marL="2057400" indent="-228600" eaLnBrk="0" hangingPunct="0">
              <a:defRPr sz="2000" b="1">
                <a:solidFill>
                  <a:srgbClr val="575F6D"/>
                </a:solidFill>
                <a:latin typeface="Arial"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charset="0"/>
                <a:ea typeface="宋体" pitchFamily="2" charset="-122"/>
              </a:defRPr>
            </a:lvl9pPr>
          </a:lstStyle>
          <a:p>
            <a:pPr marL="457200" indent="-457200" algn="l" eaLnBrk="1" hangingPunct="1">
              <a:lnSpc>
                <a:spcPct val="200000"/>
              </a:lnSpc>
              <a:spcAft>
                <a:spcPts val="1200"/>
              </a:spcAft>
              <a:buFont typeface="Wingdings" pitchFamily="2" charset="2"/>
              <a:buChar char="p"/>
              <a:defRPr/>
            </a:pPr>
            <a:r>
              <a:rPr lang="en-US" altLang="zh-CN" sz="2900" dirty="0" smtClean="0">
                <a:solidFill>
                  <a:srgbClr val="0070C0"/>
                </a:solidFill>
              </a:rPr>
              <a:t>Task Requirements</a:t>
            </a:r>
          </a:p>
          <a:p>
            <a:pPr marL="720000" indent="-360000" algn="just" eaLnBrk="1" hangingPunct="1">
              <a:lnSpc>
                <a:spcPct val="200000"/>
              </a:lnSpc>
              <a:spcAft>
                <a:spcPts val="1200"/>
              </a:spcAft>
              <a:buFont typeface="Wingdings" pitchFamily="2" charset="2"/>
              <a:buChar char="n"/>
              <a:defRPr/>
            </a:pPr>
            <a:r>
              <a:rPr lang="en-US" sz="2400" dirty="0" smtClean="0">
                <a:solidFill>
                  <a:schemeClr val="tx1"/>
                </a:solidFill>
              </a:rPr>
              <a:t>Composing of </a:t>
            </a:r>
            <a:r>
              <a:rPr lang="x-none" altLang="zh-CN" sz="2400" dirty="0" smtClean="0">
                <a:solidFill>
                  <a:schemeClr val="tx1"/>
                </a:solidFill>
              </a:rPr>
              <a:t>the space part of TT&amp;C system</a:t>
            </a:r>
            <a:endParaRPr lang="en-US" altLang="zh-CN" sz="2400" dirty="0" smtClean="0">
              <a:solidFill>
                <a:schemeClr val="tx1"/>
              </a:solidFill>
            </a:endParaRPr>
          </a:p>
          <a:p>
            <a:pPr marL="720000" indent="-360000" algn="just" eaLnBrk="1" hangingPunct="1">
              <a:lnSpc>
                <a:spcPct val="200000"/>
              </a:lnSpc>
              <a:spcAft>
                <a:spcPts val="1200"/>
              </a:spcAft>
              <a:buFont typeface="Wingdings" pitchFamily="2" charset="2"/>
              <a:buChar char="n"/>
              <a:defRPr/>
            </a:pPr>
            <a:r>
              <a:rPr lang="en-US" altLang="zh-CN" sz="2400" dirty="0" smtClean="0">
                <a:solidFill>
                  <a:schemeClr val="tx1"/>
                </a:solidFill>
              </a:rPr>
              <a:t>F</a:t>
            </a:r>
            <a:r>
              <a:rPr lang="x-none" altLang="zh-CN" sz="2400" dirty="0" smtClean="0">
                <a:solidFill>
                  <a:schemeClr val="tx1"/>
                </a:solidFill>
              </a:rPr>
              <a:t>ulfill</a:t>
            </a:r>
            <a:r>
              <a:rPr lang="en-US" altLang="zh-CN" sz="2400" dirty="0" err="1" smtClean="0">
                <a:solidFill>
                  <a:schemeClr val="tx1"/>
                </a:solidFill>
              </a:rPr>
              <a:t>ing</a:t>
            </a:r>
            <a:r>
              <a:rPr lang="en-US" altLang="zh-CN" sz="2400" dirty="0" smtClean="0">
                <a:solidFill>
                  <a:schemeClr val="tx1"/>
                </a:solidFill>
              </a:rPr>
              <a:t> of </a:t>
            </a:r>
            <a:r>
              <a:rPr lang="x-none" altLang="zh-CN" sz="2400" dirty="0" smtClean="0">
                <a:solidFill>
                  <a:schemeClr val="tx1"/>
                </a:solidFill>
              </a:rPr>
              <a:t>telemetry and command tasks</a:t>
            </a:r>
            <a:endParaRPr lang="en-US" altLang="zh-CN" sz="2400" dirty="0" smtClean="0">
              <a:solidFill>
                <a:schemeClr val="tx1"/>
              </a:solidFill>
            </a:endParaRPr>
          </a:p>
          <a:p>
            <a:pPr marL="720000" indent="-360000" algn="just" eaLnBrk="1" hangingPunct="1">
              <a:lnSpc>
                <a:spcPct val="200000"/>
              </a:lnSpc>
              <a:spcAft>
                <a:spcPts val="1200"/>
              </a:spcAft>
              <a:buFont typeface="Wingdings" pitchFamily="2" charset="2"/>
              <a:buChar char="n"/>
              <a:defRPr/>
            </a:pPr>
            <a:r>
              <a:rPr lang="en-US" altLang="zh-CN" sz="2400" dirty="0" smtClean="0">
                <a:solidFill>
                  <a:schemeClr val="tx1"/>
                </a:solidFill>
              </a:rPr>
              <a:t>Provide</a:t>
            </a:r>
            <a:r>
              <a:rPr lang="x-none" altLang="zh-CN" sz="2400" dirty="0" smtClean="0">
                <a:solidFill>
                  <a:schemeClr val="tx1"/>
                </a:solidFill>
              </a:rPr>
              <a:t> the position, velocity, time</a:t>
            </a:r>
            <a:endParaRPr lang="en-US" altLang="zh-CN" sz="2400" dirty="0" smtClean="0">
              <a:solidFill>
                <a:schemeClr val="tx1"/>
              </a:solidFill>
            </a:endParaRPr>
          </a:p>
        </p:txBody>
      </p:sp>
      <p:sp>
        <p:nvSpPr>
          <p:cNvPr id="6"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12</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7"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标题 2"/>
          <p:cNvSpPr txBox="1">
            <a:spLocks/>
          </p:cNvSpPr>
          <p:nvPr/>
        </p:nvSpPr>
        <p:spPr bwMode="auto">
          <a:xfrm>
            <a:off x="50800" y="233363"/>
            <a:ext cx="8229600" cy="1143000"/>
          </a:xfrm>
          <a:prstGeom prst="rect">
            <a:avLst/>
          </a:prstGeom>
          <a:noFill/>
          <a:ln w="9525">
            <a:noFill/>
            <a:miter lim="800000"/>
            <a:headEnd/>
            <a:tailEnd/>
          </a:ln>
        </p:spPr>
        <p:txBody>
          <a:bodyPr/>
          <a:lstStyle/>
          <a:p>
            <a:pPr eaLnBrk="0" hangingPunct="0"/>
            <a:endParaRPr lang="zh-CN" altLang="en-US" sz="4400">
              <a:solidFill>
                <a:schemeClr val="tx2"/>
              </a:solidFill>
            </a:endParaRPr>
          </a:p>
        </p:txBody>
      </p:sp>
      <p:sp>
        <p:nvSpPr>
          <p:cNvPr id="4" name="矩形 3"/>
          <p:cNvSpPr/>
          <p:nvPr/>
        </p:nvSpPr>
        <p:spPr>
          <a:xfrm>
            <a:off x="142844" y="1357298"/>
            <a:ext cx="4943982" cy="538609"/>
          </a:xfrm>
          <a:prstGeom prst="rect">
            <a:avLst/>
          </a:prstGeom>
        </p:spPr>
        <p:txBody>
          <a:bodyPr wrap="none">
            <a:spAutoFit/>
          </a:bodyPr>
          <a:lstStyle/>
          <a:p>
            <a:pPr marL="457200" indent="-457200">
              <a:spcBef>
                <a:spcPct val="0"/>
              </a:spcBef>
              <a:spcAft>
                <a:spcPts val="1200"/>
              </a:spcAft>
              <a:buFont typeface="Wingdings" pitchFamily="2" charset="2"/>
              <a:buChar char="p"/>
              <a:defRPr/>
            </a:pPr>
            <a:r>
              <a:rPr lang="en-US" altLang="zh-CN" sz="2900" b="1" dirty="0" smtClean="0">
                <a:solidFill>
                  <a:srgbClr val="0070C0"/>
                </a:solidFill>
                <a:latin typeface="Arial" charset="0"/>
                <a:ea typeface="宋体" pitchFamily="2" charset="-122"/>
              </a:rPr>
              <a:t>Equipment </a:t>
            </a:r>
            <a:r>
              <a:rPr lang="en-US" altLang="zh-CN" sz="2900" b="1" dirty="0">
                <a:solidFill>
                  <a:srgbClr val="0070C0"/>
                </a:solidFill>
                <a:latin typeface="Arial" charset="0"/>
                <a:ea typeface="宋体" pitchFamily="2" charset="-122"/>
              </a:rPr>
              <a:t>Composition</a:t>
            </a:r>
            <a:endParaRPr lang="zh-CN" altLang="en-US" sz="2900" b="1" dirty="0">
              <a:solidFill>
                <a:srgbClr val="0070C0"/>
              </a:solidFill>
              <a:latin typeface="Arial" charset="0"/>
              <a:ea typeface="宋体" pitchFamily="2" charset="-122"/>
            </a:endParaRPr>
          </a:p>
        </p:txBody>
      </p:sp>
      <p:sp>
        <p:nvSpPr>
          <p:cNvPr id="2054"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2055"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2056" name="Rectangle 4"/>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9"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13</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10"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1" name="矩形 10"/>
          <p:cNvSpPr/>
          <p:nvPr/>
        </p:nvSpPr>
        <p:spPr>
          <a:xfrm>
            <a:off x="261938" y="261938"/>
            <a:ext cx="7168565" cy="584775"/>
          </a:xfrm>
          <a:prstGeom prst="rect">
            <a:avLst/>
          </a:prstGeom>
        </p:spPr>
        <p:txBody>
          <a:bodyPr wrap="none">
            <a:spAutoFit/>
          </a:bodyPr>
          <a:lstStyle/>
          <a:p>
            <a:pPr>
              <a:spcBef>
                <a:spcPct val="0"/>
              </a:spcBef>
              <a:defRPr/>
            </a:pPr>
            <a:r>
              <a:rPr lang="en-US" altLang="zh-CN" sz="3200" b="1" kern="1700" dirty="0" smtClean="0">
                <a:solidFill>
                  <a:schemeClr val="bg1"/>
                </a:solidFill>
                <a:latin typeface="微软雅黑" pitchFamily="34" charset="-122"/>
                <a:ea typeface="微软雅黑" pitchFamily="34" charset="-122"/>
                <a:cs typeface="+mj-cs"/>
              </a:rPr>
              <a:t>2  Technical Specification Analysis</a:t>
            </a:r>
            <a:endParaRPr lang="zh-CN" altLang="en-US" sz="3200" b="1" kern="1700" dirty="0">
              <a:solidFill>
                <a:schemeClr val="bg1"/>
              </a:solidFill>
              <a:latin typeface="微软雅黑" pitchFamily="34" charset="-122"/>
              <a:ea typeface="微软雅黑" pitchFamily="34" charset="-122"/>
              <a:cs typeface="+mj-cs"/>
            </a:endParaRPr>
          </a:p>
        </p:txBody>
      </p:sp>
      <p:pic>
        <p:nvPicPr>
          <p:cNvPr id="24577" name="Picture 1"/>
          <p:cNvPicPr>
            <a:picLocks noChangeAspect="1" noChangeArrowheads="1"/>
          </p:cNvPicPr>
          <p:nvPr/>
        </p:nvPicPr>
        <p:blipFill>
          <a:blip r:embed="rId3"/>
          <a:srcRect/>
          <a:stretch>
            <a:fillRect/>
          </a:stretch>
        </p:blipFill>
        <p:spPr bwMode="auto">
          <a:xfrm>
            <a:off x="1714480" y="2120281"/>
            <a:ext cx="5738827" cy="416623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图示 6"/>
          <p:cNvGraphicFramePr/>
          <p:nvPr>
            <p:extLst>
              <p:ext uri="{D42A27DB-BD31-4B8C-83A1-F6EECF244321}">
                <p14:modId xmlns:p14="http://schemas.microsoft.com/office/powerpoint/2010/main" xmlns="" val="1978702234"/>
              </p:ext>
            </p:extLst>
          </p:nvPr>
        </p:nvGraphicFramePr>
        <p:xfrm>
          <a:off x="251520" y="1785926"/>
          <a:ext cx="8712968" cy="464347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14</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6"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8" name="矩形 7"/>
          <p:cNvSpPr/>
          <p:nvPr/>
        </p:nvSpPr>
        <p:spPr>
          <a:xfrm>
            <a:off x="214282" y="1214422"/>
            <a:ext cx="2710999" cy="461665"/>
          </a:xfrm>
          <a:prstGeom prst="rect">
            <a:avLst/>
          </a:prstGeom>
        </p:spPr>
        <p:txBody>
          <a:bodyPr wrap="none">
            <a:spAutoFit/>
          </a:bodyPr>
          <a:lstStyle/>
          <a:p>
            <a:pPr marL="457200" indent="-457200">
              <a:spcBef>
                <a:spcPct val="0"/>
              </a:spcBef>
              <a:spcAft>
                <a:spcPts val="1200"/>
              </a:spcAft>
              <a:buFont typeface="Wingdings" pitchFamily="2" charset="2"/>
              <a:buChar char="p"/>
              <a:defRPr/>
            </a:pPr>
            <a:r>
              <a:rPr lang="en-US" altLang="zh-CN" sz="2400" b="1" dirty="0" smtClean="0">
                <a:solidFill>
                  <a:srgbClr val="0070C0"/>
                </a:solidFill>
                <a:latin typeface="Arial" charset="0"/>
                <a:ea typeface="宋体" pitchFamily="2" charset="-122"/>
              </a:rPr>
              <a:t>Unit Function </a:t>
            </a:r>
            <a:endParaRPr lang="zh-CN" altLang="en-US" sz="2400" b="1" dirty="0" smtClean="0">
              <a:solidFill>
                <a:srgbClr val="0070C0"/>
              </a:solidFill>
              <a:latin typeface="Arial" charset="0"/>
              <a:ea typeface="宋体" pitchFamily="2" charset="-122"/>
            </a:endParaRPr>
          </a:p>
        </p:txBody>
      </p:sp>
      <p:sp>
        <p:nvSpPr>
          <p:cNvPr id="10" name="矩形 9"/>
          <p:cNvSpPr/>
          <p:nvPr/>
        </p:nvSpPr>
        <p:spPr>
          <a:xfrm>
            <a:off x="261938" y="261938"/>
            <a:ext cx="7168565" cy="584775"/>
          </a:xfrm>
          <a:prstGeom prst="rect">
            <a:avLst/>
          </a:prstGeom>
        </p:spPr>
        <p:txBody>
          <a:bodyPr wrap="none">
            <a:spAutoFit/>
          </a:bodyPr>
          <a:lstStyle/>
          <a:p>
            <a:pPr>
              <a:spcBef>
                <a:spcPct val="0"/>
              </a:spcBef>
              <a:defRPr/>
            </a:pPr>
            <a:r>
              <a:rPr lang="en-US" altLang="zh-CN" sz="3200" b="1" kern="1700" dirty="0" smtClean="0">
                <a:solidFill>
                  <a:schemeClr val="bg1"/>
                </a:solidFill>
                <a:latin typeface="微软雅黑" pitchFamily="34" charset="-122"/>
                <a:ea typeface="微软雅黑" pitchFamily="34" charset="-122"/>
                <a:cs typeface="+mj-cs"/>
              </a:rPr>
              <a:t>2  Technical Specification Analysis</a:t>
            </a:r>
            <a:endParaRPr lang="zh-CN" altLang="en-US" sz="3200" b="1" kern="1700" dirty="0">
              <a:solidFill>
                <a:schemeClr val="bg1"/>
              </a:solidFill>
              <a:latin typeface="微软雅黑" pitchFamily="34" charset="-122"/>
              <a:ea typeface="微软雅黑" pitchFamily="34" charset="-122"/>
              <a:cs typeface="+mj-cs"/>
            </a:endParaRPr>
          </a:p>
        </p:txBody>
      </p:sp>
    </p:spTree>
    <p:extLst>
      <p:ext uri="{BB962C8B-B14F-4D97-AF65-F5344CB8AC3E}">
        <p14:creationId xmlns:p14="http://schemas.microsoft.com/office/powerpoint/2010/main" xmlns="" val="389360955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2"/>
          <p:cNvSpPr txBox="1">
            <a:spLocks/>
          </p:cNvSpPr>
          <p:nvPr/>
        </p:nvSpPr>
        <p:spPr bwMode="auto">
          <a:xfrm>
            <a:off x="50800" y="233363"/>
            <a:ext cx="8229600" cy="1143000"/>
          </a:xfrm>
          <a:prstGeom prst="rect">
            <a:avLst/>
          </a:prstGeom>
          <a:noFill/>
          <a:ln w="9525">
            <a:noFill/>
            <a:miter lim="800000"/>
            <a:headEnd/>
            <a:tailEnd/>
          </a:ln>
        </p:spPr>
        <p:txBody>
          <a:bodyPr/>
          <a:lstStyle/>
          <a:p>
            <a:pPr eaLnBrk="0" hangingPunct="0"/>
            <a:endParaRPr lang="zh-CN" altLang="en-US" sz="4400">
              <a:solidFill>
                <a:schemeClr val="tx2"/>
              </a:solidFill>
            </a:endParaRPr>
          </a:p>
        </p:txBody>
      </p:sp>
      <p:sp>
        <p:nvSpPr>
          <p:cNvPr id="43012" name="TextBox 5"/>
          <p:cNvSpPr txBox="1">
            <a:spLocks noChangeArrowheads="1"/>
          </p:cNvSpPr>
          <p:nvPr/>
        </p:nvSpPr>
        <p:spPr bwMode="auto">
          <a:xfrm>
            <a:off x="323850" y="1214422"/>
            <a:ext cx="8320116" cy="483874"/>
          </a:xfrm>
          <a:prstGeom prst="rect">
            <a:avLst/>
          </a:prstGeom>
          <a:noFill/>
          <a:ln w="9525">
            <a:noFill/>
            <a:miter lim="800000"/>
            <a:headEnd/>
            <a:tailEnd/>
          </a:ln>
        </p:spPr>
        <p:txBody>
          <a:bodyPr wrap="square" lIns="82954" tIns="41477" rIns="82954" bIns="41477">
            <a:spAutoFit/>
          </a:bodyPr>
          <a:lstStyle/>
          <a:p>
            <a:pPr marL="457200" indent="-457200" algn="l">
              <a:spcAft>
                <a:spcPts val="1200"/>
              </a:spcAft>
              <a:buFont typeface="Wingdings" pitchFamily="2" charset="2"/>
              <a:buChar char="p"/>
            </a:pPr>
            <a:r>
              <a:rPr lang="en-US" altLang="zh-CN" sz="2600" b="1" dirty="0" smtClean="0">
                <a:solidFill>
                  <a:srgbClr val="0070C0"/>
                </a:solidFill>
              </a:rPr>
              <a:t>Primary Performance index of </a:t>
            </a:r>
            <a:r>
              <a:rPr lang="en-US" altLang="zh-CN" sz="2600" b="1" dirty="0">
                <a:solidFill>
                  <a:srgbClr val="0070C0"/>
                </a:solidFill>
              </a:rPr>
              <a:t>TT&amp;C subsystem</a:t>
            </a:r>
          </a:p>
        </p:txBody>
      </p:sp>
      <p:sp>
        <p:nvSpPr>
          <p:cNvPr id="7"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15</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9"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0" name="矩形 9"/>
          <p:cNvSpPr/>
          <p:nvPr/>
        </p:nvSpPr>
        <p:spPr>
          <a:xfrm>
            <a:off x="261938" y="261938"/>
            <a:ext cx="7168565" cy="584775"/>
          </a:xfrm>
          <a:prstGeom prst="rect">
            <a:avLst/>
          </a:prstGeom>
        </p:spPr>
        <p:txBody>
          <a:bodyPr wrap="none">
            <a:spAutoFit/>
          </a:bodyPr>
          <a:lstStyle/>
          <a:p>
            <a:pPr>
              <a:spcBef>
                <a:spcPct val="0"/>
              </a:spcBef>
              <a:defRPr/>
            </a:pPr>
            <a:r>
              <a:rPr lang="en-US" altLang="zh-CN" sz="3200" b="1" kern="1700" dirty="0" smtClean="0">
                <a:solidFill>
                  <a:schemeClr val="bg1"/>
                </a:solidFill>
                <a:latin typeface="微软雅黑" pitchFamily="34" charset="-122"/>
                <a:ea typeface="微软雅黑" pitchFamily="34" charset="-122"/>
                <a:cs typeface="+mj-cs"/>
              </a:rPr>
              <a:t>2  Technical Specification Analysis</a:t>
            </a:r>
            <a:endParaRPr lang="zh-CN" altLang="en-US" sz="3200" b="1" kern="1700" dirty="0">
              <a:solidFill>
                <a:schemeClr val="bg1"/>
              </a:solidFill>
              <a:latin typeface="微软雅黑" pitchFamily="34" charset="-122"/>
              <a:ea typeface="微软雅黑" pitchFamily="34" charset="-122"/>
              <a:cs typeface="+mj-cs"/>
            </a:endParaRPr>
          </a:p>
        </p:txBody>
      </p:sp>
      <p:graphicFrame>
        <p:nvGraphicFramePr>
          <p:cNvPr id="11" name="表格 10"/>
          <p:cNvGraphicFramePr>
            <a:graphicFrameLocks noGrp="1"/>
          </p:cNvGraphicFramePr>
          <p:nvPr/>
        </p:nvGraphicFramePr>
        <p:xfrm>
          <a:off x="1357290" y="1663843"/>
          <a:ext cx="6357982" cy="4669774"/>
        </p:xfrm>
        <a:graphic>
          <a:graphicData uri="http://schemas.openxmlformats.org/drawingml/2006/table">
            <a:tbl>
              <a:tblPr/>
              <a:tblGrid>
                <a:gridCol w="621439"/>
                <a:gridCol w="2807585"/>
                <a:gridCol w="2928958"/>
              </a:tblGrid>
              <a:tr h="264959">
                <a:tc>
                  <a:txBody>
                    <a:bodyPr/>
                    <a:lstStyle/>
                    <a:p>
                      <a:pPr algn="ctr">
                        <a:spcAft>
                          <a:spcPts val="0"/>
                        </a:spcAft>
                      </a:pPr>
                      <a:r>
                        <a:rPr lang="en-US" sz="1600" b="1" kern="100" dirty="0">
                          <a:latin typeface="Calibri"/>
                          <a:ea typeface="宋体"/>
                          <a:cs typeface="Times New Roman"/>
                        </a:rPr>
                        <a:t>No.</a:t>
                      </a:r>
                      <a:endParaRPr lang="zh-CN" sz="1600" kern="100" dirty="0">
                        <a:latin typeface="Calibri"/>
                        <a:ea typeface="宋体"/>
                        <a:cs typeface="Times New Roman"/>
                      </a:endParaRPr>
                    </a:p>
                  </a:txBody>
                  <a:tcPr marL="55047" marR="55047" marT="764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a:spcAft>
                          <a:spcPts val="0"/>
                        </a:spcAft>
                      </a:pPr>
                      <a:r>
                        <a:rPr lang="en-US" sz="1600" b="1" kern="100">
                          <a:latin typeface="Calibri"/>
                          <a:ea typeface="宋体"/>
                          <a:cs typeface="Times New Roman"/>
                        </a:rPr>
                        <a:t>Item</a:t>
                      </a:r>
                      <a:endParaRPr lang="zh-CN" sz="1600" kern="100">
                        <a:latin typeface="Calibri"/>
                        <a:ea typeface="宋体"/>
                        <a:cs typeface="Times New Roman"/>
                      </a:endParaRPr>
                    </a:p>
                  </a:txBody>
                  <a:tcPr marL="55047" marR="55047" marT="764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a:spcAft>
                          <a:spcPts val="0"/>
                        </a:spcAft>
                      </a:pPr>
                      <a:r>
                        <a:rPr lang="en-US" sz="1600" b="1" kern="100">
                          <a:latin typeface="Calibri"/>
                          <a:ea typeface="宋体"/>
                          <a:cs typeface="Times New Roman"/>
                        </a:rPr>
                        <a:t>Specification</a:t>
                      </a:r>
                      <a:endParaRPr lang="zh-CN" sz="1600" kern="100">
                        <a:latin typeface="Calibri"/>
                        <a:ea typeface="宋体"/>
                        <a:cs typeface="Times New Roman"/>
                      </a:endParaRPr>
                    </a:p>
                  </a:txBody>
                  <a:tcPr marL="55047" marR="55047" marT="764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r>
              <a:tr h="360738">
                <a:tc>
                  <a:txBody>
                    <a:bodyPr/>
                    <a:lstStyle/>
                    <a:p>
                      <a:pPr algn="ctr">
                        <a:spcAft>
                          <a:spcPts val="0"/>
                        </a:spcAft>
                      </a:pPr>
                      <a:r>
                        <a:rPr lang="en-US" sz="1600" b="1" kern="100" dirty="0">
                          <a:latin typeface="Calibri"/>
                          <a:ea typeface="宋体"/>
                          <a:cs typeface="Times New Roman"/>
                        </a:rPr>
                        <a:t>1</a:t>
                      </a:r>
                      <a:endParaRPr lang="zh-CN" sz="1600" kern="100" dirty="0">
                        <a:latin typeface="Calibri"/>
                        <a:ea typeface="宋体"/>
                        <a:cs typeface="Times New Roman"/>
                      </a:endParaRPr>
                    </a:p>
                  </a:txBody>
                  <a:tcPr marL="55047" marR="55047" marT="764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just">
                        <a:spcAft>
                          <a:spcPts val="0"/>
                        </a:spcAft>
                      </a:pPr>
                      <a:r>
                        <a:rPr lang="en-US" sz="1600" b="1" kern="100" dirty="0" smtClean="0">
                          <a:latin typeface="Calibri"/>
                          <a:ea typeface="宋体"/>
                          <a:cs typeface="Times New Roman"/>
                        </a:rPr>
                        <a:t>  TT&amp;C </a:t>
                      </a:r>
                      <a:r>
                        <a:rPr lang="en-US" sz="1600" b="1" kern="100" dirty="0">
                          <a:latin typeface="Calibri"/>
                          <a:ea typeface="宋体"/>
                          <a:cs typeface="Times New Roman"/>
                        </a:rPr>
                        <a:t>Types </a:t>
                      </a:r>
                      <a:endParaRPr lang="zh-CN" sz="1600" kern="100" dirty="0">
                        <a:latin typeface="Calibri"/>
                        <a:ea typeface="宋体"/>
                        <a:cs typeface="Times New Roman"/>
                      </a:endParaRPr>
                    </a:p>
                  </a:txBody>
                  <a:tcPr marL="55047" marR="55047" marT="764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just">
                        <a:spcAft>
                          <a:spcPts val="0"/>
                        </a:spcAft>
                      </a:pPr>
                      <a:r>
                        <a:rPr lang="en-US" sz="1600" b="1" kern="100">
                          <a:latin typeface="Calibri"/>
                          <a:ea typeface="宋体"/>
                          <a:cs typeface="Times New Roman"/>
                        </a:rPr>
                        <a:t>USB+GPS </a:t>
                      </a:r>
                      <a:endParaRPr lang="zh-CN" sz="1600" kern="100">
                        <a:latin typeface="Calibri"/>
                        <a:ea typeface="宋体"/>
                        <a:cs typeface="Times New Roman"/>
                      </a:endParaRPr>
                    </a:p>
                  </a:txBody>
                  <a:tcPr marL="55047" marR="55047" marT="764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r>
              <a:tr h="407006">
                <a:tc>
                  <a:txBody>
                    <a:bodyPr/>
                    <a:lstStyle/>
                    <a:p>
                      <a:pPr algn="ctr">
                        <a:spcAft>
                          <a:spcPts val="0"/>
                        </a:spcAft>
                      </a:pPr>
                      <a:r>
                        <a:rPr lang="en-US" sz="1600" b="1" kern="100">
                          <a:latin typeface="Calibri"/>
                          <a:ea typeface="宋体"/>
                          <a:cs typeface="Times New Roman"/>
                        </a:rPr>
                        <a:t>2</a:t>
                      </a:r>
                      <a:endParaRPr lang="zh-CN" sz="1600" kern="100">
                        <a:latin typeface="Calibri"/>
                        <a:ea typeface="宋体"/>
                        <a:cs typeface="Times New Roman"/>
                      </a:endParaRPr>
                    </a:p>
                  </a:txBody>
                  <a:tcPr marL="55047" marR="55047" marT="764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just">
                        <a:spcAft>
                          <a:spcPts val="0"/>
                        </a:spcAft>
                      </a:pPr>
                      <a:r>
                        <a:rPr lang="en-US" sz="1600" b="1" kern="100" dirty="0" smtClean="0">
                          <a:latin typeface="Calibri"/>
                          <a:ea typeface="宋体"/>
                          <a:cs typeface="Times New Roman"/>
                        </a:rPr>
                        <a:t>  Carrier </a:t>
                      </a:r>
                      <a:r>
                        <a:rPr lang="en-US" sz="1600" b="1" kern="100" dirty="0">
                          <a:latin typeface="Calibri"/>
                          <a:ea typeface="宋体"/>
                          <a:cs typeface="Times New Roman"/>
                        </a:rPr>
                        <a:t>Frequency </a:t>
                      </a:r>
                      <a:endParaRPr lang="zh-CN" sz="1600" kern="100" dirty="0">
                        <a:latin typeface="Calibri"/>
                        <a:ea typeface="宋体"/>
                        <a:cs typeface="Times New Roman"/>
                      </a:endParaRPr>
                    </a:p>
                  </a:txBody>
                  <a:tcPr marL="55047" marR="55047" marT="764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just">
                        <a:spcAft>
                          <a:spcPts val="0"/>
                        </a:spcAft>
                      </a:pPr>
                      <a:r>
                        <a:rPr lang="en-US" sz="1600" b="1" kern="100">
                          <a:latin typeface="Calibri"/>
                          <a:ea typeface="宋体"/>
                          <a:cs typeface="Times New Roman"/>
                        </a:rPr>
                        <a:t>Uplink 2025</a:t>
                      </a:r>
                      <a:r>
                        <a:rPr lang="zh-CN" sz="1600" b="1" kern="100">
                          <a:latin typeface="Calibri"/>
                          <a:ea typeface="宋体"/>
                          <a:cs typeface="Times New Roman"/>
                        </a:rPr>
                        <a:t>～</a:t>
                      </a:r>
                      <a:r>
                        <a:rPr lang="en-US" sz="1600" b="1" kern="100">
                          <a:latin typeface="Calibri"/>
                          <a:ea typeface="宋体"/>
                          <a:cs typeface="Times New Roman"/>
                        </a:rPr>
                        <a:t>2110 MHz, </a:t>
                      </a:r>
                      <a:endParaRPr lang="zh-CN" sz="1600" kern="100">
                        <a:latin typeface="Calibri"/>
                        <a:ea typeface="宋体"/>
                        <a:cs typeface="Times New Roman"/>
                      </a:endParaRPr>
                    </a:p>
                    <a:p>
                      <a:pPr algn="just">
                        <a:spcAft>
                          <a:spcPts val="0"/>
                        </a:spcAft>
                      </a:pPr>
                      <a:r>
                        <a:rPr lang="en-US" sz="1600" b="1" kern="100">
                          <a:latin typeface="Calibri"/>
                          <a:ea typeface="宋体"/>
                          <a:cs typeface="Times New Roman"/>
                        </a:rPr>
                        <a:t>Downlink 2200</a:t>
                      </a:r>
                      <a:r>
                        <a:rPr lang="zh-CN" sz="1600" b="1" kern="100">
                          <a:latin typeface="Calibri"/>
                          <a:ea typeface="宋体"/>
                          <a:cs typeface="Times New Roman"/>
                        </a:rPr>
                        <a:t>～</a:t>
                      </a:r>
                      <a:r>
                        <a:rPr lang="en-US" sz="1600" b="1" kern="100">
                          <a:latin typeface="Calibri"/>
                          <a:ea typeface="宋体"/>
                          <a:cs typeface="Times New Roman"/>
                        </a:rPr>
                        <a:t>2290 MHz </a:t>
                      </a:r>
                      <a:endParaRPr lang="zh-CN" sz="1600" kern="100">
                        <a:latin typeface="Calibri"/>
                        <a:ea typeface="宋体"/>
                        <a:cs typeface="Times New Roman"/>
                      </a:endParaRPr>
                    </a:p>
                  </a:txBody>
                  <a:tcPr marL="55047" marR="55047" marT="764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r>
              <a:tr h="407006">
                <a:tc>
                  <a:txBody>
                    <a:bodyPr/>
                    <a:lstStyle/>
                    <a:p>
                      <a:pPr algn="ctr">
                        <a:spcAft>
                          <a:spcPts val="0"/>
                        </a:spcAft>
                      </a:pPr>
                      <a:r>
                        <a:rPr lang="en-US" sz="1600" b="1" kern="100">
                          <a:latin typeface="Calibri"/>
                          <a:ea typeface="宋体"/>
                          <a:cs typeface="Times New Roman"/>
                        </a:rPr>
                        <a:t>3</a:t>
                      </a:r>
                      <a:endParaRPr lang="zh-CN" sz="1600" kern="100">
                        <a:latin typeface="Calibri"/>
                        <a:ea typeface="宋体"/>
                        <a:cs typeface="Times New Roman"/>
                      </a:endParaRPr>
                    </a:p>
                  </a:txBody>
                  <a:tcPr marL="55047" marR="55047" marT="764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just">
                        <a:spcAft>
                          <a:spcPts val="0"/>
                        </a:spcAft>
                      </a:pPr>
                      <a:r>
                        <a:rPr lang="en-US" sz="1600" b="1" kern="100" dirty="0" smtClean="0">
                          <a:latin typeface="Calibri"/>
                          <a:ea typeface="宋体"/>
                          <a:cs typeface="Times New Roman"/>
                        </a:rPr>
                        <a:t>  Sub-carrier </a:t>
                      </a:r>
                      <a:r>
                        <a:rPr lang="en-US" sz="1600" b="1" kern="100" dirty="0">
                          <a:latin typeface="Calibri"/>
                          <a:ea typeface="宋体"/>
                          <a:cs typeface="Times New Roman"/>
                        </a:rPr>
                        <a:t>frequency </a:t>
                      </a:r>
                      <a:endParaRPr lang="zh-CN" sz="1600" kern="100" dirty="0">
                        <a:latin typeface="Calibri"/>
                        <a:ea typeface="宋体"/>
                        <a:cs typeface="Times New Roman"/>
                      </a:endParaRPr>
                    </a:p>
                  </a:txBody>
                  <a:tcPr marL="55047" marR="55047" marT="764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just">
                        <a:spcAft>
                          <a:spcPts val="0"/>
                        </a:spcAft>
                      </a:pPr>
                      <a:r>
                        <a:rPr lang="en-US" sz="1600" b="1" kern="100">
                          <a:latin typeface="Calibri"/>
                          <a:ea typeface="宋体"/>
                          <a:cs typeface="Times New Roman"/>
                        </a:rPr>
                        <a:t>Uplink :8 kHz </a:t>
                      </a:r>
                      <a:endParaRPr lang="zh-CN" sz="1600" kern="100">
                        <a:latin typeface="Calibri"/>
                        <a:ea typeface="宋体"/>
                        <a:cs typeface="Times New Roman"/>
                      </a:endParaRPr>
                    </a:p>
                    <a:p>
                      <a:pPr algn="just">
                        <a:spcAft>
                          <a:spcPts val="0"/>
                        </a:spcAft>
                      </a:pPr>
                      <a:r>
                        <a:rPr lang="en-US" sz="1600" b="1" kern="100">
                          <a:latin typeface="Calibri"/>
                          <a:ea typeface="宋体"/>
                          <a:cs typeface="Times New Roman"/>
                        </a:rPr>
                        <a:t>Downlink :65.536 kHz </a:t>
                      </a:r>
                      <a:endParaRPr lang="zh-CN" sz="1600" kern="100">
                        <a:latin typeface="Calibri"/>
                        <a:ea typeface="宋体"/>
                        <a:cs typeface="Times New Roman"/>
                      </a:endParaRPr>
                    </a:p>
                  </a:txBody>
                  <a:tcPr marL="55047" marR="55047" marT="764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r>
              <a:tr h="360738">
                <a:tc>
                  <a:txBody>
                    <a:bodyPr/>
                    <a:lstStyle/>
                    <a:p>
                      <a:pPr algn="ctr">
                        <a:spcAft>
                          <a:spcPts val="0"/>
                        </a:spcAft>
                      </a:pPr>
                      <a:r>
                        <a:rPr lang="en-US" sz="1600" b="1" kern="100">
                          <a:latin typeface="Calibri"/>
                          <a:ea typeface="宋体"/>
                          <a:cs typeface="Times New Roman"/>
                        </a:rPr>
                        <a:t>4</a:t>
                      </a:r>
                      <a:endParaRPr lang="zh-CN" sz="1600" kern="100">
                        <a:latin typeface="Calibri"/>
                        <a:ea typeface="宋体"/>
                        <a:cs typeface="Times New Roman"/>
                      </a:endParaRPr>
                    </a:p>
                  </a:txBody>
                  <a:tcPr marL="55047" marR="55047" marT="764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just">
                        <a:spcAft>
                          <a:spcPts val="0"/>
                        </a:spcAft>
                      </a:pPr>
                      <a:r>
                        <a:rPr lang="en-US" sz="1600" b="1" kern="100" dirty="0" smtClean="0">
                          <a:latin typeface="Calibri"/>
                          <a:ea typeface="宋体"/>
                          <a:cs typeface="Times New Roman"/>
                        </a:rPr>
                        <a:t>  Turnaround </a:t>
                      </a:r>
                      <a:r>
                        <a:rPr lang="en-US" sz="1600" b="1" kern="100" dirty="0">
                          <a:latin typeface="Calibri"/>
                          <a:ea typeface="宋体"/>
                          <a:cs typeface="Times New Roman"/>
                        </a:rPr>
                        <a:t>Frequency Ratio </a:t>
                      </a:r>
                      <a:endParaRPr lang="zh-CN" sz="1600" kern="100" dirty="0">
                        <a:latin typeface="Calibri"/>
                        <a:ea typeface="宋体"/>
                        <a:cs typeface="Times New Roman"/>
                      </a:endParaRPr>
                    </a:p>
                  </a:txBody>
                  <a:tcPr marL="55047" marR="55047" marT="764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just">
                        <a:spcAft>
                          <a:spcPts val="0"/>
                        </a:spcAft>
                      </a:pPr>
                      <a:r>
                        <a:rPr lang="en-US" sz="1600" b="1" kern="100">
                          <a:latin typeface="Calibri"/>
                          <a:ea typeface="宋体"/>
                          <a:cs typeface="Times New Roman"/>
                        </a:rPr>
                        <a:t>uplink/downlink = 221/240 </a:t>
                      </a:r>
                      <a:endParaRPr lang="zh-CN" sz="1600" kern="100">
                        <a:latin typeface="Calibri"/>
                        <a:ea typeface="宋体"/>
                        <a:cs typeface="Times New Roman"/>
                      </a:endParaRPr>
                    </a:p>
                  </a:txBody>
                  <a:tcPr marL="55047" marR="55047" marT="764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r>
              <a:tr h="407006">
                <a:tc>
                  <a:txBody>
                    <a:bodyPr/>
                    <a:lstStyle/>
                    <a:p>
                      <a:pPr algn="ctr">
                        <a:spcAft>
                          <a:spcPts val="0"/>
                        </a:spcAft>
                      </a:pPr>
                      <a:r>
                        <a:rPr lang="en-US" sz="1600" b="1" kern="100">
                          <a:latin typeface="Calibri"/>
                          <a:ea typeface="宋体"/>
                          <a:cs typeface="Times New Roman"/>
                        </a:rPr>
                        <a:t>5</a:t>
                      </a:r>
                      <a:endParaRPr lang="zh-CN" sz="1600" kern="100">
                        <a:latin typeface="Calibri"/>
                        <a:ea typeface="宋体"/>
                        <a:cs typeface="Times New Roman"/>
                      </a:endParaRPr>
                    </a:p>
                  </a:txBody>
                  <a:tcPr marL="55047" marR="55047" marT="764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just">
                        <a:spcAft>
                          <a:spcPts val="0"/>
                        </a:spcAft>
                      </a:pPr>
                      <a:r>
                        <a:rPr lang="en-US" sz="1600" b="1" kern="100" dirty="0" smtClean="0">
                          <a:latin typeface="Calibri"/>
                          <a:ea typeface="宋体"/>
                          <a:cs typeface="Times New Roman"/>
                        </a:rPr>
                        <a:t>  Modulation </a:t>
                      </a:r>
                      <a:r>
                        <a:rPr lang="en-US" sz="1600" b="1" kern="100" dirty="0">
                          <a:latin typeface="Calibri"/>
                          <a:ea typeface="宋体"/>
                          <a:cs typeface="Times New Roman"/>
                        </a:rPr>
                        <a:t>Types</a:t>
                      </a:r>
                      <a:endParaRPr lang="zh-CN" sz="1600" kern="100" dirty="0">
                        <a:latin typeface="Calibri"/>
                        <a:ea typeface="宋体"/>
                        <a:cs typeface="Times New Roman"/>
                      </a:endParaRPr>
                    </a:p>
                  </a:txBody>
                  <a:tcPr marL="55047" marR="55047" marT="764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just">
                        <a:spcAft>
                          <a:spcPts val="0"/>
                        </a:spcAft>
                      </a:pPr>
                      <a:r>
                        <a:rPr lang="en-US" sz="1600" b="1" kern="100">
                          <a:latin typeface="Calibri"/>
                          <a:ea typeface="宋体"/>
                          <a:cs typeface="Times New Roman"/>
                        </a:rPr>
                        <a:t>Uplink :  PCM/BPSK/PM, </a:t>
                      </a:r>
                      <a:endParaRPr lang="zh-CN" sz="1600" kern="100">
                        <a:latin typeface="Calibri"/>
                        <a:ea typeface="宋体"/>
                        <a:cs typeface="Times New Roman"/>
                      </a:endParaRPr>
                    </a:p>
                    <a:p>
                      <a:pPr algn="just">
                        <a:spcAft>
                          <a:spcPts val="0"/>
                        </a:spcAft>
                      </a:pPr>
                      <a:r>
                        <a:rPr lang="en-US" sz="1600" b="1" kern="100">
                          <a:latin typeface="Calibri"/>
                          <a:ea typeface="宋体"/>
                          <a:cs typeface="Times New Roman"/>
                        </a:rPr>
                        <a:t>Downlink:   PCM/BPSK/PM </a:t>
                      </a:r>
                      <a:endParaRPr lang="zh-CN" sz="1600" kern="100">
                        <a:latin typeface="Calibri"/>
                        <a:ea typeface="宋体"/>
                        <a:cs typeface="Times New Roman"/>
                      </a:endParaRPr>
                    </a:p>
                  </a:txBody>
                  <a:tcPr marL="55047" marR="55047" marT="764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r>
              <a:tr h="360738">
                <a:tc>
                  <a:txBody>
                    <a:bodyPr/>
                    <a:lstStyle/>
                    <a:p>
                      <a:pPr algn="ctr">
                        <a:spcAft>
                          <a:spcPts val="0"/>
                        </a:spcAft>
                      </a:pPr>
                      <a:r>
                        <a:rPr lang="en-US" sz="1600" b="1" kern="100">
                          <a:latin typeface="Calibri"/>
                          <a:ea typeface="宋体"/>
                          <a:cs typeface="Times New Roman"/>
                        </a:rPr>
                        <a:t>6</a:t>
                      </a:r>
                      <a:endParaRPr lang="zh-CN" sz="1600" kern="100">
                        <a:latin typeface="Calibri"/>
                        <a:ea typeface="宋体"/>
                        <a:cs typeface="Times New Roman"/>
                      </a:endParaRPr>
                    </a:p>
                  </a:txBody>
                  <a:tcPr marL="55047" marR="55047" marT="764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just">
                        <a:spcAft>
                          <a:spcPts val="0"/>
                        </a:spcAft>
                      </a:pPr>
                      <a:r>
                        <a:rPr lang="en-US" sz="1600" b="1" kern="100" dirty="0" smtClean="0">
                          <a:latin typeface="Calibri"/>
                          <a:ea typeface="宋体"/>
                          <a:cs typeface="Times New Roman"/>
                        </a:rPr>
                        <a:t>  TC </a:t>
                      </a:r>
                      <a:r>
                        <a:rPr lang="en-US" sz="1600" b="1" kern="100" dirty="0">
                          <a:latin typeface="Calibri"/>
                          <a:ea typeface="宋体"/>
                          <a:cs typeface="Times New Roman"/>
                        </a:rPr>
                        <a:t>Bit Rate </a:t>
                      </a:r>
                      <a:endParaRPr lang="zh-CN" sz="1600" kern="100" dirty="0">
                        <a:latin typeface="Calibri"/>
                        <a:ea typeface="宋体"/>
                        <a:cs typeface="Times New Roman"/>
                      </a:endParaRPr>
                    </a:p>
                  </a:txBody>
                  <a:tcPr marL="55047" marR="55047" marT="764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just">
                        <a:spcAft>
                          <a:spcPts val="0"/>
                        </a:spcAft>
                      </a:pPr>
                      <a:r>
                        <a:rPr lang="en-US" sz="1600" b="1" kern="100">
                          <a:latin typeface="Calibri"/>
                          <a:ea typeface="宋体"/>
                          <a:cs typeface="Times New Roman"/>
                        </a:rPr>
                        <a:t>2000bps </a:t>
                      </a:r>
                      <a:endParaRPr lang="zh-CN" sz="1600" kern="100">
                        <a:latin typeface="Calibri"/>
                        <a:ea typeface="宋体"/>
                        <a:cs typeface="Times New Roman"/>
                      </a:endParaRPr>
                    </a:p>
                  </a:txBody>
                  <a:tcPr marL="55047" marR="55047" marT="764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r>
              <a:tr h="360738">
                <a:tc>
                  <a:txBody>
                    <a:bodyPr/>
                    <a:lstStyle/>
                    <a:p>
                      <a:pPr algn="ctr">
                        <a:spcAft>
                          <a:spcPts val="0"/>
                        </a:spcAft>
                      </a:pPr>
                      <a:r>
                        <a:rPr lang="en-US" sz="1600" b="1" kern="100">
                          <a:latin typeface="Calibri"/>
                          <a:ea typeface="宋体"/>
                          <a:cs typeface="Times New Roman"/>
                        </a:rPr>
                        <a:t>7</a:t>
                      </a:r>
                      <a:endParaRPr lang="zh-CN" sz="1600" kern="100">
                        <a:latin typeface="Calibri"/>
                        <a:ea typeface="宋体"/>
                        <a:cs typeface="Times New Roman"/>
                      </a:endParaRPr>
                    </a:p>
                  </a:txBody>
                  <a:tcPr marL="55047" marR="55047" marT="764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just">
                        <a:spcAft>
                          <a:spcPts val="0"/>
                        </a:spcAft>
                      </a:pPr>
                      <a:r>
                        <a:rPr lang="en-US" sz="1600" b="1" kern="100" dirty="0" smtClean="0">
                          <a:latin typeface="Calibri"/>
                          <a:ea typeface="宋体"/>
                          <a:cs typeface="Times New Roman"/>
                        </a:rPr>
                        <a:t>  TM </a:t>
                      </a:r>
                      <a:r>
                        <a:rPr lang="en-US" sz="1600" b="1" kern="100" dirty="0">
                          <a:latin typeface="Calibri"/>
                          <a:ea typeface="宋体"/>
                          <a:cs typeface="Times New Roman"/>
                        </a:rPr>
                        <a:t>Bit Rate </a:t>
                      </a:r>
                      <a:endParaRPr lang="zh-CN" sz="1600" kern="100" dirty="0">
                        <a:latin typeface="Calibri"/>
                        <a:ea typeface="宋体"/>
                        <a:cs typeface="Times New Roman"/>
                      </a:endParaRPr>
                    </a:p>
                  </a:txBody>
                  <a:tcPr marL="55047" marR="55047" marT="764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just">
                        <a:spcAft>
                          <a:spcPts val="0"/>
                        </a:spcAft>
                      </a:pPr>
                      <a:r>
                        <a:rPr lang="en-US" sz="1600" b="1" kern="100" dirty="0">
                          <a:latin typeface="Calibri"/>
                          <a:ea typeface="宋体"/>
                          <a:cs typeface="Times New Roman"/>
                        </a:rPr>
                        <a:t>4096bps </a:t>
                      </a:r>
                      <a:endParaRPr lang="zh-CN" sz="1600" kern="100" dirty="0">
                        <a:latin typeface="Calibri"/>
                        <a:ea typeface="宋体"/>
                        <a:cs typeface="Times New Roman"/>
                      </a:endParaRPr>
                    </a:p>
                  </a:txBody>
                  <a:tcPr marL="55047" marR="55047" marT="764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r>
              <a:tr h="360738">
                <a:tc>
                  <a:txBody>
                    <a:bodyPr/>
                    <a:lstStyle/>
                    <a:p>
                      <a:pPr algn="ctr">
                        <a:spcAft>
                          <a:spcPts val="0"/>
                        </a:spcAft>
                      </a:pPr>
                      <a:r>
                        <a:rPr lang="en-US" sz="1600" b="1" kern="100">
                          <a:latin typeface="Calibri"/>
                          <a:ea typeface="宋体"/>
                          <a:cs typeface="Times New Roman"/>
                        </a:rPr>
                        <a:t>8</a:t>
                      </a:r>
                      <a:endParaRPr lang="zh-CN" sz="1600" kern="100">
                        <a:latin typeface="Calibri"/>
                        <a:ea typeface="宋体"/>
                        <a:cs typeface="Times New Roman"/>
                      </a:endParaRPr>
                    </a:p>
                  </a:txBody>
                  <a:tcPr marL="55047" marR="55047" marT="764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indent="33655" algn="just">
                        <a:spcAft>
                          <a:spcPts val="0"/>
                        </a:spcAft>
                      </a:pPr>
                      <a:r>
                        <a:rPr lang="en-US" sz="1600" b="1" kern="100" dirty="0" smtClean="0">
                          <a:latin typeface="Calibri"/>
                          <a:ea typeface="宋体"/>
                          <a:cs typeface="Times New Roman"/>
                        </a:rPr>
                        <a:t>  EIRP </a:t>
                      </a:r>
                      <a:r>
                        <a:rPr lang="en-US" sz="1600" b="1" kern="100" dirty="0">
                          <a:latin typeface="Calibri"/>
                          <a:ea typeface="宋体"/>
                          <a:cs typeface="Times New Roman"/>
                        </a:rPr>
                        <a:t>of satellite </a:t>
                      </a:r>
                      <a:endParaRPr lang="zh-CN" sz="1600" kern="100" dirty="0">
                        <a:latin typeface="Calibri"/>
                        <a:ea typeface="宋体"/>
                        <a:cs typeface="Times New Roman"/>
                      </a:endParaRPr>
                    </a:p>
                  </a:txBody>
                  <a:tcPr marL="14272" marR="14272" marT="611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just">
                        <a:spcAft>
                          <a:spcPts val="0"/>
                        </a:spcAft>
                      </a:pPr>
                      <a:r>
                        <a:rPr lang="en-US" sz="1600" b="1" kern="100" dirty="0">
                          <a:latin typeface="Calibri"/>
                          <a:ea typeface="宋体"/>
                          <a:cs typeface="Times New Roman"/>
                        </a:rPr>
                        <a:t>≥ -</a:t>
                      </a:r>
                      <a:r>
                        <a:rPr lang="en-US" sz="1600" b="1" kern="100" dirty="0" smtClean="0">
                          <a:latin typeface="Calibri"/>
                          <a:ea typeface="宋体"/>
                          <a:cs typeface="Times New Roman"/>
                        </a:rPr>
                        <a:t>13.01 </a:t>
                      </a:r>
                      <a:r>
                        <a:rPr lang="en-US" sz="1600" b="1" kern="100" dirty="0" err="1">
                          <a:latin typeface="Calibri"/>
                          <a:ea typeface="宋体"/>
                          <a:cs typeface="Times New Roman"/>
                        </a:rPr>
                        <a:t>dBW</a:t>
                      </a:r>
                      <a:r>
                        <a:rPr lang="en-US" sz="1600" b="1" kern="100" dirty="0">
                          <a:latin typeface="Calibri"/>
                          <a:ea typeface="宋体"/>
                          <a:cs typeface="Times New Roman"/>
                        </a:rPr>
                        <a:t> </a:t>
                      </a:r>
                      <a:endParaRPr lang="zh-CN" sz="1600" kern="100" dirty="0">
                        <a:latin typeface="Calibri"/>
                        <a:ea typeface="宋体"/>
                        <a:cs typeface="Times New Roman"/>
                      </a:endParaRPr>
                    </a:p>
                  </a:txBody>
                  <a:tcPr marL="55047" marR="55047" marT="764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r>
              <a:tr h="360738">
                <a:tc>
                  <a:txBody>
                    <a:bodyPr/>
                    <a:lstStyle/>
                    <a:p>
                      <a:pPr algn="ctr">
                        <a:spcAft>
                          <a:spcPts val="0"/>
                        </a:spcAft>
                      </a:pPr>
                      <a:r>
                        <a:rPr lang="en-US" sz="1600" b="1" kern="100">
                          <a:latin typeface="Calibri"/>
                          <a:ea typeface="宋体"/>
                          <a:cs typeface="Times New Roman"/>
                        </a:rPr>
                        <a:t>9</a:t>
                      </a:r>
                      <a:endParaRPr lang="zh-CN" sz="1600" kern="100">
                        <a:latin typeface="Calibri"/>
                        <a:ea typeface="宋体"/>
                        <a:cs typeface="Times New Roman"/>
                      </a:endParaRPr>
                    </a:p>
                  </a:txBody>
                  <a:tcPr marL="55047" marR="55047" marT="764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indent="33655" algn="just">
                        <a:spcAft>
                          <a:spcPts val="0"/>
                        </a:spcAft>
                      </a:pPr>
                      <a:r>
                        <a:rPr lang="en-US" sz="1600" b="1" kern="100" dirty="0" smtClean="0">
                          <a:latin typeface="Calibri"/>
                          <a:ea typeface="宋体"/>
                          <a:cs typeface="Times New Roman"/>
                        </a:rPr>
                        <a:t>  G/T </a:t>
                      </a:r>
                      <a:r>
                        <a:rPr lang="en-US" sz="1600" b="1" kern="100" dirty="0">
                          <a:latin typeface="Calibri"/>
                          <a:ea typeface="宋体"/>
                          <a:cs typeface="Times New Roman"/>
                        </a:rPr>
                        <a:t>of satellite </a:t>
                      </a:r>
                      <a:endParaRPr lang="zh-CN" sz="1600" kern="100" dirty="0">
                        <a:latin typeface="Calibri"/>
                        <a:ea typeface="宋体"/>
                        <a:cs typeface="Times New Roman"/>
                      </a:endParaRPr>
                    </a:p>
                  </a:txBody>
                  <a:tcPr marL="14272" marR="14272" marT="611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just">
                        <a:spcAft>
                          <a:spcPts val="0"/>
                        </a:spcAft>
                      </a:pPr>
                      <a:r>
                        <a:rPr lang="en-US" sz="1600" b="1" kern="100" dirty="0">
                          <a:latin typeface="Calibri"/>
                          <a:ea typeface="宋体"/>
                          <a:cs typeface="Times New Roman"/>
                        </a:rPr>
                        <a:t>≥</a:t>
                      </a:r>
                      <a:r>
                        <a:rPr lang="en-US" sz="1600" b="1" kern="100" dirty="0" smtClean="0">
                          <a:latin typeface="Calibri"/>
                          <a:ea typeface="宋体"/>
                          <a:cs typeface="Times New Roman"/>
                        </a:rPr>
                        <a:t>-38.33dB/K </a:t>
                      </a:r>
                      <a:endParaRPr lang="zh-CN" sz="1600" kern="100" dirty="0">
                        <a:latin typeface="Calibri"/>
                        <a:ea typeface="宋体"/>
                        <a:cs typeface="Times New Roman"/>
                      </a:endParaRPr>
                    </a:p>
                  </a:txBody>
                  <a:tcPr marL="55047" marR="55047" marT="764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r>
              <a:tr h="393674">
                <a:tc>
                  <a:txBody>
                    <a:bodyPr/>
                    <a:lstStyle/>
                    <a:p>
                      <a:pPr algn="ctr">
                        <a:spcAft>
                          <a:spcPts val="0"/>
                        </a:spcAft>
                      </a:pPr>
                      <a:r>
                        <a:rPr lang="en-US" sz="1600" b="1" kern="100">
                          <a:latin typeface="Calibri"/>
                          <a:ea typeface="宋体"/>
                          <a:cs typeface="Times New Roman"/>
                        </a:rPr>
                        <a:t>10</a:t>
                      </a:r>
                      <a:endParaRPr lang="zh-CN" sz="1600" kern="100">
                        <a:latin typeface="Calibri"/>
                        <a:ea typeface="宋体"/>
                        <a:cs typeface="Times New Roman"/>
                      </a:endParaRPr>
                    </a:p>
                  </a:txBody>
                  <a:tcPr marL="55047" marR="55047" marT="764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just">
                        <a:spcAft>
                          <a:spcPts val="0"/>
                        </a:spcAft>
                      </a:pPr>
                      <a:r>
                        <a:rPr lang="en-US" sz="1600" b="1" kern="100" dirty="0" smtClean="0">
                          <a:latin typeface="Calibri"/>
                          <a:ea typeface="宋体"/>
                          <a:cs typeface="Times New Roman"/>
                        </a:rPr>
                        <a:t>  Transponder </a:t>
                      </a:r>
                      <a:r>
                        <a:rPr lang="en-US" sz="1600" b="1" kern="100" dirty="0">
                          <a:latin typeface="Calibri"/>
                          <a:ea typeface="宋体"/>
                          <a:cs typeface="Times New Roman"/>
                        </a:rPr>
                        <a:t>Sensitivity </a:t>
                      </a:r>
                      <a:endParaRPr lang="zh-CN" sz="1600" kern="100" dirty="0">
                        <a:latin typeface="Calibri"/>
                        <a:ea typeface="宋体"/>
                        <a:cs typeface="Times New Roman"/>
                      </a:endParaRPr>
                    </a:p>
                  </a:txBody>
                  <a:tcPr marL="55047" marR="55047" marT="764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just">
                        <a:spcAft>
                          <a:spcPts val="0"/>
                        </a:spcAft>
                      </a:pPr>
                      <a:r>
                        <a:rPr lang="en-US" sz="1600" b="1" kern="100" dirty="0">
                          <a:latin typeface="Calibri"/>
                          <a:ea typeface="宋体"/>
                          <a:cs typeface="Times New Roman"/>
                        </a:rPr>
                        <a:t>≤-106dBm </a:t>
                      </a:r>
                      <a:endParaRPr lang="zh-CN" sz="1600" kern="100" dirty="0">
                        <a:latin typeface="Calibri"/>
                        <a:ea typeface="宋体"/>
                        <a:cs typeface="Times New Roman"/>
                      </a:endParaRPr>
                    </a:p>
                  </a:txBody>
                  <a:tcPr marL="55047" marR="55047" marT="764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r>
              <a:tr h="360738">
                <a:tc>
                  <a:txBody>
                    <a:bodyPr/>
                    <a:lstStyle/>
                    <a:p>
                      <a:pPr algn="ctr">
                        <a:spcAft>
                          <a:spcPts val="0"/>
                        </a:spcAft>
                      </a:pPr>
                      <a:r>
                        <a:rPr lang="en-US" sz="1600" b="1" kern="100">
                          <a:latin typeface="Calibri"/>
                          <a:ea typeface="宋体"/>
                          <a:cs typeface="Times New Roman"/>
                        </a:rPr>
                        <a:t>11</a:t>
                      </a:r>
                      <a:endParaRPr lang="zh-CN" sz="1600" kern="100">
                        <a:latin typeface="Calibri"/>
                        <a:ea typeface="宋体"/>
                        <a:cs typeface="Times New Roman"/>
                      </a:endParaRPr>
                    </a:p>
                  </a:txBody>
                  <a:tcPr marL="55047" marR="55047" marT="764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just">
                        <a:spcAft>
                          <a:spcPts val="0"/>
                        </a:spcAft>
                      </a:pPr>
                      <a:r>
                        <a:rPr lang="en-US" sz="1600" b="1" kern="100" dirty="0" smtClean="0">
                          <a:latin typeface="Calibri"/>
                          <a:ea typeface="宋体"/>
                          <a:cs typeface="Times New Roman"/>
                        </a:rPr>
                        <a:t>  GPS </a:t>
                      </a:r>
                      <a:r>
                        <a:rPr lang="en-US" sz="1600" b="1" kern="100" dirty="0">
                          <a:latin typeface="Calibri"/>
                          <a:ea typeface="宋体"/>
                          <a:cs typeface="Times New Roman"/>
                        </a:rPr>
                        <a:t>position precision </a:t>
                      </a:r>
                      <a:endParaRPr lang="zh-CN" sz="1600" kern="100" dirty="0">
                        <a:latin typeface="Calibri"/>
                        <a:ea typeface="宋体"/>
                        <a:cs typeface="Times New Roman"/>
                      </a:endParaRPr>
                    </a:p>
                  </a:txBody>
                  <a:tcPr marL="14272" marR="14272" marT="6116"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algn="just">
                        <a:spcAft>
                          <a:spcPts val="0"/>
                        </a:spcAft>
                      </a:pPr>
                      <a:r>
                        <a:rPr lang="en-US" sz="1600" b="1" kern="100" dirty="0">
                          <a:latin typeface="Calibri"/>
                          <a:ea typeface="宋体"/>
                          <a:cs typeface="Times New Roman"/>
                        </a:rPr>
                        <a:t>Better than 10 m (1σ, 3-axis) </a:t>
                      </a:r>
                      <a:endParaRPr lang="zh-CN" sz="1600" kern="100" dirty="0">
                        <a:latin typeface="Calibri"/>
                        <a:ea typeface="宋体"/>
                        <a:cs typeface="Times New Roman"/>
                      </a:endParaRPr>
                    </a:p>
                  </a:txBody>
                  <a:tcPr marL="55047" marR="55047" marT="764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r>
            </a:tbl>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2"/>
          <p:cNvSpPr txBox="1">
            <a:spLocks/>
          </p:cNvSpPr>
          <p:nvPr/>
        </p:nvSpPr>
        <p:spPr bwMode="auto">
          <a:xfrm>
            <a:off x="50800" y="233363"/>
            <a:ext cx="8229600" cy="1143000"/>
          </a:xfrm>
          <a:prstGeom prst="rect">
            <a:avLst/>
          </a:prstGeom>
          <a:noFill/>
          <a:ln w="9525">
            <a:noFill/>
            <a:miter lim="800000"/>
            <a:headEnd/>
            <a:tailEnd/>
          </a:ln>
        </p:spPr>
        <p:txBody>
          <a:bodyPr/>
          <a:lstStyle/>
          <a:p>
            <a:pPr eaLnBrk="0" hangingPunct="0"/>
            <a:endParaRPr lang="zh-CN" altLang="en-US" sz="4400">
              <a:solidFill>
                <a:schemeClr val="tx2"/>
              </a:solidFill>
            </a:endParaRPr>
          </a:p>
        </p:txBody>
      </p:sp>
      <p:sp>
        <p:nvSpPr>
          <p:cNvPr id="5" name="TextBox 5"/>
          <p:cNvSpPr txBox="1">
            <a:spLocks noChangeArrowheads="1"/>
          </p:cNvSpPr>
          <p:nvPr/>
        </p:nvSpPr>
        <p:spPr bwMode="auto">
          <a:xfrm>
            <a:off x="571472" y="1571612"/>
            <a:ext cx="8081963" cy="3807861"/>
          </a:xfrm>
          <a:prstGeom prst="rect">
            <a:avLst/>
          </a:prstGeom>
          <a:noFill/>
          <a:ln>
            <a:noFill/>
          </a:ln>
          <a:extLst/>
        </p:spPr>
        <p:txBody>
          <a:bodyPr lIns="82954" tIns="41477" rIns="82954" bIns="41477">
            <a:spAutoFit/>
          </a:bodyPr>
          <a:lstStyle>
            <a:lvl1pPr eaLnBrk="0" hangingPunct="0">
              <a:defRPr sz="2000" b="1">
                <a:solidFill>
                  <a:srgbClr val="575F6D"/>
                </a:solidFill>
                <a:latin typeface="Arial" charset="0"/>
                <a:ea typeface="宋体" pitchFamily="2" charset="-122"/>
              </a:defRPr>
            </a:lvl1pPr>
            <a:lvl2pPr marL="742950" indent="-285750" eaLnBrk="0" hangingPunct="0">
              <a:defRPr sz="2000" b="1">
                <a:solidFill>
                  <a:srgbClr val="575F6D"/>
                </a:solidFill>
                <a:latin typeface="Arial" charset="0"/>
                <a:ea typeface="宋体" pitchFamily="2" charset="-122"/>
              </a:defRPr>
            </a:lvl2pPr>
            <a:lvl3pPr marL="1143000" indent="-228600" eaLnBrk="0" hangingPunct="0">
              <a:defRPr sz="2000" b="1">
                <a:solidFill>
                  <a:srgbClr val="575F6D"/>
                </a:solidFill>
                <a:latin typeface="Arial" charset="0"/>
                <a:ea typeface="宋体" pitchFamily="2" charset="-122"/>
              </a:defRPr>
            </a:lvl3pPr>
            <a:lvl4pPr marL="1600200" indent="-228600" eaLnBrk="0" hangingPunct="0">
              <a:defRPr sz="2000" b="1">
                <a:solidFill>
                  <a:srgbClr val="575F6D"/>
                </a:solidFill>
                <a:latin typeface="Arial" charset="0"/>
                <a:ea typeface="宋体" pitchFamily="2" charset="-122"/>
              </a:defRPr>
            </a:lvl4pPr>
            <a:lvl5pPr marL="2057400" indent="-228600" eaLnBrk="0" hangingPunct="0">
              <a:defRPr sz="2000" b="1">
                <a:solidFill>
                  <a:srgbClr val="575F6D"/>
                </a:solidFill>
                <a:latin typeface="Arial"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charset="0"/>
                <a:ea typeface="宋体" pitchFamily="2" charset="-122"/>
              </a:defRPr>
            </a:lvl9pPr>
          </a:lstStyle>
          <a:p>
            <a:pPr marL="457200" indent="-457200" algn="l" eaLnBrk="1" hangingPunct="1">
              <a:lnSpc>
                <a:spcPct val="200000"/>
              </a:lnSpc>
              <a:spcAft>
                <a:spcPts val="1200"/>
              </a:spcAft>
              <a:buFont typeface="Wingdings" pitchFamily="2" charset="2"/>
              <a:buChar char="p"/>
              <a:defRPr/>
            </a:pPr>
            <a:r>
              <a:rPr lang="en-US" altLang="zh-CN" sz="2900" dirty="0" smtClean="0">
                <a:solidFill>
                  <a:srgbClr val="0070C0"/>
                </a:solidFill>
              </a:rPr>
              <a:t>Key parameter design</a:t>
            </a:r>
          </a:p>
          <a:p>
            <a:pPr marL="720000" lvl="0" indent="-360000" algn="just" eaLnBrk="1" fontAlgn="base" hangingPunct="1">
              <a:lnSpc>
                <a:spcPct val="150000"/>
              </a:lnSpc>
              <a:spcBef>
                <a:spcPct val="0"/>
              </a:spcBef>
              <a:spcAft>
                <a:spcPts val="1200"/>
              </a:spcAft>
              <a:buFont typeface="Wingdings" pitchFamily="2" charset="2"/>
              <a:buChar char="n"/>
              <a:defRPr/>
            </a:pPr>
            <a:r>
              <a:rPr lang="en-US" altLang="zh-CN" sz="2400" dirty="0" smtClean="0">
                <a:solidFill>
                  <a:schemeClr val="tx1"/>
                </a:solidFill>
              </a:rPr>
              <a:t>Carrier Frequency </a:t>
            </a:r>
          </a:p>
          <a:p>
            <a:pPr marL="720000" lvl="0" indent="-360000" algn="just" eaLnBrk="1" fontAlgn="base" hangingPunct="1">
              <a:lnSpc>
                <a:spcPct val="150000"/>
              </a:lnSpc>
              <a:spcBef>
                <a:spcPct val="0"/>
              </a:spcBef>
              <a:spcAft>
                <a:spcPts val="1200"/>
              </a:spcAft>
              <a:defRPr/>
            </a:pPr>
            <a:r>
              <a:rPr lang="en-US" altLang="zh-CN" sz="2400" dirty="0" smtClean="0">
                <a:solidFill>
                  <a:schemeClr val="tx1"/>
                </a:solidFill>
              </a:rPr>
              <a:t>Need your cooperating for applying frequency</a:t>
            </a:r>
            <a:endParaRPr lang="zh-CN" altLang="zh-CN" sz="2400" dirty="0" smtClean="0">
              <a:solidFill>
                <a:schemeClr val="tx1"/>
              </a:solidFill>
            </a:endParaRPr>
          </a:p>
          <a:p>
            <a:pPr marL="720000" indent="-360000" algn="just" eaLnBrk="1" fontAlgn="base" hangingPunct="1">
              <a:lnSpc>
                <a:spcPct val="150000"/>
              </a:lnSpc>
              <a:spcBef>
                <a:spcPct val="0"/>
              </a:spcBef>
              <a:spcAft>
                <a:spcPts val="1200"/>
              </a:spcAft>
              <a:buFont typeface="Wingdings" pitchFamily="2" charset="2"/>
              <a:buChar char="n"/>
              <a:defRPr/>
            </a:pPr>
            <a:r>
              <a:rPr lang="en-US" altLang="zh-CN" sz="2400" dirty="0" smtClean="0">
                <a:solidFill>
                  <a:schemeClr val="tx1"/>
                </a:solidFill>
              </a:rPr>
              <a:t>TT&amp;C Link Calculation</a:t>
            </a:r>
          </a:p>
          <a:p>
            <a:pPr marL="720000" indent="-360000" algn="just" eaLnBrk="1" fontAlgn="base" hangingPunct="1">
              <a:lnSpc>
                <a:spcPct val="150000"/>
              </a:lnSpc>
              <a:spcBef>
                <a:spcPct val="0"/>
              </a:spcBef>
              <a:spcAft>
                <a:spcPts val="1200"/>
              </a:spcAft>
              <a:buFont typeface="Wingdings" pitchFamily="2" charset="2"/>
              <a:buChar char="n"/>
              <a:defRPr/>
            </a:pPr>
            <a:r>
              <a:rPr lang="en-US" altLang="zh-CN" sz="2400" dirty="0" smtClean="0">
                <a:solidFill>
                  <a:schemeClr val="tx1"/>
                </a:solidFill>
              </a:rPr>
              <a:t>TT&amp;C Time analysis</a:t>
            </a:r>
          </a:p>
        </p:txBody>
      </p:sp>
      <p:sp>
        <p:nvSpPr>
          <p:cNvPr id="6"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16</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7"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8" name="矩形 7"/>
          <p:cNvSpPr/>
          <p:nvPr/>
        </p:nvSpPr>
        <p:spPr>
          <a:xfrm>
            <a:off x="261938" y="261938"/>
            <a:ext cx="7168565" cy="584775"/>
          </a:xfrm>
          <a:prstGeom prst="rect">
            <a:avLst/>
          </a:prstGeom>
        </p:spPr>
        <p:txBody>
          <a:bodyPr wrap="none">
            <a:spAutoFit/>
          </a:bodyPr>
          <a:lstStyle/>
          <a:p>
            <a:pPr>
              <a:spcBef>
                <a:spcPct val="0"/>
              </a:spcBef>
              <a:defRPr/>
            </a:pPr>
            <a:r>
              <a:rPr lang="en-US" altLang="zh-CN" sz="3200" b="1" kern="1700" dirty="0" smtClean="0">
                <a:solidFill>
                  <a:schemeClr val="bg1"/>
                </a:solidFill>
                <a:latin typeface="微软雅黑" pitchFamily="34" charset="-122"/>
                <a:ea typeface="微软雅黑" pitchFamily="34" charset="-122"/>
                <a:cs typeface="+mj-cs"/>
              </a:rPr>
              <a:t>2  Technical Specification Analysis</a:t>
            </a:r>
            <a:endParaRPr lang="zh-CN" altLang="en-US" sz="3200" b="1" kern="1700" dirty="0">
              <a:solidFill>
                <a:schemeClr val="bg1"/>
              </a:solidFill>
              <a:latin typeface="微软雅黑" pitchFamily="34" charset="-122"/>
              <a:ea typeface="微软雅黑" pitchFamily="34" charset="-122"/>
              <a:cs typeface="+mj-cs"/>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2"/>
          <p:cNvSpPr txBox="1">
            <a:spLocks/>
          </p:cNvSpPr>
          <p:nvPr/>
        </p:nvSpPr>
        <p:spPr bwMode="auto">
          <a:xfrm>
            <a:off x="50800" y="233363"/>
            <a:ext cx="8229600" cy="1143000"/>
          </a:xfrm>
          <a:prstGeom prst="rect">
            <a:avLst/>
          </a:prstGeom>
          <a:noFill/>
          <a:ln w="9525">
            <a:noFill/>
            <a:miter lim="800000"/>
            <a:headEnd/>
            <a:tailEnd/>
          </a:ln>
        </p:spPr>
        <p:txBody>
          <a:bodyPr/>
          <a:lstStyle/>
          <a:p>
            <a:pPr eaLnBrk="0" hangingPunct="0"/>
            <a:endParaRPr lang="zh-CN" altLang="en-US" sz="4400">
              <a:solidFill>
                <a:schemeClr val="tx2"/>
              </a:solidFill>
            </a:endParaRPr>
          </a:p>
        </p:txBody>
      </p:sp>
      <p:sp>
        <p:nvSpPr>
          <p:cNvPr id="64516"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4517"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4518" name="Rectangle 4"/>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4519" name="TextBox 5"/>
          <p:cNvSpPr txBox="1">
            <a:spLocks noChangeArrowheads="1"/>
          </p:cNvSpPr>
          <p:nvPr/>
        </p:nvSpPr>
        <p:spPr bwMode="auto">
          <a:xfrm>
            <a:off x="215900" y="1255701"/>
            <a:ext cx="5688013" cy="530225"/>
          </a:xfrm>
          <a:prstGeom prst="rect">
            <a:avLst/>
          </a:prstGeom>
          <a:noFill/>
          <a:ln w="9525">
            <a:noFill/>
            <a:miter lim="800000"/>
            <a:headEnd/>
            <a:tailEnd/>
          </a:ln>
        </p:spPr>
        <p:txBody>
          <a:bodyPr lIns="82954" tIns="41477" rIns="82954" bIns="41477">
            <a:spAutoFit/>
          </a:bodyPr>
          <a:lstStyle/>
          <a:p>
            <a:pPr marL="457200" indent="-457200" algn="l">
              <a:spcAft>
                <a:spcPts val="1200"/>
              </a:spcAft>
              <a:buFont typeface="Wingdings" pitchFamily="2" charset="2"/>
              <a:buChar char="p"/>
            </a:pPr>
            <a:r>
              <a:rPr lang="en-US" altLang="zh-CN" sz="2800" b="1" dirty="0" smtClean="0">
                <a:solidFill>
                  <a:srgbClr val="0070C0"/>
                </a:solidFill>
              </a:rPr>
              <a:t> </a:t>
            </a:r>
            <a:r>
              <a:rPr lang="en-US" altLang="zh-CN" sz="2800" b="1" dirty="0">
                <a:solidFill>
                  <a:srgbClr val="0070C0"/>
                </a:solidFill>
              </a:rPr>
              <a:t>TT&amp;C Link Calculation</a:t>
            </a:r>
          </a:p>
        </p:txBody>
      </p:sp>
      <p:sp>
        <p:nvSpPr>
          <p:cNvPr id="64520" name="Rectangle 2"/>
          <p:cNvSpPr>
            <a:spLocks noChangeArrowheads="1"/>
          </p:cNvSpPr>
          <p:nvPr/>
        </p:nvSpPr>
        <p:spPr bwMode="gray">
          <a:xfrm>
            <a:off x="0" y="0"/>
            <a:ext cx="9144000" cy="457200"/>
          </a:xfrm>
          <a:prstGeom prst="rect">
            <a:avLst/>
          </a:prstGeom>
          <a:noFill/>
          <a:ln w="9525" algn="ctr">
            <a:noFill/>
            <a:miter lim="800000"/>
            <a:headEnd/>
            <a:tailEnd/>
          </a:ln>
        </p:spPr>
        <p:txBody>
          <a:bodyPr wrap="none" anchor="ctr">
            <a:spAutoFit/>
          </a:bodyPr>
          <a:lstStyle/>
          <a:p>
            <a:endParaRPr lang="zh-CN" altLang="en-US"/>
          </a:p>
        </p:txBody>
      </p:sp>
      <p:graphicFrame>
        <p:nvGraphicFramePr>
          <p:cNvPr id="18" name="表格 17"/>
          <p:cNvGraphicFramePr>
            <a:graphicFrameLocks noGrp="1"/>
          </p:cNvGraphicFramePr>
          <p:nvPr/>
        </p:nvGraphicFramePr>
        <p:xfrm>
          <a:off x="3000363" y="2071678"/>
          <a:ext cx="5857917" cy="1363266"/>
        </p:xfrm>
        <a:graphic>
          <a:graphicData uri="http://schemas.openxmlformats.org/drawingml/2006/table">
            <a:tbl>
              <a:tblPr/>
              <a:tblGrid>
                <a:gridCol w="357190"/>
                <a:gridCol w="3979921"/>
                <a:gridCol w="619588"/>
                <a:gridCol w="901218"/>
              </a:tblGrid>
              <a:tr h="350838">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bg1"/>
                          </a:solidFill>
                          <a:effectLst/>
                          <a:latin typeface="Times New Roman" pitchFamily="18" charset="0"/>
                          <a:ea typeface="宋体" pitchFamily="2" charset="-122"/>
                          <a:cs typeface="Times New Roman" pitchFamily="18" charset="0"/>
                        </a:rPr>
                        <a:t>No. </a:t>
                      </a:r>
                      <a:endParaRPr kumimoji="0" lang="zh-CN" altLang="zh-CN" sz="1400" b="1" i="0" u="none" strike="noStrike" cap="none" normalizeH="0" baseline="0" dirty="0" smtClean="0">
                        <a:ln>
                          <a:noFill/>
                        </a:ln>
                        <a:solidFill>
                          <a:schemeClr val="bg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6A6A6"/>
                    </a:solid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bg1"/>
                          </a:solidFill>
                          <a:effectLst/>
                          <a:latin typeface="Times New Roman" pitchFamily="18" charset="0"/>
                          <a:ea typeface="黑体" pitchFamily="2" charset="-122"/>
                          <a:cs typeface="宋体" pitchFamily="2" charset="-122"/>
                        </a:rPr>
                        <a:t>Items</a:t>
                      </a:r>
                      <a:endParaRPr kumimoji="0" lang="zh-CN" altLang="zh-CN" sz="1400" b="1" i="0" u="none" strike="noStrike" cap="none" normalizeH="0" baseline="0" dirty="0" smtClean="0">
                        <a:ln>
                          <a:noFill/>
                        </a:ln>
                        <a:solidFill>
                          <a:schemeClr val="bg1"/>
                        </a:solidFill>
                        <a:effectLst/>
                        <a:latin typeface="Times New Roman" pitchFamily="18" charset="0"/>
                        <a:ea typeface="黑体" pitchFamily="2" charset="-122"/>
                        <a:cs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6A6A6"/>
                    </a:solid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bg1"/>
                          </a:solidFill>
                          <a:effectLst/>
                          <a:latin typeface="Times New Roman" pitchFamily="18" charset="0"/>
                          <a:ea typeface="宋体" pitchFamily="2" charset="-122"/>
                          <a:cs typeface="Times New Roman" pitchFamily="18" charset="0"/>
                        </a:rPr>
                        <a:t> Unit</a:t>
                      </a:r>
                      <a:endParaRPr kumimoji="0" lang="zh-CN" altLang="zh-CN" sz="1400" b="1" i="0" u="none" strike="noStrike" cap="none" normalizeH="0" baseline="0" dirty="0" smtClean="0">
                        <a:ln>
                          <a:noFill/>
                        </a:ln>
                        <a:solidFill>
                          <a:schemeClr val="bg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6A6A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chemeClr val="bg1"/>
                          </a:solidFill>
                          <a:effectLst/>
                          <a:latin typeface="Times New Roman" pitchFamily="18" charset="0"/>
                          <a:ea typeface="宋体" pitchFamily="2" charset="-122"/>
                        </a:rPr>
                        <a:t>Value</a:t>
                      </a:r>
                      <a:endParaRPr kumimoji="0" lang="zh-CN" altLang="zh-CN" sz="1400" b="1" i="0" u="none" strike="noStrike" cap="none" normalizeH="0" baseline="0" dirty="0" smtClean="0">
                        <a:ln>
                          <a:noFill/>
                        </a:ln>
                        <a:solidFill>
                          <a:schemeClr val="bg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6A6A6"/>
                    </a:solidFill>
                  </a:tcPr>
                </a:tc>
              </a:tr>
              <a:tr h="337476">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1 </a:t>
                      </a:r>
                      <a:endParaRPr kumimoji="0" lang="zh-CN" altLang="zh-CN" sz="1400" b="1" i="0" u="none" strike="noStrike" cap="none" normalizeH="0" baseline="0" dirty="0" smtClean="0">
                        <a:ln>
                          <a:noFill/>
                        </a:ln>
                        <a:solidFill>
                          <a:schemeClr val="tx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rPr>
                        <a:t>Altitude of Orbit apogee (ha)</a:t>
                      </a:r>
                      <a:endParaRPr kumimoji="0" lang="zh-CN" altLang="zh-CN" sz="1400" b="1" i="0" u="none" strike="noStrike" cap="none" normalizeH="0" baseline="0" dirty="0" smtClean="0">
                        <a:ln>
                          <a:noFill/>
                        </a:ln>
                        <a:solidFill>
                          <a:schemeClr val="tx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km </a:t>
                      </a:r>
                      <a:endParaRPr kumimoji="0" lang="zh-CN" altLang="zh-CN" sz="1400" b="1" i="0" u="none" strike="noStrike" cap="none" normalizeH="0" baseline="0" dirty="0" smtClean="0">
                        <a:ln>
                          <a:noFill/>
                        </a:ln>
                        <a:solidFill>
                          <a:schemeClr val="tx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628 </a:t>
                      </a:r>
                      <a:endParaRPr kumimoji="0" lang="zh-CN" altLang="zh-CN" sz="1400" b="1" i="0" u="none" strike="noStrike" cap="none" normalizeH="0" baseline="0" dirty="0" smtClean="0">
                        <a:ln>
                          <a:noFill/>
                        </a:ln>
                        <a:solidFill>
                          <a:schemeClr val="tx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r>
              <a:tr h="337476">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2 </a:t>
                      </a:r>
                      <a:endParaRPr kumimoji="0" lang="zh-CN" altLang="zh-CN" sz="1400" b="1" i="0" u="none" strike="noStrike" cap="none" normalizeH="0" baseline="0" dirty="0" smtClean="0">
                        <a:ln>
                          <a:noFill/>
                        </a:ln>
                        <a:solidFill>
                          <a:schemeClr val="tx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rPr>
                        <a:t>Antenna Elevation Of Earth Station ( E )</a:t>
                      </a:r>
                      <a:endParaRPr kumimoji="0" lang="zh-CN" altLang="zh-CN" sz="1400" b="1" i="0" u="none" strike="noStrike" cap="none" normalizeH="0" baseline="0" dirty="0" smtClean="0">
                        <a:ln>
                          <a:noFill/>
                        </a:ln>
                        <a:solidFill>
                          <a:schemeClr val="tx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º </a:t>
                      </a:r>
                      <a:endParaRPr kumimoji="0" lang="zh-CN" altLang="zh-CN" sz="1400" b="1" i="0" u="none" strike="noStrike" cap="none" normalizeH="0" baseline="0" smtClean="0">
                        <a:ln>
                          <a:noFill/>
                        </a:ln>
                        <a:solidFill>
                          <a:schemeClr val="tx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5 </a:t>
                      </a:r>
                      <a:endParaRPr kumimoji="0" lang="zh-CN" altLang="zh-CN" sz="1400" b="1" i="0" u="none" strike="noStrike" cap="none" normalizeH="0" baseline="0" dirty="0" smtClean="0">
                        <a:ln>
                          <a:noFill/>
                        </a:ln>
                        <a:solidFill>
                          <a:schemeClr val="tx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r>
              <a:tr h="337476">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3 </a:t>
                      </a:r>
                      <a:endParaRPr kumimoji="0" lang="zh-CN" altLang="zh-CN" sz="1400" b="1" i="0" u="none" strike="noStrike" cap="none" normalizeH="0" baseline="0" dirty="0" smtClean="0">
                        <a:ln>
                          <a:noFill/>
                        </a:ln>
                        <a:solidFill>
                          <a:schemeClr val="tx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rPr>
                        <a:t>Maximum Distance Between Satellite And GS( R )</a:t>
                      </a: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a:t>
                      </a:r>
                      <a:endParaRPr kumimoji="0" lang="zh-CN" altLang="zh-CN" sz="1400" b="1" i="0" u="none" strike="noStrike" cap="none" normalizeH="0" baseline="0" dirty="0" smtClean="0">
                        <a:ln>
                          <a:noFill/>
                        </a:ln>
                        <a:solidFill>
                          <a:schemeClr val="tx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km </a:t>
                      </a:r>
                      <a:endParaRPr kumimoji="0" lang="zh-CN" altLang="zh-CN" sz="1400" b="1" i="0" u="none" strike="noStrike" cap="none" normalizeH="0" baseline="0" dirty="0" smtClean="0">
                        <a:ln>
                          <a:noFill/>
                        </a:ln>
                        <a:solidFill>
                          <a:schemeClr val="tx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2396 </a:t>
                      </a:r>
                      <a:endParaRPr kumimoji="0" lang="zh-CN" altLang="zh-CN" sz="1400" b="1" i="0" u="none" strike="noStrike" cap="none" normalizeH="0" baseline="0" dirty="0" smtClean="0">
                        <a:ln>
                          <a:noFill/>
                        </a:ln>
                        <a:solidFill>
                          <a:schemeClr val="tx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r>
            </a:tbl>
          </a:graphicData>
        </a:graphic>
      </p:graphicFrame>
      <p:sp>
        <p:nvSpPr>
          <p:cNvPr id="10"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17</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11"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3" name="矩形 12"/>
          <p:cNvSpPr/>
          <p:nvPr/>
        </p:nvSpPr>
        <p:spPr>
          <a:xfrm>
            <a:off x="307013" y="1785926"/>
            <a:ext cx="2264723" cy="553998"/>
          </a:xfrm>
          <a:prstGeom prst="rect">
            <a:avLst/>
          </a:prstGeom>
        </p:spPr>
        <p:txBody>
          <a:bodyPr wrap="none">
            <a:spAutoFit/>
          </a:bodyPr>
          <a:lstStyle/>
          <a:p>
            <a:pPr lvl="0" algn="just" fontAlgn="base">
              <a:lnSpc>
                <a:spcPct val="150000"/>
              </a:lnSpc>
              <a:spcBef>
                <a:spcPct val="0"/>
              </a:spcBef>
              <a:spcAft>
                <a:spcPts val="1200"/>
              </a:spcAft>
              <a:defRPr/>
            </a:pPr>
            <a:r>
              <a:rPr lang="en-US" altLang="zh-CN" sz="2000" b="1" dirty="0" smtClean="0"/>
              <a:t>1)  Basic calculation</a:t>
            </a:r>
          </a:p>
        </p:txBody>
      </p:sp>
      <p:sp>
        <p:nvSpPr>
          <p:cNvPr id="14" name="矩形 13"/>
          <p:cNvSpPr/>
          <p:nvPr/>
        </p:nvSpPr>
        <p:spPr>
          <a:xfrm>
            <a:off x="261938" y="261938"/>
            <a:ext cx="7168565" cy="584775"/>
          </a:xfrm>
          <a:prstGeom prst="rect">
            <a:avLst/>
          </a:prstGeom>
        </p:spPr>
        <p:txBody>
          <a:bodyPr wrap="none">
            <a:spAutoFit/>
          </a:bodyPr>
          <a:lstStyle/>
          <a:p>
            <a:pPr>
              <a:spcBef>
                <a:spcPct val="0"/>
              </a:spcBef>
              <a:defRPr/>
            </a:pPr>
            <a:r>
              <a:rPr lang="en-US" altLang="zh-CN" sz="3200" b="1" kern="1700" dirty="0" smtClean="0">
                <a:solidFill>
                  <a:schemeClr val="bg1"/>
                </a:solidFill>
                <a:latin typeface="微软雅黑" pitchFamily="34" charset="-122"/>
                <a:ea typeface="微软雅黑" pitchFamily="34" charset="-122"/>
                <a:cs typeface="+mj-cs"/>
              </a:rPr>
              <a:t>2  Technical Specification Analysis</a:t>
            </a:r>
            <a:endParaRPr lang="zh-CN" altLang="en-US" sz="3200" b="1" kern="1700" dirty="0">
              <a:solidFill>
                <a:schemeClr val="bg1"/>
              </a:solidFill>
              <a:latin typeface="微软雅黑" pitchFamily="34" charset="-122"/>
              <a:ea typeface="微软雅黑" pitchFamily="34" charset="-122"/>
              <a:cs typeface="+mj-cs"/>
            </a:endParaRPr>
          </a:p>
        </p:txBody>
      </p:sp>
      <p:pic>
        <p:nvPicPr>
          <p:cNvPr id="16387" name="Picture 3"/>
          <p:cNvPicPr>
            <a:picLocks noChangeAspect="1" noChangeArrowheads="1"/>
          </p:cNvPicPr>
          <p:nvPr/>
        </p:nvPicPr>
        <p:blipFill>
          <a:blip r:embed="rId3"/>
          <a:srcRect/>
          <a:stretch>
            <a:fillRect/>
          </a:stretch>
        </p:blipFill>
        <p:spPr bwMode="auto">
          <a:xfrm>
            <a:off x="301895" y="2786058"/>
            <a:ext cx="2698469" cy="3143272"/>
          </a:xfrm>
          <a:prstGeom prst="rect">
            <a:avLst/>
          </a:prstGeom>
          <a:noFill/>
          <a:ln w="9525">
            <a:noFill/>
            <a:miter lim="800000"/>
            <a:headEnd/>
            <a:tailEnd/>
          </a:ln>
          <a:effectLst/>
        </p:spPr>
      </p:pic>
      <p:graphicFrame>
        <p:nvGraphicFramePr>
          <p:cNvPr id="16389" name="对象 4"/>
          <p:cNvGraphicFramePr>
            <a:graphicFrameLocks noChangeAspect="1"/>
          </p:cNvGraphicFramePr>
          <p:nvPr/>
        </p:nvGraphicFramePr>
        <p:xfrm>
          <a:off x="5000628" y="3643314"/>
          <a:ext cx="1989137" cy="608012"/>
        </p:xfrm>
        <a:graphic>
          <a:graphicData uri="http://schemas.openxmlformats.org/presentationml/2006/ole">
            <p:oleObj spid="_x0000_s16394" name="Equation" r:id="rId4" imgW="1371600" imgH="419100" progId="Equation.3">
              <p:embed/>
            </p:oleObj>
          </a:graphicData>
        </a:graphic>
      </p:graphicFrame>
      <p:sp>
        <p:nvSpPr>
          <p:cNvPr id="19" name="文本框 14"/>
          <p:cNvSpPr txBox="1">
            <a:spLocks noChangeArrowheads="1"/>
          </p:cNvSpPr>
          <p:nvPr/>
        </p:nvSpPr>
        <p:spPr bwMode="auto">
          <a:xfrm>
            <a:off x="3357554" y="3714752"/>
            <a:ext cx="1357322" cy="369332"/>
          </a:xfrm>
          <a:prstGeom prst="rect">
            <a:avLst/>
          </a:prstGeom>
          <a:noFill/>
          <a:ln w="9525">
            <a:noFill/>
            <a:miter lim="800000"/>
            <a:headEnd/>
            <a:tailEnd/>
          </a:ln>
        </p:spPr>
        <p:txBody>
          <a:bodyPr wrap="square">
            <a:spAutoFit/>
          </a:bodyPr>
          <a:lstStyle/>
          <a:p>
            <a:r>
              <a:rPr lang="en-US" altLang="zh-CN" b="0" dirty="0">
                <a:solidFill>
                  <a:schemeClr val="tx1"/>
                </a:solidFill>
                <a:latin typeface="Times New Roman" pitchFamily="18" charset="0"/>
                <a:cs typeface="Times New Roman" pitchFamily="18" charset="0"/>
              </a:rPr>
              <a:t>Law of </a:t>
            </a:r>
            <a:r>
              <a:rPr lang="en-US" altLang="zh-CN" b="0" dirty="0" smtClean="0">
                <a:solidFill>
                  <a:schemeClr val="tx1"/>
                </a:solidFill>
                <a:latin typeface="Times New Roman" pitchFamily="18" charset="0"/>
                <a:cs typeface="Times New Roman" pitchFamily="18" charset="0"/>
              </a:rPr>
              <a:t>sin:</a:t>
            </a:r>
            <a:endParaRPr lang="zh-CN" altLang="en-US" b="0" dirty="0">
              <a:solidFill>
                <a:schemeClr val="tx1"/>
              </a:solidFill>
              <a:latin typeface="Times New Roman" pitchFamily="18" charset="0"/>
              <a:cs typeface="Times New Roman" pitchFamily="18" charset="0"/>
            </a:endParaRPr>
          </a:p>
        </p:txBody>
      </p:sp>
      <p:graphicFrame>
        <p:nvGraphicFramePr>
          <p:cNvPr id="16390" name="对象 6"/>
          <p:cNvGraphicFramePr>
            <a:graphicFrameLocks noChangeAspect="1"/>
          </p:cNvGraphicFramePr>
          <p:nvPr/>
        </p:nvGraphicFramePr>
        <p:xfrm>
          <a:off x="3428992" y="4500570"/>
          <a:ext cx="2844812" cy="571492"/>
        </p:xfrm>
        <a:graphic>
          <a:graphicData uri="http://schemas.openxmlformats.org/presentationml/2006/ole">
            <p:oleObj spid="_x0000_s16395" name="Equation" r:id="rId5" imgW="1675673" imgH="393529" progId="Equation.3">
              <p:embed/>
            </p:oleObj>
          </a:graphicData>
        </a:graphic>
      </p:graphicFrame>
      <p:graphicFrame>
        <p:nvGraphicFramePr>
          <p:cNvPr id="16391" name="对象 9"/>
          <p:cNvGraphicFramePr>
            <a:graphicFrameLocks noChangeAspect="1"/>
          </p:cNvGraphicFramePr>
          <p:nvPr/>
        </p:nvGraphicFramePr>
        <p:xfrm>
          <a:off x="6561138" y="4643446"/>
          <a:ext cx="1738312" cy="327017"/>
        </p:xfrm>
        <a:graphic>
          <a:graphicData uri="http://schemas.openxmlformats.org/presentationml/2006/ole">
            <p:oleObj spid="_x0000_s16396" name="Equation" r:id="rId6" imgW="977476" imgH="203112" progId="Equation.3">
              <p:embed/>
            </p:oleObj>
          </a:graphicData>
        </a:graphic>
      </p:graphicFrame>
      <p:graphicFrame>
        <p:nvGraphicFramePr>
          <p:cNvPr id="16392" name="对象 11"/>
          <p:cNvGraphicFramePr>
            <a:graphicFrameLocks noChangeAspect="1"/>
          </p:cNvGraphicFramePr>
          <p:nvPr/>
        </p:nvGraphicFramePr>
        <p:xfrm>
          <a:off x="3428992" y="5437205"/>
          <a:ext cx="1819275" cy="563563"/>
        </p:xfrm>
        <a:graphic>
          <a:graphicData uri="http://schemas.openxmlformats.org/presentationml/2006/ole">
            <p:oleObj spid="_x0000_s16397" name="Equation" r:id="rId7" imgW="1346200" imgH="419100" progId="Equation.3">
              <p:embed/>
            </p:oleObj>
          </a:graphicData>
        </a:graphic>
      </p:graphicFrame>
      <p:graphicFrame>
        <p:nvGraphicFramePr>
          <p:cNvPr id="16393" name="对象 13"/>
          <p:cNvGraphicFramePr>
            <a:graphicFrameLocks noChangeAspect="1"/>
          </p:cNvGraphicFramePr>
          <p:nvPr/>
        </p:nvGraphicFramePr>
        <p:xfrm>
          <a:off x="5857884" y="5429264"/>
          <a:ext cx="2205038" cy="595313"/>
        </p:xfrm>
        <a:graphic>
          <a:graphicData uri="http://schemas.openxmlformats.org/presentationml/2006/ole">
            <p:oleObj spid="_x0000_s16398" name="Equation" r:id="rId8" imgW="1549400" imgH="419100" progId="Equation.3">
              <p:embed/>
            </p:oleObj>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2"/>
          <p:cNvSpPr txBox="1">
            <a:spLocks/>
          </p:cNvSpPr>
          <p:nvPr/>
        </p:nvSpPr>
        <p:spPr bwMode="auto">
          <a:xfrm>
            <a:off x="50800" y="233363"/>
            <a:ext cx="8229600" cy="1143000"/>
          </a:xfrm>
          <a:prstGeom prst="rect">
            <a:avLst/>
          </a:prstGeom>
          <a:noFill/>
          <a:ln w="9525">
            <a:noFill/>
            <a:miter lim="800000"/>
            <a:headEnd/>
            <a:tailEnd/>
          </a:ln>
        </p:spPr>
        <p:txBody>
          <a:bodyPr/>
          <a:lstStyle/>
          <a:p>
            <a:pPr eaLnBrk="0" hangingPunct="0"/>
            <a:endParaRPr lang="zh-CN" altLang="en-US" sz="4400">
              <a:solidFill>
                <a:schemeClr val="tx2"/>
              </a:solidFill>
            </a:endParaRPr>
          </a:p>
        </p:txBody>
      </p:sp>
      <p:sp>
        <p:nvSpPr>
          <p:cNvPr id="64516"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4517"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4518" name="Rectangle 4"/>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4519" name="TextBox 5"/>
          <p:cNvSpPr txBox="1">
            <a:spLocks noChangeArrowheads="1"/>
          </p:cNvSpPr>
          <p:nvPr/>
        </p:nvSpPr>
        <p:spPr bwMode="auto">
          <a:xfrm>
            <a:off x="215900" y="1255701"/>
            <a:ext cx="5688013" cy="530225"/>
          </a:xfrm>
          <a:prstGeom prst="rect">
            <a:avLst/>
          </a:prstGeom>
          <a:noFill/>
          <a:ln w="9525">
            <a:noFill/>
            <a:miter lim="800000"/>
            <a:headEnd/>
            <a:tailEnd/>
          </a:ln>
        </p:spPr>
        <p:txBody>
          <a:bodyPr lIns="82954" tIns="41477" rIns="82954" bIns="41477">
            <a:spAutoFit/>
          </a:bodyPr>
          <a:lstStyle/>
          <a:p>
            <a:pPr marL="457200" indent="-457200" algn="l">
              <a:spcAft>
                <a:spcPts val="1200"/>
              </a:spcAft>
              <a:buFont typeface="Wingdings" pitchFamily="2" charset="2"/>
              <a:buChar char="p"/>
            </a:pPr>
            <a:r>
              <a:rPr lang="en-US" altLang="zh-CN" sz="2800" b="1" dirty="0" smtClean="0">
                <a:solidFill>
                  <a:srgbClr val="0070C0"/>
                </a:solidFill>
              </a:rPr>
              <a:t> </a:t>
            </a:r>
            <a:r>
              <a:rPr lang="en-US" altLang="zh-CN" sz="2800" b="1" dirty="0">
                <a:solidFill>
                  <a:srgbClr val="0070C0"/>
                </a:solidFill>
              </a:rPr>
              <a:t>TT&amp;C Link Calculation</a:t>
            </a:r>
          </a:p>
        </p:txBody>
      </p:sp>
      <p:sp>
        <p:nvSpPr>
          <p:cNvPr id="64520" name="Rectangle 2"/>
          <p:cNvSpPr>
            <a:spLocks noChangeArrowheads="1"/>
          </p:cNvSpPr>
          <p:nvPr/>
        </p:nvSpPr>
        <p:spPr bwMode="gray">
          <a:xfrm>
            <a:off x="0" y="0"/>
            <a:ext cx="9144000" cy="457200"/>
          </a:xfrm>
          <a:prstGeom prst="rect">
            <a:avLst/>
          </a:prstGeom>
          <a:noFill/>
          <a:ln w="9525" algn="ctr">
            <a:noFill/>
            <a:miter lim="800000"/>
            <a:headEnd/>
            <a:tailEnd/>
          </a:ln>
        </p:spPr>
        <p:txBody>
          <a:bodyPr wrap="none" anchor="ctr">
            <a:spAutoFit/>
          </a:bodyPr>
          <a:lstStyle/>
          <a:p>
            <a:endParaRPr lang="zh-CN" altLang="en-US"/>
          </a:p>
        </p:txBody>
      </p:sp>
      <p:graphicFrame>
        <p:nvGraphicFramePr>
          <p:cNvPr id="18" name="表格 17"/>
          <p:cNvGraphicFramePr>
            <a:graphicFrameLocks noGrp="1"/>
          </p:cNvGraphicFramePr>
          <p:nvPr/>
        </p:nvGraphicFramePr>
        <p:xfrm>
          <a:off x="714348" y="1600200"/>
          <a:ext cx="7547521" cy="4798695"/>
        </p:xfrm>
        <a:graphic>
          <a:graphicData uri="http://schemas.openxmlformats.org/drawingml/2006/table">
            <a:tbl>
              <a:tblPr/>
              <a:tblGrid>
                <a:gridCol w="444815"/>
                <a:gridCol w="5276296"/>
                <a:gridCol w="879383"/>
                <a:gridCol w="947027"/>
              </a:tblGrid>
              <a:tr h="240690">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bg1"/>
                          </a:solidFill>
                          <a:effectLst/>
                          <a:latin typeface="Times New Roman" pitchFamily="18" charset="0"/>
                          <a:ea typeface="宋体" pitchFamily="2" charset="-122"/>
                          <a:cs typeface="Times New Roman" pitchFamily="18" charset="0"/>
                        </a:rPr>
                        <a:t>No. </a:t>
                      </a:r>
                      <a:endParaRPr kumimoji="0" lang="zh-CN" altLang="zh-CN" sz="1400" b="1" i="0" u="none" strike="noStrike" cap="none" normalizeH="0" baseline="0" dirty="0" smtClean="0">
                        <a:ln>
                          <a:noFill/>
                        </a:ln>
                        <a:solidFill>
                          <a:schemeClr val="bg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6A6A6"/>
                    </a:solid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bg1"/>
                          </a:solidFill>
                          <a:effectLst/>
                          <a:latin typeface="Times New Roman" pitchFamily="18" charset="0"/>
                          <a:ea typeface="黑体" pitchFamily="2" charset="-122"/>
                          <a:cs typeface="宋体" pitchFamily="2" charset="-122"/>
                        </a:rPr>
                        <a:t>Uplink</a:t>
                      </a:r>
                      <a:endParaRPr kumimoji="0" lang="zh-CN" altLang="zh-CN" sz="1400" b="1" i="0" u="none" strike="noStrike" cap="none" normalizeH="0" baseline="0" dirty="0" smtClean="0">
                        <a:ln>
                          <a:noFill/>
                        </a:ln>
                        <a:solidFill>
                          <a:schemeClr val="bg1"/>
                        </a:solidFill>
                        <a:effectLst/>
                        <a:latin typeface="Times New Roman" pitchFamily="18" charset="0"/>
                        <a:ea typeface="黑体" pitchFamily="2" charset="-122"/>
                        <a:cs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6A6A6"/>
                    </a:solid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bg1"/>
                          </a:solidFill>
                          <a:effectLst/>
                          <a:latin typeface="Times New Roman" pitchFamily="18" charset="0"/>
                          <a:ea typeface="宋体" pitchFamily="2" charset="-122"/>
                          <a:cs typeface="Times New Roman" pitchFamily="18" charset="0"/>
                        </a:rPr>
                        <a:t> Unit</a:t>
                      </a:r>
                      <a:endParaRPr kumimoji="0" lang="zh-CN" altLang="zh-CN" sz="1400" b="1" i="0" u="none" strike="noStrike" cap="none" normalizeH="0" baseline="0" dirty="0" smtClean="0">
                        <a:ln>
                          <a:noFill/>
                        </a:ln>
                        <a:solidFill>
                          <a:schemeClr val="bg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6A6A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chemeClr val="bg1"/>
                          </a:solidFill>
                          <a:effectLst/>
                          <a:latin typeface="Times New Roman" pitchFamily="18" charset="0"/>
                          <a:ea typeface="宋体" pitchFamily="2" charset="-122"/>
                        </a:rPr>
                        <a:t>Value</a:t>
                      </a:r>
                      <a:endParaRPr kumimoji="0" lang="zh-CN" altLang="zh-CN" sz="1400" b="1" i="0" u="none" strike="noStrike" cap="none" normalizeH="0" baseline="0" dirty="0" smtClean="0">
                        <a:ln>
                          <a:noFill/>
                        </a:ln>
                        <a:solidFill>
                          <a:schemeClr val="bg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6A6A6"/>
                    </a:solidFill>
                  </a:tcPr>
                </a:tc>
              </a:tr>
              <a:tr h="252804">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1 </a:t>
                      </a:r>
                      <a:endParaRPr kumimoji="0" lang="zh-CN" altLang="zh-CN" sz="1400" b="1" i="0" u="none" strike="noStrike" cap="none" normalizeH="0" baseline="0" dirty="0" smtClean="0">
                        <a:ln>
                          <a:noFill/>
                        </a:ln>
                        <a:solidFill>
                          <a:schemeClr val="tx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rPr>
                        <a:t>EIRP Of Earth Station ( </a:t>
                      </a:r>
                      <a:r>
                        <a:rPr kumimoji="0" lang="en-US" altLang="zh-CN" sz="1400" b="1" i="0" u="none" strike="noStrike" cap="none" normalizeH="0" baseline="0" dirty="0" err="1" smtClean="0">
                          <a:ln>
                            <a:noFill/>
                          </a:ln>
                          <a:solidFill>
                            <a:schemeClr val="tx1"/>
                          </a:solidFill>
                          <a:effectLst/>
                          <a:latin typeface="Times New Roman" pitchFamily="18" charset="0"/>
                          <a:ea typeface="宋体" pitchFamily="2" charset="-122"/>
                        </a:rPr>
                        <a:t>EIRPg</a:t>
                      </a: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rPr>
                        <a:t> )</a:t>
                      </a: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a:t>
                      </a: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76200" marR="0" lvl="0" indent="0" algn="ctr" defTabSz="914400" rtl="0" eaLnBrk="1" fontAlgn="base" latinLnBrk="0" hangingPunct="1">
                        <a:lnSpc>
                          <a:spcPct val="115000"/>
                        </a:lnSpc>
                        <a:spcBef>
                          <a:spcPct val="0"/>
                        </a:spcBef>
                        <a:spcAft>
                          <a:spcPts val="0"/>
                        </a:spcAft>
                        <a:buClrTx/>
                        <a:buSzTx/>
                        <a:buFontTx/>
                        <a:buNone/>
                        <a:tabLst/>
                        <a:defRPr/>
                      </a:pPr>
                      <a:r>
                        <a:rPr lang="en-US" altLang="zh-CN" sz="1600" b="1" kern="100" dirty="0" err="1" smtClean="0">
                          <a:solidFill>
                            <a:schemeClr val="tx1"/>
                          </a:solidFill>
                          <a:latin typeface="Times New Roman" pitchFamily="18" charset="0"/>
                          <a:ea typeface="+mn-ea"/>
                          <a:cs typeface="Times New Roman" pitchFamily="18" charset="0"/>
                        </a:rPr>
                        <a:t>dBW</a:t>
                      </a:r>
                      <a:r>
                        <a:rPr lang="en-US" altLang="zh-CN" sz="1600" b="1" kern="100" dirty="0" smtClean="0">
                          <a:solidFill>
                            <a:schemeClr val="tx1"/>
                          </a:solidFill>
                          <a:latin typeface="Times New Roman" pitchFamily="18" charset="0"/>
                          <a:ea typeface="+mn-ea"/>
                          <a:cs typeface="Times New Roman" pitchFamily="18" charset="0"/>
                        </a:rPr>
                        <a:t> </a:t>
                      </a:r>
                      <a:endParaRPr lang="zh-CN" altLang="zh-CN" sz="1600" b="1" kern="100" dirty="0" smtClean="0">
                        <a:solidFill>
                          <a:schemeClr val="tx1"/>
                        </a:solidFill>
                        <a:latin typeface="Times New Roman" pitchFamily="18" charset="0"/>
                        <a:ea typeface="+mn-ea"/>
                        <a:cs typeface="Times New Roman" pitchFamily="18" charset="0"/>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76200" marR="0" lvl="0" indent="0" algn="ctr" defTabSz="914400" rtl="0" eaLnBrk="1" fontAlgn="base" latinLnBrk="0" hangingPunct="1">
                        <a:lnSpc>
                          <a:spcPct val="115000"/>
                        </a:lnSpc>
                        <a:spcBef>
                          <a:spcPct val="0"/>
                        </a:spcBef>
                        <a:spcAft>
                          <a:spcPts val="0"/>
                        </a:spcAft>
                        <a:buClrTx/>
                        <a:buSzTx/>
                        <a:buFontTx/>
                        <a:buNone/>
                        <a:tabLst/>
                        <a:defRPr/>
                      </a:pPr>
                      <a:r>
                        <a:rPr lang="en-US" altLang="zh-CN" sz="1600" b="1" kern="100" dirty="0" smtClean="0">
                          <a:solidFill>
                            <a:schemeClr val="tx1"/>
                          </a:solidFill>
                          <a:latin typeface="Times New Roman" pitchFamily="18" charset="0"/>
                          <a:ea typeface="+mn-ea"/>
                          <a:cs typeface="Times New Roman" pitchFamily="18" charset="0"/>
                        </a:rPr>
                        <a:t>47.95 </a:t>
                      </a:r>
                      <a:endParaRPr lang="zh-CN" altLang="zh-CN" sz="1600" b="1" kern="100" dirty="0" smtClean="0">
                        <a:solidFill>
                          <a:schemeClr val="tx1"/>
                        </a:solidFill>
                        <a:latin typeface="Times New Roman" pitchFamily="18" charset="0"/>
                        <a:ea typeface="+mn-ea"/>
                        <a:cs typeface="Times New Roman" pitchFamily="18" charset="0"/>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r>
              <a:tr h="248522">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2 </a:t>
                      </a:r>
                      <a:endParaRPr kumimoji="0" lang="zh-CN" altLang="zh-CN" sz="1400" b="1" i="0" u="none" strike="noStrike" cap="none" normalizeH="0" baseline="0" dirty="0" smtClean="0">
                        <a:ln>
                          <a:noFill/>
                        </a:ln>
                        <a:solidFill>
                          <a:schemeClr val="tx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76200" indent="-76200" algn="l">
                        <a:spcAft>
                          <a:spcPts val="0"/>
                        </a:spcAft>
                      </a:pPr>
                      <a:r>
                        <a:rPr lang="en-US" sz="1600" b="1" kern="100" dirty="0">
                          <a:latin typeface="Times New Roman" pitchFamily="18" charset="0"/>
                          <a:cs typeface="Times New Roman" pitchFamily="18" charset="0"/>
                        </a:rPr>
                        <a:t>Carrier frequency(</a:t>
                      </a:r>
                      <a:r>
                        <a:rPr lang="en-US" sz="1600" b="1" kern="100" dirty="0" err="1">
                          <a:latin typeface="Times New Roman" pitchFamily="18" charset="0"/>
                          <a:cs typeface="Times New Roman" pitchFamily="18" charset="0"/>
                        </a:rPr>
                        <a:t>Fup</a:t>
                      </a:r>
                      <a:r>
                        <a:rPr lang="en-US" sz="1600" b="1" kern="100" dirty="0">
                          <a:latin typeface="Times New Roman" pitchFamily="18" charset="0"/>
                          <a:cs typeface="Times New Roman" pitchFamily="18" charset="0"/>
                        </a:rPr>
                        <a:t>)</a:t>
                      </a:r>
                      <a:endParaRPr lang="zh-CN" sz="1600" b="1" kern="100" dirty="0">
                        <a:latin typeface="Times New Roman" pitchFamily="18" charset="0"/>
                        <a:ea typeface="宋体"/>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76200" marR="0" lvl="0" indent="0" algn="ctr" defTabSz="914400" rtl="0" eaLnBrk="1" fontAlgn="base" latinLnBrk="0" hangingPunct="1">
                        <a:lnSpc>
                          <a:spcPct val="115000"/>
                        </a:lnSpc>
                        <a:spcBef>
                          <a:spcPct val="0"/>
                        </a:spcBef>
                        <a:spcAft>
                          <a:spcPts val="0"/>
                        </a:spcAft>
                        <a:buClrTx/>
                        <a:buSzTx/>
                        <a:buFontTx/>
                        <a:buNone/>
                        <a:tabLst/>
                        <a:defRPr/>
                      </a:pPr>
                      <a:r>
                        <a:rPr lang="en-US" altLang="zh-CN" sz="1600" b="1" kern="100" dirty="0">
                          <a:solidFill>
                            <a:schemeClr val="tx1"/>
                          </a:solidFill>
                          <a:latin typeface="Times New Roman" pitchFamily="18" charset="0"/>
                          <a:ea typeface="+mn-ea"/>
                          <a:cs typeface="Times New Roman" pitchFamily="18" charset="0"/>
                        </a:rPr>
                        <a:t>MHz</a:t>
                      </a:r>
                      <a:endParaRPr lang="zh-CN" altLang="zh-CN" sz="1600" b="1" kern="100" dirty="0">
                        <a:solidFill>
                          <a:schemeClr val="tx1"/>
                        </a:solidFill>
                        <a:latin typeface="Times New Roman" pitchFamily="18" charset="0"/>
                        <a:ea typeface="+mn-ea"/>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76200" marR="0" lvl="0" indent="0" algn="ctr" defTabSz="914400" rtl="0" eaLnBrk="1" fontAlgn="base" latinLnBrk="0" hangingPunct="1">
                        <a:lnSpc>
                          <a:spcPct val="115000"/>
                        </a:lnSpc>
                        <a:spcBef>
                          <a:spcPct val="0"/>
                        </a:spcBef>
                        <a:spcAft>
                          <a:spcPts val="0"/>
                        </a:spcAft>
                        <a:buClrTx/>
                        <a:buSzTx/>
                        <a:buFontTx/>
                        <a:buNone/>
                        <a:tabLst/>
                        <a:defRPr/>
                      </a:pPr>
                      <a:r>
                        <a:rPr lang="en-US" altLang="zh-CN" sz="1600" b="1" kern="100" dirty="0" smtClean="0">
                          <a:solidFill>
                            <a:schemeClr val="tx1"/>
                          </a:solidFill>
                          <a:latin typeface="Times New Roman" pitchFamily="18" charset="0"/>
                          <a:ea typeface="+mn-ea"/>
                          <a:cs typeface="Times New Roman" pitchFamily="18" charset="0"/>
                        </a:rPr>
                        <a:t>2080</a:t>
                      </a:r>
                      <a:endParaRPr lang="zh-CN" altLang="zh-CN" sz="1600" b="1" kern="100" dirty="0">
                        <a:solidFill>
                          <a:schemeClr val="tx1"/>
                        </a:solidFill>
                        <a:latin typeface="Times New Roman" pitchFamily="18" charset="0"/>
                        <a:ea typeface="+mn-ea"/>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r>
              <a:tr h="252804">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3 </a:t>
                      </a:r>
                      <a:endParaRPr kumimoji="0" lang="zh-CN" altLang="zh-CN" sz="1400" b="1" i="0" u="none" strike="noStrike" cap="none" normalizeH="0" baseline="0" dirty="0" smtClean="0">
                        <a:ln>
                          <a:noFill/>
                        </a:ln>
                        <a:solidFill>
                          <a:schemeClr val="tx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76200" indent="-76200" algn="l">
                        <a:spcAft>
                          <a:spcPts val="0"/>
                        </a:spcAft>
                      </a:pPr>
                      <a:r>
                        <a:rPr lang="en-US" sz="1600" b="1" kern="100" dirty="0">
                          <a:latin typeface="Times New Roman" pitchFamily="18" charset="0"/>
                          <a:cs typeface="Times New Roman" pitchFamily="18" charset="0"/>
                        </a:rPr>
                        <a:t>Free space loss(</a:t>
                      </a:r>
                      <a:r>
                        <a:rPr lang="en-US" sz="1600" b="1" kern="100" dirty="0" err="1">
                          <a:latin typeface="Times New Roman" pitchFamily="18" charset="0"/>
                          <a:cs typeface="Times New Roman" pitchFamily="18" charset="0"/>
                        </a:rPr>
                        <a:t>Lspu</a:t>
                      </a:r>
                      <a:r>
                        <a:rPr lang="en-US" sz="1600" b="1" kern="100" dirty="0">
                          <a:latin typeface="Times New Roman" pitchFamily="18" charset="0"/>
                          <a:cs typeface="Times New Roman" pitchFamily="18" charset="0"/>
                        </a:rPr>
                        <a:t>)</a:t>
                      </a:r>
                      <a:endParaRPr lang="zh-CN" sz="1600" b="1" kern="100" dirty="0">
                        <a:latin typeface="Times New Roman" pitchFamily="18" charset="0"/>
                        <a:ea typeface="宋体"/>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76200" marR="0" lvl="0" indent="0" algn="ctr" defTabSz="914400" rtl="0" eaLnBrk="1" fontAlgn="base" latinLnBrk="0" hangingPunct="1">
                        <a:lnSpc>
                          <a:spcPct val="115000"/>
                        </a:lnSpc>
                        <a:spcBef>
                          <a:spcPct val="0"/>
                        </a:spcBef>
                        <a:spcAft>
                          <a:spcPts val="0"/>
                        </a:spcAft>
                        <a:buClrTx/>
                        <a:buSzTx/>
                        <a:buFontTx/>
                        <a:buNone/>
                        <a:tabLst/>
                        <a:defRPr/>
                      </a:pPr>
                      <a:r>
                        <a:rPr lang="en-US" altLang="zh-CN" sz="1600" b="1" kern="100" dirty="0">
                          <a:solidFill>
                            <a:schemeClr val="tx1"/>
                          </a:solidFill>
                          <a:latin typeface="Times New Roman" pitchFamily="18" charset="0"/>
                          <a:ea typeface="+mn-ea"/>
                          <a:cs typeface="Times New Roman" pitchFamily="18" charset="0"/>
                        </a:rPr>
                        <a:t>dB</a:t>
                      </a:r>
                      <a:endParaRPr lang="zh-CN" altLang="zh-CN" sz="1600" b="1" kern="100" dirty="0">
                        <a:solidFill>
                          <a:schemeClr val="tx1"/>
                        </a:solidFill>
                        <a:latin typeface="Times New Roman" pitchFamily="18" charset="0"/>
                        <a:ea typeface="+mn-ea"/>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76200" marR="0" lvl="0" indent="0" algn="ctr" defTabSz="914400" rtl="0" eaLnBrk="1" fontAlgn="base" latinLnBrk="0" hangingPunct="1">
                        <a:lnSpc>
                          <a:spcPct val="115000"/>
                        </a:lnSpc>
                        <a:spcBef>
                          <a:spcPct val="0"/>
                        </a:spcBef>
                        <a:spcAft>
                          <a:spcPts val="0"/>
                        </a:spcAft>
                        <a:buClrTx/>
                        <a:buSzTx/>
                        <a:buFontTx/>
                        <a:buNone/>
                        <a:tabLst/>
                        <a:defRPr/>
                      </a:pPr>
                      <a:r>
                        <a:rPr lang="en-US" altLang="zh-CN" sz="1600" b="1" kern="100" dirty="0" smtClean="0">
                          <a:solidFill>
                            <a:schemeClr val="tx1"/>
                          </a:solidFill>
                          <a:latin typeface="Times New Roman" pitchFamily="18" charset="0"/>
                          <a:ea typeface="+mn-ea"/>
                          <a:cs typeface="Times New Roman" pitchFamily="18" charset="0"/>
                        </a:rPr>
                        <a:t>-166.39</a:t>
                      </a:r>
                      <a:endParaRPr lang="zh-CN" altLang="zh-CN" sz="1600" b="1" kern="100" dirty="0" smtClean="0">
                        <a:solidFill>
                          <a:schemeClr val="tx1"/>
                        </a:solidFill>
                        <a:latin typeface="Times New Roman" pitchFamily="18" charset="0"/>
                        <a:ea typeface="+mn-ea"/>
                        <a:cs typeface="Times New Roman" pitchFamily="18" charset="0"/>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r>
              <a:tr h="131990">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4 </a:t>
                      </a:r>
                      <a:endParaRPr kumimoji="0" lang="zh-CN" altLang="zh-CN" sz="1400" b="1" i="0" u="none" strike="noStrike" cap="none" normalizeH="0" baseline="0" dirty="0" smtClean="0">
                        <a:ln>
                          <a:noFill/>
                        </a:ln>
                        <a:solidFill>
                          <a:schemeClr val="tx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algn="l">
                        <a:spcAft>
                          <a:spcPts val="0"/>
                        </a:spcAft>
                      </a:pPr>
                      <a:r>
                        <a:rPr lang="en-US" sz="1600" b="1" kern="100" dirty="0">
                          <a:latin typeface="Times New Roman" pitchFamily="18" charset="0"/>
                          <a:cs typeface="Times New Roman" pitchFamily="18" charset="0"/>
                        </a:rPr>
                        <a:t>Other loss</a:t>
                      </a:r>
                      <a:endParaRPr lang="zh-CN" sz="1600" b="1" kern="100" dirty="0">
                        <a:latin typeface="Times New Roman" pitchFamily="18" charset="0"/>
                        <a:ea typeface="宋体"/>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76200" marR="0" lvl="0" indent="0" algn="ctr" defTabSz="914400" rtl="0" eaLnBrk="1" fontAlgn="base" latinLnBrk="0" hangingPunct="1">
                        <a:lnSpc>
                          <a:spcPct val="115000"/>
                        </a:lnSpc>
                        <a:spcBef>
                          <a:spcPct val="0"/>
                        </a:spcBef>
                        <a:spcAft>
                          <a:spcPts val="0"/>
                        </a:spcAft>
                        <a:buClrTx/>
                        <a:buSzTx/>
                        <a:buFontTx/>
                        <a:buNone/>
                        <a:tabLst/>
                        <a:defRPr/>
                      </a:pPr>
                      <a:r>
                        <a:rPr lang="en-US" altLang="zh-CN" sz="1600" b="1" kern="100" dirty="0">
                          <a:solidFill>
                            <a:schemeClr val="tx1"/>
                          </a:solidFill>
                          <a:latin typeface="Times New Roman" pitchFamily="18" charset="0"/>
                          <a:ea typeface="+mn-ea"/>
                          <a:cs typeface="Times New Roman" pitchFamily="18" charset="0"/>
                        </a:rPr>
                        <a:t>dB</a:t>
                      </a:r>
                      <a:endParaRPr lang="zh-CN" altLang="zh-CN" sz="1600" b="1" kern="100" dirty="0">
                        <a:solidFill>
                          <a:schemeClr val="tx1"/>
                        </a:solidFill>
                        <a:latin typeface="Times New Roman" pitchFamily="18" charset="0"/>
                        <a:ea typeface="+mn-ea"/>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76200" marR="0" lvl="0" indent="0" algn="ctr" defTabSz="914400" rtl="0" eaLnBrk="1" fontAlgn="base" latinLnBrk="0" hangingPunct="1">
                        <a:lnSpc>
                          <a:spcPct val="115000"/>
                        </a:lnSpc>
                        <a:spcBef>
                          <a:spcPct val="0"/>
                        </a:spcBef>
                        <a:spcAft>
                          <a:spcPts val="0"/>
                        </a:spcAft>
                        <a:buClrTx/>
                        <a:buSzTx/>
                        <a:buFontTx/>
                        <a:buNone/>
                        <a:tabLst/>
                        <a:defRPr/>
                      </a:pPr>
                      <a:r>
                        <a:rPr lang="en-US" altLang="zh-CN" sz="1600" b="1" kern="100" dirty="0" smtClean="0">
                          <a:solidFill>
                            <a:schemeClr val="tx1"/>
                          </a:solidFill>
                          <a:latin typeface="Times New Roman" pitchFamily="18" charset="0"/>
                          <a:ea typeface="+mn-ea"/>
                          <a:cs typeface="Times New Roman" pitchFamily="18" charset="0"/>
                        </a:rPr>
                        <a:t>-2.3</a:t>
                      </a:r>
                      <a:endParaRPr lang="zh-CN" altLang="zh-CN" sz="1600" b="1" kern="100" dirty="0" smtClean="0">
                        <a:solidFill>
                          <a:schemeClr val="tx1"/>
                        </a:solidFill>
                        <a:latin typeface="Times New Roman" pitchFamily="18" charset="0"/>
                        <a:ea typeface="+mn-ea"/>
                        <a:cs typeface="Times New Roman" pitchFamily="18" charset="0"/>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r>
              <a:tr h="252804">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5 </a:t>
                      </a:r>
                      <a:endParaRPr kumimoji="0" lang="zh-CN" altLang="zh-CN" sz="1400" b="1" i="0" u="none" strike="noStrike" cap="none" normalizeH="0" baseline="0" dirty="0" smtClean="0">
                        <a:ln>
                          <a:noFill/>
                        </a:ln>
                        <a:solidFill>
                          <a:schemeClr val="tx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marR="0" indent="-76200" algn="l" defTabSz="914400" rtl="0" eaLnBrk="1" fontAlgn="auto" latinLnBrk="0" hangingPunct="1">
                        <a:lnSpc>
                          <a:spcPct val="100000"/>
                        </a:lnSpc>
                        <a:spcBef>
                          <a:spcPts val="0"/>
                        </a:spcBef>
                        <a:spcAft>
                          <a:spcPts val="0"/>
                        </a:spcAft>
                        <a:buClrTx/>
                        <a:buSzTx/>
                        <a:buFontTx/>
                        <a:buNone/>
                        <a:tabLst/>
                        <a:defRPr/>
                      </a:pPr>
                      <a:r>
                        <a:rPr lang="en-US" sz="1600" b="1" kern="100" dirty="0" smtClean="0">
                          <a:latin typeface="Times New Roman" pitchFamily="18" charset="0"/>
                          <a:cs typeface="Times New Roman" pitchFamily="18" charset="0"/>
                        </a:rPr>
                        <a:t>Edge gain of receiving antenna(</a:t>
                      </a:r>
                      <a:r>
                        <a:rPr lang="en-US" sz="1600" b="1" kern="100" dirty="0" err="1" smtClean="0">
                          <a:latin typeface="Times New Roman" pitchFamily="18" charset="0"/>
                          <a:cs typeface="Times New Roman" pitchFamily="18" charset="0"/>
                        </a:rPr>
                        <a:t>Grs</a:t>
                      </a:r>
                      <a:r>
                        <a:rPr lang="en-US" sz="1600" b="1" kern="100" dirty="0" smtClean="0">
                          <a:latin typeface="Times New Roman" pitchFamily="18" charset="0"/>
                          <a:cs typeface="Times New Roman" pitchFamily="18" charset="0"/>
                        </a:rPr>
                        <a:t>)s</a:t>
                      </a:r>
                      <a:endParaRPr lang="zh-CN" sz="1600" b="1" kern="100" dirty="0">
                        <a:latin typeface="Times New Roman" pitchFamily="18" charset="0"/>
                        <a:ea typeface="宋体"/>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marR="0" lvl="0" indent="0" algn="ctr" defTabSz="914400" rtl="0" eaLnBrk="1" fontAlgn="base" latinLnBrk="0" hangingPunct="1">
                        <a:lnSpc>
                          <a:spcPct val="115000"/>
                        </a:lnSpc>
                        <a:spcBef>
                          <a:spcPct val="0"/>
                        </a:spcBef>
                        <a:spcAft>
                          <a:spcPts val="0"/>
                        </a:spcAft>
                        <a:buClrTx/>
                        <a:buSzTx/>
                        <a:buFontTx/>
                        <a:buNone/>
                        <a:tabLst/>
                        <a:defRPr/>
                      </a:pPr>
                      <a:r>
                        <a:rPr lang="en-US" altLang="zh-CN" sz="1600" b="1" kern="100" dirty="0" err="1">
                          <a:solidFill>
                            <a:schemeClr val="tx1"/>
                          </a:solidFill>
                          <a:latin typeface="Times New Roman" pitchFamily="18" charset="0"/>
                          <a:ea typeface="+mn-ea"/>
                          <a:cs typeface="Times New Roman" pitchFamily="18" charset="0"/>
                        </a:rPr>
                        <a:t>dBi</a:t>
                      </a:r>
                      <a:endParaRPr lang="zh-CN" altLang="zh-CN" sz="1600" b="1" kern="100" dirty="0">
                        <a:solidFill>
                          <a:schemeClr val="tx1"/>
                        </a:solidFill>
                        <a:latin typeface="Times New Roman" pitchFamily="18" charset="0"/>
                        <a:ea typeface="+mn-ea"/>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marR="0" lvl="0" indent="0" algn="ctr" defTabSz="914400" rtl="0" eaLnBrk="1" fontAlgn="base" latinLnBrk="0" hangingPunct="1">
                        <a:lnSpc>
                          <a:spcPct val="115000"/>
                        </a:lnSpc>
                        <a:spcBef>
                          <a:spcPct val="0"/>
                        </a:spcBef>
                        <a:spcAft>
                          <a:spcPts val="0"/>
                        </a:spcAft>
                        <a:buClrTx/>
                        <a:buSzTx/>
                        <a:buFontTx/>
                        <a:buNone/>
                        <a:tabLst/>
                        <a:defRPr/>
                      </a:pPr>
                      <a:r>
                        <a:rPr lang="en-US" altLang="zh-CN" sz="1600" b="1" kern="100" dirty="0" smtClean="0">
                          <a:solidFill>
                            <a:schemeClr val="tx1"/>
                          </a:solidFill>
                          <a:latin typeface="Times New Roman" pitchFamily="18" charset="0"/>
                          <a:ea typeface="+mn-ea"/>
                          <a:cs typeface="Times New Roman" pitchFamily="18" charset="0"/>
                        </a:rPr>
                        <a:t>-10</a:t>
                      </a:r>
                      <a:endParaRPr lang="zh-CN" altLang="zh-CN" sz="1600" b="1" kern="100" dirty="0" smtClean="0">
                        <a:solidFill>
                          <a:schemeClr val="tx1"/>
                        </a:solidFill>
                        <a:latin typeface="Times New Roman" pitchFamily="18" charset="0"/>
                        <a:ea typeface="+mn-ea"/>
                        <a:cs typeface="Times New Roman" pitchFamily="18" charset="0"/>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5854">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6 </a:t>
                      </a:r>
                      <a:endParaRPr kumimoji="0" lang="zh-CN" altLang="zh-CN" sz="1400" b="1" i="0" u="none" strike="noStrike" cap="none" normalizeH="0" baseline="0" dirty="0" smtClean="0">
                        <a:ln>
                          <a:noFill/>
                        </a:ln>
                        <a:solidFill>
                          <a:schemeClr val="tx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indent="-76200" algn="l">
                        <a:spcAft>
                          <a:spcPts val="0"/>
                        </a:spcAft>
                      </a:pPr>
                      <a:r>
                        <a:rPr lang="en-US" sz="1600" b="1" kern="100" dirty="0">
                          <a:latin typeface="Times New Roman" pitchFamily="18" charset="0"/>
                          <a:cs typeface="Times New Roman" pitchFamily="18" charset="0"/>
                        </a:rPr>
                        <a:t>Receiver input power(P)</a:t>
                      </a:r>
                      <a:endParaRPr lang="zh-CN" sz="1600" b="1" kern="100" dirty="0">
                        <a:latin typeface="Times New Roman" pitchFamily="18" charset="0"/>
                        <a:ea typeface="宋体"/>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marR="0" lvl="0" indent="0" algn="ctr" defTabSz="914400" rtl="0" eaLnBrk="1" fontAlgn="base" latinLnBrk="0" hangingPunct="1">
                        <a:lnSpc>
                          <a:spcPct val="115000"/>
                        </a:lnSpc>
                        <a:spcBef>
                          <a:spcPct val="0"/>
                        </a:spcBef>
                        <a:spcAft>
                          <a:spcPts val="0"/>
                        </a:spcAft>
                        <a:buClrTx/>
                        <a:buSzTx/>
                        <a:buFontTx/>
                        <a:buNone/>
                        <a:tabLst/>
                        <a:defRPr/>
                      </a:pPr>
                      <a:r>
                        <a:rPr lang="en-US" altLang="zh-CN" sz="1600" b="1" kern="100" dirty="0" err="1">
                          <a:solidFill>
                            <a:schemeClr val="tx1"/>
                          </a:solidFill>
                          <a:latin typeface="Times New Roman" pitchFamily="18" charset="0"/>
                          <a:ea typeface="+mn-ea"/>
                          <a:cs typeface="Times New Roman" pitchFamily="18" charset="0"/>
                        </a:rPr>
                        <a:t>dBW</a:t>
                      </a:r>
                      <a:endParaRPr lang="zh-CN" altLang="zh-CN" sz="1600" b="1" kern="100" dirty="0">
                        <a:solidFill>
                          <a:schemeClr val="tx1"/>
                        </a:solidFill>
                        <a:latin typeface="Times New Roman" pitchFamily="18" charset="0"/>
                        <a:ea typeface="+mn-ea"/>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marR="0" lvl="0" indent="0" algn="ctr" defTabSz="914400" rtl="0" eaLnBrk="1" fontAlgn="base" latinLnBrk="0" hangingPunct="1">
                        <a:lnSpc>
                          <a:spcPct val="115000"/>
                        </a:lnSpc>
                        <a:spcBef>
                          <a:spcPct val="0"/>
                        </a:spcBef>
                        <a:spcAft>
                          <a:spcPts val="0"/>
                        </a:spcAft>
                        <a:buClrTx/>
                        <a:buSzTx/>
                        <a:buFontTx/>
                        <a:buNone/>
                        <a:tabLst/>
                        <a:defRPr/>
                      </a:pPr>
                      <a:r>
                        <a:rPr lang="en-US" altLang="zh-CN" sz="1600" b="1" kern="100" dirty="0" smtClean="0">
                          <a:solidFill>
                            <a:schemeClr val="tx1"/>
                          </a:solidFill>
                          <a:latin typeface="Times New Roman" pitchFamily="18" charset="0"/>
                          <a:ea typeface="+mn-ea"/>
                          <a:cs typeface="Times New Roman" pitchFamily="18" charset="0"/>
                        </a:rPr>
                        <a:t>-126.74</a:t>
                      </a:r>
                      <a:endParaRPr lang="zh-CN" altLang="zh-CN" sz="1600" b="1" kern="100" dirty="0" smtClean="0">
                        <a:solidFill>
                          <a:schemeClr val="tx1"/>
                        </a:solidFill>
                        <a:latin typeface="Times New Roman" pitchFamily="18" charset="0"/>
                        <a:ea typeface="+mn-ea"/>
                        <a:cs typeface="Times New Roman" pitchFamily="18" charset="0"/>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2804">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7 </a:t>
                      </a:r>
                      <a:endParaRPr kumimoji="0" lang="zh-CN" altLang="zh-CN" sz="1400" b="1" i="0" u="none" strike="noStrike" cap="none" normalizeH="0" baseline="0" dirty="0" smtClean="0">
                        <a:ln>
                          <a:noFill/>
                        </a:ln>
                        <a:solidFill>
                          <a:schemeClr val="tx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indent="-76200" algn="l">
                        <a:spcAft>
                          <a:spcPts val="0"/>
                        </a:spcAft>
                      </a:pPr>
                      <a:r>
                        <a:rPr lang="en-US" sz="1600" b="1" kern="100" dirty="0" smtClean="0">
                          <a:solidFill>
                            <a:schemeClr val="tx1"/>
                          </a:solidFill>
                          <a:latin typeface="Times New Roman" pitchFamily="18" charset="0"/>
                          <a:ea typeface="+mn-ea"/>
                          <a:cs typeface="Times New Roman" pitchFamily="18" charset="0"/>
                        </a:rPr>
                        <a:t>Gain/noise temperature ratio of receiving system</a:t>
                      </a:r>
                      <a:r>
                        <a:rPr lang="zh-CN" altLang="en-US" sz="1600" b="1" kern="100" dirty="0" smtClean="0">
                          <a:solidFill>
                            <a:schemeClr val="tx1"/>
                          </a:solidFill>
                          <a:latin typeface="Times New Roman" pitchFamily="18" charset="0"/>
                          <a:ea typeface="+mn-ea"/>
                          <a:cs typeface="Times New Roman" pitchFamily="18" charset="0"/>
                        </a:rPr>
                        <a:t>（</a:t>
                      </a:r>
                      <a:r>
                        <a:rPr lang="en-US" altLang="zh-CN" sz="1600" b="1" kern="100" dirty="0" smtClean="0">
                          <a:solidFill>
                            <a:schemeClr val="tx1"/>
                          </a:solidFill>
                          <a:latin typeface="Times New Roman" pitchFamily="18" charset="0"/>
                          <a:ea typeface="+mn-ea"/>
                          <a:cs typeface="Times New Roman" pitchFamily="18" charset="0"/>
                        </a:rPr>
                        <a:t>G/T</a:t>
                      </a:r>
                      <a:r>
                        <a:rPr lang="zh-CN" altLang="en-US" sz="1600" b="1" kern="100" dirty="0" smtClean="0">
                          <a:solidFill>
                            <a:schemeClr val="tx1"/>
                          </a:solidFill>
                          <a:latin typeface="Times New Roman" pitchFamily="18" charset="0"/>
                          <a:ea typeface="+mn-ea"/>
                          <a:cs typeface="Times New Roman" pitchFamily="18" charset="0"/>
                        </a:rPr>
                        <a:t>）</a:t>
                      </a:r>
                      <a:r>
                        <a:rPr lang="en-US" altLang="zh-CN" sz="1600" b="1" kern="100" dirty="0" smtClean="0">
                          <a:solidFill>
                            <a:schemeClr val="tx1"/>
                          </a:solidFill>
                          <a:latin typeface="Times New Roman" pitchFamily="18" charset="0"/>
                          <a:ea typeface="+mn-ea"/>
                          <a:cs typeface="Times New Roman" pitchFamily="18" charset="0"/>
                        </a:rPr>
                        <a:t>s</a:t>
                      </a:r>
                      <a:endParaRPr lang="zh-CN" sz="1600" b="1" kern="100" dirty="0">
                        <a:solidFill>
                          <a:schemeClr val="tx1"/>
                        </a:solidFill>
                        <a:latin typeface="Times New Roman" pitchFamily="18" charset="0"/>
                        <a:ea typeface="+mn-ea"/>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marR="0" lvl="0" indent="0" algn="ctr" defTabSz="914400" rtl="0" eaLnBrk="1" fontAlgn="base" latinLnBrk="0" hangingPunct="1">
                        <a:lnSpc>
                          <a:spcPct val="115000"/>
                        </a:lnSpc>
                        <a:spcBef>
                          <a:spcPct val="0"/>
                        </a:spcBef>
                        <a:spcAft>
                          <a:spcPts val="0"/>
                        </a:spcAft>
                        <a:buClrTx/>
                        <a:buSzTx/>
                        <a:buFontTx/>
                        <a:buNone/>
                        <a:tabLst/>
                        <a:defRPr/>
                      </a:pPr>
                      <a:r>
                        <a:rPr lang="en-US" altLang="zh-CN" sz="1600" b="1" kern="100" dirty="0">
                          <a:solidFill>
                            <a:schemeClr val="tx1"/>
                          </a:solidFill>
                          <a:latin typeface="Times New Roman" pitchFamily="18" charset="0"/>
                          <a:ea typeface="+mn-ea"/>
                          <a:cs typeface="Times New Roman" pitchFamily="18" charset="0"/>
                        </a:rPr>
                        <a:t>dB/K</a:t>
                      </a:r>
                      <a:endParaRPr lang="zh-CN" altLang="zh-CN" sz="1600" b="1" kern="100" dirty="0">
                        <a:solidFill>
                          <a:schemeClr val="tx1"/>
                        </a:solidFill>
                        <a:latin typeface="Times New Roman" pitchFamily="18" charset="0"/>
                        <a:ea typeface="+mn-ea"/>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marR="0" lvl="0" indent="0" algn="ctr" defTabSz="914400" rtl="0" eaLnBrk="1" fontAlgn="base" latinLnBrk="0" hangingPunct="1">
                        <a:lnSpc>
                          <a:spcPct val="115000"/>
                        </a:lnSpc>
                        <a:spcBef>
                          <a:spcPct val="0"/>
                        </a:spcBef>
                        <a:spcAft>
                          <a:spcPts val="0"/>
                        </a:spcAft>
                        <a:buClrTx/>
                        <a:buSzTx/>
                        <a:buFontTx/>
                        <a:buNone/>
                        <a:tabLst/>
                        <a:defRPr/>
                      </a:pPr>
                      <a:r>
                        <a:rPr lang="en-US" altLang="zh-CN" sz="1600" b="1" kern="100" dirty="0" smtClean="0">
                          <a:solidFill>
                            <a:schemeClr val="tx1"/>
                          </a:solidFill>
                          <a:latin typeface="Times New Roman" pitchFamily="18" charset="0"/>
                          <a:ea typeface="+mn-ea"/>
                          <a:cs typeface="Times New Roman" pitchFamily="18" charset="0"/>
                        </a:rPr>
                        <a:t>-38.33</a:t>
                      </a:r>
                      <a:endParaRPr lang="zh-CN" altLang="zh-CN" sz="1600" b="1" kern="100" dirty="0" smtClean="0">
                        <a:solidFill>
                          <a:schemeClr val="tx1"/>
                        </a:solidFill>
                        <a:latin typeface="Times New Roman" pitchFamily="18" charset="0"/>
                        <a:ea typeface="+mn-ea"/>
                        <a:cs typeface="Times New Roman" pitchFamily="18" charset="0"/>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2804">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8 </a:t>
                      </a:r>
                      <a:endParaRPr kumimoji="0" lang="zh-CN" altLang="zh-CN" sz="1400" b="1" i="0" u="none" strike="noStrike" cap="none" normalizeH="0" baseline="0" dirty="0" smtClean="0">
                        <a:ln>
                          <a:noFill/>
                        </a:ln>
                        <a:solidFill>
                          <a:schemeClr val="tx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marR="0" indent="-76200" algn="l" defTabSz="914400" rtl="0" eaLnBrk="1" fontAlgn="auto" latinLnBrk="0" hangingPunct="1">
                        <a:lnSpc>
                          <a:spcPct val="100000"/>
                        </a:lnSpc>
                        <a:spcBef>
                          <a:spcPts val="0"/>
                        </a:spcBef>
                        <a:spcAft>
                          <a:spcPts val="0"/>
                        </a:spcAft>
                        <a:buClrTx/>
                        <a:buSzTx/>
                        <a:buFontTx/>
                        <a:buNone/>
                        <a:tabLst/>
                        <a:defRPr/>
                      </a:pPr>
                      <a:r>
                        <a:rPr lang="en-US" sz="1600" b="1" kern="100" dirty="0" smtClean="0">
                          <a:solidFill>
                            <a:schemeClr val="tx1"/>
                          </a:solidFill>
                          <a:latin typeface="Times New Roman" pitchFamily="18" charset="0"/>
                          <a:ea typeface="+mn-ea"/>
                          <a:cs typeface="Times New Roman" pitchFamily="18" charset="0"/>
                        </a:rPr>
                        <a:t>Signal to noise spectrum density ratio(S/No)s</a:t>
                      </a:r>
                      <a:endParaRPr lang="zh-CN" sz="1600" b="1" kern="100" dirty="0">
                        <a:solidFill>
                          <a:schemeClr val="tx1"/>
                        </a:solidFill>
                        <a:latin typeface="Times New Roman" pitchFamily="18" charset="0"/>
                        <a:ea typeface="+mn-ea"/>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marR="0" lvl="0" indent="0" algn="ctr" defTabSz="914400" rtl="0" eaLnBrk="1" fontAlgn="base" latinLnBrk="0" hangingPunct="1">
                        <a:lnSpc>
                          <a:spcPct val="115000"/>
                        </a:lnSpc>
                        <a:spcBef>
                          <a:spcPct val="0"/>
                        </a:spcBef>
                        <a:spcAft>
                          <a:spcPts val="0"/>
                        </a:spcAft>
                        <a:buClrTx/>
                        <a:buSzTx/>
                        <a:buFontTx/>
                        <a:buNone/>
                        <a:tabLst/>
                        <a:defRPr/>
                      </a:pPr>
                      <a:r>
                        <a:rPr lang="en-US" altLang="zh-CN" sz="1600" b="1" kern="100" dirty="0" err="1">
                          <a:solidFill>
                            <a:schemeClr val="tx1"/>
                          </a:solidFill>
                          <a:latin typeface="Times New Roman" pitchFamily="18" charset="0"/>
                          <a:ea typeface="+mn-ea"/>
                          <a:cs typeface="Times New Roman" pitchFamily="18" charset="0"/>
                        </a:rPr>
                        <a:t>dBHz</a:t>
                      </a:r>
                      <a:endParaRPr lang="zh-CN" altLang="zh-CN" sz="1600" b="1" kern="100" dirty="0">
                        <a:solidFill>
                          <a:schemeClr val="tx1"/>
                        </a:solidFill>
                        <a:latin typeface="Times New Roman" pitchFamily="18" charset="0"/>
                        <a:ea typeface="+mn-ea"/>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marR="0" lvl="0" indent="0" algn="ctr" defTabSz="914400" rtl="0" eaLnBrk="1" fontAlgn="base" latinLnBrk="0" hangingPunct="1">
                        <a:lnSpc>
                          <a:spcPct val="115000"/>
                        </a:lnSpc>
                        <a:spcBef>
                          <a:spcPct val="0"/>
                        </a:spcBef>
                        <a:spcAft>
                          <a:spcPts val="0"/>
                        </a:spcAft>
                        <a:buClrTx/>
                        <a:buSzTx/>
                        <a:buFontTx/>
                        <a:buNone/>
                        <a:tabLst/>
                        <a:defRPr/>
                      </a:pPr>
                      <a:r>
                        <a:rPr lang="en-US" altLang="zh-CN" sz="1600" b="1" kern="100" dirty="0" smtClean="0">
                          <a:solidFill>
                            <a:schemeClr val="tx1"/>
                          </a:solidFill>
                          <a:latin typeface="Times New Roman" pitchFamily="18" charset="0"/>
                          <a:ea typeface="+mn-ea"/>
                          <a:cs typeface="Times New Roman" pitchFamily="18" charset="0"/>
                        </a:rPr>
                        <a:t>69.53</a:t>
                      </a:r>
                      <a:endParaRPr lang="zh-CN" altLang="zh-CN" sz="1600" b="1" kern="100" dirty="0" smtClean="0">
                        <a:solidFill>
                          <a:schemeClr val="tx1"/>
                        </a:solidFill>
                        <a:latin typeface="Times New Roman" pitchFamily="18" charset="0"/>
                        <a:ea typeface="+mn-ea"/>
                        <a:cs typeface="Times New Roman" pitchFamily="18" charset="0"/>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48522">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rPr>
                        <a:t>9</a:t>
                      </a:r>
                      <a:endParaRPr kumimoji="0" lang="zh-CN" altLang="zh-CN" sz="1400" b="1" i="0" u="none" strike="noStrike" cap="none" normalizeH="0" baseline="0" dirty="0" smtClean="0">
                        <a:ln>
                          <a:noFill/>
                        </a:ln>
                        <a:solidFill>
                          <a:schemeClr val="tx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indent="-76200" algn="l">
                        <a:spcAft>
                          <a:spcPts val="0"/>
                        </a:spcAft>
                      </a:pPr>
                      <a:r>
                        <a:rPr lang="en-US" sz="1600" b="1" kern="100" dirty="0" smtClean="0">
                          <a:latin typeface="Times New Roman" pitchFamily="18" charset="0"/>
                          <a:cs typeface="Times New Roman" pitchFamily="18" charset="0"/>
                        </a:rPr>
                        <a:t>Acquisition threshold of </a:t>
                      </a:r>
                      <a:r>
                        <a:rPr kumimoji="0" lang="en-US" altLang="zh-CN" sz="1600" b="1" i="0" u="none" strike="noStrike" cap="none" normalizeH="0" baseline="0" dirty="0" smtClean="0">
                          <a:ln>
                            <a:noFill/>
                          </a:ln>
                          <a:solidFill>
                            <a:schemeClr val="tx1"/>
                          </a:solidFill>
                          <a:effectLst/>
                          <a:latin typeface="Times New Roman" pitchFamily="18" charset="0"/>
                          <a:ea typeface="宋体" pitchFamily="2" charset="-122"/>
                        </a:rPr>
                        <a:t>Earth Station </a:t>
                      </a:r>
                      <a:endParaRPr lang="zh-CN" sz="1600" b="1" kern="100" dirty="0">
                        <a:solidFill>
                          <a:schemeClr val="tx1"/>
                        </a:solidFill>
                        <a:latin typeface="Times New Roman" pitchFamily="18" charset="0"/>
                        <a:ea typeface="宋体"/>
                        <a:cs typeface="Times New Roman" pitchFamily="18" charset="0"/>
                      </a:endParaRPr>
                    </a:p>
                  </a:txBody>
                  <a:tcPr marL="67768" marR="67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marR="0" lvl="0" indent="0" algn="ctr" defTabSz="914400" rtl="0" eaLnBrk="1" fontAlgn="base" latinLnBrk="0" hangingPunct="1">
                        <a:lnSpc>
                          <a:spcPct val="115000"/>
                        </a:lnSpc>
                        <a:spcBef>
                          <a:spcPct val="0"/>
                        </a:spcBef>
                        <a:spcAft>
                          <a:spcPts val="0"/>
                        </a:spcAft>
                        <a:buClrTx/>
                        <a:buSzTx/>
                        <a:buFontTx/>
                        <a:buNone/>
                        <a:tabLst/>
                        <a:defRPr/>
                      </a:pPr>
                      <a:r>
                        <a:rPr lang="en-US" altLang="zh-CN" sz="1600" b="1" kern="100" dirty="0" err="1" smtClean="0">
                          <a:solidFill>
                            <a:schemeClr val="tx1"/>
                          </a:solidFill>
                          <a:latin typeface="Times New Roman" pitchFamily="18" charset="0"/>
                          <a:ea typeface="+mn-ea"/>
                          <a:cs typeface="Times New Roman" pitchFamily="18" charset="0"/>
                        </a:rPr>
                        <a:t>dBHz</a:t>
                      </a:r>
                      <a:endParaRPr lang="zh-CN" altLang="en-US" sz="1600" b="1" kern="100" dirty="0" smtClean="0">
                        <a:solidFill>
                          <a:schemeClr val="tx1"/>
                        </a:solidFill>
                        <a:latin typeface="Times New Roman" pitchFamily="18" charset="0"/>
                        <a:ea typeface="+mn-ea"/>
                        <a:cs typeface="Times New Roman" pitchFamily="18" charset="0"/>
                      </a:endParaRPr>
                    </a:p>
                  </a:txBody>
                  <a:tcPr marL="67768" marR="67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marR="0" lvl="0" indent="0" algn="ctr" defTabSz="914400" rtl="0" eaLnBrk="1" fontAlgn="base" latinLnBrk="0" hangingPunct="1">
                        <a:lnSpc>
                          <a:spcPct val="115000"/>
                        </a:lnSpc>
                        <a:spcBef>
                          <a:spcPct val="0"/>
                        </a:spcBef>
                        <a:spcAft>
                          <a:spcPts val="0"/>
                        </a:spcAft>
                        <a:buClrTx/>
                        <a:buSzTx/>
                        <a:buFontTx/>
                        <a:buNone/>
                        <a:tabLst/>
                        <a:defRPr/>
                      </a:pPr>
                      <a:r>
                        <a:rPr lang="en-US" altLang="zh-CN" sz="1600" b="1" kern="100" dirty="0" smtClean="0">
                          <a:solidFill>
                            <a:schemeClr val="tx1"/>
                          </a:solidFill>
                          <a:latin typeface="Times New Roman" pitchFamily="18" charset="0"/>
                          <a:ea typeface="+mn-ea"/>
                          <a:cs typeface="Times New Roman" pitchFamily="18" charset="0"/>
                        </a:rPr>
                        <a:t>44</a:t>
                      </a:r>
                      <a:endParaRPr lang="zh-CN" altLang="zh-CN" sz="1600" b="1" kern="100" dirty="0">
                        <a:solidFill>
                          <a:schemeClr val="tx1"/>
                        </a:solidFill>
                        <a:latin typeface="Times New Roman" pitchFamily="18" charset="0"/>
                        <a:ea typeface="+mn-ea"/>
                        <a:cs typeface="Times New Roman" pitchFamily="18" charset="0"/>
                      </a:endParaRPr>
                    </a:p>
                  </a:txBody>
                  <a:tcPr marL="67768" marR="67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2804">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rPr>
                        <a:t>10</a:t>
                      </a:r>
                      <a:endParaRPr kumimoji="0" lang="zh-CN" altLang="zh-CN" sz="1400" b="1" i="0" u="none" strike="noStrike" cap="none" normalizeH="0" baseline="0" dirty="0" smtClean="0">
                        <a:ln>
                          <a:noFill/>
                        </a:ln>
                        <a:solidFill>
                          <a:schemeClr val="tx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indent="-76200" algn="l">
                        <a:spcAft>
                          <a:spcPts val="0"/>
                        </a:spcAft>
                      </a:pPr>
                      <a:r>
                        <a:rPr lang="en-US" sz="1600" b="1" kern="100" dirty="0">
                          <a:solidFill>
                            <a:schemeClr val="tx1"/>
                          </a:solidFill>
                          <a:latin typeface="Times New Roman" pitchFamily="18" charset="0"/>
                          <a:ea typeface="+mn-ea"/>
                          <a:cs typeface="Times New Roman" pitchFamily="18" charset="0"/>
                        </a:rPr>
                        <a:t>Acquisition margin (Mats)</a:t>
                      </a:r>
                      <a:endParaRPr lang="zh-CN" sz="1600" b="1" kern="100" dirty="0">
                        <a:solidFill>
                          <a:schemeClr val="tx1"/>
                        </a:solidFill>
                        <a:latin typeface="Times New Roman" pitchFamily="18" charset="0"/>
                        <a:ea typeface="+mn-ea"/>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marR="0" lvl="0" indent="0" algn="ctr" defTabSz="914400" rtl="0" eaLnBrk="1" fontAlgn="base" latinLnBrk="0" hangingPunct="1">
                        <a:lnSpc>
                          <a:spcPct val="115000"/>
                        </a:lnSpc>
                        <a:spcBef>
                          <a:spcPct val="0"/>
                        </a:spcBef>
                        <a:spcAft>
                          <a:spcPts val="0"/>
                        </a:spcAft>
                        <a:buClrTx/>
                        <a:buSzTx/>
                        <a:buFontTx/>
                        <a:buNone/>
                        <a:tabLst/>
                        <a:defRPr/>
                      </a:pPr>
                      <a:r>
                        <a:rPr lang="en-US" altLang="zh-CN" sz="1600" b="1" kern="100" dirty="0">
                          <a:solidFill>
                            <a:schemeClr val="tx1"/>
                          </a:solidFill>
                          <a:latin typeface="Times New Roman" pitchFamily="18" charset="0"/>
                          <a:ea typeface="+mn-ea"/>
                          <a:cs typeface="Times New Roman" pitchFamily="18" charset="0"/>
                        </a:rPr>
                        <a:t>dB</a:t>
                      </a:r>
                      <a:endParaRPr lang="zh-CN" altLang="zh-CN" sz="1600" b="1" kern="100" dirty="0">
                        <a:solidFill>
                          <a:schemeClr val="tx1"/>
                        </a:solidFill>
                        <a:latin typeface="Times New Roman" pitchFamily="18" charset="0"/>
                        <a:ea typeface="+mn-ea"/>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marR="0" lvl="0" indent="0" algn="ctr" defTabSz="914400" rtl="0" eaLnBrk="1" fontAlgn="base" latinLnBrk="0" hangingPunct="1">
                        <a:lnSpc>
                          <a:spcPct val="115000"/>
                        </a:lnSpc>
                        <a:spcBef>
                          <a:spcPct val="0"/>
                        </a:spcBef>
                        <a:spcAft>
                          <a:spcPts val="0"/>
                        </a:spcAft>
                        <a:buClrTx/>
                        <a:buSzTx/>
                        <a:buFontTx/>
                        <a:buNone/>
                        <a:tabLst/>
                        <a:defRPr/>
                      </a:pPr>
                      <a:r>
                        <a:rPr lang="en-US" altLang="zh-CN" sz="1600" b="1" kern="100" dirty="0" smtClean="0">
                          <a:solidFill>
                            <a:schemeClr val="tx1"/>
                          </a:solidFill>
                          <a:latin typeface="Times New Roman" pitchFamily="18" charset="0"/>
                          <a:ea typeface="+mn-ea"/>
                          <a:cs typeface="Times New Roman" pitchFamily="18" charset="0"/>
                        </a:rPr>
                        <a:t>25.53</a:t>
                      </a:r>
                      <a:endParaRPr lang="zh-CN" altLang="zh-CN" sz="1600" b="1" kern="100" dirty="0" smtClean="0">
                        <a:solidFill>
                          <a:schemeClr val="tx1"/>
                        </a:solidFill>
                        <a:latin typeface="Times New Roman" pitchFamily="18" charset="0"/>
                        <a:ea typeface="+mn-ea"/>
                        <a:cs typeface="Times New Roman" pitchFamily="18" charset="0"/>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2804">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rPr>
                        <a:t>11</a:t>
                      </a:r>
                      <a:endParaRPr kumimoji="0" lang="zh-CN" altLang="zh-CN" sz="1400" b="1" i="0" u="none" strike="noStrike" cap="none" normalizeH="0" baseline="0" dirty="0" smtClean="0">
                        <a:ln>
                          <a:noFill/>
                        </a:ln>
                        <a:solidFill>
                          <a:schemeClr val="tx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r>
                        <a:rPr lang="en-US" sz="1600" b="1" kern="100" dirty="0" err="1" smtClean="0">
                          <a:solidFill>
                            <a:schemeClr val="tx1"/>
                          </a:solidFill>
                          <a:latin typeface="Times New Roman" pitchFamily="18" charset="0"/>
                          <a:ea typeface="+mn-ea"/>
                          <a:cs typeface="Times New Roman" pitchFamily="18" charset="0"/>
                        </a:rPr>
                        <a:t>Telecomand</a:t>
                      </a:r>
                      <a:r>
                        <a:rPr lang="en-US" sz="1600" b="1" kern="100" dirty="0" smtClean="0">
                          <a:solidFill>
                            <a:schemeClr val="tx1"/>
                          </a:solidFill>
                          <a:latin typeface="Times New Roman" pitchFamily="18" charset="0"/>
                          <a:ea typeface="+mn-ea"/>
                          <a:cs typeface="Times New Roman" pitchFamily="18" charset="0"/>
                        </a:rPr>
                        <a:t> </a:t>
                      </a:r>
                      <a:r>
                        <a:rPr lang="en-US" altLang="zh-CN" sz="1600" b="1" kern="100" dirty="0" smtClean="0">
                          <a:solidFill>
                            <a:schemeClr val="tx1"/>
                          </a:solidFill>
                          <a:latin typeface="Times New Roman" pitchFamily="18" charset="0"/>
                          <a:ea typeface="+mn-ea"/>
                          <a:cs typeface="Times New Roman" pitchFamily="18" charset="0"/>
                        </a:rPr>
                        <a:t>Modulated Loss(</a:t>
                      </a:r>
                      <a:r>
                        <a:rPr lang="en-US" altLang="zh-CN" sz="1600" b="1" kern="100" dirty="0" err="1" smtClean="0">
                          <a:solidFill>
                            <a:schemeClr val="tx1"/>
                          </a:solidFill>
                          <a:latin typeface="Times New Roman" pitchFamily="18" charset="0"/>
                          <a:ea typeface="+mn-ea"/>
                          <a:cs typeface="Times New Roman" pitchFamily="18" charset="0"/>
                        </a:rPr>
                        <a:t>Ltc</a:t>
                      </a:r>
                      <a:r>
                        <a:rPr lang="en-US" altLang="zh-CN" sz="1600" b="1" kern="100" dirty="0" smtClean="0">
                          <a:solidFill>
                            <a:schemeClr val="tx1"/>
                          </a:solidFill>
                          <a:latin typeface="Times New Roman" pitchFamily="18" charset="0"/>
                          <a:ea typeface="+mn-ea"/>
                          <a:cs typeface="Times New Roman" pitchFamily="18" charset="0"/>
                        </a:rPr>
                        <a:t>)</a:t>
                      </a:r>
                      <a:endParaRPr lang="zh-CN" altLang="en-US" sz="1600" b="1" kern="100" dirty="0" smtClean="0">
                        <a:solidFill>
                          <a:schemeClr val="tx1"/>
                        </a:solidFill>
                        <a:latin typeface="Times New Roman" pitchFamily="18" charset="0"/>
                        <a:ea typeface="+mn-ea"/>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marR="0" lvl="0" indent="0" algn="ctr" defTabSz="914400" rtl="0" eaLnBrk="1" fontAlgn="base" latinLnBrk="0" hangingPunct="1">
                        <a:lnSpc>
                          <a:spcPct val="115000"/>
                        </a:lnSpc>
                        <a:spcBef>
                          <a:spcPct val="0"/>
                        </a:spcBef>
                        <a:spcAft>
                          <a:spcPts val="0"/>
                        </a:spcAft>
                        <a:buClrTx/>
                        <a:buSzTx/>
                        <a:buFontTx/>
                        <a:buNone/>
                        <a:tabLst/>
                        <a:defRPr/>
                      </a:pPr>
                      <a:r>
                        <a:rPr lang="en-US" altLang="zh-CN" sz="1600" b="1" kern="100" dirty="0" smtClean="0">
                          <a:solidFill>
                            <a:schemeClr val="tx1"/>
                          </a:solidFill>
                          <a:latin typeface="Times New Roman" pitchFamily="18" charset="0"/>
                          <a:ea typeface="+mn-ea"/>
                          <a:cs typeface="Times New Roman" pitchFamily="18" charset="0"/>
                        </a:rPr>
                        <a:t>dB</a:t>
                      </a:r>
                      <a:endParaRPr lang="zh-CN" altLang="en-US" sz="1600" b="1" kern="100" dirty="0" smtClean="0">
                        <a:solidFill>
                          <a:schemeClr val="tx1"/>
                        </a:solidFill>
                        <a:latin typeface="Times New Roman" pitchFamily="18" charset="0"/>
                        <a:ea typeface="+mn-ea"/>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marR="0" lvl="0" indent="0" algn="ctr" defTabSz="914400" rtl="0" eaLnBrk="1" fontAlgn="base" latinLnBrk="0" hangingPunct="1">
                        <a:lnSpc>
                          <a:spcPct val="115000"/>
                        </a:lnSpc>
                        <a:spcBef>
                          <a:spcPct val="0"/>
                        </a:spcBef>
                        <a:spcAft>
                          <a:spcPts val="0"/>
                        </a:spcAft>
                        <a:buClrTx/>
                        <a:buSzTx/>
                        <a:buFontTx/>
                        <a:buNone/>
                        <a:tabLst/>
                        <a:defRPr/>
                      </a:pPr>
                      <a:r>
                        <a:rPr lang="en-US" altLang="zh-CN" sz="1600" b="1" kern="100" dirty="0" smtClean="0">
                          <a:solidFill>
                            <a:schemeClr val="tx1"/>
                          </a:solidFill>
                          <a:latin typeface="Times New Roman" pitchFamily="18" charset="0"/>
                          <a:ea typeface="+mn-ea"/>
                          <a:cs typeface="Times New Roman" pitchFamily="18" charset="0"/>
                        </a:rPr>
                        <a:t>-6.66</a:t>
                      </a:r>
                      <a:endParaRPr lang="zh-CN" altLang="zh-CN" sz="1600" b="1" kern="100" dirty="0" smtClean="0">
                        <a:solidFill>
                          <a:schemeClr val="tx1"/>
                        </a:solidFill>
                        <a:latin typeface="Times New Roman" pitchFamily="18" charset="0"/>
                        <a:ea typeface="+mn-ea"/>
                        <a:cs typeface="Times New Roman" pitchFamily="18" charset="0"/>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2804">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rPr>
                        <a:t>12</a:t>
                      </a:r>
                      <a:endParaRPr kumimoji="0" lang="zh-CN" altLang="zh-CN" sz="1400" b="1" i="0" u="none" strike="noStrike" cap="none" normalizeH="0" baseline="0" dirty="0" smtClean="0">
                        <a:ln>
                          <a:noFill/>
                        </a:ln>
                        <a:solidFill>
                          <a:schemeClr val="tx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indent="-76200" algn="l">
                        <a:spcAft>
                          <a:spcPts val="0"/>
                        </a:spcAft>
                      </a:pPr>
                      <a:r>
                        <a:rPr lang="en-US" sz="1600" b="1" kern="100" dirty="0" smtClean="0">
                          <a:solidFill>
                            <a:schemeClr val="tx1"/>
                          </a:solidFill>
                          <a:latin typeface="Times New Roman" pitchFamily="18" charset="0"/>
                          <a:ea typeface="+mn-ea"/>
                          <a:cs typeface="Times New Roman" pitchFamily="18" charset="0"/>
                        </a:rPr>
                        <a:t>Signal to noise spectrum density ratio of TC</a:t>
                      </a:r>
                      <a:endParaRPr lang="zh-CN" sz="1600" b="1" kern="100" dirty="0">
                        <a:solidFill>
                          <a:schemeClr val="tx1"/>
                        </a:solidFill>
                        <a:latin typeface="Times New Roman" pitchFamily="18" charset="0"/>
                        <a:ea typeface="+mn-ea"/>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marR="0" lvl="0" indent="0" algn="ctr" defTabSz="914400" rtl="0" eaLnBrk="1" fontAlgn="base" latinLnBrk="0" hangingPunct="1">
                        <a:lnSpc>
                          <a:spcPct val="115000"/>
                        </a:lnSpc>
                        <a:spcBef>
                          <a:spcPct val="0"/>
                        </a:spcBef>
                        <a:spcAft>
                          <a:spcPts val="0"/>
                        </a:spcAft>
                        <a:buClrTx/>
                        <a:buSzTx/>
                        <a:buFontTx/>
                        <a:buNone/>
                        <a:tabLst/>
                        <a:defRPr/>
                      </a:pPr>
                      <a:r>
                        <a:rPr lang="en-US" altLang="zh-CN" sz="1600" b="1" kern="100" dirty="0" err="1" smtClean="0">
                          <a:solidFill>
                            <a:schemeClr val="tx1"/>
                          </a:solidFill>
                          <a:latin typeface="Times New Roman" pitchFamily="18" charset="0"/>
                          <a:ea typeface="+mn-ea"/>
                          <a:cs typeface="Times New Roman" pitchFamily="18" charset="0"/>
                        </a:rPr>
                        <a:t>dBHz</a:t>
                      </a:r>
                      <a:endParaRPr lang="zh-CN" altLang="en-US" sz="1600" b="1" kern="100" dirty="0" smtClean="0">
                        <a:solidFill>
                          <a:schemeClr val="tx1"/>
                        </a:solidFill>
                        <a:latin typeface="Times New Roman" pitchFamily="18" charset="0"/>
                        <a:ea typeface="+mn-ea"/>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marR="0" lvl="0" indent="0" algn="ctr" defTabSz="914400" rtl="0" eaLnBrk="1" fontAlgn="base" latinLnBrk="0" hangingPunct="1">
                        <a:lnSpc>
                          <a:spcPct val="115000"/>
                        </a:lnSpc>
                        <a:spcBef>
                          <a:spcPct val="0"/>
                        </a:spcBef>
                        <a:spcAft>
                          <a:spcPts val="0"/>
                        </a:spcAft>
                        <a:buClrTx/>
                        <a:buSzTx/>
                        <a:buFontTx/>
                        <a:buNone/>
                        <a:tabLst/>
                        <a:defRPr/>
                      </a:pPr>
                      <a:r>
                        <a:rPr lang="en-US" altLang="zh-CN" sz="1600" b="1" kern="100" dirty="0" smtClean="0">
                          <a:solidFill>
                            <a:schemeClr val="tx1"/>
                          </a:solidFill>
                          <a:latin typeface="Times New Roman" pitchFamily="18" charset="0"/>
                          <a:ea typeface="+mn-ea"/>
                          <a:cs typeface="Times New Roman" pitchFamily="18" charset="0"/>
                        </a:rPr>
                        <a:t>62.87</a:t>
                      </a:r>
                      <a:endParaRPr lang="zh-CN" altLang="zh-CN" sz="1600" b="1" kern="100" dirty="0" smtClean="0">
                        <a:solidFill>
                          <a:schemeClr val="tx1"/>
                        </a:solidFill>
                        <a:latin typeface="Times New Roman" pitchFamily="18" charset="0"/>
                        <a:ea typeface="+mn-ea"/>
                        <a:cs typeface="Times New Roman" pitchFamily="18" charset="0"/>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2804">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rPr>
                        <a:t>13</a:t>
                      </a:r>
                      <a:endParaRPr kumimoji="0" lang="zh-CN" altLang="zh-CN" sz="1400" b="1" i="0" u="none" strike="noStrike" cap="none" normalizeH="0" baseline="0" dirty="0" smtClean="0">
                        <a:ln>
                          <a:noFill/>
                        </a:ln>
                        <a:solidFill>
                          <a:schemeClr val="tx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indent="-76200" algn="l">
                        <a:spcAft>
                          <a:spcPts val="0"/>
                        </a:spcAft>
                      </a:pPr>
                      <a:r>
                        <a:rPr lang="en-US" sz="1600" b="1" kern="100" dirty="0" smtClean="0">
                          <a:latin typeface="+mn-lt"/>
                          <a:ea typeface="宋体"/>
                          <a:cs typeface="Times New Roman"/>
                        </a:rPr>
                        <a:t>TC Bit Rate </a:t>
                      </a:r>
                      <a:endParaRPr lang="zh-CN" sz="1600" b="1" kern="100" dirty="0">
                        <a:solidFill>
                          <a:schemeClr val="tx1"/>
                        </a:solidFill>
                        <a:latin typeface="Times New Roman" pitchFamily="18" charset="0"/>
                        <a:ea typeface="+mn-ea"/>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marR="0" lvl="0" indent="0" algn="ctr" defTabSz="914400" rtl="0" eaLnBrk="1" fontAlgn="base" latinLnBrk="0" hangingPunct="1">
                        <a:lnSpc>
                          <a:spcPct val="115000"/>
                        </a:lnSpc>
                        <a:spcBef>
                          <a:spcPct val="0"/>
                        </a:spcBef>
                        <a:spcAft>
                          <a:spcPts val="0"/>
                        </a:spcAft>
                        <a:buClrTx/>
                        <a:buSzTx/>
                        <a:buFontTx/>
                        <a:buNone/>
                        <a:tabLst/>
                        <a:defRPr/>
                      </a:pPr>
                      <a:r>
                        <a:rPr lang="en-US" altLang="zh-CN" sz="1600" b="1" kern="100" dirty="0" err="1" smtClean="0">
                          <a:solidFill>
                            <a:schemeClr val="tx1"/>
                          </a:solidFill>
                          <a:latin typeface="Times New Roman" pitchFamily="18" charset="0"/>
                          <a:ea typeface="+mn-ea"/>
                          <a:cs typeface="Times New Roman" pitchFamily="18" charset="0"/>
                        </a:rPr>
                        <a:t>dBHz</a:t>
                      </a:r>
                      <a:endParaRPr lang="zh-CN" altLang="en-US" sz="1600" b="1" kern="100" dirty="0" smtClean="0">
                        <a:solidFill>
                          <a:schemeClr val="tx1"/>
                        </a:solidFill>
                        <a:latin typeface="Times New Roman" pitchFamily="18" charset="0"/>
                        <a:ea typeface="+mn-ea"/>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marR="0" lvl="0" indent="0" algn="ctr" defTabSz="914400" rtl="0" eaLnBrk="1" fontAlgn="base" latinLnBrk="0" hangingPunct="1">
                        <a:lnSpc>
                          <a:spcPct val="115000"/>
                        </a:lnSpc>
                        <a:spcBef>
                          <a:spcPct val="0"/>
                        </a:spcBef>
                        <a:spcAft>
                          <a:spcPts val="0"/>
                        </a:spcAft>
                        <a:buClrTx/>
                        <a:buSzTx/>
                        <a:buFontTx/>
                        <a:buNone/>
                        <a:tabLst/>
                        <a:defRPr/>
                      </a:pPr>
                      <a:r>
                        <a:rPr lang="en-US" altLang="zh-CN" sz="1600" b="1" kern="100" dirty="0" smtClean="0">
                          <a:solidFill>
                            <a:schemeClr val="tx1"/>
                          </a:solidFill>
                          <a:latin typeface="Times New Roman" pitchFamily="18" charset="0"/>
                          <a:ea typeface="+mn-ea"/>
                          <a:cs typeface="Times New Roman" pitchFamily="18" charset="0"/>
                        </a:rPr>
                        <a:t>33.01</a:t>
                      </a:r>
                      <a:endParaRPr lang="zh-CN" altLang="zh-CN" sz="1600" b="1" kern="100" dirty="0" smtClean="0">
                        <a:solidFill>
                          <a:schemeClr val="tx1"/>
                        </a:solidFill>
                        <a:latin typeface="Times New Roman" pitchFamily="18" charset="0"/>
                        <a:ea typeface="+mn-ea"/>
                        <a:cs typeface="Times New Roman" pitchFamily="18" charset="0"/>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2804">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rPr>
                        <a:t>14</a:t>
                      </a:r>
                      <a:endParaRPr kumimoji="0" lang="zh-CN" altLang="zh-CN" sz="1400" b="1" i="0" u="none" strike="noStrike" cap="none" normalizeH="0" baseline="0" dirty="0" smtClean="0">
                        <a:ln>
                          <a:noFill/>
                        </a:ln>
                        <a:solidFill>
                          <a:schemeClr val="tx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indent="-76200" algn="l">
                        <a:spcAft>
                          <a:spcPts val="0"/>
                        </a:spcAft>
                      </a:pPr>
                      <a:r>
                        <a:rPr lang="en-US" altLang="zh-CN" sz="1600" b="1" kern="100" dirty="0" err="1" smtClean="0">
                          <a:solidFill>
                            <a:schemeClr val="tx1"/>
                          </a:solidFill>
                          <a:latin typeface="Times New Roman" pitchFamily="18" charset="0"/>
                          <a:ea typeface="+mn-ea"/>
                          <a:cs typeface="Times New Roman" pitchFamily="18" charset="0"/>
                        </a:rPr>
                        <a:t>Eb</a:t>
                      </a:r>
                      <a:r>
                        <a:rPr lang="en-US" altLang="zh-CN" sz="1600" b="1" kern="100" dirty="0" smtClean="0">
                          <a:solidFill>
                            <a:schemeClr val="tx1"/>
                          </a:solidFill>
                          <a:latin typeface="Times New Roman" pitchFamily="18" charset="0"/>
                          <a:ea typeface="+mn-ea"/>
                          <a:cs typeface="Times New Roman" pitchFamily="18" charset="0"/>
                        </a:rPr>
                        <a:t>/N0 needed(1*10</a:t>
                      </a:r>
                      <a:r>
                        <a:rPr lang="en-US" altLang="zh-CN" sz="1600" b="1" kern="100" baseline="30000" dirty="0" smtClean="0">
                          <a:solidFill>
                            <a:schemeClr val="tx1"/>
                          </a:solidFill>
                          <a:latin typeface="Times New Roman" pitchFamily="18" charset="0"/>
                          <a:ea typeface="+mn-ea"/>
                          <a:cs typeface="Times New Roman" pitchFamily="18" charset="0"/>
                        </a:rPr>
                        <a:t>-6</a:t>
                      </a:r>
                      <a:r>
                        <a:rPr lang="en-US" altLang="zh-CN" sz="1600" b="1" kern="100" dirty="0" smtClean="0">
                          <a:solidFill>
                            <a:schemeClr val="tx1"/>
                          </a:solidFill>
                          <a:latin typeface="Times New Roman" pitchFamily="18" charset="0"/>
                          <a:ea typeface="+mn-ea"/>
                          <a:cs typeface="Times New Roman" pitchFamily="18" charset="0"/>
                        </a:rPr>
                        <a:t>)</a:t>
                      </a:r>
                      <a:endParaRPr lang="zh-CN" sz="1600" b="1" kern="100" dirty="0">
                        <a:solidFill>
                          <a:schemeClr val="tx1"/>
                        </a:solidFill>
                        <a:latin typeface="Times New Roman" pitchFamily="18" charset="0"/>
                        <a:ea typeface="+mn-ea"/>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marR="0" lvl="0" indent="0" algn="ctr" defTabSz="914400" rtl="0" eaLnBrk="1" fontAlgn="base" latinLnBrk="0" hangingPunct="1">
                        <a:lnSpc>
                          <a:spcPct val="115000"/>
                        </a:lnSpc>
                        <a:spcBef>
                          <a:spcPct val="0"/>
                        </a:spcBef>
                        <a:spcAft>
                          <a:spcPts val="0"/>
                        </a:spcAft>
                        <a:buClrTx/>
                        <a:buSzTx/>
                        <a:buFontTx/>
                        <a:buNone/>
                        <a:tabLst/>
                        <a:defRPr/>
                      </a:pPr>
                      <a:r>
                        <a:rPr lang="en-US" altLang="zh-CN" sz="1600" b="1" kern="100" dirty="0" err="1" smtClean="0">
                          <a:solidFill>
                            <a:schemeClr val="tx1"/>
                          </a:solidFill>
                          <a:latin typeface="Times New Roman" pitchFamily="18" charset="0"/>
                          <a:ea typeface="+mn-ea"/>
                          <a:cs typeface="Times New Roman" pitchFamily="18" charset="0"/>
                        </a:rPr>
                        <a:t>dBHz</a:t>
                      </a:r>
                      <a:endParaRPr lang="zh-CN" altLang="en-US" sz="1600" b="1" kern="100" dirty="0" smtClean="0">
                        <a:solidFill>
                          <a:schemeClr val="tx1"/>
                        </a:solidFill>
                        <a:latin typeface="Times New Roman" pitchFamily="18" charset="0"/>
                        <a:ea typeface="+mn-ea"/>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marR="0" lvl="0" indent="0" algn="ctr" defTabSz="914400" rtl="0" eaLnBrk="1" fontAlgn="base" latinLnBrk="0" hangingPunct="1">
                        <a:lnSpc>
                          <a:spcPct val="115000"/>
                        </a:lnSpc>
                        <a:spcBef>
                          <a:spcPct val="0"/>
                        </a:spcBef>
                        <a:spcAft>
                          <a:spcPts val="0"/>
                        </a:spcAft>
                        <a:buClrTx/>
                        <a:buSzTx/>
                        <a:buFontTx/>
                        <a:buNone/>
                        <a:tabLst/>
                        <a:defRPr/>
                      </a:pPr>
                      <a:r>
                        <a:rPr lang="en-US" altLang="zh-CN" sz="1600" b="1" kern="100" dirty="0" smtClean="0">
                          <a:solidFill>
                            <a:schemeClr val="tx1"/>
                          </a:solidFill>
                          <a:latin typeface="Times New Roman" pitchFamily="18" charset="0"/>
                          <a:ea typeface="+mn-ea"/>
                          <a:cs typeface="Times New Roman" pitchFamily="18" charset="0"/>
                        </a:rPr>
                        <a:t>10.5</a:t>
                      </a:r>
                      <a:endParaRPr lang="zh-CN" altLang="zh-CN" sz="1600" b="1" kern="100" dirty="0" smtClean="0">
                        <a:solidFill>
                          <a:schemeClr val="tx1"/>
                        </a:solidFill>
                        <a:latin typeface="Times New Roman" pitchFamily="18" charset="0"/>
                        <a:ea typeface="+mn-ea"/>
                        <a:cs typeface="Times New Roman" pitchFamily="18" charset="0"/>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52804">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rPr>
                        <a:t>15</a:t>
                      </a:r>
                      <a:endParaRPr kumimoji="0" lang="zh-CN" altLang="zh-CN" sz="1400" b="1" i="0" u="none" strike="noStrike" cap="none" normalizeH="0" baseline="0" dirty="0" smtClean="0">
                        <a:ln>
                          <a:noFill/>
                        </a:ln>
                        <a:solidFill>
                          <a:schemeClr val="tx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indent="-76200" algn="l">
                        <a:spcAft>
                          <a:spcPts val="0"/>
                        </a:spcAft>
                      </a:pPr>
                      <a:r>
                        <a:rPr lang="en-US" sz="1600" b="1" kern="100" dirty="0" err="1" smtClean="0">
                          <a:solidFill>
                            <a:schemeClr val="tx1"/>
                          </a:solidFill>
                          <a:latin typeface="Times New Roman" pitchFamily="18" charset="0"/>
                          <a:ea typeface="+mn-ea"/>
                          <a:cs typeface="Times New Roman" pitchFamily="18" charset="0"/>
                        </a:rPr>
                        <a:t>Telecomand</a:t>
                      </a:r>
                      <a:r>
                        <a:rPr lang="en-US" sz="1600" b="1" kern="100" dirty="0" smtClean="0">
                          <a:solidFill>
                            <a:schemeClr val="tx1"/>
                          </a:solidFill>
                          <a:latin typeface="Times New Roman" pitchFamily="18" charset="0"/>
                          <a:ea typeface="+mn-ea"/>
                          <a:cs typeface="Times New Roman" pitchFamily="18" charset="0"/>
                        </a:rPr>
                        <a:t> De</a:t>
                      </a:r>
                      <a:r>
                        <a:rPr lang="en-US" altLang="zh-CN" sz="1600" b="1" kern="100" dirty="0" smtClean="0">
                          <a:solidFill>
                            <a:schemeClr val="tx1"/>
                          </a:solidFill>
                          <a:latin typeface="Times New Roman" pitchFamily="18" charset="0"/>
                          <a:ea typeface="+mn-ea"/>
                          <a:cs typeface="Times New Roman" pitchFamily="18" charset="0"/>
                        </a:rPr>
                        <a:t>modulated Loss(</a:t>
                      </a:r>
                      <a:r>
                        <a:rPr lang="en-US" altLang="zh-CN" sz="1600" b="1" kern="100" dirty="0" err="1" smtClean="0">
                          <a:solidFill>
                            <a:schemeClr val="tx1"/>
                          </a:solidFill>
                          <a:latin typeface="Times New Roman" pitchFamily="18" charset="0"/>
                          <a:ea typeface="+mn-ea"/>
                          <a:cs typeface="Times New Roman" pitchFamily="18" charset="0"/>
                        </a:rPr>
                        <a:t>Leq</a:t>
                      </a:r>
                      <a:r>
                        <a:rPr lang="en-US" altLang="zh-CN" sz="1600" b="1" kern="100" dirty="0" smtClean="0">
                          <a:solidFill>
                            <a:schemeClr val="tx1"/>
                          </a:solidFill>
                          <a:latin typeface="Times New Roman" pitchFamily="18" charset="0"/>
                          <a:ea typeface="+mn-ea"/>
                          <a:cs typeface="Times New Roman" pitchFamily="18" charset="0"/>
                        </a:rPr>
                        <a:t>)</a:t>
                      </a:r>
                      <a:endParaRPr lang="zh-CN" sz="1600" b="1" kern="100" dirty="0">
                        <a:solidFill>
                          <a:schemeClr val="tx1"/>
                        </a:solidFill>
                        <a:latin typeface="Times New Roman" pitchFamily="18" charset="0"/>
                        <a:ea typeface="+mn-ea"/>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marR="0" lvl="0" indent="0" algn="ctr" defTabSz="914400" rtl="0" eaLnBrk="1" fontAlgn="base" latinLnBrk="0" hangingPunct="1">
                        <a:lnSpc>
                          <a:spcPct val="115000"/>
                        </a:lnSpc>
                        <a:spcBef>
                          <a:spcPct val="0"/>
                        </a:spcBef>
                        <a:spcAft>
                          <a:spcPts val="0"/>
                        </a:spcAft>
                        <a:buClrTx/>
                        <a:buSzTx/>
                        <a:buFontTx/>
                        <a:buNone/>
                        <a:tabLst/>
                        <a:defRPr/>
                      </a:pPr>
                      <a:r>
                        <a:rPr lang="en-US" altLang="zh-CN" sz="1600" b="1" kern="100" dirty="0" smtClean="0">
                          <a:solidFill>
                            <a:schemeClr val="tx1"/>
                          </a:solidFill>
                          <a:latin typeface="Times New Roman" pitchFamily="18" charset="0"/>
                          <a:ea typeface="+mn-ea"/>
                          <a:cs typeface="Times New Roman" pitchFamily="18" charset="0"/>
                        </a:rPr>
                        <a:t>dB</a:t>
                      </a:r>
                      <a:endParaRPr lang="zh-CN" altLang="en-US" sz="1600" b="1" kern="100" dirty="0" smtClean="0">
                        <a:solidFill>
                          <a:schemeClr val="tx1"/>
                        </a:solidFill>
                        <a:latin typeface="Times New Roman" pitchFamily="18" charset="0"/>
                        <a:ea typeface="+mn-ea"/>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marR="0" lvl="0" indent="0" algn="ctr" defTabSz="914400" rtl="0" eaLnBrk="1" fontAlgn="base" latinLnBrk="0" hangingPunct="1">
                        <a:lnSpc>
                          <a:spcPct val="115000"/>
                        </a:lnSpc>
                        <a:spcBef>
                          <a:spcPct val="0"/>
                        </a:spcBef>
                        <a:spcAft>
                          <a:spcPts val="0"/>
                        </a:spcAft>
                        <a:buClrTx/>
                        <a:buSzTx/>
                        <a:buFontTx/>
                        <a:buNone/>
                        <a:tabLst/>
                        <a:defRPr/>
                      </a:pPr>
                      <a:r>
                        <a:rPr lang="en-US" altLang="zh-CN" sz="1600" b="1" kern="100" dirty="0" smtClean="0">
                          <a:solidFill>
                            <a:schemeClr val="tx1"/>
                          </a:solidFill>
                          <a:latin typeface="Times New Roman" pitchFamily="18" charset="0"/>
                          <a:ea typeface="+mn-ea"/>
                          <a:cs typeface="Times New Roman" pitchFamily="18" charset="0"/>
                        </a:rPr>
                        <a:t>2.5</a:t>
                      </a:r>
                      <a:endParaRPr lang="zh-CN" altLang="zh-CN" sz="1600" b="1" kern="100" dirty="0" smtClean="0">
                        <a:solidFill>
                          <a:schemeClr val="tx1"/>
                        </a:solidFill>
                        <a:latin typeface="Times New Roman" pitchFamily="18" charset="0"/>
                        <a:ea typeface="+mn-ea"/>
                        <a:cs typeface="Times New Roman" pitchFamily="18" charset="0"/>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4463">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kern="1200" cap="none" normalizeH="0" baseline="0" dirty="0" smtClean="0">
                          <a:ln>
                            <a:noFill/>
                          </a:ln>
                          <a:solidFill>
                            <a:schemeClr val="tx1"/>
                          </a:solidFill>
                          <a:effectLst/>
                          <a:latin typeface="Times New Roman" pitchFamily="18" charset="0"/>
                          <a:ea typeface="宋体" pitchFamily="2" charset="-122"/>
                          <a:cs typeface="+mn-cs"/>
                        </a:rPr>
                        <a:t>16</a:t>
                      </a:r>
                      <a:endParaRPr kumimoji="0" lang="zh-CN" altLang="en-US" sz="1400" b="1" i="0" u="none" strike="noStrike" kern="1200" cap="none" normalizeH="0" baseline="0" dirty="0" smtClean="0">
                        <a:ln>
                          <a:noFill/>
                        </a:ln>
                        <a:solidFill>
                          <a:schemeClr val="tx1"/>
                        </a:solidFill>
                        <a:effectLst/>
                        <a:latin typeface="Times New Roman" pitchFamily="18" charset="0"/>
                        <a:ea typeface="宋体" pitchFamily="2" charset="-122"/>
                        <a:cs typeface="+mn-cs"/>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indent="-76200" algn="l">
                        <a:spcAft>
                          <a:spcPts val="0"/>
                        </a:spcAft>
                      </a:pPr>
                      <a:r>
                        <a:rPr lang="en-US" sz="1600" b="1" kern="100" dirty="0">
                          <a:solidFill>
                            <a:schemeClr val="tx1"/>
                          </a:solidFill>
                          <a:latin typeface="Times New Roman" pitchFamily="18" charset="0"/>
                          <a:ea typeface="+mn-ea"/>
                          <a:cs typeface="Times New Roman" pitchFamily="18" charset="0"/>
                        </a:rPr>
                        <a:t>Margin of </a:t>
                      </a:r>
                      <a:r>
                        <a:rPr lang="en-US" sz="1600" b="1" kern="100" dirty="0" err="1" smtClean="0">
                          <a:solidFill>
                            <a:schemeClr val="tx1"/>
                          </a:solidFill>
                          <a:latin typeface="Times New Roman" pitchFamily="18" charset="0"/>
                          <a:ea typeface="+mn-ea"/>
                          <a:cs typeface="Times New Roman" pitchFamily="18" charset="0"/>
                        </a:rPr>
                        <a:t>Telecomand</a:t>
                      </a:r>
                      <a:r>
                        <a:rPr lang="en-US" sz="1600" b="1" kern="100" dirty="0" smtClean="0">
                          <a:solidFill>
                            <a:schemeClr val="tx1"/>
                          </a:solidFill>
                          <a:latin typeface="Times New Roman" pitchFamily="18" charset="0"/>
                          <a:ea typeface="+mn-ea"/>
                          <a:cs typeface="Times New Roman" pitchFamily="18" charset="0"/>
                        </a:rPr>
                        <a:t> (</a:t>
                      </a:r>
                      <a:r>
                        <a:rPr lang="en-US" sz="1600" b="1" kern="100" dirty="0" err="1" smtClean="0">
                          <a:solidFill>
                            <a:schemeClr val="tx1"/>
                          </a:solidFill>
                          <a:latin typeface="Times New Roman" pitchFamily="18" charset="0"/>
                          <a:ea typeface="+mn-ea"/>
                          <a:cs typeface="Times New Roman" pitchFamily="18" charset="0"/>
                        </a:rPr>
                        <a:t>Mtc</a:t>
                      </a:r>
                      <a:r>
                        <a:rPr lang="en-US" sz="1600" b="1" kern="100" dirty="0">
                          <a:solidFill>
                            <a:schemeClr val="tx1"/>
                          </a:solidFill>
                          <a:latin typeface="Times New Roman" pitchFamily="18" charset="0"/>
                          <a:ea typeface="+mn-ea"/>
                          <a:cs typeface="Times New Roman" pitchFamily="18" charset="0"/>
                        </a:rPr>
                        <a:t>)</a:t>
                      </a:r>
                      <a:endParaRPr lang="zh-CN" sz="1600" b="1" kern="100" dirty="0">
                        <a:solidFill>
                          <a:schemeClr val="tx1"/>
                        </a:solidFill>
                        <a:latin typeface="Times New Roman" pitchFamily="18" charset="0"/>
                        <a:ea typeface="+mn-ea"/>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marR="0" lvl="0" indent="0" algn="ctr" defTabSz="914400" rtl="0" eaLnBrk="1" fontAlgn="base" latinLnBrk="0" hangingPunct="1">
                        <a:lnSpc>
                          <a:spcPct val="115000"/>
                        </a:lnSpc>
                        <a:spcBef>
                          <a:spcPct val="0"/>
                        </a:spcBef>
                        <a:spcAft>
                          <a:spcPts val="0"/>
                        </a:spcAft>
                        <a:buClrTx/>
                        <a:buSzTx/>
                        <a:buFontTx/>
                        <a:buNone/>
                        <a:tabLst/>
                        <a:defRPr/>
                      </a:pPr>
                      <a:r>
                        <a:rPr lang="en-US" altLang="zh-CN" sz="1600" b="1" kern="100" dirty="0">
                          <a:solidFill>
                            <a:schemeClr val="tx1"/>
                          </a:solidFill>
                          <a:latin typeface="Times New Roman" pitchFamily="18" charset="0"/>
                          <a:ea typeface="+mn-ea"/>
                          <a:cs typeface="Times New Roman" pitchFamily="18" charset="0"/>
                        </a:rPr>
                        <a:t>dB</a:t>
                      </a:r>
                      <a:endParaRPr lang="zh-CN" altLang="zh-CN" sz="1600" b="1" kern="100" dirty="0">
                        <a:solidFill>
                          <a:schemeClr val="tx1"/>
                        </a:solidFill>
                        <a:latin typeface="Times New Roman" pitchFamily="18" charset="0"/>
                        <a:ea typeface="+mn-ea"/>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marR="0" lvl="0" indent="0" algn="ctr" defTabSz="914400" rtl="0" eaLnBrk="1" fontAlgn="base" latinLnBrk="0" hangingPunct="1">
                        <a:lnSpc>
                          <a:spcPct val="115000"/>
                        </a:lnSpc>
                        <a:spcBef>
                          <a:spcPct val="0"/>
                        </a:spcBef>
                        <a:spcAft>
                          <a:spcPts val="0"/>
                        </a:spcAft>
                        <a:buClrTx/>
                        <a:buSzTx/>
                        <a:buFontTx/>
                        <a:buNone/>
                        <a:tabLst/>
                        <a:defRPr/>
                      </a:pPr>
                      <a:r>
                        <a:rPr lang="en-US" altLang="zh-CN" sz="1600" b="1" kern="100" dirty="0" smtClean="0">
                          <a:solidFill>
                            <a:schemeClr val="tx1"/>
                          </a:solidFill>
                          <a:latin typeface="Times New Roman" pitchFamily="18" charset="0"/>
                          <a:ea typeface="+mn-ea"/>
                          <a:cs typeface="Times New Roman" pitchFamily="18" charset="0"/>
                        </a:rPr>
                        <a:t>16.86</a:t>
                      </a:r>
                      <a:endParaRPr lang="zh-CN" altLang="zh-CN" sz="1600" b="1" kern="100" dirty="0" smtClean="0">
                        <a:solidFill>
                          <a:schemeClr val="tx1"/>
                        </a:solidFill>
                        <a:latin typeface="Times New Roman" pitchFamily="18" charset="0"/>
                        <a:ea typeface="+mn-ea"/>
                        <a:cs typeface="Times New Roman" pitchFamily="18" charset="0"/>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0"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18</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11"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3" name="矩形 12"/>
          <p:cNvSpPr/>
          <p:nvPr/>
        </p:nvSpPr>
        <p:spPr>
          <a:xfrm>
            <a:off x="261938" y="261938"/>
            <a:ext cx="7168565" cy="584775"/>
          </a:xfrm>
          <a:prstGeom prst="rect">
            <a:avLst/>
          </a:prstGeom>
        </p:spPr>
        <p:txBody>
          <a:bodyPr wrap="none">
            <a:spAutoFit/>
          </a:bodyPr>
          <a:lstStyle/>
          <a:p>
            <a:pPr>
              <a:spcBef>
                <a:spcPct val="0"/>
              </a:spcBef>
              <a:defRPr/>
            </a:pPr>
            <a:r>
              <a:rPr lang="en-US" altLang="zh-CN" sz="3200" b="1" kern="1700" dirty="0" smtClean="0">
                <a:solidFill>
                  <a:schemeClr val="bg1"/>
                </a:solidFill>
                <a:latin typeface="微软雅黑" pitchFamily="34" charset="-122"/>
                <a:ea typeface="微软雅黑" pitchFamily="34" charset="-122"/>
                <a:cs typeface="+mj-cs"/>
              </a:rPr>
              <a:t>2  Technical Specification Analysis</a:t>
            </a:r>
            <a:endParaRPr lang="zh-CN" altLang="en-US" sz="3200" b="1" kern="1700" dirty="0">
              <a:solidFill>
                <a:schemeClr val="bg1"/>
              </a:solidFill>
              <a:latin typeface="微软雅黑" pitchFamily="34" charset="-122"/>
              <a:ea typeface="微软雅黑" pitchFamily="34" charset="-122"/>
              <a:cs typeface="+mj-cs"/>
            </a:endParaRPr>
          </a:p>
        </p:txBody>
      </p:sp>
      <p:sp>
        <p:nvSpPr>
          <p:cNvPr id="14" name="矩形 13"/>
          <p:cNvSpPr/>
          <p:nvPr/>
        </p:nvSpPr>
        <p:spPr>
          <a:xfrm>
            <a:off x="307013" y="1714488"/>
            <a:ext cx="335897" cy="400110"/>
          </a:xfrm>
          <a:prstGeom prst="rect">
            <a:avLst/>
          </a:prstGeom>
        </p:spPr>
        <p:txBody>
          <a:bodyPr wrap="square">
            <a:spAutoFit/>
          </a:bodyPr>
          <a:lstStyle/>
          <a:p>
            <a:pPr lvl="0" algn="just" fontAlgn="base">
              <a:spcBef>
                <a:spcPct val="0"/>
              </a:spcBef>
              <a:spcAft>
                <a:spcPts val="1200"/>
              </a:spcAft>
              <a:defRPr/>
            </a:pPr>
            <a:r>
              <a:rPr lang="en-US" altLang="zh-CN" sz="2000" b="1" dirty="0" smtClean="0"/>
              <a:t>2) </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2"/>
          <p:cNvSpPr txBox="1">
            <a:spLocks/>
          </p:cNvSpPr>
          <p:nvPr/>
        </p:nvSpPr>
        <p:spPr bwMode="auto">
          <a:xfrm>
            <a:off x="50800" y="233363"/>
            <a:ext cx="8229600" cy="1143000"/>
          </a:xfrm>
          <a:prstGeom prst="rect">
            <a:avLst/>
          </a:prstGeom>
          <a:noFill/>
          <a:ln w="9525">
            <a:noFill/>
            <a:miter lim="800000"/>
            <a:headEnd/>
            <a:tailEnd/>
          </a:ln>
        </p:spPr>
        <p:txBody>
          <a:bodyPr/>
          <a:lstStyle/>
          <a:p>
            <a:pPr eaLnBrk="0" hangingPunct="0"/>
            <a:endParaRPr lang="zh-CN" altLang="en-US" sz="4400">
              <a:solidFill>
                <a:schemeClr val="tx2"/>
              </a:solidFill>
            </a:endParaRPr>
          </a:p>
        </p:txBody>
      </p:sp>
      <p:sp>
        <p:nvSpPr>
          <p:cNvPr id="64516"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4517"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4518" name="Rectangle 4"/>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4519" name="TextBox 5"/>
          <p:cNvSpPr txBox="1">
            <a:spLocks noChangeArrowheads="1"/>
          </p:cNvSpPr>
          <p:nvPr/>
        </p:nvSpPr>
        <p:spPr bwMode="auto">
          <a:xfrm>
            <a:off x="215900" y="1255701"/>
            <a:ext cx="5688013" cy="530225"/>
          </a:xfrm>
          <a:prstGeom prst="rect">
            <a:avLst/>
          </a:prstGeom>
          <a:noFill/>
          <a:ln w="9525">
            <a:noFill/>
            <a:miter lim="800000"/>
            <a:headEnd/>
            <a:tailEnd/>
          </a:ln>
        </p:spPr>
        <p:txBody>
          <a:bodyPr lIns="82954" tIns="41477" rIns="82954" bIns="41477">
            <a:spAutoFit/>
          </a:bodyPr>
          <a:lstStyle/>
          <a:p>
            <a:pPr marL="457200" indent="-457200" algn="l">
              <a:spcAft>
                <a:spcPts val="1200"/>
              </a:spcAft>
              <a:buFont typeface="Wingdings" pitchFamily="2" charset="2"/>
              <a:buChar char="p"/>
            </a:pPr>
            <a:r>
              <a:rPr lang="en-US" altLang="zh-CN" sz="2800" b="1" dirty="0" smtClean="0">
                <a:solidFill>
                  <a:srgbClr val="0070C0"/>
                </a:solidFill>
              </a:rPr>
              <a:t> </a:t>
            </a:r>
            <a:r>
              <a:rPr lang="en-US" altLang="zh-CN" sz="2800" b="1" dirty="0">
                <a:solidFill>
                  <a:srgbClr val="0070C0"/>
                </a:solidFill>
              </a:rPr>
              <a:t>TT&amp;C Link Calculation</a:t>
            </a:r>
          </a:p>
        </p:txBody>
      </p:sp>
      <p:sp>
        <p:nvSpPr>
          <p:cNvPr id="64520" name="Rectangle 2"/>
          <p:cNvSpPr>
            <a:spLocks noChangeArrowheads="1"/>
          </p:cNvSpPr>
          <p:nvPr/>
        </p:nvSpPr>
        <p:spPr bwMode="gray">
          <a:xfrm>
            <a:off x="0" y="0"/>
            <a:ext cx="9144000" cy="457200"/>
          </a:xfrm>
          <a:prstGeom prst="rect">
            <a:avLst/>
          </a:prstGeom>
          <a:noFill/>
          <a:ln w="9525" algn="ctr">
            <a:noFill/>
            <a:miter lim="800000"/>
            <a:headEnd/>
            <a:tailEnd/>
          </a:ln>
        </p:spPr>
        <p:txBody>
          <a:bodyPr wrap="none" anchor="ctr">
            <a:spAutoFit/>
          </a:bodyPr>
          <a:lstStyle/>
          <a:p>
            <a:endParaRPr lang="zh-CN" altLang="en-US"/>
          </a:p>
        </p:txBody>
      </p:sp>
      <p:graphicFrame>
        <p:nvGraphicFramePr>
          <p:cNvPr id="18" name="表格 17"/>
          <p:cNvGraphicFramePr>
            <a:graphicFrameLocks noGrp="1"/>
          </p:cNvGraphicFramePr>
          <p:nvPr/>
        </p:nvGraphicFramePr>
        <p:xfrm>
          <a:off x="714348" y="1857364"/>
          <a:ext cx="7753179" cy="4511047"/>
        </p:xfrm>
        <a:graphic>
          <a:graphicData uri="http://schemas.openxmlformats.org/drawingml/2006/table">
            <a:tbl>
              <a:tblPr/>
              <a:tblGrid>
                <a:gridCol w="444815"/>
                <a:gridCol w="5132253"/>
                <a:gridCol w="1117600"/>
                <a:gridCol w="1058511"/>
              </a:tblGrid>
              <a:tr h="232677">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bg1"/>
                          </a:solidFill>
                          <a:effectLst/>
                          <a:latin typeface="Times New Roman" pitchFamily="18" charset="0"/>
                          <a:ea typeface="宋体" pitchFamily="2" charset="-122"/>
                          <a:cs typeface="Times New Roman" pitchFamily="18" charset="0"/>
                        </a:rPr>
                        <a:t>No. </a:t>
                      </a:r>
                      <a:endParaRPr kumimoji="0" lang="zh-CN" altLang="zh-CN" sz="1400" b="1" i="0" u="none" strike="noStrike" cap="none" normalizeH="0" baseline="0" dirty="0" smtClean="0">
                        <a:ln>
                          <a:noFill/>
                        </a:ln>
                        <a:solidFill>
                          <a:schemeClr val="bg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6A6A6"/>
                    </a:solid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bg1"/>
                          </a:solidFill>
                          <a:effectLst/>
                          <a:latin typeface="Times New Roman" pitchFamily="18" charset="0"/>
                          <a:ea typeface="黑体" pitchFamily="2" charset="-122"/>
                          <a:cs typeface="宋体" pitchFamily="2" charset="-122"/>
                        </a:rPr>
                        <a:t>Downlink</a:t>
                      </a:r>
                      <a:endParaRPr kumimoji="0" lang="zh-CN" altLang="zh-CN" sz="1400" b="1" i="0" u="none" strike="noStrike" cap="none" normalizeH="0" baseline="0" dirty="0" smtClean="0">
                        <a:ln>
                          <a:noFill/>
                        </a:ln>
                        <a:solidFill>
                          <a:schemeClr val="bg1"/>
                        </a:solidFill>
                        <a:effectLst/>
                        <a:latin typeface="Times New Roman" pitchFamily="18" charset="0"/>
                        <a:ea typeface="黑体" pitchFamily="2" charset="-122"/>
                        <a:cs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6A6A6"/>
                    </a:solid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bg1"/>
                          </a:solidFill>
                          <a:effectLst/>
                          <a:latin typeface="Times New Roman" pitchFamily="18" charset="0"/>
                          <a:ea typeface="宋体" pitchFamily="2" charset="-122"/>
                          <a:cs typeface="Times New Roman" pitchFamily="18" charset="0"/>
                        </a:rPr>
                        <a:t> Unit</a:t>
                      </a:r>
                      <a:endParaRPr kumimoji="0" lang="zh-CN" altLang="zh-CN" sz="1400" b="1" i="0" u="none" strike="noStrike" cap="none" normalizeH="0" baseline="0" dirty="0" smtClean="0">
                        <a:ln>
                          <a:noFill/>
                        </a:ln>
                        <a:solidFill>
                          <a:schemeClr val="bg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6A6A6"/>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1" i="0" u="none" strike="noStrike" cap="none" normalizeH="0" baseline="0" dirty="0" smtClean="0">
                          <a:ln>
                            <a:noFill/>
                          </a:ln>
                          <a:solidFill>
                            <a:schemeClr val="bg1"/>
                          </a:solidFill>
                          <a:effectLst/>
                          <a:latin typeface="Times New Roman" pitchFamily="18" charset="0"/>
                          <a:ea typeface="宋体" pitchFamily="2" charset="-122"/>
                        </a:rPr>
                        <a:t>Value</a:t>
                      </a:r>
                      <a:endParaRPr kumimoji="0" lang="zh-CN" altLang="zh-CN" sz="1400" b="1" i="0" u="none" strike="noStrike" cap="none" normalizeH="0" baseline="0" dirty="0" smtClean="0">
                        <a:ln>
                          <a:noFill/>
                        </a:ln>
                        <a:solidFill>
                          <a:schemeClr val="bg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6A6A6"/>
                    </a:solidFill>
                  </a:tcPr>
                </a:tc>
              </a:tr>
              <a:tr h="255507">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1 </a:t>
                      </a:r>
                      <a:endParaRPr kumimoji="0" lang="zh-CN" altLang="zh-CN" sz="1400" b="1" i="0" u="none" strike="noStrike" cap="none" normalizeH="0" baseline="0" dirty="0" smtClean="0">
                        <a:ln>
                          <a:noFill/>
                        </a:ln>
                        <a:solidFill>
                          <a:schemeClr val="tx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0" marR="0" indent="92075" algn="l" defTabSz="914400" rtl="0" eaLnBrk="1" fontAlgn="auto" latinLnBrk="0" hangingPunct="1">
                        <a:lnSpc>
                          <a:spcPct val="100000"/>
                        </a:lnSpc>
                        <a:spcBef>
                          <a:spcPts val="0"/>
                        </a:spcBef>
                        <a:spcAft>
                          <a:spcPts val="0"/>
                        </a:spcAft>
                        <a:buClrTx/>
                        <a:buSzTx/>
                        <a:buFontTx/>
                        <a:buNone/>
                        <a:tabLst/>
                        <a:defRPr/>
                      </a:pPr>
                      <a:r>
                        <a:rPr lang="en-US" sz="1600" b="1" kern="100" dirty="0" smtClean="0">
                          <a:solidFill>
                            <a:schemeClr val="tx1"/>
                          </a:solidFill>
                          <a:latin typeface="Times New Roman" pitchFamily="18" charset="0"/>
                          <a:ea typeface="+mn-ea"/>
                          <a:cs typeface="Times New Roman" pitchFamily="18" charset="0"/>
                        </a:rPr>
                        <a:t>Power</a:t>
                      </a:r>
                      <a:r>
                        <a:rPr lang="en-US" sz="1800" b="1" kern="100" dirty="0" smtClean="0">
                          <a:latin typeface="Times New Roman" pitchFamily="18" charset="0"/>
                          <a:cs typeface="Times New Roman" pitchFamily="18" charset="0"/>
                        </a:rPr>
                        <a:t> of  satellite</a:t>
                      </a:r>
                      <a:endParaRPr lang="zh-CN" altLang="en-US" dirty="0"/>
                    </a:p>
                  </a:txBody>
                  <a:tcPr marL="67768" marR="67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76200" algn="ctr" defTabSz="914400" rtl="0" eaLnBrk="1" latinLnBrk="0" hangingPunct="1">
                        <a:spcAft>
                          <a:spcPts val="0"/>
                        </a:spcAft>
                      </a:pPr>
                      <a:r>
                        <a:rPr lang="en-US" altLang="zh-CN" sz="1600" b="1" kern="100" dirty="0" err="1" smtClean="0">
                          <a:solidFill>
                            <a:schemeClr val="tx1"/>
                          </a:solidFill>
                          <a:latin typeface="Times New Roman" pitchFamily="18" charset="0"/>
                          <a:ea typeface="+mn-ea"/>
                          <a:cs typeface="Times New Roman" pitchFamily="18" charset="0"/>
                        </a:rPr>
                        <a:t>dBW</a:t>
                      </a:r>
                      <a:endParaRPr lang="zh-CN" altLang="en-US" sz="1600" b="1" kern="100" dirty="0">
                        <a:solidFill>
                          <a:schemeClr val="tx1"/>
                        </a:solidFill>
                        <a:latin typeface="Times New Roman" pitchFamily="18" charset="0"/>
                        <a:ea typeface="+mn-ea"/>
                        <a:cs typeface="Times New Roman" pitchFamily="18" charset="0"/>
                      </a:endParaRPr>
                    </a:p>
                  </a:txBody>
                  <a:tcPr marL="67768" marR="67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76200" algn="ctr" defTabSz="914400" rtl="0" eaLnBrk="1" latinLnBrk="0" hangingPunct="1">
                        <a:spcAft>
                          <a:spcPts val="0"/>
                        </a:spcAft>
                      </a:pPr>
                      <a:r>
                        <a:rPr lang="en-US" altLang="zh-CN" sz="1600" b="1" kern="100" dirty="0" smtClean="0">
                          <a:solidFill>
                            <a:schemeClr val="tx1"/>
                          </a:solidFill>
                          <a:latin typeface="Times New Roman" pitchFamily="18" charset="0"/>
                          <a:ea typeface="+mn-ea"/>
                          <a:cs typeface="Times New Roman" pitchFamily="18" charset="0"/>
                        </a:rPr>
                        <a:t>-3.01</a:t>
                      </a:r>
                      <a:endParaRPr lang="zh-CN" altLang="en-US" sz="1600" b="1" kern="100" dirty="0">
                        <a:solidFill>
                          <a:schemeClr val="tx1"/>
                        </a:solidFill>
                        <a:latin typeface="Times New Roman" pitchFamily="18" charset="0"/>
                        <a:ea typeface="+mn-ea"/>
                        <a:cs typeface="Times New Roman" pitchFamily="18" charset="0"/>
                      </a:endParaRPr>
                    </a:p>
                  </a:txBody>
                  <a:tcPr marL="67768" marR="67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r>
              <a:tr h="244388">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2 </a:t>
                      </a:r>
                      <a:endParaRPr kumimoji="0" lang="zh-CN" altLang="zh-CN" sz="1400" b="1" i="0" u="none" strike="noStrike" cap="none" normalizeH="0" baseline="0" dirty="0" smtClean="0">
                        <a:ln>
                          <a:noFill/>
                        </a:ln>
                        <a:solidFill>
                          <a:schemeClr val="tx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76200" marR="0" indent="15875" algn="l" defTabSz="914400" rtl="0" eaLnBrk="1" fontAlgn="auto" latinLnBrk="0" hangingPunct="1">
                        <a:lnSpc>
                          <a:spcPct val="100000"/>
                        </a:lnSpc>
                        <a:spcBef>
                          <a:spcPts val="0"/>
                        </a:spcBef>
                        <a:spcAft>
                          <a:spcPts val="0"/>
                        </a:spcAft>
                        <a:buClrTx/>
                        <a:buSzTx/>
                        <a:buFontTx/>
                        <a:buNone/>
                        <a:tabLst/>
                        <a:defRPr/>
                      </a:pPr>
                      <a:r>
                        <a:rPr lang="en-US" sz="1600" b="1" kern="100" dirty="0" smtClean="0">
                          <a:latin typeface="Times New Roman" pitchFamily="18" charset="0"/>
                          <a:cs typeface="Times New Roman" pitchFamily="18" charset="0"/>
                        </a:rPr>
                        <a:t>Edge gain of </a:t>
                      </a:r>
                      <a:r>
                        <a:rPr lang="en-US" sz="1600" b="1" kern="100" dirty="0" smtClean="0">
                          <a:solidFill>
                            <a:schemeClr val="tx1"/>
                          </a:solidFill>
                          <a:latin typeface="Times New Roman" pitchFamily="18" charset="0"/>
                          <a:ea typeface="+mn-ea"/>
                          <a:cs typeface="Times New Roman" pitchFamily="18" charset="0"/>
                        </a:rPr>
                        <a:t>transmitting</a:t>
                      </a:r>
                      <a:r>
                        <a:rPr lang="en-US" sz="1600" b="1" kern="100" dirty="0" smtClean="0">
                          <a:latin typeface="Times New Roman" pitchFamily="18" charset="0"/>
                          <a:cs typeface="Times New Roman" pitchFamily="18" charset="0"/>
                        </a:rPr>
                        <a:t> antenna(</a:t>
                      </a:r>
                      <a:r>
                        <a:rPr lang="en-US" sz="1600" b="1" kern="100" dirty="0" err="1" smtClean="0">
                          <a:latin typeface="Times New Roman" pitchFamily="18" charset="0"/>
                          <a:cs typeface="Times New Roman" pitchFamily="18" charset="0"/>
                        </a:rPr>
                        <a:t>Gts</a:t>
                      </a:r>
                      <a:r>
                        <a:rPr lang="en-US" sz="1600" b="1" kern="100" dirty="0" smtClean="0">
                          <a:latin typeface="Times New Roman" pitchFamily="18" charset="0"/>
                          <a:cs typeface="Times New Roman" pitchFamily="18" charset="0"/>
                        </a:rPr>
                        <a:t>)</a:t>
                      </a:r>
                      <a:endParaRPr lang="zh-CN" sz="1600" b="1" kern="100" dirty="0">
                        <a:latin typeface="Times New Roman" pitchFamily="18" charset="0"/>
                        <a:ea typeface="宋体"/>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76200" algn="ctr">
                        <a:spcAft>
                          <a:spcPts val="0"/>
                        </a:spcAft>
                      </a:pPr>
                      <a:r>
                        <a:rPr lang="en-US" sz="1600" b="1" kern="100" dirty="0" err="1">
                          <a:latin typeface="Times New Roman" pitchFamily="18" charset="0"/>
                          <a:cs typeface="Times New Roman" pitchFamily="18" charset="0"/>
                        </a:rPr>
                        <a:t>dBi</a:t>
                      </a:r>
                      <a:endParaRPr lang="zh-CN" sz="1600" b="1" kern="100" dirty="0">
                        <a:latin typeface="Times New Roman" pitchFamily="18" charset="0"/>
                        <a:ea typeface="宋体"/>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76200" marR="0" lvl="0" indent="0" algn="ctr" defTabSz="914400" rtl="0" eaLnBrk="1" fontAlgn="base" latinLnBrk="0" hangingPunct="1">
                        <a:lnSpc>
                          <a:spcPct val="115000"/>
                        </a:lnSpc>
                        <a:spcBef>
                          <a:spcPct val="0"/>
                        </a:spcBef>
                        <a:spcAft>
                          <a:spcPts val="0"/>
                        </a:spcAft>
                        <a:buClrTx/>
                        <a:buSzTx/>
                        <a:buFontTx/>
                        <a:buNone/>
                        <a:tabLst/>
                      </a:pPr>
                      <a:r>
                        <a:rPr lang="en-US" altLang="zh-CN" sz="1600" b="1" kern="100" dirty="0" smtClean="0">
                          <a:solidFill>
                            <a:schemeClr val="tx1"/>
                          </a:solidFill>
                          <a:latin typeface="Times New Roman" pitchFamily="18" charset="0"/>
                          <a:ea typeface="+mn-ea"/>
                          <a:cs typeface="Times New Roman" pitchFamily="18" charset="0"/>
                        </a:rPr>
                        <a:t>-10</a:t>
                      </a:r>
                      <a:endParaRPr lang="zh-CN" altLang="zh-CN" sz="1600" b="1" kern="100" dirty="0" smtClean="0">
                        <a:solidFill>
                          <a:schemeClr val="tx1"/>
                        </a:solidFill>
                        <a:latin typeface="Times New Roman" pitchFamily="18" charset="0"/>
                        <a:ea typeface="+mn-ea"/>
                        <a:cs typeface="Times New Roman" pitchFamily="18" charset="0"/>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r>
              <a:tr h="227117">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3 </a:t>
                      </a:r>
                      <a:endParaRPr kumimoji="0" lang="zh-CN" altLang="zh-CN" sz="1400" b="1" i="0" u="none" strike="noStrike" cap="none" normalizeH="0" baseline="0" dirty="0" smtClean="0">
                        <a:ln>
                          <a:noFill/>
                        </a:ln>
                        <a:solidFill>
                          <a:schemeClr val="tx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76200" algn="l">
                        <a:spcAft>
                          <a:spcPts val="0"/>
                        </a:spcAft>
                      </a:pPr>
                      <a:r>
                        <a:rPr lang="en-US" sz="1600" b="1" kern="100" dirty="0" smtClean="0">
                          <a:latin typeface="Times New Roman" pitchFamily="18" charset="0"/>
                          <a:cs typeface="Times New Roman" pitchFamily="18" charset="0"/>
                        </a:rPr>
                        <a:t>EIRP of  satellite</a:t>
                      </a:r>
                      <a:endParaRPr lang="zh-CN" sz="1600" b="1" kern="100" dirty="0">
                        <a:solidFill>
                          <a:schemeClr val="tx1"/>
                        </a:solidFill>
                        <a:latin typeface="Times New Roman" pitchFamily="18" charset="0"/>
                        <a:ea typeface="宋体"/>
                        <a:cs typeface="Times New Roman" pitchFamily="18" charset="0"/>
                      </a:endParaRPr>
                    </a:p>
                  </a:txBody>
                  <a:tcPr marL="67768" marR="67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76200" algn="ctr">
                        <a:spcAft>
                          <a:spcPts val="0"/>
                        </a:spcAft>
                      </a:pPr>
                      <a:r>
                        <a:rPr lang="en-US" sz="1600" b="1" kern="100" dirty="0" err="1">
                          <a:latin typeface="Times New Roman" pitchFamily="18" charset="0"/>
                          <a:cs typeface="Times New Roman" pitchFamily="18" charset="0"/>
                        </a:rPr>
                        <a:t>dBW</a:t>
                      </a:r>
                      <a:endParaRPr lang="zh-CN" sz="1600" b="1" kern="100" dirty="0">
                        <a:solidFill>
                          <a:schemeClr val="tx1"/>
                        </a:solidFill>
                        <a:latin typeface="Times New Roman" pitchFamily="18" charset="0"/>
                        <a:ea typeface="宋体"/>
                        <a:cs typeface="Times New Roman" pitchFamily="18" charset="0"/>
                      </a:endParaRPr>
                    </a:p>
                  </a:txBody>
                  <a:tcPr marL="67768" marR="67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76200" algn="ctr">
                        <a:spcAft>
                          <a:spcPts val="0"/>
                        </a:spcAft>
                      </a:pPr>
                      <a:r>
                        <a:rPr lang="en-US" sz="1600" b="1" kern="100" dirty="0" smtClean="0">
                          <a:latin typeface="Times New Roman" pitchFamily="18" charset="0"/>
                          <a:cs typeface="Times New Roman" pitchFamily="18" charset="0"/>
                        </a:rPr>
                        <a:t>-13.01</a:t>
                      </a:r>
                      <a:endParaRPr lang="zh-CN" sz="1600" b="1" kern="100" dirty="0">
                        <a:solidFill>
                          <a:schemeClr val="tx1"/>
                        </a:solidFill>
                        <a:latin typeface="Times New Roman" pitchFamily="18" charset="0"/>
                        <a:ea typeface="宋体"/>
                        <a:cs typeface="Times New Roman" pitchFamily="18" charset="0"/>
                      </a:endParaRPr>
                    </a:p>
                  </a:txBody>
                  <a:tcPr marL="67768" marR="67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r>
              <a:tr h="232677">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4 </a:t>
                      </a:r>
                      <a:endParaRPr kumimoji="0" lang="zh-CN" altLang="zh-CN" sz="1400" b="1" i="0" u="none" strike="noStrike" cap="none" normalizeH="0" baseline="0" dirty="0" smtClean="0">
                        <a:ln>
                          <a:noFill/>
                        </a:ln>
                        <a:solidFill>
                          <a:schemeClr val="tx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76200" algn="l">
                        <a:spcAft>
                          <a:spcPts val="0"/>
                        </a:spcAft>
                      </a:pPr>
                      <a:r>
                        <a:rPr lang="en-US" sz="1600" b="1" kern="100" dirty="0">
                          <a:latin typeface="Times New Roman" pitchFamily="18" charset="0"/>
                          <a:cs typeface="Times New Roman" pitchFamily="18" charset="0"/>
                        </a:rPr>
                        <a:t>Carrier frequency(</a:t>
                      </a:r>
                      <a:r>
                        <a:rPr lang="en-US" sz="1600" b="1" kern="100" dirty="0" err="1">
                          <a:latin typeface="Times New Roman" pitchFamily="18" charset="0"/>
                          <a:cs typeface="Times New Roman" pitchFamily="18" charset="0"/>
                        </a:rPr>
                        <a:t>Fd</a:t>
                      </a:r>
                      <a:r>
                        <a:rPr lang="en-US" sz="1600" b="1" kern="100" dirty="0">
                          <a:latin typeface="Times New Roman" pitchFamily="18" charset="0"/>
                          <a:cs typeface="Times New Roman" pitchFamily="18" charset="0"/>
                        </a:rPr>
                        <a:t>)</a:t>
                      </a:r>
                      <a:endParaRPr lang="zh-CN" sz="1600" b="1" kern="100" dirty="0">
                        <a:solidFill>
                          <a:schemeClr val="tx1"/>
                        </a:solidFill>
                        <a:latin typeface="Times New Roman" pitchFamily="18" charset="0"/>
                        <a:ea typeface="宋体"/>
                        <a:cs typeface="Times New Roman" pitchFamily="18" charset="0"/>
                      </a:endParaRPr>
                    </a:p>
                  </a:txBody>
                  <a:tcPr marL="67768" marR="67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76200" algn="ctr">
                        <a:spcAft>
                          <a:spcPts val="0"/>
                        </a:spcAft>
                      </a:pPr>
                      <a:r>
                        <a:rPr lang="en-US" sz="1600" b="1" kern="100">
                          <a:latin typeface="Times New Roman" pitchFamily="18" charset="0"/>
                          <a:cs typeface="Times New Roman" pitchFamily="18" charset="0"/>
                        </a:rPr>
                        <a:t>MHz</a:t>
                      </a:r>
                      <a:endParaRPr lang="zh-CN" sz="1600" b="1" kern="100">
                        <a:solidFill>
                          <a:schemeClr val="tx1"/>
                        </a:solidFill>
                        <a:latin typeface="Times New Roman" pitchFamily="18" charset="0"/>
                        <a:ea typeface="宋体"/>
                        <a:cs typeface="Times New Roman" pitchFamily="18" charset="0"/>
                      </a:endParaRPr>
                    </a:p>
                  </a:txBody>
                  <a:tcPr marL="67768" marR="67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76200" algn="ctr">
                        <a:spcAft>
                          <a:spcPts val="0"/>
                        </a:spcAft>
                      </a:pPr>
                      <a:r>
                        <a:rPr lang="en-US" sz="1600" b="1" kern="100" dirty="0" smtClean="0">
                          <a:solidFill>
                            <a:srgbClr val="FF0000"/>
                          </a:solidFill>
                          <a:latin typeface="Times New Roman" pitchFamily="18" charset="0"/>
                          <a:cs typeface="Times New Roman" pitchFamily="18" charset="0"/>
                        </a:rPr>
                        <a:t>2250</a:t>
                      </a:r>
                      <a:endParaRPr lang="zh-CN" sz="1600" b="1" kern="100" dirty="0">
                        <a:solidFill>
                          <a:srgbClr val="FF0000"/>
                        </a:solidFill>
                        <a:latin typeface="Times New Roman" pitchFamily="18" charset="0"/>
                        <a:ea typeface="宋体"/>
                        <a:cs typeface="Times New Roman" pitchFamily="18" charset="0"/>
                      </a:endParaRPr>
                    </a:p>
                  </a:txBody>
                  <a:tcPr marL="67768" marR="67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r>
              <a:tr h="227117">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5 </a:t>
                      </a:r>
                      <a:endParaRPr kumimoji="0" lang="zh-CN" altLang="zh-CN" sz="1400" b="1" i="0" u="none" strike="noStrike" cap="none" normalizeH="0" baseline="0" dirty="0" smtClean="0">
                        <a:ln>
                          <a:noFill/>
                        </a:ln>
                        <a:solidFill>
                          <a:schemeClr val="tx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algn="l">
                        <a:spcAft>
                          <a:spcPts val="0"/>
                        </a:spcAft>
                      </a:pPr>
                      <a:r>
                        <a:rPr lang="en-US" sz="1600" b="1" kern="100" dirty="0">
                          <a:latin typeface="Times New Roman" pitchFamily="18" charset="0"/>
                          <a:cs typeface="Times New Roman" pitchFamily="18" charset="0"/>
                        </a:rPr>
                        <a:t>Free space loss (</a:t>
                      </a:r>
                      <a:r>
                        <a:rPr lang="en-US" sz="1600" b="1" kern="100" dirty="0" err="1">
                          <a:latin typeface="Times New Roman" pitchFamily="18" charset="0"/>
                          <a:cs typeface="Times New Roman" pitchFamily="18" charset="0"/>
                        </a:rPr>
                        <a:t>Lspd</a:t>
                      </a:r>
                      <a:r>
                        <a:rPr lang="en-US" sz="1600" b="1" kern="100" dirty="0">
                          <a:latin typeface="Times New Roman" pitchFamily="18" charset="0"/>
                          <a:cs typeface="Times New Roman" pitchFamily="18" charset="0"/>
                        </a:rPr>
                        <a:t>)</a:t>
                      </a:r>
                      <a:endParaRPr lang="zh-CN" sz="1600" b="1" kern="100" dirty="0">
                        <a:solidFill>
                          <a:schemeClr val="tx1"/>
                        </a:solidFill>
                        <a:latin typeface="Times New Roman" pitchFamily="18" charset="0"/>
                        <a:ea typeface="宋体"/>
                        <a:cs typeface="Times New Roman" pitchFamily="18" charset="0"/>
                      </a:endParaRPr>
                    </a:p>
                  </a:txBody>
                  <a:tcPr marL="67768" marR="67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algn="ctr">
                        <a:spcAft>
                          <a:spcPts val="0"/>
                        </a:spcAft>
                      </a:pPr>
                      <a:r>
                        <a:rPr lang="en-US" sz="1600" b="1" kern="100">
                          <a:latin typeface="Times New Roman" pitchFamily="18" charset="0"/>
                          <a:cs typeface="Times New Roman" pitchFamily="18" charset="0"/>
                        </a:rPr>
                        <a:t>dB</a:t>
                      </a:r>
                      <a:endParaRPr lang="zh-CN" sz="1600" b="1" kern="100">
                        <a:solidFill>
                          <a:schemeClr val="tx1"/>
                        </a:solidFill>
                        <a:latin typeface="Times New Roman" pitchFamily="18" charset="0"/>
                        <a:ea typeface="宋体"/>
                        <a:cs typeface="Times New Roman" pitchFamily="18" charset="0"/>
                      </a:endParaRPr>
                    </a:p>
                  </a:txBody>
                  <a:tcPr marL="67768" marR="67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algn="ctr">
                        <a:spcAft>
                          <a:spcPts val="0"/>
                        </a:spcAft>
                      </a:pPr>
                      <a:r>
                        <a:rPr lang="en-US" sz="1600" b="1" kern="100" dirty="0">
                          <a:latin typeface="Times New Roman" pitchFamily="18" charset="0"/>
                          <a:cs typeface="Times New Roman" pitchFamily="18" charset="0"/>
                        </a:rPr>
                        <a:t>-</a:t>
                      </a:r>
                      <a:r>
                        <a:rPr lang="en-US" sz="1600" b="1" kern="100" dirty="0" smtClean="0">
                          <a:latin typeface="Times New Roman" pitchFamily="18" charset="0"/>
                          <a:cs typeface="Times New Roman" pitchFamily="18" charset="0"/>
                        </a:rPr>
                        <a:t>167.08</a:t>
                      </a:r>
                      <a:endParaRPr lang="zh-CN" sz="1600" b="1" kern="100" dirty="0">
                        <a:solidFill>
                          <a:schemeClr val="tx1"/>
                        </a:solidFill>
                        <a:latin typeface="Times New Roman" pitchFamily="18" charset="0"/>
                        <a:ea typeface="宋体"/>
                        <a:cs typeface="Times New Roman" pitchFamily="18" charset="0"/>
                      </a:endParaRPr>
                    </a:p>
                  </a:txBody>
                  <a:tcPr marL="67768" marR="67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56095">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6 </a:t>
                      </a:r>
                      <a:endParaRPr kumimoji="0" lang="zh-CN" altLang="zh-CN" sz="1400" b="1" i="0" u="none" strike="noStrike" cap="none" normalizeH="0" baseline="0" dirty="0" smtClean="0">
                        <a:ln>
                          <a:noFill/>
                        </a:ln>
                        <a:solidFill>
                          <a:schemeClr val="tx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algn="l">
                        <a:spcAft>
                          <a:spcPts val="0"/>
                        </a:spcAft>
                      </a:pPr>
                      <a:r>
                        <a:rPr lang="en-US" sz="1600" b="1" kern="100" dirty="0">
                          <a:latin typeface="Times New Roman" pitchFamily="18" charset="0"/>
                          <a:cs typeface="Times New Roman" pitchFamily="18" charset="0"/>
                        </a:rPr>
                        <a:t>Other loss</a:t>
                      </a:r>
                      <a:endParaRPr lang="zh-CN" sz="1600" b="1" kern="100" dirty="0">
                        <a:solidFill>
                          <a:schemeClr val="tx1"/>
                        </a:solidFill>
                        <a:latin typeface="Times New Roman" pitchFamily="18" charset="0"/>
                        <a:ea typeface="宋体"/>
                        <a:cs typeface="Times New Roman" pitchFamily="18" charset="0"/>
                      </a:endParaRPr>
                    </a:p>
                  </a:txBody>
                  <a:tcPr marL="67768" marR="67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algn="ctr">
                        <a:spcAft>
                          <a:spcPts val="0"/>
                        </a:spcAft>
                      </a:pPr>
                      <a:r>
                        <a:rPr lang="en-US" sz="1600" b="1" kern="100" dirty="0">
                          <a:latin typeface="Times New Roman" pitchFamily="18" charset="0"/>
                          <a:cs typeface="Times New Roman" pitchFamily="18" charset="0"/>
                        </a:rPr>
                        <a:t>dB</a:t>
                      </a:r>
                      <a:endParaRPr lang="zh-CN" sz="1600" b="1" kern="100" dirty="0">
                        <a:solidFill>
                          <a:schemeClr val="tx1"/>
                        </a:solidFill>
                        <a:latin typeface="Times New Roman" pitchFamily="18" charset="0"/>
                        <a:ea typeface="宋体"/>
                        <a:cs typeface="Times New Roman" pitchFamily="18" charset="0"/>
                      </a:endParaRPr>
                    </a:p>
                  </a:txBody>
                  <a:tcPr marL="67768" marR="67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algn="ctr">
                        <a:spcAft>
                          <a:spcPts val="0"/>
                        </a:spcAft>
                      </a:pPr>
                      <a:r>
                        <a:rPr lang="en-US" sz="1600" b="1" kern="100" dirty="0" smtClean="0">
                          <a:latin typeface="Times New Roman" pitchFamily="18" charset="0"/>
                          <a:cs typeface="Times New Roman" pitchFamily="18" charset="0"/>
                        </a:rPr>
                        <a:t>-2</a:t>
                      </a:r>
                      <a:endParaRPr lang="zh-CN" sz="1600" b="1" kern="100" dirty="0">
                        <a:solidFill>
                          <a:schemeClr val="tx1"/>
                        </a:solidFill>
                        <a:latin typeface="Times New Roman" pitchFamily="18" charset="0"/>
                        <a:ea typeface="宋体"/>
                        <a:cs typeface="Times New Roman" pitchFamily="18" charset="0"/>
                      </a:endParaRPr>
                    </a:p>
                  </a:txBody>
                  <a:tcPr marL="67768" marR="67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32677">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7 </a:t>
                      </a:r>
                      <a:endParaRPr kumimoji="0" lang="zh-CN" altLang="zh-CN" sz="1400" b="1" i="0" u="none" strike="noStrike" cap="none" normalizeH="0" baseline="0" dirty="0" smtClean="0">
                        <a:ln>
                          <a:noFill/>
                        </a:ln>
                        <a:solidFill>
                          <a:schemeClr val="tx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algn="l">
                        <a:spcAft>
                          <a:spcPts val="0"/>
                        </a:spcAft>
                      </a:pPr>
                      <a:r>
                        <a:rPr lang="en-US" sz="1600" b="1" kern="100" dirty="0">
                          <a:latin typeface="Times New Roman" pitchFamily="18" charset="0"/>
                          <a:cs typeface="Times New Roman" pitchFamily="18" charset="0"/>
                        </a:rPr>
                        <a:t>Gain/noise temperature ratio (G/T)g</a:t>
                      </a:r>
                      <a:endParaRPr lang="zh-CN" sz="1600" b="1" kern="100" dirty="0">
                        <a:solidFill>
                          <a:schemeClr val="tx1"/>
                        </a:solidFill>
                        <a:latin typeface="Times New Roman" pitchFamily="18" charset="0"/>
                        <a:ea typeface="宋体"/>
                        <a:cs typeface="Times New Roman" pitchFamily="18" charset="0"/>
                      </a:endParaRPr>
                    </a:p>
                  </a:txBody>
                  <a:tcPr marL="67768" marR="67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algn="ctr">
                        <a:spcAft>
                          <a:spcPts val="0"/>
                        </a:spcAft>
                      </a:pPr>
                      <a:r>
                        <a:rPr lang="en-US" sz="1600" b="1" kern="100" dirty="0">
                          <a:latin typeface="Times New Roman" pitchFamily="18" charset="0"/>
                          <a:cs typeface="Times New Roman" pitchFamily="18" charset="0"/>
                        </a:rPr>
                        <a:t>dB/K</a:t>
                      </a:r>
                      <a:endParaRPr lang="zh-CN" sz="1600" b="1" kern="100" dirty="0">
                        <a:solidFill>
                          <a:schemeClr val="tx1"/>
                        </a:solidFill>
                        <a:latin typeface="Times New Roman" pitchFamily="18" charset="0"/>
                        <a:ea typeface="宋体"/>
                        <a:cs typeface="Times New Roman" pitchFamily="18" charset="0"/>
                      </a:endParaRPr>
                    </a:p>
                  </a:txBody>
                  <a:tcPr marL="67768" marR="67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algn="ctr">
                        <a:spcAft>
                          <a:spcPts val="0"/>
                        </a:spcAft>
                      </a:pPr>
                      <a:r>
                        <a:rPr lang="en-US" sz="1600" b="1" kern="100" dirty="0" smtClean="0">
                          <a:latin typeface="Times New Roman" pitchFamily="18" charset="0"/>
                          <a:cs typeface="Times New Roman" pitchFamily="18" charset="0"/>
                        </a:rPr>
                        <a:t>13.45</a:t>
                      </a:r>
                      <a:endParaRPr lang="zh-CN" sz="1600" b="1" kern="100" dirty="0">
                        <a:solidFill>
                          <a:schemeClr val="tx1"/>
                        </a:solidFill>
                        <a:latin typeface="Times New Roman" pitchFamily="18" charset="0"/>
                        <a:ea typeface="宋体"/>
                        <a:cs typeface="Times New Roman" pitchFamily="18" charset="0"/>
                      </a:endParaRPr>
                    </a:p>
                  </a:txBody>
                  <a:tcPr marL="67768" marR="67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62512">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8 </a:t>
                      </a:r>
                      <a:endParaRPr kumimoji="0" lang="zh-CN" altLang="zh-CN" sz="1400" b="1" i="0" u="none" strike="noStrike" cap="none" normalizeH="0" baseline="0" dirty="0" smtClean="0">
                        <a:ln>
                          <a:noFill/>
                        </a:ln>
                        <a:solidFill>
                          <a:schemeClr val="tx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algn="l">
                        <a:spcAft>
                          <a:spcPts val="0"/>
                        </a:spcAft>
                      </a:pPr>
                      <a:r>
                        <a:rPr lang="en-US" sz="1600" b="1" kern="100" dirty="0">
                          <a:latin typeface="Times New Roman" pitchFamily="18" charset="0"/>
                          <a:cs typeface="Times New Roman" pitchFamily="18" charset="0"/>
                        </a:rPr>
                        <a:t>Signal to noise spectrum density ratio(S/No)g</a:t>
                      </a:r>
                      <a:endParaRPr lang="zh-CN" sz="1600" b="1" kern="100" dirty="0">
                        <a:solidFill>
                          <a:schemeClr val="tx1"/>
                        </a:solidFill>
                        <a:latin typeface="Times New Roman" pitchFamily="18" charset="0"/>
                        <a:ea typeface="宋体"/>
                        <a:cs typeface="Times New Roman" pitchFamily="18" charset="0"/>
                      </a:endParaRPr>
                    </a:p>
                  </a:txBody>
                  <a:tcPr marL="67768" marR="67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algn="ctr">
                        <a:spcAft>
                          <a:spcPts val="0"/>
                        </a:spcAft>
                      </a:pPr>
                      <a:r>
                        <a:rPr lang="en-US" sz="1600" b="1" kern="100" dirty="0" err="1">
                          <a:latin typeface="Times New Roman" pitchFamily="18" charset="0"/>
                          <a:cs typeface="Times New Roman" pitchFamily="18" charset="0"/>
                        </a:rPr>
                        <a:t>dBHz</a:t>
                      </a:r>
                      <a:endParaRPr lang="zh-CN" sz="1600" b="1" kern="100" dirty="0">
                        <a:solidFill>
                          <a:schemeClr val="tx1"/>
                        </a:solidFill>
                        <a:latin typeface="Times New Roman" pitchFamily="18" charset="0"/>
                        <a:ea typeface="宋体"/>
                        <a:cs typeface="Times New Roman" pitchFamily="18" charset="0"/>
                      </a:endParaRPr>
                    </a:p>
                  </a:txBody>
                  <a:tcPr marL="67768" marR="67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algn="ctr">
                        <a:spcAft>
                          <a:spcPts val="0"/>
                        </a:spcAft>
                      </a:pPr>
                      <a:r>
                        <a:rPr lang="en-US" sz="1600" b="1" kern="100" dirty="0" smtClean="0">
                          <a:latin typeface="Times New Roman" pitchFamily="18" charset="0"/>
                          <a:cs typeface="Times New Roman" pitchFamily="18" charset="0"/>
                        </a:rPr>
                        <a:t>59.96</a:t>
                      </a:r>
                      <a:endParaRPr lang="zh-CN" sz="1600" b="1" kern="100" dirty="0">
                        <a:solidFill>
                          <a:schemeClr val="tx1"/>
                        </a:solidFill>
                        <a:latin typeface="Times New Roman" pitchFamily="18" charset="0"/>
                        <a:ea typeface="宋体"/>
                        <a:cs typeface="Times New Roman" pitchFamily="18" charset="0"/>
                      </a:endParaRPr>
                    </a:p>
                  </a:txBody>
                  <a:tcPr marL="67768" marR="67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32986">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9 </a:t>
                      </a:r>
                      <a:endParaRPr kumimoji="0" lang="zh-CN" altLang="zh-CN" sz="1400" b="1" i="0" u="none" strike="noStrike" cap="none" normalizeH="0" baseline="0" dirty="0" smtClean="0">
                        <a:ln>
                          <a:noFill/>
                        </a:ln>
                        <a:solidFill>
                          <a:schemeClr val="tx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algn="l">
                        <a:spcAft>
                          <a:spcPts val="0"/>
                        </a:spcAft>
                      </a:pPr>
                      <a:r>
                        <a:rPr lang="en-US" sz="1600" b="1" kern="100" dirty="0" smtClean="0">
                          <a:latin typeface="Times New Roman" pitchFamily="18" charset="0"/>
                          <a:cs typeface="Times New Roman" pitchFamily="18" charset="0"/>
                        </a:rPr>
                        <a:t>Acquisition threshold of </a:t>
                      </a:r>
                      <a:r>
                        <a:rPr kumimoji="0" lang="en-US" altLang="zh-CN" sz="1600" b="1" i="0" u="none" strike="noStrike" cap="none" normalizeH="0" baseline="0" dirty="0" smtClean="0">
                          <a:ln>
                            <a:noFill/>
                          </a:ln>
                          <a:solidFill>
                            <a:schemeClr val="tx1"/>
                          </a:solidFill>
                          <a:effectLst/>
                          <a:latin typeface="Times New Roman" pitchFamily="18" charset="0"/>
                          <a:ea typeface="宋体" pitchFamily="2" charset="-122"/>
                        </a:rPr>
                        <a:t>Earth Station </a:t>
                      </a:r>
                      <a:endParaRPr lang="zh-CN" sz="1600" b="1" kern="100" dirty="0">
                        <a:solidFill>
                          <a:schemeClr val="tx1"/>
                        </a:solidFill>
                        <a:latin typeface="Times New Roman" pitchFamily="18" charset="0"/>
                        <a:ea typeface="宋体"/>
                        <a:cs typeface="Times New Roman" pitchFamily="18" charset="0"/>
                      </a:endParaRPr>
                    </a:p>
                  </a:txBody>
                  <a:tcPr marL="67768" marR="67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marR="0" indent="0" algn="ctr" defTabSz="914400" rtl="0" eaLnBrk="1" fontAlgn="auto" latinLnBrk="0" hangingPunct="1">
                        <a:lnSpc>
                          <a:spcPct val="100000"/>
                        </a:lnSpc>
                        <a:spcBef>
                          <a:spcPts val="0"/>
                        </a:spcBef>
                        <a:spcAft>
                          <a:spcPts val="0"/>
                        </a:spcAft>
                        <a:buClrTx/>
                        <a:buSzTx/>
                        <a:buFontTx/>
                        <a:buNone/>
                        <a:tabLst/>
                        <a:defRPr/>
                      </a:pPr>
                      <a:r>
                        <a:rPr lang="en-US" sz="1600" b="1" kern="100" dirty="0" err="1" smtClean="0">
                          <a:latin typeface="Times New Roman" pitchFamily="18" charset="0"/>
                          <a:cs typeface="Times New Roman" pitchFamily="18" charset="0"/>
                        </a:rPr>
                        <a:t>dBHz</a:t>
                      </a:r>
                      <a:endParaRPr lang="zh-CN" altLang="en-US" sz="1600" b="1" kern="100" dirty="0" smtClean="0">
                        <a:solidFill>
                          <a:schemeClr val="tx1"/>
                        </a:solidFill>
                        <a:latin typeface="Times New Roman" pitchFamily="18" charset="0"/>
                        <a:ea typeface="+mn-ea"/>
                        <a:cs typeface="Times New Roman" pitchFamily="18" charset="0"/>
                      </a:endParaRPr>
                    </a:p>
                  </a:txBody>
                  <a:tcPr marL="67768" marR="67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algn="ctr">
                        <a:spcAft>
                          <a:spcPts val="0"/>
                        </a:spcAft>
                      </a:pPr>
                      <a:r>
                        <a:rPr lang="en-US" altLang="zh-CN" sz="1600" b="1" kern="100" dirty="0" smtClean="0">
                          <a:solidFill>
                            <a:schemeClr val="tx1"/>
                          </a:solidFill>
                          <a:latin typeface="Times New Roman" pitchFamily="18" charset="0"/>
                          <a:ea typeface="宋体"/>
                          <a:cs typeface="Times New Roman" pitchFamily="18" charset="0"/>
                        </a:rPr>
                        <a:t>41</a:t>
                      </a:r>
                      <a:endParaRPr lang="zh-CN" sz="1600" b="1" kern="100" dirty="0">
                        <a:solidFill>
                          <a:schemeClr val="tx1"/>
                        </a:solidFill>
                        <a:latin typeface="Times New Roman" pitchFamily="18" charset="0"/>
                        <a:ea typeface="宋体"/>
                        <a:cs typeface="Times New Roman" pitchFamily="18" charset="0"/>
                      </a:endParaRPr>
                    </a:p>
                  </a:txBody>
                  <a:tcPr marL="67768" marR="67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74898">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10 </a:t>
                      </a:r>
                      <a:endParaRPr kumimoji="0" lang="zh-CN" altLang="zh-CN" sz="1400" b="1" i="0" u="none" strike="noStrike" cap="none" normalizeH="0" baseline="0" dirty="0" smtClean="0">
                        <a:ln>
                          <a:noFill/>
                        </a:ln>
                        <a:solidFill>
                          <a:schemeClr val="tx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algn="l">
                        <a:spcAft>
                          <a:spcPts val="0"/>
                        </a:spcAft>
                      </a:pPr>
                      <a:r>
                        <a:rPr lang="en-US" sz="1600" b="1" kern="100" dirty="0">
                          <a:latin typeface="Times New Roman" pitchFamily="18" charset="0"/>
                          <a:cs typeface="Times New Roman" pitchFamily="18" charset="0"/>
                        </a:rPr>
                        <a:t>Acquisition margin (</a:t>
                      </a:r>
                      <a:r>
                        <a:rPr lang="en-US" sz="1600" b="1" kern="100" dirty="0" err="1">
                          <a:latin typeface="Times New Roman" pitchFamily="18" charset="0"/>
                          <a:cs typeface="Times New Roman" pitchFamily="18" charset="0"/>
                        </a:rPr>
                        <a:t>Matg</a:t>
                      </a:r>
                      <a:r>
                        <a:rPr lang="en-US" sz="1600" b="1" kern="100" dirty="0">
                          <a:latin typeface="Times New Roman" pitchFamily="18" charset="0"/>
                          <a:cs typeface="Times New Roman" pitchFamily="18" charset="0"/>
                        </a:rPr>
                        <a:t>)</a:t>
                      </a:r>
                      <a:endParaRPr lang="zh-CN" sz="1600" b="1" kern="100" dirty="0">
                        <a:solidFill>
                          <a:schemeClr val="tx1"/>
                        </a:solidFill>
                        <a:latin typeface="Times New Roman" pitchFamily="18" charset="0"/>
                        <a:ea typeface="宋体"/>
                        <a:cs typeface="Times New Roman" pitchFamily="18" charset="0"/>
                      </a:endParaRPr>
                    </a:p>
                  </a:txBody>
                  <a:tcPr marL="67768" marR="67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algn="ctr">
                        <a:spcAft>
                          <a:spcPts val="0"/>
                        </a:spcAft>
                      </a:pPr>
                      <a:r>
                        <a:rPr lang="en-US" sz="1600" b="1" kern="100" dirty="0">
                          <a:latin typeface="Times New Roman" pitchFamily="18" charset="0"/>
                          <a:cs typeface="Times New Roman" pitchFamily="18" charset="0"/>
                        </a:rPr>
                        <a:t>dB</a:t>
                      </a:r>
                      <a:endParaRPr lang="zh-CN" sz="1600" b="1" kern="100" dirty="0">
                        <a:solidFill>
                          <a:schemeClr val="tx1"/>
                        </a:solidFill>
                        <a:latin typeface="Times New Roman" pitchFamily="18" charset="0"/>
                        <a:ea typeface="宋体"/>
                        <a:cs typeface="Times New Roman" pitchFamily="18" charset="0"/>
                      </a:endParaRPr>
                    </a:p>
                  </a:txBody>
                  <a:tcPr marL="67768" marR="67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algn="ctr">
                        <a:spcAft>
                          <a:spcPts val="0"/>
                        </a:spcAft>
                      </a:pPr>
                      <a:r>
                        <a:rPr lang="en-US" sz="1600" b="1" kern="100" dirty="0" smtClean="0">
                          <a:latin typeface="Times New Roman" pitchFamily="18" charset="0"/>
                          <a:cs typeface="Times New Roman" pitchFamily="18" charset="0"/>
                        </a:rPr>
                        <a:t>18.96</a:t>
                      </a:r>
                      <a:endParaRPr lang="zh-CN" sz="1600" b="1" kern="100" dirty="0">
                        <a:solidFill>
                          <a:schemeClr val="tx1"/>
                        </a:solidFill>
                        <a:latin typeface="Times New Roman" pitchFamily="18" charset="0"/>
                        <a:ea typeface="宋体"/>
                        <a:cs typeface="Times New Roman" pitchFamily="18" charset="0"/>
                      </a:endParaRPr>
                    </a:p>
                  </a:txBody>
                  <a:tcPr marL="67768" marR="67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3934">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11 </a:t>
                      </a:r>
                      <a:endParaRPr kumimoji="0" lang="zh-CN" altLang="zh-CN" sz="1400" b="1" i="0" u="none" strike="noStrike" cap="none" normalizeH="0" baseline="0" dirty="0" smtClean="0">
                        <a:ln>
                          <a:noFill/>
                        </a:ln>
                        <a:solidFill>
                          <a:schemeClr val="tx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algn="l" defTabSz="914400" rtl="0" eaLnBrk="1" latinLnBrk="0" hangingPunct="1">
                        <a:spcAft>
                          <a:spcPts val="0"/>
                        </a:spcAft>
                      </a:pPr>
                      <a:r>
                        <a:rPr lang="en-US" sz="1600" b="1" kern="100" dirty="0" smtClean="0">
                          <a:latin typeface="Times New Roman" pitchFamily="18" charset="0"/>
                          <a:cs typeface="Times New Roman" pitchFamily="18" charset="0"/>
                        </a:rPr>
                        <a:t>Telemetry </a:t>
                      </a:r>
                      <a:r>
                        <a:rPr lang="en-US" altLang="zh-CN" sz="1600" b="1" kern="100" dirty="0" smtClean="0">
                          <a:solidFill>
                            <a:schemeClr val="tx1"/>
                          </a:solidFill>
                          <a:latin typeface="Times New Roman" pitchFamily="18" charset="0"/>
                          <a:ea typeface="+mn-ea"/>
                          <a:cs typeface="Times New Roman" pitchFamily="18" charset="0"/>
                        </a:rPr>
                        <a:t>Modulated Loss(</a:t>
                      </a:r>
                      <a:r>
                        <a:rPr lang="en-US" altLang="zh-CN" sz="1600" b="1" kern="100" dirty="0" err="1" smtClean="0">
                          <a:solidFill>
                            <a:schemeClr val="tx1"/>
                          </a:solidFill>
                          <a:latin typeface="Times New Roman" pitchFamily="18" charset="0"/>
                          <a:ea typeface="+mn-ea"/>
                          <a:cs typeface="Times New Roman" pitchFamily="18" charset="0"/>
                        </a:rPr>
                        <a:t>Ltc</a:t>
                      </a:r>
                      <a:r>
                        <a:rPr lang="en-US" altLang="zh-CN" sz="1600" b="1" kern="100" dirty="0" smtClean="0">
                          <a:solidFill>
                            <a:schemeClr val="tx1"/>
                          </a:solidFill>
                          <a:latin typeface="Times New Roman" pitchFamily="18" charset="0"/>
                          <a:ea typeface="+mn-ea"/>
                          <a:cs typeface="Times New Roman" pitchFamily="18" charset="0"/>
                        </a:rPr>
                        <a:t>)</a:t>
                      </a:r>
                      <a:endParaRPr lang="zh-CN" altLang="en-US" sz="1600" b="1" kern="100" dirty="0">
                        <a:solidFill>
                          <a:schemeClr val="tx1"/>
                        </a:solidFill>
                        <a:latin typeface="Times New Roman" pitchFamily="18" charset="0"/>
                        <a:ea typeface="+mn-ea"/>
                        <a:cs typeface="Times New Roman" pitchFamily="18" charset="0"/>
                      </a:endParaRPr>
                    </a:p>
                  </a:txBody>
                  <a:tcPr marL="67768" marR="67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marR="0" indent="0" algn="ctr" defTabSz="914400" rtl="0" eaLnBrk="1" fontAlgn="auto" latinLnBrk="0" hangingPunct="1">
                        <a:lnSpc>
                          <a:spcPct val="100000"/>
                        </a:lnSpc>
                        <a:spcBef>
                          <a:spcPts val="0"/>
                        </a:spcBef>
                        <a:spcAft>
                          <a:spcPts val="0"/>
                        </a:spcAft>
                        <a:buClrTx/>
                        <a:buSzTx/>
                        <a:buFontTx/>
                        <a:buNone/>
                        <a:tabLst/>
                        <a:defRPr/>
                      </a:pPr>
                      <a:r>
                        <a:rPr lang="en-US" sz="1600" b="1" kern="100" dirty="0" smtClean="0">
                          <a:solidFill>
                            <a:schemeClr val="tx1"/>
                          </a:solidFill>
                          <a:latin typeface="Times New Roman" pitchFamily="18" charset="0"/>
                          <a:ea typeface="+mn-ea"/>
                          <a:cs typeface="Times New Roman" pitchFamily="18" charset="0"/>
                        </a:rPr>
                        <a:t>dB</a:t>
                      </a:r>
                      <a:endParaRPr lang="zh-CN" altLang="en-US" sz="1600" b="1" kern="100" dirty="0" smtClean="0">
                        <a:solidFill>
                          <a:schemeClr val="tx1"/>
                        </a:solidFill>
                        <a:latin typeface="Times New Roman" pitchFamily="18" charset="0"/>
                        <a:ea typeface="+mn-ea"/>
                        <a:cs typeface="Times New Roman" pitchFamily="18" charset="0"/>
                      </a:endParaRPr>
                    </a:p>
                  </a:txBody>
                  <a:tcPr marL="67768" marR="67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algn="ctr" defTabSz="914400" rtl="0" eaLnBrk="1" latinLnBrk="0" hangingPunct="1">
                        <a:spcAft>
                          <a:spcPts val="0"/>
                        </a:spcAft>
                      </a:pPr>
                      <a:r>
                        <a:rPr lang="en-US" altLang="zh-CN" sz="1600" b="1" kern="100" dirty="0" smtClean="0">
                          <a:solidFill>
                            <a:schemeClr val="tx1"/>
                          </a:solidFill>
                          <a:latin typeface="Times New Roman" pitchFamily="18" charset="0"/>
                          <a:ea typeface="+mn-ea"/>
                          <a:cs typeface="Times New Roman" pitchFamily="18" charset="0"/>
                        </a:rPr>
                        <a:t>-3.56</a:t>
                      </a:r>
                      <a:endParaRPr lang="zh-CN" altLang="en-US" sz="1600" b="1" kern="100" dirty="0" smtClean="0">
                        <a:solidFill>
                          <a:schemeClr val="tx1"/>
                        </a:solidFill>
                        <a:latin typeface="Times New Roman" pitchFamily="18" charset="0"/>
                        <a:ea typeface="+mn-ea"/>
                        <a:cs typeface="Times New Roman" pitchFamily="18" charset="0"/>
                      </a:endParaRPr>
                    </a:p>
                  </a:txBody>
                  <a:tcPr marL="67768" marR="67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80303">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12 </a:t>
                      </a:r>
                      <a:endParaRPr kumimoji="0" lang="zh-CN" altLang="zh-CN" sz="1400" b="1" i="0" u="none" strike="noStrike" cap="none" normalizeH="0" baseline="0" dirty="0" smtClean="0">
                        <a:ln>
                          <a:noFill/>
                        </a:ln>
                        <a:solidFill>
                          <a:schemeClr val="tx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indent="15875" algn="l">
                        <a:spcAft>
                          <a:spcPts val="0"/>
                        </a:spcAft>
                      </a:pPr>
                      <a:r>
                        <a:rPr lang="en-US" sz="1600" b="1" kern="100" dirty="0" smtClean="0">
                          <a:solidFill>
                            <a:schemeClr val="tx1"/>
                          </a:solidFill>
                          <a:latin typeface="Times New Roman" pitchFamily="18" charset="0"/>
                          <a:ea typeface="+mn-ea"/>
                          <a:cs typeface="Times New Roman" pitchFamily="18" charset="0"/>
                        </a:rPr>
                        <a:t>Signal to noise spectrum density ratio of TM</a:t>
                      </a:r>
                      <a:endParaRPr lang="zh-CN" sz="1600" b="1" kern="100" dirty="0">
                        <a:solidFill>
                          <a:schemeClr val="tx1"/>
                        </a:solidFill>
                        <a:latin typeface="Times New Roman" pitchFamily="18" charset="0"/>
                        <a:ea typeface="+mn-ea"/>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marR="0" lvl="0" indent="0" algn="ctr" defTabSz="914400" rtl="0" eaLnBrk="1" fontAlgn="base" latinLnBrk="0" hangingPunct="1">
                        <a:lnSpc>
                          <a:spcPct val="115000"/>
                        </a:lnSpc>
                        <a:spcBef>
                          <a:spcPct val="0"/>
                        </a:spcBef>
                        <a:spcAft>
                          <a:spcPts val="0"/>
                        </a:spcAft>
                        <a:buClrTx/>
                        <a:buSzTx/>
                        <a:buFontTx/>
                        <a:buNone/>
                        <a:tabLst/>
                        <a:defRPr/>
                      </a:pPr>
                      <a:r>
                        <a:rPr lang="en-US" altLang="zh-CN" sz="1600" b="1" kern="100" dirty="0" err="1" smtClean="0">
                          <a:solidFill>
                            <a:schemeClr val="tx1"/>
                          </a:solidFill>
                          <a:latin typeface="Times New Roman" pitchFamily="18" charset="0"/>
                          <a:ea typeface="+mn-ea"/>
                          <a:cs typeface="Times New Roman" pitchFamily="18" charset="0"/>
                        </a:rPr>
                        <a:t>dBHz</a:t>
                      </a:r>
                      <a:endParaRPr lang="zh-CN" altLang="en-US" sz="1600" b="1" kern="100" dirty="0" smtClean="0">
                        <a:solidFill>
                          <a:schemeClr val="tx1"/>
                        </a:solidFill>
                        <a:latin typeface="Times New Roman" pitchFamily="18" charset="0"/>
                        <a:ea typeface="+mn-ea"/>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marR="0" lvl="0" indent="0" algn="ctr" defTabSz="914400" rtl="0" eaLnBrk="1" fontAlgn="base" latinLnBrk="0" hangingPunct="1">
                        <a:lnSpc>
                          <a:spcPct val="115000"/>
                        </a:lnSpc>
                        <a:spcBef>
                          <a:spcPct val="0"/>
                        </a:spcBef>
                        <a:spcAft>
                          <a:spcPts val="0"/>
                        </a:spcAft>
                        <a:buClrTx/>
                        <a:buSzTx/>
                        <a:buFontTx/>
                        <a:buNone/>
                        <a:tabLst/>
                        <a:defRPr/>
                      </a:pPr>
                      <a:r>
                        <a:rPr lang="en-US" altLang="zh-CN" sz="1600" b="1" kern="100" dirty="0" smtClean="0">
                          <a:solidFill>
                            <a:schemeClr val="tx1"/>
                          </a:solidFill>
                          <a:latin typeface="Times New Roman" pitchFamily="18" charset="0"/>
                          <a:ea typeface="+mn-ea"/>
                          <a:cs typeface="Times New Roman" pitchFamily="18" charset="0"/>
                        </a:rPr>
                        <a:t>56.4</a:t>
                      </a:r>
                      <a:endParaRPr lang="zh-CN" altLang="zh-CN" sz="1600" b="1" kern="100" dirty="0" smtClean="0">
                        <a:solidFill>
                          <a:schemeClr val="tx1"/>
                        </a:solidFill>
                        <a:latin typeface="Times New Roman" pitchFamily="18" charset="0"/>
                        <a:ea typeface="+mn-ea"/>
                        <a:cs typeface="Times New Roman" pitchFamily="18" charset="0"/>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7117">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rPr>
                        <a:t>13</a:t>
                      </a:r>
                      <a:endParaRPr kumimoji="0" lang="zh-CN" altLang="zh-CN" sz="1400" b="1" i="0" u="none" strike="noStrike" cap="none" normalizeH="0" baseline="0" dirty="0" smtClean="0">
                        <a:ln>
                          <a:noFill/>
                        </a:ln>
                        <a:solidFill>
                          <a:schemeClr val="tx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indent="15875" algn="l">
                        <a:spcAft>
                          <a:spcPts val="0"/>
                        </a:spcAft>
                      </a:pPr>
                      <a:r>
                        <a:rPr lang="en-US" sz="1600" b="1" kern="100" smtClean="0">
                          <a:latin typeface="+mn-lt"/>
                          <a:ea typeface="宋体"/>
                          <a:cs typeface="Times New Roman"/>
                        </a:rPr>
                        <a:t>TM </a:t>
                      </a:r>
                      <a:r>
                        <a:rPr lang="en-US" sz="1600" b="1" kern="100" dirty="0" smtClean="0">
                          <a:latin typeface="+mn-lt"/>
                          <a:ea typeface="宋体"/>
                          <a:cs typeface="Times New Roman"/>
                        </a:rPr>
                        <a:t>Bit Rate </a:t>
                      </a:r>
                      <a:endParaRPr lang="zh-CN" sz="1600" b="1" kern="100" dirty="0">
                        <a:solidFill>
                          <a:schemeClr val="tx1"/>
                        </a:solidFill>
                        <a:latin typeface="Times New Roman" pitchFamily="18" charset="0"/>
                        <a:ea typeface="+mn-ea"/>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marR="0" lvl="0" indent="0" algn="ctr" defTabSz="914400" rtl="0" eaLnBrk="1" fontAlgn="base" latinLnBrk="0" hangingPunct="1">
                        <a:lnSpc>
                          <a:spcPct val="115000"/>
                        </a:lnSpc>
                        <a:spcBef>
                          <a:spcPct val="0"/>
                        </a:spcBef>
                        <a:spcAft>
                          <a:spcPts val="0"/>
                        </a:spcAft>
                        <a:buClrTx/>
                        <a:buSzTx/>
                        <a:buFontTx/>
                        <a:buNone/>
                        <a:tabLst/>
                        <a:defRPr/>
                      </a:pPr>
                      <a:r>
                        <a:rPr lang="en-US" altLang="zh-CN" sz="1600" b="1" kern="100" dirty="0" err="1" smtClean="0">
                          <a:solidFill>
                            <a:schemeClr val="tx1"/>
                          </a:solidFill>
                          <a:latin typeface="Times New Roman" pitchFamily="18" charset="0"/>
                          <a:ea typeface="+mn-ea"/>
                          <a:cs typeface="Times New Roman" pitchFamily="18" charset="0"/>
                        </a:rPr>
                        <a:t>dBHz</a:t>
                      </a:r>
                      <a:endParaRPr lang="zh-CN" altLang="en-US" sz="1600" b="1" kern="100" dirty="0" smtClean="0">
                        <a:solidFill>
                          <a:schemeClr val="tx1"/>
                        </a:solidFill>
                        <a:latin typeface="Times New Roman" pitchFamily="18" charset="0"/>
                        <a:ea typeface="+mn-ea"/>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marR="0" lvl="0" indent="0" algn="ctr" defTabSz="914400" rtl="0" eaLnBrk="1" fontAlgn="base" latinLnBrk="0" hangingPunct="1">
                        <a:lnSpc>
                          <a:spcPct val="115000"/>
                        </a:lnSpc>
                        <a:spcBef>
                          <a:spcPct val="0"/>
                        </a:spcBef>
                        <a:spcAft>
                          <a:spcPts val="0"/>
                        </a:spcAft>
                        <a:buClrTx/>
                        <a:buSzTx/>
                        <a:buFontTx/>
                        <a:buNone/>
                        <a:tabLst/>
                        <a:defRPr/>
                      </a:pPr>
                      <a:r>
                        <a:rPr lang="en-US" altLang="zh-CN" sz="1600" b="1" kern="100" dirty="0" smtClean="0">
                          <a:solidFill>
                            <a:schemeClr val="tx1"/>
                          </a:solidFill>
                          <a:latin typeface="Times New Roman" pitchFamily="18" charset="0"/>
                          <a:ea typeface="+mn-ea"/>
                          <a:cs typeface="Times New Roman" pitchFamily="18" charset="0"/>
                        </a:rPr>
                        <a:t>36.12</a:t>
                      </a:r>
                      <a:endParaRPr lang="zh-CN" altLang="zh-CN" sz="1600" b="1" kern="100" dirty="0" smtClean="0">
                        <a:solidFill>
                          <a:schemeClr val="tx1"/>
                        </a:solidFill>
                        <a:latin typeface="Times New Roman" pitchFamily="18" charset="0"/>
                        <a:ea typeface="+mn-ea"/>
                        <a:cs typeface="Times New Roman" pitchFamily="18" charset="0"/>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7117">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rPr>
                        <a:t>14</a:t>
                      </a:r>
                      <a:endParaRPr kumimoji="0" lang="zh-CN" altLang="zh-CN" sz="1400" b="1" i="0" u="none" strike="noStrike" cap="none" normalizeH="0" baseline="0" dirty="0" smtClean="0">
                        <a:ln>
                          <a:noFill/>
                        </a:ln>
                        <a:solidFill>
                          <a:schemeClr val="tx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indent="15875" algn="l">
                        <a:spcAft>
                          <a:spcPts val="0"/>
                        </a:spcAft>
                      </a:pPr>
                      <a:r>
                        <a:rPr lang="en-US" altLang="zh-CN" sz="1600" b="1" kern="100" dirty="0" err="1" smtClean="0">
                          <a:solidFill>
                            <a:schemeClr val="tx1"/>
                          </a:solidFill>
                          <a:latin typeface="Times New Roman" pitchFamily="18" charset="0"/>
                          <a:ea typeface="+mn-ea"/>
                          <a:cs typeface="Times New Roman" pitchFamily="18" charset="0"/>
                        </a:rPr>
                        <a:t>Eb</a:t>
                      </a:r>
                      <a:r>
                        <a:rPr lang="en-US" altLang="zh-CN" sz="1600" b="1" kern="100" dirty="0" smtClean="0">
                          <a:solidFill>
                            <a:schemeClr val="tx1"/>
                          </a:solidFill>
                          <a:latin typeface="Times New Roman" pitchFamily="18" charset="0"/>
                          <a:ea typeface="+mn-ea"/>
                          <a:cs typeface="Times New Roman" pitchFamily="18" charset="0"/>
                        </a:rPr>
                        <a:t>/N0 needed(1*10</a:t>
                      </a:r>
                      <a:r>
                        <a:rPr lang="en-US" altLang="zh-CN" sz="1600" b="1" kern="100" baseline="30000" dirty="0" smtClean="0">
                          <a:solidFill>
                            <a:schemeClr val="tx1"/>
                          </a:solidFill>
                          <a:latin typeface="Times New Roman" pitchFamily="18" charset="0"/>
                          <a:ea typeface="+mn-ea"/>
                          <a:cs typeface="Times New Roman" pitchFamily="18" charset="0"/>
                        </a:rPr>
                        <a:t>-6</a:t>
                      </a:r>
                      <a:r>
                        <a:rPr lang="en-US" altLang="zh-CN" sz="1600" b="1" kern="100" dirty="0" smtClean="0">
                          <a:solidFill>
                            <a:schemeClr val="tx1"/>
                          </a:solidFill>
                          <a:latin typeface="Times New Roman" pitchFamily="18" charset="0"/>
                          <a:ea typeface="+mn-ea"/>
                          <a:cs typeface="Times New Roman" pitchFamily="18" charset="0"/>
                        </a:rPr>
                        <a:t>)</a:t>
                      </a:r>
                      <a:endParaRPr lang="zh-CN" sz="1600" b="1" kern="100" dirty="0">
                        <a:solidFill>
                          <a:schemeClr val="tx1"/>
                        </a:solidFill>
                        <a:latin typeface="Times New Roman" pitchFamily="18" charset="0"/>
                        <a:ea typeface="+mn-ea"/>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marR="0" lvl="0" indent="0" algn="ctr" defTabSz="914400" rtl="0" eaLnBrk="1" fontAlgn="base" latinLnBrk="0" hangingPunct="1">
                        <a:lnSpc>
                          <a:spcPct val="115000"/>
                        </a:lnSpc>
                        <a:spcBef>
                          <a:spcPct val="0"/>
                        </a:spcBef>
                        <a:spcAft>
                          <a:spcPts val="0"/>
                        </a:spcAft>
                        <a:buClrTx/>
                        <a:buSzTx/>
                        <a:buFontTx/>
                        <a:buNone/>
                        <a:tabLst/>
                        <a:defRPr/>
                      </a:pPr>
                      <a:r>
                        <a:rPr lang="en-US" altLang="zh-CN" sz="1600" b="1" kern="100" dirty="0" err="1" smtClean="0">
                          <a:solidFill>
                            <a:schemeClr val="tx1"/>
                          </a:solidFill>
                          <a:latin typeface="Times New Roman" pitchFamily="18" charset="0"/>
                          <a:ea typeface="+mn-ea"/>
                          <a:cs typeface="Times New Roman" pitchFamily="18" charset="0"/>
                        </a:rPr>
                        <a:t>dBHz</a:t>
                      </a:r>
                      <a:endParaRPr lang="zh-CN" altLang="en-US" sz="1600" b="1" kern="100" dirty="0" smtClean="0">
                        <a:solidFill>
                          <a:schemeClr val="tx1"/>
                        </a:solidFill>
                        <a:latin typeface="Times New Roman" pitchFamily="18" charset="0"/>
                        <a:ea typeface="+mn-ea"/>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marR="0" lvl="0" indent="0" algn="ctr" defTabSz="914400" rtl="0" eaLnBrk="1" fontAlgn="base" latinLnBrk="0" hangingPunct="1">
                        <a:lnSpc>
                          <a:spcPct val="115000"/>
                        </a:lnSpc>
                        <a:spcBef>
                          <a:spcPct val="0"/>
                        </a:spcBef>
                        <a:spcAft>
                          <a:spcPts val="0"/>
                        </a:spcAft>
                        <a:buClrTx/>
                        <a:buSzTx/>
                        <a:buFontTx/>
                        <a:buNone/>
                        <a:tabLst/>
                        <a:defRPr/>
                      </a:pPr>
                      <a:r>
                        <a:rPr lang="en-US" altLang="zh-CN" sz="1600" b="1" kern="100" dirty="0" smtClean="0">
                          <a:solidFill>
                            <a:schemeClr val="tx1"/>
                          </a:solidFill>
                          <a:latin typeface="Times New Roman" pitchFamily="18" charset="0"/>
                          <a:ea typeface="+mn-ea"/>
                          <a:cs typeface="Times New Roman" pitchFamily="18" charset="0"/>
                        </a:rPr>
                        <a:t>10.5</a:t>
                      </a:r>
                      <a:endParaRPr lang="zh-CN" altLang="zh-CN" sz="1600" b="1" kern="100" dirty="0" smtClean="0">
                        <a:solidFill>
                          <a:schemeClr val="tx1"/>
                        </a:solidFill>
                        <a:latin typeface="Times New Roman" pitchFamily="18" charset="0"/>
                        <a:ea typeface="+mn-ea"/>
                        <a:cs typeface="Times New Roman" pitchFamily="18" charset="0"/>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27117">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cap="none" normalizeH="0" baseline="0" dirty="0" smtClean="0">
                          <a:ln>
                            <a:noFill/>
                          </a:ln>
                          <a:solidFill>
                            <a:schemeClr val="tx1"/>
                          </a:solidFill>
                          <a:effectLst/>
                          <a:latin typeface="Times New Roman" pitchFamily="18" charset="0"/>
                          <a:ea typeface="宋体" pitchFamily="2" charset="-122"/>
                        </a:rPr>
                        <a:t>15</a:t>
                      </a:r>
                      <a:endParaRPr kumimoji="0" lang="zh-CN" altLang="zh-CN" sz="1400" b="1" i="0" u="none" strike="noStrike" cap="none" normalizeH="0" baseline="0" dirty="0" smtClean="0">
                        <a:ln>
                          <a:noFill/>
                        </a:ln>
                        <a:solidFill>
                          <a:schemeClr val="tx1"/>
                        </a:solidFill>
                        <a:effectLst/>
                        <a:latin typeface="Times New Roman" pitchFamily="18" charset="0"/>
                        <a:ea typeface="宋体" pitchFamily="2" charset="-122"/>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indent="15875" algn="l">
                        <a:spcAft>
                          <a:spcPts val="0"/>
                        </a:spcAft>
                      </a:pPr>
                      <a:r>
                        <a:rPr lang="en-US" sz="1600" b="1" kern="100" smtClean="0">
                          <a:solidFill>
                            <a:schemeClr val="tx1"/>
                          </a:solidFill>
                          <a:latin typeface="Times New Roman" pitchFamily="18" charset="0"/>
                          <a:ea typeface="+mn-ea"/>
                          <a:cs typeface="Times New Roman" pitchFamily="18" charset="0"/>
                        </a:rPr>
                        <a:t>Tele</a:t>
                      </a:r>
                      <a:r>
                        <a:rPr lang="en-US" sz="1600" b="1" kern="100" smtClean="0">
                          <a:latin typeface="Times New Roman" pitchFamily="18" charset="0"/>
                          <a:cs typeface="Times New Roman" pitchFamily="18" charset="0"/>
                        </a:rPr>
                        <a:t>metry</a:t>
                      </a:r>
                      <a:r>
                        <a:rPr lang="en-US" sz="1600" b="1" kern="100" smtClean="0">
                          <a:solidFill>
                            <a:schemeClr val="tx1"/>
                          </a:solidFill>
                          <a:latin typeface="Times New Roman" pitchFamily="18" charset="0"/>
                          <a:ea typeface="+mn-ea"/>
                          <a:cs typeface="Times New Roman" pitchFamily="18" charset="0"/>
                        </a:rPr>
                        <a:t> </a:t>
                      </a:r>
                      <a:r>
                        <a:rPr lang="en-US" sz="1600" b="1" kern="100" dirty="0" smtClean="0">
                          <a:solidFill>
                            <a:schemeClr val="tx1"/>
                          </a:solidFill>
                          <a:latin typeface="Times New Roman" pitchFamily="18" charset="0"/>
                          <a:ea typeface="+mn-ea"/>
                          <a:cs typeface="Times New Roman" pitchFamily="18" charset="0"/>
                        </a:rPr>
                        <a:t>De</a:t>
                      </a:r>
                      <a:r>
                        <a:rPr lang="en-US" altLang="zh-CN" sz="1600" b="1" kern="100" dirty="0" smtClean="0">
                          <a:solidFill>
                            <a:schemeClr val="tx1"/>
                          </a:solidFill>
                          <a:latin typeface="Times New Roman" pitchFamily="18" charset="0"/>
                          <a:ea typeface="+mn-ea"/>
                          <a:cs typeface="Times New Roman" pitchFamily="18" charset="0"/>
                        </a:rPr>
                        <a:t>modulated Loss(</a:t>
                      </a:r>
                      <a:r>
                        <a:rPr lang="en-US" altLang="zh-CN" sz="1600" b="1" kern="100" dirty="0" err="1" smtClean="0">
                          <a:solidFill>
                            <a:schemeClr val="tx1"/>
                          </a:solidFill>
                          <a:latin typeface="Times New Roman" pitchFamily="18" charset="0"/>
                          <a:ea typeface="+mn-ea"/>
                          <a:cs typeface="Times New Roman" pitchFamily="18" charset="0"/>
                        </a:rPr>
                        <a:t>Leq</a:t>
                      </a:r>
                      <a:r>
                        <a:rPr lang="en-US" altLang="zh-CN" sz="1600" b="1" kern="100" dirty="0" smtClean="0">
                          <a:solidFill>
                            <a:schemeClr val="tx1"/>
                          </a:solidFill>
                          <a:latin typeface="Times New Roman" pitchFamily="18" charset="0"/>
                          <a:ea typeface="+mn-ea"/>
                          <a:cs typeface="Times New Roman" pitchFamily="18" charset="0"/>
                        </a:rPr>
                        <a:t>)</a:t>
                      </a:r>
                      <a:endParaRPr lang="zh-CN" sz="1600" b="1" kern="100" dirty="0">
                        <a:solidFill>
                          <a:schemeClr val="tx1"/>
                        </a:solidFill>
                        <a:latin typeface="Times New Roman" pitchFamily="18" charset="0"/>
                        <a:ea typeface="+mn-ea"/>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marR="0" lvl="0" indent="0" algn="ctr" defTabSz="914400" rtl="0" eaLnBrk="1" fontAlgn="base" latinLnBrk="0" hangingPunct="1">
                        <a:lnSpc>
                          <a:spcPct val="115000"/>
                        </a:lnSpc>
                        <a:spcBef>
                          <a:spcPct val="0"/>
                        </a:spcBef>
                        <a:spcAft>
                          <a:spcPts val="0"/>
                        </a:spcAft>
                        <a:buClrTx/>
                        <a:buSzTx/>
                        <a:buFontTx/>
                        <a:buNone/>
                        <a:tabLst/>
                        <a:defRPr/>
                      </a:pPr>
                      <a:r>
                        <a:rPr lang="en-US" altLang="zh-CN" sz="1600" b="1" kern="100" dirty="0" smtClean="0">
                          <a:solidFill>
                            <a:schemeClr val="tx1"/>
                          </a:solidFill>
                          <a:latin typeface="Times New Roman" pitchFamily="18" charset="0"/>
                          <a:ea typeface="+mn-ea"/>
                          <a:cs typeface="Times New Roman" pitchFamily="18" charset="0"/>
                        </a:rPr>
                        <a:t>dB</a:t>
                      </a:r>
                      <a:endParaRPr lang="zh-CN" altLang="en-US" sz="1600" b="1" kern="100" dirty="0" smtClean="0">
                        <a:solidFill>
                          <a:schemeClr val="tx1"/>
                        </a:solidFill>
                        <a:latin typeface="Times New Roman" pitchFamily="18" charset="0"/>
                        <a:ea typeface="+mn-ea"/>
                        <a:cs typeface="Times New Roman"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marR="0" lvl="0" indent="0" algn="ctr" defTabSz="914400" rtl="0" eaLnBrk="1" fontAlgn="base" latinLnBrk="0" hangingPunct="1">
                        <a:lnSpc>
                          <a:spcPct val="115000"/>
                        </a:lnSpc>
                        <a:spcBef>
                          <a:spcPct val="0"/>
                        </a:spcBef>
                        <a:spcAft>
                          <a:spcPts val="0"/>
                        </a:spcAft>
                        <a:buClrTx/>
                        <a:buSzTx/>
                        <a:buFontTx/>
                        <a:buNone/>
                        <a:tabLst/>
                        <a:defRPr/>
                      </a:pPr>
                      <a:r>
                        <a:rPr lang="en-US" altLang="zh-CN" sz="1600" b="1" kern="100" dirty="0" smtClean="0">
                          <a:solidFill>
                            <a:schemeClr val="tx1"/>
                          </a:solidFill>
                          <a:latin typeface="Times New Roman" pitchFamily="18" charset="0"/>
                          <a:ea typeface="+mn-ea"/>
                          <a:cs typeface="Times New Roman" pitchFamily="18" charset="0"/>
                        </a:rPr>
                        <a:t>2.5</a:t>
                      </a:r>
                      <a:endParaRPr lang="zh-CN" altLang="zh-CN" sz="1600" b="1" kern="100" dirty="0" smtClean="0">
                        <a:solidFill>
                          <a:schemeClr val="tx1"/>
                        </a:solidFill>
                        <a:latin typeface="Times New Roman" pitchFamily="18" charset="0"/>
                        <a:ea typeface="+mn-ea"/>
                        <a:cs typeface="Times New Roman" pitchFamily="18" charset="0"/>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14332">
                <a:tc>
                  <a:txBody>
                    <a:body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zh-CN" sz="1400" b="1" i="0" u="none" strike="noStrike" kern="1200" cap="none" normalizeH="0" baseline="0" dirty="0" smtClean="0">
                          <a:ln>
                            <a:noFill/>
                          </a:ln>
                          <a:solidFill>
                            <a:schemeClr val="tx1"/>
                          </a:solidFill>
                          <a:effectLst/>
                          <a:latin typeface="Times New Roman" pitchFamily="18" charset="0"/>
                          <a:ea typeface="宋体" pitchFamily="2" charset="-122"/>
                          <a:cs typeface="+mn-cs"/>
                        </a:rPr>
                        <a:t>16</a:t>
                      </a:r>
                      <a:endParaRPr kumimoji="0" lang="zh-CN" altLang="en-US" sz="1400" b="1" i="0" u="none" strike="noStrike" kern="1200" cap="none" normalizeH="0" baseline="0" dirty="0" smtClean="0">
                        <a:ln>
                          <a:noFill/>
                        </a:ln>
                        <a:solidFill>
                          <a:schemeClr val="tx1"/>
                        </a:solidFill>
                        <a:effectLst/>
                        <a:latin typeface="Times New Roman" pitchFamily="18" charset="0"/>
                        <a:ea typeface="宋体" pitchFamily="2" charset="-122"/>
                        <a:cs typeface="+mn-cs"/>
                      </a:endParaRPr>
                    </a:p>
                  </a:txBody>
                  <a:tcPr marL="46989" marR="46989" marT="4445"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algn="l">
                        <a:spcAft>
                          <a:spcPts val="0"/>
                        </a:spcAft>
                      </a:pPr>
                      <a:r>
                        <a:rPr lang="en-US" sz="1600" b="1" kern="100" dirty="0">
                          <a:latin typeface="Times New Roman" pitchFamily="18" charset="0"/>
                          <a:cs typeface="Times New Roman" pitchFamily="18" charset="0"/>
                        </a:rPr>
                        <a:t>Telemetry margin (</a:t>
                      </a:r>
                      <a:r>
                        <a:rPr lang="en-US" sz="1600" b="1" kern="100" dirty="0" err="1">
                          <a:latin typeface="Times New Roman" pitchFamily="18" charset="0"/>
                          <a:cs typeface="Times New Roman" pitchFamily="18" charset="0"/>
                        </a:rPr>
                        <a:t>Mtm</a:t>
                      </a:r>
                      <a:r>
                        <a:rPr lang="en-US" sz="1600" b="1" kern="100" dirty="0">
                          <a:latin typeface="Times New Roman" pitchFamily="18" charset="0"/>
                          <a:cs typeface="Times New Roman" pitchFamily="18" charset="0"/>
                        </a:rPr>
                        <a:t>)</a:t>
                      </a:r>
                      <a:endParaRPr lang="zh-CN" sz="1600" b="1" kern="100" dirty="0">
                        <a:solidFill>
                          <a:schemeClr val="tx1"/>
                        </a:solidFill>
                        <a:latin typeface="Times New Roman" pitchFamily="18" charset="0"/>
                        <a:ea typeface="宋体"/>
                        <a:cs typeface="Times New Roman" pitchFamily="18" charset="0"/>
                      </a:endParaRPr>
                    </a:p>
                  </a:txBody>
                  <a:tcPr marL="67768" marR="67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algn="ctr" defTabSz="914400" rtl="0" eaLnBrk="1" latinLnBrk="0" hangingPunct="1">
                        <a:spcAft>
                          <a:spcPts val="0"/>
                        </a:spcAft>
                      </a:pPr>
                      <a:r>
                        <a:rPr lang="en-US" sz="1600" b="1" kern="100" dirty="0">
                          <a:solidFill>
                            <a:schemeClr val="tx1"/>
                          </a:solidFill>
                          <a:latin typeface="Times New Roman" pitchFamily="18" charset="0"/>
                          <a:ea typeface="+mn-ea"/>
                          <a:cs typeface="Times New Roman" pitchFamily="18" charset="0"/>
                        </a:rPr>
                        <a:t>dB</a:t>
                      </a:r>
                      <a:endParaRPr lang="zh-CN" sz="1600" b="1" kern="100" dirty="0">
                        <a:solidFill>
                          <a:schemeClr val="tx1"/>
                        </a:solidFill>
                        <a:latin typeface="Times New Roman" pitchFamily="18" charset="0"/>
                        <a:ea typeface="+mn-ea"/>
                        <a:cs typeface="Times New Roman" pitchFamily="18" charset="0"/>
                      </a:endParaRPr>
                    </a:p>
                  </a:txBody>
                  <a:tcPr marL="67768" marR="67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76200" algn="ctr" defTabSz="914400" rtl="0" eaLnBrk="1" latinLnBrk="0" hangingPunct="1">
                        <a:spcAft>
                          <a:spcPts val="0"/>
                        </a:spcAft>
                      </a:pPr>
                      <a:r>
                        <a:rPr lang="en-US" sz="1600" b="1" kern="100" dirty="0" smtClean="0">
                          <a:solidFill>
                            <a:schemeClr val="tx1"/>
                          </a:solidFill>
                          <a:latin typeface="Times New Roman" pitchFamily="18" charset="0"/>
                          <a:ea typeface="+mn-ea"/>
                          <a:cs typeface="Times New Roman" pitchFamily="18" charset="0"/>
                        </a:rPr>
                        <a:t>7.28</a:t>
                      </a:r>
                      <a:endParaRPr lang="zh-CN" sz="1600" b="1" kern="100" dirty="0">
                        <a:solidFill>
                          <a:schemeClr val="tx1"/>
                        </a:solidFill>
                        <a:latin typeface="Times New Roman" pitchFamily="18" charset="0"/>
                        <a:ea typeface="+mn-ea"/>
                        <a:cs typeface="Times New Roman" pitchFamily="18" charset="0"/>
                      </a:endParaRPr>
                    </a:p>
                  </a:txBody>
                  <a:tcPr marL="67768" marR="6776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10"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19</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11"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3" name="矩形 12"/>
          <p:cNvSpPr/>
          <p:nvPr/>
        </p:nvSpPr>
        <p:spPr>
          <a:xfrm>
            <a:off x="261938" y="261938"/>
            <a:ext cx="7168565" cy="584775"/>
          </a:xfrm>
          <a:prstGeom prst="rect">
            <a:avLst/>
          </a:prstGeom>
        </p:spPr>
        <p:txBody>
          <a:bodyPr wrap="none">
            <a:spAutoFit/>
          </a:bodyPr>
          <a:lstStyle/>
          <a:p>
            <a:pPr>
              <a:spcBef>
                <a:spcPct val="0"/>
              </a:spcBef>
              <a:defRPr/>
            </a:pPr>
            <a:r>
              <a:rPr lang="en-US" altLang="zh-CN" sz="3200" b="1" kern="1700" dirty="0" smtClean="0">
                <a:solidFill>
                  <a:schemeClr val="bg1"/>
                </a:solidFill>
                <a:latin typeface="微软雅黑" pitchFamily="34" charset="-122"/>
                <a:ea typeface="微软雅黑" pitchFamily="34" charset="-122"/>
                <a:cs typeface="+mj-cs"/>
              </a:rPr>
              <a:t>2  Technical Specification Analysis</a:t>
            </a:r>
            <a:endParaRPr lang="zh-CN" altLang="en-US" sz="3200" b="1" kern="1700" dirty="0">
              <a:solidFill>
                <a:schemeClr val="bg1"/>
              </a:solidFill>
              <a:latin typeface="微软雅黑" pitchFamily="34" charset="-122"/>
              <a:ea typeface="微软雅黑" pitchFamily="34" charset="-122"/>
              <a:cs typeface="+mj-cs"/>
            </a:endParaRPr>
          </a:p>
        </p:txBody>
      </p:sp>
      <p:sp>
        <p:nvSpPr>
          <p:cNvPr id="14" name="矩形 13"/>
          <p:cNvSpPr/>
          <p:nvPr/>
        </p:nvSpPr>
        <p:spPr>
          <a:xfrm>
            <a:off x="307013" y="1643050"/>
            <a:ext cx="394660" cy="506292"/>
          </a:xfrm>
          <a:prstGeom prst="rect">
            <a:avLst/>
          </a:prstGeom>
        </p:spPr>
        <p:txBody>
          <a:bodyPr wrap="none">
            <a:spAutoFit/>
          </a:bodyPr>
          <a:lstStyle/>
          <a:p>
            <a:pPr lvl="0" algn="just" fontAlgn="base">
              <a:lnSpc>
                <a:spcPct val="150000"/>
              </a:lnSpc>
              <a:spcBef>
                <a:spcPct val="0"/>
              </a:spcBef>
              <a:spcAft>
                <a:spcPts val="1200"/>
              </a:spcAft>
              <a:defRPr/>
            </a:pPr>
            <a:r>
              <a:rPr lang="en-US" altLang="zh-CN" sz="2000" b="1" dirty="0" smtClean="0"/>
              <a:t>3)</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2"/>
          <p:cNvSpPr txBox="1">
            <a:spLocks/>
          </p:cNvSpPr>
          <p:nvPr/>
        </p:nvSpPr>
        <p:spPr bwMode="auto">
          <a:xfrm>
            <a:off x="50800" y="233363"/>
            <a:ext cx="8229600" cy="1143000"/>
          </a:xfrm>
          <a:prstGeom prst="rect">
            <a:avLst/>
          </a:prstGeom>
          <a:noFill/>
          <a:ln w="9525">
            <a:noFill/>
            <a:miter lim="800000"/>
            <a:headEnd/>
            <a:tailEnd/>
          </a:ln>
        </p:spPr>
        <p:txBody>
          <a:bodyPr/>
          <a:lstStyle/>
          <a:p>
            <a:pPr eaLnBrk="0" hangingPunct="0"/>
            <a:endParaRPr lang="zh-CN" altLang="en-US" sz="4400">
              <a:solidFill>
                <a:schemeClr val="tx2"/>
              </a:solidFill>
            </a:endParaRPr>
          </a:p>
        </p:txBody>
      </p:sp>
      <p:sp>
        <p:nvSpPr>
          <p:cNvPr id="64516"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4517"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4518" name="Rectangle 4"/>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4519" name="TextBox 5"/>
          <p:cNvSpPr txBox="1">
            <a:spLocks noChangeArrowheads="1"/>
          </p:cNvSpPr>
          <p:nvPr/>
        </p:nvSpPr>
        <p:spPr bwMode="auto">
          <a:xfrm>
            <a:off x="215900" y="1255701"/>
            <a:ext cx="5688013" cy="530225"/>
          </a:xfrm>
          <a:prstGeom prst="rect">
            <a:avLst/>
          </a:prstGeom>
          <a:noFill/>
          <a:ln w="9525">
            <a:noFill/>
            <a:miter lim="800000"/>
            <a:headEnd/>
            <a:tailEnd/>
          </a:ln>
        </p:spPr>
        <p:txBody>
          <a:bodyPr lIns="82954" tIns="41477" rIns="82954" bIns="41477">
            <a:spAutoFit/>
          </a:bodyPr>
          <a:lstStyle/>
          <a:p>
            <a:pPr marL="457200" indent="-457200">
              <a:spcAft>
                <a:spcPts val="1200"/>
              </a:spcAft>
              <a:buFont typeface="Wingdings" pitchFamily="2" charset="2"/>
              <a:buChar char="p"/>
            </a:pPr>
            <a:r>
              <a:rPr lang="en-US" altLang="zh-CN" sz="2800" b="1" dirty="0" smtClean="0">
                <a:solidFill>
                  <a:srgbClr val="0070C0"/>
                </a:solidFill>
              </a:rPr>
              <a:t> </a:t>
            </a:r>
            <a:r>
              <a:rPr lang="en-US" altLang="zh-CN" sz="2800" b="1" dirty="0">
                <a:solidFill>
                  <a:srgbClr val="0070C0"/>
                </a:solidFill>
              </a:rPr>
              <a:t>TT&amp;C </a:t>
            </a:r>
            <a:r>
              <a:rPr lang="en-US" altLang="zh-CN" sz="2800" b="1" dirty="0" smtClean="0">
                <a:solidFill>
                  <a:srgbClr val="0070C0"/>
                </a:solidFill>
              </a:rPr>
              <a:t>Time and Area Analysis</a:t>
            </a:r>
            <a:endParaRPr lang="en-US" altLang="zh-CN" sz="2800" b="1" dirty="0">
              <a:solidFill>
                <a:srgbClr val="0070C0"/>
              </a:solidFill>
            </a:endParaRPr>
          </a:p>
        </p:txBody>
      </p:sp>
      <p:sp>
        <p:nvSpPr>
          <p:cNvPr id="64520" name="Rectangle 2"/>
          <p:cNvSpPr>
            <a:spLocks noChangeArrowheads="1"/>
          </p:cNvSpPr>
          <p:nvPr/>
        </p:nvSpPr>
        <p:spPr bwMode="gray">
          <a:xfrm>
            <a:off x="0" y="0"/>
            <a:ext cx="9144000" cy="457200"/>
          </a:xfrm>
          <a:prstGeom prst="rect">
            <a:avLst/>
          </a:prstGeom>
          <a:noFill/>
          <a:ln w="9525" algn="ctr">
            <a:noFill/>
            <a:miter lim="800000"/>
            <a:headEnd/>
            <a:tailEnd/>
          </a:ln>
        </p:spPr>
        <p:txBody>
          <a:bodyPr wrap="none" anchor="ctr">
            <a:spAutoFit/>
          </a:bodyPr>
          <a:lstStyle/>
          <a:p>
            <a:endParaRPr lang="zh-CN" altLang="en-US"/>
          </a:p>
        </p:txBody>
      </p:sp>
      <p:sp>
        <p:nvSpPr>
          <p:cNvPr id="10"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20</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11"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graphicFrame>
        <p:nvGraphicFramePr>
          <p:cNvPr id="14" name="表格 13"/>
          <p:cNvGraphicFramePr>
            <a:graphicFrameLocks noGrp="1"/>
          </p:cNvGraphicFramePr>
          <p:nvPr/>
        </p:nvGraphicFramePr>
        <p:xfrm>
          <a:off x="928662" y="2428868"/>
          <a:ext cx="7286676" cy="785818"/>
        </p:xfrm>
        <a:graphic>
          <a:graphicData uri="http://schemas.openxmlformats.org/drawingml/2006/table">
            <a:tbl>
              <a:tblPr/>
              <a:tblGrid>
                <a:gridCol w="1742206"/>
                <a:gridCol w="2837600"/>
                <a:gridCol w="2706870"/>
              </a:tblGrid>
              <a:tr h="392909">
                <a:tc>
                  <a:txBody>
                    <a:bodyPr/>
                    <a:lstStyle/>
                    <a:p>
                      <a:pPr algn="ctr">
                        <a:spcAft>
                          <a:spcPts val="0"/>
                        </a:spcAft>
                      </a:pPr>
                      <a:r>
                        <a:rPr lang="en-US" altLang="zh-CN" sz="1600" b="1" kern="100" dirty="0" smtClean="0">
                          <a:latin typeface="Times New Roman"/>
                          <a:ea typeface="宋体"/>
                          <a:cs typeface="Times New Roman"/>
                        </a:rPr>
                        <a:t>FGS</a:t>
                      </a:r>
                      <a:endParaRPr lang="zh-CN" sz="1600" kern="100" dirty="0">
                        <a:latin typeface="Times New Roman"/>
                        <a:ea typeface="宋体"/>
                        <a:cs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altLang="zh-CN" sz="1600" b="1" kern="100" dirty="0" smtClean="0">
                          <a:latin typeface="Times New Roman"/>
                          <a:ea typeface="宋体"/>
                          <a:cs typeface="Times New Roman"/>
                        </a:rPr>
                        <a:t>Shortest time</a:t>
                      </a:r>
                      <a:r>
                        <a:rPr lang="zh-CN" sz="1600" b="1" kern="100" dirty="0" smtClean="0">
                          <a:latin typeface="Times New Roman"/>
                          <a:ea typeface="宋体"/>
                          <a:cs typeface="Times New Roman"/>
                        </a:rPr>
                        <a:t>（</a:t>
                      </a:r>
                      <a:r>
                        <a:rPr lang="en-US" sz="1600" b="1" kern="100" dirty="0">
                          <a:latin typeface="Times New Roman"/>
                          <a:ea typeface="宋体"/>
                          <a:cs typeface="Times New Roman"/>
                        </a:rPr>
                        <a:t>s</a:t>
                      </a:r>
                      <a:r>
                        <a:rPr lang="zh-CN" sz="1600" b="1" kern="100" dirty="0">
                          <a:latin typeface="Times New Roman"/>
                          <a:ea typeface="宋体"/>
                          <a:cs typeface="Times New Roman"/>
                        </a:rPr>
                        <a:t>）</a:t>
                      </a:r>
                      <a:endParaRPr lang="zh-CN" sz="1600" kern="100" dirty="0">
                        <a:latin typeface="Times New Roman"/>
                        <a:ea typeface="宋体"/>
                        <a:cs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altLang="zh-CN" sz="1600" b="1" kern="100" dirty="0" smtClean="0">
                          <a:latin typeface="Times New Roman"/>
                          <a:ea typeface="宋体"/>
                          <a:cs typeface="Times New Roman"/>
                        </a:rPr>
                        <a:t>Longest time</a:t>
                      </a:r>
                      <a:r>
                        <a:rPr lang="zh-CN" sz="1600" b="1" kern="100" dirty="0" smtClean="0">
                          <a:latin typeface="Times New Roman"/>
                          <a:ea typeface="宋体"/>
                          <a:cs typeface="Times New Roman"/>
                        </a:rPr>
                        <a:t>（</a:t>
                      </a:r>
                      <a:r>
                        <a:rPr lang="en-US" sz="1600" b="1" kern="100" dirty="0">
                          <a:latin typeface="Times New Roman"/>
                          <a:ea typeface="宋体"/>
                          <a:cs typeface="Times New Roman"/>
                        </a:rPr>
                        <a:t>s</a:t>
                      </a:r>
                      <a:r>
                        <a:rPr lang="zh-CN" sz="1600" b="1" kern="100" dirty="0">
                          <a:latin typeface="Times New Roman"/>
                          <a:ea typeface="宋体"/>
                          <a:cs typeface="Times New Roman"/>
                        </a:rPr>
                        <a:t>）</a:t>
                      </a:r>
                      <a:endParaRPr lang="zh-CN" sz="1600" kern="100" dirty="0">
                        <a:latin typeface="Times New Roman"/>
                        <a:ea typeface="宋体"/>
                        <a:cs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r>
              <a:tr h="392909">
                <a:tc>
                  <a:txBody>
                    <a:bodyPr/>
                    <a:lstStyle/>
                    <a:p>
                      <a:pPr algn="ctr">
                        <a:spcAft>
                          <a:spcPts val="0"/>
                        </a:spcAft>
                      </a:pPr>
                      <a:r>
                        <a:rPr lang="en-US" altLang="zh-CN" sz="1600" kern="100" dirty="0" smtClean="0">
                          <a:latin typeface="Times New Roman"/>
                          <a:ea typeface="宋体"/>
                          <a:cs typeface="宋体"/>
                        </a:rPr>
                        <a:t>Addis Ababa</a:t>
                      </a:r>
                      <a:endParaRPr lang="zh-CN" sz="1600" kern="100" dirty="0">
                        <a:latin typeface="Times New Roman"/>
                        <a:ea typeface="宋体"/>
                        <a:cs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dirty="0">
                          <a:latin typeface="Times New Roman"/>
                          <a:ea typeface="宋体"/>
                          <a:cs typeface="Times New Roman"/>
                        </a:rPr>
                        <a:t>234.5</a:t>
                      </a:r>
                      <a:endParaRPr lang="zh-CN" sz="1600" kern="100" dirty="0">
                        <a:latin typeface="Times New Roman"/>
                        <a:ea typeface="宋体"/>
                        <a:cs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1600" kern="100" dirty="0">
                          <a:latin typeface="Times New Roman"/>
                          <a:ea typeface="宋体"/>
                          <a:cs typeface="Times New Roman"/>
                        </a:rPr>
                        <a:t>640.9</a:t>
                      </a:r>
                      <a:endParaRPr lang="zh-CN" sz="1600" kern="100" dirty="0">
                        <a:latin typeface="Times New Roman"/>
                        <a:ea typeface="宋体"/>
                        <a:cs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
        <p:nvSpPr>
          <p:cNvPr id="15" name="矩形 14"/>
          <p:cNvSpPr/>
          <p:nvPr/>
        </p:nvSpPr>
        <p:spPr>
          <a:xfrm>
            <a:off x="857224" y="1785926"/>
            <a:ext cx="7335534" cy="460382"/>
          </a:xfrm>
          <a:prstGeom prst="rect">
            <a:avLst/>
          </a:prstGeom>
        </p:spPr>
        <p:txBody>
          <a:bodyPr wrap="none">
            <a:spAutoFit/>
          </a:bodyPr>
          <a:lstStyle/>
          <a:p>
            <a:pPr lvl="0" algn="just" fontAlgn="base">
              <a:lnSpc>
                <a:spcPct val="150000"/>
              </a:lnSpc>
              <a:spcBef>
                <a:spcPct val="0"/>
              </a:spcBef>
              <a:spcAft>
                <a:spcPts val="1200"/>
              </a:spcAft>
              <a:defRPr/>
            </a:pPr>
            <a:r>
              <a:rPr lang="en-US" altLang="zh-CN" b="1" dirty="0" smtClean="0"/>
              <a:t>Example :</a:t>
            </a:r>
            <a:r>
              <a:rPr lang="en-US" b="1" dirty="0" smtClean="0"/>
              <a:t>23 Nov 2019 00:00:00.000 UTCG</a:t>
            </a:r>
            <a:r>
              <a:rPr lang="zh-CN" altLang="en-US" b="1" dirty="0" smtClean="0"/>
              <a:t>～</a:t>
            </a:r>
            <a:r>
              <a:rPr lang="en-US" b="1" dirty="0" smtClean="0"/>
              <a:t>1 Dec 2019 00:00:00.000</a:t>
            </a:r>
            <a:r>
              <a:rPr lang="zh-CN" altLang="en-US" b="1" dirty="0" smtClean="0"/>
              <a:t> </a:t>
            </a:r>
            <a:r>
              <a:rPr lang="en-US" b="1" dirty="0" smtClean="0"/>
              <a:t>UTCG</a:t>
            </a:r>
            <a:endParaRPr lang="en-US" altLang="zh-CN" b="1" dirty="0" smtClean="0"/>
          </a:p>
        </p:txBody>
      </p:sp>
      <p:pic>
        <p:nvPicPr>
          <p:cNvPr id="101377" name="Picture 1"/>
          <p:cNvPicPr>
            <a:picLocks noChangeAspect="1" noChangeArrowheads="1"/>
          </p:cNvPicPr>
          <p:nvPr/>
        </p:nvPicPr>
        <p:blipFill>
          <a:blip r:embed="rId3"/>
          <a:srcRect/>
          <a:stretch>
            <a:fillRect/>
          </a:stretch>
        </p:blipFill>
        <p:spPr bwMode="auto">
          <a:xfrm>
            <a:off x="1643042" y="3357562"/>
            <a:ext cx="5715040" cy="2863554"/>
          </a:xfrm>
          <a:prstGeom prst="rect">
            <a:avLst/>
          </a:prstGeom>
          <a:noFill/>
          <a:ln w="9525">
            <a:noFill/>
            <a:miter lim="800000"/>
            <a:headEnd/>
            <a:tailEnd/>
          </a:ln>
        </p:spPr>
      </p:pic>
      <p:sp>
        <p:nvSpPr>
          <p:cNvPr id="16" name="矩形 15"/>
          <p:cNvSpPr/>
          <p:nvPr/>
        </p:nvSpPr>
        <p:spPr>
          <a:xfrm>
            <a:off x="261938" y="261938"/>
            <a:ext cx="7168565" cy="584775"/>
          </a:xfrm>
          <a:prstGeom prst="rect">
            <a:avLst/>
          </a:prstGeom>
        </p:spPr>
        <p:txBody>
          <a:bodyPr wrap="none">
            <a:spAutoFit/>
          </a:bodyPr>
          <a:lstStyle/>
          <a:p>
            <a:pPr>
              <a:spcBef>
                <a:spcPct val="0"/>
              </a:spcBef>
              <a:defRPr/>
            </a:pPr>
            <a:r>
              <a:rPr lang="en-US" altLang="zh-CN" sz="3200" b="1" kern="1700" dirty="0" smtClean="0">
                <a:solidFill>
                  <a:schemeClr val="bg1"/>
                </a:solidFill>
                <a:latin typeface="微软雅黑" pitchFamily="34" charset="-122"/>
                <a:ea typeface="微软雅黑" pitchFamily="34" charset="-122"/>
                <a:cs typeface="+mj-cs"/>
              </a:rPr>
              <a:t>2  Technical Specification Analysis</a:t>
            </a:r>
            <a:endParaRPr lang="zh-CN" altLang="en-US" sz="3200" b="1" kern="1700" dirty="0">
              <a:solidFill>
                <a:schemeClr val="bg1"/>
              </a:solidFill>
              <a:latin typeface="微软雅黑" pitchFamily="34" charset="-122"/>
              <a:ea typeface="微软雅黑" pitchFamily="34" charset="-122"/>
              <a:cs typeface="+mj-cs"/>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未标题-2 拷贝"/>
          <p:cNvPicPr>
            <a:picLocks noChangeAspect="1" noChangeArrowheads="1"/>
          </p:cNvPicPr>
          <p:nvPr/>
        </p:nvPicPr>
        <p:blipFill>
          <a:blip r:embed="rId3"/>
          <a:srcRect/>
          <a:stretch>
            <a:fillRect/>
          </a:stretch>
        </p:blipFill>
        <p:spPr bwMode="auto">
          <a:xfrm>
            <a:off x="171450" y="1311275"/>
            <a:ext cx="2803525" cy="5037138"/>
          </a:xfrm>
          <a:prstGeom prst="rect">
            <a:avLst/>
          </a:prstGeom>
          <a:noFill/>
          <a:ln w="9525">
            <a:noFill/>
            <a:miter lim="800000"/>
            <a:headEnd/>
            <a:tailEnd/>
          </a:ln>
        </p:spPr>
      </p:pic>
      <p:pic>
        <p:nvPicPr>
          <p:cNvPr id="5" name="Picture 1" descr="D:\resources for ppt\sat5.jpg"/>
          <p:cNvPicPr>
            <a:picLocks noChangeAspect="1" noChangeArrowheads="1"/>
          </p:cNvPicPr>
          <p:nvPr/>
        </p:nvPicPr>
        <p:blipFill>
          <a:blip r:embed="rId4" cstate="email"/>
          <a:stretch>
            <a:fillRect/>
          </a:stretch>
        </p:blipFill>
        <p:spPr bwMode="auto">
          <a:xfrm>
            <a:off x="2389984" y="3225699"/>
            <a:ext cx="381198" cy="487156"/>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9" name="单圆角矩形 8"/>
          <p:cNvSpPr/>
          <p:nvPr/>
        </p:nvSpPr>
        <p:spPr>
          <a:xfrm>
            <a:off x="3036917" y="3136373"/>
            <a:ext cx="5678487" cy="649817"/>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pPr lvl="0"/>
            <a:r>
              <a:rPr lang="en-US" altLang="zh-CN" sz="2400" b="1" dirty="0" smtClean="0">
                <a:solidFill>
                  <a:schemeClr val="tx1"/>
                </a:solidFill>
                <a:latin typeface="微软雅黑" pitchFamily="34" charset="-122"/>
                <a:ea typeface="微软雅黑" pitchFamily="34" charset="-122"/>
              </a:rPr>
              <a:t>2</a:t>
            </a:r>
            <a:r>
              <a:rPr lang="en-US" altLang="zh-CN" sz="2400" b="1" dirty="0" smtClean="0">
                <a:solidFill>
                  <a:schemeClr val="bg1"/>
                </a:solidFill>
                <a:latin typeface="微软雅黑" pitchFamily="34" charset="-122"/>
                <a:ea typeface="微软雅黑" pitchFamily="34" charset="-122"/>
              </a:rPr>
              <a:t>  </a:t>
            </a:r>
            <a:r>
              <a:rPr lang="en-US" altLang="zh-CN" sz="2400" b="1" dirty="0" smtClean="0">
                <a:solidFill>
                  <a:schemeClr val="tx1"/>
                </a:solidFill>
              </a:rPr>
              <a:t>Technical Specification </a:t>
            </a:r>
            <a:r>
              <a:rPr lang="en-US" altLang="zh-CN" sz="2400" b="1" dirty="0" smtClean="0"/>
              <a:t>Analysis</a:t>
            </a:r>
            <a:endParaRPr lang="zh-CN" altLang="en-US" sz="2400" b="1" dirty="0">
              <a:solidFill>
                <a:schemeClr val="tx1"/>
              </a:solidFill>
            </a:endParaRPr>
          </a:p>
        </p:txBody>
      </p:sp>
      <p:pic>
        <p:nvPicPr>
          <p:cNvPr id="11" name="Picture 1" descr="D:\resources for ppt\sat5.jpg"/>
          <p:cNvPicPr>
            <a:picLocks noChangeAspect="1" noChangeArrowheads="1"/>
          </p:cNvPicPr>
          <p:nvPr/>
        </p:nvPicPr>
        <p:blipFill>
          <a:blip r:embed="rId4" cstate="email"/>
          <a:stretch>
            <a:fillRect/>
          </a:stretch>
        </p:blipFill>
        <p:spPr bwMode="auto">
          <a:xfrm>
            <a:off x="2357422" y="2279117"/>
            <a:ext cx="381198" cy="487156"/>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12" name="标题 2"/>
          <p:cNvSpPr>
            <a:spLocks noGrp="1"/>
          </p:cNvSpPr>
          <p:nvPr>
            <p:ph type="title"/>
          </p:nvPr>
        </p:nvSpPr>
        <p:spPr>
          <a:xfrm>
            <a:off x="457200" y="274638"/>
            <a:ext cx="8229600" cy="796908"/>
          </a:xfrm>
        </p:spPr>
        <p:txBody>
          <a:bodyPr anchor="t">
            <a:normAutofit/>
          </a:bodyPr>
          <a:lstStyle/>
          <a:p>
            <a:pPr algn="l"/>
            <a:r>
              <a:rPr lang="en-US" altLang="zh-CN" sz="3600" dirty="0" smtClean="0"/>
              <a:t>Outlines</a:t>
            </a:r>
            <a:endParaRPr lang="zh-CN" altLang="en-US" sz="3600" dirty="0" smtClean="0"/>
          </a:p>
        </p:txBody>
      </p:sp>
      <p:pic>
        <p:nvPicPr>
          <p:cNvPr id="13" name="Picture 1" descr="D:\resources for ppt\sat5.jpg"/>
          <p:cNvPicPr>
            <a:picLocks noChangeAspect="1" noChangeArrowheads="1"/>
          </p:cNvPicPr>
          <p:nvPr/>
        </p:nvPicPr>
        <p:blipFill>
          <a:blip r:embed="rId4" cstate="email"/>
          <a:stretch>
            <a:fillRect/>
          </a:stretch>
        </p:blipFill>
        <p:spPr bwMode="auto">
          <a:xfrm>
            <a:off x="2389984" y="5083087"/>
            <a:ext cx="381198" cy="487156"/>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14" name="单圆角矩形 13"/>
          <p:cNvSpPr/>
          <p:nvPr/>
        </p:nvSpPr>
        <p:spPr>
          <a:xfrm>
            <a:off x="3036917" y="4993761"/>
            <a:ext cx="5678487" cy="649817"/>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pPr lvl="0"/>
            <a:r>
              <a:rPr lang="en-US" altLang="zh-CN" sz="2400" dirty="0" smtClean="0">
                <a:solidFill>
                  <a:schemeClr val="tx1"/>
                </a:solidFill>
                <a:latin typeface="微软雅黑" pitchFamily="34" charset="-122"/>
                <a:ea typeface="微软雅黑" pitchFamily="34" charset="-122"/>
              </a:rPr>
              <a:t>4</a:t>
            </a:r>
            <a:r>
              <a:rPr lang="en-US" altLang="zh-CN" sz="2400" b="1" dirty="0" smtClean="0">
                <a:solidFill>
                  <a:schemeClr val="tx1"/>
                </a:solidFill>
                <a:latin typeface="微软雅黑" pitchFamily="34" charset="-122"/>
                <a:ea typeface="微软雅黑" pitchFamily="34" charset="-122"/>
              </a:rPr>
              <a:t> </a:t>
            </a:r>
            <a:r>
              <a:rPr lang="en-US" altLang="zh-CN" sz="2400" b="1" dirty="0" smtClean="0">
                <a:solidFill>
                  <a:schemeClr val="bg1"/>
                </a:solidFill>
                <a:latin typeface="微软雅黑" pitchFamily="34" charset="-122"/>
                <a:ea typeface="微软雅黑" pitchFamily="34" charset="-122"/>
              </a:rPr>
              <a:t>  </a:t>
            </a:r>
            <a:r>
              <a:rPr lang="en-US" altLang="zh-CN" sz="2400" b="1" dirty="0" smtClean="0"/>
              <a:t>Positioning and Orbit Determination</a:t>
            </a:r>
            <a:endParaRPr lang="zh-CN" altLang="en-US" sz="2400" b="1" dirty="0"/>
          </a:p>
        </p:txBody>
      </p:sp>
      <p:sp>
        <p:nvSpPr>
          <p:cNvPr id="18"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9"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21</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20" name="单圆角矩形 19"/>
          <p:cNvSpPr/>
          <p:nvPr/>
        </p:nvSpPr>
        <p:spPr>
          <a:xfrm>
            <a:off x="3000364" y="2207679"/>
            <a:ext cx="5678487" cy="647700"/>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r>
              <a:rPr lang="en-US" altLang="zh-CN" sz="2400" b="1" dirty="0" smtClean="0">
                <a:solidFill>
                  <a:schemeClr val="tx1"/>
                </a:solidFill>
                <a:latin typeface="微软雅黑" pitchFamily="34" charset="-122"/>
                <a:ea typeface="微软雅黑" pitchFamily="34" charset="-122"/>
              </a:rPr>
              <a:t>1</a:t>
            </a:r>
            <a:r>
              <a:rPr lang="en-US" altLang="zh-CN" sz="2400" b="1" dirty="0" smtClean="0">
                <a:solidFill>
                  <a:schemeClr val="tx1"/>
                </a:solidFill>
                <a:latin typeface="Arial" pitchFamily="34" charset="0"/>
                <a:cs typeface="Arial" pitchFamily="34" charset="0"/>
              </a:rPr>
              <a:t>  Introduction</a:t>
            </a:r>
            <a:endParaRPr lang="zh-CN" altLang="en-US" sz="2400" b="1" dirty="0" smtClean="0">
              <a:solidFill>
                <a:schemeClr val="tx1"/>
              </a:solidFill>
              <a:latin typeface="Arial" pitchFamily="34" charset="0"/>
              <a:cs typeface="Arial" pitchFamily="34" charset="0"/>
            </a:endParaRPr>
          </a:p>
        </p:txBody>
      </p:sp>
      <p:sp>
        <p:nvSpPr>
          <p:cNvPr id="21" name="单圆角矩形 20"/>
          <p:cNvSpPr/>
          <p:nvPr/>
        </p:nvSpPr>
        <p:spPr>
          <a:xfrm>
            <a:off x="3000364" y="4071942"/>
            <a:ext cx="5706406" cy="648072"/>
          </a:xfrm>
          <a:prstGeom prst="round1Rect">
            <a:avLst/>
          </a:prstGeom>
          <a:solidFill>
            <a:srgbClr val="F79600"/>
          </a:solidFill>
          <a:ln>
            <a:solidFill>
              <a:srgbClr val="FFC064"/>
            </a:solidFill>
          </a:ln>
          <a:effectLst>
            <a:glow rad="139700">
              <a:srgbClr val="FF9600">
                <a:alpha val="40000"/>
              </a:srgbClr>
            </a:glow>
          </a:effectLst>
        </p:spPr>
        <p:style>
          <a:lnRef idx="2">
            <a:schemeClr val="accent6">
              <a:shade val="50000"/>
            </a:schemeClr>
          </a:lnRef>
          <a:fillRef idx="1">
            <a:schemeClr val="accent6"/>
          </a:fillRef>
          <a:effectRef idx="0">
            <a:schemeClr val="accent6"/>
          </a:effectRef>
          <a:fontRef idx="minor">
            <a:schemeClr val="lt1"/>
          </a:fontRef>
        </p:style>
        <p:txBody>
          <a:bodyPr anchor="ctr"/>
          <a:lstStyle/>
          <a:p>
            <a:pPr lvl="0"/>
            <a:r>
              <a:rPr lang="en-US" altLang="zh-CN" sz="2400" b="1" dirty="0" smtClean="0">
                <a:solidFill>
                  <a:schemeClr val="tx1"/>
                </a:solidFill>
              </a:rPr>
              <a:t> </a:t>
            </a:r>
            <a:r>
              <a:rPr lang="en-US" altLang="zh-CN" sz="2400" b="1" dirty="0" smtClean="0">
                <a:solidFill>
                  <a:schemeClr val="tx1"/>
                </a:solidFill>
                <a:latin typeface="微软雅黑" pitchFamily="34" charset="-122"/>
                <a:ea typeface="微软雅黑" pitchFamily="34" charset="-122"/>
              </a:rPr>
              <a:t>3</a:t>
            </a:r>
            <a:r>
              <a:rPr lang="en-US" altLang="zh-CN" sz="2400" b="1" dirty="0" smtClean="0">
                <a:solidFill>
                  <a:schemeClr val="tx1"/>
                </a:solidFill>
              </a:rPr>
              <a:t>    Telemetry And Command</a:t>
            </a:r>
            <a:endParaRPr lang="zh-CN" altLang="en-US" sz="2400" b="1" dirty="0" smtClean="0">
              <a:solidFill>
                <a:schemeClr val="tx1"/>
              </a:solidFill>
            </a:endParaRPr>
          </a:p>
        </p:txBody>
      </p:sp>
      <p:pic>
        <p:nvPicPr>
          <p:cNvPr id="24" name="Picture 2" descr="D:\resources for ppt\sino6_W020100905714056942648.jpg"/>
          <p:cNvPicPr>
            <a:picLocks noChangeAspect="1" noChangeArrowheads="1"/>
          </p:cNvPicPr>
          <p:nvPr/>
        </p:nvPicPr>
        <p:blipFill>
          <a:blip r:embed="rId5" cstate="email"/>
          <a:stretch>
            <a:fillRect/>
          </a:stretch>
        </p:blipFill>
        <p:spPr bwMode="auto">
          <a:xfrm>
            <a:off x="2357422" y="4112653"/>
            <a:ext cx="426409" cy="535923"/>
          </a:xfrm>
          <a:prstGeom prst="ellipse">
            <a:avLst/>
          </a:prstGeom>
          <a:ln w="136525" cap="rnd">
            <a:gradFill>
              <a:gsLst>
                <a:gs pos="0">
                  <a:srgbClr val="FBEAC7"/>
                </a:gs>
                <a:gs pos="17999">
                  <a:srgbClr val="FEE7F2"/>
                </a:gs>
                <a:gs pos="36000">
                  <a:srgbClr val="FAC77D"/>
                </a:gs>
                <a:gs pos="61000">
                  <a:srgbClr val="FBA97D"/>
                </a:gs>
                <a:gs pos="82001">
                  <a:srgbClr val="FBD49C"/>
                </a:gs>
                <a:gs pos="100000">
                  <a:srgbClr val="FEE7F2"/>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标题 2"/>
          <p:cNvSpPr txBox="1">
            <a:spLocks/>
          </p:cNvSpPr>
          <p:nvPr/>
        </p:nvSpPr>
        <p:spPr bwMode="auto">
          <a:xfrm>
            <a:off x="50800" y="233363"/>
            <a:ext cx="8229600" cy="1143000"/>
          </a:xfrm>
          <a:prstGeom prst="rect">
            <a:avLst/>
          </a:prstGeom>
          <a:noFill/>
          <a:ln w="9525">
            <a:noFill/>
            <a:miter lim="800000"/>
            <a:headEnd/>
            <a:tailEnd/>
          </a:ln>
        </p:spPr>
        <p:txBody>
          <a:bodyPr/>
          <a:lstStyle/>
          <a:p>
            <a:pPr eaLnBrk="0" hangingPunct="0"/>
            <a:endParaRPr lang="zh-CN" altLang="en-US" sz="4400">
              <a:solidFill>
                <a:schemeClr val="tx2"/>
              </a:solidFill>
            </a:endParaRPr>
          </a:p>
        </p:txBody>
      </p:sp>
      <p:sp>
        <p:nvSpPr>
          <p:cNvPr id="4" name="矩形 3"/>
          <p:cNvSpPr/>
          <p:nvPr/>
        </p:nvSpPr>
        <p:spPr>
          <a:xfrm>
            <a:off x="92075" y="261938"/>
            <a:ext cx="6598217" cy="646331"/>
          </a:xfrm>
          <a:prstGeom prst="rect">
            <a:avLst/>
          </a:prstGeom>
        </p:spPr>
        <p:txBody>
          <a:bodyPr wrap="none">
            <a:spAutoFit/>
          </a:bodyPr>
          <a:lstStyle/>
          <a:p>
            <a:pPr>
              <a:defRPr/>
            </a:pPr>
            <a:r>
              <a:rPr lang="en-US" altLang="zh-CN" sz="3600" b="1" kern="1700" dirty="0" smtClean="0">
                <a:solidFill>
                  <a:schemeClr val="bg1"/>
                </a:solidFill>
                <a:latin typeface="微软雅黑" pitchFamily="34" charset="-122"/>
                <a:ea typeface="微软雅黑" pitchFamily="34" charset="-122"/>
                <a:cs typeface="+mj-cs"/>
              </a:rPr>
              <a:t>3  Telemetry </a:t>
            </a:r>
            <a:r>
              <a:rPr lang="en-US" altLang="zh-CN" sz="3600" b="1" kern="1700" dirty="0">
                <a:solidFill>
                  <a:schemeClr val="bg1"/>
                </a:solidFill>
                <a:latin typeface="微软雅黑" pitchFamily="34" charset="-122"/>
                <a:ea typeface="微软雅黑" pitchFamily="34" charset="-122"/>
                <a:cs typeface="+mj-cs"/>
              </a:rPr>
              <a:t>and Command</a:t>
            </a:r>
            <a:endParaRPr lang="zh-CN" altLang="en-US" sz="3600" b="1" kern="1700" dirty="0">
              <a:solidFill>
                <a:schemeClr val="bg1"/>
              </a:solidFill>
              <a:latin typeface="微软雅黑" pitchFamily="34" charset="-122"/>
              <a:ea typeface="微软雅黑" pitchFamily="34" charset="-122"/>
              <a:cs typeface="+mj-cs"/>
            </a:endParaRPr>
          </a:p>
        </p:txBody>
      </p:sp>
      <p:sp>
        <p:nvSpPr>
          <p:cNvPr id="3079"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3080"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3081" name="Rectangle 4"/>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12" name="TextBox 5"/>
          <p:cNvSpPr txBox="1">
            <a:spLocks noChangeArrowheads="1"/>
          </p:cNvSpPr>
          <p:nvPr/>
        </p:nvSpPr>
        <p:spPr bwMode="auto">
          <a:xfrm>
            <a:off x="323850" y="1302052"/>
            <a:ext cx="8424863" cy="2007368"/>
          </a:xfrm>
          <a:prstGeom prst="rect">
            <a:avLst/>
          </a:prstGeom>
          <a:noFill/>
          <a:ln>
            <a:noFill/>
          </a:ln>
          <a:extLst/>
        </p:spPr>
        <p:txBody>
          <a:bodyPr lIns="82954" tIns="41477" rIns="82954" bIns="41477">
            <a:spAutoFit/>
          </a:bodyPr>
          <a:lstStyle>
            <a:lvl1pPr eaLnBrk="0" hangingPunct="0">
              <a:defRPr sz="2000" b="1">
                <a:solidFill>
                  <a:srgbClr val="575F6D"/>
                </a:solidFill>
                <a:latin typeface="Arial" charset="0"/>
                <a:ea typeface="宋体" pitchFamily="2" charset="-122"/>
              </a:defRPr>
            </a:lvl1pPr>
            <a:lvl2pPr marL="742950" indent="-285750" eaLnBrk="0" hangingPunct="0">
              <a:defRPr sz="2000" b="1">
                <a:solidFill>
                  <a:srgbClr val="575F6D"/>
                </a:solidFill>
                <a:latin typeface="Arial" charset="0"/>
                <a:ea typeface="宋体" pitchFamily="2" charset="-122"/>
              </a:defRPr>
            </a:lvl2pPr>
            <a:lvl3pPr marL="1143000" indent="-228600" eaLnBrk="0" hangingPunct="0">
              <a:defRPr sz="2000" b="1">
                <a:solidFill>
                  <a:srgbClr val="575F6D"/>
                </a:solidFill>
                <a:latin typeface="Arial" charset="0"/>
                <a:ea typeface="宋体" pitchFamily="2" charset="-122"/>
              </a:defRPr>
            </a:lvl3pPr>
            <a:lvl4pPr marL="1600200" indent="-228600" eaLnBrk="0" hangingPunct="0">
              <a:defRPr sz="2000" b="1">
                <a:solidFill>
                  <a:srgbClr val="575F6D"/>
                </a:solidFill>
                <a:latin typeface="Arial" charset="0"/>
                <a:ea typeface="宋体" pitchFamily="2" charset="-122"/>
              </a:defRPr>
            </a:lvl4pPr>
            <a:lvl5pPr marL="2057400" indent="-228600" eaLnBrk="0" hangingPunct="0">
              <a:defRPr sz="2000" b="1">
                <a:solidFill>
                  <a:srgbClr val="575F6D"/>
                </a:solidFill>
                <a:latin typeface="Arial"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charset="0"/>
                <a:ea typeface="宋体" pitchFamily="2" charset="-122"/>
              </a:defRPr>
            </a:lvl9pPr>
          </a:lstStyle>
          <a:p>
            <a:pPr marL="457200" indent="-457200" algn="l" eaLnBrk="1" hangingPunct="1">
              <a:lnSpc>
                <a:spcPct val="150000"/>
              </a:lnSpc>
              <a:spcAft>
                <a:spcPts val="1200"/>
              </a:spcAft>
              <a:buFont typeface="Wingdings" pitchFamily="2" charset="2"/>
              <a:buChar char="p"/>
              <a:defRPr/>
            </a:pPr>
            <a:r>
              <a:rPr lang="en-US" altLang="zh-CN" sz="2600" dirty="0" smtClean="0">
                <a:solidFill>
                  <a:srgbClr val="0070C0"/>
                </a:solidFill>
                <a:latin typeface="+mn-lt"/>
                <a:ea typeface="+mn-ea"/>
              </a:rPr>
              <a:t>USB TT&amp;C Abstract</a:t>
            </a:r>
          </a:p>
          <a:p>
            <a:pPr marL="720000" indent="-360000" algn="just" eaLnBrk="1" hangingPunct="1">
              <a:lnSpc>
                <a:spcPct val="150000"/>
              </a:lnSpc>
              <a:spcAft>
                <a:spcPts val="1200"/>
              </a:spcAft>
              <a:buFont typeface="Wingdings" pitchFamily="2" charset="2"/>
              <a:buChar char="n"/>
              <a:defRPr/>
            </a:pPr>
            <a:r>
              <a:rPr lang="en-US" altLang="zh-CN" sz="2200" dirty="0" smtClean="0">
                <a:solidFill>
                  <a:schemeClr val="tx1"/>
                </a:solidFill>
              </a:rPr>
              <a:t>U</a:t>
            </a:r>
            <a:r>
              <a:rPr lang="x-none" altLang="zh-CN" sz="2200" dirty="0" smtClean="0">
                <a:solidFill>
                  <a:schemeClr val="tx1"/>
                </a:solidFill>
              </a:rPr>
              <a:t>S</a:t>
            </a:r>
            <a:r>
              <a:rPr lang="en-US" altLang="zh-CN" sz="2200" dirty="0" smtClean="0">
                <a:solidFill>
                  <a:schemeClr val="tx1"/>
                </a:solidFill>
              </a:rPr>
              <a:t>B</a:t>
            </a:r>
            <a:r>
              <a:rPr lang="zh-CN" altLang="en-US" sz="2200" dirty="0" smtClean="0">
                <a:solidFill>
                  <a:schemeClr val="tx1"/>
                </a:solidFill>
              </a:rPr>
              <a:t>：</a:t>
            </a:r>
            <a:r>
              <a:rPr lang="en-US" altLang="zh-CN" sz="2200" dirty="0" smtClean="0">
                <a:solidFill>
                  <a:schemeClr val="tx1"/>
                </a:solidFill>
              </a:rPr>
              <a:t> </a:t>
            </a:r>
            <a:r>
              <a:rPr lang="x-none" altLang="zh-CN" sz="2200" dirty="0" smtClean="0">
                <a:solidFill>
                  <a:schemeClr val="tx1"/>
                </a:solidFill>
              </a:rPr>
              <a:t>Unified S Band</a:t>
            </a:r>
            <a:endParaRPr lang="en-US" altLang="zh-CN" sz="2200" dirty="0" smtClean="0">
              <a:solidFill>
                <a:srgbClr val="00B0F0"/>
              </a:solidFill>
            </a:endParaRPr>
          </a:p>
          <a:p>
            <a:pPr marL="720000" lvl="1" indent="-360000" algn="just" eaLnBrk="1" hangingPunct="1">
              <a:lnSpc>
                <a:spcPct val="150000"/>
              </a:lnSpc>
              <a:spcAft>
                <a:spcPts val="1200"/>
              </a:spcAft>
              <a:buFont typeface="Wingdings" pitchFamily="2" charset="2"/>
              <a:buChar char="n"/>
              <a:defRPr/>
            </a:pPr>
            <a:r>
              <a:rPr lang="en-US" altLang="zh-CN" sz="2200" dirty="0" smtClean="0">
                <a:solidFill>
                  <a:schemeClr val="tx1"/>
                </a:solidFill>
              </a:rPr>
              <a:t>Signals modulate</a:t>
            </a:r>
            <a:r>
              <a:rPr lang="zh-CN" altLang="en-US" sz="2200" dirty="0" smtClean="0">
                <a:solidFill>
                  <a:schemeClr val="tx1"/>
                </a:solidFill>
              </a:rPr>
              <a:t>：</a:t>
            </a:r>
            <a:r>
              <a:rPr lang="en-US" altLang="zh-CN" sz="2200" dirty="0" smtClean="0">
                <a:solidFill>
                  <a:schemeClr val="tx1"/>
                </a:solidFill>
              </a:rPr>
              <a:t>STEP1——STEP2</a:t>
            </a:r>
          </a:p>
        </p:txBody>
      </p:sp>
      <p:pic>
        <p:nvPicPr>
          <p:cNvPr id="3083" name="Picture 7"/>
          <p:cNvPicPr>
            <a:picLocks noChangeAspect="1" noChangeArrowheads="1"/>
          </p:cNvPicPr>
          <p:nvPr/>
        </p:nvPicPr>
        <p:blipFill>
          <a:blip r:embed="rId4"/>
          <a:srcRect/>
          <a:stretch>
            <a:fillRect/>
          </a:stretch>
        </p:blipFill>
        <p:spPr bwMode="gray">
          <a:xfrm>
            <a:off x="215900" y="3968750"/>
            <a:ext cx="3895725" cy="1735138"/>
          </a:xfrm>
          <a:prstGeom prst="rect">
            <a:avLst/>
          </a:prstGeom>
          <a:noFill/>
          <a:ln w="9525" algn="ctr">
            <a:noFill/>
            <a:miter lim="800000"/>
            <a:headEnd/>
            <a:tailEnd/>
          </a:ln>
        </p:spPr>
      </p:pic>
      <p:graphicFrame>
        <p:nvGraphicFramePr>
          <p:cNvPr id="6" name="对象 5"/>
          <p:cNvGraphicFramePr>
            <a:graphicFrameLocks noChangeAspect="1"/>
          </p:cNvGraphicFramePr>
          <p:nvPr/>
        </p:nvGraphicFramePr>
        <p:xfrm>
          <a:off x="4470400" y="3608388"/>
          <a:ext cx="4449763" cy="688975"/>
        </p:xfrm>
        <a:graphic>
          <a:graphicData uri="http://schemas.openxmlformats.org/presentationml/2006/ole">
            <p:oleObj spid="_x0000_s3077" name="Visio" r:id="rId5" imgW="5543074" imgH="856774" progId="">
              <p:embed/>
            </p:oleObj>
          </a:graphicData>
        </a:graphic>
      </p:graphicFrame>
      <p:graphicFrame>
        <p:nvGraphicFramePr>
          <p:cNvPr id="8" name="对象 7"/>
          <p:cNvGraphicFramePr>
            <a:graphicFrameLocks noChangeAspect="1"/>
          </p:cNvGraphicFramePr>
          <p:nvPr/>
        </p:nvGraphicFramePr>
        <p:xfrm>
          <a:off x="4462463" y="4354513"/>
          <a:ext cx="4429125" cy="828675"/>
        </p:xfrm>
        <a:graphic>
          <a:graphicData uri="http://schemas.openxmlformats.org/presentationml/2006/ole">
            <p:oleObj spid="_x0000_s3078" name="Visio" r:id="rId6" imgW="5543074" imgH="1036796" progId="">
              <p:embed/>
            </p:oleObj>
          </a:graphicData>
        </a:graphic>
      </p:graphicFrame>
      <p:graphicFrame>
        <p:nvGraphicFramePr>
          <p:cNvPr id="13" name="对象 12"/>
          <p:cNvGraphicFramePr>
            <a:graphicFrameLocks noChangeAspect="1"/>
          </p:cNvGraphicFramePr>
          <p:nvPr/>
        </p:nvGraphicFramePr>
        <p:xfrm>
          <a:off x="4491038" y="5373688"/>
          <a:ext cx="4451350" cy="473075"/>
        </p:xfrm>
        <a:graphic>
          <a:graphicData uri="http://schemas.openxmlformats.org/presentationml/2006/ole">
            <p:oleObj spid="_x0000_s3079" name="Visio" r:id="rId7" imgW="5536882" imgH="586740" progId="">
              <p:embed/>
            </p:oleObj>
          </a:graphicData>
        </a:graphic>
      </p:graphicFrame>
      <p:sp>
        <p:nvSpPr>
          <p:cNvPr id="14"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22</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17"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par>
                          <p:cTn id="8" fill="hold" nodeType="afterGroup">
                            <p:stCondLst>
                              <p:cond delay="500"/>
                            </p:stCondLst>
                            <p:childTnLst>
                              <p:par>
                                <p:cTn id="9" presetID="3" presetClass="entr" presetSubtype="1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blinds(horizontal)">
                                      <p:cBhvr>
                                        <p:cTn id="11" dur="500"/>
                                        <p:tgtEl>
                                          <p:spTgt spid="8"/>
                                        </p:tgtEl>
                                      </p:cBhvr>
                                    </p:animEffect>
                                  </p:childTnLst>
                                </p:cTn>
                              </p:par>
                            </p:childTnLst>
                          </p:cTn>
                        </p:par>
                        <p:par>
                          <p:cTn id="12" fill="hold" nodeType="afterGroup">
                            <p:stCondLst>
                              <p:cond delay="1000"/>
                            </p:stCondLst>
                            <p:childTnLst>
                              <p:par>
                                <p:cTn id="13" presetID="3" presetClass="entr" presetSubtype="10"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blinds(horizontal)">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2"/>
          <p:cNvSpPr txBox="1">
            <a:spLocks/>
          </p:cNvSpPr>
          <p:nvPr/>
        </p:nvSpPr>
        <p:spPr bwMode="auto">
          <a:xfrm>
            <a:off x="50800" y="233363"/>
            <a:ext cx="8229600" cy="1143000"/>
          </a:xfrm>
          <a:prstGeom prst="rect">
            <a:avLst/>
          </a:prstGeom>
          <a:noFill/>
          <a:ln w="9525">
            <a:noFill/>
            <a:miter lim="800000"/>
            <a:headEnd/>
            <a:tailEnd/>
          </a:ln>
        </p:spPr>
        <p:txBody>
          <a:bodyPr/>
          <a:lstStyle/>
          <a:p>
            <a:pPr eaLnBrk="0" hangingPunct="0"/>
            <a:endParaRPr lang="zh-CN" altLang="en-US" sz="4400">
              <a:solidFill>
                <a:schemeClr val="tx2"/>
              </a:solidFill>
            </a:endParaRPr>
          </a:p>
        </p:txBody>
      </p:sp>
      <p:sp>
        <p:nvSpPr>
          <p:cNvPr id="51204"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51205"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51206" name="Rectangle 4"/>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51207" name="TextBox 5"/>
          <p:cNvSpPr txBox="1">
            <a:spLocks noChangeArrowheads="1"/>
          </p:cNvSpPr>
          <p:nvPr/>
        </p:nvSpPr>
        <p:spPr bwMode="auto">
          <a:xfrm>
            <a:off x="714348" y="2285992"/>
            <a:ext cx="4500562" cy="2669087"/>
          </a:xfrm>
          <a:prstGeom prst="rect">
            <a:avLst/>
          </a:prstGeom>
          <a:noFill/>
          <a:ln w="9525">
            <a:noFill/>
            <a:miter lim="800000"/>
            <a:headEnd/>
            <a:tailEnd/>
          </a:ln>
        </p:spPr>
        <p:txBody>
          <a:bodyPr wrap="square" lIns="82954" tIns="41477" rIns="82954" bIns="41477">
            <a:spAutoFit/>
          </a:bodyPr>
          <a:lstStyle/>
          <a:p>
            <a:pPr marL="457200" indent="-457200">
              <a:lnSpc>
                <a:spcPct val="150000"/>
              </a:lnSpc>
              <a:spcAft>
                <a:spcPts val="1200"/>
              </a:spcAft>
              <a:buFont typeface="Wingdings" pitchFamily="2" charset="2"/>
              <a:buChar char="p"/>
              <a:defRPr/>
            </a:pPr>
            <a:r>
              <a:rPr lang="en-US" altLang="zh-CN" sz="2600" b="1" dirty="0" smtClean="0">
                <a:solidFill>
                  <a:srgbClr val="0070C0"/>
                </a:solidFill>
              </a:rPr>
              <a:t>Frequency </a:t>
            </a:r>
            <a:r>
              <a:rPr lang="en-US" altLang="zh-CN" sz="2600" b="1" dirty="0">
                <a:solidFill>
                  <a:srgbClr val="0070C0"/>
                </a:solidFill>
              </a:rPr>
              <a:t>Using Rules</a:t>
            </a:r>
          </a:p>
          <a:p>
            <a:pPr marL="719138" lvl="1" indent="-358775" algn="just">
              <a:lnSpc>
                <a:spcPct val="150000"/>
              </a:lnSpc>
              <a:spcAft>
                <a:spcPts val="1200"/>
              </a:spcAft>
              <a:buFont typeface="Wingdings" pitchFamily="2" charset="2"/>
              <a:buChar char="n"/>
            </a:pPr>
            <a:r>
              <a:rPr lang="en-US" altLang="zh-CN" sz="2200" dirty="0" smtClean="0"/>
              <a:t>CCSDS </a:t>
            </a:r>
          </a:p>
          <a:p>
            <a:pPr marL="719138" lvl="1" indent="-358775" algn="just">
              <a:lnSpc>
                <a:spcPct val="150000"/>
              </a:lnSpc>
              <a:spcAft>
                <a:spcPts val="1200"/>
              </a:spcAft>
              <a:buFont typeface="Wingdings" pitchFamily="2" charset="2"/>
              <a:buChar char="n"/>
            </a:pPr>
            <a:r>
              <a:rPr lang="en-US" altLang="zh-CN" sz="2200" dirty="0" smtClean="0">
                <a:solidFill>
                  <a:schemeClr val="tx1"/>
                </a:solidFill>
              </a:rPr>
              <a:t>Non-Deep </a:t>
            </a:r>
            <a:r>
              <a:rPr lang="en-US" altLang="zh-CN" sz="2200" dirty="0" smtClean="0"/>
              <a:t>Space spacecraft</a:t>
            </a:r>
            <a:endParaRPr lang="en-US" altLang="zh-CN" sz="2200" dirty="0">
              <a:solidFill>
                <a:schemeClr val="tx1"/>
              </a:solidFill>
            </a:endParaRPr>
          </a:p>
          <a:p>
            <a:pPr marL="719138" lvl="1" indent="-358775" algn="just">
              <a:lnSpc>
                <a:spcPct val="150000"/>
              </a:lnSpc>
              <a:spcAft>
                <a:spcPts val="1200"/>
              </a:spcAft>
              <a:buFont typeface="Wingdings" pitchFamily="2" charset="2"/>
              <a:buChar char="n"/>
            </a:pPr>
            <a:r>
              <a:rPr lang="en-US" altLang="zh-CN" sz="2200" dirty="0" smtClean="0"/>
              <a:t>Category A </a:t>
            </a:r>
            <a:r>
              <a:rPr lang="zh-CN" altLang="en-US" sz="2200" dirty="0" smtClean="0"/>
              <a:t>：</a:t>
            </a:r>
            <a:r>
              <a:rPr lang="en-US" altLang="zh-CN" sz="2200" dirty="0" smtClean="0">
                <a:solidFill>
                  <a:schemeClr val="tx1"/>
                </a:solidFill>
              </a:rPr>
              <a:t>&lt;2.0</a:t>
            </a:r>
            <a:r>
              <a:rPr lang="zh-CN" altLang="zh-CN" sz="2200" dirty="0">
                <a:solidFill>
                  <a:schemeClr val="tx1"/>
                </a:solidFill>
              </a:rPr>
              <a:t>×</a:t>
            </a:r>
            <a:r>
              <a:rPr lang="en-US" altLang="zh-CN" sz="2200" dirty="0" smtClean="0">
                <a:solidFill>
                  <a:schemeClr val="tx1"/>
                </a:solidFill>
              </a:rPr>
              <a:t>10</a:t>
            </a:r>
            <a:r>
              <a:rPr lang="en-US" altLang="zh-CN" sz="2200" baseline="30000" dirty="0" smtClean="0">
                <a:solidFill>
                  <a:schemeClr val="tx1"/>
                </a:solidFill>
              </a:rPr>
              <a:t>6</a:t>
            </a:r>
            <a:r>
              <a:rPr lang="en-US" altLang="zh-CN" sz="2200" dirty="0" smtClean="0"/>
              <a:t>km</a:t>
            </a:r>
            <a:endParaRPr lang="en-US" altLang="zh-CN" sz="2200" dirty="0"/>
          </a:p>
        </p:txBody>
      </p:sp>
      <p:pic>
        <p:nvPicPr>
          <p:cNvPr id="51208" name="Picture 2"/>
          <p:cNvPicPr>
            <a:picLocks noChangeAspect="1" noChangeArrowheads="1"/>
          </p:cNvPicPr>
          <p:nvPr/>
        </p:nvPicPr>
        <p:blipFill>
          <a:blip r:embed="rId3"/>
          <a:srcRect l="9468" t="5507" r="29216" b="76118"/>
          <a:stretch>
            <a:fillRect/>
          </a:stretch>
        </p:blipFill>
        <p:spPr bwMode="gray">
          <a:xfrm>
            <a:off x="5651500" y="1268413"/>
            <a:ext cx="3446463" cy="882650"/>
          </a:xfrm>
          <a:prstGeom prst="rect">
            <a:avLst/>
          </a:prstGeom>
          <a:noFill/>
          <a:ln w="9525" algn="ctr">
            <a:noFill/>
            <a:miter lim="800000"/>
            <a:headEnd/>
            <a:tailEnd/>
          </a:ln>
        </p:spPr>
      </p:pic>
      <p:pic>
        <p:nvPicPr>
          <p:cNvPr id="51209" name="Picture 4"/>
          <p:cNvPicPr>
            <a:picLocks noChangeAspect="1" noChangeArrowheads="1"/>
          </p:cNvPicPr>
          <p:nvPr/>
        </p:nvPicPr>
        <p:blipFill>
          <a:blip r:embed="rId4"/>
          <a:srcRect l="15147" t="7475" r="19266" b="5212"/>
          <a:stretch>
            <a:fillRect/>
          </a:stretch>
        </p:blipFill>
        <p:spPr bwMode="gray">
          <a:xfrm>
            <a:off x="5722938" y="2417763"/>
            <a:ext cx="3421062" cy="3917950"/>
          </a:xfrm>
          <a:prstGeom prst="rect">
            <a:avLst/>
          </a:prstGeom>
          <a:noFill/>
          <a:ln w="9525" algn="ctr">
            <a:noFill/>
            <a:miter lim="800000"/>
            <a:headEnd/>
            <a:tailEnd/>
          </a:ln>
        </p:spPr>
      </p:pic>
      <p:sp>
        <p:nvSpPr>
          <p:cNvPr id="10"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23</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11" name="矩形 10"/>
          <p:cNvSpPr/>
          <p:nvPr/>
        </p:nvSpPr>
        <p:spPr>
          <a:xfrm>
            <a:off x="92075" y="261938"/>
            <a:ext cx="6460358" cy="646331"/>
          </a:xfrm>
          <a:prstGeom prst="rect">
            <a:avLst/>
          </a:prstGeom>
        </p:spPr>
        <p:txBody>
          <a:bodyPr wrap="none">
            <a:spAutoFit/>
          </a:bodyPr>
          <a:lstStyle/>
          <a:p>
            <a:pPr>
              <a:defRPr/>
            </a:pPr>
            <a:r>
              <a:rPr lang="en-US" altLang="zh-CN" sz="3600" b="1" kern="1700" dirty="0" smtClean="0">
                <a:solidFill>
                  <a:schemeClr val="bg1"/>
                </a:solidFill>
                <a:latin typeface="微软雅黑" pitchFamily="34" charset="-122"/>
                <a:ea typeface="微软雅黑" pitchFamily="34" charset="-122"/>
                <a:cs typeface="+mj-cs"/>
              </a:rPr>
              <a:t>3 Telemetry </a:t>
            </a:r>
            <a:r>
              <a:rPr lang="en-US" altLang="zh-CN" sz="3600" b="1" kern="1700" dirty="0">
                <a:solidFill>
                  <a:schemeClr val="bg1"/>
                </a:solidFill>
                <a:latin typeface="微软雅黑" pitchFamily="34" charset="-122"/>
                <a:ea typeface="微软雅黑" pitchFamily="34" charset="-122"/>
                <a:cs typeface="+mj-cs"/>
              </a:rPr>
              <a:t>and Command</a:t>
            </a:r>
            <a:endParaRPr lang="zh-CN" altLang="en-US" sz="3600" b="1" kern="1700" dirty="0">
              <a:solidFill>
                <a:schemeClr val="bg1"/>
              </a:solidFill>
              <a:latin typeface="微软雅黑" pitchFamily="34" charset="-122"/>
              <a:ea typeface="微软雅黑" pitchFamily="34" charset="-122"/>
              <a:cs typeface="+mj-cs"/>
            </a:endParaRPr>
          </a:p>
        </p:txBody>
      </p:sp>
      <p:sp>
        <p:nvSpPr>
          <p:cNvPr id="12"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2"/>
          <p:cNvSpPr txBox="1">
            <a:spLocks/>
          </p:cNvSpPr>
          <p:nvPr/>
        </p:nvSpPr>
        <p:spPr bwMode="auto">
          <a:xfrm>
            <a:off x="50800" y="233363"/>
            <a:ext cx="8229600" cy="1143000"/>
          </a:xfrm>
          <a:prstGeom prst="rect">
            <a:avLst/>
          </a:prstGeom>
          <a:noFill/>
          <a:ln w="9525">
            <a:noFill/>
            <a:miter lim="800000"/>
            <a:headEnd/>
            <a:tailEnd/>
          </a:ln>
        </p:spPr>
        <p:txBody>
          <a:bodyPr/>
          <a:lstStyle/>
          <a:p>
            <a:pPr eaLnBrk="0" hangingPunct="0"/>
            <a:endParaRPr lang="zh-CN" altLang="en-US" sz="4400">
              <a:solidFill>
                <a:schemeClr val="tx2"/>
              </a:solidFill>
            </a:endParaRPr>
          </a:p>
        </p:txBody>
      </p:sp>
      <p:sp>
        <p:nvSpPr>
          <p:cNvPr id="52228"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52229"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52230" name="Rectangle 4"/>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52231" name="TextBox 5"/>
          <p:cNvSpPr txBox="1">
            <a:spLocks noChangeArrowheads="1"/>
          </p:cNvSpPr>
          <p:nvPr/>
        </p:nvSpPr>
        <p:spPr bwMode="auto">
          <a:xfrm>
            <a:off x="500034" y="1214422"/>
            <a:ext cx="8151813" cy="2669087"/>
          </a:xfrm>
          <a:prstGeom prst="rect">
            <a:avLst/>
          </a:prstGeom>
          <a:noFill/>
          <a:ln w="9525">
            <a:noFill/>
            <a:miter lim="800000"/>
            <a:headEnd/>
            <a:tailEnd/>
          </a:ln>
        </p:spPr>
        <p:txBody>
          <a:bodyPr lIns="82954" tIns="41477" rIns="82954" bIns="41477">
            <a:spAutoFit/>
          </a:bodyPr>
          <a:lstStyle/>
          <a:p>
            <a:pPr marL="457200" indent="-457200">
              <a:lnSpc>
                <a:spcPct val="150000"/>
              </a:lnSpc>
              <a:spcAft>
                <a:spcPts val="1200"/>
              </a:spcAft>
              <a:buFont typeface="Wingdings" pitchFamily="2" charset="2"/>
              <a:buChar char="p"/>
              <a:defRPr/>
            </a:pPr>
            <a:r>
              <a:rPr lang="en-US" altLang="zh-CN" sz="2600" b="1" dirty="0" smtClean="0">
                <a:solidFill>
                  <a:srgbClr val="0070C0"/>
                </a:solidFill>
              </a:rPr>
              <a:t>Frequency </a:t>
            </a:r>
            <a:r>
              <a:rPr lang="en-US" altLang="zh-CN" sz="2600" b="1" dirty="0">
                <a:solidFill>
                  <a:srgbClr val="0070C0"/>
                </a:solidFill>
              </a:rPr>
              <a:t>Using Rules</a:t>
            </a:r>
          </a:p>
          <a:p>
            <a:pPr marL="719138" lvl="1" indent="-358775" algn="just">
              <a:lnSpc>
                <a:spcPct val="150000"/>
              </a:lnSpc>
              <a:spcAft>
                <a:spcPts val="1200"/>
              </a:spcAft>
              <a:buFont typeface="Wingdings" pitchFamily="2" charset="2"/>
              <a:buChar char="n"/>
            </a:pPr>
            <a:r>
              <a:rPr lang="en-US" altLang="zh-CN" sz="2200" dirty="0" smtClean="0">
                <a:solidFill>
                  <a:schemeClr val="tx1"/>
                </a:solidFill>
              </a:rPr>
              <a:t>Coherent </a:t>
            </a:r>
            <a:r>
              <a:rPr lang="en-US" altLang="zh-CN" sz="2200" dirty="0">
                <a:solidFill>
                  <a:schemeClr val="tx1"/>
                </a:solidFill>
              </a:rPr>
              <a:t>turnaround frequency ratio </a:t>
            </a:r>
            <a:r>
              <a:rPr lang="en-US" altLang="zh-CN" sz="2200" dirty="0" smtClean="0">
                <a:solidFill>
                  <a:schemeClr val="tx1"/>
                </a:solidFill>
              </a:rPr>
              <a:t>:</a:t>
            </a:r>
            <a:r>
              <a:rPr lang="en-US" altLang="zh-CN" sz="2200" dirty="0" smtClean="0">
                <a:solidFill>
                  <a:srgbClr val="00B0F0"/>
                </a:solidFill>
              </a:rPr>
              <a:t>221/240</a:t>
            </a:r>
            <a:endParaRPr lang="en-US" altLang="zh-CN" sz="2200" dirty="0" smtClean="0"/>
          </a:p>
          <a:p>
            <a:pPr marL="719138" lvl="1" indent="-358775" algn="just">
              <a:lnSpc>
                <a:spcPct val="150000"/>
              </a:lnSpc>
              <a:spcAft>
                <a:spcPts val="1200"/>
              </a:spcAft>
              <a:buFont typeface="Wingdings" pitchFamily="2" charset="2"/>
              <a:buChar char="n"/>
            </a:pPr>
            <a:r>
              <a:rPr lang="en-US" altLang="zh-CN" sz="2200" dirty="0" smtClean="0"/>
              <a:t>Category A spacecraft uplink: </a:t>
            </a:r>
            <a:r>
              <a:rPr lang="en-US" altLang="zh-CN" sz="2200" dirty="0" smtClean="0">
                <a:solidFill>
                  <a:srgbClr val="00B0F0"/>
                </a:solidFill>
              </a:rPr>
              <a:t>2025~2110 MHz band</a:t>
            </a:r>
            <a:endParaRPr lang="en-US" altLang="zh-CN" sz="2200" dirty="0" smtClean="0"/>
          </a:p>
          <a:p>
            <a:pPr marL="719138" lvl="1" indent="-358775" algn="just">
              <a:lnSpc>
                <a:spcPct val="150000"/>
              </a:lnSpc>
              <a:spcAft>
                <a:spcPts val="1200"/>
              </a:spcAft>
              <a:buFont typeface="Wingdings" pitchFamily="2" charset="2"/>
              <a:buChar char="n"/>
            </a:pPr>
            <a:r>
              <a:rPr lang="en-US" altLang="zh-CN" sz="2200" dirty="0" smtClean="0"/>
              <a:t>Category A spacecraft downlink: </a:t>
            </a:r>
            <a:r>
              <a:rPr lang="en-US" altLang="zh-CN" sz="2200" dirty="0" smtClean="0">
                <a:solidFill>
                  <a:srgbClr val="00B0F0"/>
                </a:solidFill>
              </a:rPr>
              <a:t>2200~2290 MHz band</a:t>
            </a:r>
            <a:endParaRPr lang="en-US" altLang="zh-CN" sz="2200" dirty="0">
              <a:solidFill>
                <a:schemeClr val="tx1"/>
              </a:solidFill>
            </a:endParaRPr>
          </a:p>
        </p:txBody>
      </p:sp>
      <p:graphicFrame>
        <p:nvGraphicFramePr>
          <p:cNvPr id="9" name="表格 8"/>
          <p:cNvGraphicFramePr>
            <a:graphicFrameLocks noGrp="1"/>
          </p:cNvGraphicFramePr>
          <p:nvPr/>
        </p:nvGraphicFramePr>
        <p:xfrm>
          <a:off x="836539" y="4305300"/>
          <a:ext cx="7521675" cy="1407984"/>
        </p:xfrm>
        <a:graphic>
          <a:graphicData uri="http://schemas.openxmlformats.org/drawingml/2006/table">
            <a:tbl>
              <a:tblPr/>
              <a:tblGrid>
                <a:gridCol w="2434762"/>
                <a:gridCol w="2837042"/>
                <a:gridCol w="2249871"/>
              </a:tblGrid>
              <a:tr h="822631">
                <a:tc>
                  <a:txBody>
                    <a:bodyPr/>
                    <a:lstStyle/>
                    <a:p>
                      <a:pPr marL="0" algn="ctr" defTabSz="914400" rtl="0" eaLnBrk="1" latinLnBrk="0" hangingPunct="1">
                        <a:lnSpc>
                          <a:spcPct val="150000"/>
                        </a:lnSpc>
                        <a:spcAft>
                          <a:spcPts val="0"/>
                        </a:spcAft>
                      </a:pPr>
                      <a:r>
                        <a:rPr lang="en-US" sz="1800" b="1" kern="1200" dirty="0">
                          <a:solidFill>
                            <a:schemeClr val="bg1"/>
                          </a:solidFill>
                          <a:effectLst/>
                          <a:latin typeface="Times New Roman"/>
                          <a:ea typeface="宋体"/>
                          <a:cs typeface="宋体"/>
                        </a:rPr>
                        <a:t>Uplink </a:t>
                      </a:r>
                      <a:r>
                        <a:rPr lang="en-US" sz="1800" b="1" kern="1200" dirty="0" smtClean="0">
                          <a:solidFill>
                            <a:schemeClr val="bg1"/>
                          </a:solidFill>
                          <a:effectLst/>
                          <a:latin typeface="Times New Roman"/>
                          <a:ea typeface="宋体"/>
                          <a:cs typeface="宋体"/>
                        </a:rPr>
                        <a:t>Frequency</a:t>
                      </a:r>
                    </a:p>
                    <a:p>
                      <a:pPr marL="0" algn="ctr" defTabSz="914400" rtl="0" eaLnBrk="1" latinLnBrk="0" hangingPunct="1">
                        <a:lnSpc>
                          <a:spcPct val="150000"/>
                        </a:lnSpc>
                        <a:spcAft>
                          <a:spcPts val="0"/>
                        </a:spcAft>
                      </a:pPr>
                      <a:r>
                        <a:rPr lang="en-US" altLang="zh-CN" sz="1800" b="1" kern="1200" dirty="0" smtClean="0">
                          <a:solidFill>
                            <a:schemeClr val="bg1"/>
                          </a:solidFill>
                          <a:effectLst/>
                          <a:latin typeface="Times New Roman"/>
                          <a:ea typeface="宋体"/>
                          <a:cs typeface="宋体"/>
                        </a:rPr>
                        <a:t>(MHz)</a:t>
                      </a:r>
                      <a:endParaRPr lang="zh-CN" sz="1800" b="1" kern="1200" dirty="0">
                        <a:solidFill>
                          <a:schemeClr val="bg1"/>
                        </a:solidFill>
                        <a:effectLst/>
                        <a:latin typeface="Times New Roman"/>
                        <a:ea typeface="宋体"/>
                        <a:cs typeface="宋体"/>
                      </a:endParaRP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6A6A6"/>
                    </a:solidFill>
                  </a:tcPr>
                </a:tc>
                <a:tc>
                  <a:txBody>
                    <a:bodyPr/>
                    <a:lstStyle/>
                    <a:p>
                      <a:pPr marL="0" algn="ctr" defTabSz="914400" rtl="0" eaLnBrk="1" latinLnBrk="0" hangingPunct="1">
                        <a:lnSpc>
                          <a:spcPct val="150000"/>
                        </a:lnSpc>
                        <a:spcAft>
                          <a:spcPts val="0"/>
                        </a:spcAft>
                      </a:pPr>
                      <a:r>
                        <a:rPr lang="en-US" sz="1800" b="1" kern="1200" dirty="0">
                          <a:solidFill>
                            <a:schemeClr val="bg1"/>
                          </a:solidFill>
                          <a:effectLst/>
                          <a:latin typeface="Times New Roman"/>
                          <a:ea typeface="宋体"/>
                          <a:cs typeface="宋体"/>
                        </a:rPr>
                        <a:t>Downlink </a:t>
                      </a:r>
                      <a:r>
                        <a:rPr lang="en-US" sz="1800" b="1" kern="1200" dirty="0" smtClean="0">
                          <a:solidFill>
                            <a:schemeClr val="bg1"/>
                          </a:solidFill>
                          <a:effectLst/>
                          <a:latin typeface="Times New Roman"/>
                          <a:ea typeface="宋体"/>
                          <a:cs typeface="宋体"/>
                        </a:rPr>
                        <a:t>Frequency</a:t>
                      </a:r>
                    </a:p>
                    <a:p>
                      <a:pPr marL="0" marR="0" indent="0" algn="ctr" defTabSz="914400" rtl="0" eaLnBrk="1" fontAlgn="auto" latinLnBrk="0" hangingPunct="1">
                        <a:lnSpc>
                          <a:spcPct val="150000"/>
                        </a:lnSpc>
                        <a:spcBef>
                          <a:spcPts val="0"/>
                        </a:spcBef>
                        <a:spcAft>
                          <a:spcPts val="0"/>
                        </a:spcAft>
                        <a:buClrTx/>
                        <a:buSzTx/>
                        <a:buFontTx/>
                        <a:buNone/>
                        <a:tabLst/>
                        <a:defRPr/>
                      </a:pPr>
                      <a:r>
                        <a:rPr lang="en-US" altLang="zh-CN" sz="1800" b="1" kern="1200" dirty="0" smtClean="0">
                          <a:solidFill>
                            <a:schemeClr val="bg1"/>
                          </a:solidFill>
                          <a:effectLst/>
                          <a:latin typeface="Times New Roman"/>
                          <a:ea typeface="+mn-ea"/>
                          <a:cs typeface="宋体"/>
                        </a:rPr>
                        <a:t>(MHz)</a:t>
                      </a:r>
                      <a:endParaRPr lang="zh-CN" sz="1800" b="1" kern="1200" dirty="0">
                        <a:solidFill>
                          <a:schemeClr val="bg1"/>
                        </a:solidFill>
                        <a:effectLst/>
                        <a:latin typeface="Times New Roman"/>
                        <a:ea typeface="宋体"/>
                        <a:cs typeface="宋体"/>
                      </a:endParaRP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6A6A6"/>
                    </a:solidFill>
                  </a:tcPr>
                </a:tc>
                <a:tc>
                  <a:txBody>
                    <a:bodyPr/>
                    <a:lstStyle/>
                    <a:p>
                      <a:pPr marL="0" algn="ctr" defTabSz="914400" rtl="0" eaLnBrk="1" latinLnBrk="0" hangingPunct="1">
                        <a:lnSpc>
                          <a:spcPct val="150000"/>
                        </a:lnSpc>
                        <a:spcAft>
                          <a:spcPts val="0"/>
                        </a:spcAft>
                      </a:pPr>
                      <a:r>
                        <a:rPr lang="en-US" sz="1800" b="1" kern="1200" dirty="0">
                          <a:solidFill>
                            <a:schemeClr val="bg1"/>
                          </a:solidFill>
                          <a:effectLst/>
                          <a:latin typeface="Times New Roman"/>
                          <a:ea typeface="宋体"/>
                          <a:cs typeface="宋体"/>
                        </a:rPr>
                        <a:t>Turnaround Frequency Ratio</a:t>
                      </a:r>
                      <a:endParaRPr lang="zh-CN" sz="1800" b="1" kern="1200" dirty="0">
                        <a:solidFill>
                          <a:schemeClr val="bg1"/>
                        </a:solidFill>
                        <a:effectLst/>
                        <a:latin typeface="Times New Roman"/>
                        <a:ea typeface="宋体"/>
                        <a:cs typeface="宋体"/>
                      </a:endParaRP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6A6A6"/>
                    </a:solidFill>
                  </a:tcPr>
                </a:tc>
              </a:tr>
              <a:tr h="585024">
                <a:tc>
                  <a:txBody>
                    <a:bodyPr/>
                    <a:lstStyle/>
                    <a:p>
                      <a:pPr marL="0" algn="ctr" defTabSz="914400" rtl="0" eaLnBrk="1" latinLnBrk="0" hangingPunct="1">
                        <a:lnSpc>
                          <a:spcPct val="150000"/>
                        </a:lnSpc>
                        <a:spcAft>
                          <a:spcPts val="0"/>
                        </a:spcAft>
                      </a:pPr>
                      <a:r>
                        <a:rPr kumimoji="0" lang="en-US" altLang="zh-CN" sz="1800" kern="1200" dirty="0" smtClean="0">
                          <a:solidFill>
                            <a:schemeClr val="tx1"/>
                          </a:solidFill>
                          <a:effectLst/>
                          <a:latin typeface="Times New Roman"/>
                          <a:ea typeface="宋体"/>
                          <a:cs typeface="宋体"/>
                        </a:rPr>
                        <a:t>2025~2110 MHz </a:t>
                      </a:r>
                      <a:endParaRPr kumimoji="0" lang="zh-CN" sz="1800" kern="1200" dirty="0">
                        <a:solidFill>
                          <a:schemeClr val="tx1"/>
                        </a:solidFill>
                        <a:effectLst/>
                        <a:latin typeface="Times New Roman"/>
                        <a:ea typeface="宋体"/>
                        <a:cs typeface="宋体"/>
                      </a:endParaRP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0" algn="ctr" defTabSz="914400" rtl="0" eaLnBrk="1" latinLnBrk="0" hangingPunct="1">
                        <a:lnSpc>
                          <a:spcPct val="150000"/>
                        </a:lnSpc>
                        <a:spcAft>
                          <a:spcPts val="0"/>
                        </a:spcAft>
                      </a:pPr>
                      <a:r>
                        <a:rPr kumimoji="0" lang="en-US" altLang="zh-CN" sz="1800" kern="1200" dirty="0" smtClean="0">
                          <a:solidFill>
                            <a:schemeClr val="tx1"/>
                          </a:solidFill>
                          <a:effectLst/>
                          <a:latin typeface="Times New Roman"/>
                          <a:ea typeface="宋体"/>
                          <a:cs typeface="宋体"/>
                        </a:rPr>
                        <a:t>2200~2290 MHz </a:t>
                      </a:r>
                      <a:endParaRPr kumimoji="0" lang="zh-CN" sz="1800" kern="1200" dirty="0">
                        <a:solidFill>
                          <a:schemeClr val="tx1"/>
                        </a:solidFill>
                        <a:effectLst/>
                        <a:latin typeface="Times New Roman"/>
                        <a:ea typeface="宋体"/>
                        <a:cs typeface="宋体"/>
                      </a:endParaRP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0" algn="ctr" defTabSz="914400" rtl="0" eaLnBrk="1" latinLnBrk="0" hangingPunct="1">
                        <a:lnSpc>
                          <a:spcPct val="150000"/>
                        </a:lnSpc>
                        <a:spcAft>
                          <a:spcPts val="0"/>
                        </a:spcAft>
                      </a:pPr>
                      <a:r>
                        <a:rPr lang="en-US" sz="1800" kern="1200" dirty="0">
                          <a:solidFill>
                            <a:schemeClr val="tx1"/>
                          </a:solidFill>
                          <a:effectLst/>
                          <a:latin typeface="Times New Roman"/>
                          <a:ea typeface="宋体"/>
                          <a:cs typeface="宋体"/>
                        </a:rPr>
                        <a:t>221/240</a:t>
                      </a:r>
                      <a:endParaRPr lang="zh-CN" sz="1800" kern="1200" dirty="0">
                        <a:solidFill>
                          <a:schemeClr val="tx1"/>
                        </a:solidFill>
                        <a:effectLst/>
                        <a:latin typeface="Times New Roman"/>
                        <a:ea typeface="宋体"/>
                        <a:cs typeface="宋体"/>
                      </a:endParaRPr>
                    </a:p>
                  </a:txBody>
                  <a:tcPr marL="68586" marR="685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r>
            </a:tbl>
          </a:graphicData>
        </a:graphic>
      </p:graphicFrame>
      <p:sp>
        <p:nvSpPr>
          <p:cNvPr id="10"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24</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11" name="矩形 10"/>
          <p:cNvSpPr/>
          <p:nvPr/>
        </p:nvSpPr>
        <p:spPr>
          <a:xfrm>
            <a:off x="92075" y="261938"/>
            <a:ext cx="6460358" cy="646331"/>
          </a:xfrm>
          <a:prstGeom prst="rect">
            <a:avLst/>
          </a:prstGeom>
        </p:spPr>
        <p:txBody>
          <a:bodyPr wrap="none">
            <a:spAutoFit/>
          </a:bodyPr>
          <a:lstStyle/>
          <a:p>
            <a:pPr>
              <a:defRPr/>
            </a:pPr>
            <a:r>
              <a:rPr lang="en-US" altLang="zh-CN" sz="3600" b="1" kern="1700" dirty="0" smtClean="0">
                <a:solidFill>
                  <a:schemeClr val="bg1"/>
                </a:solidFill>
                <a:latin typeface="微软雅黑" pitchFamily="34" charset="-122"/>
                <a:ea typeface="微软雅黑" pitchFamily="34" charset="-122"/>
                <a:cs typeface="+mj-cs"/>
              </a:rPr>
              <a:t>3 Telemetry </a:t>
            </a:r>
            <a:r>
              <a:rPr lang="en-US" altLang="zh-CN" sz="3600" b="1" kern="1700" dirty="0">
                <a:solidFill>
                  <a:schemeClr val="bg1"/>
                </a:solidFill>
                <a:latin typeface="微软雅黑" pitchFamily="34" charset="-122"/>
                <a:ea typeface="微软雅黑" pitchFamily="34" charset="-122"/>
                <a:cs typeface="+mj-cs"/>
              </a:rPr>
              <a:t>and Command</a:t>
            </a:r>
            <a:endParaRPr lang="zh-CN" altLang="en-US" sz="3600" b="1" kern="1700" dirty="0">
              <a:solidFill>
                <a:schemeClr val="bg1"/>
              </a:solidFill>
              <a:latin typeface="微软雅黑" pitchFamily="34" charset="-122"/>
              <a:ea typeface="微软雅黑" pitchFamily="34" charset="-122"/>
              <a:cs typeface="+mj-cs"/>
            </a:endParaRPr>
          </a:p>
        </p:txBody>
      </p:sp>
      <p:sp>
        <p:nvSpPr>
          <p:cNvPr id="12"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标题 2"/>
          <p:cNvSpPr txBox="1">
            <a:spLocks/>
          </p:cNvSpPr>
          <p:nvPr/>
        </p:nvSpPr>
        <p:spPr bwMode="auto">
          <a:xfrm>
            <a:off x="50800" y="233363"/>
            <a:ext cx="8229600" cy="1143000"/>
          </a:xfrm>
          <a:prstGeom prst="rect">
            <a:avLst/>
          </a:prstGeom>
          <a:noFill/>
          <a:ln w="9525">
            <a:noFill/>
            <a:miter lim="800000"/>
            <a:headEnd/>
            <a:tailEnd/>
          </a:ln>
        </p:spPr>
        <p:txBody>
          <a:bodyPr/>
          <a:lstStyle/>
          <a:p>
            <a:pPr eaLnBrk="0" hangingPunct="0"/>
            <a:endParaRPr lang="zh-CN" altLang="en-US" sz="4400">
              <a:solidFill>
                <a:schemeClr val="tx2"/>
              </a:solidFill>
            </a:endParaRPr>
          </a:p>
        </p:txBody>
      </p:sp>
      <p:sp>
        <p:nvSpPr>
          <p:cNvPr id="4" name="矩形 3"/>
          <p:cNvSpPr/>
          <p:nvPr/>
        </p:nvSpPr>
        <p:spPr>
          <a:xfrm>
            <a:off x="142844" y="1357298"/>
            <a:ext cx="4943982" cy="538609"/>
          </a:xfrm>
          <a:prstGeom prst="rect">
            <a:avLst/>
          </a:prstGeom>
        </p:spPr>
        <p:txBody>
          <a:bodyPr wrap="none">
            <a:spAutoFit/>
          </a:bodyPr>
          <a:lstStyle/>
          <a:p>
            <a:pPr marL="457200" indent="-457200">
              <a:spcBef>
                <a:spcPct val="0"/>
              </a:spcBef>
              <a:spcAft>
                <a:spcPts val="1200"/>
              </a:spcAft>
              <a:buFont typeface="Wingdings" pitchFamily="2" charset="2"/>
              <a:buChar char="p"/>
              <a:defRPr/>
            </a:pPr>
            <a:r>
              <a:rPr lang="en-US" altLang="zh-CN" sz="2900" b="1" dirty="0" smtClean="0">
                <a:solidFill>
                  <a:srgbClr val="0070C0"/>
                </a:solidFill>
                <a:latin typeface="Arial" charset="0"/>
                <a:ea typeface="宋体" pitchFamily="2" charset="-122"/>
              </a:rPr>
              <a:t>Equipment </a:t>
            </a:r>
            <a:r>
              <a:rPr lang="en-US" altLang="zh-CN" sz="2900" b="1" dirty="0">
                <a:solidFill>
                  <a:srgbClr val="0070C0"/>
                </a:solidFill>
                <a:latin typeface="Arial" charset="0"/>
                <a:ea typeface="宋体" pitchFamily="2" charset="-122"/>
              </a:rPr>
              <a:t>Composition</a:t>
            </a:r>
            <a:endParaRPr lang="zh-CN" altLang="en-US" sz="2900" b="1" dirty="0">
              <a:solidFill>
                <a:srgbClr val="0070C0"/>
              </a:solidFill>
              <a:latin typeface="Arial" charset="0"/>
              <a:ea typeface="宋体" pitchFamily="2" charset="-122"/>
            </a:endParaRPr>
          </a:p>
        </p:txBody>
      </p:sp>
      <p:sp>
        <p:nvSpPr>
          <p:cNvPr id="2054"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2055"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2056" name="Rectangle 4"/>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9"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25</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10"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2" name="矩形 11"/>
          <p:cNvSpPr/>
          <p:nvPr/>
        </p:nvSpPr>
        <p:spPr>
          <a:xfrm>
            <a:off x="92075" y="261938"/>
            <a:ext cx="6460358" cy="646331"/>
          </a:xfrm>
          <a:prstGeom prst="rect">
            <a:avLst/>
          </a:prstGeom>
        </p:spPr>
        <p:txBody>
          <a:bodyPr wrap="none">
            <a:spAutoFit/>
          </a:bodyPr>
          <a:lstStyle/>
          <a:p>
            <a:pPr>
              <a:defRPr/>
            </a:pPr>
            <a:r>
              <a:rPr lang="en-US" altLang="zh-CN" sz="3600" b="1" kern="1700" dirty="0" smtClean="0">
                <a:solidFill>
                  <a:schemeClr val="bg1"/>
                </a:solidFill>
                <a:latin typeface="微软雅黑" pitchFamily="34" charset="-122"/>
                <a:ea typeface="微软雅黑" pitchFamily="34" charset="-122"/>
                <a:cs typeface="+mj-cs"/>
              </a:rPr>
              <a:t>3 Telemetry </a:t>
            </a:r>
            <a:r>
              <a:rPr lang="en-US" altLang="zh-CN" sz="3600" b="1" kern="1700" dirty="0">
                <a:solidFill>
                  <a:schemeClr val="bg1"/>
                </a:solidFill>
                <a:latin typeface="微软雅黑" pitchFamily="34" charset="-122"/>
                <a:ea typeface="微软雅黑" pitchFamily="34" charset="-122"/>
                <a:cs typeface="+mj-cs"/>
              </a:rPr>
              <a:t>and Command</a:t>
            </a:r>
            <a:endParaRPr lang="zh-CN" altLang="en-US" sz="3600" b="1" kern="1700" dirty="0">
              <a:solidFill>
                <a:schemeClr val="bg1"/>
              </a:solidFill>
              <a:latin typeface="微软雅黑" pitchFamily="34" charset="-122"/>
              <a:ea typeface="微软雅黑" pitchFamily="34" charset="-122"/>
              <a:cs typeface="+mj-cs"/>
            </a:endParaRPr>
          </a:p>
        </p:txBody>
      </p:sp>
      <p:pic>
        <p:nvPicPr>
          <p:cNvPr id="112644" name="Picture 4"/>
          <p:cNvPicPr>
            <a:picLocks noChangeAspect="1" noChangeArrowheads="1"/>
          </p:cNvPicPr>
          <p:nvPr/>
        </p:nvPicPr>
        <p:blipFill>
          <a:blip r:embed="rId3"/>
          <a:srcRect/>
          <a:stretch>
            <a:fillRect/>
          </a:stretch>
        </p:blipFill>
        <p:spPr bwMode="auto">
          <a:xfrm>
            <a:off x="1714480" y="2214554"/>
            <a:ext cx="5523846" cy="369571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2"/>
          <p:cNvSpPr txBox="1">
            <a:spLocks/>
          </p:cNvSpPr>
          <p:nvPr/>
        </p:nvSpPr>
        <p:spPr bwMode="auto">
          <a:xfrm>
            <a:off x="50800" y="233363"/>
            <a:ext cx="8229600" cy="1143000"/>
          </a:xfrm>
          <a:prstGeom prst="rect">
            <a:avLst/>
          </a:prstGeom>
          <a:noFill/>
          <a:ln w="9525">
            <a:noFill/>
            <a:miter lim="800000"/>
            <a:headEnd/>
            <a:tailEnd/>
          </a:ln>
        </p:spPr>
        <p:txBody>
          <a:bodyPr/>
          <a:lstStyle/>
          <a:p>
            <a:pPr eaLnBrk="0" hangingPunct="0"/>
            <a:endParaRPr lang="zh-CN" altLang="en-US" sz="4400">
              <a:solidFill>
                <a:schemeClr val="tx2"/>
              </a:solidFill>
            </a:endParaRPr>
          </a:p>
        </p:txBody>
      </p:sp>
      <p:sp>
        <p:nvSpPr>
          <p:cNvPr id="54276"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54277"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54278" name="Rectangle 4"/>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24583" name="TextBox 5"/>
          <p:cNvSpPr txBox="1">
            <a:spLocks noChangeArrowheads="1"/>
          </p:cNvSpPr>
          <p:nvPr/>
        </p:nvSpPr>
        <p:spPr bwMode="auto">
          <a:xfrm>
            <a:off x="215901" y="1784045"/>
            <a:ext cx="4927604" cy="3930971"/>
          </a:xfrm>
          <a:prstGeom prst="rect">
            <a:avLst/>
          </a:prstGeom>
          <a:noFill/>
          <a:ln>
            <a:noFill/>
          </a:ln>
          <a:extLst/>
        </p:spPr>
        <p:txBody>
          <a:bodyPr wrap="square" lIns="82954" tIns="41477" rIns="82954" bIns="41477">
            <a:spAutoFit/>
          </a:bodyPr>
          <a:lstStyle>
            <a:lvl1pPr marL="457200" indent="-457200" eaLnBrk="0" hangingPunct="0">
              <a:defRPr sz="2000" b="1">
                <a:solidFill>
                  <a:srgbClr val="575F6D"/>
                </a:solidFill>
                <a:latin typeface="Arial" pitchFamily="34" charset="0"/>
                <a:ea typeface="宋体" pitchFamily="2" charset="-122"/>
              </a:defRPr>
            </a:lvl1pPr>
            <a:lvl2pPr marL="719138" indent="-358775"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eaLnBrk="1" hangingPunct="1">
              <a:lnSpc>
                <a:spcPct val="150000"/>
              </a:lnSpc>
              <a:spcAft>
                <a:spcPts val="1200"/>
              </a:spcAft>
              <a:buFont typeface="Wingdings" pitchFamily="2" charset="2"/>
              <a:buChar char="p"/>
              <a:defRPr/>
            </a:pPr>
            <a:r>
              <a:rPr lang="en-US" altLang="zh-CN" sz="2600" dirty="0" smtClean="0">
                <a:solidFill>
                  <a:srgbClr val="0070C0"/>
                </a:solidFill>
                <a:latin typeface="+mn-lt"/>
                <a:ea typeface="+mn-ea"/>
              </a:rPr>
              <a:t>S Band Transponder</a:t>
            </a:r>
          </a:p>
          <a:p>
            <a:pPr eaLnBrk="1" hangingPunct="1">
              <a:lnSpc>
                <a:spcPct val="150000"/>
              </a:lnSpc>
              <a:spcAft>
                <a:spcPts val="1200"/>
              </a:spcAft>
              <a:defRPr/>
            </a:pPr>
            <a:r>
              <a:rPr lang="en-US" altLang="zh-CN" sz="2600" dirty="0" smtClean="0">
                <a:solidFill>
                  <a:srgbClr val="0070C0"/>
                </a:solidFill>
              </a:rPr>
              <a:t>   </a:t>
            </a:r>
            <a:r>
              <a:rPr lang="en-US" altLang="zh-CN" sz="2200" dirty="0" smtClean="0">
                <a:solidFill>
                  <a:srgbClr val="0070C0"/>
                </a:solidFill>
              </a:rPr>
              <a:t> Function</a:t>
            </a:r>
            <a:endParaRPr lang="en-US" altLang="zh-CN" sz="2200" dirty="0" smtClean="0">
              <a:solidFill>
                <a:srgbClr val="0070C0"/>
              </a:solidFill>
              <a:latin typeface="+mn-lt"/>
              <a:ea typeface="+mn-ea"/>
            </a:endParaRPr>
          </a:p>
          <a:p>
            <a:pPr marL="360363" lvl="1" indent="0" algn="just" eaLnBrk="1" hangingPunct="1">
              <a:lnSpc>
                <a:spcPct val="200000"/>
              </a:lnSpc>
              <a:spcAft>
                <a:spcPts val="1200"/>
              </a:spcAft>
              <a:buFont typeface="Wingdings" pitchFamily="2" charset="2"/>
              <a:buChar char="n"/>
              <a:defRPr/>
            </a:pPr>
            <a:r>
              <a:rPr lang="en-US" altLang="zh-CN" sz="2200" dirty="0" smtClean="0">
                <a:solidFill>
                  <a:schemeClr val="tx1"/>
                </a:solidFill>
              </a:rPr>
              <a:t> Modulate </a:t>
            </a:r>
            <a:r>
              <a:rPr lang="en-US" altLang="zh-CN" sz="2200" dirty="0" smtClean="0">
                <a:solidFill>
                  <a:srgbClr val="00B0F0"/>
                </a:solidFill>
              </a:rPr>
              <a:t>TM</a:t>
            </a:r>
            <a:r>
              <a:rPr lang="en-US" altLang="zh-CN" sz="2200" dirty="0" smtClean="0">
                <a:solidFill>
                  <a:schemeClr val="tx1"/>
                </a:solidFill>
              </a:rPr>
              <a:t> signals</a:t>
            </a:r>
          </a:p>
          <a:p>
            <a:pPr lvl="1" algn="just" eaLnBrk="1" hangingPunct="1">
              <a:lnSpc>
                <a:spcPct val="200000"/>
              </a:lnSpc>
              <a:spcAft>
                <a:spcPts val="1200"/>
              </a:spcAft>
              <a:buFont typeface="Wingdings" pitchFamily="2" charset="2"/>
              <a:buChar char="n"/>
              <a:defRPr/>
            </a:pPr>
            <a:r>
              <a:rPr lang="en-US" altLang="zh-CN" sz="2200" dirty="0" smtClean="0">
                <a:solidFill>
                  <a:schemeClr val="tx1"/>
                </a:solidFill>
              </a:rPr>
              <a:t>Demodulate </a:t>
            </a:r>
            <a:r>
              <a:rPr lang="en-US" altLang="zh-CN" sz="2200" dirty="0" smtClean="0">
                <a:solidFill>
                  <a:srgbClr val="00B0F0"/>
                </a:solidFill>
              </a:rPr>
              <a:t>TC</a:t>
            </a:r>
            <a:r>
              <a:rPr lang="en-US" altLang="zh-CN" sz="2200" dirty="0" smtClean="0">
                <a:solidFill>
                  <a:schemeClr val="tx1"/>
                </a:solidFill>
              </a:rPr>
              <a:t> signal</a:t>
            </a:r>
          </a:p>
          <a:p>
            <a:pPr lvl="1" algn="just" eaLnBrk="1" hangingPunct="1">
              <a:lnSpc>
                <a:spcPct val="200000"/>
              </a:lnSpc>
              <a:spcAft>
                <a:spcPts val="1200"/>
              </a:spcAft>
              <a:buFont typeface="Wingdings" pitchFamily="2" charset="2"/>
              <a:buChar char="n"/>
              <a:defRPr/>
            </a:pPr>
            <a:r>
              <a:rPr lang="en-US" altLang="zh-CN" sz="2200" dirty="0" smtClean="0">
                <a:solidFill>
                  <a:schemeClr val="tx1"/>
                </a:solidFill>
              </a:rPr>
              <a:t>Output </a:t>
            </a:r>
            <a:r>
              <a:rPr lang="en-US" altLang="zh-CN" sz="2200" dirty="0" smtClean="0">
                <a:solidFill>
                  <a:srgbClr val="00B0F0"/>
                </a:solidFill>
              </a:rPr>
              <a:t>telemetry</a:t>
            </a:r>
            <a:r>
              <a:rPr lang="en-US" altLang="zh-CN" sz="2200" dirty="0" smtClean="0">
                <a:solidFill>
                  <a:schemeClr val="tx1"/>
                </a:solidFill>
              </a:rPr>
              <a:t> information</a:t>
            </a:r>
          </a:p>
        </p:txBody>
      </p:sp>
      <p:sp>
        <p:nvSpPr>
          <p:cNvPr id="8"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26</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9" name="矩形 8"/>
          <p:cNvSpPr/>
          <p:nvPr/>
        </p:nvSpPr>
        <p:spPr>
          <a:xfrm>
            <a:off x="92075" y="261938"/>
            <a:ext cx="6460358" cy="646331"/>
          </a:xfrm>
          <a:prstGeom prst="rect">
            <a:avLst/>
          </a:prstGeom>
        </p:spPr>
        <p:txBody>
          <a:bodyPr wrap="none">
            <a:spAutoFit/>
          </a:bodyPr>
          <a:lstStyle/>
          <a:p>
            <a:pPr>
              <a:defRPr/>
            </a:pPr>
            <a:r>
              <a:rPr lang="en-US" altLang="zh-CN" sz="3600" b="1" kern="1700" dirty="0" smtClean="0">
                <a:solidFill>
                  <a:schemeClr val="bg1"/>
                </a:solidFill>
                <a:latin typeface="微软雅黑" pitchFamily="34" charset="-122"/>
                <a:ea typeface="微软雅黑" pitchFamily="34" charset="-122"/>
                <a:cs typeface="+mj-cs"/>
              </a:rPr>
              <a:t>3 Telemetry </a:t>
            </a:r>
            <a:r>
              <a:rPr lang="en-US" altLang="zh-CN" sz="3600" b="1" kern="1700" dirty="0">
                <a:solidFill>
                  <a:schemeClr val="bg1"/>
                </a:solidFill>
                <a:latin typeface="微软雅黑" pitchFamily="34" charset="-122"/>
                <a:ea typeface="微软雅黑" pitchFamily="34" charset="-122"/>
                <a:cs typeface="+mj-cs"/>
              </a:rPr>
              <a:t>and Command</a:t>
            </a:r>
            <a:endParaRPr lang="zh-CN" altLang="en-US" sz="3600" b="1" kern="1700" dirty="0">
              <a:solidFill>
                <a:schemeClr val="bg1"/>
              </a:solidFill>
              <a:latin typeface="微软雅黑" pitchFamily="34" charset="-122"/>
              <a:ea typeface="微软雅黑" pitchFamily="34" charset="-122"/>
              <a:cs typeface="+mj-cs"/>
            </a:endParaRPr>
          </a:p>
        </p:txBody>
      </p:sp>
      <p:sp>
        <p:nvSpPr>
          <p:cNvPr id="10"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pic>
        <p:nvPicPr>
          <p:cNvPr id="12" name="Picture 34"/>
          <p:cNvPicPr>
            <a:picLocks noChangeAspect="1" noChangeArrowheads="1"/>
          </p:cNvPicPr>
          <p:nvPr/>
        </p:nvPicPr>
        <p:blipFill>
          <a:blip r:embed="rId3"/>
          <a:srcRect/>
          <a:stretch>
            <a:fillRect/>
          </a:stretch>
        </p:blipFill>
        <p:spPr bwMode="gray">
          <a:xfrm>
            <a:off x="5214942" y="2782899"/>
            <a:ext cx="3470275" cy="2217737"/>
          </a:xfrm>
          <a:prstGeom prst="rect">
            <a:avLst/>
          </a:prstGeom>
          <a:noFill/>
          <a:ln w="9525" algn="ctr">
            <a:noFill/>
            <a:miter lim="800000"/>
            <a:headEnd/>
            <a:tailEnd/>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2"/>
          <p:cNvSpPr txBox="1">
            <a:spLocks/>
          </p:cNvSpPr>
          <p:nvPr/>
        </p:nvSpPr>
        <p:spPr bwMode="auto">
          <a:xfrm>
            <a:off x="50800" y="233363"/>
            <a:ext cx="8229600" cy="1143000"/>
          </a:xfrm>
          <a:prstGeom prst="rect">
            <a:avLst/>
          </a:prstGeom>
          <a:noFill/>
          <a:ln w="9525">
            <a:noFill/>
            <a:miter lim="800000"/>
            <a:headEnd/>
            <a:tailEnd/>
          </a:ln>
        </p:spPr>
        <p:txBody>
          <a:bodyPr/>
          <a:lstStyle/>
          <a:p>
            <a:pPr eaLnBrk="0" hangingPunct="0"/>
            <a:endParaRPr lang="zh-CN" altLang="en-US" sz="4400">
              <a:solidFill>
                <a:schemeClr val="tx2"/>
              </a:solidFill>
            </a:endParaRPr>
          </a:p>
        </p:txBody>
      </p:sp>
      <p:graphicFrame>
        <p:nvGraphicFramePr>
          <p:cNvPr id="6" name="表格 5"/>
          <p:cNvGraphicFramePr>
            <a:graphicFrameLocks noGrp="1"/>
          </p:cNvGraphicFramePr>
          <p:nvPr/>
        </p:nvGraphicFramePr>
        <p:xfrm>
          <a:off x="642910" y="2124858"/>
          <a:ext cx="7847012" cy="3875910"/>
        </p:xfrm>
        <a:graphic>
          <a:graphicData uri="http://schemas.openxmlformats.org/drawingml/2006/table">
            <a:tbl>
              <a:tblPr/>
              <a:tblGrid>
                <a:gridCol w="671512"/>
                <a:gridCol w="3614768"/>
                <a:gridCol w="3560732"/>
              </a:tblGrid>
              <a:tr h="387591">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600" b="1" i="0" u="none" strike="noStrike" cap="none" normalizeH="0" baseline="0" dirty="0" smtClean="0">
                          <a:ln>
                            <a:noFill/>
                          </a:ln>
                          <a:solidFill>
                            <a:schemeClr val="bg1"/>
                          </a:solidFill>
                          <a:effectLst/>
                          <a:latin typeface="Times New Roman" pitchFamily="18" charset="0"/>
                          <a:ea typeface="宋体" pitchFamily="2" charset="-122"/>
                          <a:cs typeface="Times New Roman" pitchFamily="18" charset="0"/>
                        </a:rPr>
                        <a:t>No.</a:t>
                      </a:r>
                      <a:endParaRPr kumimoji="0" lang="zh-CN" altLang="zh-CN" sz="1600" b="0" i="0" u="none" strike="noStrike" cap="none" normalizeH="0" baseline="0" dirty="0" smtClean="0">
                        <a:ln>
                          <a:noFill/>
                        </a:ln>
                        <a:solidFill>
                          <a:schemeClr val="bg1"/>
                        </a:solidFill>
                        <a:effectLst/>
                        <a:latin typeface="Calibri" pitchFamily="34" charset="0"/>
                        <a:ea typeface="宋体" pitchFamily="2" charset="-122"/>
                        <a:cs typeface="Times New Roman" pitchFamily="18" charset="0"/>
                      </a:endParaRP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6A6A6"/>
                    </a:solidFill>
                  </a:tcPr>
                </a:tc>
                <a:tc>
                  <a:txBody>
                    <a:bodyPr/>
                    <a:lstStyle/>
                    <a:p>
                      <a:pPr marL="0" marR="0" lvl="0" indent="0" algn="ctr" defTabSz="914400" rtl="0" eaLnBrk="1" fontAlgn="base" latinLnBrk="0" hangingPunct="1">
                        <a:lnSpc>
                          <a:spcPct val="120000"/>
                        </a:lnSpc>
                        <a:spcBef>
                          <a:spcPts val="775"/>
                        </a:spcBef>
                        <a:spcAft>
                          <a:spcPts val="775"/>
                        </a:spcAft>
                        <a:buClrTx/>
                        <a:buSzTx/>
                        <a:buFontTx/>
                        <a:buNone/>
                        <a:tabLst>
                          <a:tab pos="571500" algn="l"/>
                        </a:tabLst>
                      </a:pPr>
                      <a:r>
                        <a:rPr kumimoji="0" lang="en-US" altLang="zh-CN" sz="1600" b="1" i="0" u="none" strike="noStrike" cap="none" normalizeH="0" baseline="0" dirty="0" smtClean="0">
                          <a:ln>
                            <a:noFill/>
                          </a:ln>
                          <a:solidFill>
                            <a:srgbClr val="FFFFFF"/>
                          </a:solidFill>
                          <a:effectLst/>
                          <a:latin typeface="Times New Roman" pitchFamily="18" charset="0"/>
                          <a:ea typeface="宋体" pitchFamily="2" charset="-122"/>
                          <a:cs typeface="Times New Roman" pitchFamily="18" charset="0"/>
                        </a:rPr>
                        <a:t>Item</a:t>
                      </a:r>
                      <a:endParaRPr kumimoji="0" lang="zh-CN" altLang="zh-CN" sz="1600" b="0" i="0" u="none" strike="noStrike" cap="none" normalizeH="0" baseline="0" dirty="0" smtClean="0">
                        <a:ln>
                          <a:noFill/>
                        </a:ln>
                        <a:solidFill>
                          <a:schemeClr val="tx1"/>
                        </a:solidFill>
                        <a:effectLst/>
                        <a:latin typeface="Times New Roman" pitchFamily="18" charset="0"/>
                        <a:ea typeface="宋体" pitchFamily="2" charset="-122"/>
                      </a:endParaRPr>
                    </a:p>
                  </a:txBody>
                  <a:tcPr marL="68567" marR="68567"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6A6A6"/>
                    </a:solidFill>
                  </a:tcPr>
                </a:tc>
                <a:tc>
                  <a:txBody>
                    <a:bodyPr/>
                    <a:lstStyle/>
                    <a:p>
                      <a:pPr marL="0" marR="0" lvl="0" indent="0" algn="ctr" defTabSz="914400" rtl="0" eaLnBrk="1" fontAlgn="base" latinLnBrk="0" hangingPunct="1">
                        <a:lnSpc>
                          <a:spcPct val="120000"/>
                        </a:lnSpc>
                        <a:spcBef>
                          <a:spcPts val="775"/>
                        </a:spcBef>
                        <a:spcAft>
                          <a:spcPts val="775"/>
                        </a:spcAft>
                        <a:buClrTx/>
                        <a:buSzTx/>
                        <a:buFontTx/>
                        <a:buNone/>
                        <a:tabLst>
                          <a:tab pos="571500" algn="l"/>
                        </a:tabLst>
                      </a:pPr>
                      <a:r>
                        <a:rPr kumimoji="0" lang="en-US" altLang="zh-CN" sz="1600" b="1" i="0" u="none" strike="noStrike" cap="none" normalizeH="0" baseline="0" dirty="0" smtClean="0">
                          <a:ln>
                            <a:noFill/>
                          </a:ln>
                          <a:solidFill>
                            <a:srgbClr val="FFFFFF"/>
                          </a:solidFill>
                          <a:effectLst/>
                          <a:latin typeface="Times New Roman" pitchFamily="18" charset="0"/>
                          <a:ea typeface="宋体" pitchFamily="2" charset="-122"/>
                          <a:cs typeface="Times New Roman" pitchFamily="18" charset="0"/>
                        </a:rPr>
                        <a:t>Specification</a:t>
                      </a:r>
                      <a:endParaRPr kumimoji="0" lang="zh-CN" altLang="zh-CN" sz="1600" b="0" i="0" u="none" strike="noStrike" cap="none" normalizeH="0" baseline="0" dirty="0" smtClean="0">
                        <a:ln>
                          <a:noFill/>
                        </a:ln>
                        <a:solidFill>
                          <a:schemeClr val="tx1"/>
                        </a:solidFill>
                        <a:effectLst/>
                        <a:latin typeface="Times New Roman" pitchFamily="18" charset="0"/>
                        <a:ea typeface="宋体" pitchFamily="2" charset="-122"/>
                      </a:endParaRPr>
                    </a:p>
                  </a:txBody>
                  <a:tcPr marL="68567" marR="68567"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6A6A6"/>
                    </a:solidFill>
                  </a:tcPr>
                </a:tc>
              </a:tr>
              <a:tr h="387591">
                <a:tc>
                  <a:txBody>
                    <a:bodyPr/>
                    <a:lstStyle/>
                    <a:p>
                      <a:pPr marL="342900" marR="0" lvl="0" indent="-342900" algn="ctr"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cap="none" normalizeH="0" baseline="0" dirty="0" smtClean="0">
                          <a:ln>
                            <a:noFill/>
                          </a:ln>
                          <a:solidFill>
                            <a:schemeClr val="tx1"/>
                          </a:solidFill>
                          <a:effectLst/>
                          <a:latin typeface="Times New Roman" pitchFamily="18" charset="0"/>
                          <a:ea typeface="宋体" pitchFamily="2" charset="-122"/>
                        </a:rPr>
                        <a:t>1</a:t>
                      </a: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kern="1200" cap="none" normalizeH="0" baseline="0" dirty="0" smtClean="0">
                          <a:ln>
                            <a:noFill/>
                          </a:ln>
                          <a:solidFill>
                            <a:schemeClr val="tx1"/>
                          </a:solidFill>
                          <a:effectLst/>
                          <a:latin typeface="Times New Roman" pitchFamily="18" charset="0"/>
                          <a:ea typeface="宋体" pitchFamily="2" charset="-122"/>
                          <a:cs typeface="+mn-cs"/>
                        </a:rPr>
                        <a:t>coherent turnaround frequency ratio</a:t>
                      </a:r>
                      <a:endParaRPr kumimoji="0" lang="zh-CN" altLang="en-US" sz="1600" b="1" i="0" u="none" strike="noStrike" kern="1200" cap="none" normalizeH="0" baseline="0" dirty="0" smtClean="0">
                        <a:ln>
                          <a:noFill/>
                        </a:ln>
                        <a:solidFill>
                          <a:schemeClr val="tx1"/>
                        </a:solidFill>
                        <a:effectLst/>
                        <a:latin typeface="Times New Roman" pitchFamily="18" charset="0"/>
                        <a:ea typeface="宋体" pitchFamily="2" charset="-122"/>
                        <a:cs typeface="+mn-cs"/>
                      </a:endParaRP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kern="1200" cap="none" normalizeH="0" baseline="0" dirty="0" smtClean="0">
                          <a:ln>
                            <a:noFill/>
                          </a:ln>
                          <a:solidFill>
                            <a:schemeClr val="tx1"/>
                          </a:solidFill>
                          <a:effectLst/>
                          <a:latin typeface="Times New Roman" pitchFamily="18" charset="0"/>
                          <a:ea typeface="宋体" pitchFamily="2" charset="-122"/>
                          <a:cs typeface="+mn-cs"/>
                        </a:rPr>
                        <a:t>221/240</a:t>
                      </a:r>
                      <a:endParaRPr kumimoji="0" lang="zh-CN" altLang="en-US" sz="1600" b="1" i="0" u="none" strike="noStrike" kern="1200" cap="none" normalizeH="0" baseline="0" dirty="0" smtClean="0">
                        <a:ln>
                          <a:noFill/>
                        </a:ln>
                        <a:solidFill>
                          <a:schemeClr val="tx1"/>
                        </a:solidFill>
                        <a:effectLst/>
                        <a:latin typeface="Times New Roman" pitchFamily="18" charset="0"/>
                        <a:ea typeface="宋体" pitchFamily="2" charset="-122"/>
                        <a:cs typeface="+mn-cs"/>
                      </a:endParaRP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r>
              <a:tr h="387591">
                <a:tc>
                  <a:txBody>
                    <a:bodyPr/>
                    <a:lstStyle/>
                    <a:p>
                      <a:pPr marL="342900" marR="0" lvl="0" indent="-342900" algn="ctr"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cap="none" normalizeH="0" baseline="0" dirty="0" smtClean="0">
                          <a:ln>
                            <a:noFill/>
                          </a:ln>
                          <a:solidFill>
                            <a:schemeClr val="tx1"/>
                          </a:solidFill>
                          <a:effectLst/>
                          <a:latin typeface="Times New Roman" pitchFamily="18" charset="0"/>
                          <a:ea typeface="宋体" pitchFamily="2" charset="-122"/>
                        </a:rPr>
                        <a:t>2</a:t>
                      </a: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kern="1200" cap="none" normalizeH="0" baseline="0" dirty="0" smtClean="0">
                          <a:ln>
                            <a:noFill/>
                          </a:ln>
                          <a:solidFill>
                            <a:schemeClr val="tx1"/>
                          </a:solidFill>
                          <a:effectLst/>
                          <a:latin typeface="Times New Roman" pitchFamily="18" charset="0"/>
                          <a:ea typeface="宋体" pitchFamily="2" charset="-122"/>
                          <a:cs typeface="+mn-cs"/>
                        </a:rPr>
                        <a:t>Receiving </a:t>
                      </a:r>
                      <a:r>
                        <a:rPr kumimoji="0" lang="en-US" altLang="zh-CN" sz="1600" b="1" i="0" u="none" strike="noStrike" kern="1200" cap="none" normalizeH="0" baseline="0" dirty="0" err="1" smtClean="0">
                          <a:ln>
                            <a:noFill/>
                          </a:ln>
                          <a:solidFill>
                            <a:schemeClr val="tx1"/>
                          </a:solidFill>
                          <a:effectLst/>
                          <a:latin typeface="Times New Roman" pitchFamily="18" charset="0"/>
                          <a:ea typeface="宋体" pitchFamily="2" charset="-122"/>
                          <a:cs typeface="+mn-cs"/>
                        </a:rPr>
                        <a:t>telecommand</a:t>
                      </a:r>
                      <a:r>
                        <a:rPr kumimoji="0" lang="en-US" altLang="zh-CN" sz="1600" b="1" i="0" u="none" strike="noStrike" kern="1200" cap="none" normalizeH="0" baseline="0" dirty="0" smtClean="0">
                          <a:ln>
                            <a:noFill/>
                          </a:ln>
                          <a:solidFill>
                            <a:schemeClr val="tx1"/>
                          </a:solidFill>
                          <a:effectLst/>
                          <a:latin typeface="Times New Roman" pitchFamily="18" charset="0"/>
                          <a:ea typeface="宋体" pitchFamily="2" charset="-122"/>
                          <a:cs typeface="+mn-cs"/>
                        </a:rPr>
                        <a:t> threshold</a:t>
                      </a:r>
                      <a:endParaRPr kumimoji="0" lang="zh-CN" altLang="en-US" sz="1600" b="1" i="0" u="none" strike="noStrike" kern="1200" cap="none" normalizeH="0" baseline="0" dirty="0" smtClean="0">
                        <a:ln>
                          <a:noFill/>
                        </a:ln>
                        <a:solidFill>
                          <a:schemeClr val="tx1"/>
                        </a:solidFill>
                        <a:effectLst/>
                        <a:latin typeface="Times New Roman" pitchFamily="18" charset="0"/>
                        <a:ea typeface="宋体" pitchFamily="2" charset="-122"/>
                        <a:cs typeface="+mn-cs"/>
                      </a:endParaRP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r>
                        <a:rPr kumimoji="0" lang="en-US" altLang="zh-CN" sz="1600" b="1" i="0" u="none" strike="noStrike" kern="1200" cap="none" normalizeH="0" baseline="0" dirty="0" smtClean="0">
                          <a:ln>
                            <a:noFill/>
                          </a:ln>
                          <a:solidFill>
                            <a:schemeClr val="tx1"/>
                          </a:solidFill>
                          <a:effectLst/>
                          <a:latin typeface="Times New Roman" pitchFamily="18" charset="0"/>
                          <a:ea typeface="宋体" pitchFamily="2" charset="-122"/>
                          <a:cs typeface="+mn-cs"/>
                        </a:rPr>
                        <a:t>better than -106dBm</a:t>
                      </a:r>
                      <a:endParaRPr kumimoji="0" lang="zh-CN" altLang="en-US" sz="1600" b="1" i="0" u="none" strike="noStrike" kern="1200" cap="none" normalizeH="0" baseline="0" dirty="0" smtClean="0">
                        <a:ln>
                          <a:noFill/>
                        </a:ln>
                        <a:solidFill>
                          <a:schemeClr val="tx1"/>
                        </a:solidFill>
                        <a:effectLst/>
                        <a:latin typeface="Times New Roman" pitchFamily="18" charset="0"/>
                        <a:ea typeface="宋体" pitchFamily="2" charset="-122"/>
                        <a:cs typeface="+mn-cs"/>
                      </a:endParaRP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r>
              <a:tr h="387591">
                <a:tc>
                  <a:txBody>
                    <a:bodyPr/>
                    <a:lstStyle/>
                    <a:p>
                      <a:pPr marL="342900" marR="0" lvl="0" indent="-342900" algn="ctr"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3</a:t>
                      </a: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zh-CN" altLang="zh-CN" sz="1600" b="1" i="0" u="none" strike="noStrike" cap="none" normalizeH="0" baseline="0" dirty="0" smtClean="0">
                          <a:ln>
                            <a:noFill/>
                          </a:ln>
                          <a:solidFill>
                            <a:schemeClr val="tx1"/>
                          </a:solidFill>
                          <a:effectLst/>
                          <a:latin typeface="Times New Roman" pitchFamily="18" charset="0"/>
                          <a:ea typeface="宋体" pitchFamily="2" charset="-122"/>
                        </a:rPr>
                        <a:t>Receiving Synchronous Bandwidth</a:t>
                      </a: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zh-CN" altLang="zh-CN" sz="1600" b="1" i="0" u="none" strike="noStrike" cap="none" normalizeH="0" baseline="0" dirty="0" smtClean="0">
                          <a:ln>
                            <a:noFill/>
                          </a:ln>
                          <a:solidFill>
                            <a:schemeClr val="tx1"/>
                          </a:solidFill>
                          <a:effectLst/>
                          <a:latin typeface="Times New Roman" pitchFamily="18" charset="0"/>
                          <a:ea typeface="宋体" pitchFamily="2" charset="-122"/>
                        </a:rPr>
                        <a:t>better than </a:t>
                      </a:r>
                      <a:r>
                        <a:rPr kumimoji="0" lang="en-GB" altLang="zh-CN" sz="1600" b="1" i="0" u="none" strike="noStrike" cap="none" normalizeH="0" baseline="0" dirty="0" smtClean="0">
                          <a:ln>
                            <a:noFill/>
                          </a:ln>
                          <a:solidFill>
                            <a:schemeClr val="tx1"/>
                          </a:solidFill>
                          <a:effectLst/>
                          <a:latin typeface="Times New Roman" pitchFamily="18" charset="0"/>
                          <a:ea typeface="宋体" pitchFamily="2" charset="-122"/>
                        </a:rPr>
                        <a:t>±</a:t>
                      </a:r>
                      <a:r>
                        <a:rPr kumimoji="0" lang="zh-CN" altLang="zh-CN" sz="1600" b="1" i="0" u="none" strike="noStrike" cap="none" normalizeH="0" baseline="0" dirty="0" smtClean="0">
                          <a:ln>
                            <a:noFill/>
                          </a:ln>
                          <a:solidFill>
                            <a:schemeClr val="tx1"/>
                          </a:solidFill>
                          <a:effectLst/>
                          <a:latin typeface="Times New Roman" pitchFamily="18" charset="0"/>
                          <a:ea typeface="宋体" pitchFamily="2" charset="-122"/>
                        </a:rPr>
                        <a:t>115 kHz</a:t>
                      </a: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r>
              <a:tr h="387591">
                <a:tc>
                  <a:txBody>
                    <a:bodyPr/>
                    <a:lstStyle/>
                    <a:p>
                      <a:pPr marL="342900" marR="0" lvl="0" indent="-342900" algn="ctr"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4</a:t>
                      </a:r>
                      <a:endParaRPr kumimoji="0" lang="zh-CN" altLang="en-US" sz="1600" b="1" i="0" u="none" strike="noStrike" cap="none" normalizeH="0" baseline="0" smtClean="0">
                        <a:ln>
                          <a:noFill/>
                        </a:ln>
                        <a:solidFill>
                          <a:schemeClr val="tx1"/>
                        </a:solidFill>
                        <a:effectLst/>
                        <a:latin typeface="Times New Roman" pitchFamily="18" charset="0"/>
                        <a:ea typeface="宋体" pitchFamily="2" charset="-122"/>
                      </a:endParaRP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zh-CN" altLang="zh-CN" sz="1600" b="1" i="0" u="none" strike="noStrike" cap="none" normalizeH="0" baseline="0" dirty="0" smtClean="0">
                          <a:ln>
                            <a:noFill/>
                          </a:ln>
                          <a:solidFill>
                            <a:schemeClr val="tx1"/>
                          </a:solidFill>
                          <a:effectLst/>
                          <a:latin typeface="Times New Roman" pitchFamily="18" charset="0"/>
                          <a:ea typeface="宋体" pitchFamily="2" charset="-122"/>
                        </a:rPr>
                        <a:t>Tracking Rate</a:t>
                      </a: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zh-CN" altLang="zh-CN" sz="1600" b="1" i="0" u="none" strike="noStrike" cap="none" normalizeH="0" baseline="0" dirty="0" smtClean="0">
                          <a:ln>
                            <a:noFill/>
                          </a:ln>
                          <a:solidFill>
                            <a:schemeClr val="tx1"/>
                          </a:solidFill>
                          <a:effectLst/>
                          <a:latin typeface="Times New Roman" pitchFamily="18" charset="0"/>
                          <a:ea typeface="宋体" pitchFamily="2" charset="-122"/>
                        </a:rPr>
                        <a:t>better than </a:t>
                      </a:r>
                      <a:r>
                        <a:rPr kumimoji="0" lang="en-GB" altLang="zh-CN" sz="1600" b="1" i="0" u="none" strike="noStrike" cap="none" normalizeH="0" baseline="0" dirty="0" smtClean="0">
                          <a:ln>
                            <a:noFill/>
                          </a:ln>
                          <a:solidFill>
                            <a:schemeClr val="tx1"/>
                          </a:solidFill>
                          <a:effectLst/>
                          <a:latin typeface="Times New Roman" pitchFamily="18" charset="0"/>
                          <a:ea typeface="宋体" pitchFamily="2" charset="-122"/>
                        </a:rPr>
                        <a:t>± 32 k</a:t>
                      </a:r>
                      <a:r>
                        <a:rPr kumimoji="0" lang="zh-CN" altLang="zh-CN" sz="1600" b="1" i="0" u="none" strike="noStrike" cap="none" normalizeH="0" baseline="0" dirty="0" smtClean="0">
                          <a:ln>
                            <a:noFill/>
                          </a:ln>
                          <a:solidFill>
                            <a:schemeClr val="tx1"/>
                          </a:solidFill>
                          <a:effectLst/>
                          <a:latin typeface="Times New Roman" pitchFamily="18" charset="0"/>
                          <a:ea typeface="宋体" pitchFamily="2" charset="-122"/>
                        </a:rPr>
                        <a:t>Hz</a:t>
                      </a: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r>
              <a:tr h="387591">
                <a:tc>
                  <a:txBody>
                    <a:bodyPr/>
                    <a:lstStyle/>
                    <a:p>
                      <a:pPr marL="342900" marR="0" lvl="0" indent="-342900" algn="ctr"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5</a:t>
                      </a: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cap="none" normalizeH="0" baseline="0" dirty="0" smtClean="0">
                          <a:ln>
                            <a:noFill/>
                          </a:ln>
                          <a:solidFill>
                            <a:schemeClr val="tx1"/>
                          </a:solidFill>
                          <a:effectLst/>
                          <a:latin typeface="Times New Roman" pitchFamily="18" charset="0"/>
                          <a:ea typeface="宋体" pitchFamily="2" charset="-122"/>
                        </a:rPr>
                        <a:t>Dynamic Range of Uplink Power</a:t>
                      </a:r>
                      <a:endParaRPr kumimoji="0" lang="zh-CN" altLang="zh-CN" sz="1600" b="1" i="0" u="none" strike="noStrike" cap="none" normalizeH="0" baseline="0" dirty="0" smtClean="0">
                        <a:ln>
                          <a:noFill/>
                        </a:ln>
                        <a:solidFill>
                          <a:schemeClr val="tx1"/>
                        </a:solidFill>
                        <a:effectLst/>
                        <a:latin typeface="Times New Roman" pitchFamily="18" charset="0"/>
                        <a:ea typeface="宋体" pitchFamily="2" charset="-122"/>
                      </a:endParaRP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zh-CN" altLang="zh-CN" sz="1600" b="1" i="0" u="none" strike="noStrike" cap="none" normalizeH="0" baseline="0" dirty="0" smtClean="0">
                          <a:ln>
                            <a:noFill/>
                          </a:ln>
                          <a:solidFill>
                            <a:schemeClr val="tx1"/>
                          </a:solidFill>
                          <a:effectLst/>
                          <a:latin typeface="Times New Roman" pitchFamily="18" charset="0"/>
                          <a:ea typeface="宋体" pitchFamily="2" charset="-122"/>
                        </a:rPr>
                        <a:t>≥60 dB</a:t>
                      </a: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r>
              <a:tr h="387591">
                <a:tc>
                  <a:txBody>
                    <a:bodyPr/>
                    <a:lstStyle/>
                    <a:p>
                      <a:pPr marL="342900" marR="0" lvl="0" indent="-342900" algn="ctr"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6</a:t>
                      </a: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kern="1200" cap="none" normalizeH="0" baseline="0" dirty="0" smtClean="0">
                          <a:ln>
                            <a:noFill/>
                          </a:ln>
                          <a:solidFill>
                            <a:schemeClr val="tx1"/>
                          </a:solidFill>
                          <a:effectLst/>
                          <a:latin typeface="Times New Roman" pitchFamily="18" charset="0"/>
                          <a:ea typeface="宋体" pitchFamily="2" charset="-122"/>
                          <a:cs typeface="+mn-cs"/>
                        </a:rPr>
                        <a:t>frequency accuracy</a:t>
                      </a:r>
                      <a:endParaRPr kumimoji="0" lang="zh-CN" altLang="en-US" sz="1600" b="1" i="0" u="none" strike="noStrike" kern="1200" cap="none" normalizeH="0" baseline="0" dirty="0">
                        <a:ln>
                          <a:noFill/>
                        </a:ln>
                        <a:solidFill>
                          <a:schemeClr val="tx1"/>
                        </a:solidFill>
                        <a:effectLst/>
                        <a:latin typeface="Times New Roman" pitchFamily="18" charset="0"/>
                        <a:ea typeface="宋体" pitchFamily="2" charset="-122"/>
                        <a:cs typeface="+mn-cs"/>
                      </a:endParaRP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kern="1200" cap="none" normalizeH="0" baseline="0" dirty="0" smtClean="0">
                          <a:ln>
                            <a:noFill/>
                          </a:ln>
                          <a:solidFill>
                            <a:schemeClr val="tx1"/>
                          </a:solidFill>
                          <a:effectLst/>
                          <a:latin typeface="Times New Roman" pitchFamily="18" charset="0"/>
                          <a:ea typeface="宋体" pitchFamily="2" charset="-122"/>
                          <a:cs typeface="+mn-cs"/>
                        </a:rPr>
                        <a:t>better than </a:t>
                      </a:r>
                      <a:r>
                        <a:rPr kumimoji="0" lang="en-US" altLang="zh-CN" sz="1600" b="1" i="0" u="none" strike="noStrike" kern="1200" cap="none" normalizeH="0" baseline="0" dirty="0" smtClean="0">
                          <a:ln>
                            <a:noFill/>
                          </a:ln>
                          <a:solidFill>
                            <a:schemeClr val="tx1"/>
                          </a:solidFill>
                          <a:effectLst/>
                          <a:latin typeface="Times New Roman" pitchFamily="18" charset="0"/>
                          <a:ea typeface="宋体" pitchFamily="2" charset="-122"/>
                          <a:cs typeface="+mn-cs"/>
                          <a:sym typeface="Symbol"/>
                        </a:rPr>
                        <a:t></a:t>
                      </a:r>
                      <a:r>
                        <a:rPr kumimoji="0" lang="en-US" altLang="zh-CN" sz="1600" b="1" i="0" u="none" strike="noStrike" kern="1200" cap="none" normalizeH="0" baseline="0" dirty="0" smtClean="0">
                          <a:ln>
                            <a:noFill/>
                          </a:ln>
                          <a:solidFill>
                            <a:schemeClr val="tx1"/>
                          </a:solidFill>
                          <a:effectLst/>
                          <a:latin typeface="Times New Roman" pitchFamily="18" charset="0"/>
                          <a:ea typeface="宋体" pitchFamily="2" charset="-122"/>
                          <a:cs typeface="+mn-cs"/>
                        </a:rPr>
                        <a:t>1.5</a:t>
                      </a:r>
                      <a:r>
                        <a:rPr kumimoji="0" lang="en-US" altLang="zh-CN" sz="1600" b="1" i="0" u="none" strike="noStrike" kern="1200" cap="none" normalizeH="0" baseline="0" dirty="0" smtClean="0">
                          <a:ln>
                            <a:noFill/>
                          </a:ln>
                          <a:solidFill>
                            <a:schemeClr val="tx1"/>
                          </a:solidFill>
                          <a:effectLst/>
                          <a:latin typeface="Times New Roman" pitchFamily="18" charset="0"/>
                          <a:ea typeface="宋体" pitchFamily="2" charset="-122"/>
                          <a:cs typeface="+mn-cs"/>
                          <a:sym typeface="Symbol"/>
                        </a:rPr>
                        <a:t></a:t>
                      </a:r>
                      <a:r>
                        <a:rPr kumimoji="0" lang="en-US" altLang="zh-CN" sz="1600" b="1" i="0" u="none" strike="noStrike" kern="1200" cap="none" normalizeH="0" baseline="0" dirty="0" smtClean="0">
                          <a:ln>
                            <a:noFill/>
                          </a:ln>
                          <a:solidFill>
                            <a:schemeClr val="tx1"/>
                          </a:solidFill>
                          <a:effectLst/>
                          <a:latin typeface="Times New Roman" pitchFamily="18" charset="0"/>
                          <a:ea typeface="宋体" pitchFamily="2" charset="-122"/>
                          <a:cs typeface="+mn-cs"/>
                        </a:rPr>
                        <a:t>10</a:t>
                      </a:r>
                      <a:r>
                        <a:rPr kumimoji="0" lang="en-US" altLang="zh-CN" sz="1600" b="1" i="0" u="none" strike="noStrike" kern="1200" cap="none" normalizeH="0" baseline="30000" dirty="0" smtClean="0">
                          <a:ln>
                            <a:noFill/>
                          </a:ln>
                          <a:solidFill>
                            <a:schemeClr val="tx1"/>
                          </a:solidFill>
                          <a:effectLst/>
                          <a:latin typeface="Times New Roman" pitchFamily="18" charset="0"/>
                          <a:ea typeface="宋体" pitchFamily="2" charset="-122"/>
                          <a:cs typeface="+mn-cs"/>
                        </a:rPr>
                        <a:t>-5</a:t>
                      </a:r>
                      <a:endParaRPr kumimoji="0" lang="zh-CN" altLang="en-US" sz="1600" b="1" i="0" u="none" strike="noStrike" kern="1200" cap="none" normalizeH="0" baseline="30000" dirty="0">
                        <a:ln>
                          <a:noFill/>
                        </a:ln>
                        <a:solidFill>
                          <a:schemeClr val="tx1"/>
                        </a:solidFill>
                        <a:effectLst/>
                        <a:latin typeface="Times New Roman" pitchFamily="18" charset="0"/>
                        <a:ea typeface="宋体" pitchFamily="2" charset="-122"/>
                        <a:cs typeface="+mn-cs"/>
                      </a:endParaRP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r>
              <a:tr h="387591">
                <a:tc>
                  <a:txBody>
                    <a:bodyPr/>
                    <a:lstStyle/>
                    <a:p>
                      <a:pPr marL="342900" marR="0" lvl="0" indent="-342900" algn="ctr"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7</a:t>
                      </a: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kern="1200" cap="none" normalizeH="0" baseline="0" dirty="0" smtClean="0">
                          <a:ln>
                            <a:noFill/>
                          </a:ln>
                          <a:solidFill>
                            <a:schemeClr val="tx1"/>
                          </a:solidFill>
                          <a:effectLst/>
                          <a:latin typeface="Times New Roman" pitchFamily="18" charset="0"/>
                          <a:ea typeface="宋体" pitchFamily="2" charset="-122"/>
                          <a:cs typeface="+mn-cs"/>
                        </a:rPr>
                        <a:t>frequency stability</a:t>
                      </a:r>
                      <a:endParaRPr kumimoji="0" lang="zh-CN" altLang="en-US" sz="1600" b="1" i="0" u="none" strike="noStrike" kern="1200" cap="none" normalizeH="0" baseline="0" dirty="0">
                        <a:ln>
                          <a:noFill/>
                        </a:ln>
                        <a:solidFill>
                          <a:schemeClr val="tx1"/>
                        </a:solidFill>
                        <a:effectLst/>
                        <a:latin typeface="Times New Roman" pitchFamily="18" charset="0"/>
                        <a:ea typeface="宋体" pitchFamily="2" charset="-122"/>
                        <a:cs typeface="+mn-cs"/>
                      </a:endParaRP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kern="1200" cap="none" normalizeH="0" baseline="0" dirty="0" smtClean="0">
                          <a:ln>
                            <a:noFill/>
                          </a:ln>
                          <a:solidFill>
                            <a:schemeClr val="tx1"/>
                          </a:solidFill>
                          <a:effectLst/>
                          <a:latin typeface="Times New Roman" pitchFamily="18" charset="0"/>
                          <a:ea typeface="宋体" pitchFamily="2" charset="-122"/>
                          <a:cs typeface="+mn-cs"/>
                        </a:rPr>
                        <a:t>better than 1</a:t>
                      </a:r>
                      <a:r>
                        <a:rPr kumimoji="0" lang="en-US" altLang="zh-CN" sz="1600" b="1" i="0" u="none" strike="noStrike" kern="1200" cap="none" normalizeH="0" baseline="0" dirty="0" smtClean="0">
                          <a:ln>
                            <a:noFill/>
                          </a:ln>
                          <a:solidFill>
                            <a:schemeClr val="tx1"/>
                          </a:solidFill>
                          <a:effectLst/>
                          <a:latin typeface="Times New Roman" pitchFamily="18" charset="0"/>
                          <a:ea typeface="宋体" pitchFamily="2" charset="-122"/>
                          <a:cs typeface="+mn-cs"/>
                          <a:sym typeface="Symbol"/>
                        </a:rPr>
                        <a:t></a:t>
                      </a:r>
                      <a:r>
                        <a:rPr kumimoji="0" lang="en-US" altLang="zh-CN" sz="1600" b="1" i="0" u="none" strike="noStrike" kern="1200" cap="none" normalizeH="0" baseline="0" dirty="0" smtClean="0">
                          <a:ln>
                            <a:noFill/>
                          </a:ln>
                          <a:solidFill>
                            <a:schemeClr val="tx1"/>
                          </a:solidFill>
                          <a:effectLst/>
                          <a:latin typeface="Times New Roman" pitchFamily="18" charset="0"/>
                          <a:ea typeface="宋体" pitchFamily="2" charset="-122"/>
                          <a:cs typeface="+mn-cs"/>
                        </a:rPr>
                        <a:t>10</a:t>
                      </a:r>
                      <a:r>
                        <a:rPr kumimoji="0" lang="en-US" altLang="zh-CN" sz="1600" b="1" i="0" u="none" strike="noStrike" kern="1200" cap="none" normalizeH="0" baseline="30000" dirty="0" smtClean="0">
                          <a:ln>
                            <a:noFill/>
                          </a:ln>
                          <a:solidFill>
                            <a:schemeClr val="tx1"/>
                          </a:solidFill>
                          <a:effectLst/>
                          <a:latin typeface="Times New Roman" pitchFamily="18" charset="0"/>
                          <a:ea typeface="宋体" pitchFamily="2" charset="-122"/>
                          <a:cs typeface="+mn-cs"/>
                        </a:rPr>
                        <a:t>-7</a:t>
                      </a:r>
                      <a:endParaRPr kumimoji="0" lang="zh-CN" altLang="en-US" sz="1600" b="1" i="0" u="none" strike="noStrike" kern="1200" cap="none" normalizeH="0" baseline="30000" dirty="0">
                        <a:ln>
                          <a:noFill/>
                        </a:ln>
                        <a:solidFill>
                          <a:schemeClr val="tx1"/>
                        </a:solidFill>
                        <a:effectLst/>
                        <a:latin typeface="Times New Roman" pitchFamily="18" charset="0"/>
                        <a:ea typeface="宋体" pitchFamily="2" charset="-122"/>
                        <a:cs typeface="+mn-cs"/>
                      </a:endParaRP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r>
              <a:tr h="387591">
                <a:tc>
                  <a:txBody>
                    <a:bodyPr/>
                    <a:lstStyle/>
                    <a:p>
                      <a:pPr marL="342900" marR="0" lvl="0" indent="-342900" algn="ctr"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8</a:t>
                      </a: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kern="1200" cap="none" normalizeH="0" baseline="0" dirty="0" smtClean="0">
                          <a:ln>
                            <a:noFill/>
                          </a:ln>
                          <a:solidFill>
                            <a:schemeClr val="tx1"/>
                          </a:solidFill>
                          <a:effectLst/>
                          <a:latin typeface="Times New Roman" pitchFamily="18" charset="0"/>
                          <a:ea typeface="宋体" pitchFamily="2" charset="-122"/>
                          <a:cs typeface="+mn-cs"/>
                        </a:rPr>
                        <a:t>Tele-command Modulation index</a:t>
                      </a:r>
                      <a:endParaRPr kumimoji="0" lang="zh-CN" altLang="zh-CN" sz="1600" b="1" i="0" u="none" strike="noStrike" kern="1200" cap="none" normalizeH="0" baseline="0" dirty="0" smtClean="0">
                        <a:ln>
                          <a:noFill/>
                        </a:ln>
                        <a:solidFill>
                          <a:schemeClr val="tx1"/>
                        </a:solidFill>
                        <a:effectLst/>
                        <a:latin typeface="Times New Roman" pitchFamily="18" charset="0"/>
                        <a:ea typeface="宋体" pitchFamily="2" charset="-122"/>
                        <a:cs typeface="+mn-cs"/>
                      </a:endParaRP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kern="1200" cap="none" normalizeH="0" baseline="0" dirty="0" smtClean="0">
                          <a:ln>
                            <a:noFill/>
                          </a:ln>
                          <a:solidFill>
                            <a:schemeClr val="tx1"/>
                          </a:solidFill>
                          <a:effectLst/>
                          <a:latin typeface="Times New Roman" pitchFamily="18" charset="0"/>
                          <a:ea typeface="宋体" pitchFamily="2" charset="-122"/>
                          <a:cs typeface="+mn-cs"/>
                        </a:rPr>
                        <a:t>0.7rad±5%</a:t>
                      </a:r>
                      <a:endParaRPr kumimoji="0" lang="zh-CN" altLang="zh-CN" sz="1600" b="1" i="0" u="none" strike="noStrike" kern="1200" cap="none" normalizeH="0" baseline="0" dirty="0" smtClean="0">
                        <a:ln>
                          <a:noFill/>
                        </a:ln>
                        <a:solidFill>
                          <a:schemeClr val="tx1"/>
                        </a:solidFill>
                        <a:effectLst/>
                        <a:latin typeface="Times New Roman" pitchFamily="18" charset="0"/>
                        <a:ea typeface="宋体" pitchFamily="2" charset="-122"/>
                        <a:cs typeface="+mn-cs"/>
                      </a:endParaRP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r>
              <a:tr h="387591">
                <a:tc>
                  <a:txBody>
                    <a:bodyPr/>
                    <a:lstStyle/>
                    <a:p>
                      <a:pPr marL="342900" marR="0" lvl="0" indent="-342900" algn="ctr"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rPr>
                        <a:t>9</a:t>
                      </a: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kern="1200" cap="none" normalizeH="0" baseline="0" dirty="0" smtClean="0">
                          <a:ln>
                            <a:noFill/>
                          </a:ln>
                          <a:solidFill>
                            <a:schemeClr val="tx1"/>
                          </a:solidFill>
                          <a:effectLst/>
                          <a:latin typeface="Times New Roman" pitchFamily="18" charset="0"/>
                          <a:ea typeface="宋体" pitchFamily="2" charset="-122"/>
                          <a:cs typeface="+mn-cs"/>
                        </a:rPr>
                        <a:t>Telemetry Modulation index</a:t>
                      </a:r>
                      <a:endParaRPr kumimoji="0" lang="zh-CN" altLang="zh-CN" sz="1600" b="1" i="0" u="none" strike="noStrike" kern="1200" cap="none" normalizeH="0" baseline="0" dirty="0" smtClean="0">
                        <a:ln>
                          <a:noFill/>
                        </a:ln>
                        <a:solidFill>
                          <a:schemeClr val="tx1"/>
                        </a:solidFill>
                        <a:effectLst/>
                        <a:latin typeface="Times New Roman" pitchFamily="18" charset="0"/>
                        <a:ea typeface="宋体" pitchFamily="2" charset="-122"/>
                        <a:cs typeface="+mn-cs"/>
                      </a:endParaRP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kern="1200" cap="none" normalizeH="0" baseline="0" dirty="0" smtClean="0">
                          <a:ln>
                            <a:noFill/>
                          </a:ln>
                          <a:solidFill>
                            <a:schemeClr val="tx1"/>
                          </a:solidFill>
                          <a:effectLst/>
                          <a:latin typeface="Times New Roman" pitchFamily="18" charset="0"/>
                          <a:ea typeface="宋体" pitchFamily="2" charset="-122"/>
                          <a:cs typeface="+mn-cs"/>
                        </a:rPr>
                        <a:t>1.15rad±10%</a:t>
                      </a:r>
                      <a:endParaRPr kumimoji="0" lang="zh-CN" altLang="zh-CN" sz="1600" b="1" i="0" u="none" strike="noStrike" kern="1200" cap="none" normalizeH="0" baseline="0" dirty="0" smtClean="0">
                        <a:ln>
                          <a:noFill/>
                        </a:ln>
                        <a:solidFill>
                          <a:schemeClr val="tx1"/>
                        </a:solidFill>
                        <a:effectLst/>
                        <a:latin typeface="Times New Roman" pitchFamily="18" charset="0"/>
                        <a:ea typeface="宋体" pitchFamily="2" charset="-122"/>
                        <a:cs typeface="+mn-cs"/>
                      </a:endParaRP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r>
            </a:tbl>
          </a:graphicData>
        </a:graphic>
      </p:graphicFrame>
      <p:sp>
        <p:nvSpPr>
          <p:cNvPr id="7"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27</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8"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0" name="TextBox 5"/>
          <p:cNvSpPr txBox="1">
            <a:spLocks noChangeArrowheads="1"/>
          </p:cNvSpPr>
          <p:nvPr/>
        </p:nvSpPr>
        <p:spPr bwMode="auto">
          <a:xfrm>
            <a:off x="323850" y="1285860"/>
            <a:ext cx="8320116" cy="483874"/>
          </a:xfrm>
          <a:prstGeom prst="rect">
            <a:avLst/>
          </a:prstGeom>
          <a:noFill/>
          <a:ln w="9525">
            <a:noFill/>
            <a:miter lim="800000"/>
            <a:headEnd/>
            <a:tailEnd/>
          </a:ln>
        </p:spPr>
        <p:txBody>
          <a:bodyPr wrap="square" lIns="82954" tIns="41477" rIns="82954" bIns="41477">
            <a:spAutoFit/>
          </a:bodyPr>
          <a:lstStyle/>
          <a:p>
            <a:pPr marL="457200" indent="-457200">
              <a:spcAft>
                <a:spcPts val="1200"/>
              </a:spcAft>
              <a:buFont typeface="Wingdings" pitchFamily="2" charset="2"/>
              <a:buChar char="p"/>
            </a:pPr>
            <a:r>
              <a:rPr lang="en-US" altLang="zh-CN" sz="2600" b="1" dirty="0" smtClean="0">
                <a:solidFill>
                  <a:srgbClr val="0070C0"/>
                </a:solidFill>
              </a:rPr>
              <a:t>S band Transponder main Performance index</a:t>
            </a:r>
            <a:endParaRPr lang="en-US" altLang="zh-CN" sz="2600" b="1" dirty="0">
              <a:solidFill>
                <a:srgbClr val="0070C0"/>
              </a:solidFill>
            </a:endParaRPr>
          </a:p>
        </p:txBody>
      </p:sp>
      <p:sp>
        <p:nvSpPr>
          <p:cNvPr id="11" name="矩形 10"/>
          <p:cNvSpPr/>
          <p:nvPr/>
        </p:nvSpPr>
        <p:spPr>
          <a:xfrm>
            <a:off x="261938" y="261938"/>
            <a:ext cx="7168565" cy="584775"/>
          </a:xfrm>
          <a:prstGeom prst="rect">
            <a:avLst/>
          </a:prstGeom>
        </p:spPr>
        <p:txBody>
          <a:bodyPr wrap="none">
            <a:spAutoFit/>
          </a:bodyPr>
          <a:lstStyle/>
          <a:p>
            <a:pPr>
              <a:spcBef>
                <a:spcPct val="0"/>
              </a:spcBef>
              <a:defRPr/>
            </a:pPr>
            <a:r>
              <a:rPr lang="en-US" altLang="zh-CN" sz="3200" b="1" kern="1700" dirty="0" smtClean="0">
                <a:solidFill>
                  <a:schemeClr val="bg1"/>
                </a:solidFill>
                <a:latin typeface="微软雅黑" pitchFamily="34" charset="-122"/>
                <a:ea typeface="微软雅黑" pitchFamily="34" charset="-122"/>
                <a:cs typeface="+mj-cs"/>
              </a:rPr>
              <a:t>2  Technical Specification Analysis</a:t>
            </a:r>
            <a:endParaRPr lang="zh-CN" altLang="en-US" sz="3200" b="1" kern="1700" dirty="0">
              <a:solidFill>
                <a:schemeClr val="bg1"/>
              </a:solidFill>
              <a:latin typeface="微软雅黑" pitchFamily="34" charset="-122"/>
              <a:ea typeface="微软雅黑" pitchFamily="34" charset="-122"/>
              <a:cs typeface="+mj-cs"/>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2"/>
          <p:cNvSpPr txBox="1">
            <a:spLocks/>
          </p:cNvSpPr>
          <p:nvPr/>
        </p:nvSpPr>
        <p:spPr bwMode="auto">
          <a:xfrm>
            <a:off x="50800" y="233363"/>
            <a:ext cx="8229600" cy="1143000"/>
          </a:xfrm>
          <a:prstGeom prst="rect">
            <a:avLst/>
          </a:prstGeom>
          <a:noFill/>
          <a:ln w="9525">
            <a:noFill/>
            <a:miter lim="800000"/>
            <a:headEnd/>
            <a:tailEnd/>
          </a:ln>
        </p:spPr>
        <p:txBody>
          <a:bodyPr/>
          <a:lstStyle/>
          <a:p>
            <a:pPr eaLnBrk="0" hangingPunct="0"/>
            <a:endParaRPr lang="zh-CN" altLang="en-US" sz="4400">
              <a:solidFill>
                <a:schemeClr val="tx2"/>
              </a:solidFill>
            </a:endParaRPr>
          </a:p>
        </p:txBody>
      </p:sp>
      <p:sp>
        <p:nvSpPr>
          <p:cNvPr id="53252"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53253"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53254" name="Rectangle 4"/>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12" name="TextBox 5"/>
          <p:cNvSpPr txBox="1">
            <a:spLocks noChangeArrowheads="1"/>
          </p:cNvSpPr>
          <p:nvPr/>
        </p:nvSpPr>
        <p:spPr bwMode="auto">
          <a:xfrm>
            <a:off x="811213" y="1360077"/>
            <a:ext cx="7275512" cy="619295"/>
          </a:xfrm>
          <a:prstGeom prst="rect">
            <a:avLst/>
          </a:prstGeom>
          <a:noFill/>
          <a:ln>
            <a:noFill/>
          </a:ln>
          <a:extLst/>
        </p:spPr>
        <p:txBody>
          <a:bodyPr wrap="square" lIns="82954" tIns="41477" rIns="82954" bIns="41477">
            <a:spAutoFit/>
          </a:bodyPr>
          <a:lstStyle>
            <a:lvl1pPr eaLnBrk="0" hangingPunct="0">
              <a:defRPr sz="2000" b="1">
                <a:solidFill>
                  <a:srgbClr val="575F6D"/>
                </a:solidFill>
                <a:latin typeface="Arial" charset="0"/>
                <a:ea typeface="宋体" pitchFamily="2" charset="-122"/>
              </a:defRPr>
            </a:lvl1pPr>
            <a:lvl2pPr marL="742950" indent="-285750" eaLnBrk="0" hangingPunct="0">
              <a:defRPr sz="2000" b="1">
                <a:solidFill>
                  <a:srgbClr val="575F6D"/>
                </a:solidFill>
                <a:latin typeface="Arial" charset="0"/>
                <a:ea typeface="宋体" pitchFamily="2" charset="-122"/>
              </a:defRPr>
            </a:lvl2pPr>
            <a:lvl3pPr marL="1143000" indent="-228600" eaLnBrk="0" hangingPunct="0">
              <a:defRPr sz="2000" b="1">
                <a:solidFill>
                  <a:srgbClr val="575F6D"/>
                </a:solidFill>
                <a:latin typeface="Arial" charset="0"/>
                <a:ea typeface="宋体" pitchFamily="2" charset="-122"/>
              </a:defRPr>
            </a:lvl3pPr>
            <a:lvl4pPr marL="1600200" indent="-228600" eaLnBrk="0" hangingPunct="0">
              <a:defRPr sz="2000" b="1">
                <a:solidFill>
                  <a:srgbClr val="575F6D"/>
                </a:solidFill>
                <a:latin typeface="Arial" charset="0"/>
                <a:ea typeface="宋体" pitchFamily="2" charset="-122"/>
              </a:defRPr>
            </a:lvl4pPr>
            <a:lvl5pPr marL="2057400" indent="-228600" eaLnBrk="0" hangingPunct="0">
              <a:defRPr sz="2000" b="1">
                <a:solidFill>
                  <a:srgbClr val="575F6D"/>
                </a:solidFill>
                <a:latin typeface="Arial"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charset="0"/>
                <a:ea typeface="宋体" pitchFamily="2" charset="-122"/>
              </a:defRPr>
            </a:lvl9pPr>
          </a:lstStyle>
          <a:p>
            <a:pPr marL="457200" indent="-457200" eaLnBrk="1" hangingPunct="1">
              <a:lnSpc>
                <a:spcPct val="150000"/>
              </a:lnSpc>
              <a:spcAft>
                <a:spcPts val="1200"/>
              </a:spcAft>
              <a:buFont typeface="Wingdings" pitchFamily="2" charset="2"/>
              <a:buChar char="p"/>
              <a:defRPr/>
            </a:pPr>
            <a:r>
              <a:rPr lang="en-US" altLang="zh-CN" sz="2600" dirty="0" smtClean="0">
                <a:solidFill>
                  <a:srgbClr val="0070C0"/>
                </a:solidFill>
                <a:latin typeface="+mn-lt"/>
                <a:ea typeface="+mn-ea"/>
              </a:rPr>
              <a:t>coherent turnaround frequency</a:t>
            </a:r>
            <a:endParaRPr lang="en-US" altLang="zh-CN" dirty="0" smtClean="0">
              <a:solidFill>
                <a:schemeClr val="tx1"/>
              </a:solidFill>
            </a:endParaRPr>
          </a:p>
        </p:txBody>
      </p:sp>
      <p:pic>
        <p:nvPicPr>
          <p:cNvPr id="53256" name="Picture 3"/>
          <p:cNvPicPr>
            <a:picLocks noChangeAspect="1" noChangeArrowheads="1"/>
          </p:cNvPicPr>
          <p:nvPr/>
        </p:nvPicPr>
        <p:blipFill>
          <a:blip r:embed="rId3"/>
          <a:srcRect/>
          <a:stretch>
            <a:fillRect/>
          </a:stretch>
        </p:blipFill>
        <p:spPr bwMode="gray">
          <a:xfrm>
            <a:off x="1000100" y="2500306"/>
            <a:ext cx="7078652" cy="3028953"/>
          </a:xfrm>
          <a:prstGeom prst="rect">
            <a:avLst/>
          </a:prstGeom>
          <a:noFill/>
          <a:ln w="9525" algn="ctr">
            <a:noFill/>
            <a:miter lim="800000"/>
            <a:headEnd/>
            <a:tailEnd/>
          </a:ln>
        </p:spPr>
      </p:pic>
      <p:sp>
        <p:nvSpPr>
          <p:cNvPr id="9"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28</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10" name="矩形 9"/>
          <p:cNvSpPr/>
          <p:nvPr/>
        </p:nvSpPr>
        <p:spPr>
          <a:xfrm>
            <a:off x="92075" y="261938"/>
            <a:ext cx="6598217" cy="646331"/>
          </a:xfrm>
          <a:prstGeom prst="rect">
            <a:avLst/>
          </a:prstGeom>
        </p:spPr>
        <p:txBody>
          <a:bodyPr wrap="none">
            <a:spAutoFit/>
          </a:bodyPr>
          <a:lstStyle/>
          <a:p>
            <a:pPr>
              <a:defRPr/>
            </a:pPr>
            <a:r>
              <a:rPr lang="en-US" altLang="zh-CN" sz="3600" b="1" kern="1700" dirty="0" smtClean="0">
                <a:solidFill>
                  <a:schemeClr val="bg1"/>
                </a:solidFill>
                <a:latin typeface="微软雅黑" pitchFamily="34" charset="-122"/>
                <a:ea typeface="微软雅黑" pitchFamily="34" charset="-122"/>
                <a:cs typeface="+mj-cs"/>
              </a:rPr>
              <a:t>3  Telemetry </a:t>
            </a:r>
            <a:r>
              <a:rPr lang="en-US" altLang="zh-CN" sz="3600" b="1" kern="1700" dirty="0">
                <a:solidFill>
                  <a:schemeClr val="bg1"/>
                </a:solidFill>
                <a:latin typeface="微软雅黑" pitchFamily="34" charset="-122"/>
                <a:ea typeface="微软雅黑" pitchFamily="34" charset="-122"/>
                <a:cs typeface="+mj-cs"/>
              </a:rPr>
              <a:t>and Command</a:t>
            </a:r>
            <a:endParaRPr lang="zh-CN" altLang="en-US" sz="3600" b="1" kern="1700" dirty="0">
              <a:solidFill>
                <a:schemeClr val="bg1"/>
              </a:solidFill>
              <a:latin typeface="微软雅黑" pitchFamily="34" charset="-122"/>
              <a:ea typeface="微软雅黑" pitchFamily="34" charset="-122"/>
              <a:cs typeface="+mj-cs"/>
            </a:endParaRPr>
          </a:p>
        </p:txBody>
      </p:sp>
      <p:sp>
        <p:nvSpPr>
          <p:cNvPr id="11"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2"/>
          <p:cNvSpPr txBox="1">
            <a:spLocks/>
          </p:cNvSpPr>
          <p:nvPr/>
        </p:nvSpPr>
        <p:spPr bwMode="auto">
          <a:xfrm>
            <a:off x="50800" y="233363"/>
            <a:ext cx="8229600" cy="1143000"/>
          </a:xfrm>
          <a:prstGeom prst="rect">
            <a:avLst/>
          </a:prstGeom>
          <a:noFill/>
          <a:ln w="9525">
            <a:noFill/>
            <a:miter lim="800000"/>
            <a:headEnd/>
            <a:tailEnd/>
          </a:ln>
        </p:spPr>
        <p:txBody>
          <a:bodyPr/>
          <a:lstStyle/>
          <a:p>
            <a:pPr eaLnBrk="0" hangingPunct="0"/>
            <a:endParaRPr lang="zh-CN" altLang="en-US" sz="4400">
              <a:solidFill>
                <a:schemeClr val="tx2"/>
              </a:solidFill>
            </a:endParaRPr>
          </a:p>
        </p:txBody>
      </p:sp>
      <p:sp>
        <p:nvSpPr>
          <p:cNvPr id="54276"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54277"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54278" name="Rectangle 4"/>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24583" name="TextBox 5"/>
          <p:cNvSpPr txBox="1">
            <a:spLocks noChangeArrowheads="1"/>
          </p:cNvSpPr>
          <p:nvPr/>
        </p:nvSpPr>
        <p:spPr bwMode="auto">
          <a:xfrm>
            <a:off x="215901" y="2095215"/>
            <a:ext cx="4784728" cy="3792472"/>
          </a:xfrm>
          <a:prstGeom prst="rect">
            <a:avLst/>
          </a:prstGeom>
          <a:noFill/>
          <a:ln>
            <a:noFill/>
          </a:ln>
          <a:extLst/>
        </p:spPr>
        <p:txBody>
          <a:bodyPr wrap="square" lIns="82954" tIns="41477" rIns="82954" bIns="41477">
            <a:spAutoFit/>
          </a:bodyPr>
          <a:lstStyle>
            <a:lvl1pPr marL="457200" indent="-457200" eaLnBrk="0" hangingPunct="0">
              <a:defRPr sz="2000" b="1">
                <a:solidFill>
                  <a:srgbClr val="575F6D"/>
                </a:solidFill>
                <a:latin typeface="Arial" pitchFamily="34" charset="0"/>
                <a:ea typeface="宋体" pitchFamily="2" charset="-122"/>
              </a:defRPr>
            </a:lvl1pPr>
            <a:lvl2pPr marL="719138" indent="-358775"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spcAft>
                <a:spcPts val="1200"/>
              </a:spcAft>
              <a:buFont typeface="Wingdings" pitchFamily="2" charset="2"/>
              <a:buChar char="p"/>
            </a:pPr>
            <a:r>
              <a:rPr lang="en-US" altLang="zh-CN" sz="2600" dirty="0" smtClean="0">
                <a:solidFill>
                  <a:srgbClr val="0070C0"/>
                </a:solidFill>
              </a:rPr>
              <a:t>TT&amp;C Antenna and hybrid </a:t>
            </a:r>
          </a:p>
          <a:p>
            <a:pPr eaLnBrk="1" hangingPunct="1">
              <a:lnSpc>
                <a:spcPct val="150000"/>
              </a:lnSpc>
              <a:spcAft>
                <a:spcPts val="1200"/>
              </a:spcAft>
              <a:defRPr/>
            </a:pPr>
            <a:r>
              <a:rPr lang="en-US" altLang="zh-CN" sz="2600" dirty="0" smtClean="0">
                <a:solidFill>
                  <a:srgbClr val="0070C0"/>
                </a:solidFill>
              </a:rPr>
              <a:t>   </a:t>
            </a:r>
            <a:r>
              <a:rPr lang="en-US" altLang="zh-CN" sz="2200" dirty="0" smtClean="0">
                <a:solidFill>
                  <a:srgbClr val="0070C0"/>
                </a:solidFill>
              </a:rPr>
              <a:t> Function</a:t>
            </a:r>
            <a:endParaRPr lang="en-US" altLang="zh-CN" sz="2200" dirty="0" smtClean="0">
              <a:solidFill>
                <a:srgbClr val="0070C0"/>
              </a:solidFill>
              <a:latin typeface="+mn-lt"/>
              <a:ea typeface="+mn-ea"/>
            </a:endParaRPr>
          </a:p>
          <a:p>
            <a:pPr marL="360363" lvl="1" indent="0" algn="just" eaLnBrk="1" hangingPunct="1">
              <a:lnSpc>
                <a:spcPct val="200000"/>
              </a:lnSpc>
              <a:spcAft>
                <a:spcPts val="1200"/>
              </a:spcAft>
              <a:buFont typeface="Wingdings" pitchFamily="2" charset="2"/>
              <a:buChar char="n"/>
              <a:defRPr/>
            </a:pPr>
            <a:r>
              <a:rPr lang="en-US" altLang="zh-CN" sz="2200" dirty="0" smtClean="0">
                <a:solidFill>
                  <a:schemeClr val="tx1"/>
                </a:solidFill>
              </a:rPr>
              <a:t> Transmit  downlink signals</a:t>
            </a:r>
          </a:p>
          <a:p>
            <a:pPr lvl="1" algn="just" eaLnBrk="1" hangingPunct="1">
              <a:lnSpc>
                <a:spcPct val="200000"/>
              </a:lnSpc>
              <a:spcAft>
                <a:spcPts val="1200"/>
              </a:spcAft>
              <a:buFont typeface="Wingdings" pitchFamily="2" charset="2"/>
              <a:buChar char="n"/>
              <a:defRPr/>
            </a:pPr>
            <a:r>
              <a:rPr lang="en-US" altLang="zh-CN" sz="2200" dirty="0" smtClean="0">
                <a:solidFill>
                  <a:schemeClr val="tx1"/>
                </a:solidFill>
              </a:rPr>
              <a:t>Receive up-link signal</a:t>
            </a:r>
          </a:p>
          <a:p>
            <a:pPr lvl="1" algn="just" eaLnBrk="1" hangingPunct="1">
              <a:lnSpc>
                <a:spcPct val="200000"/>
              </a:lnSpc>
              <a:spcAft>
                <a:spcPts val="1200"/>
              </a:spcAft>
              <a:buFont typeface="Wingdings" pitchFamily="2" charset="2"/>
              <a:buChar char="n"/>
              <a:defRPr/>
            </a:pPr>
            <a:r>
              <a:rPr lang="en-US" altLang="zh-CN" sz="2200" dirty="0" smtClean="0">
                <a:solidFill>
                  <a:schemeClr val="tx1"/>
                </a:solidFill>
              </a:rPr>
              <a:t>Harmonize 2 Signals</a:t>
            </a:r>
          </a:p>
        </p:txBody>
      </p:sp>
      <p:sp>
        <p:nvSpPr>
          <p:cNvPr id="8"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29</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9" name="矩形 8"/>
          <p:cNvSpPr/>
          <p:nvPr/>
        </p:nvSpPr>
        <p:spPr>
          <a:xfrm>
            <a:off x="92075" y="261938"/>
            <a:ext cx="6460358" cy="646331"/>
          </a:xfrm>
          <a:prstGeom prst="rect">
            <a:avLst/>
          </a:prstGeom>
        </p:spPr>
        <p:txBody>
          <a:bodyPr wrap="none">
            <a:spAutoFit/>
          </a:bodyPr>
          <a:lstStyle/>
          <a:p>
            <a:pPr>
              <a:defRPr/>
            </a:pPr>
            <a:r>
              <a:rPr lang="en-US" altLang="zh-CN" sz="3600" b="1" kern="1700" dirty="0" smtClean="0">
                <a:solidFill>
                  <a:schemeClr val="bg1"/>
                </a:solidFill>
                <a:latin typeface="微软雅黑" pitchFamily="34" charset="-122"/>
                <a:ea typeface="微软雅黑" pitchFamily="34" charset="-122"/>
                <a:cs typeface="+mj-cs"/>
              </a:rPr>
              <a:t>3 Telemetry </a:t>
            </a:r>
            <a:r>
              <a:rPr lang="en-US" altLang="zh-CN" sz="3600" b="1" kern="1700" dirty="0">
                <a:solidFill>
                  <a:schemeClr val="bg1"/>
                </a:solidFill>
                <a:latin typeface="微软雅黑" pitchFamily="34" charset="-122"/>
                <a:ea typeface="微软雅黑" pitchFamily="34" charset="-122"/>
                <a:cs typeface="+mj-cs"/>
              </a:rPr>
              <a:t>and Command</a:t>
            </a:r>
            <a:endParaRPr lang="zh-CN" altLang="en-US" sz="3600" b="1" kern="1700" dirty="0">
              <a:solidFill>
                <a:schemeClr val="bg1"/>
              </a:solidFill>
              <a:latin typeface="微软雅黑" pitchFamily="34" charset="-122"/>
              <a:ea typeface="微软雅黑" pitchFamily="34" charset="-122"/>
              <a:cs typeface="+mj-cs"/>
            </a:endParaRPr>
          </a:p>
        </p:txBody>
      </p:sp>
      <p:sp>
        <p:nvSpPr>
          <p:cNvPr id="10"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1" name="矩形 5"/>
          <p:cNvSpPr>
            <a:spLocks noChangeArrowheads="1"/>
          </p:cNvSpPr>
          <p:nvPr/>
        </p:nvSpPr>
        <p:spPr bwMode="auto">
          <a:xfrm>
            <a:off x="5175267" y="3721089"/>
            <a:ext cx="1416029" cy="682625"/>
          </a:xfrm>
          <a:prstGeom prst="rect">
            <a:avLst/>
          </a:prstGeom>
          <a:noFill/>
          <a:ln w="9525">
            <a:noFill/>
            <a:miter lim="800000"/>
            <a:headEnd/>
            <a:tailEnd/>
          </a:ln>
        </p:spPr>
        <p:txBody>
          <a:bodyPr wrap="square">
            <a:spAutoFit/>
          </a:bodyPr>
          <a:lstStyle/>
          <a:p>
            <a:pPr marL="342900" indent="-342900" algn="ctr">
              <a:lnSpc>
                <a:spcPct val="120000"/>
              </a:lnSpc>
            </a:pPr>
            <a:r>
              <a:rPr lang="en-US" altLang="zh-CN" sz="1600" b="0" dirty="0">
                <a:solidFill>
                  <a:srgbClr val="0070C0"/>
                </a:solidFill>
                <a:latin typeface="Times New Roman" pitchFamily="18" charset="0"/>
              </a:rPr>
              <a:t>TT&amp;C antenna</a:t>
            </a:r>
          </a:p>
          <a:p>
            <a:pPr marL="342900" indent="-342900" algn="ctr">
              <a:lnSpc>
                <a:spcPct val="120000"/>
              </a:lnSpc>
            </a:pPr>
            <a:r>
              <a:rPr lang="en-US" altLang="zh-CN" sz="1600" b="0" dirty="0">
                <a:solidFill>
                  <a:srgbClr val="0070C0"/>
                </a:solidFill>
                <a:latin typeface="Times New Roman" pitchFamily="18" charset="0"/>
              </a:rPr>
              <a:t> (to nadir)</a:t>
            </a:r>
          </a:p>
        </p:txBody>
      </p:sp>
      <p:sp>
        <p:nvSpPr>
          <p:cNvPr id="13" name="矩形 20"/>
          <p:cNvSpPr>
            <a:spLocks noChangeArrowheads="1"/>
          </p:cNvSpPr>
          <p:nvPr/>
        </p:nvSpPr>
        <p:spPr bwMode="auto">
          <a:xfrm>
            <a:off x="6896127" y="3721089"/>
            <a:ext cx="1533525" cy="682625"/>
          </a:xfrm>
          <a:prstGeom prst="rect">
            <a:avLst/>
          </a:prstGeom>
          <a:noFill/>
          <a:ln w="9525">
            <a:noFill/>
            <a:miter lim="800000"/>
            <a:headEnd/>
            <a:tailEnd/>
          </a:ln>
        </p:spPr>
        <p:txBody>
          <a:bodyPr>
            <a:spAutoFit/>
          </a:bodyPr>
          <a:lstStyle/>
          <a:p>
            <a:pPr marL="342900" indent="-342900" algn="ctr">
              <a:lnSpc>
                <a:spcPct val="120000"/>
              </a:lnSpc>
            </a:pPr>
            <a:r>
              <a:rPr lang="en-US" altLang="zh-CN" sz="1600" b="0" dirty="0">
                <a:solidFill>
                  <a:srgbClr val="0070C0"/>
                </a:solidFill>
                <a:latin typeface="Times New Roman" pitchFamily="18" charset="0"/>
              </a:rPr>
              <a:t>TT&amp;C antenna </a:t>
            </a:r>
          </a:p>
          <a:p>
            <a:pPr marL="342900" indent="-342900" algn="ctr">
              <a:lnSpc>
                <a:spcPct val="120000"/>
              </a:lnSpc>
            </a:pPr>
            <a:r>
              <a:rPr lang="en-US" altLang="zh-CN" sz="1600" b="0" dirty="0">
                <a:solidFill>
                  <a:srgbClr val="0070C0"/>
                </a:solidFill>
                <a:latin typeface="Times New Roman" pitchFamily="18" charset="0"/>
              </a:rPr>
              <a:t>(to zenith)</a:t>
            </a:r>
          </a:p>
        </p:txBody>
      </p:sp>
      <p:pic>
        <p:nvPicPr>
          <p:cNvPr id="14" name="Picture 49"/>
          <p:cNvPicPr>
            <a:picLocks noChangeAspect="1" noChangeArrowheads="1"/>
          </p:cNvPicPr>
          <p:nvPr/>
        </p:nvPicPr>
        <p:blipFill>
          <a:blip r:embed="rId3"/>
          <a:srcRect/>
          <a:stretch>
            <a:fillRect/>
          </a:stretch>
        </p:blipFill>
        <p:spPr bwMode="gray">
          <a:xfrm>
            <a:off x="6715140" y="1785926"/>
            <a:ext cx="1752600" cy="1752600"/>
          </a:xfrm>
          <a:prstGeom prst="rect">
            <a:avLst/>
          </a:prstGeom>
          <a:noFill/>
          <a:ln w="9525" algn="ctr">
            <a:noFill/>
            <a:miter lim="800000"/>
            <a:headEnd/>
            <a:tailEnd/>
          </a:ln>
        </p:spPr>
      </p:pic>
      <p:pic>
        <p:nvPicPr>
          <p:cNvPr id="15" name="Picture 2"/>
          <p:cNvPicPr>
            <a:picLocks noChangeAspect="1" noChangeArrowheads="1"/>
          </p:cNvPicPr>
          <p:nvPr/>
        </p:nvPicPr>
        <p:blipFill>
          <a:blip r:embed="rId4"/>
          <a:srcRect/>
          <a:stretch>
            <a:fillRect/>
          </a:stretch>
        </p:blipFill>
        <p:spPr bwMode="auto">
          <a:xfrm>
            <a:off x="5091098" y="1790734"/>
            <a:ext cx="1500198" cy="1814469"/>
          </a:xfrm>
          <a:prstGeom prst="rect">
            <a:avLst/>
          </a:prstGeom>
          <a:noFill/>
          <a:ln w="9525">
            <a:noFill/>
            <a:miter lim="800000"/>
            <a:headEnd/>
            <a:tailEnd/>
          </a:ln>
          <a:effectLst/>
        </p:spPr>
      </p:pic>
      <p:pic>
        <p:nvPicPr>
          <p:cNvPr id="16" name="Picture 44"/>
          <p:cNvPicPr>
            <a:picLocks noChangeAspect="1" noChangeArrowheads="1"/>
          </p:cNvPicPr>
          <p:nvPr/>
        </p:nvPicPr>
        <p:blipFill>
          <a:blip r:embed="rId5"/>
          <a:srcRect/>
          <a:stretch>
            <a:fillRect/>
          </a:stretch>
        </p:blipFill>
        <p:spPr bwMode="gray">
          <a:xfrm>
            <a:off x="5357818" y="4518044"/>
            <a:ext cx="2117725" cy="1625600"/>
          </a:xfrm>
          <a:prstGeom prst="rect">
            <a:avLst/>
          </a:prstGeom>
          <a:noFill/>
          <a:ln w="9525" algn="ctr">
            <a:noFill/>
            <a:miter lim="800000"/>
            <a:headEnd/>
            <a:tailEnd/>
          </a:ln>
        </p:spPr>
      </p:pic>
      <p:sp>
        <p:nvSpPr>
          <p:cNvPr id="17" name="矩形 16"/>
          <p:cNvSpPr/>
          <p:nvPr/>
        </p:nvSpPr>
        <p:spPr>
          <a:xfrm>
            <a:off x="7715272" y="5214950"/>
            <a:ext cx="838691" cy="424732"/>
          </a:xfrm>
          <a:prstGeom prst="rect">
            <a:avLst/>
          </a:prstGeom>
        </p:spPr>
        <p:txBody>
          <a:bodyPr wrap="none">
            <a:spAutoFit/>
          </a:bodyPr>
          <a:lstStyle/>
          <a:p>
            <a:pPr marL="342900" indent="-342900">
              <a:lnSpc>
                <a:spcPct val="120000"/>
              </a:lnSpc>
            </a:pPr>
            <a:r>
              <a:rPr lang="en-US" altLang="zh-CN" dirty="0" smtClean="0">
                <a:solidFill>
                  <a:srgbClr val="0070C0"/>
                </a:solidFill>
                <a:latin typeface="Times New Roman" pitchFamily="18" charset="0"/>
              </a:rPr>
              <a:t>Hybrid</a:t>
            </a:r>
            <a:endParaRPr lang="en-US" altLang="zh-CN" dirty="0">
              <a:solidFill>
                <a:srgbClr val="0070C0"/>
              </a:solidFill>
              <a:latin typeface="Times New Roman" pitchFamily="18"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2"/>
          <p:cNvSpPr txBox="1">
            <a:spLocks/>
          </p:cNvSpPr>
          <p:nvPr/>
        </p:nvSpPr>
        <p:spPr bwMode="auto">
          <a:xfrm>
            <a:off x="50800" y="233363"/>
            <a:ext cx="8229600" cy="1143000"/>
          </a:xfrm>
          <a:prstGeom prst="rect">
            <a:avLst/>
          </a:prstGeom>
          <a:noFill/>
          <a:ln w="9525">
            <a:noFill/>
            <a:miter lim="800000"/>
            <a:headEnd/>
            <a:tailEnd/>
          </a:ln>
        </p:spPr>
        <p:txBody>
          <a:bodyPr/>
          <a:lstStyle/>
          <a:p>
            <a:pPr eaLnBrk="0" hangingPunct="0"/>
            <a:endParaRPr lang="zh-CN" altLang="en-US" sz="4400">
              <a:solidFill>
                <a:schemeClr val="tx2"/>
              </a:solidFill>
            </a:endParaRPr>
          </a:p>
        </p:txBody>
      </p:sp>
      <p:sp>
        <p:nvSpPr>
          <p:cNvPr id="46085"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8" name="表格 7"/>
          <p:cNvGraphicFramePr>
            <a:graphicFrameLocks noGrp="1"/>
          </p:cNvGraphicFramePr>
          <p:nvPr/>
        </p:nvGraphicFramePr>
        <p:xfrm>
          <a:off x="539669" y="2000240"/>
          <a:ext cx="8032859" cy="4096646"/>
        </p:xfrm>
        <a:graphic>
          <a:graphicData uri="http://schemas.openxmlformats.org/drawingml/2006/table">
            <a:tbl>
              <a:tblPr/>
              <a:tblGrid>
                <a:gridCol w="772760"/>
                <a:gridCol w="2303825"/>
                <a:gridCol w="4956274"/>
              </a:tblGrid>
              <a:tr h="445346">
                <a:tc>
                  <a:txBody>
                    <a:bodyPr/>
                    <a:lstStyle/>
                    <a:p>
                      <a:pPr algn="ctr">
                        <a:spcAft>
                          <a:spcPts val="0"/>
                        </a:spcAft>
                      </a:pPr>
                      <a:r>
                        <a:rPr lang="en-US" sz="1800" b="1" kern="100" dirty="0">
                          <a:solidFill>
                            <a:schemeClr val="bg1"/>
                          </a:solidFill>
                          <a:latin typeface="Calibri"/>
                          <a:ea typeface="宋体"/>
                          <a:cs typeface="Times New Roman"/>
                        </a:rPr>
                        <a:t>No.</a:t>
                      </a:r>
                      <a:endParaRPr lang="zh-CN" sz="1800" kern="100" dirty="0">
                        <a:solidFill>
                          <a:schemeClr val="bg1"/>
                        </a:solidFill>
                        <a:latin typeface="Calibri"/>
                        <a:ea typeface="宋体"/>
                        <a:cs typeface="Times New Roman"/>
                      </a:endParaRPr>
                    </a:p>
                  </a:txBody>
                  <a:tcPr marL="68580" marR="6858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2B2B2"/>
                    </a:solidFill>
                  </a:tcPr>
                </a:tc>
                <a:tc>
                  <a:txBody>
                    <a:bodyPr/>
                    <a:lstStyle/>
                    <a:p>
                      <a:pPr algn="ctr">
                        <a:spcAft>
                          <a:spcPts val="0"/>
                        </a:spcAft>
                      </a:pPr>
                      <a:r>
                        <a:rPr lang="en-US" sz="1800" b="1" kern="100" dirty="0">
                          <a:solidFill>
                            <a:schemeClr val="bg1"/>
                          </a:solidFill>
                          <a:latin typeface="Calibri"/>
                          <a:ea typeface="宋体"/>
                          <a:cs typeface="Times New Roman"/>
                        </a:rPr>
                        <a:t>Item</a:t>
                      </a:r>
                      <a:endParaRPr lang="zh-CN" sz="1800" kern="100" dirty="0">
                        <a:solidFill>
                          <a:schemeClr val="bg1"/>
                        </a:solidFill>
                        <a:latin typeface="Calibri"/>
                        <a:ea typeface="宋体"/>
                        <a:cs typeface="Times New Roman"/>
                      </a:endParaRPr>
                    </a:p>
                  </a:txBody>
                  <a:tcPr marL="68580" marR="6858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2B2B2"/>
                    </a:solidFill>
                  </a:tcPr>
                </a:tc>
                <a:tc>
                  <a:txBody>
                    <a:bodyPr/>
                    <a:lstStyle/>
                    <a:p>
                      <a:pPr algn="ctr">
                        <a:spcAft>
                          <a:spcPts val="0"/>
                        </a:spcAft>
                      </a:pPr>
                      <a:r>
                        <a:rPr lang="en-US" sz="1800" b="1" kern="100" dirty="0">
                          <a:solidFill>
                            <a:schemeClr val="bg1"/>
                          </a:solidFill>
                          <a:latin typeface="Calibri"/>
                          <a:ea typeface="宋体"/>
                          <a:cs typeface="Times New Roman"/>
                        </a:rPr>
                        <a:t>Specification</a:t>
                      </a:r>
                      <a:endParaRPr lang="zh-CN" sz="1800" kern="100" dirty="0">
                        <a:solidFill>
                          <a:schemeClr val="bg1"/>
                        </a:solidFill>
                        <a:latin typeface="Calibri"/>
                        <a:ea typeface="宋体"/>
                        <a:cs typeface="Times New Roman"/>
                      </a:endParaRPr>
                    </a:p>
                  </a:txBody>
                  <a:tcPr marL="68580" marR="6858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2B2B2"/>
                    </a:solidFill>
                  </a:tcPr>
                </a:tc>
              </a:tr>
              <a:tr h="445346">
                <a:tc>
                  <a:txBody>
                    <a:bodyPr/>
                    <a:lstStyle/>
                    <a:p>
                      <a:pPr marL="342900" marR="0" lvl="0" indent="-342900" algn="ctr"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1</a:t>
                      </a:r>
                      <a:endParaRPr kumimoji="0" lang="zh-CN"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endParaRPr>
                    </a:p>
                  </a:txBody>
                  <a:tcPr marL="68580" marR="6858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8F8"/>
                    </a:solidFill>
                  </a:tcPr>
                </a:tc>
                <a:tc>
                  <a:txBody>
                    <a:bodyPr/>
                    <a:lstStyle/>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Working Frequency </a:t>
                      </a:r>
                      <a:endParaRPr kumimoji="0" lang="zh-CN"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endParaRPr>
                    </a:p>
                  </a:txBody>
                  <a:tcPr marL="68580" marR="6858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8F8"/>
                    </a:solidFill>
                  </a:tcPr>
                </a:tc>
                <a:tc>
                  <a:txBody>
                    <a:bodyPr/>
                    <a:lstStyle/>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2025MHz~2290MHz </a:t>
                      </a:r>
                      <a:endParaRPr kumimoji="0" lang="zh-CN"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endParaRPr>
                    </a:p>
                  </a:txBody>
                  <a:tcPr marL="68580" marR="6858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8F8"/>
                    </a:solidFill>
                  </a:tcPr>
                </a:tc>
              </a:tr>
              <a:tr h="445346">
                <a:tc>
                  <a:txBody>
                    <a:bodyPr/>
                    <a:lstStyle/>
                    <a:p>
                      <a:pPr marL="342900" marR="0" lvl="0" indent="-342900" algn="ctr"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2</a:t>
                      </a:r>
                      <a:endParaRPr kumimoji="0" lang="zh-CN"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endParaRPr>
                    </a:p>
                  </a:txBody>
                  <a:tcPr marL="68580" marR="6858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8F8"/>
                    </a:solidFill>
                  </a:tcPr>
                </a:tc>
                <a:tc>
                  <a:txBody>
                    <a:bodyPr/>
                    <a:lstStyle/>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Operating Mode </a:t>
                      </a:r>
                      <a:endParaRPr kumimoji="0" lang="zh-CN"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endParaRPr>
                    </a:p>
                  </a:txBody>
                  <a:tcPr marL="68580" marR="6858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8F8"/>
                    </a:solidFill>
                  </a:tcPr>
                </a:tc>
                <a:tc>
                  <a:txBody>
                    <a:bodyPr/>
                    <a:lstStyle/>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Antenna is used both for transmission &amp; receiving </a:t>
                      </a:r>
                      <a:endParaRPr kumimoji="0" lang="zh-CN"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endParaRPr>
                    </a:p>
                  </a:txBody>
                  <a:tcPr marL="68580" marR="6858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8F8"/>
                    </a:solidFill>
                  </a:tcPr>
                </a:tc>
              </a:tr>
              <a:tr h="445346">
                <a:tc>
                  <a:txBody>
                    <a:bodyPr/>
                    <a:lstStyle/>
                    <a:p>
                      <a:pPr marL="342900" marR="0" lvl="0" indent="-342900" algn="ctr"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3</a:t>
                      </a:r>
                      <a:endParaRPr kumimoji="0" lang="zh-CN"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endParaRPr>
                    </a:p>
                  </a:txBody>
                  <a:tcPr marL="68580" marR="6858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8F8"/>
                    </a:solidFill>
                  </a:tcPr>
                </a:tc>
                <a:tc>
                  <a:txBody>
                    <a:bodyPr/>
                    <a:lstStyle/>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Polarization </a:t>
                      </a:r>
                      <a:endParaRPr kumimoji="0" lang="zh-CN"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endParaRPr>
                    </a:p>
                  </a:txBody>
                  <a:tcPr marL="68580" marR="6858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8F8"/>
                    </a:solidFill>
                  </a:tcPr>
                </a:tc>
                <a:tc>
                  <a:txBody>
                    <a:bodyPr/>
                    <a:lstStyle/>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Left hand circular polarization (LHCP) </a:t>
                      </a:r>
                      <a:endParaRPr kumimoji="0" lang="zh-CN"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endParaRPr>
                    </a:p>
                  </a:txBody>
                  <a:tcPr marL="68580" marR="6858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8F8"/>
                    </a:solidFill>
                  </a:tcPr>
                </a:tc>
              </a:tr>
              <a:tr h="1869916">
                <a:tc>
                  <a:txBody>
                    <a:bodyPr/>
                    <a:lstStyle/>
                    <a:p>
                      <a:pPr marL="342900" marR="0" lvl="0" indent="-342900" algn="ctr"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4</a:t>
                      </a:r>
                      <a:endParaRPr kumimoji="0" lang="zh-CN"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endParaRPr>
                    </a:p>
                  </a:txBody>
                  <a:tcPr marL="68580" marR="6858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8F8"/>
                    </a:solidFill>
                  </a:tcPr>
                </a:tc>
                <a:tc>
                  <a:txBody>
                    <a:bodyPr/>
                    <a:lstStyle/>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Pattern &amp; Gain </a:t>
                      </a:r>
                      <a:endParaRPr kumimoji="0" lang="zh-CN"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endParaRPr>
                    </a:p>
                  </a:txBody>
                  <a:tcPr marL="68580" marR="6858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8F8"/>
                    </a:solidFill>
                  </a:tcPr>
                </a:tc>
                <a:tc>
                  <a:txBody>
                    <a:bodyPr/>
                    <a:lstStyle/>
                    <a:p>
                      <a:pPr marL="0" marR="0" lvl="0" indent="0" algn="l"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Two-element antenna array provides quasi-</a:t>
                      </a:r>
                      <a:r>
                        <a:rPr kumimoji="0" lang="en-US" altLang="zh-CN" sz="1600" b="1" i="0" u="none" strike="noStrike" kern="1200" cap="none" normalizeH="0" baseline="0" dirty="0" err="1" smtClean="0">
                          <a:ln>
                            <a:noFill/>
                          </a:ln>
                          <a:solidFill>
                            <a:srgbClr val="0070C0"/>
                          </a:solidFill>
                          <a:effectLst/>
                          <a:latin typeface="Times New Roman" pitchFamily="18" charset="0"/>
                          <a:ea typeface="宋体" pitchFamily="2" charset="-122"/>
                          <a:cs typeface="+mn-cs"/>
                        </a:rPr>
                        <a:t>omniderictional</a:t>
                      </a: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 beam.</a:t>
                      </a:r>
                      <a:endParaRPr kumimoji="0" lang="zh-CN"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endParaRPr>
                    </a:p>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zh-CN"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a:t>
                      </a: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θ</a:t>
                      </a:r>
                      <a:r>
                        <a:rPr kumimoji="0" lang="zh-CN"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a:t>
                      </a: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102.5°</a:t>
                      </a:r>
                      <a:r>
                        <a:rPr kumimoji="0" lang="zh-CN"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a:t>
                      </a: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G</a:t>
                      </a: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sym typeface="Symbol"/>
                        </a:rPr>
                        <a:t></a:t>
                      </a: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-10dBi</a:t>
                      </a:r>
                      <a:r>
                        <a:rPr kumimoji="0" lang="zh-CN"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a:t>
                      </a:r>
                    </a:p>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102.5°&lt;</a:t>
                      </a:r>
                      <a:r>
                        <a:rPr kumimoji="0" lang="zh-CN"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a:t>
                      </a: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θ</a:t>
                      </a:r>
                      <a:r>
                        <a:rPr kumimoji="0" lang="zh-CN"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a:t>
                      </a: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112.5°</a:t>
                      </a:r>
                      <a:r>
                        <a:rPr kumimoji="0" lang="zh-CN"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a:t>
                      </a: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G</a:t>
                      </a: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sym typeface="Symbol"/>
                        </a:rPr>
                        <a:t></a:t>
                      </a: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-12.5dBi</a:t>
                      </a:r>
                      <a:r>
                        <a:rPr kumimoji="0" lang="zh-CN"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a:t>
                      </a:r>
                    </a:p>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112.5°&lt;</a:t>
                      </a:r>
                      <a:r>
                        <a:rPr kumimoji="0" lang="zh-CN"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a:t>
                      </a: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θ</a:t>
                      </a:r>
                      <a:r>
                        <a:rPr kumimoji="0" lang="zh-CN"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a:t>
                      </a: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180°</a:t>
                      </a:r>
                      <a:r>
                        <a:rPr kumimoji="0" lang="zh-CN"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a:t>
                      </a: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G</a:t>
                      </a: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sym typeface="Symbol"/>
                        </a:rPr>
                        <a:t></a:t>
                      </a: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-10dBi</a:t>
                      </a:r>
                      <a:r>
                        <a:rPr kumimoji="0" lang="zh-CN"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a:t>
                      </a:r>
                    </a:p>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Nulls allowed.</a:t>
                      </a:r>
                      <a:endParaRPr kumimoji="0" lang="zh-CN"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endParaRPr>
                    </a:p>
                  </a:txBody>
                  <a:tcPr marL="68580" marR="6858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8F8"/>
                    </a:solidFill>
                  </a:tcPr>
                </a:tc>
              </a:tr>
              <a:tr h="445346">
                <a:tc>
                  <a:txBody>
                    <a:bodyPr/>
                    <a:lstStyle/>
                    <a:p>
                      <a:pPr marL="342900" marR="0" lvl="0" indent="-342900" algn="ctr"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5</a:t>
                      </a:r>
                      <a:endParaRPr kumimoji="0" lang="zh-CN"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endParaRPr>
                    </a:p>
                  </a:txBody>
                  <a:tcPr marL="68580" marR="6858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8F8"/>
                    </a:solidFill>
                  </a:tcPr>
                </a:tc>
                <a:tc>
                  <a:txBody>
                    <a:bodyPr/>
                    <a:lstStyle/>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VSWR </a:t>
                      </a:r>
                      <a:endParaRPr kumimoji="0" lang="zh-CN"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endParaRPr>
                    </a:p>
                  </a:txBody>
                  <a:tcPr marL="68580" marR="6858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8F8"/>
                    </a:solidFill>
                  </a:tcPr>
                </a:tc>
                <a:tc>
                  <a:txBody>
                    <a:bodyPr/>
                    <a:lstStyle/>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≤1.5 </a:t>
                      </a:r>
                      <a:endParaRPr kumimoji="0" lang="zh-CN"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endParaRPr>
                    </a:p>
                  </a:txBody>
                  <a:tcPr marL="68580" marR="6858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8F8"/>
                    </a:solidFill>
                  </a:tcPr>
                </a:tc>
              </a:tr>
            </a:tbl>
          </a:graphicData>
        </a:graphic>
      </p:graphicFrame>
      <p:sp>
        <p:nvSpPr>
          <p:cNvPr id="7"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30</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9" name="TextBox 5"/>
          <p:cNvSpPr txBox="1">
            <a:spLocks noChangeArrowheads="1"/>
          </p:cNvSpPr>
          <p:nvPr/>
        </p:nvSpPr>
        <p:spPr bwMode="auto">
          <a:xfrm>
            <a:off x="323850" y="1285860"/>
            <a:ext cx="8320116" cy="483874"/>
          </a:xfrm>
          <a:prstGeom prst="rect">
            <a:avLst/>
          </a:prstGeom>
          <a:noFill/>
          <a:ln w="9525">
            <a:noFill/>
            <a:miter lim="800000"/>
            <a:headEnd/>
            <a:tailEnd/>
          </a:ln>
        </p:spPr>
        <p:txBody>
          <a:bodyPr wrap="square" lIns="82954" tIns="41477" rIns="82954" bIns="41477">
            <a:spAutoFit/>
          </a:bodyPr>
          <a:lstStyle/>
          <a:p>
            <a:pPr marL="457200" indent="-457200" algn="l">
              <a:spcAft>
                <a:spcPts val="1200"/>
              </a:spcAft>
              <a:buFont typeface="Wingdings" pitchFamily="2" charset="2"/>
              <a:buChar char="p"/>
            </a:pPr>
            <a:r>
              <a:rPr lang="en-US" altLang="zh-CN" sz="2600" b="1" dirty="0" smtClean="0">
                <a:solidFill>
                  <a:srgbClr val="0070C0"/>
                </a:solidFill>
              </a:rPr>
              <a:t>TT&amp;C Antenna</a:t>
            </a:r>
            <a:endParaRPr lang="en-US" altLang="zh-CN" sz="2600" b="1" dirty="0">
              <a:solidFill>
                <a:srgbClr val="0070C0"/>
              </a:solidFill>
            </a:endParaRPr>
          </a:p>
        </p:txBody>
      </p:sp>
      <p:sp>
        <p:nvSpPr>
          <p:cNvPr id="12"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0" name="矩形 9"/>
          <p:cNvSpPr/>
          <p:nvPr/>
        </p:nvSpPr>
        <p:spPr>
          <a:xfrm>
            <a:off x="261938" y="261938"/>
            <a:ext cx="7168565" cy="584775"/>
          </a:xfrm>
          <a:prstGeom prst="rect">
            <a:avLst/>
          </a:prstGeom>
        </p:spPr>
        <p:txBody>
          <a:bodyPr wrap="none">
            <a:spAutoFit/>
          </a:bodyPr>
          <a:lstStyle/>
          <a:p>
            <a:pPr>
              <a:spcBef>
                <a:spcPct val="0"/>
              </a:spcBef>
              <a:defRPr/>
            </a:pPr>
            <a:r>
              <a:rPr lang="en-US" altLang="zh-CN" sz="3200" b="1" kern="1700" dirty="0" smtClean="0">
                <a:solidFill>
                  <a:schemeClr val="bg1"/>
                </a:solidFill>
                <a:latin typeface="微软雅黑" pitchFamily="34" charset="-122"/>
                <a:ea typeface="微软雅黑" pitchFamily="34" charset="-122"/>
                <a:cs typeface="+mj-cs"/>
              </a:rPr>
              <a:t>2  Technical Specification Analysis</a:t>
            </a:r>
            <a:endParaRPr lang="zh-CN" altLang="en-US" sz="3200" b="1" kern="1700" dirty="0">
              <a:solidFill>
                <a:schemeClr val="bg1"/>
              </a:solidFill>
              <a:latin typeface="微软雅黑" pitchFamily="34" charset="-122"/>
              <a:ea typeface="微软雅黑" pitchFamily="34" charset="-122"/>
              <a:cs typeface="+mj-cs"/>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标题 2"/>
          <p:cNvSpPr txBox="1">
            <a:spLocks/>
          </p:cNvSpPr>
          <p:nvPr/>
        </p:nvSpPr>
        <p:spPr bwMode="auto">
          <a:xfrm>
            <a:off x="50800" y="233363"/>
            <a:ext cx="8229600" cy="1143000"/>
          </a:xfrm>
          <a:prstGeom prst="rect">
            <a:avLst/>
          </a:prstGeom>
          <a:noFill/>
          <a:ln w="9525">
            <a:noFill/>
            <a:miter lim="800000"/>
            <a:headEnd/>
            <a:tailEnd/>
          </a:ln>
        </p:spPr>
        <p:txBody>
          <a:bodyPr/>
          <a:lstStyle/>
          <a:p>
            <a:pPr eaLnBrk="0" hangingPunct="0"/>
            <a:endParaRPr lang="zh-CN" altLang="en-US" sz="4400">
              <a:solidFill>
                <a:schemeClr val="tx2"/>
              </a:solidFill>
            </a:endParaRPr>
          </a:p>
        </p:txBody>
      </p:sp>
      <p:sp>
        <p:nvSpPr>
          <p:cNvPr id="5125"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5126"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5127" name="Rectangle 4"/>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5128" name="TextBox 5"/>
          <p:cNvSpPr txBox="1">
            <a:spLocks noChangeArrowheads="1"/>
          </p:cNvSpPr>
          <p:nvPr/>
        </p:nvSpPr>
        <p:spPr bwMode="auto">
          <a:xfrm>
            <a:off x="215900" y="1177812"/>
            <a:ext cx="8640763" cy="822428"/>
          </a:xfrm>
          <a:prstGeom prst="rect">
            <a:avLst/>
          </a:prstGeom>
          <a:noFill/>
          <a:ln w="9525">
            <a:noFill/>
            <a:miter lim="800000"/>
            <a:headEnd/>
            <a:tailEnd/>
          </a:ln>
        </p:spPr>
        <p:txBody>
          <a:bodyPr lIns="82954" tIns="41477" rIns="82954" bIns="41477">
            <a:spAutoFit/>
          </a:bodyPr>
          <a:lstStyle/>
          <a:p>
            <a:pPr marL="457200" indent="-457200">
              <a:buFont typeface="Wingdings" pitchFamily="2" charset="2"/>
              <a:buChar char="p"/>
            </a:pPr>
            <a:r>
              <a:rPr lang="en-US" altLang="zh-CN" sz="2400" b="1" dirty="0" smtClean="0">
                <a:solidFill>
                  <a:srgbClr val="0070C0"/>
                </a:solidFill>
              </a:rPr>
              <a:t>S Band Transponder Function</a:t>
            </a:r>
            <a:endParaRPr lang="en-US" altLang="zh-CN" sz="2400" b="1" dirty="0" smtClean="0"/>
          </a:p>
          <a:p>
            <a:pPr marL="457200" indent="-457200" algn="l">
              <a:spcAft>
                <a:spcPts val="1200"/>
              </a:spcAft>
            </a:pPr>
            <a:r>
              <a:rPr lang="en-US" altLang="zh-CN" sz="2400" dirty="0" smtClean="0"/>
              <a:t>       Downlink telemetry </a:t>
            </a:r>
            <a:r>
              <a:rPr lang="en-US" altLang="zh-CN" sz="2400" dirty="0"/>
              <a:t>function</a:t>
            </a:r>
            <a:endParaRPr lang="en-US" altLang="zh-CN" sz="2200" dirty="0">
              <a:solidFill>
                <a:schemeClr val="tx1"/>
              </a:solidFill>
            </a:endParaRPr>
          </a:p>
        </p:txBody>
      </p:sp>
      <p:sp>
        <p:nvSpPr>
          <p:cNvPr id="5129"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122" name="对象 9"/>
          <p:cNvGraphicFramePr>
            <a:graphicFrameLocks noChangeAspect="1"/>
          </p:cNvGraphicFramePr>
          <p:nvPr/>
        </p:nvGraphicFramePr>
        <p:xfrm>
          <a:off x="1428728" y="2000240"/>
          <a:ext cx="6102350" cy="4429125"/>
        </p:xfrm>
        <a:graphic>
          <a:graphicData uri="http://schemas.openxmlformats.org/presentationml/2006/ole">
            <p:oleObj spid="_x0000_s5123" name="Visio" r:id="rId4" imgW="7366635" imgH="5347526" progId="">
              <p:embed/>
            </p:oleObj>
          </a:graphicData>
        </a:graphic>
      </p:graphicFrame>
      <p:sp>
        <p:nvSpPr>
          <p:cNvPr id="11"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31</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12" name="矩形 11"/>
          <p:cNvSpPr/>
          <p:nvPr/>
        </p:nvSpPr>
        <p:spPr>
          <a:xfrm>
            <a:off x="92075" y="261938"/>
            <a:ext cx="6598217" cy="646331"/>
          </a:xfrm>
          <a:prstGeom prst="rect">
            <a:avLst/>
          </a:prstGeom>
        </p:spPr>
        <p:txBody>
          <a:bodyPr wrap="none">
            <a:spAutoFit/>
          </a:bodyPr>
          <a:lstStyle/>
          <a:p>
            <a:pPr>
              <a:defRPr/>
            </a:pPr>
            <a:r>
              <a:rPr lang="en-US" altLang="zh-CN" sz="3600" b="1" kern="1700" dirty="0" smtClean="0">
                <a:solidFill>
                  <a:schemeClr val="bg1"/>
                </a:solidFill>
                <a:latin typeface="微软雅黑" pitchFamily="34" charset="-122"/>
                <a:ea typeface="微软雅黑" pitchFamily="34" charset="-122"/>
                <a:cs typeface="+mj-cs"/>
              </a:rPr>
              <a:t>3  Telemetry </a:t>
            </a:r>
            <a:r>
              <a:rPr lang="en-US" altLang="zh-CN" sz="3600" b="1" kern="1700" dirty="0">
                <a:solidFill>
                  <a:schemeClr val="bg1"/>
                </a:solidFill>
                <a:latin typeface="微软雅黑" pitchFamily="34" charset="-122"/>
                <a:ea typeface="微软雅黑" pitchFamily="34" charset="-122"/>
                <a:cs typeface="+mj-cs"/>
              </a:rPr>
              <a:t>and Command</a:t>
            </a:r>
            <a:endParaRPr lang="zh-CN" altLang="en-US" sz="3600" b="1" kern="1700" dirty="0">
              <a:solidFill>
                <a:schemeClr val="bg1"/>
              </a:solidFill>
              <a:latin typeface="微软雅黑" pitchFamily="34" charset="-122"/>
              <a:ea typeface="微软雅黑" pitchFamily="34" charset="-122"/>
              <a:cs typeface="+mj-cs"/>
            </a:endParaRPr>
          </a:p>
        </p:txBody>
      </p:sp>
      <p:sp>
        <p:nvSpPr>
          <p:cNvPr id="13"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标题 2"/>
          <p:cNvSpPr txBox="1">
            <a:spLocks/>
          </p:cNvSpPr>
          <p:nvPr/>
        </p:nvSpPr>
        <p:spPr bwMode="auto">
          <a:xfrm>
            <a:off x="50800" y="233363"/>
            <a:ext cx="8229600" cy="1143000"/>
          </a:xfrm>
          <a:prstGeom prst="rect">
            <a:avLst/>
          </a:prstGeom>
          <a:noFill/>
          <a:ln w="9525">
            <a:noFill/>
            <a:miter lim="800000"/>
            <a:headEnd/>
            <a:tailEnd/>
          </a:ln>
        </p:spPr>
        <p:txBody>
          <a:bodyPr/>
          <a:lstStyle/>
          <a:p>
            <a:pPr eaLnBrk="0" hangingPunct="0"/>
            <a:endParaRPr lang="zh-CN" altLang="en-US" sz="4400">
              <a:solidFill>
                <a:schemeClr val="tx2"/>
              </a:solidFill>
            </a:endParaRPr>
          </a:p>
        </p:txBody>
      </p:sp>
      <p:sp>
        <p:nvSpPr>
          <p:cNvPr id="6149"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150"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151" name="Rectangle 4"/>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24583" name="TextBox 5"/>
          <p:cNvSpPr txBox="1">
            <a:spLocks noChangeArrowheads="1"/>
          </p:cNvSpPr>
          <p:nvPr/>
        </p:nvSpPr>
        <p:spPr bwMode="auto">
          <a:xfrm>
            <a:off x="214282" y="1214422"/>
            <a:ext cx="8640763" cy="976316"/>
          </a:xfrm>
          <a:prstGeom prst="rect">
            <a:avLst/>
          </a:prstGeom>
          <a:noFill/>
          <a:ln>
            <a:noFill/>
          </a:ln>
          <a:extLst/>
        </p:spPr>
        <p:txBody>
          <a:bodyPr lIns="82954" tIns="41477" rIns="82954" bIns="41477">
            <a:spAutoFit/>
          </a:bodyPr>
          <a:lstStyle>
            <a:lvl1pPr marL="457200" indent="-457200" eaLnBrk="0" hangingPunct="0">
              <a:defRPr sz="2000" b="1">
                <a:solidFill>
                  <a:srgbClr val="575F6D"/>
                </a:solidFill>
                <a:latin typeface="Arial" pitchFamily="34" charset="0"/>
                <a:ea typeface="宋体" pitchFamily="2" charset="-122"/>
              </a:defRPr>
            </a:lvl1pPr>
            <a:lvl2pPr marL="719138" indent="-358775"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eaLnBrk="1" hangingPunct="1">
              <a:spcAft>
                <a:spcPts val="1200"/>
              </a:spcAft>
              <a:buFont typeface="Wingdings" pitchFamily="2" charset="2"/>
              <a:buChar char="p"/>
              <a:defRPr/>
            </a:pPr>
            <a:r>
              <a:rPr lang="en-US" altLang="zh-CN" sz="2400" dirty="0" smtClean="0">
                <a:solidFill>
                  <a:srgbClr val="0070C0"/>
                </a:solidFill>
              </a:rPr>
              <a:t>S Band Transponder Function</a:t>
            </a:r>
            <a:endParaRPr lang="en-US" altLang="zh-CN" sz="2400" dirty="0" smtClean="0"/>
          </a:p>
          <a:p>
            <a:pPr eaLnBrk="1" hangingPunct="1">
              <a:spcAft>
                <a:spcPts val="1200"/>
              </a:spcAft>
              <a:defRPr/>
            </a:pPr>
            <a:r>
              <a:rPr lang="en-US" altLang="zh-CN" sz="2400" b="0" dirty="0" smtClean="0">
                <a:solidFill>
                  <a:schemeClr val="tx1"/>
                </a:solidFill>
                <a:latin typeface="+mn-lt"/>
                <a:ea typeface="+mn-ea"/>
              </a:rPr>
              <a:t>       Downlink carrier and telemetry function</a:t>
            </a:r>
          </a:p>
        </p:txBody>
      </p:sp>
      <p:sp>
        <p:nvSpPr>
          <p:cNvPr id="6153"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154"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6146" name="对象 6"/>
          <p:cNvGraphicFramePr>
            <a:graphicFrameLocks noChangeAspect="1"/>
          </p:cNvGraphicFramePr>
          <p:nvPr/>
        </p:nvGraphicFramePr>
        <p:xfrm>
          <a:off x="2214578" y="2863851"/>
          <a:ext cx="4583112" cy="2246313"/>
        </p:xfrm>
        <a:graphic>
          <a:graphicData uri="http://schemas.openxmlformats.org/presentationml/2006/ole">
            <p:oleObj spid="_x0000_s6147" name="Visio" r:id="rId3" imgW="3850481" imgH="1884045" progId="">
              <p:embed/>
            </p:oleObj>
          </a:graphicData>
        </a:graphic>
      </p:graphicFrame>
      <p:sp>
        <p:nvSpPr>
          <p:cNvPr id="6155" name="矩形 7"/>
          <p:cNvSpPr>
            <a:spLocks noChangeArrowheads="1"/>
          </p:cNvSpPr>
          <p:nvPr/>
        </p:nvSpPr>
        <p:spPr bwMode="auto">
          <a:xfrm>
            <a:off x="2286016" y="5221305"/>
            <a:ext cx="4572000" cy="708025"/>
          </a:xfrm>
          <a:prstGeom prst="rect">
            <a:avLst/>
          </a:prstGeom>
          <a:noFill/>
          <a:ln w="9525">
            <a:noFill/>
            <a:miter lim="800000"/>
            <a:headEnd/>
            <a:tailEnd/>
          </a:ln>
        </p:spPr>
        <p:txBody>
          <a:bodyPr>
            <a:spAutoFit/>
          </a:bodyPr>
          <a:lstStyle/>
          <a:p>
            <a:r>
              <a:rPr lang="en-US" altLang="zh-CN" b="0" dirty="0">
                <a:solidFill>
                  <a:schemeClr val="tx1"/>
                </a:solidFill>
              </a:rPr>
              <a:t>Fig. The distribution sketch of downlink signal in frequency domain</a:t>
            </a:r>
            <a:endParaRPr lang="zh-CN" altLang="en-US" b="0" dirty="0">
              <a:solidFill>
                <a:schemeClr val="tx1"/>
              </a:solidFill>
            </a:endParaRPr>
          </a:p>
        </p:txBody>
      </p:sp>
      <p:sp>
        <p:nvSpPr>
          <p:cNvPr id="13"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32</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15" name="矩形 14"/>
          <p:cNvSpPr/>
          <p:nvPr/>
        </p:nvSpPr>
        <p:spPr>
          <a:xfrm>
            <a:off x="92075" y="261938"/>
            <a:ext cx="6598217" cy="646331"/>
          </a:xfrm>
          <a:prstGeom prst="rect">
            <a:avLst/>
          </a:prstGeom>
        </p:spPr>
        <p:txBody>
          <a:bodyPr wrap="none">
            <a:spAutoFit/>
          </a:bodyPr>
          <a:lstStyle/>
          <a:p>
            <a:pPr>
              <a:defRPr/>
            </a:pPr>
            <a:r>
              <a:rPr lang="en-US" altLang="zh-CN" sz="3600" b="1" kern="1700" dirty="0" smtClean="0">
                <a:solidFill>
                  <a:schemeClr val="bg1"/>
                </a:solidFill>
                <a:latin typeface="微软雅黑" pitchFamily="34" charset="-122"/>
                <a:ea typeface="微软雅黑" pitchFamily="34" charset="-122"/>
                <a:cs typeface="+mj-cs"/>
              </a:rPr>
              <a:t>3  Telemetry </a:t>
            </a:r>
            <a:r>
              <a:rPr lang="en-US" altLang="zh-CN" sz="3600" b="1" kern="1700" dirty="0">
                <a:solidFill>
                  <a:schemeClr val="bg1"/>
                </a:solidFill>
                <a:latin typeface="微软雅黑" pitchFamily="34" charset="-122"/>
                <a:ea typeface="微软雅黑" pitchFamily="34" charset="-122"/>
                <a:cs typeface="+mj-cs"/>
              </a:rPr>
              <a:t>and Command</a:t>
            </a:r>
            <a:endParaRPr lang="zh-CN" altLang="en-US" sz="3600" b="1" kern="1700" dirty="0">
              <a:solidFill>
                <a:schemeClr val="bg1"/>
              </a:solidFill>
              <a:latin typeface="微软雅黑" pitchFamily="34" charset="-122"/>
              <a:ea typeface="微软雅黑" pitchFamily="34" charset="-122"/>
              <a:cs typeface="+mj-cs"/>
            </a:endParaRPr>
          </a:p>
        </p:txBody>
      </p:sp>
      <p:sp>
        <p:nvSpPr>
          <p:cNvPr id="16"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标题 2"/>
          <p:cNvSpPr txBox="1">
            <a:spLocks/>
          </p:cNvSpPr>
          <p:nvPr/>
        </p:nvSpPr>
        <p:spPr bwMode="auto">
          <a:xfrm>
            <a:off x="50800" y="233363"/>
            <a:ext cx="8229600" cy="1143000"/>
          </a:xfrm>
          <a:prstGeom prst="rect">
            <a:avLst/>
          </a:prstGeom>
          <a:noFill/>
          <a:ln w="9525">
            <a:noFill/>
            <a:miter lim="800000"/>
            <a:headEnd/>
            <a:tailEnd/>
          </a:ln>
        </p:spPr>
        <p:txBody>
          <a:bodyPr/>
          <a:lstStyle/>
          <a:p>
            <a:pPr eaLnBrk="0" hangingPunct="0"/>
            <a:endParaRPr lang="zh-CN" altLang="en-US" sz="4400">
              <a:solidFill>
                <a:schemeClr val="tx2"/>
              </a:solidFill>
            </a:endParaRPr>
          </a:p>
        </p:txBody>
      </p:sp>
      <p:sp>
        <p:nvSpPr>
          <p:cNvPr id="7173"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7174"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7175" name="Rectangle 4"/>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7176" name="TextBox 5"/>
          <p:cNvSpPr txBox="1">
            <a:spLocks noChangeArrowheads="1"/>
          </p:cNvSpPr>
          <p:nvPr/>
        </p:nvSpPr>
        <p:spPr bwMode="auto">
          <a:xfrm>
            <a:off x="215900" y="1177812"/>
            <a:ext cx="8640763" cy="822428"/>
          </a:xfrm>
          <a:prstGeom prst="rect">
            <a:avLst/>
          </a:prstGeom>
          <a:noFill/>
          <a:ln w="9525">
            <a:noFill/>
            <a:miter lim="800000"/>
            <a:headEnd/>
            <a:tailEnd/>
          </a:ln>
        </p:spPr>
        <p:txBody>
          <a:bodyPr lIns="82954" tIns="41477" rIns="82954" bIns="41477">
            <a:spAutoFit/>
          </a:bodyPr>
          <a:lstStyle/>
          <a:p>
            <a:pPr marL="457200" indent="-457200">
              <a:buFont typeface="Wingdings" pitchFamily="2" charset="2"/>
              <a:buChar char="p"/>
              <a:defRPr/>
            </a:pPr>
            <a:r>
              <a:rPr lang="en-US" altLang="zh-CN" sz="2400" b="1" dirty="0" smtClean="0">
                <a:solidFill>
                  <a:srgbClr val="0070C0"/>
                </a:solidFill>
                <a:latin typeface="Arial" pitchFamily="34" charset="0"/>
                <a:ea typeface="宋体" pitchFamily="2" charset="-122"/>
              </a:rPr>
              <a:t>S Band Transponder Function</a:t>
            </a:r>
          </a:p>
          <a:p>
            <a:pPr marL="457200" indent="-457200" algn="l"/>
            <a:r>
              <a:rPr lang="en-US" altLang="zh-CN" sz="2400" dirty="0" smtClean="0"/>
              <a:t>       Tele-command </a:t>
            </a:r>
            <a:r>
              <a:rPr lang="en-US" altLang="zh-CN" sz="2400" dirty="0"/>
              <a:t>function</a:t>
            </a:r>
            <a:endParaRPr lang="en-US" altLang="zh-CN" sz="2200" dirty="0">
              <a:solidFill>
                <a:schemeClr val="tx1"/>
              </a:solidFill>
            </a:endParaRPr>
          </a:p>
        </p:txBody>
      </p:sp>
      <p:sp>
        <p:nvSpPr>
          <p:cNvPr id="7177"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7179"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7170" name="对象 9"/>
          <p:cNvGraphicFramePr>
            <a:graphicFrameLocks noChangeAspect="1"/>
          </p:cNvGraphicFramePr>
          <p:nvPr/>
        </p:nvGraphicFramePr>
        <p:xfrm>
          <a:off x="1470046" y="1928802"/>
          <a:ext cx="6102350" cy="4429125"/>
        </p:xfrm>
        <a:graphic>
          <a:graphicData uri="http://schemas.openxmlformats.org/presentationml/2006/ole">
            <p:oleObj spid="_x0000_s7171" name="Visio" r:id="rId4" imgW="7366635" imgH="5347526" progId="">
              <p:embed/>
            </p:oleObj>
          </a:graphicData>
        </a:graphic>
      </p:graphicFrame>
      <p:sp>
        <p:nvSpPr>
          <p:cNvPr id="12"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33</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13"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4" name="矩形 13"/>
          <p:cNvSpPr/>
          <p:nvPr/>
        </p:nvSpPr>
        <p:spPr>
          <a:xfrm>
            <a:off x="92075" y="261938"/>
            <a:ext cx="6598217" cy="646331"/>
          </a:xfrm>
          <a:prstGeom prst="rect">
            <a:avLst/>
          </a:prstGeom>
        </p:spPr>
        <p:txBody>
          <a:bodyPr wrap="none">
            <a:spAutoFit/>
          </a:bodyPr>
          <a:lstStyle/>
          <a:p>
            <a:pPr>
              <a:defRPr/>
            </a:pPr>
            <a:r>
              <a:rPr lang="en-US" altLang="zh-CN" sz="3600" b="1" kern="1700" dirty="0" smtClean="0">
                <a:solidFill>
                  <a:schemeClr val="bg1"/>
                </a:solidFill>
                <a:latin typeface="微软雅黑" pitchFamily="34" charset="-122"/>
                <a:ea typeface="微软雅黑" pitchFamily="34" charset="-122"/>
                <a:cs typeface="+mj-cs"/>
              </a:rPr>
              <a:t>3  Telemetry </a:t>
            </a:r>
            <a:r>
              <a:rPr lang="en-US" altLang="zh-CN" sz="3600" b="1" kern="1700" dirty="0">
                <a:solidFill>
                  <a:schemeClr val="bg1"/>
                </a:solidFill>
                <a:latin typeface="微软雅黑" pitchFamily="34" charset="-122"/>
                <a:ea typeface="微软雅黑" pitchFamily="34" charset="-122"/>
                <a:cs typeface="+mj-cs"/>
              </a:rPr>
              <a:t>and Command</a:t>
            </a:r>
            <a:endParaRPr lang="zh-CN" altLang="en-US" sz="3600" b="1" kern="1700" dirty="0">
              <a:solidFill>
                <a:schemeClr val="bg1"/>
              </a:solidFill>
              <a:latin typeface="微软雅黑" pitchFamily="34" charset="-122"/>
              <a:ea typeface="微软雅黑" pitchFamily="34" charset="-122"/>
              <a:cs typeface="+mj-cs"/>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标题 2"/>
          <p:cNvSpPr txBox="1">
            <a:spLocks/>
          </p:cNvSpPr>
          <p:nvPr/>
        </p:nvSpPr>
        <p:spPr bwMode="auto">
          <a:xfrm>
            <a:off x="50800" y="233363"/>
            <a:ext cx="8229600" cy="1143000"/>
          </a:xfrm>
          <a:prstGeom prst="rect">
            <a:avLst/>
          </a:prstGeom>
          <a:noFill/>
          <a:ln w="9525">
            <a:noFill/>
            <a:miter lim="800000"/>
            <a:headEnd/>
            <a:tailEnd/>
          </a:ln>
        </p:spPr>
        <p:txBody>
          <a:bodyPr/>
          <a:lstStyle/>
          <a:p>
            <a:pPr eaLnBrk="0" hangingPunct="0"/>
            <a:endParaRPr lang="zh-CN" altLang="en-US" sz="4400">
              <a:solidFill>
                <a:schemeClr val="tx2"/>
              </a:solidFill>
            </a:endParaRPr>
          </a:p>
        </p:txBody>
      </p:sp>
      <p:sp>
        <p:nvSpPr>
          <p:cNvPr id="8197"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8198"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8199" name="Rectangle 4"/>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8201"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8202"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8203" name="矩形 7"/>
          <p:cNvSpPr>
            <a:spLocks noChangeArrowheads="1"/>
          </p:cNvSpPr>
          <p:nvPr/>
        </p:nvSpPr>
        <p:spPr bwMode="auto">
          <a:xfrm>
            <a:off x="2052638" y="5408613"/>
            <a:ext cx="4572000" cy="708025"/>
          </a:xfrm>
          <a:prstGeom prst="rect">
            <a:avLst/>
          </a:prstGeom>
          <a:noFill/>
          <a:ln w="9525">
            <a:noFill/>
            <a:miter lim="800000"/>
            <a:headEnd/>
            <a:tailEnd/>
          </a:ln>
        </p:spPr>
        <p:txBody>
          <a:bodyPr>
            <a:spAutoFit/>
          </a:bodyPr>
          <a:lstStyle/>
          <a:p>
            <a:r>
              <a:rPr lang="en-US" altLang="zh-CN" b="0">
                <a:solidFill>
                  <a:schemeClr val="tx1"/>
                </a:solidFill>
              </a:rPr>
              <a:t>Fig. The distribution sketch of uplink signal in frequency domain</a:t>
            </a:r>
            <a:endParaRPr lang="zh-CN" altLang="en-US" b="0">
              <a:solidFill>
                <a:schemeClr val="tx1"/>
              </a:solidFill>
            </a:endParaRPr>
          </a:p>
        </p:txBody>
      </p:sp>
      <p:sp>
        <p:nvSpPr>
          <p:cNvPr id="8204"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8194" name="对象 4"/>
          <p:cNvGraphicFramePr>
            <a:graphicFrameLocks noChangeAspect="1"/>
          </p:cNvGraphicFramePr>
          <p:nvPr/>
        </p:nvGraphicFramePr>
        <p:xfrm>
          <a:off x="1547813" y="2457450"/>
          <a:ext cx="5729287" cy="2808288"/>
        </p:xfrm>
        <a:graphic>
          <a:graphicData uri="http://schemas.openxmlformats.org/presentationml/2006/ole">
            <p:oleObj spid="_x0000_s8195" name="Visio" r:id="rId4" imgW="3850481" imgH="1884045" progId="">
              <p:embed/>
            </p:oleObj>
          </a:graphicData>
        </a:graphic>
      </p:graphicFrame>
      <p:sp>
        <p:nvSpPr>
          <p:cNvPr id="13"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34</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14" name="TextBox 5"/>
          <p:cNvSpPr txBox="1">
            <a:spLocks noChangeArrowheads="1"/>
          </p:cNvSpPr>
          <p:nvPr/>
        </p:nvSpPr>
        <p:spPr bwMode="auto">
          <a:xfrm>
            <a:off x="215900" y="1320688"/>
            <a:ext cx="8640763" cy="822428"/>
          </a:xfrm>
          <a:prstGeom prst="rect">
            <a:avLst/>
          </a:prstGeom>
          <a:noFill/>
          <a:ln w="9525">
            <a:noFill/>
            <a:miter lim="800000"/>
            <a:headEnd/>
            <a:tailEnd/>
          </a:ln>
        </p:spPr>
        <p:txBody>
          <a:bodyPr lIns="82954" tIns="41477" rIns="82954" bIns="41477">
            <a:spAutoFit/>
          </a:bodyPr>
          <a:lstStyle/>
          <a:p>
            <a:pPr marL="457200" indent="-457200">
              <a:buFont typeface="Wingdings" pitchFamily="2" charset="2"/>
              <a:buChar char="p"/>
              <a:defRPr/>
            </a:pPr>
            <a:r>
              <a:rPr lang="en-US" altLang="zh-CN" sz="2400" b="1" dirty="0" smtClean="0">
                <a:solidFill>
                  <a:srgbClr val="0070C0"/>
                </a:solidFill>
                <a:latin typeface="Arial" pitchFamily="34" charset="0"/>
                <a:ea typeface="宋体" pitchFamily="2" charset="-122"/>
              </a:rPr>
              <a:t>S Band Transponder Function</a:t>
            </a:r>
          </a:p>
          <a:p>
            <a:pPr marL="457200" indent="-457200" algn="l"/>
            <a:r>
              <a:rPr lang="en-US" altLang="zh-CN" sz="2400" dirty="0" smtClean="0"/>
              <a:t>       Tele-command </a:t>
            </a:r>
            <a:r>
              <a:rPr lang="en-US" altLang="zh-CN" sz="2400" dirty="0"/>
              <a:t>function</a:t>
            </a:r>
            <a:endParaRPr lang="en-US" altLang="zh-CN" sz="2200" dirty="0">
              <a:solidFill>
                <a:schemeClr val="tx1"/>
              </a:solidFill>
            </a:endParaRPr>
          </a:p>
        </p:txBody>
      </p:sp>
      <p:sp>
        <p:nvSpPr>
          <p:cNvPr id="15" name="矩形 14"/>
          <p:cNvSpPr/>
          <p:nvPr/>
        </p:nvSpPr>
        <p:spPr>
          <a:xfrm>
            <a:off x="92075" y="261938"/>
            <a:ext cx="6460358" cy="646331"/>
          </a:xfrm>
          <a:prstGeom prst="rect">
            <a:avLst/>
          </a:prstGeom>
        </p:spPr>
        <p:txBody>
          <a:bodyPr wrap="none">
            <a:spAutoFit/>
          </a:bodyPr>
          <a:lstStyle/>
          <a:p>
            <a:pPr>
              <a:defRPr/>
            </a:pPr>
            <a:r>
              <a:rPr lang="en-US" altLang="zh-CN" sz="3600" b="1" kern="1700" dirty="0" smtClean="0">
                <a:solidFill>
                  <a:schemeClr val="bg1"/>
                </a:solidFill>
                <a:latin typeface="微软雅黑" pitchFamily="34" charset="-122"/>
                <a:ea typeface="微软雅黑" pitchFamily="34" charset="-122"/>
                <a:cs typeface="+mj-cs"/>
              </a:rPr>
              <a:t>3 Telemetry </a:t>
            </a:r>
            <a:r>
              <a:rPr lang="en-US" altLang="zh-CN" sz="3600" b="1" kern="1700" dirty="0">
                <a:solidFill>
                  <a:schemeClr val="bg1"/>
                </a:solidFill>
                <a:latin typeface="微软雅黑" pitchFamily="34" charset="-122"/>
                <a:ea typeface="微软雅黑" pitchFamily="34" charset="-122"/>
                <a:cs typeface="+mj-cs"/>
              </a:rPr>
              <a:t>and Command</a:t>
            </a:r>
            <a:endParaRPr lang="zh-CN" altLang="en-US" sz="3600" b="1" kern="1700" dirty="0">
              <a:solidFill>
                <a:schemeClr val="bg1"/>
              </a:solidFill>
              <a:latin typeface="微软雅黑" pitchFamily="34" charset="-122"/>
              <a:ea typeface="微软雅黑" pitchFamily="34" charset="-122"/>
              <a:cs typeface="+mj-cs"/>
            </a:endParaRPr>
          </a:p>
        </p:txBody>
      </p:sp>
      <p:sp>
        <p:nvSpPr>
          <p:cNvPr id="16"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2"/>
          <p:cNvSpPr txBox="1">
            <a:spLocks/>
          </p:cNvSpPr>
          <p:nvPr/>
        </p:nvSpPr>
        <p:spPr bwMode="auto">
          <a:xfrm>
            <a:off x="50800" y="233363"/>
            <a:ext cx="8229600" cy="1143000"/>
          </a:xfrm>
          <a:prstGeom prst="rect">
            <a:avLst/>
          </a:prstGeom>
          <a:noFill/>
          <a:ln w="9525">
            <a:noFill/>
            <a:miter lim="800000"/>
            <a:headEnd/>
            <a:tailEnd/>
          </a:ln>
        </p:spPr>
        <p:txBody>
          <a:bodyPr/>
          <a:lstStyle/>
          <a:p>
            <a:pPr eaLnBrk="0" hangingPunct="0"/>
            <a:endParaRPr lang="zh-CN" altLang="en-US" sz="4400">
              <a:solidFill>
                <a:schemeClr val="tx2"/>
              </a:solidFill>
            </a:endParaRPr>
          </a:p>
        </p:txBody>
      </p:sp>
      <p:sp>
        <p:nvSpPr>
          <p:cNvPr id="58372"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58373"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58374" name="Rectangle 4"/>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12" name="TextBox 5"/>
          <p:cNvSpPr txBox="1">
            <a:spLocks noChangeArrowheads="1"/>
          </p:cNvSpPr>
          <p:nvPr/>
        </p:nvSpPr>
        <p:spPr bwMode="auto">
          <a:xfrm>
            <a:off x="323850" y="1342713"/>
            <a:ext cx="8424863" cy="514651"/>
          </a:xfrm>
          <a:prstGeom prst="rect">
            <a:avLst/>
          </a:prstGeom>
          <a:noFill/>
          <a:ln>
            <a:noFill/>
          </a:ln>
          <a:extLst/>
        </p:spPr>
        <p:txBody>
          <a:bodyPr lIns="82954" tIns="41477" rIns="82954" bIns="41477">
            <a:spAutoFit/>
          </a:bodyPr>
          <a:lstStyle>
            <a:lvl1pPr eaLnBrk="0" hangingPunct="0">
              <a:defRPr sz="2000" b="1">
                <a:solidFill>
                  <a:srgbClr val="575F6D"/>
                </a:solidFill>
                <a:latin typeface="Arial" charset="0"/>
                <a:ea typeface="宋体" pitchFamily="2" charset="-122"/>
              </a:defRPr>
            </a:lvl1pPr>
            <a:lvl2pPr marL="742950" indent="-285750" eaLnBrk="0" hangingPunct="0">
              <a:defRPr sz="2000" b="1">
                <a:solidFill>
                  <a:srgbClr val="575F6D"/>
                </a:solidFill>
                <a:latin typeface="Arial" charset="0"/>
                <a:ea typeface="宋体" pitchFamily="2" charset="-122"/>
              </a:defRPr>
            </a:lvl2pPr>
            <a:lvl3pPr marL="1143000" indent="-228600" eaLnBrk="0" hangingPunct="0">
              <a:defRPr sz="2000" b="1">
                <a:solidFill>
                  <a:srgbClr val="575F6D"/>
                </a:solidFill>
                <a:latin typeface="Arial" charset="0"/>
                <a:ea typeface="宋体" pitchFamily="2" charset="-122"/>
              </a:defRPr>
            </a:lvl3pPr>
            <a:lvl4pPr marL="1600200" indent="-228600" eaLnBrk="0" hangingPunct="0">
              <a:defRPr sz="2000" b="1">
                <a:solidFill>
                  <a:srgbClr val="575F6D"/>
                </a:solidFill>
                <a:latin typeface="Arial" charset="0"/>
                <a:ea typeface="宋体" pitchFamily="2" charset="-122"/>
              </a:defRPr>
            </a:lvl4pPr>
            <a:lvl5pPr marL="2057400" indent="-228600" eaLnBrk="0" hangingPunct="0">
              <a:defRPr sz="2000" b="1">
                <a:solidFill>
                  <a:srgbClr val="575F6D"/>
                </a:solidFill>
                <a:latin typeface="Arial"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charset="0"/>
                <a:ea typeface="宋体" pitchFamily="2" charset="-122"/>
              </a:defRPr>
            </a:lvl9pPr>
          </a:lstStyle>
          <a:p>
            <a:pPr marL="457200" indent="-457200" algn="l" eaLnBrk="1" hangingPunct="1">
              <a:spcAft>
                <a:spcPts val="1200"/>
              </a:spcAft>
              <a:buFont typeface="Wingdings" pitchFamily="2" charset="2"/>
              <a:buChar char="p"/>
              <a:defRPr/>
            </a:pPr>
            <a:r>
              <a:rPr lang="en-US" altLang="zh-CN" sz="2800" dirty="0" smtClean="0">
                <a:solidFill>
                  <a:srgbClr val="0070C0"/>
                </a:solidFill>
              </a:rPr>
              <a:t>Transponder Operation Mode</a:t>
            </a:r>
          </a:p>
        </p:txBody>
      </p:sp>
      <p:graphicFrame>
        <p:nvGraphicFramePr>
          <p:cNvPr id="14" name="表格 13"/>
          <p:cNvGraphicFramePr>
            <a:graphicFrameLocks noGrp="1"/>
          </p:cNvGraphicFramePr>
          <p:nvPr/>
        </p:nvGraphicFramePr>
        <p:xfrm>
          <a:off x="571472" y="2500306"/>
          <a:ext cx="8280400" cy="2214578"/>
        </p:xfrm>
        <a:graphic>
          <a:graphicData uri="http://schemas.openxmlformats.org/drawingml/2006/table">
            <a:tbl>
              <a:tblPr/>
              <a:tblGrid>
                <a:gridCol w="665773"/>
                <a:gridCol w="864075"/>
                <a:gridCol w="1260110"/>
                <a:gridCol w="5490442"/>
              </a:tblGrid>
              <a:tr h="442916">
                <a:tc>
                  <a:txBody>
                    <a:bodyPr/>
                    <a:lstStyle/>
                    <a:p>
                      <a:pPr algn="ctr">
                        <a:spcAft>
                          <a:spcPts val="0"/>
                        </a:spcAft>
                      </a:pPr>
                      <a:r>
                        <a:rPr lang="en-US" sz="1600" b="1" dirty="0">
                          <a:solidFill>
                            <a:schemeClr val="bg1"/>
                          </a:solidFill>
                          <a:effectLst/>
                          <a:latin typeface="Times New Roman"/>
                          <a:ea typeface="宋体"/>
                          <a:cs typeface="宋体"/>
                        </a:rPr>
                        <a:t>Mode</a:t>
                      </a:r>
                      <a:endParaRPr lang="zh-CN" sz="1600" dirty="0">
                        <a:solidFill>
                          <a:schemeClr val="bg1"/>
                        </a:solidFill>
                        <a:effectLst/>
                        <a:latin typeface="Times New Roman"/>
                        <a:ea typeface="宋体"/>
                        <a:cs typeface="宋体"/>
                      </a:endParaRP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6A6A6"/>
                    </a:solidFill>
                  </a:tcPr>
                </a:tc>
                <a:tc>
                  <a:txBody>
                    <a:bodyPr/>
                    <a:lstStyle/>
                    <a:p>
                      <a:pPr algn="ctr">
                        <a:spcAft>
                          <a:spcPts val="0"/>
                        </a:spcAft>
                      </a:pPr>
                      <a:r>
                        <a:rPr lang="en-US" sz="1600" b="1" dirty="0">
                          <a:solidFill>
                            <a:schemeClr val="bg1"/>
                          </a:solidFill>
                          <a:effectLst/>
                          <a:latin typeface="Times New Roman"/>
                          <a:ea typeface="宋体"/>
                          <a:cs typeface="宋体"/>
                        </a:rPr>
                        <a:t>Uplink</a:t>
                      </a:r>
                      <a:endParaRPr lang="zh-CN" sz="1600" dirty="0">
                        <a:solidFill>
                          <a:schemeClr val="bg1"/>
                        </a:solidFill>
                        <a:effectLst/>
                        <a:latin typeface="Times New Roman"/>
                        <a:ea typeface="宋体"/>
                        <a:cs typeface="宋体"/>
                      </a:endParaRP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6A6A6"/>
                    </a:solidFill>
                  </a:tcPr>
                </a:tc>
                <a:tc>
                  <a:txBody>
                    <a:bodyPr/>
                    <a:lstStyle/>
                    <a:p>
                      <a:pPr algn="ctr">
                        <a:spcAft>
                          <a:spcPts val="0"/>
                        </a:spcAft>
                      </a:pPr>
                      <a:r>
                        <a:rPr lang="en-US" sz="1600" b="1" dirty="0">
                          <a:solidFill>
                            <a:schemeClr val="bg1"/>
                          </a:solidFill>
                          <a:effectLst/>
                          <a:latin typeface="Times New Roman"/>
                          <a:ea typeface="宋体"/>
                          <a:cs typeface="宋体"/>
                        </a:rPr>
                        <a:t>Downlink</a:t>
                      </a:r>
                      <a:endParaRPr lang="zh-CN" sz="1600" dirty="0">
                        <a:solidFill>
                          <a:schemeClr val="bg1"/>
                        </a:solidFill>
                        <a:effectLst/>
                        <a:latin typeface="Times New Roman"/>
                        <a:ea typeface="宋体"/>
                        <a:cs typeface="宋体"/>
                      </a:endParaRP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6A6A6"/>
                    </a:solidFill>
                  </a:tcPr>
                </a:tc>
                <a:tc>
                  <a:txBody>
                    <a:bodyPr/>
                    <a:lstStyle/>
                    <a:p>
                      <a:pPr algn="ctr">
                        <a:spcAft>
                          <a:spcPts val="0"/>
                        </a:spcAft>
                      </a:pPr>
                      <a:r>
                        <a:rPr lang="zh-CN" sz="1600" b="1" kern="100" dirty="0">
                          <a:solidFill>
                            <a:schemeClr val="bg1"/>
                          </a:solidFill>
                          <a:effectLst/>
                          <a:latin typeface="Arial"/>
                          <a:ea typeface="Times New Roman"/>
                          <a:cs typeface="Times New Roman"/>
                        </a:rPr>
                        <a:t>Remark</a:t>
                      </a:r>
                      <a:endParaRPr lang="zh-CN" sz="1600" kern="100" dirty="0">
                        <a:solidFill>
                          <a:schemeClr val="bg1"/>
                        </a:solidFill>
                        <a:effectLst/>
                        <a:latin typeface="Arial"/>
                        <a:ea typeface="宋体"/>
                        <a:cs typeface="Times New Roman"/>
                      </a:endParaRP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6A6A6"/>
                    </a:solidFill>
                  </a:tcPr>
                </a:tc>
              </a:tr>
              <a:tr h="885831">
                <a:tc>
                  <a:txBody>
                    <a:bodyPr/>
                    <a:lstStyle/>
                    <a:p>
                      <a:pPr algn="ctr">
                        <a:spcAft>
                          <a:spcPts val="0"/>
                        </a:spcAft>
                      </a:pPr>
                      <a:r>
                        <a:rPr lang="en-US" sz="1600" b="1" dirty="0">
                          <a:effectLst/>
                          <a:latin typeface="Times New Roman"/>
                          <a:ea typeface="宋体"/>
                          <a:cs typeface="宋体"/>
                        </a:rPr>
                        <a:t>1</a:t>
                      </a:r>
                      <a:endParaRPr lang="zh-CN" sz="1600" b="1" dirty="0">
                        <a:effectLst/>
                        <a:latin typeface="Times New Roman"/>
                        <a:ea typeface="宋体"/>
                        <a:cs typeface="宋体"/>
                      </a:endParaRP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algn="ctr">
                        <a:spcAft>
                          <a:spcPts val="0"/>
                        </a:spcAft>
                      </a:pPr>
                      <a:r>
                        <a:rPr lang="en-US" sz="1600" b="1" dirty="0">
                          <a:effectLst/>
                          <a:latin typeface="Times New Roman"/>
                          <a:ea typeface="宋体"/>
                          <a:cs typeface="宋体"/>
                        </a:rPr>
                        <a:t>—</a:t>
                      </a:r>
                      <a:endParaRPr lang="zh-CN" sz="1600" b="1" dirty="0">
                        <a:effectLst/>
                        <a:latin typeface="Times New Roman"/>
                        <a:ea typeface="宋体"/>
                        <a:cs typeface="宋体"/>
                      </a:endParaRP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algn="ctr">
                        <a:spcAft>
                          <a:spcPts val="0"/>
                        </a:spcAft>
                      </a:pPr>
                      <a:r>
                        <a:rPr lang="en-US" sz="1600" b="1">
                          <a:effectLst/>
                          <a:latin typeface="Times New Roman"/>
                          <a:ea typeface="宋体"/>
                          <a:cs typeface="宋体"/>
                        </a:rPr>
                        <a:t>TM</a:t>
                      </a:r>
                      <a:endParaRPr lang="zh-CN" sz="1600" b="1">
                        <a:effectLst/>
                        <a:latin typeface="Times New Roman"/>
                        <a:ea typeface="宋体"/>
                        <a:cs typeface="宋体"/>
                      </a:endParaRP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a:spcAft>
                          <a:spcPts val="0"/>
                        </a:spcAft>
                      </a:pPr>
                      <a:r>
                        <a:rPr lang="en-US" sz="1600" b="1" dirty="0">
                          <a:effectLst/>
                          <a:latin typeface="Times New Roman"/>
                          <a:ea typeface="宋体"/>
                          <a:cs typeface="Times New Roman"/>
                        </a:rPr>
                        <a:t>The downlink has beacon and TM signal.</a:t>
                      </a:r>
                      <a:endParaRPr lang="zh-CN" sz="1600" b="1" dirty="0">
                        <a:effectLst/>
                        <a:latin typeface="Times New Roman"/>
                        <a:ea typeface="宋体"/>
                        <a:cs typeface="宋体"/>
                      </a:endParaRP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r>
              <a:tr h="885831">
                <a:tc>
                  <a:txBody>
                    <a:bodyPr/>
                    <a:lstStyle/>
                    <a:p>
                      <a:pPr algn="ctr">
                        <a:spcAft>
                          <a:spcPts val="0"/>
                        </a:spcAft>
                      </a:pPr>
                      <a:r>
                        <a:rPr lang="en-US" sz="1600" b="1">
                          <a:effectLst/>
                          <a:latin typeface="Times New Roman"/>
                          <a:ea typeface="宋体"/>
                          <a:cs typeface="宋体"/>
                        </a:rPr>
                        <a:t>2</a:t>
                      </a:r>
                      <a:endParaRPr lang="zh-CN" sz="1600" b="1">
                        <a:effectLst/>
                        <a:latin typeface="Times New Roman"/>
                        <a:ea typeface="宋体"/>
                        <a:cs typeface="宋体"/>
                      </a:endParaRP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algn="ctr">
                        <a:spcAft>
                          <a:spcPts val="0"/>
                        </a:spcAft>
                      </a:pPr>
                      <a:r>
                        <a:rPr lang="en-US" sz="1600" b="1" dirty="0">
                          <a:effectLst/>
                          <a:latin typeface="Times New Roman"/>
                          <a:ea typeface="宋体"/>
                          <a:cs typeface="宋体"/>
                        </a:rPr>
                        <a:t>TC</a:t>
                      </a:r>
                      <a:endParaRPr lang="zh-CN" sz="1600" b="1" dirty="0">
                        <a:effectLst/>
                        <a:latin typeface="Times New Roman"/>
                        <a:ea typeface="宋体"/>
                        <a:cs typeface="宋体"/>
                      </a:endParaRP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algn="ctr">
                        <a:spcAft>
                          <a:spcPts val="0"/>
                        </a:spcAft>
                      </a:pPr>
                      <a:r>
                        <a:rPr lang="en-US" sz="1600" b="1" dirty="0">
                          <a:effectLst/>
                          <a:latin typeface="Times New Roman"/>
                          <a:ea typeface="宋体"/>
                          <a:cs typeface="宋体"/>
                        </a:rPr>
                        <a:t>TM</a:t>
                      </a:r>
                      <a:endParaRPr lang="zh-CN" sz="1600" b="1" dirty="0">
                        <a:effectLst/>
                        <a:latin typeface="Times New Roman"/>
                        <a:ea typeface="宋体"/>
                        <a:cs typeface="宋体"/>
                      </a:endParaRP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a:spcAft>
                          <a:spcPts val="0"/>
                        </a:spcAft>
                      </a:pPr>
                      <a:r>
                        <a:rPr lang="en-US" sz="1600" b="1" dirty="0">
                          <a:effectLst/>
                          <a:latin typeface="Times New Roman"/>
                          <a:ea typeface="宋体"/>
                          <a:cs typeface="Times New Roman"/>
                        </a:rPr>
                        <a:t>The uplink has TC signal.</a:t>
                      </a:r>
                      <a:endParaRPr lang="zh-CN" sz="1600" b="1" dirty="0">
                        <a:effectLst/>
                        <a:latin typeface="Times New Roman"/>
                        <a:ea typeface="宋体"/>
                        <a:cs typeface="宋体"/>
                      </a:endParaRPr>
                    </a:p>
                    <a:p>
                      <a:pPr>
                        <a:spcAft>
                          <a:spcPts val="0"/>
                        </a:spcAft>
                      </a:pPr>
                      <a:r>
                        <a:rPr lang="en-US" sz="1600" b="1" dirty="0">
                          <a:effectLst/>
                          <a:latin typeface="Times New Roman"/>
                          <a:ea typeface="宋体"/>
                          <a:cs typeface="Times New Roman"/>
                        </a:rPr>
                        <a:t>The downlink has beacon and TM signal.</a:t>
                      </a:r>
                      <a:endParaRPr lang="zh-CN" sz="1600" b="1" dirty="0">
                        <a:effectLst/>
                        <a:latin typeface="Times New Roman"/>
                        <a:ea typeface="宋体"/>
                        <a:cs typeface="宋体"/>
                      </a:endParaRPr>
                    </a:p>
                  </a:txBody>
                  <a:tcPr marL="68578" marR="6857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r>
            </a:tbl>
          </a:graphicData>
        </a:graphic>
      </p:graphicFrame>
      <p:sp>
        <p:nvSpPr>
          <p:cNvPr id="58408" name="矩形 1"/>
          <p:cNvSpPr>
            <a:spLocks noChangeArrowheads="1"/>
          </p:cNvSpPr>
          <p:nvPr/>
        </p:nvSpPr>
        <p:spPr bwMode="auto">
          <a:xfrm>
            <a:off x="571472" y="4886338"/>
            <a:ext cx="5776912" cy="369332"/>
          </a:xfrm>
          <a:prstGeom prst="rect">
            <a:avLst/>
          </a:prstGeom>
          <a:noFill/>
          <a:ln w="9525">
            <a:noFill/>
            <a:miter lim="800000"/>
            <a:headEnd/>
            <a:tailEnd/>
          </a:ln>
        </p:spPr>
        <p:txBody>
          <a:bodyPr>
            <a:spAutoFit/>
          </a:bodyPr>
          <a:lstStyle/>
          <a:p>
            <a:r>
              <a:rPr lang="en-US" altLang="zh-CN" dirty="0" smtClean="0"/>
              <a:t>TM</a:t>
            </a:r>
            <a:r>
              <a:rPr lang="en-US" altLang="zh-CN" dirty="0"/>
              <a:t>: telemetry;  TC: </a:t>
            </a:r>
            <a:r>
              <a:rPr lang="en-US" altLang="zh-CN" dirty="0" err="1"/>
              <a:t>tele</a:t>
            </a:r>
            <a:r>
              <a:rPr lang="en-US" altLang="zh-CN" dirty="0"/>
              <a:t>-command</a:t>
            </a:r>
            <a:endParaRPr lang="zh-CN" altLang="en-US" dirty="0"/>
          </a:p>
        </p:txBody>
      </p:sp>
      <p:sp>
        <p:nvSpPr>
          <p:cNvPr id="10"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35</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11" name="矩形 10"/>
          <p:cNvSpPr/>
          <p:nvPr/>
        </p:nvSpPr>
        <p:spPr>
          <a:xfrm>
            <a:off x="92075" y="261938"/>
            <a:ext cx="6460358" cy="646331"/>
          </a:xfrm>
          <a:prstGeom prst="rect">
            <a:avLst/>
          </a:prstGeom>
        </p:spPr>
        <p:txBody>
          <a:bodyPr wrap="none">
            <a:spAutoFit/>
          </a:bodyPr>
          <a:lstStyle/>
          <a:p>
            <a:pPr>
              <a:defRPr/>
            </a:pPr>
            <a:r>
              <a:rPr lang="en-US" altLang="zh-CN" sz="3600" b="1" kern="1700" dirty="0" smtClean="0">
                <a:solidFill>
                  <a:schemeClr val="bg1"/>
                </a:solidFill>
                <a:latin typeface="微软雅黑" pitchFamily="34" charset="-122"/>
                <a:ea typeface="微软雅黑" pitchFamily="34" charset="-122"/>
                <a:cs typeface="+mj-cs"/>
              </a:rPr>
              <a:t>3 Telemetry </a:t>
            </a:r>
            <a:r>
              <a:rPr lang="en-US" altLang="zh-CN" sz="3600" b="1" kern="1700" dirty="0">
                <a:solidFill>
                  <a:schemeClr val="bg1"/>
                </a:solidFill>
                <a:latin typeface="微软雅黑" pitchFamily="34" charset="-122"/>
                <a:ea typeface="微软雅黑" pitchFamily="34" charset="-122"/>
                <a:cs typeface="+mj-cs"/>
              </a:rPr>
              <a:t>and Command</a:t>
            </a:r>
            <a:endParaRPr lang="zh-CN" altLang="en-US" sz="3600" b="1" kern="1700" dirty="0">
              <a:solidFill>
                <a:schemeClr val="bg1"/>
              </a:solidFill>
              <a:latin typeface="微软雅黑" pitchFamily="34" charset="-122"/>
              <a:ea typeface="微软雅黑" pitchFamily="34" charset="-122"/>
              <a:cs typeface="+mj-cs"/>
            </a:endParaRPr>
          </a:p>
        </p:txBody>
      </p:sp>
      <p:sp>
        <p:nvSpPr>
          <p:cNvPr id="13"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2"/>
          <p:cNvSpPr txBox="1">
            <a:spLocks/>
          </p:cNvSpPr>
          <p:nvPr/>
        </p:nvSpPr>
        <p:spPr bwMode="auto">
          <a:xfrm>
            <a:off x="50800" y="233363"/>
            <a:ext cx="8229600" cy="1143000"/>
          </a:xfrm>
          <a:prstGeom prst="rect">
            <a:avLst/>
          </a:prstGeom>
          <a:noFill/>
          <a:ln w="9525">
            <a:noFill/>
            <a:miter lim="800000"/>
            <a:headEnd/>
            <a:tailEnd/>
          </a:ln>
        </p:spPr>
        <p:txBody>
          <a:bodyPr/>
          <a:lstStyle/>
          <a:p>
            <a:pPr eaLnBrk="0" hangingPunct="0"/>
            <a:endParaRPr lang="zh-CN" altLang="en-US" sz="4400">
              <a:solidFill>
                <a:schemeClr val="tx2"/>
              </a:solidFill>
            </a:endParaRPr>
          </a:p>
        </p:txBody>
      </p:sp>
      <p:sp>
        <p:nvSpPr>
          <p:cNvPr id="59396"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59397"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59398" name="Rectangle 4"/>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 name="图示 4"/>
          <p:cNvGraphicFramePr/>
          <p:nvPr/>
        </p:nvGraphicFramePr>
        <p:xfrm>
          <a:off x="3286116" y="1892322"/>
          <a:ext cx="4778272" cy="43227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36</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10" name="TextBox 5"/>
          <p:cNvSpPr txBox="1">
            <a:spLocks noChangeArrowheads="1"/>
          </p:cNvSpPr>
          <p:nvPr/>
        </p:nvSpPr>
        <p:spPr bwMode="auto">
          <a:xfrm>
            <a:off x="323850" y="1342713"/>
            <a:ext cx="8424863" cy="514651"/>
          </a:xfrm>
          <a:prstGeom prst="rect">
            <a:avLst/>
          </a:prstGeom>
          <a:noFill/>
          <a:ln>
            <a:noFill/>
          </a:ln>
          <a:extLst/>
        </p:spPr>
        <p:txBody>
          <a:bodyPr lIns="82954" tIns="41477" rIns="82954" bIns="41477">
            <a:spAutoFit/>
          </a:bodyPr>
          <a:lstStyle>
            <a:lvl1pPr eaLnBrk="0" hangingPunct="0">
              <a:defRPr sz="2000" b="1">
                <a:solidFill>
                  <a:srgbClr val="575F6D"/>
                </a:solidFill>
                <a:latin typeface="Arial" charset="0"/>
                <a:ea typeface="宋体" pitchFamily="2" charset="-122"/>
              </a:defRPr>
            </a:lvl1pPr>
            <a:lvl2pPr marL="742950" indent="-285750" eaLnBrk="0" hangingPunct="0">
              <a:defRPr sz="2000" b="1">
                <a:solidFill>
                  <a:srgbClr val="575F6D"/>
                </a:solidFill>
                <a:latin typeface="Arial" charset="0"/>
                <a:ea typeface="宋体" pitchFamily="2" charset="-122"/>
              </a:defRPr>
            </a:lvl2pPr>
            <a:lvl3pPr marL="1143000" indent="-228600" eaLnBrk="0" hangingPunct="0">
              <a:defRPr sz="2000" b="1">
                <a:solidFill>
                  <a:srgbClr val="575F6D"/>
                </a:solidFill>
                <a:latin typeface="Arial" charset="0"/>
                <a:ea typeface="宋体" pitchFamily="2" charset="-122"/>
              </a:defRPr>
            </a:lvl3pPr>
            <a:lvl4pPr marL="1600200" indent="-228600" eaLnBrk="0" hangingPunct="0">
              <a:defRPr sz="2000" b="1">
                <a:solidFill>
                  <a:srgbClr val="575F6D"/>
                </a:solidFill>
                <a:latin typeface="Arial" charset="0"/>
                <a:ea typeface="宋体" pitchFamily="2" charset="-122"/>
              </a:defRPr>
            </a:lvl4pPr>
            <a:lvl5pPr marL="2057400" indent="-228600" eaLnBrk="0" hangingPunct="0">
              <a:defRPr sz="2000" b="1">
                <a:solidFill>
                  <a:srgbClr val="575F6D"/>
                </a:solidFill>
                <a:latin typeface="Arial"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charset="0"/>
                <a:ea typeface="宋体" pitchFamily="2" charset="-122"/>
              </a:defRPr>
            </a:lvl9pPr>
          </a:lstStyle>
          <a:p>
            <a:pPr marL="457200" indent="-457200" algn="l" eaLnBrk="1" hangingPunct="1">
              <a:spcAft>
                <a:spcPts val="1200"/>
              </a:spcAft>
              <a:buFont typeface="Wingdings" pitchFamily="2" charset="2"/>
              <a:buChar char="p"/>
              <a:defRPr/>
            </a:pPr>
            <a:r>
              <a:rPr lang="en-US" altLang="zh-CN" sz="2800" dirty="0" smtClean="0">
                <a:solidFill>
                  <a:srgbClr val="0070C0"/>
                </a:solidFill>
              </a:rPr>
              <a:t>Transponder Operation Mode</a:t>
            </a:r>
          </a:p>
        </p:txBody>
      </p:sp>
      <p:sp>
        <p:nvSpPr>
          <p:cNvPr id="11"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2" name="矩形 11"/>
          <p:cNvSpPr/>
          <p:nvPr/>
        </p:nvSpPr>
        <p:spPr>
          <a:xfrm>
            <a:off x="92075" y="261938"/>
            <a:ext cx="6598217" cy="646331"/>
          </a:xfrm>
          <a:prstGeom prst="rect">
            <a:avLst/>
          </a:prstGeom>
        </p:spPr>
        <p:txBody>
          <a:bodyPr wrap="none">
            <a:spAutoFit/>
          </a:bodyPr>
          <a:lstStyle/>
          <a:p>
            <a:pPr>
              <a:defRPr/>
            </a:pPr>
            <a:r>
              <a:rPr lang="en-US" altLang="zh-CN" sz="3600" b="1" kern="1700" dirty="0" smtClean="0">
                <a:solidFill>
                  <a:schemeClr val="bg1"/>
                </a:solidFill>
                <a:latin typeface="微软雅黑" pitchFamily="34" charset="-122"/>
                <a:ea typeface="微软雅黑" pitchFamily="34" charset="-122"/>
                <a:cs typeface="+mj-cs"/>
              </a:rPr>
              <a:t>3  Telemetry </a:t>
            </a:r>
            <a:r>
              <a:rPr lang="en-US" altLang="zh-CN" sz="3600" b="1" kern="1700" dirty="0">
                <a:solidFill>
                  <a:schemeClr val="bg1"/>
                </a:solidFill>
                <a:latin typeface="微软雅黑" pitchFamily="34" charset="-122"/>
                <a:ea typeface="微软雅黑" pitchFamily="34" charset="-122"/>
                <a:cs typeface="+mj-cs"/>
              </a:rPr>
              <a:t>and Command</a:t>
            </a:r>
            <a:endParaRPr lang="zh-CN" altLang="en-US" sz="3600" b="1" kern="1700" dirty="0">
              <a:solidFill>
                <a:schemeClr val="bg1"/>
              </a:solidFill>
              <a:latin typeface="微软雅黑" pitchFamily="34" charset="-122"/>
              <a:ea typeface="微软雅黑" pitchFamily="34" charset="-122"/>
              <a:cs typeface="+mj-cs"/>
            </a:endParaRPr>
          </a:p>
        </p:txBody>
      </p:sp>
      <p:sp>
        <p:nvSpPr>
          <p:cNvPr id="13" name="任意多边形 12"/>
          <p:cNvSpPr/>
          <p:nvPr/>
        </p:nvSpPr>
        <p:spPr>
          <a:xfrm>
            <a:off x="571472" y="2500306"/>
            <a:ext cx="2291482" cy="880866"/>
          </a:xfrm>
          <a:custGeom>
            <a:avLst/>
            <a:gdLst>
              <a:gd name="connsiteX0" fmla="*/ 0 w 2769787"/>
              <a:gd name="connsiteY0" fmla="*/ 0 h 1202002"/>
              <a:gd name="connsiteX1" fmla="*/ 2769787 w 2769787"/>
              <a:gd name="connsiteY1" fmla="*/ 0 h 1202002"/>
              <a:gd name="connsiteX2" fmla="*/ 2769787 w 2769787"/>
              <a:gd name="connsiteY2" fmla="*/ 1202002 h 1202002"/>
              <a:gd name="connsiteX3" fmla="*/ 0 w 2769787"/>
              <a:gd name="connsiteY3" fmla="*/ 1202002 h 1202002"/>
              <a:gd name="connsiteX4" fmla="*/ 0 w 2769787"/>
              <a:gd name="connsiteY4" fmla="*/ 0 h 12020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69787" h="1202002">
                <a:moveTo>
                  <a:pt x="0" y="0"/>
                </a:moveTo>
                <a:lnTo>
                  <a:pt x="2769787" y="0"/>
                </a:lnTo>
                <a:lnTo>
                  <a:pt x="2769787" y="1202002"/>
                </a:lnTo>
                <a:lnTo>
                  <a:pt x="0" y="120200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91440" tIns="91440" rIns="91440" bIns="91440" numCol="1" spcCol="1270" anchor="t" anchorCtr="0">
            <a:noAutofit/>
          </a:bodyPr>
          <a:lstStyle/>
          <a:p>
            <a:pPr lvl="0" algn="l" defTabSz="1066800">
              <a:lnSpc>
                <a:spcPct val="90000"/>
              </a:lnSpc>
              <a:spcBef>
                <a:spcPct val="0"/>
              </a:spcBef>
              <a:spcAft>
                <a:spcPct val="35000"/>
              </a:spcAft>
            </a:pPr>
            <a:r>
              <a:rPr lang="en-US" altLang="zh-CN" kern="1200" dirty="0" smtClean="0">
                <a:latin typeface="Times New Roman" pitchFamily="18" charset="0"/>
                <a:cs typeface="Times New Roman" pitchFamily="18" charset="0"/>
              </a:rPr>
              <a:t>Mode </a:t>
            </a:r>
            <a:r>
              <a:rPr lang="en-US" altLang="zh-CN" dirty="0" smtClean="0">
                <a:latin typeface="Times New Roman" pitchFamily="18" charset="0"/>
                <a:cs typeface="Times New Roman" pitchFamily="18" charset="0"/>
              </a:rPr>
              <a:t>1</a:t>
            </a:r>
          </a:p>
          <a:p>
            <a:pPr lvl="0" algn="l" defTabSz="1066800">
              <a:lnSpc>
                <a:spcPct val="90000"/>
              </a:lnSpc>
              <a:spcBef>
                <a:spcPct val="0"/>
              </a:spcBef>
              <a:spcAft>
                <a:spcPct val="35000"/>
              </a:spcAft>
            </a:pPr>
            <a:r>
              <a:rPr lang="en-US" altLang="zh-CN" kern="1200" dirty="0" smtClean="0">
                <a:latin typeface="Times New Roman" pitchFamily="18" charset="0"/>
                <a:cs typeface="Times New Roman" pitchFamily="18" charset="0"/>
              </a:rPr>
              <a:t>TM only for downlink</a:t>
            </a:r>
            <a:endParaRPr lang="zh-CN" altLang="en-US" kern="1200" dirty="0">
              <a:latin typeface="Times New Roman" pitchFamily="18" charset="0"/>
              <a:cs typeface="Times New Roman" pitchFamily="18" charset="0"/>
            </a:endParaRPr>
          </a:p>
        </p:txBody>
      </p:sp>
      <p:sp>
        <p:nvSpPr>
          <p:cNvPr id="14" name="任意多边形 13"/>
          <p:cNvSpPr/>
          <p:nvPr/>
        </p:nvSpPr>
        <p:spPr>
          <a:xfrm>
            <a:off x="642910" y="4286256"/>
            <a:ext cx="2291482" cy="994976"/>
          </a:xfrm>
          <a:custGeom>
            <a:avLst/>
            <a:gdLst>
              <a:gd name="connsiteX0" fmla="*/ 0 w 2769787"/>
              <a:gd name="connsiteY0" fmla="*/ 0 h 1202002"/>
              <a:gd name="connsiteX1" fmla="*/ 2769787 w 2769787"/>
              <a:gd name="connsiteY1" fmla="*/ 0 h 1202002"/>
              <a:gd name="connsiteX2" fmla="*/ 2769787 w 2769787"/>
              <a:gd name="connsiteY2" fmla="*/ 1202002 h 1202002"/>
              <a:gd name="connsiteX3" fmla="*/ 0 w 2769787"/>
              <a:gd name="connsiteY3" fmla="*/ 1202002 h 1202002"/>
              <a:gd name="connsiteX4" fmla="*/ 0 w 2769787"/>
              <a:gd name="connsiteY4" fmla="*/ 0 h 12020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69787" h="1202002">
                <a:moveTo>
                  <a:pt x="0" y="0"/>
                </a:moveTo>
                <a:lnTo>
                  <a:pt x="2769787" y="0"/>
                </a:lnTo>
                <a:lnTo>
                  <a:pt x="2769787" y="1202002"/>
                </a:lnTo>
                <a:lnTo>
                  <a:pt x="0" y="1202002"/>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91440" tIns="91440" rIns="91440" bIns="91440" numCol="1" spcCol="1270" anchor="t" anchorCtr="0">
            <a:noAutofit/>
          </a:bodyPr>
          <a:lstStyle/>
          <a:p>
            <a:pPr lvl="0" algn="l" defTabSz="1066800">
              <a:lnSpc>
                <a:spcPct val="90000"/>
              </a:lnSpc>
              <a:spcBef>
                <a:spcPct val="0"/>
              </a:spcBef>
              <a:spcAft>
                <a:spcPct val="35000"/>
              </a:spcAft>
            </a:pPr>
            <a:r>
              <a:rPr lang="en-US" altLang="zh-CN" kern="1200" dirty="0" smtClean="0">
                <a:latin typeface="Times New Roman" pitchFamily="18" charset="0"/>
                <a:cs typeface="Times New Roman" pitchFamily="18" charset="0"/>
              </a:rPr>
              <a:t>Mode2 </a:t>
            </a:r>
          </a:p>
          <a:p>
            <a:pPr lvl="0" algn="l" defTabSz="1066800">
              <a:lnSpc>
                <a:spcPct val="90000"/>
              </a:lnSpc>
              <a:spcBef>
                <a:spcPct val="0"/>
              </a:spcBef>
              <a:spcAft>
                <a:spcPct val="35000"/>
              </a:spcAft>
            </a:pPr>
            <a:r>
              <a:rPr lang="en-US" altLang="zh-CN" kern="1200" dirty="0" smtClean="0">
                <a:latin typeface="Times New Roman" pitchFamily="18" charset="0"/>
                <a:cs typeface="Times New Roman" pitchFamily="18" charset="0"/>
              </a:rPr>
              <a:t>TC for uplink and TM for downlink</a:t>
            </a:r>
            <a:endParaRPr lang="zh-CN" altLang="en-US" kern="12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2"/>
          <p:cNvSpPr txBox="1">
            <a:spLocks/>
          </p:cNvSpPr>
          <p:nvPr/>
        </p:nvSpPr>
        <p:spPr bwMode="auto">
          <a:xfrm>
            <a:off x="50800" y="233363"/>
            <a:ext cx="8229600" cy="1143000"/>
          </a:xfrm>
          <a:prstGeom prst="rect">
            <a:avLst/>
          </a:prstGeom>
          <a:noFill/>
          <a:ln w="9525">
            <a:noFill/>
            <a:miter lim="800000"/>
            <a:headEnd/>
            <a:tailEnd/>
          </a:ln>
        </p:spPr>
        <p:txBody>
          <a:bodyPr/>
          <a:lstStyle/>
          <a:p>
            <a:pPr eaLnBrk="0" hangingPunct="0"/>
            <a:endParaRPr lang="zh-CN" altLang="en-US" sz="4400">
              <a:solidFill>
                <a:schemeClr val="tx2"/>
              </a:solidFill>
            </a:endParaRPr>
          </a:p>
        </p:txBody>
      </p:sp>
      <p:sp>
        <p:nvSpPr>
          <p:cNvPr id="60420"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0421"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0422" name="Rectangle 4"/>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0423" name="TextBox 5"/>
          <p:cNvSpPr txBox="1">
            <a:spLocks noChangeArrowheads="1"/>
          </p:cNvSpPr>
          <p:nvPr/>
        </p:nvSpPr>
        <p:spPr bwMode="auto">
          <a:xfrm>
            <a:off x="323850" y="1255701"/>
            <a:ext cx="8424863" cy="530225"/>
          </a:xfrm>
          <a:prstGeom prst="rect">
            <a:avLst/>
          </a:prstGeom>
          <a:noFill/>
          <a:ln w="9525">
            <a:noFill/>
            <a:miter lim="800000"/>
            <a:headEnd/>
            <a:tailEnd/>
          </a:ln>
        </p:spPr>
        <p:txBody>
          <a:bodyPr lIns="82954" tIns="41477" rIns="82954" bIns="41477">
            <a:spAutoFit/>
          </a:bodyPr>
          <a:lstStyle/>
          <a:p>
            <a:pPr marL="457200" indent="-457200">
              <a:spcAft>
                <a:spcPts val="1200"/>
              </a:spcAft>
              <a:buFont typeface="Wingdings" pitchFamily="2" charset="2"/>
              <a:buChar char="p"/>
              <a:defRPr/>
            </a:pPr>
            <a:r>
              <a:rPr lang="en-US" altLang="zh-CN" sz="2800" b="1" dirty="0" smtClean="0">
                <a:solidFill>
                  <a:srgbClr val="0070C0"/>
                </a:solidFill>
                <a:latin typeface="Arial" charset="0"/>
                <a:ea typeface="宋体" pitchFamily="2" charset="-122"/>
              </a:rPr>
              <a:t>Flying  Process</a:t>
            </a:r>
            <a:endParaRPr lang="en-US" altLang="zh-CN" sz="2800" b="1" dirty="0">
              <a:solidFill>
                <a:srgbClr val="0070C0"/>
              </a:solidFill>
              <a:latin typeface="Arial" charset="0"/>
              <a:ea typeface="宋体" pitchFamily="2" charset="-122"/>
            </a:endParaRPr>
          </a:p>
        </p:txBody>
      </p:sp>
      <p:pic>
        <p:nvPicPr>
          <p:cNvPr id="13" name="Picture 34"/>
          <p:cNvPicPr>
            <a:picLocks noChangeAspect="1" noChangeArrowheads="1"/>
          </p:cNvPicPr>
          <p:nvPr/>
        </p:nvPicPr>
        <p:blipFill>
          <a:blip r:embed="rId3"/>
          <a:srcRect/>
          <a:stretch>
            <a:fillRect/>
          </a:stretch>
        </p:blipFill>
        <p:spPr bwMode="auto">
          <a:xfrm>
            <a:off x="41275" y="2636838"/>
            <a:ext cx="1098550" cy="1212850"/>
          </a:xfrm>
          <a:prstGeom prst="rect">
            <a:avLst/>
          </a:prstGeom>
          <a:noFill/>
          <a:ln w="19050" cap="rnd">
            <a:noFill/>
            <a:prstDash val="sysDot"/>
            <a:miter lim="800000"/>
            <a:headEnd/>
            <a:tailEnd/>
          </a:ln>
        </p:spPr>
      </p:pic>
      <p:grpSp>
        <p:nvGrpSpPr>
          <p:cNvPr id="2" name="组合 44"/>
          <p:cNvGrpSpPr>
            <a:grpSpLocks/>
          </p:cNvGrpSpPr>
          <p:nvPr/>
        </p:nvGrpSpPr>
        <p:grpSpPr bwMode="auto">
          <a:xfrm>
            <a:off x="890588" y="1785926"/>
            <a:ext cx="7966075" cy="4429156"/>
            <a:chOff x="890588" y="1509713"/>
            <a:chExt cx="7966075" cy="5129212"/>
          </a:xfrm>
        </p:grpSpPr>
        <p:grpSp>
          <p:nvGrpSpPr>
            <p:cNvPr id="3" name="Group 42"/>
            <p:cNvGrpSpPr>
              <a:grpSpLocks/>
            </p:cNvGrpSpPr>
            <p:nvPr/>
          </p:nvGrpSpPr>
          <p:grpSpPr bwMode="auto">
            <a:xfrm>
              <a:off x="3640138" y="5476875"/>
              <a:ext cx="1863725" cy="1162050"/>
              <a:chOff x="1859" y="3385"/>
              <a:chExt cx="1173" cy="732"/>
            </a:xfrm>
          </p:grpSpPr>
          <p:pic>
            <p:nvPicPr>
              <p:cNvPr id="60458" name="Picture 32" descr="地面站"/>
              <p:cNvPicPr>
                <a:picLocks noChangeAspect="1" noChangeArrowheads="1"/>
              </p:cNvPicPr>
              <p:nvPr/>
            </p:nvPicPr>
            <p:blipFill>
              <a:blip r:embed="rId4"/>
              <a:srcRect/>
              <a:stretch>
                <a:fillRect/>
              </a:stretch>
            </p:blipFill>
            <p:spPr bwMode="auto">
              <a:xfrm>
                <a:off x="2290" y="3385"/>
                <a:ext cx="348" cy="486"/>
              </a:xfrm>
              <a:prstGeom prst="rect">
                <a:avLst/>
              </a:prstGeom>
              <a:noFill/>
              <a:ln w="9525">
                <a:noFill/>
                <a:miter lim="800000"/>
                <a:headEnd/>
                <a:tailEnd/>
              </a:ln>
            </p:spPr>
          </p:pic>
          <p:sp>
            <p:nvSpPr>
              <p:cNvPr id="60459" name="Text Box 39"/>
              <p:cNvSpPr txBox="1">
                <a:spLocks noChangeArrowheads="1"/>
              </p:cNvSpPr>
              <p:nvPr/>
            </p:nvSpPr>
            <p:spPr bwMode="auto">
              <a:xfrm>
                <a:off x="1859" y="3884"/>
                <a:ext cx="1173" cy="233"/>
              </a:xfrm>
              <a:prstGeom prst="rect">
                <a:avLst/>
              </a:prstGeom>
              <a:noFill/>
              <a:ln w="9525" algn="ctr">
                <a:noFill/>
                <a:miter lim="800000"/>
                <a:headEnd/>
                <a:tailEnd/>
              </a:ln>
            </p:spPr>
            <p:txBody>
              <a:bodyPr>
                <a:spAutoFit/>
              </a:bodyPr>
              <a:lstStyle/>
              <a:p>
                <a:pPr>
                  <a:spcBef>
                    <a:spcPct val="50000"/>
                  </a:spcBef>
                </a:pPr>
                <a:r>
                  <a:rPr lang="en-US" altLang="zh-CN" sz="1800"/>
                  <a:t>Ground Station</a:t>
                </a:r>
                <a:endParaRPr lang="zh-CN" altLang="en-US" sz="1800"/>
              </a:p>
            </p:txBody>
          </p:sp>
        </p:grpSp>
        <p:cxnSp>
          <p:nvCxnSpPr>
            <p:cNvPr id="60427" name="直接箭头连接符 2"/>
            <p:cNvCxnSpPr>
              <a:cxnSpLocks noChangeShapeType="1"/>
            </p:cNvCxnSpPr>
            <p:nvPr/>
          </p:nvCxnSpPr>
          <p:spPr bwMode="auto">
            <a:xfrm>
              <a:off x="890588" y="3849688"/>
              <a:ext cx="3435350" cy="1703387"/>
            </a:xfrm>
            <a:prstGeom prst="straightConnector1">
              <a:avLst/>
            </a:prstGeom>
            <a:noFill/>
            <a:ln w="28575" algn="ctr">
              <a:solidFill>
                <a:srgbClr val="00B0F0"/>
              </a:solidFill>
              <a:round/>
              <a:headEnd/>
              <a:tailEnd type="arrow" w="med" len="med"/>
            </a:ln>
          </p:spPr>
        </p:cxnSp>
        <p:pic>
          <p:nvPicPr>
            <p:cNvPr id="60429" name="Picture 34"/>
            <p:cNvPicPr>
              <a:picLocks noChangeAspect="1" noChangeArrowheads="1"/>
            </p:cNvPicPr>
            <p:nvPr/>
          </p:nvPicPr>
          <p:blipFill>
            <a:blip r:embed="rId3"/>
            <a:srcRect/>
            <a:stretch>
              <a:fillRect/>
            </a:stretch>
          </p:blipFill>
          <p:spPr bwMode="auto">
            <a:xfrm>
              <a:off x="989013" y="2097088"/>
              <a:ext cx="1098550" cy="1212850"/>
            </a:xfrm>
            <a:prstGeom prst="rect">
              <a:avLst/>
            </a:prstGeom>
            <a:noFill/>
            <a:ln w="19050" cap="rnd">
              <a:noFill/>
              <a:prstDash val="sysDot"/>
              <a:miter lim="800000"/>
              <a:headEnd/>
              <a:tailEnd/>
            </a:ln>
          </p:spPr>
        </p:pic>
        <p:cxnSp>
          <p:nvCxnSpPr>
            <p:cNvPr id="60430" name="直接箭头连接符 42"/>
            <p:cNvCxnSpPr>
              <a:cxnSpLocks noChangeShapeType="1"/>
            </p:cNvCxnSpPr>
            <p:nvPr/>
          </p:nvCxnSpPr>
          <p:spPr bwMode="auto">
            <a:xfrm>
              <a:off x="1835150" y="3390900"/>
              <a:ext cx="2490788" cy="2085975"/>
            </a:xfrm>
            <a:prstGeom prst="straightConnector1">
              <a:avLst/>
            </a:prstGeom>
            <a:noFill/>
            <a:ln w="28575" algn="ctr">
              <a:solidFill>
                <a:srgbClr val="00B0F0"/>
              </a:solidFill>
              <a:round/>
              <a:headEnd/>
              <a:tailEnd type="arrow" w="med" len="med"/>
            </a:ln>
          </p:spPr>
        </p:cxnSp>
        <p:cxnSp>
          <p:nvCxnSpPr>
            <p:cNvPr id="60432" name="直接箭头连接符 38"/>
            <p:cNvCxnSpPr>
              <a:cxnSpLocks noChangeShapeType="1"/>
            </p:cNvCxnSpPr>
            <p:nvPr/>
          </p:nvCxnSpPr>
          <p:spPr bwMode="auto">
            <a:xfrm flipH="1" flipV="1">
              <a:off x="1989138" y="3249613"/>
              <a:ext cx="2438400" cy="2112962"/>
            </a:xfrm>
            <a:prstGeom prst="straightConnector1">
              <a:avLst/>
            </a:prstGeom>
            <a:noFill/>
            <a:ln w="28575" algn="ctr">
              <a:solidFill>
                <a:srgbClr val="FFC000"/>
              </a:solidFill>
              <a:round/>
              <a:headEnd/>
              <a:tailEnd type="arrow" w="med" len="med"/>
            </a:ln>
          </p:spPr>
        </p:cxnSp>
        <p:pic>
          <p:nvPicPr>
            <p:cNvPr id="60434" name="Picture 34"/>
            <p:cNvPicPr>
              <a:picLocks noChangeAspect="1" noChangeArrowheads="1"/>
            </p:cNvPicPr>
            <p:nvPr/>
          </p:nvPicPr>
          <p:blipFill>
            <a:blip r:embed="rId3"/>
            <a:srcRect/>
            <a:stretch>
              <a:fillRect/>
            </a:stretch>
          </p:blipFill>
          <p:spPr bwMode="auto">
            <a:xfrm>
              <a:off x="2249488" y="1665288"/>
              <a:ext cx="1098550" cy="1212850"/>
            </a:xfrm>
            <a:prstGeom prst="rect">
              <a:avLst/>
            </a:prstGeom>
            <a:noFill/>
            <a:ln w="19050" cap="rnd">
              <a:noFill/>
              <a:prstDash val="sysDot"/>
              <a:miter lim="800000"/>
              <a:headEnd/>
              <a:tailEnd/>
            </a:ln>
          </p:spPr>
        </p:pic>
        <p:cxnSp>
          <p:nvCxnSpPr>
            <p:cNvPr id="60435" name="直接箭头连接符 56"/>
            <p:cNvCxnSpPr>
              <a:cxnSpLocks noChangeShapeType="1"/>
            </p:cNvCxnSpPr>
            <p:nvPr/>
          </p:nvCxnSpPr>
          <p:spPr bwMode="auto">
            <a:xfrm>
              <a:off x="3144838" y="2889250"/>
              <a:ext cx="1457325" cy="2587625"/>
            </a:xfrm>
            <a:prstGeom prst="straightConnector1">
              <a:avLst/>
            </a:prstGeom>
            <a:noFill/>
            <a:ln w="28575" algn="ctr">
              <a:solidFill>
                <a:srgbClr val="00B0F0"/>
              </a:solidFill>
              <a:round/>
              <a:headEnd/>
              <a:tailEnd type="arrow" w="med" len="med"/>
            </a:ln>
          </p:spPr>
        </p:cxnSp>
        <p:cxnSp>
          <p:nvCxnSpPr>
            <p:cNvPr id="60437" name="直接箭头连接符 58"/>
            <p:cNvCxnSpPr>
              <a:cxnSpLocks noChangeShapeType="1"/>
            </p:cNvCxnSpPr>
            <p:nvPr/>
          </p:nvCxnSpPr>
          <p:spPr bwMode="auto">
            <a:xfrm flipH="1" flipV="1">
              <a:off x="3298825" y="2747963"/>
              <a:ext cx="1404938" cy="2573337"/>
            </a:xfrm>
            <a:prstGeom prst="straightConnector1">
              <a:avLst/>
            </a:prstGeom>
            <a:noFill/>
            <a:ln w="28575" algn="ctr">
              <a:solidFill>
                <a:srgbClr val="FFC000"/>
              </a:solidFill>
              <a:round/>
              <a:headEnd/>
              <a:tailEnd type="arrow" w="med" len="med"/>
            </a:ln>
          </p:spPr>
        </p:cxnSp>
        <p:pic>
          <p:nvPicPr>
            <p:cNvPr id="60439" name="Picture 34"/>
            <p:cNvPicPr>
              <a:picLocks noChangeAspect="1" noChangeArrowheads="1"/>
            </p:cNvPicPr>
            <p:nvPr/>
          </p:nvPicPr>
          <p:blipFill>
            <a:blip r:embed="rId3"/>
            <a:srcRect/>
            <a:stretch>
              <a:fillRect/>
            </a:stretch>
          </p:blipFill>
          <p:spPr bwMode="auto">
            <a:xfrm>
              <a:off x="3557588" y="1524000"/>
              <a:ext cx="1098550" cy="1212850"/>
            </a:xfrm>
            <a:prstGeom prst="rect">
              <a:avLst/>
            </a:prstGeom>
            <a:noFill/>
            <a:ln w="19050" cap="rnd">
              <a:noFill/>
              <a:prstDash val="sysDot"/>
              <a:miter lim="800000"/>
              <a:headEnd/>
              <a:tailEnd/>
            </a:ln>
          </p:spPr>
        </p:pic>
        <p:cxnSp>
          <p:nvCxnSpPr>
            <p:cNvPr id="60440" name="直接箭头连接符 63"/>
            <p:cNvCxnSpPr>
              <a:cxnSpLocks noChangeShapeType="1"/>
            </p:cNvCxnSpPr>
            <p:nvPr/>
          </p:nvCxnSpPr>
          <p:spPr bwMode="auto">
            <a:xfrm>
              <a:off x="4502150" y="2736850"/>
              <a:ext cx="100013" cy="2625725"/>
            </a:xfrm>
            <a:prstGeom prst="straightConnector1">
              <a:avLst/>
            </a:prstGeom>
            <a:noFill/>
            <a:ln w="28575" algn="ctr">
              <a:solidFill>
                <a:srgbClr val="00B0F0"/>
              </a:solidFill>
              <a:round/>
              <a:headEnd/>
              <a:tailEnd type="arrow" w="med" len="med"/>
            </a:ln>
          </p:spPr>
        </p:cxnSp>
        <p:sp>
          <p:nvSpPr>
            <p:cNvPr id="60441" name="TextBox 64"/>
            <p:cNvSpPr txBox="1">
              <a:spLocks noChangeArrowheads="1"/>
            </p:cNvSpPr>
            <p:nvPr/>
          </p:nvSpPr>
          <p:spPr bwMode="auto">
            <a:xfrm>
              <a:off x="4500562" y="3247027"/>
              <a:ext cx="716863" cy="285138"/>
            </a:xfrm>
            <a:prstGeom prst="rect">
              <a:avLst/>
            </a:prstGeom>
            <a:noFill/>
            <a:ln w="9525">
              <a:noFill/>
              <a:miter lim="800000"/>
              <a:headEnd/>
              <a:tailEnd/>
            </a:ln>
          </p:spPr>
          <p:txBody>
            <a:bodyPr wrap="none">
              <a:spAutoFit/>
            </a:bodyPr>
            <a:lstStyle/>
            <a:p>
              <a:r>
                <a:rPr lang="en-US" altLang="zh-CN" sz="1000" dirty="0" smtClean="0">
                  <a:solidFill>
                    <a:srgbClr val="00B0F0"/>
                  </a:solidFill>
                </a:rPr>
                <a:t>Telemetry</a:t>
              </a:r>
              <a:endParaRPr lang="en-US" altLang="zh-CN" sz="1000" dirty="0">
                <a:solidFill>
                  <a:srgbClr val="00B0F0"/>
                </a:solidFill>
              </a:endParaRPr>
            </a:p>
          </p:txBody>
        </p:sp>
        <p:cxnSp>
          <p:nvCxnSpPr>
            <p:cNvPr id="60442" name="直接箭头连接符 65"/>
            <p:cNvCxnSpPr>
              <a:cxnSpLocks noChangeShapeType="1"/>
            </p:cNvCxnSpPr>
            <p:nvPr/>
          </p:nvCxnSpPr>
          <p:spPr bwMode="auto">
            <a:xfrm flipH="1" flipV="1">
              <a:off x="4341813" y="2595563"/>
              <a:ext cx="131762" cy="2725737"/>
            </a:xfrm>
            <a:prstGeom prst="straightConnector1">
              <a:avLst/>
            </a:prstGeom>
            <a:noFill/>
            <a:ln w="28575" algn="ctr">
              <a:solidFill>
                <a:srgbClr val="FFC000"/>
              </a:solidFill>
              <a:round/>
              <a:headEnd/>
              <a:tailEnd type="arrow" w="med" len="med"/>
            </a:ln>
          </p:spPr>
        </p:cxnSp>
        <p:sp>
          <p:nvSpPr>
            <p:cNvPr id="60443" name="TextBox 69"/>
            <p:cNvSpPr txBox="1">
              <a:spLocks noChangeArrowheads="1"/>
            </p:cNvSpPr>
            <p:nvPr/>
          </p:nvSpPr>
          <p:spPr bwMode="auto">
            <a:xfrm>
              <a:off x="3929058" y="3247027"/>
              <a:ext cx="344966" cy="285138"/>
            </a:xfrm>
            <a:prstGeom prst="rect">
              <a:avLst/>
            </a:prstGeom>
            <a:noFill/>
            <a:ln w="9525">
              <a:noFill/>
              <a:miter lim="800000"/>
              <a:headEnd/>
              <a:tailEnd/>
            </a:ln>
          </p:spPr>
          <p:txBody>
            <a:bodyPr wrap="none">
              <a:spAutoFit/>
            </a:bodyPr>
            <a:lstStyle/>
            <a:p>
              <a:r>
                <a:rPr lang="en-US" altLang="zh-CN" sz="1000" dirty="0" smtClean="0">
                  <a:solidFill>
                    <a:srgbClr val="FFC000"/>
                  </a:solidFill>
                </a:rPr>
                <a:t>TC </a:t>
              </a:r>
              <a:endParaRPr lang="en-US" altLang="zh-CN" sz="1000" dirty="0">
                <a:solidFill>
                  <a:srgbClr val="FFC000"/>
                </a:solidFill>
              </a:endParaRPr>
            </a:p>
          </p:txBody>
        </p:sp>
        <p:pic>
          <p:nvPicPr>
            <p:cNvPr id="60444" name="Picture 34"/>
            <p:cNvPicPr>
              <a:picLocks noChangeAspect="1" noChangeArrowheads="1"/>
            </p:cNvPicPr>
            <p:nvPr/>
          </p:nvPicPr>
          <p:blipFill>
            <a:blip r:embed="rId3"/>
            <a:srcRect/>
            <a:stretch>
              <a:fillRect/>
            </a:stretch>
          </p:blipFill>
          <p:spPr bwMode="auto">
            <a:xfrm>
              <a:off x="4787900" y="1509713"/>
              <a:ext cx="1098550" cy="1212850"/>
            </a:xfrm>
            <a:prstGeom prst="rect">
              <a:avLst/>
            </a:prstGeom>
            <a:noFill/>
            <a:ln w="19050" cap="rnd">
              <a:noFill/>
              <a:prstDash val="sysDot"/>
              <a:miter lim="800000"/>
              <a:headEnd/>
              <a:tailEnd/>
            </a:ln>
          </p:spPr>
        </p:pic>
        <p:cxnSp>
          <p:nvCxnSpPr>
            <p:cNvPr id="60445" name="直接箭头连接符 71"/>
            <p:cNvCxnSpPr>
              <a:cxnSpLocks noChangeShapeType="1"/>
            </p:cNvCxnSpPr>
            <p:nvPr/>
          </p:nvCxnSpPr>
          <p:spPr bwMode="auto">
            <a:xfrm flipH="1">
              <a:off x="4878388" y="2722563"/>
              <a:ext cx="625475" cy="2754312"/>
            </a:xfrm>
            <a:prstGeom prst="straightConnector1">
              <a:avLst/>
            </a:prstGeom>
            <a:noFill/>
            <a:ln w="28575" algn="ctr">
              <a:solidFill>
                <a:srgbClr val="00B0F0"/>
              </a:solidFill>
              <a:round/>
              <a:headEnd/>
              <a:tailEnd type="arrow" w="med" len="med"/>
            </a:ln>
          </p:spPr>
        </p:cxnSp>
        <p:cxnSp>
          <p:nvCxnSpPr>
            <p:cNvPr id="60447" name="直接箭头连接符 73"/>
            <p:cNvCxnSpPr>
              <a:cxnSpLocks noChangeShapeType="1"/>
            </p:cNvCxnSpPr>
            <p:nvPr/>
          </p:nvCxnSpPr>
          <p:spPr bwMode="auto">
            <a:xfrm flipV="1">
              <a:off x="4735513" y="2581275"/>
              <a:ext cx="601662" cy="2781300"/>
            </a:xfrm>
            <a:prstGeom prst="straightConnector1">
              <a:avLst/>
            </a:prstGeom>
            <a:noFill/>
            <a:ln w="28575" algn="ctr">
              <a:solidFill>
                <a:srgbClr val="FFC000"/>
              </a:solidFill>
              <a:round/>
              <a:headEnd/>
              <a:tailEnd type="arrow" w="med" len="med"/>
            </a:ln>
          </p:spPr>
        </p:cxnSp>
        <p:pic>
          <p:nvPicPr>
            <p:cNvPr id="60449" name="Picture 34"/>
            <p:cNvPicPr>
              <a:picLocks noChangeAspect="1" noChangeArrowheads="1"/>
            </p:cNvPicPr>
            <p:nvPr/>
          </p:nvPicPr>
          <p:blipFill>
            <a:blip r:embed="rId3"/>
            <a:srcRect/>
            <a:stretch>
              <a:fillRect/>
            </a:stretch>
          </p:blipFill>
          <p:spPr bwMode="auto">
            <a:xfrm>
              <a:off x="6219825" y="1635125"/>
              <a:ext cx="1098550" cy="1212850"/>
            </a:xfrm>
            <a:prstGeom prst="rect">
              <a:avLst/>
            </a:prstGeom>
            <a:noFill/>
            <a:ln w="19050" cap="rnd">
              <a:noFill/>
              <a:prstDash val="sysDot"/>
              <a:miter lim="800000"/>
              <a:headEnd/>
              <a:tailEnd/>
            </a:ln>
          </p:spPr>
        </p:pic>
        <p:cxnSp>
          <p:nvCxnSpPr>
            <p:cNvPr id="60450" name="直接箭头连接符 85"/>
            <p:cNvCxnSpPr>
              <a:cxnSpLocks noChangeShapeType="1"/>
            </p:cNvCxnSpPr>
            <p:nvPr/>
          </p:nvCxnSpPr>
          <p:spPr bwMode="auto">
            <a:xfrm flipH="1">
              <a:off x="4878388" y="2722563"/>
              <a:ext cx="2057400" cy="2830512"/>
            </a:xfrm>
            <a:prstGeom prst="straightConnector1">
              <a:avLst/>
            </a:prstGeom>
            <a:noFill/>
            <a:ln w="28575" algn="ctr">
              <a:solidFill>
                <a:srgbClr val="00B0F0"/>
              </a:solidFill>
              <a:round/>
              <a:headEnd/>
              <a:tailEnd type="arrow" w="med" len="med"/>
            </a:ln>
          </p:spPr>
        </p:cxnSp>
        <p:cxnSp>
          <p:nvCxnSpPr>
            <p:cNvPr id="60452" name="直接箭头连接符 87"/>
            <p:cNvCxnSpPr>
              <a:cxnSpLocks noChangeShapeType="1"/>
            </p:cNvCxnSpPr>
            <p:nvPr/>
          </p:nvCxnSpPr>
          <p:spPr bwMode="auto">
            <a:xfrm flipV="1">
              <a:off x="4787900" y="2581275"/>
              <a:ext cx="1981200" cy="2781300"/>
            </a:xfrm>
            <a:prstGeom prst="straightConnector1">
              <a:avLst/>
            </a:prstGeom>
            <a:noFill/>
            <a:ln w="28575" algn="ctr">
              <a:solidFill>
                <a:srgbClr val="FFC000"/>
              </a:solidFill>
              <a:round/>
              <a:headEnd/>
              <a:tailEnd type="arrow" w="med" len="med"/>
            </a:ln>
          </p:spPr>
        </p:cxnSp>
        <p:pic>
          <p:nvPicPr>
            <p:cNvPr id="60454" name="Picture 34"/>
            <p:cNvPicPr>
              <a:picLocks noChangeAspect="1" noChangeArrowheads="1"/>
            </p:cNvPicPr>
            <p:nvPr/>
          </p:nvPicPr>
          <p:blipFill>
            <a:blip r:embed="rId3"/>
            <a:srcRect/>
            <a:stretch>
              <a:fillRect/>
            </a:stretch>
          </p:blipFill>
          <p:spPr bwMode="auto">
            <a:xfrm>
              <a:off x="7758113" y="2108200"/>
              <a:ext cx="1098550" cy="1212850"/>
            </a:xfrm>
            <a:prstGeom prst="rect">
              <a:avLst/>
            </a:prstGeom>
            <a:noFill/>
            <a:ln w="19050" cap="rnd">
              <a:noFill/>
              <a:prstDash val="sysDot"/>
              <a:miter lim="800000"/>
              <a:headEnd/>
              <a:tailEnd/>
            </a:ln>
          </p:spPr>
        </p:pic>
        <p:cxnSp>
          <p:nvCxnSpPr>
            <p:cNvPr id="60455" name="直接箭头连接符 92"/>
            <p:cNvCxnSpPr>
              <a:cxnSpLocks noChangeShapeType="1"/>
            </p:cNvCxnSpPr>
            <p:nvPr/>
          </p:nvCxnSpPr>
          <p:spPr bwMode="auto">
            <a:xfrm flipH="1">
              <a:off x="4878388" y="3122613"/>
              <a:ext cx="3498850" cy="2430462"/>
            </a:xfrm>
            <a:prstGeom prst="straightConnector1">
              <a:avLst/>
            </a:prstGeom>
            <a:noFill/>
            <a:ln w="28575" algn="ctr">
              <a:solidFill>
                <a:srgbClr val="00B0F0"/>
              </a:solidFill>
              <a:round/>
              <a:headEnd/>
              <a:tailEnd type="arrow" w="med" len="med"/>
            </a:ln>
          </p:spPr>
        </p:cxnSp>
      </p:grpSp>
      <p:sp>
        <p:nvSpPr>
          <p:cNvPr id="44"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37</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45"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46" name="矩形 45"/>
          <p:cNvSpPr/>
          <p:nvPr/>
        </p:nvSpPr>
        <p:spPr>
          <a:xfrm>
            <a:off x="92075" y="261938"/>
            <a:ext cx="6598217" cy="646331"/>
          </a:xfrm>
          <a:prstGeom prst="rect">
            <a:avLst/>
          </a:prstGeom>
        </p:spPr>
        <p:txBody>
          <a:bodyPr wrap="none">
            <a:spAutoFit/>
          </a:bodyPr>
          <a:lstStyle/>
          <a:p>
            <a:pPr>
              <a:defRPr/>
            </a:pPr>
            <a:r>
              <a:rPr lang="en-US" altLang="zh-CN" sz="3600" b="1" kern="1700" dirty="0" smtClean="0">
                <a:solidFill>
                  <a:schemeClr val="bg1"/>
                </a:solidFill>
                <a:latin typeface="微软雅黑" pitchFamily="34" charset="-122"/>
                <a:ea typeface="微软雅黑" pitchFamily="34" charset="-122"/>
                <a:cs typeface="+mj-cs"/>
              </a:rPr>
              <a:t>3  Telemetry </a:t>
            </a:r>
            <a:r>
              <a:rPr lang="en-US" altLang="zh-CN" sz="3600" b="1" kern="1700" dirty="0">
                <a:solidFill>
                  <a:schemeClr val="bg1"/>
                </a:solidFill>
                <a:latin typeface="微软雅黑" pitchFamily="34" charset="-122"/>
                <a:ea typeface="微软雅黑" pitchFamily="34" charset="-122"/>
                <a:cs typeface="+mj-cs"/>
              </a:rPr>
              <a:t>and Command</a:t>
            </a:r>
            <a:endParaRPr lang="zh-CN" altLang="en-US" sz="3600" b="1" kern="1700" dirty="0">
              <a:solidFill>
                <a:schemeClr val="bg1"/>
              </a:solidFill>
              <a:latin typeface="微软雅黑" pitchFamily="34" charset="-122"/>
              <a:ea typeface="微软雅黑" pitchFamily="34" charset="-122"/>
              <a:cs typeface="+mj-cs"/>
            </a:endParaRPr>
          </a:p>
        </p:txBody>
      </p:sp>
      <p:sp>
        <p:nvSpPr>
          <p:cNvPr id="47" name="TextBox 43"/>
          <p:cNvSpPr txBox="1">
            <a:spLocks noChangeArrowheads="1"/>
          </p:cNvSpPr>
          <p:nvPr/>
        </p:nvSpPr>
        <p:spPr bwMode="auto">
          <a:xfrm>
            <a:off x="1428728" y="4357694"/>
            <a:ext cx="580608" cy="246221"/>
          </a:xfrm>
          <a:prstGeom prst="rect">
            <a:avLst/>
          </a:prstGeom>
          <a:noFill/>
          <a:ln w="9525">
            <a:noFill/>
            <a:miter lim="800000"/>
            <a:headEnd/>
            <a:tailEnd/>
          </a:ln>
        </p:spPr>
        <p:txBody>
          <a:bodyPr wrap="none">
            <a:spAutoFit/>
          </a:bodyPr>
          <a:lstStyle/>
          <a:p>
            <a:r>
              <a:rPr lang="en-US" altLang="zh-CN" sz="1000" dirty="0" smtClean="0">
                <a:solidFill>
                  <a:srgbClr val="00B0F0"/>
                </a:solidFill>
              </a:rPr>
              <a:t>Coming</a:t>
            </a:r>
            <a:endParaRPr lang="zh-CN" altLang="en-US" sz="1000" dirty="0">
              <a:solidFill>
                <a:srgbClr val="00B0F0"/>
              </a:solidFill>
            </a:endParaRPr>
          </a:p>
        </p:txBody>
      </p:sp>
      <p:sp>
        <p:nvSpPr>
          <p:cNvPr id="48" name="TextBox 43"/>
          <p:cNvSpPr txBox="1">
            <a:spLocks noChangeArrowheads="1"/>
          </p:cNvSpPr>
          <p:nvPr/>
        </p:nvSpPr>
        <p:spPr bwMode="auto">
          <a:xfrm>
            <a:off x="6429388" y="4429132"/>
            <a:ext cx="579005" cy="246221"/>
          </a:xfrm>
          <a:prstGeom prst="rect">
            <a:avLst/>
          </a:prstGeom>
          <a:noFill/>
          <a:ln w="9525">
            <a:noFill/>
            <a:miter lim="800000"/>
            <a:headEnd/>
            <a:tailEnd/>
          </a:ln>
        </p:spPr>
        <p:txBody>
          <a:bodyPr wrap="none">
            <a:spAutoFit/>
          </a:bodyPr>
          <a:lstStyle/>
          <a:p>
            <a:r>
              <a:rPr lang="en-US" altLang="zh-CN" sz="1000" dirty="0" smtClean="0">
                <a:solidFill>
                  <a:srgbClr val="00B0F0"/>
                </a:solidFill>
              </a:rPr>
              <a:t>Leaving</a:t>
            </a:r>
            <a:endParaRPr lang="zh-CN" altLang="en-US" sz="1000" dirty="0">
              <a:solidFill>
                <a:srgbClr val="00B0F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xit" presetSubtype="0" fill="hold" nodeType="clickEffect">
                                  <p:stCondLst>
                                    <p:cond delay="0"/>
                                  </p:stCondLst>
                                  <p:childTnLst>
                                    <p:set>
                                      <p:cBhvr>
                                        <p:cTn id="10"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2"/>
          <p:cNvSpPr txBox="1">
            <a:spLocks/>
          </p:cNvSpPr>
          <p:nvPr/>
        </p:nvSpPr>
        <p:spPr bwMode="auto">
          <a:xfrm>
            <a:off x="50800" y="233363"/>
            <a:ext cx="8229600" cy="1143000"/>
          </a:xfrm>
          <a:prstGeom prst="rect">
            <a:avLst/>
          </a:prstGeom>
          <a:noFill/>
          <a:ln w="9525">
            <a:noFill/>
            <a:miter lim="800000"/>
            <a:headEnd/>
            <a:tailEnd/>
          </a:ln>
        </p:spPr>
        <p:txBody>
          <a:bodyPr/>
          <a:lstStyle/>
          <a:p>
            <a:pPr eaLnBrk="0" hangingPunct="0"/>
            <a:endParaRPr lang="zh-CN" altLang="en-US" sz="4400">
              <a:solidFill>
                <a:schemeClr val="tx2"/>
              </a:solidFill>
            </a:endParaRPr>
          </a:p>
        </p:txBody>
      </p:sp>
      <p:sp>
        <p:nvSpPr>
          <p:cNvPr id="61444"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1445"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1446" name="Rectangle 4"/>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1447" name="TextBox 5"/>
          <p:cNvSpPr txBox="1">
            <a:spLocks noChangeArrowheads="1"/>
          </p:cNvSpPr>
          <p:nvPr/>
        </p:nvSpPr>
        <p:spPr bwMode="auto">
          <a:xfrm>
            <a:off x="215900" y="1271275"/>
            <a:ext cx="8640763" cy="514651"/>
          </a:xfrm>
          <a:prstGeom prst="rect">
            <a:avLst/>
          </a:prstGeom>
          <a:noFill/>
          <a:ln w="9525">
            <a:noFill/>
            <a:miter lim="800000"/>
            <a:headEnd/>
            <a:tailEnd/>
          </a:ln>
        </p:spPr>
        <p:txBody>
          <a:bodyPr lIns="82954" tIns="41477" rIns="82954" bIns="41477">
            <a:spAutoFit/>
          </a:bodyPr>
          <a:lstStyle/>
          <a:p>
            <a:pPr marL="457200" indent="-457200" algn="l">
              <a:spcAft>
                <a:spcPts val="1200"/>
              </a:spcAft>
              <a:buFont typeface="Wingdings" pitchFamily="2" charset="2"/>
              <a:buChar char="p"/>
            </a:pPr>
            <a:r>
              <a:rPr lang="en-US" altLang="zh-CN" sz="2800" b="1" dirty="0" smtClean="0">
                <a:solidFill>
                  <a:srgbClr val="0070C0"/>
                </a:solidFill>
              </a:rPr>
              <a:t>The </a:t>
            </a:r>
            <a:r>
              <a:rPr lang="en-US" altLang="zh-CN" sz="2800" b="1" dirty="0">
                <a:solidFill>
                  <a:srgbClr val="0070C0"/>
                </a:solidFill>
              </a:rPr>
              <a:t>Radiation Pattern of TT&amp;C </a:t>
            </a:r>
            <a:r>
              <a:rPr lang="en-US" altLang="zh-CN" sz="2800" b="1" dirty="0" smtClean="0">
                <a:solidFill>
                  <a:srgbClr val="0070C0"/>
                </a:solidFill>
              </a:rPr>
              <a:t>Antennas</a:t>
            </a:r>
            <a:endParaRPr lang="en-US" altLang="zh-CN" sz="2800" b="1" dirty="0">
              <a:solidFill>
                <a:srgbClr val="0070C0"/>
              </a:solidFill>
            </a:endParaRPr>
          </a:p>
        </p:txBody>
      </p:sp>
      <p:sp>
        <p:nvSpPr>
          <p:cNvPr id="61448" name="Rectangle 2"/>
          <p:cNvSpPr>
            <a:spLocks noChangeArrowheads="1"/>
          </p:cNvSpPr>
          <p:nvPr/>
        </p:nvSpPr>
        <p:spPr bwMode="gray">
          <a:xfrm>
            <a:off x="0" y="0"/>
            <a:ext cx="9144000" cy="457200"/>
          </a:xfrm>
          <a:prstGeom prst="rect">
            <a:avLst/>
          </a:prstGeom>
          <a:noFill/>
          <a:ln w="9525" algn="ctr">
            <a:noFill/>
            <a:miter lim="800000"/>
            <a:headEnd/>
            <a:tailEnd/>
          </a:ln>
        </p:spPr>
        <p:txBody>
          <a:bodyPr wrap="none" anchor="ctr">
            <a:spAutoFit/>
          </a:bodyPr>
          <a:lstStyle/>
          <a:p>
            <a:endParaRPr lang="zh-CN" altLang="en-US"/>
          </a:p>
        </p:txBody>
      </p:sp>
      <p:pic>
        <p:nvPicPr>
          <p:cNvPr id="61449" name="Picture 11"/>
          <p:cNvPicPr>
            <a:picLocks noChangeAspect="1" noChangeArrowheads="1"/>
          </p:cNvPicPr>
          <p:nvPr/>
        </p:nvPicPr>
        <p:blipFill>
          <a:blip r:embed="rId3"/>
          <a:srcRect/>
          <a:stretch>
            <a:fillRect/>
          </a:stretch>
        </p:blipFill>
        <p:spPr bwMode="gray">
          <a:xfrm>
            <a:off x="2071669" y="2285992"/>
            <a:ext cx="4838867" cy="3214710"/>
          </a:xfrm>
          <a:prstGeom prst="rect">
            <a:avLst/>
          </a:prstGeom>
          <a:noFill/>
          <a:ln w="9525" algn="ctr">
            <a:noFill/>
            <a:miter lim="800000"/>
            <a:headEnd/>
            <a:tailEnd/>
          </a:ln>
        </p:spPr>
      </p:pic>
      <p:sp>
        <p:nvSpPr>
          <p:cNvPr id="10"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38</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12" name="矩形 11"/>
          <p:cNvSpPr/>
          <p:nvPr/>
        </p:nvSpPr>
        <p:spPr>
          <a:xfrm>
            <a:off x="92075" y="261938"/>
            <a:ext cx="6598217" cy="646331"/>
          </a:xfrm>
          <a:prstGeom prst="rect">
            <a:avLst/>
          </a:prstGeom>
        </p:spPr>
        <p:txBody>
          <a:bodyPr wrap="none">
            <a:spAutoFit/>
          </a:bodyPr>
          <a:lstStyle/>
          <a:p>
            <a:pPr>
              <a:defRPr/>
            </a:pPr>
            <a:r>
              <a:rPr lang="en-US" altLang="zh-CN" sz="3600" b="1" kern="1700" dirty="0" smtClean="0">
                <a:solidFill>
                  <a:schemeClr val="bg1"/>
                </a:solidFill>
                <a:latin typeface="微软雅黑" pitchFamily="34" charset="-122"/>
                <a:ea typeface="微软雅黑" pitchFamily="34" charset="-122"/>
                <a:cs typeface="+mj-cs"/>
              </a:rPr>
              <a:t>3  Telemetry </a:t>
            </a:r>
            <a:r>
              <a:rPr lang="en-US" altLang="zh-CN" sz="3600" b="1" kern="1700" dirty="0">
                <a:solidFill>
                  <a:schemeClr val="bg1"/>
                </a:solidFill>
                <a:latin typeface="微软雅黑" pitchFamily="34" charset="-122"/>
                <a:ea typeface="微软雅黑" pitchFamily="34" charset="-122"/>
                <a:cs typeface="+mj-cs"/>
              </a:rPr>
              <a:t>and Command</a:t>
            </a:r>
            <a:endParaRPr lang="zh-CN" altLang="en-US" sz="3600" b="1" kern="1700" dirty="0">
              <a:solidFill>
                <a:schemeClr val="bg1"/>
              </a:solidFill>
              <a:latin typeface="微软雅黑" pitchFamily="34" charset="-122"/>
              <a:ea typeface="微软雅黑" pitchFamily="34" charset="-122"/>
              <a:cs typeface="+mj-cs"/>
            </a:endParaRPr>
          </a:p>
        </p:txBody>
      </p:sp>
      <p:sp>
        <p:nvSpPr>
          <p:cNvPr id="13"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2"/>
          <p:cNvSpPr txBox="1">
            <a:spLocks/>
          </p:cNvSpPr>
          <p:nvPr/>
        </p:nvSpPr>
        <p:spPr bwMode="auto">
          <a:xfrm>
            <a:off x="50800" y="233363"/>
            <a:ext cx="8229600" cy="1143000"/>
          </a:xfrm>
          <a:prstGeom prst="rect">
            <a:avLst/>
          </a:prstGeom>
          <a:noFill/>
          <a:ln w="9525">
            <a:noFill/>
            <a:miter lim="800000"/>
            <a:headEnd/>
            <a:tailEnd/>
          </a:ln>
        </p:spPr>
        <p:txBody>
          <a:bodyPr/>
          <a:lstStyle/>
          <a:p>
            <a:pPr eaLnBrk="0" hangingPunct="0"/>
            <a:endParaRPr lang="zh-CN" altLang="en-US" sz="4400">
              <a:solidFill>
                <a:schemeClr val="tx2"/>
              </a:solidFill>
            </a:endParaRPr>
          </a:p>
        </p:txBody>
      </p:sp>
      <p:sp>
        <p:nvSpPr>
          <p:cNvPr id="62468"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2469"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2470" name="Rectangle 4"/>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2471" name="TextBox 5"/>
          <p:cNvSpPr txBox="1">
            <a:spLocks noChangeArrowheads="1"/>
          </p:cNvSpPr>
          <p:nvPr/>
        </p:nvSpPr>
        <p:spPr bwMode="auto">
          <a:xfrm>
            <a:off x="215900" y="1271275"/>
            <a:ext cx="8518525" cy="514651"/>
          </a:xfrm>
          <a:prstGeom prst="rect">
            <a:avLst/>
          </a:prstGeom>
          <a:noFill/>
          <a:ln w="9525">
            <a:noFill/>
            <a:miter lim="800000"/>
            <a:headEnd/>
            <a:tailEnd/>
          </a:ln>
        </p:spPr>
        <p:txBody>
          <a:bodyPr lIns="82954" tIns="41477" rIns="82954" bIns="41477">
            <a:spAutoFit/>
          </a:bodyPr>
          <a:lstStyle/>
          <a:p>
            <a:pPr marL="457200" indent="-457200">
              <a:spcAft>
                <a:spcPts val="1200"/>
              </a:spcAft>
              <a:buFont typeface="Wingdings" pitchFamily="2" charset="2"/>
              <a:buChar char="p"/>
            </a:pPr>
            <a:r>
              <a:rPr lang="en-US" altLang="zh-CN" sz="2800" b="1" dirty="0" smtClean="0">
                <a:solidFill>
                  <a:srgbClr val="0070C0"/>
                </a:solidFill>
              </a:rPr>
              <a:t>The </a:t>
            </a:r>
            <a:r>
              <a:rPr lang="en-US" altLang="zh-CN" sz="2800" b="1" dirty="0">
                <a:solidFill>
                  <a:srgbClr val="0070C0"/>
                </a:solidFill>
              </a:rPr>
              <a:t>Radiation Pattern of TT&amp;C </a:t>
            </a:r>
            <a:r>
              <a:rPr lang="en-US" altLang="zh-CN" sz="2800" b="1" dirty="0" smtClean="0">
                <a:solidFill>
                  <a:srgbClr val="0070C0"/>
                </a:solidFill>
              </a:rPr>
              <a:t>Antennas</a:t>
            </a:r>
            <a:endParaRPr lang="en-US" altLang="zh-CN" sz="2800" b="1" dirty="0">
              <a:solidFill>
                <a:srgbClr val="0070C0"/>
              </a:solidFill>
            </a:endParaRPr>
          </a:p>
        </p:txBody>
      </p:sp>
      <p:sp>
        <p:nvSpPr>
          <p:cNvPr id="62472" name="Rectangle 2"/>
          <p:cNvSpPr>
            <a:spLocks noChangeArrowheads="1"/>
          </p:cNvSpPr>
          <p:nvPr/>
        </p:nvSpPr>
        <p:spPr bwMode="gray">
          <a:xfrm>
            <a:off x="0" y="0"/>
            <a:ext cx="9144000" cy="457200"/>
          </a:xfrm>
          <a:prstGeom prst="rect">
            <a:avLst/>
          </a:prstGeom>
          <a:noFill/>
          <a:ln w="9525" algn="ctr">
            <a:noFill/>
            <a:miter lim="800000"/>
            <a:headEnd/>
            <a:tailEnd/>
          </a:ln>
        </p:spPr>
        <p:txBody>
          <a:bodyPr wrap="none" anchor="ctr">
            <a:spAutoFit/>
          </a:bodyPr>
          <a:lstStyle/>
          <a:p>
            <a:endParaRPr lang="zh-CN" altLang="en-US"/>
          </a:p>
        </p:txBody>
      </p:sp>
      <p:sp>
        <p:nvSpPr>
          <p:cNvPr id="62473" name="矩形 4"/>
          <p:cNvSpPr>
            <a:spLocks noChangeArrowheads="1"/>
          </p:cNvSpPr>
          <p:nvPr/>
        </p:nvSpPr>
        <p:spPr bwMode="auto">
          <a:xfrm>
            <a:off x="2857488" y="5878513"/>
            <a:ext cx="3902083" cy="369332"/>
          </a:xfrm>
          <a:prstGeom prst="rect">
            <a:avLst/>
          </a:prstGeom>
          <a:noFill/>
          <a:ln w="9525">
            <a:noFill/>
            <a:miter lim="800000"/>
            <a:headEnd/>
            <a:tailEnd/>
          </a:ln>
        </p:spPr>
        <p:txBody>
          <a:bodyPr wrap="square">
            <a:spAutoFit/>
          </a:bodyPr>
          <a:lstStyle/>
          <a:p>
            <a:r>
              <a:rPr lang="zh-CN" altLang="zh-CN" dirty="0"/>
              <a:t>Gain pattern of TT&amp;C Uplink frequency</a:t>
            </a:r>
            <a:endParaRPr lang="zh-CN" altLang="en-US" dirty="0"/>
          </a:p>
        </p:txBody>
      </p:sp>
      <p:sp>
        <p:nvSpPr>
          <p:cNvPr id="62474" name="矩形 5"/>
          <p:cNvSpPr>
            <a:spLocks noChangeArrowheads="1"/>
          </p:cNvSpPr>
          <p:nvPr/>
        </p:nvSpPr>
        <p:spPr bwMode="auto">
          <a:xfrm>
            <a:off x="1870075" y="5400675"/>
            <a:ext cx="1039813" cy="400050"/>
          </a:xfrm>
          <a:prstGeom prst="rect">
            <a:avLst/>
          </a:prstGeom>
          <a:noFill/>
          <a:ln w="9525">
            <a:noFill/>
            <a:miter lim="800000"/>
            <a:headEnd/>
            <a:tailEnd/>
          </a:ln>
        </p:spPr>
        <p:txBody>
          <a:bodyPr wrap="none">
            <a:spAutoFit/>
          </a:bodyPr>
          <a:lstStyle/>
          <a:p>
            <a:r>
              <a:rPr lang="zh-CN" altLang="zh-CN"/>
              <a:t>Uplink </a:t>
            </a:r>
            <a:endParaRPr lang="zh-CN" altLang="en-US"/>
          </a:p>
        </p:txBody>
      </p:sp>
      <p:sp>
        <p:nvSpPr>
          <p:cNvPr id="62475" name="矩形 6"/>
          <p:cNvSpPr>
            <a:spLocks noChangeArrowheads="1"/>
          </p:cNvSpPr>
          <p:nvPr/>
        </p:nvSpPr>
        <p:spPr bwMode="auto">
          <a:xfrm>
            <a:off x="5813425" y="5402263"/>
            <a:ext cx="1395413" cy="400050"/>
          </a:xfrm>
          <a:prstGeom prst="rect">
            <a:avLst/>
          </a:prstGeom>
          <a:noFill/>
          <a:ln w="9525">
            <a:noFill/>
            <a:miter lim="800000"/>
            <a:headEnd/>
            <a:tailEnd/>
          </a:ln>
        </p:spPr>
        <p:txBody>
          <a:bodyPr wrap="none">
            <a:spAutoFit/>
          </a:bodyPr>
          <a:lstStyle/>
          <a:p>
            <a:r>
              <a:rPr lang="en-US" altLang="zh-CN"/>
              <a:t>Down</a:t>
            </a:r>
            <a:r>
              <a:rPr lang="zh-CN" altLang="zh-CN"/>
              <a:t>link </a:t>
            </a:r>
            <a:endParaRPr lang="zh-CN" altLang="en-US"/>
          </a:p>
        </p:txBody>
      </p:sp>
      <p:pic>
        <p:nvPicPr>
          <p:cNvPr id="62476" name="图片 13"/>
          <p:cNvPicPr>
            <a:picLocks noChangeAspect="1" noChangeArrowheads="1"/>
          </p:cNvPicPr>
          <p:nvPr/>
        </p:nvPicPr>
        <p:blipFill>
          <a:blip r:embed="rId3"/>
          <a:srcRect/>
          <a:stretch>
            <a:fillRect/>
          </a:stretch>
        </p:blipFill>
        <p:spPr bwMode="auto">
          <a:xfrm>
            <a:off x="555625" y="2524125"/>
            <a:ext cx="3870325" cy="2840038"/>
          </a:xfrm>
          <a:prstGeom prst="rect">
            <a:avLst/>
          </a:prstGeom>
          <a:noFill/>
          <a:ln w="9525">
            <a:noFill/>
            <a:miter lim="800000"/>
            <a:headEnd/>
            <a:tailEnd/>
          </a:ln>
        </p:spPr>
      </p:pic>
      <p:pic>
        <p:nvPicPr>
          <p:cNvPr id="62477" name="图片 14"/>
          <p:cNvPicPr>
            <a:picLocks noChangeAspect="1" noChangeArrowheads="1"/>
          </p:cNvPicPr>
          <p:nvPr/>
        </p:nvPicPr>
        <p:blipFill>
          <a:blip r:embed="rId4"/>
          <a:srcRect/>
          <a:stretch>
            <a:fillRect/>
          </a:stretch>
        </p:blipFill>
        <p:spPr bwMode="auto">
          <a:xfrm>
            <a:off x="4572000" y="2479675"/>
            <a:ext cx="3906838" cy="2847975"/>
          </a:xfrm>
          <a:prstGeom prst="rect">
            <a:avLst/>
          </a:prstGeom>
          <a:noFill/>
          <a:ln w="9525">
            <a:noFill/>
            <a:miter lim="800000"/>
            <a:headEnd/>
            <a:tailEnd/>
          </a:ln>
        </p:spPr>
      </p:pic>
      <p:sp>
        <p:nvSpPr>
          <p:cNvPr id="14"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39</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15"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6" name="矩形 15"/>
          <p:cNvSpPr/>
          <p:nvPr/>
        </p:nvSpPr>
        <p:spPr>
          <a:xfrm>
            <a:off x="92075" y="261938"/>
            <a:ext cx="6460358" cy="646331"/>
          </a:xfrm>
          <a:prstGeom prst="rect">
            <a:avLst/>
          </a:prstGeom>
        </p:spPr>
        <p:txBody>
          <a:bodyPr wrap="none">
            <a:spAutoFit/>
          </a:bodyPr>
          <a:lstStyle/>
          <a:p>
            <a:pPr>
              <a:defRPr/>
            </a:pPr>
            <a:r>
              <a:rPr lang="en-US" altLang="zh-CN" sz="3600" b="1" kern="1700" dirty="0" smtClean="0">
                <a:solidFill>
                  <a:schemeClr val="bg1"/>
                </a:solidFill>
                <a:latin typeface="微软雅黑" pitchFamily="34" charset="-122"/>
                <a:ea typeface="微软雅黑" pitchFamily="34" charset="-122"/>
                <a:cs typeface="+mj-cs"/>
              </a:rPr>
              <a:t>3 Telemetry </a:t>
            </a:r>
            <a:r>
              <a:rPr lang="en-US" altLang="zh-CN" sz="3600" b="1" kern="1700" dirty="0">
                <a:solidFill>
                  <a:schemeClr val="bg1"/>
                </a:solidFill>
                <a:latin typeface="微软雅黑" pitchFamily="34" charset="-122"/>
                <a:ea typeface="微软雅黑" pitchFamily="34" charset="-122"/>
                <a:cs typeface="+mj-cs"/>
              </a:rPr>
              <a:t>and Command</a:t>
            </a:r>
            <a:endParaRPr lang="zh-CN" altLang="en-US" sz="3600" b="1" kern="1700" dirty="0">
              <a:solidFill>
                <a:schemeClr val="bg1"/>
              </a:solidFill>
              <a:latin typeface="微软雅黑" pitchFamily="34" charset="-122"/>
              <a:ea typeface="微软雅黑" pitchFamily="34" charset="-122"/>
              <a:cs typeface="+mj-cs"/>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2"/>
          <p:cNvSpPr txBox="1">
            <a:spLocks/>
          </p:cNvSpPr>
          <p:nvPr/>
        </p:nvSpPr>
        <p:spPr bwMode="auto">
          <a:xfrm>
            <a:off x="50800" y="233363"/>
            <a:ext cx="8229600" cy="1143000"/>
          </a:xfrm>
          <a:prstGeom prst="rect">
            <a:avLst/>
          </a:prstGeom>
          <a:noFill/>
          <a:ln w="9525">
            <a:noFill/>
            <a:miter lim="800000"/>
            <a:headEnd/>
            <a:tailEnd/>
          </a:ln>
        </p:spPr>
        <p:txBody>
          <a:bodyPr/>
          <a:lstStyle/>
          <a:p>
            <a:pPr eaLnBrk="0" hangingPunct="0"/>
            <a:endParaRPr lang="zh-CN" altLang="en-US" sz="4400">
              <a:solidFill>
                <a:schemeClr val="tx2"/>
              </a:solidFill>
            </a:endParaRPr>
          </a:p>
        </p:txBody>
      </p:sp>
      <p:sp>
        <p:nvSpPr>
          <p:cNvPr id="63492"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3493"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3494" name="Rectangle 4"/>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24583" name="TextBox 5"/>
          <p:cNvSpPr txBox="1">
            <a:spLocks noChangeArrowheads="1"/>
          </p:cNvSpPr>
          <p:nvPr/>
        </p:nvSpPr>
        <p:spPr bwMode="auto">
          <a:xfrm>
            <a:off x="771522" y="1603375"/>
            <a:ext cx="3443288" cy="3807861"/>
          </a:xfrm>
          <a:prstGeom prst="rect">
            <a:avLst/>
          </a:prstGeom>
          <a:noFill/>
          <a:ln>
            <a:noFill/>
          </a:ln>
          <a:extLst/>
        </p:spPr>
        <p:txBody>
          <a:bodyPr lIns="82954" tIns="41477" rIns="82954" bIns="41477">
            <a:spAutoFit/>
          </a:bodyPr>
          <a:lstStyle>
            <a:lvl1pPr marL="457200" indent="-457200" eaLnBrk="0" hangingPunct="0">
              <a:defRPr sz="2000" b="1">
                <a:solidFill>
                  <a:srgbClr val="575F6D"/>
                </a:solidFill>
                <a:latin typeface="Arial" pitchFamily="34" charset="0"/>
                <a:ea typeface="宋体" pitchFamily="2" charset="-122"/>
              </a:defRPr>
            </a:lvl1pPr>
            <a:lvl2pPr marL="719138" indent="-358775"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marL="0" indent="0" algn="l" eaLnBrk="1" hangingPunct="1">
              <a:lnSpc>
                <a:spcPct val="200000"/>
              </a:lnSpc>
              <a:spcAft>
                <a:spcPts val="1200"/>
              </a:spcAft>
              <a:defRPr/>
            </a:pPr>
            <a:r>
              <a:rPr lang="en-US" altLang="zh-CN" sz="2900" dirty="0" smtClean="0">
                <a:solidFill>
                  <a:srgbClr val="0070C0"/>
                </a:solidFill>
              </a:rPr>
              <a:t> </a:t>
            </a:r>
            <a:r>
              <a:rPr lang="en-US" altLang="zh-CN" sz="2900" dirty="0" smtClean="0">
                <a:solidFill>
                  <a:schemeClr val="accent1">
                    <a:lumMod val="75000"/>
                  </a:schemeClr>
                </a:solidFill>
              </a:rPr>
              <a:t>Explanation</a:t>
            </a:r>
          </a:p>
          <a:p>
            <a:pPr indent="-324000" algn="just" eaLnBrk="1" hangingPunct="1">
              <a:lnSpc>
                <a:spcPct val="200000"/>
              </a:lnSpc>
              <a:spcAft>
                <a:spcPts val="1200"/>
              </a:spcAft>
              <a:buFont typeface="Wingdings" pitchFamily="2" charset="2"/>
              <a:buChar char="n"/>
              <a:defRPr/>
            </a:pPr>
            <a:r>
              <a:rPr lang="en-US" altLang="zh-CN" sz="1800" dirty="0" smtClean="0">
                <a:solidFill>
                  <a:schemeClr val="accent1">
                    <a:lumMod val="75000"/>
                  </a:schemeClr>
                </a:solidFill>
              </a:rPr>
              <a:t>Polar coordinate.</a:t>
            </a:r>
          </a:p>
          <a:p>
            <a:pPr indent="-324000" algn="just" eaLnBrk="1" hangingPunct="1">
              <a:lnSpc>
                <a:spcPct val="200000"/>
              </a:lnSpc>
              <a:spcAft>
                <a:spcPts val="1200"/>
              </a:spcAft>
              <a:buFont typeface="Wingdings" pitchFamily="2" charset="2"/>
              <a:buChar char="n"/>
              <a:defRPr/>
            </a:pPr>
            <a:r>
              <a:rPr lang="en-US" altLang="zh-CN" sz="1800" dirty="0" smtClean="0">
                <a:solidFill>
                  <a:schemeClr val="accent1">
                    <a:lumMod val="75000"/>
                  </a:schemeClr>
                </a:solidFill>
              </a:rPr>
              <a:t>Azimuth.</a:t>
            </a:r>
          </a:p>
          <a:p>
            <a:pPr indent="-324000" algn="just" eaLnBrk="1" hangingPunct="1">
              <a:lnSpc>
                <a:spcPct val="200000"/>
              </a:lnSpc>
              <a:spcAft>
                <a:spcPts val="1200"/>
              </a:spcAft>
              <a:buFont typeface="Wingdings" pitchFamily="2" charset="2"/>
              <a:buChar char="n"/>
              <a:defRPr/>
            </a:pPr>
            <a:r>
              <a:rPr lang="en-US" altLang="zh-CN" sz="1800" dirty="0" smtClean="0">
                <a:solidFill>
                  <a:schemeClr val="accent1">
                    <a:lumMod val="75000"/>
                  </a:schemeClr>
                </a:solidFill>
              </a:rPr>
              <a:t>Direction.</a:t>
            </a:r>
          </a:p>
          <a:p>
            <a:pPr indent="-324000" algn="just" eaLnBrk="1" hangingPunct="1">
              <a:lnSpc>
                <a:spcPct val="200000"/>
              </a:lnSpc>
              <a:spcAft>
                <a:spcPts val="1200"/>
              </a:spcAft>
              <a:buFont typeface="Wingdings" pitchFamily="2" charset="2"/>
              <a:buChar char="n"/>
              <a:defRPr/>
            </a:pPr>
            <a:r>
              <a:rPr lang="en-US" altLang="zh-CN" sz="1800" dirty="0" smtClean="0">
                <a:solidFill>
                  <a:schemeClr val="accent1">
                    <a:lumMod val="75000"/>
                  </a:schemeClr>
                </a:solidFill>
              </a:rPr>
              <a:t>Interference region</a:t>
            </a:r>
            <a:endParaRPr lang="en-US" altLang="zh-CN" sz="1800" dirty="0" smtClean="0">
              <a:solidFill>
                <a:srgbClr val="92D050"/>
              </a:solidFill>
            </a:endParaRPr>
          </a:p>
        </p:txBody>
      </p:sp>
      <p:sp>
        <p:nvSpPr>
          <p:cNvPr id="63496" name="Rectangle 2"/>
          <p:cNvSpPr>
            <a:spLocks noChangeArrowheads="1"/>
          </p:cNvSpPr>
          <p:nvPr/>
        </p:nvSpPr>
        <p:spPr bwMode="gray">
          <a:xfrm>
            <a:off x="0" y="0"/>
            <a:ext cx="9144000" cy="457200"/>
          </a:xfrm>
          <a:prstGeom prst="rect">
            <a:avLst/>
          </a:prstGeom>
          <a:noFill/>
          <a:ln w="9525" algn="ctr">
            <a:noFill/>
            <a:miter lim="800000"/>
            <a:headEnd/>
            <a:tailEnd/>
          </a:ln>
        </p:spPr>
        <p:txBody>
          <a:bodyPr wrap="none" anchor="ctr">
            <a:spAutoFit/>
          </a:bodyPr>
          <a:lstStyle/>
          <a:p>
            <a:endParaRPr lang="zh-CN" altLang="en-US"/>
          </a:p>
        </p:txBody>
      </p:sp>
      <p:sp>
        <p:nvSpPr>
          <p:cNvPr id="63497" name="矩形 4"/>
          <p:cNvSpPr>
            <a:spLocks noChangeArrowheads="1"/>
          </p:cNvSpPr>
          <p:nvPr/>
        </p:nvSpPr>
        <p:spPr bwMode="auto">
          <a:xfrm>
            <a:off x="4357686" y="5301236"/>
            <a:ext cx="3929090" cy="369332"/>
          </a:xfrm>
          <a:prstGeom prst="rect">
            <a:avLst/>
          </a:prstGeom>
          <a:noFill/>
          <a:ln w="9525">
            <a:noFill/>
            <a:miter lim="800000"/>
            <a:headEnd/>
            <a:tailEnd/>
          </a:ln>
        </p:spPr>
        <p:txBody>
          <a:bodyPr wrap="square">
            <a:spAutoFit/>
          </a:bodyPr>
          <a:lstStyle/>
          <a:p>
            <a:r>
              <a:rPr lang="zh-CN" altLang="zh-CN" dirty="0"/>
              <a:t>Gain pattern of TT&amp;C Uplink frequency</a:t>
            </a:r>
            <a:endParaRPr lang="zh-CN" altLang="en-US" dirty="0"/>
          </a:p>
        </p:txBody>
      </p:sp>
      <p:sp>
        <p:nvSpPr>
          <p:cNvPr id="63498" name="矩形 5"/>
          <p:cNvSpPr>
            <a:spLocks noChangeArrowheads="1"/>
          </p:cNvSpPr>
          <p:nvPr/>
        </p:nvSpPr>
        <p:spPr bwMode="auto">
          <a:xfrm>
            <a:off x="6000759" y="5670568"/>
            <a:ext cx="1163637" cy="401638"/>
          </a:xfrm>
          <a:prstGeom prst="rect">
            <a:avLst/>
          </a:prstGeom>
          <a:noFill/>
          <a:ln w="9525">
            <a:noFill/>
            <a:miter lim="800000"/>
            <a:headEnd/>
            <a:tailEnd/>
          </a:ln>
        </p:spPr>
        <p:txBody>
          <a:bodyPr wrap="none">
            <a:spAutoFit/>
          </a:bodyPr>
          <a:lstStyle/>
          <a:p>
            <a:r>
              <a:rPr lang="en-US" altLang="zh-CN" dirty="0"/>
              <a:t>PHI=0°</a:t>
            </a:r>
            <a:endParaRPr lang="zh-CN" altLang="en-US" dirty="0"/>
          </a:p>
        </p:txBody>
      </p:sp>
      <p:pic>
        <p:nvPicPr>
          <p:cNvPr id="63499" name="图片 11"/>
          <p:cNvPicPr>
            <a:picLocks noChangeAspect="1" noChangeArrowheads="1"/>
          </p:cNvPicPr>
          <p:nvPr/>
        </p:nvPicPr>
        <p:blipFill>
          <a:blip r:embed="rId3"/>
          <a:srcRect/>
          <a:stretch>
            <a:fillRect/>
          </a:stretch>
        </p:blipFill>
        <p:spPr bwMode="auto">
          <a:xfrm>
            <a:off x="4000496" y="1785926"/>
            <a:ext cx="4651375" cy="3505200"/>
          </a:xfrm>
          <a:prstGeom prst="rect">
            <a:avLst/>
          </a:prstGeom>
          <a:noFill/>
          <a:ln w="9525">
            <a:noFill/>
            <a:miter lim="800000"/>
            <a:headEnd/>
            <a:tailEnd/>
          </a:ln>
        </p:spPr>
      </p:pic>
      <p:sp>
        <p:nvSpPr>
          <p:cNvPr id="12"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40</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13"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4" name="矩形 13"/>
          <p:cNvSpPr/>
          <p:nvPr/>
        </p:nvSpPr>
        <p:spPr>
          <a:xfrm>
            <a:off x="92075" y="261938"/>
            <a:ext cx="6460358" cy="646331"/>
          </a:xfrm>
          <a:prstGeom prst="rect">
            <a:avLst/>
          </a:prstGeom>
        </p:spPr>
        <p:txBody>
          <a:bodyPr wrap="none">
            <a:spAutoFit/>
          </a:bodyPr>
          <a:lstStyle/>
          <a:p>
            <a:pPr>
              <a:defRPr/>
            </a:pPr>
            <a:r>
              <a:rPr lang="en-US" altLang="zh-CN" sz="3600" b="1" kern="1700" dirty="0" smtClean="0">
                <a:solidFill>
                  <a:schemeClr val="bg1"/>
                </a:solidFill>
                <a:latin typeface="微软雅黑" pitchFamily="34" charset="-122"/>
                <a:ea typeface="微软雅黑" pitchFamily="34" charset="-122"/>
                <a:cs typeface="+mj-cs"/>
              </a:rPr>
              <a:t>3 Telemetry </a:t>
            </a:r>
            <a:r>
              <a:rPr lang="en-US" altLang="zh-CN" sz="3600" b="1" kern="1700" dirty="0">
                <a:solidFill>
                  <a:schemeClr val="bg1"/>
                </a:solidFill>
                <a:latin typeface="微软雅黑" pitchFamily="34" charset="-122"/>
                <a:ea typeface="微软雅黑" pitchFamily="34" charset="-122"/>
                <a:cs typeface="+mj-cs"/>
              </a:rPr>
              <a:t>and Command</a:t>
            </a:r>
            <a:endParaRPr lang="zh-CN" altLang="en-US" sz="3600" b="1" kern="1700" dirty="0">
              <a:solidFill>
                <a:schemeClr val="bg1"/>
              </a:solidFill>
              <a:latin typeface="微软雅黑" pitchFamily="34" charset="-122"/>
              <a:ea typeface="微软雅黑" pitchFamily="34" charset="-122"/>
              <a:cs typeface="+mj-cs"/>
            </a:endParaRPr>
          </a:p>
        </p:txBody>
      </p:sp>
      <p:sp>
        <p:nvSpPr>
          <p:cNvPr id="15" name="TextBox 5"/>
          <p:cNvSpPr txBox="1">
            <a:spLocks noChangeArrowheads="1"/>
          </p:cNvSpPr>
          <p:nvPr/>
        </p:nvSpPr>
        <p:spPr bwMode="auto">
          <a:xfrm>
            <a:off x="215900" y="1271275"/>
            <a:ext cx="8518525" cy="514651"/>
          </a:xfrm>
          <a:prstGeom prst="rect">
            <a:avLst/>
          </a:prstGeom>
          <a:noFill/>
          <a:ln w="9525">
            <a:noFill/>
            <a:miter lim="800000"/>
            <a:headEnd/>
            <a:tailEnd/>
          </a:ln>
        </p:spPr>
        <p:txBody>
          <a:bodyPr lIns="82954" tIns="41477" rIns="82954" bIns="41477">
            <a:spAutoFit/>
          </a:bodyPr>
          <a:lstStyle/>
          <a:p>
            <a:pPr marL="457200" indent="-457200">
              <a:spcAft>
                <a:spcPts val="1200"/>
              </a:spcAft>
              <a:buFont typeface="Wingdings" pitchFamily="2" charset="2"/>
              <a:buChar char="p"/>
            </a:pPr>
            <a:r>
              <a:rPr lang="en-US" altLang="zh-CN" sz="2800" b="1" dirty="0" smtClean="0">
                <a:solidFill>
                  <a:srgbClr val="0070C0"/>
                </a:solidFill>
              </a:rPr>
              <a:t>The </a:t>
            </a:r>
            <a:r>
              <a:rPr lang="en-US" altLang="zh-CN" sz="2800" b="1" dirty="0">
                <a:solidFill>
                  <a:srgbClr val="0070C0"/>
                </a:solidFill>
              </a:rPr>
              <a:t>Radiation Pattern of TT&amp;C </a:t>
            </a:r>
            <a:r>
              <a:rPr lang="en-US" altLang="zh-CN" sz="2800" b="1" dirty="0" smtClean="0">
                <a:solidFill>
                  <a:srgbClr val="0070C0"/>
                </a:solidFill>
              </a:rPr>
              <a:t>Antennas</a:t>
            </a:r>
            <a:endParaRPr lang="en-US" altLang="zh-CN" sz="2800" b="1" dirty="0">
              <a:solidFill>
                <a:srgbClr val="0070C0"/>
              </a:solidFill>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未标题-2 拷贝"/>
          <p:cNvPicPr>
            <a:picLocks noChangeAspect="1" noChangeArrowheads="1"/>
          </p:cNvPicPr>
          <p:nvPr/>
        </p:nvPicPr>
        <p:blipFill>
          <a:blip r:embed="rId3"/>
          <a:srcRect/>
          <a:stretch>
            <a:fillRect/>
          </a:stretch>
        </p:blipFill>
        <p:spPr bwMode="auto">
          <a:xfrm>
            <a:off x="171450" y="1311275"/>
            <a:ext cx="2803525" cy="5037138"/>
          </a:xfrm>
          <a:prstGeom prst="rect">
            <a:avLst/>
          </a:prstGeom>
          <a:noFill/>
          <a:ln w="9525">
            <a:noFill/>
            <a:miter lim="800000"/>
            <a:headEnd/>
            <a:tailEnd/>
          </a:ln>
        </p:spPr>
      </p:pic>
      <p:pic>
        <p:nvPicPr>
          <p:cNvPr id="5" name="Picture 1" descr="D:\resources for ppt\sat5.jpg"/>
          <p:cNvPicPr>
            <a:picLocks noChangeAspect="1" noChangeArrowheads="1"/>
          </p:cNvPicPr>
          <p:nvPr/>
        </p:nvPicPr>
        <p:blipFill>
          <a:blip r:embed="rId4" cstate="email"/>
          <a:stretch>
            <a:fillRect/>
          </a:stretch>
        </p:blipFill>
        <p:spPr bwMode="auto">
          <a:xfrm>
            <a:off x="2389984" y="3225699"/>
            <a:ext cx="381198" cy="487156"/>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9" name="单圆角矩形 8"/>
          <p:cNvSpPr/>
          <p:nvPr/>
        </p:nvSpPr>
        <p:spPr>
          <a:xfrm>
            <a:off x="3036917" y="3136373"/>
            <a:ext cx="5678487" cy="649817"/>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pPr lvl="0"/>
            <a:r>
              <a:rPr lang="en-US" altLang="zh-CN" sz="2400" b="1" dirty="0" smtClean="0">
                <a:solidFill>
                  <a:schemeClr val="tx1"/>
                </a:solidFill>
                <a:latin typeface="微软雅黑" pitchFamily="34" charset="-122"/>
                <a:ea typeface="微软雅黑" pitchFamily="34" charset="-122"/>
              </a:rPr>
              <a:t>2</a:t>
            </a:r>
            <a:r>
              <a:rPr lang="en-US" altLang="zh-CN" sz="2400" b="1" dirty="0" smtClean="0">
                <a:solidFill>
                  <a:schemeClr val="bg1"/>
                </a:solidFill>
                <a:latin typeface="微软雅黑" pitchFamily="34" charset="-122"/>
                <a:ea typeface="微软雅黑" pitchFamily="34" charset="-122"/>
              </a:rPr>
              <a:t>  </a:t>
            </a:r>
            <a:r>
              <a:rPr lang="en-US" altLang="zh-CN" sz="2400" b="1" dirty="0" smtClean="0">
                <a:solidFill>
                  <a:schemeClr val="tx1"/>
                </a:solidFill>
              </a:rPr>
              <a:t>Technical Specification </a:t>
            </a:r>
            <a:r>
              <a:rPr lang="en-US" altLang="zh-CN" sz="2400" b="1" dirty="0" smtClean="0"/>
              <a:t>Analysis</a:t>
            </a:r>
            <a:endParaRPr lang="zh-CN" altLang="en-US" sz="2400" b="1" dirty="0">
              <a:solidFill>
                <a:schemeClr val="tx1"/>
              </a:solidFill>
            </a:endParaRPr>
          </a:p>
        </p:txBody>
      </p:sp>
      <p:pic>
        <p:nvPicPr>
          <p:cNvPr id="11" name="Picture 1" descr="D:\resources for ppt\sat5.jpg"/>
          <p:cNvPicPr>
            <a:picLocks noChangeAspect="1" noChangeArrowheads="1"/>
          </p:cNvPicPr>
          <p:nvPr/>
        </p:nvPicPr>
        <p:blipFill>
          <a:blip r:embed="rId4" cstate="email"/>
          <a:stretch>
            <a:fillRect/>
          </a:stretch>
        </p:blipFill>
        <p:spPr bwMode="auto">
          <a:xfrm>
            <a:off x="2357422" y="2279117"/>
            <a:ext cx="381198" cy="487156"/>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12" name="标题 2"/>
          <p:cNvSpPr>
            <a:spLocks noGrp="1"/>
          </p:cNvSpPr>
          <p:nvPr>
            <p:ph type="title"/>
          </p:nvPr>
        </p:nvSpPr>
        <p:spPr>
          <a:xfrm>
            <a:off x="457200" y="274638"/>
            <a:ext cx="8229600" cy="796908"/>
          </a:xfrm>
        </p:spPr>
        <p:txBody>
          <a:bodyPr anchor="t">
            <a:normAutofit/>
          </a:bodyPr>
          <a:lstStyle/>
          <a:p>
            <a:pPr algn="l"/>
            <a:r>
              <a:rPr lang="en-US" altLang="zh-CN" sz="3600" dirty="0" smtClean="0"/>
              <a:t>Outlines</a:t>
            </a:r>
            <a:endParaRPr lang="zh-CN" altLang="en-US" sz="3600" dirty="0" smtClean="0"/>
          </a:p>
        </p:txBody>
      </p:sp>
      <p:pic>
        <p:nvPicPr>
          <p:cNvPr id="16" name="Picture 1" descr="D:\resources for ppt\sat5.jpg"/>
          <p:cNvPicPr>
            <a:picLocks noChangeAspect="1" noChangeArrowheads="1"/>
          </p:cNvPicPr>
          <p:nvPr/>
        </p:nvPicPr>
        <p:blipFill>
          <a:blip r:embed="rId4" cstate="email"/>
          <a:stretch>
            <a:fillRect/>
          </a:stretch>
        </p:blipFill>
        <p:spPr bwMode="auto">
          <a:xfrm>
            <a:off x="2389984" y="4239872"/>
            <a:ext cx="381198" cy="487156"/>
          </a:xfrm>
          <a:prstGeom prst="ellipse">
            <a:avLst/>
          </a:prstGeom>
          <a:ln w="130175" cap="rnd">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273050" h="120650" prst="hardEdge"/>
            <a:extrusionClr>
              <a:srgbClr val="000000"/>
            </a:extrusionClr>
          </a:sp3d>
        </p:spPr>
      </p:pic>
      <p:sp>
        <p:nvSpPr>
          <p:cNvPr id="17" name="单圆角矩形 16"/>
          <p:cNvSpPr/>
          <p:nvPr/>
        </p:nvSpPr>
        <p:spPr>
          <a:xfrm>
            <a:off x="3036917" y="4143380"/>
            <a:ext cx="5678487" cy="647700"/>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pPr lvl="0"/>
            <a:r>
              <a:rPr lang="en-US" altLang="zh-CN" sz="2400" b="1" dirty="0" smtClean="0">
                <a:solidFill>
                  <a:schemeClr val="tx1"/>
                </a:solidFill>
                <a:latin typeface="微软雅黑" pitchFamily="34" charset="-122"/>
                <a:ea typeface="微软雅黑" pitchFamily="34" charset="-122"/>
              </a:rPr>
              <a:t>3</a:t>
            </a:r>
            <a:r>
              <a:rPr lang="en-US" altLang="zh-CN" sz="2400" b="1" dirty="0" smtClean="0"/>
              <a:t>   Telemetry And Command</a:t>
            </a:r>
            <a:endParaRPr lang="zh-CN" altLang="en-US" sz="2400" b="1" dirty="0"/>
          </a:p>
        </p:txBody>
      </p:sp>
      <p:sp>
        <p:nvSpPr>
          <p:cNvPr id="18"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9"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41</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20" name="单圆角矩形 19"/>
          <p:cNvSpPr/>
          <p:nvPr/>
        </p:nvSpPr>
        <p:spPr>
          <a:xfrm>
            <a:off x="3000364" y="2207679"/>
            <a:ext cx="5678487" cy="647700"/>
          </a:xfrm>
          <a:prstGeom prst="round1Rect">
            <a:avLst/>
          </a:prstGeom>
          <a:ln>
            <a:noFill/>
          </a:ln>
        </p:spPr>
        <p:style>
          <a:lnRef idx="1">
            <a:schemeClr val="dk1"/>
          </a:lnRef>
          <a:fillRef idx="2">
            <a:schemeClr val="dk1"/>
          </a:fillRef>
          <a:effectRef idx="1">
            <a:schemeClr val="dk1"/>
          </a:effectRef>
          <a:fontRef idx="minor">
            <a:schemeClr val="dk1"/>
          </a:fontRef>
        </p:style>
        <p:txBody>
          <a:bodyPr anchor="ctr"/>
          <a:lstStyle/>
          <a:p>
            <a:r>
              <a:rPr lang="en-US" altLang="zh-CN" sz="2400" b="1" dirty="0" smtClean="0">
                <a:solidFill>
                  <a:schemeClr val="tx1"/>
                </a:solidFill>
                <a:latin typeface="微软雅黑" pitchFamily="34" charset="-122"/>
                <a:ea typeface="微软雅黑" pitchFamily="34" charset="-122"/>
              </a:rPr>
              <a:t>1</a:t>
            </a:r>
            <a:r>
              <a:rPr lang="en-US" altLang="zh-CN" sz="2400" b="1" dirty="0" smtClean="0">
                <a:solidFill>
                  <a:schemeClr val="tx1"/>
                </a:solidFill>
                <a:latin typeface="Arial" pitchFamily="34" charset="0"/>
                <a:cs typeface="Arial" pitchFamily="34" charset="0"/>
              </a:rPr>
              <a:t>  Introduction</a:t>
            </a:r>
            <a:endParaRPr lang="zh-CN" altLang="en-US" sz="2400" b="1" dirty="0" smtClean="0">
              <a:solidFill>
                <a:schemeClr val="tx1"/>
              </a:solidFill>
              <a:latin typeface="Arial" pitchFamily="34" charset="0"/>
              <a:cs typeface="Arial" pitchFamily="34" charset="0"/>
            </a:endParaRPr>
          </a:p>
        </p:txBody>
      </p:sp>
      <p:sp>
        <p:nvSpPr>
          <p:cNvPr id="21" name="单圆角矩形 20"/>
          <p:cNvSpPr/>
          <p:nvPr/>
        </p:nvSpPr>
        <p:spPr>
          <a:xfrm>
            <a:off x="3000364" y="5073819"/>
            <a:ext cx="5706406" cy="648072"/>
          </a:xfrm>
          <a:prstGeom prst="round1Rect">
            <a:avLst/>
          </a:prstGeom>
          <a:solidFill>
            <a:srgbClr val="F79600"/>
          </a:solidFill>
          <a:ln>
            <a:solidFill>
              <a:srgbClr val="FFC064"/>
            </a:solidFill>
          </a:ln>
          <a:effectLst>
            <a:glow rad="139700">
              <a:srgbClr val="FF9600">
                <a:alpha val="40000"/>
              </a:srgbClr>
            </a:glow>
          </a:effectLst>
        </p:spPr>
        <p:style>
          <a:lnRef idx="2">
            <a:schemeClr val="accent6">
              <a:shade val="50000"/>
            </a:schemeClr>
          </a:lnRef>
          <a:fillRef idx="1">
            <a:schemeClr val="accent6"/>
          </a:fillRef>
          <a:effectRef idx="0">
            <a:schemeClr val="accent6"/>
          </a:effectRef>
          <a:fontRef idx="minor">
            <a:schemeClr val="lt1"/>
          </a:fontRef>
        </p:style>
        <p:txBody>
          <a:bodyPr anchor="ctr"/>
          <a:lstStyle/>
          <a:p>
            <a:pPr lvl="0"/>
            <a:r>
              <a:rPr lang="en-US" altLang="zh-CN" sz="2400" b="1" dirty="0" smtClean="0">
                <a:solidFill>
                  <a:schemeClr val="tx1"/>
                </a:solidFill>
                <a:latin typeface="微软雅黑" pitchFamily="34" charset="-122"/>
                <a:ea typeface="微软雅黑" pitchFamily="34" charset="-122"/>
              </a:rPr>
              <a:t>4   </a:t>
            </a:r>
            <a:r>
              <a:rPr lang="en-US" altLang="zh-CN" sz="2400" b="1" dirty="0" smtClean="0">
                <a:solidFill>
                  <a:schemeClr val="tx1"/>
                </a:solidFill>
              </a:rPr>
              <a:t>Positioning and Orbit Determination</a:t>
            </a:r>
            <a:endParaRPr lang="zh-CN" altLang="en-US" sz="2400" b="1" dirty="0">
              <a:solidFill>
                <a:schemeClr val="tx1"/>
              </a:solidFill>
            </a:endParaRPr>
          </a:p>
        </p:txBody>
      </p:sp>
      <p:pic>
        <p:nvPicPr>
          <p:cNvPr id="24" name="Picture 2" descr="D:\resources for ppt\sino6_W020100905714056942648.jpg"/>
          <p:cNvPicPr>
            <a:picLocks noChangeAspect="1" noChangeArrowheads="1"/>
          </p:cNvPicPr>
          <p:nvPr/>
        </p:nvPicPr>
        <p:blipFill>
          <a:blip r:embed="rId5" cstate="email"/>
          <a:stretch>
            <a:fillRect/>
          </a:stretch>
        </p:blipFill>
        <p:spPr bwMode="auto">
          <a:xfrm>
            <a:off x="2357422" y="5114530"/>
            <a:ext cx="426409" cy="535923"/>
          </a:xfrm>
          <a:prstGeom prst="ellipse">
            <a:avLst/>
          </a:prstGeom>
          <a:ln w="136525" cap="rnd">
            <a:gradFill>
              <a:gsLst>
                <a:gs pos="0">
                  <a:srgbClr val="FBEAC7"/>
                </a:gs>
                <a:gs pos="17999">
                  <a:srgbClr val="FEE7F2"/>
                </a:gs>
                <a:gs pos="36000">
                  <a:srgbClr val="FAC77D"/>
                </a:gs>
                <a:gs pos="61000">
                  <a:srgbClr val="FBA97D"/>
                </a:gs>
                <a:gs pos="82001">
                  <a:srgbClr val="FBD49C"/>
                </a:gs>
                <a:gs pos="100000">
                  <a:srgbClr val="FEE7F2"/>
                </a:gs>
              </a:gsLst>
              <a:lin ang="5400000" scaled="0"/>
            </a:gra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2"/>
          <p:cNvSpPr txBox="1">
            <a:spLocks/>
          </p:cNvSpPr>
          <p:nvPr/>
        </p:nvSpPr>
        <p:spPr bwMode="auto">
          <a:xfrm>
            <a:off x="50800" y="233363"/>
            <a:ext cx="8229600" cy="1143000"/>
          </a:xfrm>
          <a:prstGeom prst="rect">
            <a:avLst/>
          </a:prstGeom>
          <a:noFill/>
          <a:ln w="9525">
            <a:noFill/>
            <a:miter lim="800000"/>
            <a:headEnd/>
            <a:tailEnd/>
          </a:ln>
        </p:spPr>
        <p:txBody>
          <a:bodyPr/>
          <a:lstStyle/>
          <a:p>
            <a:pPr eaLnBrk="0" hangingPunct="0"/>
            <a:endParaRPr lang="zh-CN" altLang="en-US" sz="4400">
              <a:solidFill>
                <a:schemeClr val="tx2"/>
              </a:solidFill>
            </a:endParaRPr>
          </a:p>
        </p:txBody>
      </p:sp>
      <p:sp>
        <p:nvSpPr>
          <p:cNvPr id="4" name="矩形 3"/>
          <p:cNvSpPr/>
          <p:nvPr/>
        </p:nvSpPr>
        <p:spPr>
          <a:xfrm>
            <a:off x="128903" y="261938"/>
            <a:ext cx="8729377" cy="615553"/>
          </a:xfrm>
          <a:prstGeom prst="rect">
            <a:avLst/>
          </a:prstGeom>
        </p:spPr>
        <p:txBody>
          <a:bodyPr wrap="none">
            <a:spAutoFit/>
          </a:bodyPr>
          <a:lstStyle/>
          <a:p>
            <a:pPr>
              <a:defRPr/>
            </a:pPr>
            <a:r>
              <a:rPr lang="en-US" altLang="zh-CN" sz="3400" b="1" kern="1700" dirty="0" smtClean="0">
                <a:solidFill>
                  <a:schemeClr val="bg1"/>
                </a:solidFill>
                <a:latin typeface="微软雅黑" pitchFamily="34" charset="-122"/>
                <a:ea typeface="微软雅黑" pitchFamily="34" charset="-122"/>
                <a:cs typeface="+mj-cs"/>
              </a:rPr>
              <a:t>4  </a:t>
            </a:r>
            <a:r>
              <a:rPr lang="en-US" altLang="zh-CN" sz="3400" b="1" kern="1700" dirty="0">
                <a:solidFill>
                  <a:schemeClr val="bg1"/>
                </a:solidFill>
                <a:latin typeface="微软雅黑" pitchFamily="34" charset="-122"/>
                <a:ea typeface="微软雅黑" pitchFamily="34" charset="-122"/>
                <a:cs typeface="+mj-cs"/>
              </a:rPr>
              <a:t>Positioning and Orbit Determination</a:t>
            </a:r>
            <a:endParaRPr lang="zh-CN" altLang="en-US" sz="3400" b="1" kern="1700" dirty="0">
              <a:solidFill>
                <a:schemeClr val="bg1"/>
              </a:solidFill>
              <a:latin typeface="微软雅黑" pitchFamily="34" charset="-122"/>
              <a:ea typeface="微软雅黑" pitchFamily="34" charset="-122"/>
              <a:cs typeface="+mj-cs"/>
            </a:endParaRPr>
          </a:p>
        </p:txBody>
      </p:sp>
      <p:sp>
        <p:nvSpPr>
          <p:cNvPr id="65540"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5541"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5542" name="Rectangle 4"/>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12" name="TextBox 5"/>
          <p:cNvSpPr txBox="1">
            <a:spLocks noChangeArrowheads="1"/>
          </p:cNvSpPr>
          <p:nvPr/>
        </p:nvSpPr>
        <p:spPr bwMode="auto">
          <a:xfrm>
            <a:off x="323850" y="1634533"/>
            <a:ext cx="8424863" cy="4223359"/>
          </a:xfrm>
          <a:prstGeom prst="rect">
            <a:avLst/>
          </a:prstGeom>
          <a:noFill/>
          <a:ln>
            <a:noFill/>
          </a:ln>
          <a:extLst/>
        </p:spPr>
        <p:txBody>
          <a:bodyPr lIns="82954" tIns="41477" rIns="82954" bIns="41477">
            <a:spAutoFit/>
          </a:bodyPr>
          <a:lstStyle>
            <a:lvl1pPr eaLnBrk="0" hangingPunct="0">
              <a:defRPr sz="2000" b="1">
                <a:solidFill>
                  <a:srgbClr val="575F6D"/>
                </a:solidFill>
                <a:latin typeface="Arial" charset="0"/>
                <a:ea typeface="宋体" pitchFamily="2" charset="-122"/>
              </a:defRPr>
            </a:lvl1pPr>
            <a:lvl2pPr marL="742950" indent="-285750" eaLnBrk="0" hangingPunct="0">
              <a:defRPr sz="2000" b="1">
                <a:solidFill>
                  <a:srgbClr val="575F6D"/>
                </a:solidFill>
                <a:latin typeface="Arial" charset="0"/>
                <a:ea typeface="宋体" pitchFamily="2" charset="-122"/>
              </a:defRPr>
            </a:lvl2pPr>
            <a:lvl3pPr marL="1143000" indent="-228600" eaLnBrk="0" hangingPunct="0">
              <a:defRPr sz="2000" b="1">
                <a:solidFill>
                  <a:srgbClr val="575F6D"/>
                </a:solidFill>
                <a:latin typeface="Arial" charset="0"/>
                <a:ea typeface="宋体" pitchFamily="2" charset="-122"/>
              </a:defRPr>
            </a:lvl3pPr>
            <a:lvl4pPr marL="1600200" indent="-228600" eaLnBrk="0" hangingPunct="0">
              <a:defRPr sz="2000" b="1">
                <a:solidFill>
                  <a:srgbClr val="575F6D"/>
                </a:solidFill>
                <a:latin typeface="Arial" charset="0"/>
                <a:ea typeface="宋体" pitchFamily="2" charset="-122"/>
              </a:defRPr>
            </a:lvl4pPr>
            <a:lvl5pPr marL="2057400" indent="-228600" eaLnBrk="0" hangingPunct="0">
              <a:defRPr sz="2000" b="1">
                <a:solidFill>
                  <a:srgbClr val="575F6D"/>
                </a:solidFill>
                <a:latin typeface="Arial"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charset="0"/>
                <a:ea typeface="宋体" pitchFamily="2" charset="-122"/>
              </a:defRPr>
            </a:lvl9pPr>
          </a:lstStyle>
          <a:p>
            <a:pPr marL="457200" indent="-457200" algn="l" eaLnBrk="1" hangingPunct="1">
              <a:spcAft>
                <a:spcPts val="1200"/>
              </a:spcAft>
              <a:buFont typeface="Wingdings" pitchFamily="2" charset="2"/>
              <a:buChar char="p"/>
              <a:defRPr/>
            </a:pPr>
            <a:r>
              <a:rPr lang="en-US" altLang="zh-CN" sz="2800" dirty="0" smtClean="0">
                <a:solidFill>
                  <a:srgbClr val="0070C0"/>
                </a:solidFill>
              </a:rPr>
              <a:t>GPS </a:t>
            </a:r>
            <a:r>
              <a:rPr lang="en-US" altLang="zh-CN" sz="2800" dirty="0">
                <a:solidFill>
                  <a:srgbClr val="0070C0"/>
                </a:solidFill>
              </a:rPr>
              <a:t>Receiver </a:t>
            </a:r>
            <a:r>
              <a:rPr lang="en-US" altLang="zh-CN" sz="2800" dirty="0" smtClean="0">
                <a:solidFill>
                  <a:srgbClr val="0070C0"/>
                </a:solidFill>
              </a:rPr>
              <a:t>Function</a:t>
            </a:r>
            <a:endParaRPr lang="en-US" altLang="zh-CN" sz="2800" dirty="0">
              <a:solidFill>
                <a:srgbClr val="0070C0"/>
              </a:solidFill>
            </a:endParaRPr>
          </a:p>
          <a:p>
            <a:pPr marL="360000" algn="just" eaLnBrk="1" hangingPunct="1">
              <a:lnSpc>
                <a:spcPct val="150000"/>
              </a:lnSpc>
              <a:spcAft>
                <a:spcPts val="1200"/>
              </a:spcAft>
              <a:defRPr/>
            </a:pPr>
            <a:r>
              <a:rPr lang="en-US" altLang="zh-CN" dirty="0" smtClean="0">
                <a:solidFill>
                  <a:schemeClr val="tx1"/>
                </a:solidFill>
              </a:rPr>
              <a:t>Calculate the </a:t>
            </a:r>
            <a:r>
              <a:rPr lang="en-US" altLang="zh-CN" dirty="0">
                <a:solidFill>
                  <a:schemeClr val="tx1"/>
                </a:solidFill>
              </a:rPr>
              <a:t>GPS navigational </a:t>
            </a:r>
            <a:r>
              <a:rPr lang="en-US" altLang="zh-CN" dirty="0" smtClean="0">
                <a:solidFill>
                  <a:schemeClr val="tx1"/>
                </a:solidFill>
              </a:rPr>
              <a:t>star’s signal and </a:t>
            </a:r>
            <a:r>
              <a:rPr lang="en-US" altLang="zh-CN" dirty="0">
                <a:solidFill>
                  <a:schemeClr val="tx1"/>
                </a:solidFill>
              </a:rPr>
              <a:t>output </a:t>
            </a:r>
            <a:r>
              <a:rPr lang="en-US" altLang="zh-CN" dirty="0" smtClean="0">
                <a:solidFill>
                  <a:schemeClr val="tx1"/>
                </a:solidFill>
              </a:rPr>
              <a:t>:</a:t>
            </a:r>
          </a:p>
          <a:p>
            <a:pPr marL="1102950" lvl="1" algn="just" eaLnBrk="1" hangingPunct="1">
              <a:lnSpc>
                <a:spcPct val="150000"/>
              </a:lnSpc>
              <a:spcAft>
                <a:spcPts val="1200"/>
              </a:spcAft>
              <a:buFont typeface="Wingdings" pitchFamily="2" charset="2"/>
              <a:buChar char="n"/>
              <a:defRPr/>
            </a:pPr>
            <a:r>
              <a:rPr lang="en-US" altLang="zh-CN" dirty="0" smtClean="0">
                <a:solidFill>
                  <a:schemeClr val="tx1"/>
                </a:solidFill>
              </a:rPr>
              <a:t>Position data </a:t>
            </a:r>
          </a:p>
          <a:p>
            <a:pPr marL="1102950" lvl="1" algn="just" eaLnBrk="1" hangingPunct="1">
              <a:lnSpc>
                <a:spcPct val="150000"/>
              </a:lnSpc>
              <a:spcAft>
                <a:spcPts val="1200"/>
              </a:spcAft>
              <a:buFont typeface="Wingdings" pitchFamily="2" charset="2"/>
              <a:buChar char="n"/>
              <a:defRPr/>
            </a:pPr>
            <a:r>
              <a:rPr lang="en-US" altLang="zh-CN" dirty="0" smtClean="0">
                <a:solidFill>
                  <a:schemeClr val="tx1"/>
                </a:solidFill>
              </a:rPr>
              <a:t>Orbit	</a:t>
            </a:r>
          </a:p>
          <a:p>
            <a:pPr marL="1102950" lvl="1" algn="just" eaLnBrk="1" hangingPunct="1">
              <a:lnSpc>
                <a:spcPct val="150000"/>
              </a:lnSpc>
              <a:spcAft>
                <a:spcPts val="1200"/>
              </a:spcAft>
              <a:buFont typeface="Wingdings" pitchFamily="2" charset="2"/>
              <a:buChar char="n"/>
              <a:defRPr/>
            </a:pPr>
            <a:r>
              <a:rPr lang="en-US" altLang="zh-CN" dirty="0" smtClean="0">
                <a:solidFill>
                  <a:schemeClr val="tx1"/>
                </a:solidFill>
              </a:rPr>
              <a:t>Time</a:t>
            </a:r>
          </a:p>
          <a:p>
            <a:pPr marL="1102950" lvl="1" algn="just" eaLnBrk="1" hangingPunct="1">
              <a:lnSpc>
                <a:spcPct val="150000"/>
              </a:lnSpc>
              <a:spcAft>
                <a:spcPts val="1200"/>
              </a:spcAft>
              <a:buFont typeface="Wingdings" pitchFamily="2" charset="2"/>
              <a:buChar char="n"/>
              <a:defRPr/>
            </a:pPr>
            <a:r>
              <a:rPr lang="en-US" altLang="zh-CN" dirty="0" smtClean="0">
                <a:solidFill>
                  <a:schemeClr val="tx1"/>
                </a:solidFill>
              </a:rPr>
              <a:t>original </a:t>
            </a:r>
            <a:r>
              <a:rPr lang="en-US" altLang="zh-CN" dirty="0">
                <a:solidFill>
                  <a:schemeClr val="tx1"/>
                </a:solidFill>
              </a:rPr>
              <a:t>measurement data </a:t>
            </a:r>
            <a:endParaRPr lang="en-US" altLang="zh-CN" dirty="0" smtClean="0">
              <a:solidFill>
                <a:schemeClr val="tx1"/>
              </a:solidFill>
            </a:endParaRPr>
          </a:p>
          <a:p>
            <a:pPr marL="1102950" lvl="1" algn="just" eaLnBrk="1" hangingPunct="1">
              <a:lnSpc>
                <a:spcPct val="150000"/>
              </a:lnSpc>
              <a:spcAft>
                <a:spcPts val="1200"/>
              </a:spcAft>
              <a:buFont typeface="Wingdings" pitchFamily="2" charset="2"/>
              <a:buChar char="n"/>
              <a:defRPr/>
            </a:pPr>
            <a:r>
              <a:rPr lang="en-US" altLang="zh-CN" dirty="0" smtClean="0">
                <a:solidFill>
                  <a:schemeClr val="tx1"/>
                </a:solidFill>
              </a:rPr>
              <a:t>integration time</a:t>
            </a:r>
            <a:endParaRPr lang="en-US" altLang="zh-CN" dirty="0">
              <a:solidFill>
                <a:schemeClr val="tx1"/>
              </a:solidFill>
            </a:endParaRPr>
          </a:p>
        </p:txBody>
      </p:sp>
      <p:sp>
        <p:nvSpPr>
          <p:cNvPr id="8"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42</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9"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pic>
        <p:nvPicPr>
          <p:cNvPr id="10" name="Picture 35"/>
          <p:cNvPicPr>
            <a:picLocks noChangeAspect="1" noChangeArrowheads="1"/>
          </p:cNvPicPr>
          <p:nvPr/>
        </p:nvPicPr>
        <p:blipFill>
          <a:blip r:embed="rId3"/>
          <a:srcRect/>
          <a:stretch>
            <a:fillRect/>
          </a:stretch>
        </p:blipFill>
        <p:spPr bwMode="gray">
          <a:xfrm>
            <a:off x="5000628" y="3357562"/>
            <a:ext cx="3468688" cy="2143125"/>
          </a:xfrm>
          <a:prstGeom prst="rect">
            <a:avLst/>
          </a:prstGeom>
          <a:noFill/>
          <a:ln w="9525" algn="ctr">
            <a:noFill/>
            <a:miter lim="800000"/>
            <a:headEnd/>
            <a:tailEnd/>
          </a:ln>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2"/>
          <p:cNvSpPr txBox="1">
            <a:spLocks/>
          </p:cNvSpPr>
          <p:nvPr/>
        </p:nvSpPr>
        <p:spPr bwMode="auto">
          <a:xfrm>
            <a:off x="50800" y="233363"/>
            <a:ext cx="8229600" cy="1143000"/>
          </a:xfrm>
          <a:prstGeom prst="rect">
            <a:avLst/>
          </a:prstGeom>
          <a:noFill/>
          <a:ln w="9525">
            <a:noFill/>
            <a:miter lim="800000"/>
            <a:headEnd/>
            <a:tailEnd/>
          </a:ln>
        </p:spPr>
        <p:txBody>
          <a:bodyPr/>
          <a:lstStyle/>
          <a:p>
            <a:pPr eaLnBrk="0" hangingPunct="0"/>
            <a:endParaRPr lang="zh-CN" altLang="en-US" sz="4400">
              <a:solidFill>
                <a:schemeClr val="tx2"/>
              </a:solidFill>
            </a:endParaRPr>
          </a:p>
        </p:txBody>
      </p:sp>
      <p:graphicFrame>
        <p:nvGraphicFramePr>
          <p:cNvPr id="6" name="表格 5"/>
          <p:cNvGraphicFramePr>
            <a:graphicFrameLocks noGrp="1"/>
          </p:cNvGraphicFramePr>
          <p:nvPr/>
        </p:nvGraphicFramePr>
        <p:xfrm>
          <a:off x="704850" y="2205038"/>
          <a:ext cx="7773988" cy="3640584"/>
        </p:xfrm>
        <a:graphic>
          <a:graphicData uri="http://schemas.openxmlformats.org/drawingml/2006/table">
            <a:tbl>
              <a:tblPr/>
              <a:tblGrid>
                <a:gridCol w="665163"/>
                <a:gridCol w="2543175"/>
                <a:gridCol w="4565650"/>
              </a:tblGrid>
              <a:tr h="292100">
                <a:tc>
                  <a:txBody>
                    <a:bodyPr/>
                    <a:lstStyle/>
                    <a:p>
                      <a:pPr marL="0" marR="0" lvl="0" indent="0" algn="ctr" defTabSz="914400" rtl="0" eaLnBrk="1" fontAlgn="base" latinLnBrk="0" hangingPunct="1">
                        <a:lnSpc>
                          <a:spcPct val="120000"/>
                        </a:lnSpc>
                        <a:spcBef>
                          <a:spcPct val="0"/>
                        </a:spcBef>
                        <a:spcAft>
                          <a:spcPct val="0"/>
                        </a:spcAft>
                        <a:buClrTx/>
                        <a:buSzTx/>
                        <a:buFontTx/>
                        <a:buNone/>
                        <a:tabLst/>
                      </a:pPr>
                      <a:r>
                        <a:rPr kumimoji="0" lang="en-US" altLang="zh-CN" sz="1600" b="1" i="0" u="none" strike="noStrike" cap="none" normalizeH="0" baseline="0" dirty="0" smtClean="0">
                          <a:ln>
                            <a:noFill/>
                          </a:ln>
                          <a:solidFill>
                            <a:schemeClr val="bg1"/>
                          </a:solidFill>
                          <a:effectLst/>
                          <a:latin typeface="Times New Roman" pitchFamily="18" charset="0"/>
                          <a:ea typeface="宋体" pitchFamily="2" charset="-122"/>
                          <a:cs typeface="Times New Roman" pitchFamily="18" charset="0"/>
                        </a:rPr>
                        <a:t>No.</a:t>
                      </a:r>
                      <a:endParaRPr kumimoji="0" lang="zh-CN" altLang="zh-CN" sz="1600" b="0" i="0" u="none" strike="noStrike" cap="none" normalizeH="0" baseline="0" dirty="0" smtClean="0">
                        <a:ln>
                          <a:noFill/>
                        </a:ln>
                        <a:solidFill>
                          <a:schemeClr val="bg1"/>
                        </a:solidFill>
                        <a:effectLst/>
                        <a:latin typeface="Calibri" pitchFamily="34" charset="0"/>
                        <a:ea typeface="宋体" pitchFamily="2" charset="-122"/>
                        <a:cs typeface="Times New Roman" pitchFamily="18" charset="0"/>
                      </a:endParaRP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6A6A6"/>
                    </a:solidFill>
                  </a:tcPr>
                </a:tc>
                <a:tc>
                  <a:txBody>
                    <a:bodyPr/>
                    <a:lstStyle/>
                    <a:p>
                      <a:pPr marL="0" marR="0" lvl="0" indent="0" algn="ctr" defTabSz="914400" rtl="0" eaLnBrk="1" fontAlgn="base" latinLnBrk="0" hangingPunct="1">
                        <a:lnSpc>
                          <a:spcPct val="120000"/>
                        </a:lnSpc>
                        <a:spcBef>
                          <a:spcPts val="775"/>
                        </a:spcBef>
                        <a:spcAft>
                          <a:spcPts val="775"/>
                        </a:spcAft>
                        <a:buClrTx/>
                        <a:buSzTx/>
                        <a:buFontTx/>
                        <a:buNone/>
                        <a:tabLst>
                          <a:tab pos="571500" algn="l"/>
                        </a:tabLst>
                      </a:pPr>
                      <a:r>
                        <a:rPr kumimoji="0" lang="en-US" altLang="zh-CN" sz="1600" b="1" i="0" u="none" strike="noStrike" cap="none" normalizeH="0" baseline="0" smtClean="0">
                          <a:ln>
                            <a:noFill/>
                          </a:ln>
                          <a:solidFill>
                            <a:srgbClr val="FFFFFF"/>
                          </a:solidFill>
                          <a:effectLst/>
                          <a:latin typeface="Times New Roman" pitchFamily="18" charset="0"/>
                          <a:ea typeface="宋体" pitchFamily="2" charset="-122"/>
                          <a:cs typeface="Times New Roman" pitchFamily="18" charset="0"/>
                        </a:rPr>
                        <a:t>Item</a:t>
                      </a:r>
                      <a:endParaRPr kumimoji="0" lang="zh-CN" altLang="zh-CN" sz="1600" b="0" i="0" u="none" strike="noStrike" cap="none" normalizeH="0" baseline="0" smtClean="0">
                        <a:ln>
                          <a:noFill/>
                        </a:ln>
                        <a:solidFill>
                          <a:schemeClr val="tx1"/>
                        </a:solidFill>
                        <a:effectLst/>
                        <a:latin typeface="Times New Roman" pitchFamily="18" charset="0"/>
                        <a:ea typeface="宋体" pitchFamily="2" charset="-122"/>
                      </a:endParaRPr>
                    </a:p>
                  </a:txBody>
                  <a:tcPr marL="68567" marR="6856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6A6A6"/>
                    </a:solidFill>
                  </a:tcPr>
                </a:tc>
                <a:tc>
                  <a:txBody>
                    <a:bodyPr/>
                    <a:lstStyle/>
                    <a:p>
                      <a:pPr marL="0" marR="0" lvl="0" indent="0" algn="ctr" defTabSz="914400" rtl="0" eaLnBrk="1" fontAlgn="base" latinLnBrk="0" hangingPunct="1">
                        <a:lnSpc>
                          <a:spcPct val="120000"/>
                        </a:lnSpc>
                        <a:spcBef>
                          <a:spcPts val="775"/>
                        </a:spcBef>
                        <a:spcAft>
                          <a:spcPts val="775"/>
                        </a:spcAft>
                        <a:buClrTx/>
                        <a:buSzTx/>
                        <a:buFontTx/>
                        <a:buNone/>
                        <a:tabLst>
                          <a:tab pos="571500" algn="l"/>
                        </a:tabLst>
                      </a:pPr>
                      <a:r>
                        <a:rPr kumimoji="0" lang="en-US" altLang="zh-CN" sz="1600" b="1" i="0" u="none" strike="noStrike" cap="none" normalizeH="0" baseline="0" smtClean="0">
                          <a:ln>
                            <a:noFill/>
                          </a:ln>
                          <a:solidFill>
                            <a:srgbClr val="FFFFFF"/>
                          </a:solidFill>
                          <a:effectLst/>
                          <a:latin typeface="Times New Roman" pitchFamily="18" charset="0"/>
                          <a:ea typeface="宋体" pitchFamily="2" charset="-122"/>
                          <a:cs typeface="Times New Roman" pitchFamily="18" charset="0"/>
                        </a:rPr>
                        <a:t>Specification</a:t>
                      </a:r>
                      <a:endParaRPr kumimoji="0" lang="zh-CN" altLang="zh-CN" sz="1600" b="0" i="0" u="none" strike="noStrike" cap="none" normalizeH="0" baseline="0" smtClean="0">
                        <a:ln>
                          <a:noFill/>
                        </a:ln>
                        <a:solidFill>
                          <a:schemeClr val="tx1"/>
                        </a:solidFill>
                        <a:effectLst/>
                        <a:latin typeface="Times New Roman" pitchFamily="18" charset="0"/>
                        <a:ea typeface="宋体" pitchFamily="2" charset="-122"/>
                      </a:endParaRPr>
                    </a:p>
                  </a:txBody>
                  <a:tcPr marL="68567" marR="68567"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A6A6A6"/>
                    </a:solidFill>
                  </a:tcPr>
                </a:tc>
              </a:tr>
              <a:tr h="420688">
                <a:tc>
                  <a:txBody>
                    <a:bodyPr/>
                    <a:lstStyle/>
                    <a:p>
                      <a:pPr marL="342900" marR="0" lvl="0" indent="-342900" algn="ctr"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cap="none" normalizeH="0" baseline="0" smtClean="0">
                          <a:ln>
                            <a:noFill/>
                          </a:ln>
                          <a:solidFill>
                            <a:srgbClr val="0070C0"/>
                          </a:solidFill>
                          <a:effectLst/>
                          <a:latin typeface="Times New Roman" pitchFamily="18" charset="0"/>
                          <a:ea typeface="宋体" pitchFamily="2" charset="-122"/>
                        </a:rPr>
                        <a:t>1</a:t>
                      </a: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cap="none" normalizeH="0" baseline="0" smtClean="0">
                          <a:ln>
                            <a:noFill/>
                          </a:ln>
                          <a:solidFill>
                            <a:srgbClr val="0070C0"/>
                          </a:solidFill>
                          <a:effectLst/>
                          <a:latin typeface="Times New Roman" pitchFamily="18" charset="0"/>
                          <a:ea typeface="宋体" pitchFamily="2" charset="-122"/>
                        </a:rPr>
                        <a:t>Working Frequency</a:t>
                      </a:r>
                      <a:endParaRPr kumimoji="0" lang="zh-CN" altLang="zh-CN" sz="1600" b="1" i="0" u="none" strike="noStrike" cap="none" normalizeH="0" baseline="0" smtClean="0">
                        <a:ln>
                          <a:noFill/>
                        </a:ln>
                        <a:solidFill>
                          <a:srgbClr val="0070C0"/>
                        </a:solidFill>
                        <a:effectLst/>
                        <a:latin typeface="Times New Roman" pitchFamily="18" charset="0"/>
                        <a:ea typeface="宋体" pitchFamily="2" charset="-122"/>
                      </a:endParaRP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cap="none" normalizeH="0" baseline="0" dirty="0" smtClean="0">
                          <a:ln>
                            <a:noFill/>
                          </a:ln>
                          <a:solidFill>
                            <a:srgbClr val="0070C0"/>
                          </a:solidFill>
                          <a:effectLst/>
                          <a:latin typeface="Times New Roman" pitchFamily="18" charset="0"/>
                          <a:ea typeface="宋体" pitchFamily="2" charset="-122"/>
                        </a:rPr>
                        <a:t>GPS L1 ( </a:t>
                      </a:r>
                      <a:r>
                        <a:rPr kumimoji="0" lang="en-US" altLang="zh-CN" sz="1600" b="1" i="0" u="none" strike="noStrike" cap="none" normalizeH="0" baseline="0" dirty="0" smtClean="0">
                          <a:ln>
                            <a:noFill/>
                          </a:ln>
                          <a:solidFill>
                            <a:srgbClr val="0070C0"/>
                          </a:solidFill>
                          <a:effectLst/>
                          <a:latin typeface="Times New Roman" pitchFamily="18" charset="0"/>
                          <a:ea typeface="宋体" pitchFamily="2" charset="-122"/>
                        </a:rPr>
                        <a:t>1575.42±1.023MHz </a:t>
                      </a:r>
                      <a:r>
                        <a:rPr kumimoji="0" lang="en-US" altLang="zh-CN" sz="1600" b="1" i="0" u="none" strike="noStrike" cap="none" normalizeH="0" baseline="0" dirty="0" smtClean="0">
                          <a:ln>
                            <a:noFill/>
                          </a:ln>
                          <a:solidFill>
                            <a:srgbClr val="0070C0"/>
                          </a:solidFill>
                          <a:effectLst/>
                          <a:latin typeface="Times New Roman" pitchFamily="18" charset="0"/>
                          <a:ea typeface="宋体" pitchFamily="2" charset="-122"/>
                        </a:rPr>
                        <a:t>)</a:t>
                      </a:r>
                      <a:endParaRPr kumimoji="0" lang="zh-CN" altLang="zh-CN" sz="1600" b="1" i="0" u="none" strike="noStrike" cap="none" normalizeH="0" baseline="0" dirty="0" smtClean="0">
                        <a:ln>
                          <a:noFill/>
                        </a:ln>
                        <a:solidFill>
                          <a:srgbClr val="0070C0"/>
                        </a:solidFill>
                        <a:effectLst/>
                        <a:latin typeface="Times New Roman" pitchFamily="18" charset="0"/>
                        <a:ea typeface="宋体" pitchFamily="2" charset="-122"/>
                      </a:endParaRP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r>
              <a:tr h="292100">
                <a:tc>
                  <a:txBody>
                    <a:bodyPr/>
                    <a:lstStyle/>
                    <a:p>
                      <a:pPr marL="342900" marR="0" lvl="0" indent="-342900" algn="ctr"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cap="none" normalizeH="0" baseline="0" smtClean="0">
                          <a:ln>
                            <a:noFill/>
                          </a:ln>
                          <a:solidFill>
                            <a:srgbClr val="0070C0"/>
                          </a:solidFill>
                          <a:effectLst/>
                          <a:latin typeface="Times New Roman" pitchFamily="18" charset="0"/>
                          <a:ea typeface="宋体" pitchFamily="2" charset="-122"/>
                        </a:rPr>
                        <a:t>2</a:t>
                      </a: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cap="none" normalizeH="0" baseline="0" smtClean="0">
                          <a:ln>
                            <a:noFill/>
                          </a:ln>
                          <a:solidFill>
                            <a:srgbClr val="0070C0"/>
                          </a:solidFill>
                          <a:effectLst/>
                          <a:latin typeface="Times New Roman" pitchFamily="18" charset="0"/>
                          <a:ea typeface="宋体" pitchFamily="2" charset="-122"/>
                        </a:rPr>
                        <a:t>Acquisition Threshold</a:t>
                      </a:r>
                      <a:endParaRPr kumimoji="0" lang="zh-CN" altLang="zh-CN" sz="1600" b="1" i="0" u="none" strike="noStrike" cap="none" normalizeH="0" baseline="0" smtClean="0">
                        <a:ln>
                          <a:noFill/>
                        </a:ln>
                        <a:solidFill>
                          <a:srgbClr val="0070C0"/>
                        </a:solidFill>
                        <a:effectLst/>
                        <a:latin typeface="Times New Roman" pitchFamily="18" charset="0"/>
                        <a:ea typeface="宋体" pitchFamily="2" charset="-122"/>
                      </a:endParaRP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cap="none" normalizeH="0" baseline="0" smtClean="0">
                          <a:ln>
                            <a:noFill/>
                          </a:ln>
                          <a:solidFill>
                            <a:srgbClr val="0070C0"/>
                          </a:solidFill>
                          <a:effectLst/>
                          <a:latin typeface="Times New Roman" pitchFamily="18" charset="0"/>
                          <a:ea typeface="宋体" pitchFamily="2" charset="-122"/>
                        </a:rPr>
                        <a:t>≤ -160 dBW (L1, C/A Code, Pre-amplifier’s input )</a:t>
                      </a:r>
                      <a:endParaRPr kumimoji="0" lang="zh-CN" altLang="zh-CN" sz="1600" b="1" i="0" u="none" strike="noStrike" cap="none" normalizeH="0" baseline="0" smtClean="0">
                        <a:ln>
                          <a:noFill/>
                        </a:ln>
                        <a:solidFill>
                          <a:srgbClr val="0070C0"/>
                        </a:solidFill>
                        <a:effectLst/>
                        <a:latin typeface="Times New Roman" pitchFamily="18" charset="0"/>
                        <a:ea typeface="宋体" pitchFamily="2" charset="-122"/>
                      </a:endParaRP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r>
              <a:tr h="585788">
                <a:tc>
                  <a:txBody>
                    <a:bodyPr/>
                    <a:lstStyle/>
                    <a:p>
                      <a:pPr marL="342900" marR="0" lvl="0" indent="-342900" algn="ctr"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cap="none" normalizeH="0" baseline="0" smtClean="0">
                          <a:ln>
                            <a:noFill/>
                          </a:ln>
                          <a:solidFill>
                            <a:srgbClr val="0070C0"/>
                          </a:solidFill>
                          <a:effectLst/>
                          <a:latin typeface="Times New Roman" pitchFamily="18" charset="0"/>
                          <a:ea typeface="宋体" pitchFamily="2" charset="-122"/>
                        </a:rPr>
                        <a:t>3</a:t>
                      </a:r>
                      <a:endParaRPr kumimoji="0" lang="zh-CN" altLang="en-US" sz="1600" b="1" i="0" u="none" strike="noStrike" cap="none" normalizeH="0" baseline="0" smtClean="0">
                        <a:ln>
                          <a:noFill/>
                        </a:ln>
                        <a:solidFill>
                          <a:srgbClr val="0070C0"/>
                        </a:solidFill>
                        <a:effectLst/>
                        <a:latin typeface="Times New Roman" pitchFamily="18" charset="0"/>
                        <a:ea typeface="宋体" pitchFamily="2" charset="-122"/>
                      </a:endParaRP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cap="none" normalizeH="0" baseline="0" smtClean="0">
                          <a:ln>
                            <a:noFill/>
                          </a:ln>
                          <a:solidFill>
                            <a:srgbClr val="0070C0"/>
                          </a:solidFill>
                          <a:effectLst/>
                          <a:latin typeface="Times New Roman" pitchFamily="18" charset="0"/>
                          <a:ea typeface="宋体" pitchFamily="2" charset="-122"/>
                        </a:rPr>
                        <a:t>Real-Time Data Accuracy</a:t>
                      </a:r>
                      <a:endParaRPr kumimoji="0" lang="zh-CN" altLang="zh-CN" sz="1600" b="1" i="0" u="none" strike="noStrike" cap="none" normalizeH="0" baseline="0" smtClean="0">
                        <a:ln>
                          <a:noFill/>
                        </a:ln>
                        <a:solidFill>
                          <a:srgbClr val="0070C0"/>
                        </a:solidFill>
                        <a:effectLst/>
                        <a:latin typeface="Times New Roman" pitchFamily="18" charset="0"/>
                        <a:ea typeface="宋体" pitchFamily="2" charset="-122"/>
                      </a:endParaRP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cap="none" normalizeH="0" baseline="0" smtClean="0">
                          <a:ln>
                            <a:noFill/>
                          </a:ln>
                          <a:solidFill>
                            <a:srgbClr val="0070C0"/>
                          </a:solidFill>
                          <a:effectLst/>
                          <a:latin typeface="Times New Roman" pitchFamily="18" charset="0"/>
                          <a:ea typeface="宋体" pitchFamily="2" charset="-122"/>
                        </a:rPr>
                        <a:t>Position: ≤10m, Velocity: ≤0.2m/s</a:t>
                      </a:r>
                      <a:endParaRPr kumimoji="0" lang="zh-CN" altLang="zh-CN" sz="1600" b="1" i="0" u="none" strike="noStrike" cap="none" normalizeH="0" baseline="0" smtClean="0">
                        <a:ln>
                          <a:noFill/>
                        </a:ln>
                        <a:solidFill>
                          <a:srgbClr val="0070C0"/>
                        </a:solidFill>
                        <a:effectLst/>
                        <a:latin typeface="Times New Roman" pitchFamily="18" charset="0"/>
                        <a:ea typeface="宋体" pitchFamily="2" charset="-122"/>
                      </a:endParaRPr>
                    </a:p>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zh-CN" sz="1600" b="1" i="0" u="none" strike="noStrike" cap="none" normalizeH="0" baseline="0" smtClean="0">
                          <a:ln>
                            <a:noFill/>
                          </a:ln>
                          <a:solidFill>
                            <a:srgbClr val="0070C0"/>
                          </a:solidFill>
                          <a:effectLst/>
                          <a:latin typeface="Times New Roman" pitchFamily="18" charset="0"/>
                          <a:ea typeface="宋体" pitchFamily="2" charset="-122"/>
                        </a:rPr>
                        <a:t>（</a:t>
                      </a:r>
                      <a:r>
                        <a:rPr kumimoji="0" lang="en-US" altLang="zh-CN" sz="1600" b="1" i="0" u="none" strike="noStrike" cap="none" normalizeH="0" baseline="0" smtClean="0">
                          <a:ln>
                            <a:noFill/>
                          </a:ln>
                          <a:solidFill>
                            <a:srgbClr val="0070C0"/>
                          </a:solidFill>
                          <a:effectLst/>
                          <a:latin typeface="Times New Roman" pitchFamily="18" charset="0"/>
                          <a:ea typeface="宋体" pitchFamily="2" charset="-122"/>
                        </a:rPr>
                        <a:t>RMS, three axes composing, 1σ</a:t>
                      </a:r>
                      <a:r>
                        <a:rPr kumimoji="0" lang="zh-CN" sz="1600" b="1" i="0" u="none" strike="noStrike" cap="none" normalizeH="0" baseline="0" smtClean="0">
                          <a:ln>
                            <a:noFill/>
                          </a:ln>
                          <a:solidFill>
                            <a:srgbClr val="0070C0"/>
                          </a:solidFill>
                          <a:effectLst/>
                          <a:latin typeface="Times New Roman" pitchFamily="18" charset="0"/>
                          <a:ea typeface="宋体" pitchFamily="2" charset="-122"/>
                        </a:rPr>
                        <a:t>）</a:t>
                      </a: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r>
              <a:tr h="585788">
                <a:tc>
                  <a:txBody>
                    <a:bodyPr/>
                    <a:lstStyle/>
                    <a:p>
                      <a:pPr marL="342900" marR="0" lvl="0" indent="-342900" algn="ctr"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cap="none" normalizeH="0" baseline="0" smtClean="0">
                          <a:ln>
                            <a:noFill/>
                          </a:ln>
                          <a:solidFill>
                            <a:srgbClr val="0070C0"/>
                          </a:solidFill>
                          <a:effectLst/>
                          <a:latin typeface="Times New Roman" pitchFamily="18" charset="0"/>
                          <a:ea typeface="宋体" pitchFamily="2" charset="-122"/>
                        </a:rPr>
                        <a:t>4</a:t>
                      </a: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cap="none" normalizeH="0" baseline="0" smtClean="0">
                          <a:ln>
                            <a:noFill/>
                          </a:ln>
                          <a:solidFill>
                            <a:srgbClr val="0070C0"/>
                          </a:solidFill>
                          <a:effectLst/>
                          <a:latin typeface="Times New Roman" pitchFamily="18" charset="0"/>
                          <a:ea typeface="宋体" pitchFamily="2" charset="-122"/>
                        </a:rPr>
                        <a:t>Filtering Data Accuracy</a:t>
                      </a:r>
                      <a:endParaRPr kumimoji="0" lang="zh-CN" altLang="zh-CN" sz="1600" b="1" i="0" u="none" strike="noStrike" cap="none" normalizeH="0" baseline="0" smtClean="0">
                        <a:ln>
                          <a:noFill/>
                        </a:ln>
                        <a:solidFill>
                          <a:srgbClr val="0070C0"/>
                        </a:solidFill>
                        <a:effectLst/>
                        <a:latin typeface="Times New Roman" pitchFamily="18" charset="0"/>
                        <a:ea typeface="宋体" pitchFamily="2" charset="-122"/>
                      </a:endParaRP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cap="none" normalizeH="0" baseline="0" dirty="0" smtClean="0">
                          <a:ln>
                            <a:noFill/>
                          </a:ln>
                          <a:solidFill>
                            <a:srgbClr val="0070C0"/>
                          </a:solidFill>
                          <a:effectLst/>
                          <a:latin typeface="Times New Roman" pitchFamily="18" charset="0"/>
                          <a:ea typeface="宋体" pitchFamily="2" charset="-122"/>
                        </a:rPr>
                        <a:t>Position: ≤7m, Velocity: ≤0.05m/s</a:t>
                      </a:r>
                      <a:endParaRPr kumimoji="0" lang="zh-CN" altLang="zh-CN" sz="1600" b="1" i="0" u="none" strike="noStrike" cap="none" normalizeH="0" baseline="0" dirty="0" smtClean="0">
                        <a:ln>
                          <a:noFill/>
                        </a:ln>
                        <a:solidFill>
                          <a:srgbClr val="0070C0"/>
                        </a:solidFill>
                        <a:effectLst/>
                        <a:latin typeface="Times New Roman" pitchFamily="18" charset="0"/>
                        <a:ea typeface="宋体" pitchFamily="2" charset="-122"/>
                      </a:endParaRPr>
                    </a:p>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zh-CN" sz="1600" b="1" i="0" u="none" strike="noStrike" cap="none" normalizeH="0" baseline="0" dirty="0" smtClean="0">
                          <a:ln>
                            <a:noFill/>
                          </a:ln>
                          <a:solidFill>
                            <a:srgbClr val="0070C0"/>
                          </a:solidFill>
                          <a:effectLst/>
                          <a:latin typeface="Times New Roman" pitchFamily="18" charset="0"/>
                          <a:ea typeface="宋体" pitchFamily="2" charset="-122"/>
                        </a:rPr>
                        <a:t>（</a:t>
                      </a:r>
                      <a:r>
                        <a:rPr kumimoji="0" lang="en-US" altLang="zh-CN" sz="1600" b="1" i="0" u="none" strike="noStrike" cap="none" normalizeH="0" baseline="0" dirty="0" smtClean="0">
                          <a:ln>
                            <a:noFill/>
                          </a:ln>
                          <a:solidFill>
                            <a:srgbClr val="0070C0"/>
                          </a:solidFill>
                          <a:effectLst/>
                          <a:latin typeface="Times New Roman" pitchFamily="18" charset="0"/>
                          <a:ea typeface="宋体" pitchFamily="2" charset="-122"/>
                        </a:rPr>
                        <a:t>RMS, three axes composing, 1σ</a:t>
                      </a:r>
                      <a:r>
                        <a:rPr kumimoji="0" lang="zh-CN" sz="1600" b="1" i="0" u="none" strike="noStrike" cap="none" normalizeH="0" baseline="0" dirty="0" smtClean="0">
                          <a:ln>
                            <a:noFill/>
                          </a:ln>
                          <a:solidFill>
                            <a:srgbClr val="0070C0"/>
                          </a:solidFill>
                          <a:effectLst/>
                          <a:latin typeface="Times New Roman" pitchFamily="18" charset="0"/>
                          <a:ea typeface="宋体" pitchFamily="2" charset="-122"/>
                        </a:rPr>
                        <a:t>）</a:t>
                      </a: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r>
              <a:tr h="877888">
                <a:tc>
                  <a:txBody>
                    <a:bodyPr/>
                    <a:lstStyle/>
                    <a:p>
                      <a:pPr marL="342900" marR="0" lvl="0" indent="-342900" algn="ctr"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cap="none" normalizeH="0" baseline="0" smtClean="0">
                          <a:ln>
                            <a:noFill/>
                          </a:ln>
                          <a:solidFill>
                            <a:srgbClr val="0070C0"/>
                          </a:solidFill>
                          <a:effectLst/>
                          <a:latin typeface="Times New Roman" pitchFamily="18" charset="0"/>
                          <a:ea typeface="宋体" pitchFamily="2" charset="-122"/>
                        </a:rPr>
                        <a:t>5</a:t>
                      </a: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zh-CN" altLang="zh-CN" sz="1600" b="1" i="0" u="none" strike="noStrike" cap="none" normalizeH="0" baseline="0" smtClean="0">
                          <a:ln>
                            <a:noFill/>
                          </a:ln>
                          <a:solidFill>
                            <a:srgbClr val="0070C0"/>
                          </a:solidFill>
                          <a:effectLst/>
                          <a:latin typeface="Times New Roman" pitchFamily="18" charset="0"/>
                          <a:ea typeface="宋体" pitchFamily="2" charset="-122"/>
                        </a:rPr>
                        <a:t>Extrapolating Data Accuracy</a:t>
                      </a: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cap="none" normalizeH="0" baseline="0" smtClean="0">
                          <a:ln>
                            <a:noFill/>
                          </a:ln>
                          <a:solidFill>
                            <a:srgbClr val="0070C0"/>
                          </a:solidFill>
                          <a:effectLst/>
                          <a:latin typeface="Times New Roman" pitchFamily="18" charset="0"/>
                          <a:ea typeface="宋体" pitchFamily="2" charset="-122"/>
                        </a:rPr>
                        <a:t>Position: ≤7m (in 20s), ≤ 10m (in 20min)</a:t>
                      </a:r>
                      <a:endParaRPr kumimoji="0" lang="zh-CN" altLang="zh-CN" sz="1600" b="1" i="0" u="none" strike="noStrike" cap="none" normalizeH="0" baseline="0" smtClean="0">
                        <a:ln>
                          <a:noFill/>
                        </a:ln>
                        <a:solidFill>
                          <a:srgbClr val="0070C0"/>
                        </a:solidFill>
                        <a:effectLst/>
                        <a:latin typeface="Times New Roman" pitchFamily="18" charset="0"/>
                        <a:ea typeface="宋体" pitchFamily="2" charset="-122"/>
                      </a:endParaRPr>
                    </a:p>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cap="none" normalizeH="0" baseline="0" smtClean="0">
                          <a:ln>
                            <a:noFill/>
                          </a:ln>
                          <a:solidFill>
                            <a:srgbClr val="0070C0"/>
                          </a:solidFill>
                          <a:effectLst/>
                          <a:latin typeface="Times New Roman" pitchFamily="18" charset="0"/>
                          <a:ea typeface="宋体" pitchFamily="2" charset="-122"/>
                        </a:rPr>
                        <a:t>Velocity: ≤0.05m/s (in 20s), ≤ 0.2m/s (in 20min)</a:t>
                      </a:r>
                      <a:endParaRPr kumimoji="0" lang="zh-CN" altLang="zh-CN" sz="1600" b="1" i="0" u="none" strike="noStrike" cap="none" normalizeH="0" baseline="0" smtClean="0">
                        <a:ln>
                          <a:noFill/>
                        </a:ln>
                        <a:solidFill>
                          <a:srgbClr val="0070C0"/>
                        </a:solidFill>
                        <a:effectLst/>
                        <a:latin typeface="Times New Roman" pitchFamily="18" charset="0"/>
                        <a:ea typeface="宋体" pitchFamily="2" charset="-122"/>
                      </a:endParaRPr>
                    </a:p>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zh-CN" sz="1600" b="1" i="0" u="none" strike="noStrike" cap="none" normalizeH="0" baseline="0" smtClean="0">
                          <a:ln>
                            <a:noFill/>
                          </a:ln>
                          <a:solidFill>
                            <a:srgbClr val="0070C0"/>
                          </a:solidFill>
                          <a:effectLst/>
                          <a:latin typeface="Times New Roman" pitchFamily="18" charset="0"/>
                          <a:ea typeface="宋体" pitchFamily="2" charset="-122"/>
                        </a:rPr>
                        <a:t>（</a:t>
                      </a:r>
                      <a:r>
                        <a:rPr kumimoji="0" lang="en-US" altLang="zh-CN" sz="1600" b="1" i="0" u="none" strike="noStrike" cap="none" normalizeH="0" baseline="0" smtClean="0">
                          <a:ln>
                            <a:noFill/>
                          </a:ln>
                          <a:solidFill>
                            <a:srgbClr val="0070C0"/>
                          </a:solidFill>
                          <a:effectLst/>
                          <a:latin typeface="Times New Roman" pitchFamily="18" charset="0"/>
                          <a:ea typeface="宋体" pitchFamily="2" charset="-122"/>
                        </a:rPr>
                        <a:t>RMS, three axes composing, 1σ</a:t>
                      </a:r>
                      <a:r>
                        <a:rPr kumimoji="0" lang="zh-CN" sz="1600" b="1" i="0" u="none" strike="noStrike" cap="none" normalizeH="0" baseline="0" smtClean="0">
                          <a:ln>
                            <a:noFill/>
                          </a:ln>
                          <a:solidFill>
                            <a:srgbClr val="0070C0"/>
                          </a:solidFill>
                          <a:effectLst/>
                          <a:latin typeface="Times New Roman" pitchFamily="18" charset="0"/>
                          <a:ea typeface="宋体" pitchFamily="2" charset="-122"/>
                        </a:rPr>
                        <a:t>）</a:t>
                      </a: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r>
              <a:tr h="292100">
                <a:tc>
                  <a:txBody>
                    <a:bodyPr/>
                    <a:lstStyle/>
                    <a:p>
                      <a:pPr marL="342900" marR="0" lvl="0" indent="-342900" algn="ctr"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cap="none" normalizeH="0" baseline="0" smtClean="0">
                          <a:ln>
                            <a:noFill/>
                          </a:ln>
                          <a:solidFill>
                            <a:srgbClr val="0070C0"/>
                          </a:solidFill>
                          <a:effectLst/>
                          <a:latin typeface="Times New Roman" pitchFamily="18" charset="0"/>
                          <a:ea typeface="宋体" pitchFamily="2" charset="-122"/>
                        </a:rPr>
                        <a:t>6</a:t>
                      </a: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cap="none" normalizeH="0" baseline="0" smtClean="0">
                          <a:ln>
                            <a:noFill/>
                          </a:ln>
                          <a:solidFill>
                            <a:srgbClr val="0070C0"/>
                          </a:solidFill>
                          <a:effectLst/>
                          <a:latin typeface="Times New Roman" pitchFamily="18" charset="0"/>
                          <a:ea typeface="宋体" pitchFamily="2" charset="-122"/>
                        </a:rPr>
                        <a:t>Positioning Time</a:t>
                      </a:r>
                      <a:endParaRPr kumimoji="0" lang="zh-CN" altLang="zh-CN" sz="1600" b="1" i="0" u="none" strike="noStrike" cap="none" normalizeH="0" baseline="0" smtClean="0">
                        <a:ln>
                          <a:noFill/>
                        </a:ln>
                        <a:solidFill>
                          <a:srgbClr val="0070C0"/>
                        </a:solidFill>
                        <a:effectLst/>
                        <a:latin typeface="Times New Roman" pitchFamily="18" charset="0"/>
                        <a:ea typeface="宋体" pitchFamily="2" charset="-122"/>
                      </a:endParaRP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cap="none" normalizeH="0" baseline="0" dirty="0" smtClean="0">
                          <a:ln>
                            <a:noFill/>
                          </a:ln>
                          <a:solidFill>
                            <a:srgbClr val="0070C0"/>
                          </a:solidFill>
                          <a:effectLst/>
                          <a:latin typeface="Times New Roman" pitchFamily="18" charset="0"/>
                          <a:ea typeface="宋体" pitchFamily="2" charset="-122"/>
                        </a:rPr>
                        <a:t>≤1min</a:t>
                      </a:r>
                      <a:endParaRPr kumimoji="0" lang="zh-CN" altLang="zh-CN" sz="1600" b="1" i="0" u="none" strike="noStrike" cap="none" normalizeH="0" baseline="0" dirty="0" smtClean="0">
                        <a:ln>
                          <a:noFill/>
                        </a:ln>
                        <a:solidFill>
                          <a:srgbClr val="0070C0"/>
                        </a:solidFill>
                        <a:effectLst/>
                        <a:latin typeface="Times New Roman" pitchFamily="18" charset="0"/>
                        <a:ea typeface="宋体" pitchFamily="2" charset="-122"/>
                      </a:endParaRP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r>
              <a:tr h="292100">
                <a:tc>
                  <a:txBody>
                    <a:bodyPr/>
                    <a:lstStyle/>
                    <a:p>
                      <a:pPr marL="342900" marR="0" lvl="0" indent="-342900" algn="ctr"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cap="none" normalizeH="0" baseline="0" smtClean="0">
                          <a:ln>
                            <a:noFill/>
                          </a:ln>
                          <a:solidFill>
                            <a:srgbClr val="0070C0"/>
                          </a:solidFill>
                          <a:effectLst/>
                          <a:latin typeface="Times New Roman" pitchFamily="18" charset="0"/>
                          <a:ea typeface="宋体" pitchFamily="2" charset="-122"/>
                        </a:rPr>
                        <a:t>7</a:t>
                      </a: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cap="none" normalizeH="0" baseline="0" dirty="0" smtClean="0">
                          <a:ln>
                            <a:noFill/>
                          </a:ln>
                          <a:solidFill>
                            <a:srgbClr val="0070C0"/>
                          </a:solidFill>
                          <a:effectLst/>
                          <a:latin typeface="Times New Roman" pitchFamily="18" charset="0"/>
                          <a:ea typeface="宋体" pitchFamily="2" charset="-122"/>
                        </a:rPr>
                        <a:t>PPS Signal Accuracy</a:t>
                      </a:r>
                      <a:endParaRPr kumimoji="0" lang="zh-CN" altLang="zh-CN" sz="1600" b="1" i="0" u="none" strike="noStrike" cap="none" normalizeH="0" baseline="0" dirty="0" smtClean="0">
                        <a:ln>
                          <a:noFill/>
                        </a:ln>
                        <a:solidFill>
                          <a:srgbClr val="0070C0"/>
                        </a:solidFill>
                        <a:effectLst/>
                        <a:latin typeface="Times New Roman" pitchFamily="18" charset="0"/>
                        <a:ea typeface="宋体" pitchFamily="2" charset="-122"/>
                      </a:endParaRP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c>
                  <a:txBody>
                    <a:bodyPr/>
                    <a:lstStyle/>
                    <a:p>
                      <a:pPr marL="342900" marR="0" lvl="0" indent="-342900" algn="l" defTabSz="914400" rtl="0" eaLnBrk="1" fontAlgn="base" latinLnBrk="0" hangingPunct="1">
                        <a:lnSpc>
                          <a:spcPct val="120000"/>
                        </a:lnSpc>
                        <a:spcBef>
                          <a:spcPct val="0"/>
                        </a:spcBef>
                        <a:spcAft>
                          <a:spcPct val="0"/>
                        </a:spcAft>
                        <a:buClrTx/>
                        <a:buSzTx/>
                        <a:buFont typeface="+mj-lt"/>
                        <a:buNone/>
                        <a:tabLst/>
                      </a:pPr>
                      <a:r>
                        <a:rPr kumimoji="0" lang="en-US" altLang="zh-CN" sz="1600" b="1" i="0" u="none" strike="noStrike" cap="none" normalizeH="0" baseline="0" dirty="0" smtClean="0">
                          <a:ln>
                            <a:noFill/>
                          </a:ln>
                          <a:solidFill>
                            <a:srgbClr val="0070C0"/>
                          </a:solidFill>
                          <a:effectLst/>
                          <a:latin typeface="Times New Roman" pitchFamily="18" charset="0"/>
                          <a:ea typeface="宋体" pitchFamily="2" charset="-122"/>
                        </a:rPr>
                        <a:t>≤1us</a:t>
                      </a:r>
                      <a:endParaRPr kumimoji="0" lang="zh-CN" altLang="zh-CN" sz="1600" b="1" i="0" u="none" strike="noStrike" cap="none" normalizeH="0" baseline="0" dirty="0" smtClean="0">
                        <a:ln>
                          <a:noFill/>
                        </a:ln>
                        <a:solidFill>
                          <a:srgbClr val="0070C0"/>
                        </a:solidFill>
                        <a:effectLst/>
                        <a:latin typeface="Times New Roman" pitchFamily="18" charset="0"/>
                        <a:ea typeface="宋体" pitchFamily="2" charset="-122"/>
                      </a:endParaRPr>
                    </a:p>
                  </a:txBody>
                  <a:tcPr marL="68567" marR="68567"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tr>
            </a:tbl>
          </a:graphicData>
        </a:graphic>
      </p:graphicFrame>
      <p:sp>
        <p:nvSpPr>
          <p:cNvPr id="7"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43</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8" name="TextBox 5"/>
          <p:cNvSpPr txBox="1">
            <a:spLocks noChangeArrowheads="1"/>
          </p:cNvSpPr>
          <p:nvPr/>
        </p:nvSpPr>
        <p:spPr bwMode="auto">
          <a:xfrm>
            <a:off x="323850" y="1444928"/>
            <a:ext cx="8320116" cy="483874"/>
          </a:xfrm>
          <a:prstGeom prst="rect">
            <a:avLst/>
          </a:prstGeom>
          <a:noFill/>
          <a:ln w="9525">
            <a:noFill/>
            <a:miter lim="800000"/>
            <a:headEnd/>
            <a:tailEnd/>
          </a:ln>
        </p:spPr>
        <p:txBody>
          <a:bodyPr wrap="square" lIns="82954" tIns="41477" rIns="82954" bIns="41477">
            <a:spAutoFit/>
          </a:bodyPr>
          <a:lstStyle/>
          <a:p>
            <a:pPr marL="457200" indent="-457200">
              <a:spcAft>
                <a:spcPts val="1200"/>
              </a:spcAft>
              <a:buFont typeface="Wingdings" pitchFamily="2" charset="2"/>
              <a:buChar char="p"/>
            </a:pPr>
            <a:r>
              <a:rPr lang="en-US" altLang="zh-CN" sz="2600" b="1" dirty="0" smtClean="0">
                <a:solidFill>
                  <a:srgbClr val="0070C0"/>
                </a:solidFill>
              </a:rPr>
              <a:t>Main Performance index of GPS Receiver</a:t>
            </a:r>
            <a:endParaRPr lang="en-US" altLang="zh-CN" sz="2600" b="1" dirty="0">
              <a:solidFill>
                <a:srgbClr val="0070C0"/>
              </a:solidFill>
            </a:endParaRPr>
          </a:p>
        </p:txBody>
      </p:sp>
      <p:sp>
        <p:nvSpPr>
          <p:cNvPr id="10"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9" name="矩形 8"/>
          <p:cNvSpPr/>
          <p:nvPr/>
        </p:nvSpPr>
        <p:spPr>
          <a:xfrm>
            <a:off x="128903" y="261938"/>
            <a:ext cx="8729377" cy="615553"/>
          </a:xfrm>
          <a:prstGeom prst="rect">
            <a:avLst/>
          </a:prstGeom>
        </p:spPr>
        <p:txBody>
          <a:bodyPr wrap="none">
            <a:spAutoFit/>
          </a:bodyPr>
          <a:lstStyle/>
          <a:p>
            <a:pPr>
              <a:defRPr/>
            </a:pPr>
            <a:r>
              <a:rPr lang="en-US" altLang="zh-CN" sz="3400" b="1" kern="1700" dirty="0" smtClean="0">
                <a:solidFill>
                  <a:schemeClr val="bg1"/>
                </a:solidFill>
                <a:latin typeface="微软雅黑" pitchFamily="34" charset="-122"/>
                <a:ea typeface="微软雅黑" pitchFamily="34" charset="-122"/>
                <a:cs typeface="+mj-cs"/>
              </a:rPr>
              <a:t>4  </a:t>
            </a:r>
            <a:r>
              <a:rPr lang="en-US" altLang="zh-CN" sz="3400" b="1" kern="1700" dirty="0">
                <a:solidFill>
                  <a:schemeClr val="bg1"/>
                </a:solidFill>
                <a:latin typeface="微软雅黑" pitchFamily="34" charset="-122"/>
                <a:ea typeface="微软雅黑" pitchFamily="34" charset="-122"/>
                <a:cs typeface="+mj-cs"/>
              </a:rPr>
              <a:t>Positioning and Orbit Determination</a:t>
            </a:r>
            <a:endParaRPr lang="zh-CN" altLang="en-US" sz="3400" b="1" kern="1700" dirty="0">
              <a:solidFill>
                <a:schemeClr val="bg1"/>
              </a:solidFill>
              <a:latin typeface="微软雅黑" pitchFamily="34" charset="-122"/>
              <a:ea typeface="微软雅黑" pitchFamily="34" charset="-122"/>
              <a:cs typeface="+mj-cs"/>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标题 2"/>
          <p:cNvSpPr txBox="1">
            <a:spLocks/>
          </p:cNvSpPr>
          <p:nvPr/>
        </p:nvSpPr>
        <p:spPr bwMode="auto">
          <a:xfrm>
            <a:off x="50800" y="233363"/>
            <a:ext cx="8229600" cy="1143000"/>
          </a:xfrm>
          <a:prstGeom prst="rect">
            <a:avLst/>
          </a:prstGeom>
          <a:noFill/>
          <a:ln w="9525">
            <a:noFill/>
            <a:miter lim="800000"/>
            <a:headEnd/>
            <a:tailEnd/>
          </a:ln>
        </p:spPr>
        <p:txBody>
          <a:bodyPr/>
          <a:lstStyle/>
          <a:p>
            <a:pPr eaLnBrk="0" hangingPunct="0"/>
            <a:endParaRPr lang="zh-CN" altLang="en-US" sz="4400">
              <a:solidFill>
                <a:schemeClr val="tx2"/>
              </a:solidFill>
            </a:endParaRPr>
          </a:p>
        </p:txBody>
      </p:sp>
      <p:sp>
        <p:nvSpPr>
          <p:cNvPr id="14341"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14342"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14343" name="Rectangle 4"/>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14344" name="TextBox 5"/>
          <p:cNvSpPr txBox="1">
            <a:spLocks noChangeArrowheads="1"/>
          </p:cNvSpPr>
          <p:nvPr/>
        </p:nvSpPr>
        <p:spPr bwMode="auto">
          <a:xfrm>
            <a:off x="215900" y="1248121"/>
            <a:ext cx="8640763" cy="1037871"/>
          </a:xfrm>
          <a:prstGeom prst="rect">
            <a:avLst/>
          </a:prstGeom>
          <a:noFill/>
          <a:ln w="9525">
            <a:noFill/>
            <a:miter lim="800000"/>
            <a:headEnd/>
            <a:tailEnd/>
          </a:ln>
        </p:spPr>
        <p:txBody>
          <a:bodyPr lIns="82954" tIns="41477" rIns="82954" bIns="41477">
            <a:spAutoFit/>
          </a:bodyPr>
          <a:lstStyle/>
          <a:p>
            <a:pPr marL="457200" indent="-457200">
              <a:spcAft>
                <a:spcPts val="1200"/>
              </a:spcAft>
              <a:buFont typeface="Wingdings" pitchFamily="2" charset="2"/>
              <a:buChar char="p"/>
              <a:defRPr/>
            </a:pPr>
            <a:r>
              <a:rPr lang="en-US" altLang="zh-CN" sz="2800" b="1" dirty="0" smtClean="0">
                <a:solidFill>
                  <a:srgbClr val="0070C0"/>
                </a:solidFill>
                <a:latin typeface="Arial" charset="0"/>
                <a:ea typeface="宋体" pitchFamily="2" charset="-122"/>
              </a:rPr>
              <a:t>GPS Receiver Function</a:t>
            </a:r>
          </a:p>
          <a:p>
            <a:pPr marL="457200" indent="-457200" algn="l">
              <a:spcAft>
                <a:spcPts val="1200"/>
              </a:spcAft>
            </a:pPr>
            <a:r>
              <a:rPr lang="en-US" altLang="zh-CN" sz="2400" dirty="0" smtClean="0"/>
              <a:t>       Output the telemetry and broadcasting data</a:t>
            </a:r>
            <a:endParaRPr lang="en-US" altLang="zh-CN" sz="2200" dirty="0">
              <a:solidFill>
                <a:schemeClr val="tx1"/>
              </a:solidFill>
            </a:endParaRPr>
          </a:p>
        </p:txBody>
      </p:sp>
      <p:sp>
        <p:nvSpPr>
          <p:cNvPr id="14345"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14346" name="矩形 4"/>
          <p:cNvSpPr>
            <a:spLocks noChangeArrowheads="1"/>
          </p:cNvSpPr>
          <p:nvPr/>
        </p:nvSpPr>
        <p:spPr bwMode="auto">
          <a:xfrm>
            <a:off x="1142977" y="5786454"/>
            <a:ext cx="6858047" cy="369332"/>
          </a:xfrm>
          <a:prstGeom prst="rect">
            <a:avLst/>
          </a:prstGeom>
          <a:noFill/>
          <a:ln w="9525">
            <a:noFill/>
            <a:miter lim="800000"/>
            <a:headEnd/>
            <a:tailEnd/>
          </a:ln>
        </p:spPr>
        <p:txBody>
          <a:bodyPr wrap="square">
            <a:spAutoFit/>
          </a:bodyPr>
          <a:lstStyle/>
          <a:p>
            <a:r>
              <a:rPr lang="zh-CN" altLang="zh-CN" b="0" dirty="0">
                <a:solidFill>
                  <a:schemeClr val="tx1"/>
                </a:solidFill>
              </a:rPr>
              <a:t>Fig</a:t>
            </a:r>
            <a:r>
              <a:rPr lang="en-US" altLang="zh-CN" b="0" dirty="0">
                <a:solidFill>
                  <a:schemeClr val="tx1"/>
                </a:solidFill>
              </a:rPr>
              <a:t>. </a:t>
            </a:r>
            <a:r>
              <a:rPr lang="zh-CN" altLang="zh-CN" b="0" dirty="0">
                <a:solidFill>
                  <a:schemeClr val="tx1"/>
                </a:solidFill>
              </a:rPr>
              <a:t>Transmission Sketch of Outputing Telemetry and Broadcasting </a:t>
            </a:r>
            <a:r>
              <a:rPr lang="zh-CN" altLang="zh-CN" b="0" dirty="0" smtClean="0">
                <a:solidFill>
                  <a:schemeClr val="tx1"/>
                </a:solidFill>
              </a:rPr>
              <a:t>Data</a:t>
            </a:r>
            <a:endParaRPr lang="zh-CN" altLang="en-US" b="0" dirty="0">
              <a:solidFill>
                <a:schemeClr val="tx1"/>
              </a:solidFill>
            </a:endParaRPr>
          </a:p>
        </p:txBody>
      </p:sp>
      <p:sp>
        <p:nvSpPr>
          <p:cNvPr id="14347"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14338" name="对象 6"/>
          <p:cNvGraphicFramePr>
            <a:graphicFrameLocks noChangeAspect="1"/>
          </p:cNvGraphicFramePr>
          <p:nvPr/>
        </p:nvGraphicFramePr>
        <p:xfrm>
          <a:off x="215900" y="2370138"/>
          <a:ext cx="8616950" cy="3203575"/>
        </p:xfrm>
        <a:graphic>
          <a:graphicData uri="http://schemas.openxmlformats.org/presentationml/2006/ole">
            <p:oleObj spid="_x0000_s14339" name="Visio" r:id="rId4" imgW="7358634" imgH="2734627" progId="">
              <p:embed/>
            </p:oleObj>
          </a:graphicData>
        </a:graphic>
      </p:graphicFrame>
      <p:sp>
        <p:nvSpPr>
          <p:cNvPr id="13"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44</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14"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5" name="矩形 14"/>
          <p:cNvSpPr/>
          <p:nvPr/>
        </p:nvSpPr>
        <p:spPr>
          <a:xfrm>
            <a:off x="128903" y="261938"/>
            <a:ext cx="8729377" cy="615553"/>
          </a:xfrm>
          <a:prstGeom prst="rect">
            <a:avLst/>
          </a:prstGeom>
        </p:spPr>
        <p:txBody>
          <a:bodyPr wrap="none">
            <a:spAutoFit/>
          </a:bodyPr>
          <a:lstStyle/>
          <a:p>
            <a:pPr>
              <a:defRPr/>
            </a:pPr>
            <a:r>
              <a:rPr lang="en-US" altLang="zh-CN" sz="3400" b="1" kern="1700" dirty="0" smtClean="0">
                <a:solidFill>
                  <a:schemeClr val="bg1"/>
                </a:solidFill>
                <a:latin typeface="微软雅黑" pitchFamily="34" charset="-122"/>
                <a:ea typeface="微软雅黑" pitchFamily="34" charset="-122"/>
                <a:cs typeface="+mj-cs"/>
              </a:rPr>
              <a:t>4  </a:t>
            </a:r>
            <a:r>
              <a:rPr lang="en-US" altLang="zh-CN" sz="3400" b="1" kern="1700" dirty="0">
                <a:solidFill>
                  <a:schemeClr val="bg1"/>
                </a:solidFill>
                <a:latin typeface="微软雅黑" pitchFamily="34" charset="-122"/>
                <a:ea typeface="微软雅黑" pitchFamily="34" charset="-122"/>
                <a:cs typeface="+mj-cs"/>
              </a:rPr>
              <a:t>Positioning and Orbit Determination</a:t>
            </a:r>
            <a:endParaRPr lang="zh-CN" altLang="en-US" sz="3400" b="1" kern="1700" dirty="0">
              <a:solidFill>
                <a:schemeClr val="bg1"/>
              </a:solidFill>
              <a:latin typeface="微软雅黑" pitchFamily="34" charset="-122"/>
              <a:ea typeface="微软雅黑" pitchFamily="34" charset="-122"/>
              <a:cs typeface="+mj-cs"/>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2"/>
          <p:cNvSpPr txBox="1">
            <a:spLocks/>
          </p:cNvSpPr>
          <p:nvPr/>
        </p:nvSpPr>
        <p:spPr bwMode="auto">
          <a:xfrm>
            <a:off x="50800" y="233363"/>
            <a:ext cx="8229600" cy="1143000"/>
          </a:xfrm>
          <a:prstGeom prst="rect">
            <a:avLst/>
          </a:prstGeom>
          <a:noFill/>
          <a:ln w="9525">
            <a:noFill/>
            <a:miter lim="800000"/>
            <a:headEnd/>
            <a:tailEnd/>
          </a:ln>
        </p:spPr>
        <p:txBody>
          <a:bodyPr/>
          <a:lstStyle/>
          <a:p>
            <a:pPr eaLnBrk="0" hangingPunct="0"/>
            <a:endParaRPr lang="zh-CN" altLang="en-US" sz="4400">
              <a:solidFill>
                <a:schemeClr val="tx2"/>
              </a:solidFill>
            </a:endParaRPr>
          </a:p>
        </p:txBody>
      </p:sp>
      <p:sp>
        <p:nvSpPr>
          <p:cNvPr id="66563"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6564"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6565" name="Rectangle 4"/>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6566"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6567"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9" name="表格 8"/>
          <p:cNvGraphicFramePr>
            <a:graphicFrameLocks noGrp="1"/>
          </p:cNvGraphicFramePr>
          <p:nvPr/>
        </p:nvGraphicFramePr>
        <p:xfrm>
          <a:off x="357158" y="1375483"/>
          <a:ext cx="8429683" cy="4857061"/>
        </p:xfrm>
        <a:graphic>
          <a:graphicData uri="http://schemas.openxmlformats.org/drawingml/2006/table">
            <a:tbl>
              <a:tblPr firstRow="1" firstCol="1" bandRow="1">
                <a:tableStyleId>{5C22544A-7EE6-4342-B048-85BDC9FD1C3A}</a:tableStyleId>
              </a:tblPr>
              <a:tblGrid>
                <a:gridCol w="626531"/>
                <a:gridCol w="3018737"/>
                <a:gridCol w="4784415"/>
              </a:tblGrid>
              <a:tr h="215102">
                <a:tc>
                  <a:txBody>
                    <a:bodyPr/>
                    <a:lstStyle/>
                    <a:p>
                      <a:pPr algn="ctr">
                        <a:lnSpc>
                          <a:spcPct val="115000"/>
                        </a:lnSpc>
                        <a:spcAft>
                          <a:spcPts val="0"/>
                        </a:spcAft>
                      </a:pPr>
                      <a:r>
                        <a:rPr lang="en-US" sz="2000" dirty="0">
                          <a:effectLst/>
                        </a:rPr>
                        <a:t>No.</a:t>
                      </a:r>
                      <a:endParaRPr lang="zh-CN" sz="2000" dirty="0">
                        <a:effectLst/>
                        <a:latin typeface="Times New Roman"/>
                        <a:ea typeface="宋体"/>
                        <a:cs typeface="宋体"/>
                      </a:endParaRPr>
                    </a:p>
                  </a:txBody>
                  <a:tcPr marL="56220" marR="56220" marT="0" marB="0"/>
                </a:tc>
                <a:tc>
                  <a:txBody>
                    <a:bodyPr/>
                    <a:lstStyle/>
                    <a:p>
                      <a:pPr algn="ctr">
                        <a:lnSpc>
                          <a:spcPct val="115000"/>
                        </a:lnSpc>
                        <a:spcAft>
                          <a:spcPts val="0"/>
                        </a:spcAft>
                      </a:pPr>
                      <a:r>
                        <a:rPr lang="en-US" sz="2000">
                          <a:effectLst/>
                        </a:rPr>
                        <a:t>Name</a:t>
                      </a:r>
                      <a:endParaRPr lang="zh-CN" sz="2000">
                        <a:effectLst/>
                        <a:latin typeface="Times New Roman"/>
                        <a:ea typeface="宋体"/>
                        <a:cs typeface="宋体"/>
                      </a:endParaRPr>
                    </a:p>
                  </a:txBody>
                  <a:tcPr marL="56220" marR="56220" marT="0" marB="0" anchor="b"/>
                </a:tc>
                <a:tc>
                  <a:txBody>
                    <a:bodyPr/>
                    <a:lstStyle/>
                    <a:p>
                      <a:pPr algn="ctr">
                        <a:lnSpc>
                          <a:spcPct val="115000"/>
                        </a:lnSpc>
                        <a:spcAft>
                          <a:spcPts val="0"/>
                        </a:spcAft>
                      </a:pPr>
                      <a:r>
                        <a:rPr lang="en-US" sz="2000">
                          <a:effectLst/>
                        </a:rPr>
                        <a:t>Content</a:t>
                      </a:r>
                      <a:endParaRPr lang="zh-CN" sz="2000">
                        <a:effectLst/>
                        <a:latin typeface="Times New Roman"/>
                        <a:ea typeface="宋体"/>
                        <a:cs typeface="宋体"/>
                      </a:endParaRPr>
                    </a:p>
                  </a:txBody>
                  <a:tcPr marL="56220" marR="56220" marT="0" marB="0"/>
                </a:tc>
              </a:tr>
              <a:tr h="462904">
                <a:tc>
                  <a:txBody>
                    <a:bodyPr/>
                    <a:lstStyle/>
                    <a:p>
                      <a:pPr marL="0" lvl="0" indent="0" algn="just">
                        <a:lnSpc>
                          <a:spcPct val="115000"/>
                        </a:lnSpc>
                        <a:spcAft>
                          <a:spcPts val="0"/>
                        </a:spcAft>
                        <a:buFont typeface="+mj-lt"/>
                        <a:buNone/>
                        <a:tabLst>
                          <a:tab pos="266700" algn="l"/>
                        </a:tabLst>
                      </a:pPr>
                      <a:r>
                        <a:rPr lang="en-US" sz="2000" dirty="0" smtClean="0">
                          <a:effectLst/>
                        </a:rPr>
                        <a:t>1</a:t>
                      </a:r>
                      <a:r>
                        <a:rPr lang="en-US" sz="2000" dirty="0">
                          <a:effectLst/>
                        </a:rPr>
                        <a:t> </a:t>
                      </a:r>
                      <a:endParaRPr lang="zh-CN" sz="2000" dirty="0">
                        <a:effectLst/>
                        <a:latin typeface="Times New Roman"/>
                        <a:ea typeface="宋体"/>
                        <a:cs typeface="宋体"/>
                      </a:endParaRPr>
                    </a:p>
                  </a:txBody>
                  <a:tcPr marL="56220" marR="56220" marT="0" marB="0" anchor="ctr" anchorCtr="1"/>
                </a:tc>
                <a:tc>
                  <a:txBody>
                    <a:bodyPr/>
                    <a:lstStyle/>
                    <a:p>
                      <a:pPr>
                        <a:lnSpc>
                          <a:spcPct val="115000"/>
                        </a:lnSpc>
                        <a:spcAft>
                          <a:spcPts val="0"/>
                        </a:spcAft>
                      </a:pPr>
                      <a:r>
                        <a:rPr lang="en-US" sz="2000" dirty="0" smtClean="0">
                          <a:effectLst/>
                        </a:rPr>
                        <a:t>quickly </a:t>
                      </a:r>
                      <a:r>
                        <a:rPr lang="en-US" sz="2000" dirty="0">
                          <a:effectLst/>
                        </a:rPr>
                        <a:t>changing telemetry packet</a:t>
                      </a:r>
                      <a:endParaRPr lang="zh-CN" sz="2000" dirty="0">
                        <a:effectLst/>
                        <a:latin typeface="Times New Roman"/>
                        <a:ea typeface="宋体"/>
                        <a:cs typeface="宋体"/>
                      </a:endParaRPr>
                    </a:p>
                  </a:txBody>
                  <a:tcPr marL="56220" marR="56220" marT="0" marB="0" anchor="ctr"/>
                </a:tc>
                <a:tc>
                  <a:txBody>
                    <a:bodyPr/>
                    <a:lstStyle/>
                    <a:p>
                      <a:pPr>
                        <a:lnSpc>
                          <a:spcPct val="115000"/>
                        </a:lnSpc>
                        <a:spcAft>
                          <a:spcPts val="0"/>
                        </a:spcAft>
                      </a:pPr>
                      <a:r>
                        <a:rPr lang="en-US" sz="2000" dirty="0" smtClean="0">
                          <a:effectLst/>
                        </a:rPr>
                        <a:t>work </a:t>
                      </a:r>
                      <a:r>
                        <a:rPr lang="en-US" sz="2000" dirty="0">
                          <a:effectLst/>
                        </a:rPr>
                        <a:t>status of GPS receiver.</a:t>
                      </a:r>
                      <a:endParaRPr lang="zh-CN" sz="2000" dirty="0">
                        <a:effectLst/>
                        <a:latin typeface="Times New Roman"/>
                        <a:ea typeface="宋体"/>
                        <a:cs typeface="宋体"/>
                      </a:endParaRPr>
                    </a:p>
                  </a:txBody>
                  <a:tcPr marL="56220" marR="56220" marT="0" marB="0" anchor="ctr"/>
                </a:tc>
              </a:tr>
              <a:tr h="645306">
                <a:tc>
                  <a:txBody>
                    <a:bodyPr/>
                    <a:lstStyle/>
                    <a:p>
                      <a:pPr marL="0" lvl="0" indent="0" algn="just">
                        <a:lnSpc>
                          <a:spcPct val="115000"/>
                        </a:lnSpc>
                        <a:spcAft>
                          <a:spcPts val="0"/>
                        </a:spcAft>
                        <a:buFont typeface="+mj-lt"/>
                        <a:buNone/>
                        <a:tabLst>
                          <a:tab pos="266700" algn="l"/>
                        </a:tabLst>
                      </a:pPr>
                      <a:r>
                        <a:rPr lang="en-US" sz="2000" dirty="0" smtClean="0">
                          <a:effectLst/>
                        </a:rPr>
                        <a:t>2</a:t>
                      </a:r>
                      <a:r>
                        <a:rPr lang="en-US" sz="2000" dirty="0">
                          <a:effectLst/>
                        </a:rPr>
                        <a:t> </a:t>
                      </a:r>
                      <a:endParaRPr lang="zh-CN" sz="2000" dirty="0">
                        <a:effectLst/>
                        <a:latin typeface="Times New Roman"/>
                        <a:ea typeface="宋体"/>
                        <a:cs typeface="宋体"/>
                      </a:endParaRPr>
                    </a:p>
                  </a:txBody>
                  <a:tcPr marL="56220" marR="56220" marT="0" marB="0" anchor="ctr" anchorCtr="1"/>
                </a:tc>
                <a:tc>
                  <a:txBody>
                    <a:bodyPr/>
                    <a:lstStyle/>
                    <a:p>
                      <a:pPr>
                        <a:lnSpc>
                          <a:spcPct val="115000"/>
                        </a:lnSpc>
                        <a:spcAft>
                          <a:spcPts val="0"/>
                        </a:spcAft>
                      </a:pPr>
                      <a:r>
                        <a:rPr lang="en-US" sz="2000" dirty="0" smtClean="0">
                          <a:effectLst/>
                        </a:rPr>
                        <a:t>status </a:t>
                      </a:r>
                      <a:r>
                        <a:rPr lang="en-US" sz="2000" dirty="0">
                          <a:effectLst/>
                        </a:rPr>
                        <a:t>slowly changing telemetry packet</a:t>
                      </a:r>
                      <a:endParaRPr lang="zh-CN" sz="2000" dirty="0">
                        <a:effectLst/>
                        <a:latin typeface="Times New Roman"/>
                        <a:ea typeface="宋体"/>
                        <a:cs typeface="宋体"/>
                      </a:endParaRPr>
                    </a:p>
                  </a:txBody>
                  <a:tcPr marL="56220" marR="56220" marT="0" marB="0" anchor="ctr"/>
                </a:tc>
                <a:tc>
                  <a:txBody>
                    <a:bodyPr/>
                    <a:lstStyle/>
                    <a:p>
                      <a:pPr>
                        <a:lnSpc>
                          <a:spcPct val="115000"/>
                        </a:lnSpc>
                        <a:spcAft>
                          <a:spcPts val="0"/>
                        </a:spcAft>
                      </a:pPr>
                      <a:r>
                        <a:rPr lang="en-US" sz="2000" dirty="0" smtClean="0">
                          <a:effectLst/>
                        </a:rPr>
                        <a:t>status </a:t>
                      </a:r>
                      <a:r>
                        <a:rPr lang="en-US" sz="2000" dirty="0">
                          <a:effectLst/>
                        </a:rPr>
                        <a:t>of each module in the GPS receiver.</a:t>
                      </a:r>
                      <a:endParaRPr lang="zh-CN" sz="2000" dirty="0">
                        <a:effectLst/>
                        <a:latin typeface="Times New Roman"/>
                        <a:ea typeface="宋体"/>
                        <a:cs typeface="宋体"/>
                      </a:endParaRPr>
                    </a:p>
                  </a:txBody>
                  <a:tcPr marL="56220" marR="56220" marT="0" marB="0" anchor="ctr"/>
                </a:tc>
              </a:tr>
              <a:tr h="1080109">
                <a:tc>
                  <a:txBody>
                    <a:bodyPr/>
                    <a:lstStyle/>
                    <a:p>
                      <a:pPr marL="0" lvl="0" indent="0" algn="just">
                        <a:lnSpc>
                          <a:spcPct val="115000"/>
                        </a:lnSpc>
                        <a:spcAft>
                          <a:spcPts val="0"/>
                        </a:spcAft>
                        <a:buFont typeface="+mj-lt"/>
                        <a:buNone/>
                        <a:tabLst>
                          <a:tab pos="266700" algn="l"/>
                        </a:tabLst>
                      </a:pPr>
                      <a:r>
                        <a:rPr lang="en-US" sz="2000" dirty="0" smtClean="0">
                          <a:effectLst/>
                        </a:rPr>
                        <a:t>3</a:t>
                      </a:r>
                      <a:r>
                        <a:rPr lang="en-US" sz="2000" dirty="0">
                          <a:effectLst/>
                        </a:rPr>
                        <a:t> </a:t>
                      </a:r>
                      <a:endParaRPr lang="zh-CN" sz="2000" dirty="0">
                        <a:effectLst/>
                        <a:latin typeface="Times New Roman"/>
                        <a:ea typeface="宋体"/>
                        <a:cs typeface="宋体"/>
                      </a:endParaRPr>
                    </a:p>
                  </a:txBody>
                  <a:tcPr marL="56220" marR="56220" marT="0" marB="0" anchor="ctr" anchorCtr="1"/>
                </a:tc>
                <a:tc>
                  <a:txBody>
                    <a:bodyPr/>
                    <a:lstStyle/>
                    <a:p>
                      <a:pPr>
                        <a:lnSpc>
                          <a:spcPct val="115000"/>
                        </a:lnSpc>
                        <a:spcAft>
                          <a:spcPts val="0"/>
                        </a:spcAft>
                      </a:pPr>
                      <a:r>
                        <a:rPr lang="en-US" sz="2000" dirty="0" smtClean="0">
                          <a:effectLst/>
                        </a:rPr>
                        <a:t>orbit </a:t>
                      </a:r>
                      <a:r>
                        <a:rPr lang="en-US" sz="2000" dirty="0">
                          <a:effectLst/>
                        </a:rPr>
                        <a:t>slowly changing telemetry packet</a:t>
                      </a:r>
                      <a:endParaRPr lang="zh-CN" sz="2000" dirty="0">
                        <a:effectLst/>
                        <a:latin typeface="Times New Roman"/>
                        <a:ea typeface="宋体"/>
                        <a:cs typeface="宋体"/>
                      </a:endParaRPr>
                    </a:p>
                  </a:txBody>
                  <a:tcPr marL="56220" marR="56220" marT="0" marB="0" anchor="ctr"/>
                </a:tc>
                <a:tc>
                  <a:txBody>
                    <a:bodyPr/>
                    <a:lstStyle/>
                    <a:p>
                      <a:pPr>
                        <a:lnSpc>
                          <a:spcPct val="115000"/>
                        </a:lnSpc>
                        <a:spcAft>
                          <a:spcPts val="0"/>
                        </a:spcAft>
                      </a:pPr>
                      <a:r>
                        <a:rPr lang="en-US" sz="2000" dirty="0" smtClean="0">
                          <a:effectLst/>
                        </a:rPr>
                        <a:t>real-time </a:t>
                      </a:r>
                      <a:r>
                        <a:rPr lang="en-US" sz="2000" dirty="0">
                          <a:effectLst/>
                        </a:rPr>
                        <a:t>time-position-velocity </a:t>
                      </a:r>
                      <a:r>
                        <a:rPr lang="en-US" sz="2000" dirty="0" smtClean="0">
                          <a:effectLst/>
                        </a:rPr>
                        <a:t>data</a:t>
                      </a:r>
                      <a:endParaRPr lang="zh-CN" sz="2000" dirty="0">
                        <a:effectLst/>
                      </a:endParaRPr>
                    </a:p>
                    <a:p>
                      <a:pPr>
                        <a:lnSpc>
                          <a:spcPct val="115000"/>
                        </a:lnSpc>
                        <a:spcAft>
                          <a:spcPts val="0"/>
                        </a:spcAft>
                      </a:pPr>
                      <a:r>
                        <a:rPr lang="en-US" sz="2000" dirty="0" smtClean="0">
                          <a:effectLst/>
                        </a:rPr>
                        <a:t>filtering </a:t>
                      </a:r>
                      <a:r>
                        <a:rPr lang="en-US" sz="2000" dirty="0">
                          <a:effectLst/>
                        </a:rPr>
                        <a:t>time-position-velocity data </a:t>
                      </a:r>
                      <a:endParaRPr lang="en-US" sz="2000" dirty="0" smtClean="0">
                        <a:effectLst/>
                      </a:endParaRPr>
                    </a:p>
                    <a:p>
                      <a:pPr>
                        <a:lnSpc>
                          <a:spcPct val="115000"/>
                        </a:lnSpc>
                        <a:spcAft>
                          <a:spcPts val="0"/>
                        </a:spcAft>
                      </a:pPr>
                      <a:r>
                        <a:rPr lang="en-US" sz="2000" dirty="0" smtClean="0">
                          <a:effectLst/>
                        </a:rPr>
                        <a:t>6 </a:t>
                      </a:r>
                      <a:r>
                        <a:rPr lang="en-US" sz="2000" dirty="0">
                          <a:effectLst/>
                        </a:rPr>
                        <a:t>orbital </a:t>
                      </a:r>
                      <a:r>
                        <a:rPr lang="en-US" sz="2000" dirty="0" smtClean="0">
                          <a:effectLst/>
                        </a:rPr>
                        <a:t>elements</a:t>
                      </a:r>
                      <a:endParaRPr lang="zh-CN" sz="2000" dirty="0">
                        <a:effectLst/>
                        <a:latin typeface="Times New Roman"/>
                        <a:ea typeface="宋体"/>
                        <a:cs typeface="宋体"/>
                      </a:endParaRPr>
                    </a:p>
                  </a:txBody>
                  <a:tcPr marL="56220" marR="56220" marT="0" marB="0" anchor="ctr"/>
                </a:tc>
              </a:tr>
              <a:tr h="423891">
                <a:tc>
                  <a:txBody>
                    <a:bodyPr/>
                    <a:lstStyle/>
                    <a:p>
                      <a:pPr marL="0" lvl="0" indent="0" algn="just">
                        <a:lnSpc>
                          <a:spcPct val="115000"/>
                        </a:lnSpc>
                        <a:spcAft>
                          <a:spcPts val="0"/>
                        </a:spcAft>
                        <a:buFont typeface="+mj-lt"/>
                        <a:buNone/>
                        <a:tabLst>
                          <a:tab pos="266700" algn="l"/>
                        </a:tabLst>
                      </a:pPr>
                      <a:r>
                        <a:rPr lang="en-US" sz="2000" dirty="0" smtClean="0">
                          <a:effectLst/>
                        </a:rPr>
                        <a:t>4</a:t>
                      </a:r>
                      <a:r>
                        <a:rPr lang="en-US" sz="2000" dirty="0">
                          <a:effectLst/>
                        </a:rPr>
                        <a:t> </a:t>
                      </a:r>
                      <a:endParaRPr lang="zh-CN" sz="2000" dirty="0">
                        <a:effectLst/>
                        <a:latin typeface="Times New Roman"/>
                        <a:ea typeface="宋体"/>
                        <a:cs typeface="宋体"/>
                      </a:endParaRPr>
                    </a:p>
                  </a:txBody>
                  <a:tcPr marL="56220" marR="56220" marT="0" marB="0" anchor="ctr" anchorCtr="1"/>
                </a:tc>
                <a:tc>
                  <a:txBody>
                    <a:bodyPr/>
                    <a:lstStyle/>
                    <a:p>
                      <a:pPr>
                        <a:lnSpc>
                          <a:spcPct val="115000"/>
                        </a:lnSpc>
                        <a:spcAft>
                          <a:spcPts val="0"/>
                        </a:spcAft>
                      </a:pPr>
                      <a:r>
                        <a:rPr lang="en-US" sz="2000" dirty="0" smtClean="0">
                          <a:effectLst/>
                        </a:rPr>
                        <a:t>position </a:t>
                      </a:r>
                      <a:r>
                        <a:rPr lang="en-US" sz="2000" dirty="0">
                          <a:effectLst/>
                        </a:rPr>
                        <a:t>broadcasting packet</a:t>
                      </a:r>
                      <a:endParaRPr lang="zh-CN" sz="2000" dirty="0">
                        <a:effectLst/>
                        <a:latin typeface="Times New Roman"/>
                        <a:ea typeface="宋体"/>
                        <a:cs typeface="宋体"/>
                      </a:endParaRPr>
                    </a:p>
                  </a:txBody>
                  <a:tcPr marL="56220" marR="56220" marT="0" marB="0" anchor="ctr"/>
                </a:tc>
                <a:tc>
                  <a:txBody>
                    <a:bodyPr/>
                    <a:lstStyle/>
                    <a:p>
                      <a:pPr>
                        <a:lnSpc>
                          <a:spcPct val="115000"/>
                        </a:lnSpc>
                        <a:spcAft>
                          <a:spcPts val="0"/>
                        </a:spcAft>
                      </a:pPr>
                      <a:r>
                        <a:rPr lang="en-US" sz="2000" dirty="0" smtClean="0">
                          <a:effectLst/>
                        </a:rPr>
                        <a:t>time-position-velocity </a:t>
                      </a:r>
                      <a:r>
                        <a:rPr lang="en-US" sz="2000" dirty="0">
                          <a:effectLst/>
                        </a:rPr>
                        <a:t>data and the integration time data.</a:t>
                      </a:r>
                      <a:endParaRPr lang="zh-CN" sz="2000" dirty="0">
                        <a:effectLst/>
                        <a:latin typeface="Times New Roman"/>
                        <a:ea typeface="宋体"/>
                        <a:cs typeface="宋体"/>
                      </a:endParaRPr>
                    </a:p>
                  </a:txBody>
                  <a:tcPr marL="56220" marR="56220" marT="0" marB="0" anchor="ctr"/>
                </a:tc>
              </a:tr>
              <a:tr h="860408">
                <a:tc>
                  <a:txBody>
                    <a:bodyPr/>
                    <a:lstStyle/>
                    <a:p>
                      <a:pPr marL="0" lvl="0" indent="0" algn="just">
                        <a:lnSpc>
                          <a:spcPct val="115000"/>
                        </a:lnSpc>
                        <a:spcAft>
                          <a:spcPts val="0"/>
                        </a:spcAft>
                        <a:buFont typeface="+mj-lt"/>
                        <a:buNone/>
                        <a:tabLst>
                          <a:tab pos="266700" algn="l"/>
                        </a:tabLst>
                      </a:pPr>
                      <a:r>
                        <a:rPr lang="en-US" sz="2000" dirty="0" smtClean="0">
                          <a:effectLst/>
                        </a:rPr>
                        <a:t>5</a:t>
                      </a:r>
                      <a:r>
                        <a:rPr lang="en-US" sz="2000" dirty="0">
                          <a:effectLst/>
                        </a:rPr>
                        <a:t> </a:t>
                      </a:r>
                      <a:endParaRPr lang="zh-CN" sz="2000" dirty="0">
                        <a:effectLst/>
                        <a:latin typeface="Times New Roman"/>
                        <a:ea typeface="宋体"/>
                        <a:cs typeface="宋体"/>
                      </a:endParaRPr>
                    </a:p>
                  </a:txBody>
                  <a:tcPr marL="56220" marR="56220" marT="0" marB="0" anchor="ctr" anchorCtr="1"/>
                </a:tc>
                <a:tc>
                  <a:txBody>
                    <a:bodyPr/>
                    <a:lstStyle/>
                    <a:p>
                      <a:pPr>
                        <a:lnSpc>
                          <a:spcPct val="115000"/>
                        </a:lnSpc>
                        <a:spcAft>
                          <a:spcPts val="0"/>
                        </a:spcAft>
                      </a:pPr>
                      <a:r>
                        <a:rPr lang="en-US" sz="2000" dirty="0" smtClean="0">
                          <a:effectLst/>
                        </a:rPr>
                        <a:t>original </a:t>
                      </a:r>
                      <a:r>
                        <a:rPr lang="en-US" sz="2000" dirty="0">
                          <a:effectLst/>
                        </a:rPr>
                        <a:t>measurement data broadcasting packet</a:t>
                      </a:r>
                      <a:endParaRPr lang="zh-CN" sz="2000" dirty="0">
                        <a:effectLst/>
                        <a:latin typeface="Times New Roman"/>
                        <a:ea typeface="宋体"/>
                        <a:cs typeface="宋体"/>
                      </a:endParaRPr>
                    </a:p>
                  </a:txBody>
                  <a:tcPr marL="56220" marR="56220" marT="0" marB="0" anchor="ctr"/>
                </a:tc>
                <a:tc>
                  <a:txBody>
                    <a:bodyPr/>
                    <a:lstStyle/>
                    <a:p>
                      <a:pPr>
                        <a:lnSpc>
                          <a:spcPct val="115000"/>
                        </a:lnSpc>
                        <a:spcAft>
                          <a:spcPts val="0"/>
                        </a:spcAft>
                      </a:pPr>
                      <a:r>
                        <a:rPr lang="en-US" sz="2000" dirty="0" smtClean="0">
                          <a:effectLst/>
                        </a:rPr>
                        <a:t>original </a:t>
                      </a:r>
                      <a:r>
                        <a:rPr lang="en-US" sz="2000" dirty="0">
                          <a:effectLst/>
                        </a:rPr>
                        <a:t>measurement information of GPS receiver’s 12 channels. </a:t>
                      </a:r>
                      <a:endParaRPr lang="zh-CN" sz="2000" dirty="0">
                        <a:effectLst/>
                        <a:latin typeface="Times New Roman"/>
                        <a:ea typeface="宋体"/>
                        <a:cs typeface="宋体"/>
                      </a:endParaRPr>
                    </a:p>
                  </a:txBody>
                  <a:tcPr marL="56220" marR="56220" marT="0" marB="0" anchor="ctr"/>
                </a:tc>
              </a:tr>
              <a:tr h="462904">
                <a:tc>
                  <a:txBody>
                    <a:bodyPr/>
                    <a:lstStyle/>
                    <a:p>
                      <a:pPr marL="0" lvl="0" indent="0" algn="just">
                        <a:lnSpc>
                          <a:spcPct val="115000"/>
                        </a:lnSpc>
                        <a:spcAft>
                          <a:spcPts val="0"/>
                        </a:spcAft>
                        <a:buFont typeface="+mj-lt"/>
                        <a:buNone/>
                        <a:tabLst>
                          <a:tab pos="266700" algn="l"/>
                        </a:tabLst>
                      </a:pPr>
                      <a:r>
                        <a:rPr lang="en-US" sz="2000" dirty="0" smtClean="0">
                          <a:effectLst/>
                        </a:rPr>
                        <a:t>6</a:t>
                      </a:r>
                      <a:r>
                        <a:rPr lang="en-US" sz="2000" dirty="0">
                          <a:effectLst/>
                        </a:rPr>
                        <a:t> </a:t>
                      </a:r>
                      <a:endParaRPr lang="zh-CN" sz="2000" dirty="0">
                        <a:effectLst/>
                        <a:latin typeface="Times New Roman"/>
                        <a:ea typeface="宋体"/>
                        <a:cs typeface="宋体"/>
                      </a:endParaRPr>
                    </a:p>
                  </a:txBody>
                  <a:tcPr marL="56220" marR="56220" marT="0" marB="0" anchor="ctr" anchorCtr="1"/>
                </a:tc>
                <a:tc>
                  <a:txBody>
                    <a:bodyPr/>
                    <a:lstStyle/>
                    <a:p>
                      <a:pPr>
                        <a:lnSpc>
                          <a:spcPct val="115000"/>
                        </a:lnSpc>
                        <a:spcAft>
                          <a:spcPts val="0"/>
                        </a:spcAft>
                      </a:pPr>
                      <a:r>
                        <a:rPr lang="en-US" sz="2000" dirty="0" smtClean="0">
                          <a:effectLst/>
                        </a:rPr>
                        <a:t>time </a:t>
                      </a:r>
                      <a:r>
                        <a:rPr lang="en-US" sz="2000" dirty="0">
                          <a:effectLst/>
                        </a:rPr>
                        <a:t>broadcasting packet</a:t>
                      </a:r>
                      <a:endParaRPr lang="zh-CN" sz="2000" dirty="0">
                        <a:effectLst/>
                        <a:latin typeface="Times New Roman"/>
                        <a:ea typeface="宋体"/>
                        <a:cs typeface="宋体"/>
                      </a:endParaRPr>
                    </a:p>
                  </a:txBody>
                  <a:tcPr marL="56220" marR="56220" marT="0" marB="0" anchor="ctr"/>
                </a:tc>
                <a:tc>
                  <a:txBody>
                    <a:bodyPr/>
                    <a:lstStyle/>
                    <a:p>
                      <a:pPr>
                        <a:lnSpc>
                          <a:spcPct val="115000"/>
                        </a:lnSpc>
                        <a:spcAft>
                          <a:spcPts val="0"/>
                        </a:spcAft>
                      </a:pPr>
                      <a:r>
                        <a:rPr lang="en-US" sz="2000" dirty="0">
                          <a:effectLst/>
                        </a:rPr>
                        <a:t>Shows the PPS signal’s time.</a:t>
                      </a:r>
                      <a:endParaRPr lang="zh-CN" sz="2000" dirty="0">
                        <a:effectLst/>
                        <a:latin typeface="Times New Roman"/>
                        <a:ea typeface="宋体"/>
                        <a:cs typeface="宋体"/>
                      </a:endParaRPr>
                    </a:p>
                  </a:txBody>
                  <a:tcPr marL="56220" marR="56220" marT="0" marB="0" anchor="ctr"/>
                </a:tc>
              </a:tr>
            </a:tbl>
          </a:graphicData>
        </a:graphic>
      </p:graphicFrame>
      <p:sp>
        <p:nvSpPr>
          <p:cNvPr id="10"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45</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11"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2" name="矩形 11"/>
          <p:cNvSpPr/>
          <p:nvPr/>
        </p:nvSpPr>
        <p:spPr>
          <a:xfrm>
            <a:off x="128903" y="261938"/>
            <a:ext cx="8729377" cy="615553"/>
          </a:xfrm>
          <a:prstGeom prst="rect">
            <a:avLst/>
          </a:prstGeom>
        </p:spPr>
        <p:txBody>
          <a:bodyPr wrap="none">
            <a:spAutoFit/>
          </a:bodyPr>
          <a:lstStyle/>
          <a:p>
            <a:pPr>
              <a:defRPr/>
            </a:pPr>
            <a:r>
              <a:rPr lang="en-US" altLang="zh-CN" sz="3400" b="1" kern="1700" dirty="0" smtClean="0">
                <a:solidFill>
                  <a:schemeClr val="bg1"/>
                </a:solidFill>
                <a:latin typeface="微软雅黑" pitchFamily="34" charset="-122"/>
                <a:ea typeface="微软雅黑" pitchFamily="34" charset="-122"/>
                <a:cs typeface="+mj-cs"/>
              </a:rPr>
              <a:t>4  </a:t>
            </a:r>
            <a:r>
              <a:rPr lang="en-US" altLang="zh-CN" sz="3400" b="1" kern="1700" dirty="0">
                <a:solidFill>
                  <a:schemeClr val="bg1"/>
                </a:solidFill>
                <a:latin typeface="微软雅黑" pitchFamily="34" charset="-122"/>
                <a:ea typeface="微软雅黑" pitchFamily="34" charset="-122"/>
                <a:cs typeface="+mj-cs"/>
              </a:rPr>
              <a:t>Positioning and Orbit Determination</a:t>
            </a:r>
            <a:endParaRPr lang="zh-CN" altLang="en-US" sz="3400" b="1" kern="1700" dirty="0">
              <a:solidFill>
                <a:schemeClr val="bg1"/>
              </a:solidFill>
              <a:latin typeface="微软雅黑" pitchFamily="34" charset="-122"/>
              <a:ea typeface="微软雅黑" pitchFamily="34" charset="-122"/>
              <a:cs typeface="+mj-cs"/>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2"/>
          <p:cNvSpPr txBox="1">
            <a:spLocks/>
          </p:cNvSpPr>
          <p:nvPr/>
        </p:nvSpPr>
        <p:spPr bwMode="auto">
          <a:xfrm>
            <a:off x="50800" y="233363"/>
            <a:ext cx="8229600" cy="1143000"/>
          </a:xfrm>
          <a:prstGeom prst="rect">
            <a:avLst/>
          </a:prstGeom>
          <a:noFill/>
          <a:ln w="9525">
            <a:noFill/>
            <a:miter lim="800000"/>
            <a:headEnd/>
            <a:tailEnd/>
          </a:ln>
        </p:spPr>
        <p:txBody>
          <a:bodyPr/>
          <a:lstStyle/>
          <a:p>
            <a:pPr eaLnBrk="0" hangingPunct="0"/>
            <a:endParaRPr lang="zh-CN" altLang="en-US" sz="4400">
              <a:solidFill>
                <a:schemeClr val="tx2"/>
              </a:solidFill>
            </a:endParaRPr>
          </a:p>
        </p:txBody>
      </p:sp>
      <p:sp>
        <p:nvSpPr>
          <p:cNvPr id="67588"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7589"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7590" name="Rectangle 4"/>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7591" name="TextBox 5"/>
          <p:cNvSpPr txBox="1">
            <a:spLocks noChangeArrowheads="1"/>
          </p:cNvSpPr>
          <p:nvPr/>
        </p:nvSpPr>
        <p:spPr bwMode="auto">
          <a:xfrm>
            <a:off x="215900" y="1238238"/>
            <a:ext cx="8640763" cy="976316"/>
          </a:xfrm>
          <a:prstGeom prst="rect">
            <a:avLst/>
          </a:prstGeom>
          <a:noFill/>
          <a:ln w="9525">
            <a:noFill/>
            <a:miter lim="800000"/>
            <a:headEnd/>
            <a:tailEnd/>
          </a:ln>
        </p:spPr>
        <p:txBody>
          <a:bodyPr lIns="82954" tIns="41477" rIns="82954" bIns="41477">
            <a:spAutoFit/>
          </a:bodyPr>
          <a:lstStyle/>
          <a:p>
            <a:pPr marL="457200" indent="-457200">
              <a:spcAft>
                <a:spcPts val="1200"/>
              </a:spcAft>
              <a:buFont typeface="Wingdings" pitchFamily="2" charset="2"/>
              <a:buChar char="p"/>
            </a:pPr>
            <a:r>
              <a:rPr lang="en-US" altLang="zh-CN" sz="2400" b="1" dirty="0" smtClean="0">
                <a:solidFill>
                  <a:srgbClr val="0070C0"/>
                </a:solidFill>
                <a:latin typeface="Arial" charset="0"/>
                <a:ea typeface="宋体" pitchFamily="2" charset="-122"/>
              </a:rPr>
              <a:t>GPS Receiver Function</a:t>
            </a:r>
          </a:p>
          <a:p>
            <a:pPr marL="457200" indent="-457200" algn="l">
              <a:spcAft>
                <a:spcPts val="1200"/>
              </a:spcAft>
            </a:pPr>
            <a:r>
              <a:rPr lang="en-US" altLang="zh-CN" sz="2400" dirty="0" smtClean="0"/>
              <a:t>  Output </a:t>
            </a:r>
            <a:r>
              <a:rPr lang="en-US" altLang="zh-CN" sz="2400" dirty="0"/>
              <a:t>the PPS signal</a:t>
            </a:r>
            <a:endParaRPr lang="en-US" altLang="zh-CN" sz="2200" dirty="0">
              <a:solidFill>
                <a:schemeClr val="tx1"/>
              </a:solidFill>
            </a:endParaRPr>
          </a:p>
        </p:txBody>
      </p:sp>
      <p:sp>
        <p:nvSpPr>
          <p:cNvPr id="67592"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7593" name="矩形 4"/>
          <p:cNvSpPr>
            <a:spLocks noChangeArrowheads="1"/>
          </p:cNvSpPr>
          <p:nvPr/>
        </p:nvSpPr>
        <p:spPr bwMode="auto">
          <a:xfrm>
            <a:off x="1862146" y="5929330"/>
            <a:ext cx="5281622" cy="369332"/>
          </a:xfrm>
          <a:prstGeom prst="rect">
            <a:avLst/>
          </a:prstGeom>
          <a:noFill/>
          <a:ln w="9525">
            <a:noFill/>
            <a:miter lim="800000"/>
            <a:headEnd/>
            <a:tailEnd/>
          </a:ln>
        </p:spPr>
        <p:txBody>
          <a:bodyPr wrap="square">
            <a:spAutoFit/>
          </a:bodyPr>
          <a:lstStyle/>
          <a:p>
            <a:r>
              <a:rPr lang="zh-CN" altLang="zh-CN" b="0" dirty="0">
                <a:solidFill>
                  <a:schemeClr val="tx1"/>
                </a:solidFill>
              </a:rPr>
              <a:t>Fig</a:t>
            </a:r>
            <a:r>
              <a:rPr lang="en-US" altLang="zh-CN" b="0" dirty="0">
                <a:solidFill>
                  <a:schemeClr val="tx1"/>
                </a:solidFill>
              </a:rPr>
              <a:t>. </a:t>
            </a:r>
            <a:r>
              <a:rPr lang="zh-CN" altLang="zh-CN" b="0" dirty="0">
                <a:solidFill>
                  <a:schemeClr val="tx1"/>
                </a:solidFill>
              </a:rPr>
              <a:t>Transmission Sketch of GPS </a:t>
            </a:r>
            <a:r>
              <a:rPr lang="zh-CN" altLang="zh-CN" b="0" dirty="0" smtClean="0">
                <a:solidFill>
                  <a:schemeClr val="tx1"/>
                </a:solidFill>
              </a:rPr>
              <a:t>Receiver</a:t>
            </a:r>
            <a:r>
              <a:rPr lang="en-US" altLang="zh-CN" b="0" dirty="0" smtClean="0">
                <a:solidFill>
                  <a:schemeClr val="tx1"/>
                </a:solidFill>
              </a:rPr>
              <a:t>’</a:t>
            </a:r>
            <a:r>
              <a:rPr lang="zh-CN" altLang="zh-CN" b="0" dirty="0" smtClean="0">
                <a:solidFill>
                  <a:schemeClr val="tx1"/>
                </a:solidFill>
              </a:rPr>
              <a:t>s </a:t>
            </a:r>
            <a:r>
              <a:rPr lang="zh-CN" altLang="zh-CN" b="0" dirty="0">
                <a:solidFill>
                  <a:schemeClr val="tx1"/>
                </a:solidFill>
              </a:rPr>
              <a:t>PPS Signal</a:t>
            </a:r>
            <a:endParaRPr lang="zh-CN" altLang="en-US" b="0" dirty="0">
              <a:solidFill>
                <a:schemeClr val="tx1"/>
              </a:solidFill>
            </a:endParaRPr>
          </a:p>
        </p:txBody>
      </p:sp>
      <p:sp>
        <p:nvSpPr>
          <p:cNvPr id="67594"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7595"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pic>
        <p:nvPicPr>
          <p:cNvPr id="67596" name="Picture 14"/>
          <p:cNvPicPr>
            <a:picLocks noChangeAspect="1" noChangeArrowheads="1"/>
          </p:cNvPicPr>
          <p:nvPr/>
        </p:nvPicPr>
        <p:blipFill>
          <a:blip r:embed="rId2"/>
          <a:srcRect/>
          <a:stretch>
            <a:fillRect/>
          </a:stretch>
        </p:blipFill>
        <p:spPr bwMode="gray">
          <a:xfrm>
            <a:off x="555625" y="2243154"/>
            <a:ext cx="8002588" cy="3614738"/>
          </a:xfrm>
          <a:prstGeom prst="rect">
            <a:avLst/>
          </a:prstGeom>
          <a:noFill/>
          <a:ln w="9525" algn="ctr">
            <a:noFill/>
            <a:miter lim="800000"/>
            <a:headEnd/>
            <a:tailEnd/>
          </a:ln>
        </p:spPr>
      </p:pic>
      <p:sp>
        <p:nvSpPr>
          <p:cNvPr id="13"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46</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14"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5" name="矩形 14"/>
          <p:cNvSpPr/>
          <p:nvPr/>
        </p:nvSpPr>
        <p:spPr>
          <a:xfrm>
            <a:off x="128903" y="261938"/>
            <a:ext cx="8729377" cy="615553"/>
          </a:xfrm>
          <a:prstGeom prst="rect">
            <a:avLst/>
          </a:prstGeom>
        </p:spPr>
        <p:txBody>
          <a:bodyPr wrap="none">
            <a:spAutoFit/>
          </a:bodyPr>
          <a:lstStyle/>
          <a:p>
            <a:pPr>
              <a:defRPr/>
            </a:pPr>
            <a:r>
              <a:rPr lang="en-US" altLang="zh-CN" sz="3400" b="1" kern="1700" dirty="0" smtClean="0">
                <a:solidFill>
                  <a:schemeClr val="bg1"/>
                </a:solidFill>
                <a:latin typeface="微软雅黑" pitchFamily="34" charset="-122"/>
                <a:ea typeface="微软雅黑" pitchFamily="34" charset="-122"/>
                <a:cs typeface="+mj-cs"/>
              </a:rPr>
              <a:t>4  </a:t>
            </a:r>
            <a:r>
              <a:rPr lang="en-US" altLang="zh-CN" sz="3400" b="1" kern="1700" dirty="0">
                <a:solidFill>
                  <a:schemeClr val="bg1"/>
                </a:solidFill>
                <a:latin typeface="微软雅黑" pitchFamily="34" charset="-122"/>
                <a:ea typeface="微软雅黑" pitchFamily="34" charset="-122"/>
                <a:cs typeface="+mj-cs"/>
              </a:rPr>
              <a:t>Positioning and Orbit Determination</a:t>
            </a:r>
            <a:endParaRPr lang="zh-CN" altLang="en-US" sz="3400" b="1" kern="1700" dirty="0">
              <a:solidFill>
                <a:schemeClr val="bg1"/>
              </a:solidFill>
              <a:latin typeface="微软雅黑" pitchFamily="34" charset="-122"/>
              <a:ea typeface="微软雅黑" pitchFamily="34" charset="-122"/>
              <a:cs typeface="+mj-cs"/>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2"/>
          <p:cNvSpPr txBox="1">
            <a:spLocks/>
          </p:cNvSpPr>
          <p:nvPr/>
        </p:nvSpPr>
        <p:spPr bwMode="auto">
          <a:xfrm>
            <a:off x="50800" y="233363"/>
            <a:ext cx="8229600" cy="1143000"/>
          </a:xfrm>
          <a:prstGeom prst="rect">
            <a:avLst/>
          </a:prstGeom>
          <a:noFill/>
          <a:ln w="9525">
            <a:noFill/>
            <a:miter lim="800000"/>
            <a:headEnd/>
            <a:tailEnd/>
          </a:ln>
        </p:spPr>
        <p:txBody>
          <a:bodyPr/>
          <a:lstStyle/>
          <a:p>
            <a:pPr eaLnBrk="0" hangingPunct="0"/>
            <a:endParaRPr lang="zh-CN" altLang="en-US" sz="4400">
              <a:solidFill>
                <a:schemeClr val="tx2"/>
              </a:solidFill>
            </a:endParaRPr>
          </a:p>
        </p:txBody>
      </p:sp>
      <p:sp>
        <p:nvSpPr>
          <p:cNvPr id="68612"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8613"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8614" name="Rectangle 4"/>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12" name="TextBox 5"/>
          <p:cNvSpPr txBox="1">
            <a:spLocks noChangeArrowheads="1"/>
          </p:cNvSpPr>
          <p:nvPr/>
        </p:nvSpPr>
        <p:spPr bwMode="auto">
          <a:xfrm>
            <a:off x="323850" y="1870872"/>
            <a:ext cx="8424863" cy="3915582"/>
          </a:xfrm>
          <a:prstGeom prst="rect">
            <a:avLst/>
          </a:prstGeom>
          <a:noFill/>
          <a:ln>
            <a:noFill/>
          </a:ln>
          <a:extLst/>
        </p:spPr>
        <p:txBody>
          <a:bodyPr lIns="82954" tIns="41477" rIns="82954" bIns="41477">
            <a:spAutoFit/>
          </a:bodyPr>
          <a:lstStyle>
            <a:lvl1pPr eaLnBrk="0" hangingPunct="0">
              <a:defRPr sz="2000" b="1">
                <a:solidFill>
                  <a:srgbClr val="575F6D"/>
                </a:solidFill>
                <a:latin typeface="Arial" charset="0"/>
                <a:ea typeface="宋体" pitchFamily="2" charset="-122"/>
              </a:defRPr>
            </a:lvl1pPr>
            <a:lvl2pPr marL="742950" indent="-285750" eaLnBrk="0" hangingPunct="0">
              <a:defRPr sz="2000" b="1">
                <a:solidFill>
                  <a:srgbClr val="575F6D"/>
                </a:solidFill>
                <a:latin typeface="Arial" charset="0"/>
                <a:ea typeface="宋体" pitchFamily="2" charset="-122"/>
              </a:defRPr>
            </a:lvl2pPr>
            <a:lvl3pPr marL="1143000" indent="-228600" eaLnBrk="0" hangingPunct="0">
              <a:defRPr sz="2000" b="1">
                <a:solidFill>
                  <a:srgbClr val="575F6D"/>
                </a:solidFill>
                <a:latin typeface="Arial" charset="0"/>
                <a:ea typeface="宋体" pitchFamily="2" charset="-122"/>
              </a:defRPr>
            </a:lvl3pPr>
            <a:lvl4pPr marL="1600200" indent="-228600" eaLnBrk="0" hangingPunct="0">
              <a:defRPr sz="2000" b="1">
                <a:solidFill>
                  <a:srgbClr val="575F6D"/>
                </a:solidFill>
                <a:latin typeface="Arial" charset="0"/>
                <a:ea typeface="宋体" pitchFamily="2" charset="-122"/>
              </a:defRPr>
            </a:lvl4pPr>
            <a:lvl5pPr marL="2057400" indent="-228600" eaLnBrk="0" hangingPunct="0">
              <a:defRPr sz="2000" b="1">
                <a:solidFill>
                  <a:srgbClr val="575F6D"/>
                </a:solidFill>
                <a:latin typeface="Arial"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charset="0"/>
                <a:ea typeface="宋体" pitchFamily="2" charset="-122"/>
              </a:defRPr>
            </a:lvl9pPr>
          </a:lstStyle>
          <a:p>
            <a:pPr marL="457200" indent="-457200" eaLnBrk="1" hangingPunct="1">
              <a:spcAft>
                <a:spcPts val="1200"/>
              </a:spcAft>
              <a:buFont typeface="Wingdings" pitchFamily="2" charset="2"/>
              <a:buChar char="p"/>
              <a:defRPr/>
            </a:pPr>
            <a:r>
              <a:rPr lang="en-US" altLang="zh-CN" sz="2800" dirty="0" smtClean="0">
                <a:solidFill>
                  <a:srgbClr val="0070C0"/>
                </a:solidFill>
              </a:rPr>
              <a:t>GPS </a:t>
            </a:r>
            <a:r>
              <a:rPr lang="en-US" altLang="zh-CN" sz="2800" dirty="0">
                <a:solidFill>
                  <a:srgbClr val="0070C0"/>
                </a:solidFill>
              </a:rPr>
              <a:t>Receiver Operation </a:t>
            </a:r>
            <a:r>
              <a:rPr lang="en-US" altLang="zh-CN" sz="2800" dirty="0" smtClean="0">
                <a:solidFill>
                  <a:srgbClr val="0070C0"/>
                </a:solidFill>
              </a:rPr>
              <a:t>Mode</a:t>
            </a:r>
            <a:endParaRPr lang="en-US" altLang="zh-CN" sz="2800" dirty="0">
              <a:solidFill>
                <a:srgbClr val="0070C0"/>
              </a:solidFill>
            </a:endParaRPr>
          </a:p>
          <a:p>
            <a:pPr marL="360000" algn="just" eaLnBrk="1" hangingPunct="1">
              <a:lnSpc>
                <a:spcPct val="150000"/>
              </a:lnSpc>
              <a:spcAft>
                <a:spcPts val="1200"/>
              </a:spcAft>
              <a:defRPr/>
            </a:pPr>
            <a:r>
              <a:rPr lang="en-US" altLang="zh-CN" sz="2400" dirty="0" smtClean="0">
                <a:solidFill>
                  <a:schemeClr val="tx1"/>
                </a:solidFill>
              </a:rPr>
              <a:t>2 </a:t>
            </a:r>
            <a:r>
              <a:rPr lang="en-US" altLang="zh-CN" sz="2400" dirty="0">
                <a:solidFill>
                  <a:schemeClr val="tx1"/>
                </a:solidFill>
              </a:rPr>
              <a:t>operation </a:t>
            </a:r>
            <a:r>
              <a:rPr lang="en-US" altLang="zh-CN" sz="2400" dirty="0" smtClean="0">
                <a:solidFill>
                  <a:schemeClr val="tx1"/>
                </a:solidFill>
              </a:rPr>
              <a:t>modes</a:t>
            </a:r>
            <a:endParaRPr lang="en-US" altLang="zh-CN" sz="2400" dirty="0">
              <a:solidFill>
                <a:schemeClr val="tx1"/>
              </a:solidFill>
            </a:endParaRPr>
          </a:p>
          <a:p>
            <a:pPr marL="720000" indent="-360000" algn="just" eaLnBrk="1" hangingPunct="1">
              <a:lnSpc>
                <a:spcPct val="150000"/>
              </a:lnSpc>
              <a:spcAft>
                <a:spcPts val="1200"/>
              </a:spcAft>
              <a:buFont typeface="Wingdings" pitchFamily="2" charset="2"/>
              <a:buChar char="n"/>
              <a:defRPr/>
            </a:pPr>
            <a:r>
              <a:rPr lang="en-US" altLang="zh-CN" sz="2400" dirty="0" smtClean="0">
                <a:solidFill>
                  <a:schemeClr val="accent1">
                    <a:lumMod val="75000"/>
                  </a:schemeClr>
                </a:solidFill>
              </a:rPr>
              <a:t>Real-time mode</a:t>
            </a:r>
            <a:endParaRPr lang="en-US" altLang="zh-CN" sz="2400" dirty="0">
              <a:solidFill>
                <a:schemeClr val="tx1"/>
              </a:solidFill>
            </a:endParaRPr>
          </a:p>
          <a:p>
            <a:pPr marL="720000" indent="-360000" algn="just" eaLnBrk="1" hangingPunct="1">
              <a:lnSpc>
                <a:spcPct val="150000"/>
              </a:lnSpc>
              <a:spcAft>
                <a:spcPts val="1200"/>
              </a:spcAft>
              <a:buFont typeface="Wingdings" pitchFamily="2" charset="2"/>
              <a:buChar char="n"/>
              <a:defRPr/>
            </a:pPr>
            <a:r>
              <a:rPr lang="en-US" altLang="zh-CN" sz="2400" dirty="0" smtClean="0">
                <a:solidFill>
                  <a:schemeClr val="accent1">
                    <a:lumMod val="75000"/>
                  </a:schemeClr>
                </a:solidFill>
              </a:rPr>
              <a:t>Extrapolating mode</a:t>
            </a:r>
            <a:endParaRPr lang="en-US" altLang="zh-CN" sz="2400" dirty="0" smtClean="0">
              <a:solidFill>
                <a:schemeClr val="tx1"/>
              </a:solidFill>
            </a:endParaRPr>
          </a:p>
          <a:p>
            <a:pPr indent="360363" algn="just" eaLnBrk="1" hangingPunct="1">
              <a:lnSpc>
                <a:spcPct val="150000"/>
              </a:lnSpc>
              <a:spcAft>
                <a:spcPts val="1200"/>
              </a:spcAft>
              <a:defRPr/>
            </a:pPr>
            <a:r>
              <a:rPr lang="en-US" altLang="zh-CN" sz="2400" dirty="0" smtClean="0">
                <a:solidFill>
                  <a:schemeClr val="tx1"/>
                </a:solidFill>
              </a:rPr>
              <a:t>The GPS </a:t>
            </a:r>
            <a:r>
              <a:rPr lang="en-US" altLang="zh-CN" sz="2400" dirty="0">
                <a:solidFill>
                  <a:schemeClr val="tx1"/>
                </a:solidFill>
              </a:rPr>
              <a:t>receiver alternates between the 2 modes when in orbit.</a:t>
            </a:r>
            <a:endParaRPr lang="zh-CN" altLang="en-US" sz="2400" dirty="0">
              <a:solidFill>
                <a:schemeClr val="tx1"/>
              </a:solidFill>
            </a:endParaRPr>
          </a:p>
        </p:txBody>
      </p:sp>
      <p:sp>
        <p:nvSpPr>
          <p:cNvPr id="8"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47</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9"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0" name="矩形 9"/>
          <p:cNvSpPr/>
          <p:nvPr/>
        </p:nvSpPr>
        <p:spPr>
          <a:xfrm>
            <a:off x="128903" y="261938"/>
            <a:ext cx="8729377" cy="615553"/>
          </a:xfrm>
          <a:prstGeom prst="rect">
            <a:avLst/>
          </a:prstGeom>
        </p:spPr>
        <p:txBody>
          <a:bodyPr wrap="none">
            <a:spAutoFit/>
          </a:bodyPr>
          <a:lstStyle/>
          <a:p>
            <a:pPr>
              <a:defRPr/>
            </a:pPr>
            <a:r>
              <a:rPr lang="en-US" altLang="zh-CN" sz="3400" b="1" kern="1700" dirty="0" smtClean="0">
                <a:solidFill>
                  <a:schemeClr val="bg1"/>
                </a:solidFill>
                <a:latin typeface="微软雅黑" pitchFamily="34" charset="-122"/>
                <a:ea typeface="微软雅黑" pitchFamily="34" charset="-122"/>
                <a:cs typeface="+mj-cs"/>
              </a:rPr>
              <a:t>4  </a:t>
            </a:r>
            <a:r>
              <a:rPr lang="en-US" altLang="zh-CN" sz="3400" b="1" kern="1700" dirty="0">
                <a:solidFill>
                  <a:schemeClr val="bg1"/>
                </a:solidFill>
                <a:latin typeface="微软雅黑" pitchFamily="34" charset="-122"/>
                <a:ea typeface="微软雅黑" pitchFamily="34" charset="-122"/>
                <a:cs typeface="+mj-cs"/>
              </a:rPr>
              <a:t>Positioning and Orbit Determination</a:t>
            </a:r>
            <a:endParaRPr lang="zh-CN" altLang="en-US" sz="3400" b="1" kern="1700" dirty="0">
              <a:solidFill>
                <a:schemeClr val="bg1"/>
              </a:solidFill>
              <a:latin typeface="微软雅黑" pitchFamily="34" charset="-122"/>
              <a:ea typeface="微软雅黑" pitchFamily="34" charset="-122"/>
              <a:cs typeface="+mj-cs"/>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标题 2"/>
          <p:cNvSpPr txBox="1">
            <a:spLocks/>
          </p:cNvSpPr>
          <p:nvPr/>
        </p:nvSpPr>
        <p:spPr bwMode="auto">
          <a:xfrm>
            <a:off x="158750" y="233363"/>
            <a:ext cx="8229600" cy="1143000"/>
          </a:xfrm>
          <a:prstGeom prst="rect">
            <a:avLst/>
          </a:prstGeom>
          <a:noFill/>
          <a:ln w="9525">
            <a:noFill/>
            <a:miter lim="800000"/>
            <a:headEnd/>
            <a:tailEnd/>
          </a:ln>
        </p:spPr>
        <p:txBody>
          <a:bodyPr/>
          <a:lstStyle/>
          <a:p>
            <a:pPr eaLnBrk="0" hangingPunct="0"/>
            <a:endParaRPr lang="zh-CN" altLang="en-US" sz="4400">
              <a:solidFill>
                <a:schemeClr val="tx2"/>
              </a:solidFill>
            </a:endParaRPr>
          </a:p>
        </p:txBody>
      </p:sp>
      <p:sp>
        <p:nvSpPr>
          <p:cNvPr id="15365"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15366"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15367" name="Rectangle 4"/>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15368" name="TextBox 5"/>
          <p:cNvSpPr txBox="1">
            <a:spLocks noChangeArrowheads="1"/>
          </p:cNvSpPr>
          <p:nvPr/>
        </p:nvSpPr>
        <p:spPr bwMode="auto">
          <a:xfrm>
            <a:off x="215900" y="1342713"/>
            <a:ext cx="8569325" cy="514651"/>
          </a:xfrm>
          <a:prstGeom prst="rect">
            <a:avLst/>
          </a:prstGeom>
          <a:noFill/>
          <a:ln w="9525">
            <a:noFill/>
            <a:miter lim="800000"/>
            <a:headEnd/>
            <a:tailEnd/>
          </a:ln>
        </p:spPr>
        <p:txBody>
          <a:bodyPr lIns="82954" tIns="41477" rIns="82954" bIns="41477">
            <a:spAutoFit/>
          </a:bodyPr>
          <a:lstStyle/>
          <a:p>
            <a:pPr marL="457200" indent="-457200">
              <a:spcAft>
                <a:spcPts val="1200"/>
              </a:spcAft>
              <a:buFont typeface="Wingdings" pitchFamily="2" charset="2"/>
              <a:buChar char="p"/>
              <a:defRPr/>
            </a:pPr>
            <a:r>
              <a:rPr lang="en-US" altLang="zh-CN" sz="2800" b="1" dirty="0" smtClean="0">
                <a:solidFill>
                  <a:srgbClr val="0070C0"/>
                </a:solidFill>
                <a:latin typeface="Arial" charset="0"/>
                <a:ea typeface="宋体" pitchFamily="2" charset="-122"/>
              </a:rPr>
              <a:t>GPS Antennas</a:t>
            </a:r>
            <a:endParaRPr lang="en-US" altLang="zh-CN" sz="2800" b="1" dirty="0">
              <a:solidFill>
                <a:srgbClr val="0070C0"/>
              </a:solidFill>
              <a:latin typeface="Arial" charset="0"/>
              <a:ea typeface="宋体" pitchFamily="2" charset="-122"/>
            </a:endParaRPr>
          </a:p>
        </p:txBody>
      </p:sp>
      <p:sp>
        <p:nvSpPr>
          <p:cNvPr id="15369" name="Rectangle 2"/>
          <p:cNvSpPr>
            <a:spLocks noChangeArrowheads="1"/>
          </p:cNvSpPr>
          <p:nvPr/>
        </p:nvSpPr>
        <p:spPr bwMode="gray">
          <a:xfrm>
            <a:off x="0" y="0"/>
            <a:ext cx="9144000" cy="457200"/>
          </a:xfrm>
          <a:prstGeom prst="rect">
            <a:avLst/>
          </a:prstGeom>
          <a:noFill/>
          <a:ln w="9525" algn="ctr">
            <a:noFill/>
            <a:miter lim="800000"/>
            <a:headEnd/>
            <a:tailEnd/>
          </a:ln>
        </p:spPr>
        <p:txBody>
          <a:bodyPr wrap="none" anchor="ctr">
            <a:spAutoFit/>
          </a:bodyPr>
          <a:lstStyle/>
          <a:p>
            <a:endParaRPr lang="zh-CN" altLang="en-US"/>
          </a:p>
        </p:txBody>
      </p:sp>
      <p:sp>
        <p:nvSpPr>
          <p:cNvPr id="15370"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15362" name="对象 9"/>
          <p:cNvGraphicFramePr>
            <a:graphicFrameLocks noChangeAspect="1"/>
          </p:cNvGraphicFramePr>
          <p:nvPr/>
        </p:nvGraphicFramePr>
        <p:xfrm>
          <a:off x="2928926" y="3071810"/>
          <a:ext cx="5508625" cy="2819400"/>
        </p:xfrm>
        <a:graphic>
          <a:graphicData uri="http://schemas.openxmlformats.org/presentationml/2006/ole">
            <p:oleObj spid="_x0000_s15363" name="Visio" r:id="rId4" imgW="5368671" imgH="2749486" progId="">
              <p:embed/>
            </p:oleObj>
          </a:graphicData>
        </a:graphic>
      </p:graphicFrame>
      <p:sp>
        <p:nvSpPr>
          <p:cNvPr id="11"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48</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12"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3" name="矩形 12"/>
          <p:cNvSpPr/>
          <p:nvPr/>
        </p:nvSpPr>
        <p:spPr>
          <a:xfrm>
            <a:off x="128903" y="261938"/>
            <a:ext cx="8729377" cy="615553"/>
          </a:xfrm>
          <a:prstGeom prst="rect">
            <a:avLst/>
          </a:prstGeom>
        </p:spPr>
        <p:txBody>
          <a:bodyPr wrap="none">
            <a:spAutoFit/>
          </a:bodyPr>
          <a:lstStyle/>
          <a:p>
            <a:pPr>
              <a:defRPr/>
            </a:pPr>
            <a:r>
              <a:rPr lang="en-US" altLang="zh-CN" sz="3400" b="1" kern="1700" dirty="0" smtClean="0">
                <a:solidFill>
                  <a:schemeClr val="bg1"/>
                </a:solidFill>
                <a:latin typeface="微软雅黑" pitchFamily="34" charset="-122"/>
                <a:ea typeface="微软雅黑" pitchFamily="34" charset="-122"/>
                <a:cs typeface="+mj-cs"/>
              </a:rPr>
              <a:t>4  </a:t>
            </a:r>
            <a:r>
              <a:rPr lang="en-US" altLang="zh-CN" sz="3400" b="1" kern="1700" dirty="0">
                <a:solidFill>
                  <a:schemeClr val="bg1"/>
                </a:solidFill>
                <a:latin typeface="微软雅黑" pitchFamily="34" charset="-122"/>
                <a:ea typeface="微软雅黑" pitchFamily="34" charset="-122"/>
                <a:cs typeface="+mj-cs"/>
              </a:rPr>
              <a:t>Positioning and Orbit Determination</a:t>
            </a:r>
            <a:endParaRPr lang="zh-CN" altLang="en-US" sz="3400" b="1" kern="1700" dirty="0">
              <a:solidFill>
                <a:schemeClr val="bg1"/>
              </a:solidFill>
              <a:latin typeface="微软雅黑" pitchFamily="34" charset="-122"/>
              <a:ea typeface="微软雅黑" pitchFamily="34" charset="-122"/>
              <a:cs typeface="+mj-cs"/>
            </a:endParaRPr>
          </a:p>
        </p:txBody>
      </p:sp>
      <p:pic>
        <p:nvPicPr>
          <p:cNvPr id="14" name="Picture 45"/>
          <p:cNvPicPr>
            <a:picLocks noChangeAspect="1" noChangeArrowheads="1"/>
          </p:cNvPicPr>
          <p:nvPr/>
        </p:nvPicPr>
        <p:blipFill>
          <a:blip r:embed="rId5"/>
          <a:srcRect/>
          <a:stretch>
            <a:fillRect/>
          </a:stretch>
        </p:blipFill>
        <p:spPr bwMode="gray">
          <a:xfrm>
            <a:off x="952493" y="2114552"/>
            <a:ext cx="2690813" cy="1671638"/>
          </a:xfrm>
          <a:prstGeom prst="rect">
            <a:avLst/>
          </a:prstGeom>
          <a:noFill/>
          <a:ln w="9525" algn="ctr">
            <a:noFill/>
            <a:miter lim="800000"/>
            <a:headEnd/>
            <a:tailEnd/>
          </a:ln>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2" name="标题 2"/>
          <p:cNvSpPr txBox="1">
            <a:spLocks/>
          </p:cNvSpPr>
          <p:nvPr/>
        </p:nvSpPr>
        <p:spPr bwMode="auto">
          <a:xfrm>
            <a:off x="50800" y="233363"/>
            <a:ext cx="8229600" cy="1143000"/>
          </a:xfrm>
          <a:prstGeom prst="rect">
            <a:avLst/>
          </a:prstGeom>
          <a:noFill/>
          <a:ln w="9525">
            <a:noFill/>
            <a:miter lim="800000"/>
            <a:headEnd/>
            <a:tailEnd/>
          </a:ln>
        </p:spPr>
        <p:txBody>
          <a:bodyPr/>
          <a:lstStyle/>
          <a:p>
            <a:pPr eaLnBrk="0" hangingPunct="0"/>
            <a:endParaRPr lang="zh-CN" altLang="en-US" sz="4400">
              <a:solidFill>
                <a:schemeClr val="tx2"/>
              </a:solidFill>
            </a:endParaRPr>
          </a:p>
        </p:txBody>
      </p:sp>
      <p:sp>
        <p:nvSpPr>
          <p:cNvPr id="1045"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17" name="表格 16"/>
          <p:cNvGraphicFramePr>
            <a:graphicFrameLocks noGrp="1"/>
          </p:cNvGraphicFramePr>
          <p:nvPr/>
        </p:nvGraphicFramePr>
        <p:xfrm>
          <a:off x="811213" y="2297113"/>
          <a:ext cx="7412084" cy="3653061"/>
        </p:xfrm>
        <a:graphic>
          <a:graphicData uri="http://schemas.openxmlformats.org/drawingml/2006/table">
            <a:tbl>
              <a:tblPr/>
              <a:tblGrid>
                <a:gridCol w="767893"/>
                <a:gridCol w="2295768"/>
                <a:gridCol w="4348423"/>
              </a:tblGrid>
              <a:tr h="364854">
                <a:tc>
                  <a:txBody>
                    <a:bodyPr/>
                    <a:lstStyle/>
                    <a:p>
                      <a:pPr indent="1270" algn="ctr">
                        <a:spcAft>
                          <a:spcPts val="0"/>
                        </a:spcAft>
                      </a:pPr>
                      <a:r>
                        <a:rPr lang="en-US" sz="2000" b="1" kern="100" dirty="0">
                          <a:solidFill>
                            <a:schemeClr val="bg1"/>
                          </a:solidFill>
                          <a:latin typeface="Times New Roman"/>
                          <a:ea typeface="宋体"/>
                          <a:cs typeface="Times New Roman"/>
                        </a:rPr>
                        <a:t>No.</a:t>
                      </a:r>
                      <a:endParaRPr lang="zh-CN" sz="2000" kern="100" dirty="0">
                        <a:solidFill>
                          <a:schemeClr val="bg1"/>
                        </a:solidFill>
                        <a:latin typeface="Times New Roman"/>
                        <a:ea typeface="宋体"/>
                        <a:cs typeface="Times New Roman"/>
                      </a:endParaRPr>
                    </a:p>
                  </a:txBody>
                  <a:tcPr marL="68307" marR="68307" marT="88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indent="-27305" algn="ctr">
                        <a:spcAft>
                          <a:spcPts val="0"/>
                        </a:spcAft>
                      </a:pPr>
                      <a:r>
                        <a:rPr lang="en-US" sz="2000" b="1" kern="100" dirty="0">
                          <a:solidFill>
                            <a:schemeClr val="bg1"/>
                          </a:solidFill>
                          <a:latin typeface="Times New Roman"/>
                          <a:ea typeface="宋体"/>
                          <a:cs typeface="Times New Roman"/>
                        </a:rPr>
                        <a:t>Item</a:t>
                      </a:r>
                      <a:endParaRPr lang="zh-CN" sz="2000" kern="100" dirty="0">
                        <a:solidFill>
                          <a:schemeClr val="bg1"/>
                        </a:solidFill>
                        <a:latin typeface="Times New Roman"/>
                        <a:ea typeface="宋体"/>
                        <a:cs typeface="Times New Roman"/>
                      </a:endParaRPr>
                    </a:p>
                  </a:txBody>
                  <a:tcPr marL="68307" marR="68307" marT="88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indent="-354965" algn="ctr">
                        <a:spcAft>
                          <a:spcPts val="0"/>
                        </a:spcAft>
                      </a:pPr>
                      <a:r>
                        <a:rPr lang="en-US" sz="2000" b="1" kern="100" dirty="0">
                          <a:solidFill>
                            <a:schemeClr val="bg1"/>
                          </a:solidFill>
                          <a:latin typeface="Times New Roman"/>
                          <a:ea typeface="宋体"/>
                          <a:cs typeface="Times New Roman"/>
                        </a:rPr>
                        <a:t>Specification</a:t>
                      </a:r>
                      <a:endParaRPr lang="zh-CN" sz="2000" kern="100" dirty="0">
                        <a:solidFill>
                          <a:schemeClr val="bg1"/>
                        </a:solidFill>
                        <a:latin typeface="Times New Roman"/>
                        <a:ea typeface="宋体"/>
                        <a:cs typeface="Times New Roman"/>
                      </a:endParaRPr>
                    </a:p>
                  </a:txBody>
                  <a:tcPr marL="68307" marR="68307" marT="88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r>
              <a:tr h="506223">
                <a:tc>
                  <a:txBody>
                    <a:bodyPr/>
                    <a:lstStyle/>
                    <a:p>
                      <a:pPr marL="355600" indent="-355600" algn="ctr" rtl="0" eaLnBrk="1" latinLnBrk="0" hangingPunct="1">
                        <a:spcAft>
                          <a:spcPts val="0"/>
                        </a:spcAft>
                      </a:pPr>
                      <a:r>
                        <a:rPr kumimoji="0" lang="en-US" sz="1600" b="1" i="0" u="none" strike="noStrike" kern="1200" cap="none" normalizeH="0" baseline="0" dirty="0">
                          <a:ln>
                            <a:noFill/>
                          </a:ln>
                          <a:solidFill>
                            <a:srgbClr val="0070C0"/>
                          </a:solidFill>
                          <a:effectLst/>
                          <a:latin typeface="Times New Roman" pitchFamily="18" charset="0"/>
                          <a:ea typeface="宋体" pitchFamily="2" charset="-122"/>
                          <a:cs typeface="+mn-cs"/>
                        </a:rPr>
                        <a:t>1</a:t>
                      </a:r>
                      <a:endParaRPr kumimoji="0" lang="zh-CN" sz="1600" b="1" i="0" u="none" strike="noStrike" kern="1200" cap="none" normalizeH="0" baseline="0" dirty="0">
                        <a:ln>
                          <a:noFill/>
                        </a:ln>
                        <a:solidFill>
                          <a:srgbClr val="0070C0"/>
                        </a:solidFill>
                        <a:effectLst/>
                        <a:latin typeface="Times New Roman" pitchFamily="18" charset="0"/>
                        <a:ea typeface="宋体" pitchFamily="2" charset="-122"/>
                        <a:cs typeface="+mn-cs"/>
                      </a:endParaRPr>
                    </a:p>
                  </a:txBody>
                  <a:tcPr marL="68307" marR="68307" marT="88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355600" indent="-355600" algn="l" rtl="0" eaLnBrk="1" latinLnBrk="0" hangingPunct="1">
                        <a:spcAft>
                          <a:spcPts val="0"/>
                        </a:spcAft>
                      </a:pPr>
                      <a:r>
                        <a:rPr kumimoji="0" lang="en-US"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Working Frequency </a:t>
                      </a:r>
                      <a:endParaRPr kumimoji="0" lang="zh-CN" sz="1600" b="1" i="0" u="none" strike="noStrike" kern="1200" cap="none" normalizeH="0" baseline="0" dirty="0">
                        <a:ln>
                          <a:noFill/>
                        </a:ln>
                        <a:solidFill>
                          <a:srgbClr val="0070C0"/>
                        </a:solidFill>
                        <a:effectLst/>
                        <a:latin typeface="Times New Roman" pitchFamily="18" charset="0"/>
                        <a:ea typeface="宋体" pitchFamily="2" charset="-122"/>
                        <a:cs typeface="+mn-cs"/>
                      </a:endParaRPr>
                    </a:p>
                  </a:txBody>
                  <a:tcPr marL="68307" marR="68307" marT="88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355600" indent="-355600" algn="l" rtl="0" eaLnBrk="1" latinLnBrk="0" hangingPunct="1">
                        <a:spcAft>
                          <a:spcPts val="0"/>
                        </a:spcAft>
                      </a:pPr>
                      <a:r>
                        <a:rPr kumimoji="0" lang="en-US" sz="1600" b="1" i="0" u="none" strike="noStrike" kern="1200" cap="none" normalizeH="0" baseline="0" dirty="0">
                          <a:ln>
                            <a:noFill/>
                          </a:ln>
                          <a:solidFill>
                            <a:srgbClr val="0070C0"/>
                          </a:solidFill>
                          <a:effectLst/>
                          <a:latin typeface="Times New Roman" pitchFamily="18" charset="0"/>
                          <a:ea typeface="宋体" pitchFamily="2" charset="-122"/>
                          <a:cs typeface="+mn-cs"/>
                        </a:rPr>
                        <a:t>L1: </a:t>
                      </a:r>
                      <a:r>
                        <a:rPr kumimoji="0" lang="en-US"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1575.42±10MHz </a:t>
                      </a:r>
                      <a:endParaRPr kumimoji="0" lang="zh-CN" sz="1600" b="1" i="0" u="none" strike="noStrike" kern="1200" cap="none" normalizeH="0" baseline="0" dirty="0">
                        <a:ln>
                          <a:noFill/>
                        </a:ln>
                        <a:solidFill>
                          <a:srgbClr val="0070C0"/>
                        </a:solidFill>
                        <a:effectLst/>
                        <a:latin typeface="Times New Roman" pitchFamily="18" charset="0"/>
                        <a:ea typeface="宋体" pitchFamily="2" charset="-122"/>
                        <a:cs typeface="+mn-cs"/>
                      </a:endParaRPr>
                    </a:p>
                  </a:txBody>
                  <a:tcPr marL="68307" marR="68307" marT="88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r>
              <a:tr h="447569">
                <a:tc>
                  <a:txBody>
                    <a:bodyPr/>
                    <a:lstStyle/>
                    <a:p>
                      <a:pPr marL="355600" indent="-355600" algn="ctr" rtl="0" eaLnBrk="1" latinLnBrk="0" hangingPunct="1">
                        <a:spcAft>
                          <a:spcPts val="0"/>
                        </a:spcAft>
                      </a:pPr>
                      <a:r>
                        <a:rPr kumimoji="0" lang="en-US" sz="1600" b="1" i="0" u="none" strike="noStrike" kern="1200" cap="none" normalizeH="0" baseline="0" dirty="0">
                          <a:ln>
                            <a:noFill/>
                          </a:ln>
                          <a:solidFill>
                            <a:srgbClr val="0070C0"/>
                          </a:solidFill>
                          <a:effectLst/>
                          <a:latin typeface="Times New Roman" pitchFamily="18" charset="0"/>
                          <a:ea typeface="宋体" pitchFamily="2" charset="-122"/>
                          <a:cs typeface="+mn-cs"/>
                        </a:rPr>
                        <a:t>2</a:t>
                      </a:r>
                      <a:endParaRPr kumimoji="0" lang="zh-CN" sz="1600" b="1" i="0" u="none" strike="noStrike" kern="1200" cap="none" normalizeH="0" baseline="0" dirty="0">
                        <a:ln>
                          <a:noFill/>
                        </a:ln>
                        <a:solidFill>
                          <a:srgbClr val="0070C0"/>
                        </a:solidFill>
                        <a:effectLst/>
                        <a:latin typeface="Times New Roman" pitchFamily="18" charset="0"/>
                        <a:ea typeface="宋体" pitchFamily="2" charset="-122"/>
                        <a:cs typeface="+mn-cs"/>
                      </a:endParaRPr>
                    </a:p>
                  </a:txBody>
                  <a:tcPr marL="68307" marR="68307" marT="88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355600" indent="-355600" algn="l" rtl="0" eaLnBrk="1" latinLnBrk="0" hangingPunct="1">
                        <a:spcAft>
                          <a:spcPts val="0"/>
                        </a:spcAft>
                      </a:pPr>
                      <a:r>
                        <a:rPr kumimoji="0" lang="en-US" sz="1600" b="1" i="0" u="none" strike="noStrike" kern="1200" cap="none" normalizeH="0" baseline="0" dirty="0">
                          <a:ln>
                            <a:noFill/>
                          </a:ln>
                          <a:solidFill>
                            <a:srgbClr val="0070C0"/>
                          </a:solidFill>
                          <a:effectLst/>
                          <a:latin typeface="Times New Roman" pitchFamily="18" charset="0"/>
                          <a:ea typeface="宋体" pitchFamily="2" charset="-122"/>
                          <a:cs typeface="+mn-cs"/>
                        </a:rPr>
                        <a:t>Polarization </a:t>
                      </a:r>
                      <a:endParaRPr kumimoji="0" lang="zh-CN" sz="1600" b="1" i="0" u="none" strike="noStrike" kern="1200" cap="none" normalizeH="0" baseline="0" dirty="0">
                        <a:ln>
                          <a:noFill/>
                        </a:ln>
                        <a:solidFill>
                          <a:srgbClr val="0070C0"/>
                        </a:solidFill>
                        <a:effectLst/>
                        <a:latin typeface="Times New Roman" pitchFamily="18" charset="0"/>
                        <a:ea typeface="宋体" pitchFamily="2" charset="-122"/>
                        <a:cs typeface="+mn-cs"/>
                      </a:endParaRPr>
                    </a:p>
                  </a:txBody>
                  <a:tcPr marL="68307" marR="68307" marT="88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355600" indent="-355600" algn="l" rtl="0" eaLnBrk="1" latinLnBrk="0" hangingPunct="1">
                        <a:spcAft>
                          <a:spcPts val="0"/>
                        </a:spcAft>
                      </a:pPr>
                      <a:r>
                        <a:rPr kumimoji="0" lang="en-US" sz="1600" b="1" i="0" u="none" strike="noStrike" kern="1200" cap="none" normalizeH="0" baseline="0" dirty="0">
                          <a:ln>
                            <a:noFill/>
                          </a:ln>
                          <a:solidFill>
                            <a:srgbClr val="0070C0"/>
                          </a:solidFill>
                          <a:effectLst/>
                          <a:latin typeface="Times New Roman" pitchFamily="18" charset="0"/>
                          <a:ea typeface="宋体" pitchFamily="2" charset="-122"/>
                          <a:cs typeface="+mn-cs"/>
                        </a:rPr>
                        <a:t>Right hand circular polarization (RHCP) </a:t>
                      </a:r>
                      <a:endParaRPr kumimoji="0" lang="zh-CN" sz="1600" b="1" i="0" u="none" strike="noStrike" kern="1200" cap="none" normalizeH="0" baseline="0" dirty="0">
                        <a:ln>
                          <a:noFill/>
                        </a:ln>
                        <a:solidFill>
                          <a:srgbClr val="0070C0"/>
                        </a:solidFill>
                        <a:effectLst/>
                        <a:latin typeface="Times New Roman" pitchFamily="18" charset="0"/>
                        <a:ea typeface="宋体" pitchFamily="2" charset="-122"/>
                        <a:cs typeface="+mn-cs"/>
                      </a:endParaRPr>
                    </a:p>
                  </a:txBody>
                  <a:tcPr marL="68307" marR="68307" marT="88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r>
              <a:tr h="1859746">
                <a:tc>
                  <a:txBody>
                    <a:bodyPr/>
                    <a:lstStyle/>
                    <a:p>
                      <a:pPr marL="355600" indent="-355600" algn="ctr" rtl="0" eaLnBrk="1" latinLnBrk="0" hangingPunct="1">
                        <a:spcAft>
                          <a:spcPts val="0"/>
                        </a:spcAft>
                      </a:pPr>
                      <a:r>
                        <a:rPr kumimoji="0" lang="en-US" sz="1600" b="1" i="0" u="none" strike="noStrike" kern="1200" cap="none" normalizeH="0" baseline="0" dirty="0">
                          <a:ln>
                            <a:noFill/>
                          </a:ln>
                          <a:solidFill>
                            <a:srgbClr val="0070C0"/>
                          </a:solidFill>
                          <a:effectLst/>
                          <a:latin typeface="Times New Roman" pitchFamily="18" charset="0"/>
                          <a:ea typeface="宋体" pitchFamily="2" charset="-122"/>
                          <a:cs typeface="+mn-cs"/>
                        </a:rPr>
                        <a:t>3</a:t>
                      </a:r>
                      <a:endParaRPr kumimoji="0" lang="zh-CN" sz="1600" b="1" i="0" u="none" strike="noStrike" kern="1200" cap="none" normalizeH="0" baseline="0" dirty="0">
                        <a:ln>
                          <a:noFill/>
                        </a:ln>
                        <a:solidFill>
                          <a:srgbClr val="0070C0"/>
                        </a:solidFill>
                        <a:effectLst/>
                        <a:latin typeface="Times New Roman" pitchFamily="18" charset="0"/>
                        <a:ea typeface="宋体" pitchFamily="2" charset="-122"/>
                        <a:cs typeface="+mn-cs"/>
                      </a:endParaRPr>
                    </a:p>
                  </a:txBody>
                  <a:tcPr marL="68307" marR="68307" marT="88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355600" indent="-355600" algn="l" rtl="0" eaLnBrk="1" latinLnBrk="0" hangingPunct="1">
                        <a:spcAft>
                          <a:spcPts val="0"/>
                        </a:spcAft>
                      </a:pPr>
                      <a:r>
                        <a:rPr kumimoji="0" lang="en-US" sz="1600" b="1" i="0" u="none" strike="noStrike" kern="1200" cap="none" normalizeH="0" baseline="0" dirty="0">
                          <a:ln>
                            <a:noFill/>
                          </a:ln>
                          <a:solidFill>
                            <a:srgbClr val="0070C0"/>
                          </a:solidFill>
                          <a:effectLst/>
                          <a:latin typeface="Times New Roman" pitchFamily="18" charset="0"/>
                          <a:ea typeface="宋体" pitchFamily="2" charset="-122"/>
                          <a:cs typeface="+mn-cs"/>
                        </a:rPr>
                        <a:t>Pattern &amp; Gain</a:t>
                      </a:r>
                      <a:endParaRPr kumimoji="0" lang="zh-CN" sz="1600" b="1" i="0" u="none" strike="noStrike" kern="1200" cap="none" normalizeH="0" baseline="0" dirty="0">
                        <a:ln>
                          <a:noFill/>
                        </a:ln>
                        <a:solidFill>
                          <a:srgbClr val="0070C0"/>
                        </a:solidFill>
                        <a:effectLst/>
                        <a:latin typeface="Times New Roman" pitchFamily="18" charset="0"/>
                        <a:ea typeface="宋体" pitchFamily="2" charset="-122"/>
                        <a:cs typeface="+mn-cs"/>
                      </a:endParaRPr>
                    </a:p>
                  </a:txBody>
                  <a:tcPr marL="68307" marR="68307" marT="88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355600" indent="-355600" algn="l" rtl="0" eaLnBrk="1" latinLnBrk="0" hangingPunct="1">
                        <a:lnSpc>
                          <a:spcPct val="150000"/>
                        </a:lnSpc>
                        <a:spcAft>
                          <a:spcPts val="0"/>
                        </a:spcAft>
                      </a:pPr>
                      <a:r>
                        <a:rPr kumimoji="0" lang="en-US" sz="1600" b="1" i="0" u="none" strike="noStrike" kern="1200" cap="none" normalizeH="0" baseline="0" dirty="0">
                          <a:ln>
                            <a:noFill/>
                          </a:ln>
                          <a:solidFill>
                            <a:srgbClr val="0070C0"/>
                          </a:solidFill>
                          <a:effectLst/>
                          <a:latin typeface="Times New Roman" pitchFamily="18" charset="0"/>
                          <a:ea typeface="宋体" pitchFamily="2" charset="-122"/>
                          <a:cs typeface="+mn-cs"/>
                        </a:rPr>
                        <a:t>L1 frequency</a:t>
                      </a:r>
                      <a:r>
                        <a:rPr kumimoji="0" lang="zh-CN" sz="1600" b="1" i="0" u="none" strike="noStrike" kern="1200" cap="none" normalizeH="0" baseline="0" dirty="0">
                          <a:ln>
                            <a:noFill/>
                          </a:ln>
                          <a:solidFill>
                            <a:srgbClr val="0070C0"/>
                          </a:solidFill>
                          <a:effectLst/>
                          <a:latin typeface="Times New Roman" pitchFamily="18" charset="0"/>
                          <a:ea typeface="宋体" pitchFamily="2" charset="-122"/>
                          <a:cs typeface="+mn-cs"/>
                        </a:rPr>
                        <a:t>（</a:t>
                      </a:r>
                      <a:r>
                        <a:rPr kumimoji="0" lang="en-US" sz="1600" b="1" i="0" u="none" strike="noStrike" kern="1200" cap="none" normalizeH="0" baseline="0" dirty="0">
                          <a:ln>
                            <a:noFill/>
                          </a:ln>
                          <a:solidFill>
                            <a:srgbClr val="0070C0"/>
                          </a:solidFill>
                          <a:effectLst/>
                          <a:latin typeface="Times New Roman" pitchFamily="18" charset="0"/>
                          <a:ea typeface="宋体" pitchFamily="2" charset="-122"/>
                          <a:cs typeface="+mn-cs"/>
                        </a:rPr>
                        <a:t>nulls allowed</a:t>
                      </a:r>
                      <a:r>
                        <a:rPr kumimoji="0" lang="zh-CN" sz="1600" b="1" i="0" u="none" strike="noStrike" kern="1200" cap="none" normalizeH="0" baseline="0" dirty="0">
                          <a:ln>
                            <a:noFill/>
                          </a:ln>
                          <a:solidFill>
                            <a:srgbClr val="0070C0"/>
                          </a:solidFill>
                          <a:effectLst/>
                          <a:latin typeface="Times New Roman" pitchFamily="18" charset="0"/>
                          <a:ea typeface="宋体" pitchFamily="2" charset="-122"/>
                          <a:cs typeface="+mn-cs"/>
                        </a:rPr>
                        <a:t>）</a:t>
                      </a:r>
                      <a:r>
                        <a:rPr kumimoji="0" lang="en-US" sz="1600" b="1" i="0" u="none" strike="noStrike" kern="1200" cap="none" normalizeH="0" baseline="0" dirty="0">
                          <a:ln>
                            <a:noFill/>
                          </a:ln>
                          <a:solidFill>
                            <a:srgbClr val="0070C0"/>
                          </a:solidFill>
                          <a:effectLst/>
                          <a:latin typeface="Times New Roman" pitchFamily="18" charset="0"/>
                          <a:ea typeface="宋体" pitchFamily="2" charset="-122"/>
                          <a:cs typeface="+mn-cs"/>
                        </a:rPr>
                        <a:t>:</a:t>
                      </a:r>
                      <a:endParaRPr kumimoji="0" lang="zh-CN" sz="1600" b="1" i="0" u="none" strike="noStrike" kern="1200" cap="none" normalizeH="0" baseline="0" dirty="0">
                        <a:ln>
                          <a:noFill/>
                        </a:ln>
                        <a:solidFill>
                          <a:srgbClr val="0070C0"/>
                        </a:solidFill>
                        <a:effectLst/>
                        <a:latin typeface="Times New Roman" pitchFamily="18" charset="0"/>
                        <a:ea typeface="宋体" pitchFamily="2" charset="-122"/>
                        <a:cs typeface="+mn-cs"/>
                      </a:endParaRPr>
                    </a:p>
                    <a:p>
                      <a:pPr marL="355600" indent="-355600" algn="l" rtl="0" eaLnBrk="1" latinLnBrk="0" hangingPunct="1">
                        <a:lnSpc>
                          <a:spcPct val="150000"/>
                        </a:lnSpc>
                        <a:spcAft>
                          <a:spcPts val="0"/>
                        </a:spcAft>
                      </a:pPr>
                      <a:r>
                        <a:rPr kumimoji="0" lang="zh-CN" altLang="en-US" sz="1600" b="1" i="0" u="none" strike="noStrike" kern="1200" cap="none" normalizeH="0" baseline="0" dirty="0" smtClean="0">
                          <a:ln>
                            <a:noFill/>
                          </a:ln>
                          <a:solidFill>
                            <a:srgbClr val="0070C0"/>
                          </a:solidFill>
                          <a:effectLst/>
                          <a:latin typeface="Times New Roman" pitchFamily="18" charset="0"/>
                          <a:ea typeface="宋体" pitchFamily="2" charset="-122"/>
                          <a:cs typeface="+mn-cs"/>
                          <a:sym typeface="Symbol"/>
                        </a:rPr>
                        <a:t>≤</a:t>
                      </a: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sym typeface="Symbol"/>
                        </a:rPr>
                        <a:t>360º</a:t>
                      </a:r>
                      <a:r>
                        <a:rPr kumimoji="0" 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a:t>
                      </a: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0º≤</a:t>
                      </a:r>
                      <a:r>
                        <a:rPr kumimoji="0" lang="el-GR"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θ≤</a:t>
                      </a: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45º</a:t>
                      </a:r>
                      <a:r>
                        <a:rPr kumimoji="0" lang="en-US"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 </a:t>
                      </a:r>
                      <a:r>
                        <a:rPr kumimoji="0" lang="zh-CN" sz="1600" b="1" i="0" u="none" strike="noStrike" kern="1200" cap="none" normalizeH="0" baseline="0" dirty="0">
                          <a:ln>
                            <a:noFill/>
                          </a:ln>
                          <a:solidFill>
                            <a:srgbClr val="0070C0"/>
                          </a:solidFill>
                          <a:effectLst/>
                          <a:latin typeface="Times New Roman" pitchFamily="18" charset="0"/>
                          <a:ea typeface="宋体" pitchFamily="2" charset="-122"/>
                          <a:cs typeface="+mn-cs"/>
                        </a:rPr>
                        <a:t>，</a:t>
                      </a:r>
                      <a:r>
                        <a:rPr kumimoji="0" lang="en-US" sz="1600" b="1" i="0" u="none" strike="noStrike" kern="1200" cap="none" normalizeH="0" baseline="0" dirty="0">
                          <a:ln>
                            <a:noFill/>
                          </a:ln>
                          <a:solidFill>
                            <a:srgbClr val="0070C0"/>
                          </a:solidFill>
                          <a:effectLst/>
                          <a:latin typeface="Times New Roman" pitchFamily="18" charset="0"/>
                          <a:ea typeface="宋体" pitchFamily="2" charset="-122"/>
                          <a:cs typeface="+mn-cs"/>
                        </a:rPr>
                        <a:t>G</a:t>
                      </a:r>
                      <a:r>
                        <a:rPr kumimoji="0" lang="en-US" sz="1600" b="1" i="0" u="none" strike="noStrike" kern="1200" cap="none" normalizeH="0" baseline="0" dirty="0">
                          <a:ln>
                            <a:noFill/>
                          </a:ln>
                          <a:solidFill>
                            <a:srgbClr val="0070C0"/>
                          </a:solidFill>
                          <a:effectLst/>
                          <a:latin typeface="Times New Roman" pitchFamily="18" charset="0"/>
                          <a:ea typeface="宋体" pitchFamily="2" charset="-122"/>
                          <a:cs typeface="+mn-cs"/>
                          <a:sym typeface="Symbol"/>
                        </a:rPr>
                        <a:t></a:t>
                      </a:r>
                      <a:r>
                        <a:rPr kumimoji="0" lang="en-US" sz="1600" b="1" i="0" u="none" strike="noStrike" kern="1200" cap="none" normalizeH="0" baseline="0" dirty="0">
                          <a:ln>
                            <a:noFill/>
                          </a:ln>
                          <a:solidFill>
                            <a:srgbClr val="0070C0"/>
                          </a:solidFill>
                          <a:effectLst/>
                          <a:latin typeface="Times New Roman" pitchFamily="18" charset="0"/>
                          <a:ea typeface="宋体" pitchFamily="2" charset="-122"/>
                          <a:cs typeface="+mn-cs"/>
                        </a:rPr>
                        <a:t>-1.0dBi</a:t>
                      </a:r>
                      <a:endParaRPr kumimoji="0" lang="zh-CN" sz="1600" b="1" i="0" u="none" strike="noStrike" kern="1200" cap="none" normalizeH="0" baseline="0" dirty="0">
                        <a:ln>
                          <a:noFill/>
                        </a:ln>
                        <a:solidFill>
                          <a:srgbClr val="0070C0"/>
                        </a:solidFill>
                        <a:effectLst/>
                        <a:latin typeface="Times New Roman" pitchFamily="18" charset="0"/>
                        <a:ea typeface="宋体" pitchFamily="2" charset="-122"/>
                        <a:cs typeface="+mn-cs"/>
                      </a:endParaRPr>
                    </a:p>
                    <a:p>
                      <a:pPr marL="355600" indent="-355600" algn="l" rtl="0" eaLnBrk="1" latinLnBrk="0" hangingPunct="1">
                        <a:lnSpc>
                          <a:spcPct val="150000"/>
                        </a:lnSpc>
                        <a:spcAft>
                          <a:spcPts val="0"/>
                        </a:spcAft>
                      </a:pPr>
                      <a:r>
                        <a:rPr kumimoji="0" lang="zh-CN" altLang="en-US" sz="1600" b="1" i="0" u="none" strike="noStrike" kern="1200" cap="none" normalizeH="0" baseline="0" dirty="0" smtClean="0">
                          <a:ln>
                            <a:noFill/>
                          </a:ln>
                          <a:solidFill>
                            <a:srgbClr val="0070C0"/>
                          </a:solidFill>
                          <a:effectLst/>
                          <a:latin typeface="Times New Roman" pitchFamily="18" charset="0"/>
                          <a:ea typeface="宋体" pitchFamily="2" charset="-122"/>
                          <a:cs typeface="+mn-cs"/>
                          <a:sym typeface="Symbol"/>
                        </a:rPr>
                        <a:t>≤</a:t>
                      </a: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sym typeface="Symbol"/>
                        </a:rPr>
                        <a:t>360º</a:t>
                      </a:r>
                      <a:r>
                        <a:rPr kumimoji="0" lang="zh-CN" altLang="en-US"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a:t>
                      </a: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45º≤</a:t>
                      </a:r>
                      <a:r>
                        <a:rPr kumimoji="0" lang="el-GR"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θ≤</a:t>
                      </a: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75º</a:t>
                      </a:r>
                      <a:r>
                        <a:rPr kumimoji="0" lang="en-US"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 </a:t>
                      </a:r>
                      <a:r>
                        <a:rPr kumimoji="0" lang="zh-CN" altLang="en-US"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a:t>
                      </a:r>
                      <a:r>
                        <a:rPr kumimoji="0" lang="en-US"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G</a:t>
                      </a:r>
                      <a:r>
                        <a:rPr kumimoji="0" lang="en-US" sz="1600" b="1" i="0" u="none" strike="noStrike" kern="1200" cap="none" normalizeH="0" baseline="0" dirty="0">
                          <a:ln>
                            <a:noFill/>
                          </a:ln>
                          <a:solidFill>
                            <a:srgbClr val="0070C0"/>
                          </a:solidFill>
                          <a:effectLst/>
                          <a:latin typeface="Times New Roman" pitchFamily="18" charset="0"/>
                          <a:ea typeface="宋体" pitchFamily="2" charset="-122"/>
                          <a:cs typeface="+mn-cs"/>
                          <a:sym typeface="Symbol"/>
                        </a:rPr>
                        <a:t></a:t>
                      </a:r>
                      <a:r>
                        <a:rPr kumimoji="0" lang="en-US" sz="1600" b="1" i="0" u="none" strike="noStrike" kern="1200" cap="none" normalizeH="0" baseline="0" dirty="0">
                          <a:ln>
                            <a:noFill/>
                          </a:ln>
                          <a:solidFill>
                            <a:srgbClr val="0070C0"/>
                          </a:solidFill>
                          <a:effectLst/>
                          <a:latin typeface="Times New Roman" pitchFamily="18" charset="0"/>
                          <a:ea typeface="宋体" pitchFamily="2" charset="-122"/>
                          <a:cs typeface="+mn-cs"/>
                        </a:rPr>
                        <a:t>-3.5dBi</a:t>
                      </a:r>
                      <a:endParaRPr kumimoji="0" lang="zh-CN" sz="1600" b="1" i="0" u="none" strike="noStrike" kern="1200" cap="none" normalizeH="0" baseline="0" dirty="0">
                        <a:ln>
                          <a:noFill/>
                        </a:ln>
                        <a:solidFill>
                          <a:srgbClr val="0070C0"/>
                        </a:solidFill>
                        <a:effectLst/>
                        <a:latin typeface="Times New Roman" pitchFamily="18" charset="0"/>
                        <a:ea typeface="宋体" pitchFamily="2" charset="-122"/>
                        <a:cs typeface="+mn-cs"/>
                      </a:endParaRPr>
                    </a:p>
                    <a:p>
                      <a:pPr marL="355600" indent="-355600" algn="l" rtl="0" eaLnBrk="1" latinLnBrk="0" hangingPunct="1">
                        <a:lnSpc>
                          <a:spcPct val="150000"/>
                        </a:lnSpc>
                        <a:spcAft>
                          <a:spcPts val="0"/>
                        </a:spcAft>
                      </a:pPr>
                      <a:r>
                        <a:rPr kumimoji="0" lang="zh-CN" altLang="en-US" sz="1600" b="1" i="0" u="none" strike="noStrike" kern="1200" cap="none" normalizeH="0" baseline="0" dirty="0" smtClean="0">
                          <a:ln>
                            <a:noFill/>
                          </a:ln>
                          <a:solidFill>
                            <a:srgbClr val="0070C0"/>
                          </a:solidFill>
                          <a:effectLst/>
                          <a:latin typeface="Times New Roman" pitchFamily="18" charset="0"/>
                          <a:ea typeface="宋体" pitchFamily="2" charset="-122"/>
                          <a:cs typeface="+mn-cs"/>
                          <a:sym typeface="Symbol"/>
                        </a:rPr>
                        <a:t>≤</a:t>
                      </a: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sym typeface="Symbol"/>
                        </a:rPr>
                        <a:t>360º</a:t>
                      </a:r>
                      <a:r>
                        <a:rPr kumimoji="0" lang="zh-CN" altLang="en-US"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a:t>
                      </a: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75º≤</a:t>
                      </a:r>
                      <a:r>
                        <a:rPr kumimoji="0" lang="el-GR"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θ≤</a:t>
                      </a: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80º</a:t>
                      </a:r>
                      <a:r>
                        <a:rPr kumimoji="0" lang="en-US"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 </a:t>
                      </a:r>
                      <a:r>
                        <a:rPr kumimoji="0" lang="zh-CN" altLang="en-US"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a:t>
                      </a:r>
                      <a:r>
                        <a:rPr kumimoji="0" lang="en-US"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G</a:t>
                      </a:r>
                      <a:r>
                        <a:rPr kumimoji="0" lang="en-US" sz="1600" b="1" i="0" u="none" strike="noStrike" kern="1200" cap="none" normalizeH="0" baseline="0" dirty="0">
                          <a:ln>
                            <a:noFill/>
                          </a:ln>
                          <a:solidFill>
                            <a:srgbClr val="0070C0"/>
                          </a:solidFill>
                          <a:effectLst/>
                          <a:latin typeface="Times New Roman" pitchFamily="18" charset="0"/>
                          <a:ea typeface="宋体" pitchFamily="2" charset="-122"/>
                          <a:cs typeface="+mn-cs"/>
                          <a:sym typeface="Symbol"/>
                        </a:rPr>
                        <a:t></a:t>
                      </a:r>
                      <a:r>
                        <a:rPr kumimoji="0" lang="en-US" sz="1600" b="1" i="0" u="none" strike="noStrike" kern="1200" cap="none" normalizeH="0" baseline="0" dirty="0">
                          <a:ln>
                            <a:noFill/>
                          </a:ln>
                          <a:solidFill>
                            <a:srgbClr val="0070C0"/>
                          </a:solidFill>
                          <a:effectLst/>
                          <a:latin typeface="Times New Roman" pitchFamily="18" charset="0"/>
                          <a:ea typeface="宋体" pitchFamily="2" charset="-122"/>
                          <a:cs typeface="+mn-cs"/>
                        </a:rPr>
                        <a:t>-5dBi</a:t>
                      </a:r>
                      <a:endParaRPr kumimoji="0" lang="zh-CN" sz="1600" b="1" i="0" u="none" strike="noStrike" kern="1200" cap="none" normalizeH="0" baseline="0" dirty="0">
                        <a:ln>
                          <a:noFill/>
                        </a:ln>
                        <a:solidFill>
                          <a:srgbClr val="0070C0"/>
                        </a:solidFill>
                        <a:effectLst/>
                        <a:latin typeface="Times New Roman" pitchFamily="18" charset="0"/>
                        <a:ea typeface="宋体" pitchFamily="2" charset="-122"/>
                        <a:cs typeface="+mn-cs"/>
                      </a:endParaRPr>
                    </a:p>
                    <a:p>
                      <a:pPr marL="355600" indent="-355600" algn="l" rtl="0" eaLnBrk="1" latinLnBrk="0" hangingPunct="1">
                        <a:lnSpc>
                          <a:spcPct val="150000"/>
                        </a:lnSpc>
                        <a:spcAft>
                          <a:spcPts val="0"/>
                        </a:spcAft>
                      </a:pPr>
                      <a:r>
                        <a:rPr kumimoji="0" lang="zh-CN" altLang="en-US" sz="1600" b="1" i="0" u="none" strike="noStrike" kern="1200" cap="none" normalizeH="0" baseline="0" dirty="0" smtClean="0">
                          <a:ln>
                            <a:noFill/>
                          </a:ln>
                          <a:solidFill>
                            <a:srgbClr val="0070C0"/>
                          </a:solidFill>
                          <a:effectLst/>
                          <a:latin typeface="Times New Roman" pitchFamily="18" charset="0"/>
                          <a:ea typeface="宋体" pitchFamily="2" charset="-122"/>
                          <a:cs typeface="+mn-cs"/>
                          <a:sym typeface="Symbol"/>
                        </a:rPr>
                        <a:t>≤</a:t>
                      </a: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sym typeface="Symbol"/>
                        </a:rPr>
                        <a:t>360º</a:t>
                      </a:r>
                      <a:r>
                        <a:rPr kumimoji="0" lang="zh-CN" altLang="en-US"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a:t>
                      </a: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80º≤</a:t>
                      </a:r>
                      <a:r>
                        <a:rPr kumimoji="0" lang="el-GR"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θ≤</a:t>
                      </a:r>
                      <a:r>
                        <a:rPr kumimoji="0" lang="en-US" altLang="zh-CN"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90º</a:t>
                      </a:r>
                      <a:r>
                        <a:rPr kumimoji="0" lang="en-US"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 </a:t>
                      </a:r>
                      <a:r>
                        <a:rPr kumimoji="0" lang="zh-CN" altLang="en-US"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a:t>
                      </a:r>
                      <a:r>
                        <a:rPr kumimoji="0" lang="en-US" sz="1600" b="1" i="0" u="none" strike="noStrike" kern="1200" cap="none" normalizeH="0" baseline="0" dirty="0" smtClean="0">
                          <a:ln>
                            <a:noFill/>
                          </a:ln>
                          <a:solidFill>
                            <a:srgbClr val="0070C0"/>
                          </a:solidFill>
                          <a:effectLst/>
                          <a:latin typeface="Times New Roman" pitchFamily="18" charset="0"/>
                          <a:ea typeface="宋体" pitchFamily="2" charset="-122"/>
                          <a:cs typeface="+mn-cs"/>
                        </a:rPr>
                        <a:t>G</a:t>
                      </a:r>
                      <a:r>
                        <a:rPr kumimoji="0" lang="en-US" sz="1600" b="1" i="0" u="none" strike="noStrike" kern="1200" cap="none" normalizeH="0" baseline="0" dirty="0">
                          <a:ln>
                            <a:noFill/>
                          </a:ln>
                          <a:solidFill>
                            <a:srgbClr val="0070C0"/>
                          </a:solidFill>
                          <a:effectLst/>
                          <a:latin typeface="Times New Roman" pitchFamily="18" charset="0"/>
                          <a:ea typeface="宋体" pitchFamily="2" charset="-122"/>
                          <a:cs typeface="+mn-cs"/>
                          <a:sym typeface="Symbol"/>
                        </a:rPr>
                        <a:t></a:t>
                      </a:r>
                      <a:r>
                        <a:rPr kumimoji="0" lang="en-US" sz="1600" b="1" i="0" u="none" strike="noStrike" kern="1200" cap="none" normalizeH="0" baseline="0" dirty="0">
                          <a:ln>
                            <a:noFill/>
                          </a:ln>
                          <a:solidFill>
                            <a:srgbClr val="0070C0"/>
                          </a:solidFill>
                          <a:effectLst/>
                          <a:latin typeface="Times New Roman" pitchFamily="18" charset="0"/>
                          <a:ea typeface="宋体" pitchFamily="2" charset="-122"/>
                          <a:cs typeface="+mn-cs"/>
                        </a:rPr>
                        <a:t>-9dBi</a:t>
                      </a:r>
                      <a:endParaRPr kumimoji="0" lang="zh-CN" sz="1600" b="1" i="0" u="none" strike="noStrike" kern="1200" cap="none" normalizeH="0" baseline="0" dirty="0">
                        <a:ln>
                          <a:noFill/>
                        </a:ln>
                        <a:solidFill>
                          <a:srgbClr val="0070C0"/>
                        </a:solidFill>
                        <a:effectLst/>
                        <a:latin typeface="Times New Roman" pitchFamily="18" charset="0"/>
                        <a:ea typeface="宋体" pitchFamily="2" charset="-122"/>
                        <a:cs typeface="+mn-cs"/>
                      </a:endParaRPr>
                    </a:p>
                  </a:txBody>
                  <a:tcPr marL="68307" marR="68307" marT="88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r>
              <a:tr h="474669">
                <a:tc>
                  <a:txBody>
                    <a:bodyPr/>
                    <a:lstStyle/>
                    <a:p>
                      <a:pPr marL="355600" indent="-355600" algn="ctr" rtl="0" eaLnBrk="1" latinLnBrk="0" hangingPunct="1">
                        <a:spcAft>
                          <a:spcPts val="0"/>
                        </a:spcAft>
                      </a:pPr>
                      <a:r>
                        <a:rPr kumimoji="0" lang="en-US" sz="1600" b="1" i="0" u="none" strike="noStrike" kern="1200" cap="none" normalizeH="0" baseline="0">
                          <a:ln>
                            <a:noFill/>
                          </a:ln>
                          <a:solidFill>
                            <a:srgbClr val="0070C0"/>
                          </a:solidFill>
                          <a:effectLst/>
                          <a:latin typeface="Times New Roman" pitchFamily="18" charset="0"/>
                          <a:ea typeface="宋体" pitchFamily="2" charset="-122"/>
                          <a:cs typeface="+mn-cs"/>
                        </a:rPr>
                        <a:t>4</a:t>
                      </a:r>
                      <a:endParaRPr kumimoji="0" lang="zh-CN" sz="1600" b="1" i="0" u="none" strike="noStrike" kern="1200" cap="none" normalizeH="0" baseline="0">
                        <a:ln>
                          <a:noFill/>
                        </a:ln>
                        <a:solidFill>
                          <a:srgbClr val="0070C0"/>
                        </a:solidFill>
                        <a:effectLst/>
                        <a:latin typeface="Times New Roman" pitchFamily="18" charset="0"/>
                        <a:ea typeface="宋体" pitchFamily="2" charset="-122"/>
                        <a:cs typeface="+mn-cs"/>
                      </a:endParaRPr>
                    </a:p>
                  </a:txBody>
                  <a:tcPr marL="68307" marR="68307" marT="88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355600" indent="-355600" algn="l" rtl="0" eaLnBrk="1" latinLnBrk="0" hangingPunct="1">
                        <a:spcAft>
                          <a:spcPts val="0"/>
                        </a:spcAft>
                      </a:pPr>
                      <a:r>
                        <a:rPr kumimoji="0" lang="en-US" sz="1600" b="1" i="0" u="none" strike="noStrike" kern="1200" cap="none" normalizeH="0" baseline="0" dirty="0">
                          <a:ln>
                            <a:noFill/>
                          </a:ln>
                          <a:solidFill>
                            <a:srgbClr val="0070C0"/>
                          </a:solidFill>
                          <a:effectLst/>
                          <a:latin typeface="Times New Roman" pitchFamily="18" charset="0"/>
                          <a:ea typeface="宋体" pitchFamily="2" charset="-122"/>
                          <a:cs typeface="+mn-cs"/>
                        </a:rPr>
                        <a:t>VSWR </a:t>
                      </a:r>
                      <a:endParaRPr kumimoji="0" lang="zh-CN" sz="1600" b="1" i="0" u="none" strike="noStrike" kern="1200" cap="none" normalizeH="0" baseline="0" dirty="0">
                        <a:ln>
                          <a:noFill/>
                        </a:ln>
                        <a:solidFill>
                          <a:srgbClr val="0070C0"/>
                        </a:solidFill>
                        <a:effectLst/>
                        <a:latin typeface="Times New Roman" pitchFamily="18" charset="0"/>
                        <a:ea typeface="宋体" pitchFamily="2" charset="-122"/>
                        <a:cs typeface="+mn-cs"/>
                      </a:endParaRPr>
                    </a:p>
                  </a:txBody>
                  <a:tcPr marL="68307" marR="68307" marT="88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c>
                  <a:txBody>
                    <a:bodyPr/>
                    <a:lstStyle/>
                    <a:p>
                      <a:pPr marL="355600" indent="-355600" algn="l" rtl="0" eaLnBrk="1" latinLnBrk="0" hangingPunct="1">
                        <a:spcAft>
                          <a:spcPts val="0"/>
                        </a:spcAft>
                      </a:pPr>
                      <a:r>
                        <a:rPr kumimoji="0" lang="en-US" sz="1600" b="1" i="0" u="none" strike="noStrike" kern="1200" cap="none" normalizeH="0" baseline="0" dirty="0">
                          <a:ln>
                            <a:noFill/>
                          </a:ln>
                          <a:solidFill>
                            <a:srgbClr val="0070C0"/>
                          </a:solidFill>
                          <a:effectLst/>
                          <a:latin typeface="Times New Roman" pitchFamily="18" charset="0"/>
                          <a:ea typeface="宋体" pitchFamily="2" charset="-122"/>
                          <a:cs typeface="+mn-cs"/>
                        </a:rPr>
                        <a:t>≤1.5 </a:t>
                      </a:r>
                      <a:endParaRPr kumimoji="0" lang="zh-CN" sz="1600" b="1" i="0" u="none" strike="noStrike" kern="1200" cap="none" normalizeH="0" baseline="0" dirty="0">
                        <a:ln>
                          <a:noFill/>
                        </a:ln>
                        <a:solidFill>
                          <a:srgbClr val="0070C0"/>
                        </a:solidFill>
                        <a:effectLst/>
                        <a:latin typeface="Times New Roman" pitchFamily="18" charset="0"/>
                        <a:ea typeface="宋体" pitchFamily="2" charset="-122"/>
                        <a:cs typeface="+mn-cs"/>
                      </a:endParaRPr>
                    </a:p>
                  </a:txBody>
                  <a:tcPr marL="68307" marR="68307" marT="885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2F2F2"/>
                    </a:solidFill>
                  </a:tcPr>
                </a:tc>
              </a:tr>
            </a:tbl>
          </a:graphicData>
        </a:graphic>
      </p:graphicFrame>
      <p:sp>
        <p:nvSpPr>
          <p:cNvPr id="23"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49</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24" name="TextBox 5"/>
          <p:cNvSpPr txBox="1">
            <a:spLocks noChangeArrowheads="1"/>
          </p:cNvSpPr>
          <p:nvPr/>
        </p:nvSpPr>
        <p:spPr bwMode="auto">
          <a:xfrm>
            <a:off x="323850" y="1444928"/>
            <a:ext cx="8320116" cy="483874"/>
          </a:xfrm>
          <a:prstGeom prst="rect">
            <a:avLst/>
          </a:prstGeom>
          <a:noFill/>
          <a:ln w="9525">
            <a:noFill/>
            <a:miter lim="800000"/>
            <a:headEnd/>
            <a:tailEnd/>
          </a:ln>
        </p:spPr>
        <p:txBody>
          <a:bodyPr wrap="square" lIns="82954" tIns="41477" rIns="82954" bIns="41477">
            <a:spAutoFit/>
          </a:bodyPr>
          <a:lstStyle/>
          <a:p>
            <a:pPr marL="457200" indent="-457200">
              <a:spcAft>
                <a:spcPts val="1200"/>
              </a:spcAft>
              <a:buFont typeface="Wingdings" pitchFamily="2" charset="2"/>
              <a:buChar char="p"/>
            </a:pPr>
            <a:r>
              <a:rPr lang="en-US" altLang="zh-CN" sz="2600" b="1" dirty="0" smtClean="0">
                <a:solidFill>
                  <a:srgbClr val="0070C0"/>
                </a:solidFill>
              </a:rPr>
              <a:t>Main Performance index of GPS Antenna</a:t>
            </a:r>
            <a:endParaRPr lang="en-US" altLang="zh-CN" sz="2600" b="1" dirty="0">
              <a:solidFill>
                <a:srgbClr val="0070C0"/>
              </a:solidFill>
            </a:endParaRPr>
          </a:p>
        </p:txBody>
      </p:sp>
      <p:sp>
        <p:nvSpPr>
          <p:cNvPr id="27"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9" name="矩形 8"/>
          <p:cNvSpPr/>
          <p:nvPr/>
        </p:nvSpPr>
        <p:spPr>
          <a:xfrm>
            <a:off x="261938" y="261938"/>
            <a:ext cx="7168565" cy="584775"/>
          </a:xfrm>
          <a:prstGeom prst="rect">
            <a:avLst/>
          </a:prstGeom>
        </p:spPr>
        <p:txBody>
          <a:bodyPr wrap="none">
            <a:spAutoFit/>
          </a:bodyPr>
          <a:lstStyle/>
          <a:p>
            <a:pPr>
              <a:spcBef>
                <a:spcPct val="0"/>
              </a:spcBef>
              <a:defRPr/>
            </a:pPr>
            <a:r>
              <a:rPr lang="en-US" altLang="zh-CN" sz="3200" b="1" kern="1700" dirty="0" smtClean="0">
                <a:solidFill>
                  <a:schemeClr val="bg1"/>
                </a:solidFill>
                <a:latin typeface="微软雅黑" pitchFamily="34" charset="-122"/>
                <a:ea typeface="微软雅黑" pitchFamily="34" charset="-122"/>
                <a:cs typeface="+mj-cs"/>
              </a:rPr>
              <a:t>2  Technical Specification Analysis</a:t>
            </a:r>
            <a:endParaRPr lang="zh-CN" altLang="en-US" sz="3200" b="1" kern="1700" dirty="0">
              <a:solidFill>
                <a:schemeClr val="bg1"/>
              </a:solidFill>
              <a:latin typeface="微软雅黑" pitchFamily="34" charset="-122"/>
              <a:ea typeface="微软雅黑" pitchFamily="34" charset="-122"/>
              <a:cs typeface="+mj-cs"/>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2"/>
          <p:cNvSpPr txBox="1">
            <a:spLocks/>
          </p:cNvSpPr>
          <p:nvPr/>
        </p:nvSpPr>
        <p:spPr bwMode="auto">
          <a:xfrm>
            <a:off x="158750" y="233363"/>
            <a:ext cx="8229600" cy="1143000"/>
          </a:xfrm>
          <a:prstGeom prst="rect">
            <a:avLst/>
          </a:prstGeom>
          <a:noFill/>
          <a:ln w="9525">
            <a:noFill/>
            <a:miter lim="800000"/>
            <a:headEnd/>
            <a:tailEnd/>
          </a:ln>
        </p:spPr>
        <p:txBody>
          <a:bodyPr/>
          <a:lstStyle/>
          <a:p>
            <a:pPr eaLnBrk="0" hangingPunct="0"/>
            <a:endParaRPr lang="zh-CN" altLang="en-US" sz="4400">
              <a:solidFill>
                <a:schemeClr val="tx2"/>
              </a:solidFill>
            </a:endParaRPr>
          </a:p>
        </p:txBody>
      </p:sp>
      <p:sp>
        <p:nvSpPr>
          <p:cNvPr id="69636"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9637"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9638" name="Rectangle 4"/>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9639" name="TextBox 5"/>
          <p:cNvSpPr txBox="1">
            <a:spLocks noChangeArrowheads="1"/>
          </p:cNvSpPr>
          <p:nvPr/>
        </p:nvSpPr>
        <p:spPr bwMode="auto">
          <a:xfrm>
            <a:off x="215900" y="1271275"/>
            <a:ext cx="8569325" cy="514651"/>
          </a:xfrm>
          <a:prstGeom prst="rect">
            <a:avLst/>
          </a:prstGeom>
          <a:noFill/>
          <a:ln w="9525">
            <a:noFill/>
            <a:miter lim="800000"/>
            <a:headEnd/>
            <a:tailEnd/>
          </a:ln>
        </p:spPr>
        <p:txBody>
          <a:bodyPr lIns="82954" tIns="41477" rIns="82954" bIns="41477">
            <a:spAutoFit/>
          </a:bodyPr>
          <a:lstStyle/>
          <a:p>
            <a:pPr marL="457200" indent="-457200">
              <a:spcAft>
                <a:spcPts val="1200"/>
              </a:spcAft>
              <a:buFont typeface="Wingdings" pitchFamily="2" charset="2"/>
              <a:buChar char="p"/>
              <a:defRPr/>
            </a:pPr>
            <a:r>
              <a:rPr lang="en-US" altLang="zh-CN" sz="2800" b="1" dirty="0" smtClean="0">
                <a:solidFill>
                  <a:srgbClr val="0070C0"/>
                </a:solidFill>
                <a:latin typeface="Arial" charset="0"/>
                <a:ea typeface="宋体" pitchFamily="2" charset="-122"/>
              </a:rPr>
              <a:t>The </a:t>
            </a:r>
            <a:r>
              <a:rPr lang="en-US" altLang="zh-CN" sz="2800" b="1" dirty="0">
                <a:solidFill>
                  <a:srgbClr val="0070C0"/>
                </a:solidFill>
                <a:latin typeface="Arial" charset="0"/>
                <a:ea typeface="宋体" pitchFamily="2" charset="-122"/>
              </a:rPr>
              <a:t>Radiation Pattern of GPS </a:t>
            </a:r>
            <a:r>
              <a:rPr lang="en-US" altLang="zh-CN" sz="2800" b="1" dirty="0" smtClean="0">
                <a:solidFill>
                  <a:srgbClr val="0070C0"/>
                </a:solidFill>
                <a:latin typeface="Arial" charset="0"/>
                <a:ea typeface="宋体" pitchFamily="2" charset="-122"/>
              </a:rPr>
              <a:t>Antennas</a:t>
            </a:r>
            <a:endParaRPr lang="en-US" altLang="zh-CN" sz="2800" b="1" dirty="0">
              <a:solidFill>
                <a:srgbClr val="0070C0"/>
              </a:solidFill>
              <a:latin typeface="Arial" charset="0"/>
              <a:ea typeface="宋体" pitchFamily="2" charset="-122"/>
            </a:endParaRPr>
          </a:p>
        </p:txBody>
      </p:sp>
      <p:sp>
        <p:nvSpPr>
          <p:cNvPr id="69640" name="Rectangle 2"/>
          <p:cNvSpPr>
            <a:spLocks noChangeArrowheads="1"/>
          </p:cNvSpPr>
          <p:nvPr/>
        </p:nvSpPr>
        <p:spPr bwMode="gray">
          <a:xfrm>
            <a:off x="0" y="0"/>
            <a:ext cx="9144000" cy="457200"/>
          </a:xfrm>
          <a:prstGeom prst="rect">
            <a:avLst/>
          </a:prstGeom>
          <a:noFill/>
          <a:ln w="9525" algn="ctr">
            <a:noFill/>
            <a:miter lim="800000"/>
            <a:headEnd/>
            <a:tailEnd/>
          </a:ln>
        </p:spPr>
        <p:txBody>
          <a:bodyPr wrap="none" anchor="ctr">
            <a:spAutoFit/>
          </a:bodyPr>
          <a:lstStyle/>
          <a:p>
            <a:endParaRPr lang="zh-CN" altLang="en-US"/>
          </a:p>
        </p:txBody>
      </p:sp>
      <p:sp>
        <p:nvSpPr>
          <p:cNvPr id="69641" name="Rectangle 2"/>
          <p:cNvSpPr>
            <a:spLocks noChangeArrowheads="1"/>
          </p:cNvSpPr>
          <p:nvPr/>
        </p:nvSpPr>
        <p:spPr bwMode="gray">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9642" name="Rectangle 3"/>
          <p:cNvSpPr>
            <a:spLocks noChangeArrowheads="1"/>
          </p:cNvSpPr>
          <p:nvPr/>
        </p:nvSpPr>
        <p:spPr bwMode="gray">
          <a:xfrm>
            <a:off x="0" y="0"/>
            <a:ext cx="9144000" cy="457200"/>
          </a:xfrm>
          <a:prstGeom prst="rect">
            <a:avLst/>
          </a:prstGeom>
          <a:noFill/>
          <a:ln w="9525" algn="ctr">
            <a:noFill/>
            <a:miter lim="800000"/>
            <a:headEnd/>
            <a:tailEnd/>
          </a:ln>
        </p:spPr>
        <p:txBody>
          <a:bodyPr wrap="none" anchor="ctr">
            <a:spAutoFit/>
          </a:bodyPr>
          <a:lstStyle/>
          <a:p>
            <a:endParaRPr lang="zh-CN" altLang="en-US"/>
          </a:p>
        </p:txBody>
      </p:sp>
      <p:sp>
        <p:nvSpPr>
          <p:cNvPr id="69643" name="Rectangle 4"/>
          <p:cNvSpPr>
            <a:spLocks noChangeArrowheads="1"/>
          </p:cNvSpPr>
          <p:nvPr/>
        </p:nvSpPr>
        <p:spPr bwMode="gray">
          <a:xfrm>
            <a:off x="0" y="2762250"/>
            <a:ext cx="9144000" cy="0"/>
          </a:xfrm>
          <a:prstGeom prst="rect">
            <a:avLst/>
          </a:prstGeom>
          <a:noFill/>
          <a:ln w="9525" algn="ctr">
            <a:noFill/>
            <a:miter lim="800000"/>
            <a:headEnd/>
            <a:tailEnd/>
          </a:ln>
        </p:spPr>
        <p:txBody>
          <a:bodyPr wrap="none" anchor="ctr">
            <a:spAutoFit/>
          </a:bodyPr>
          <a:lstStyle/>
          <a:p>
            <a:pPr eaLnBrk="0" hangingPunct="0"/>
            <a:r>
              <a:rPr lang="en-US" altLang="zh-CN" sz="1000">
                <a:latin typeface="Times New Roman" pitchFamily="18" charset="0"/>
                <a:cs typeface="Times New Roman" pitchFamily="18" charset="0"/>
              </a:rPr>
              <a:t> </a:t>
            </a:r>
            <a:endParaRPr lang="en-US" altLang="zh-CN"/>
          </a:p>
        </p:txBody>
      </p:sp>
      <p:sp>
        <p:nvSpPr>
          <p:cNvPr id="69644" name="矩形 15"/>
          <p:cNvSpPr>
            <a:spLocks noChangeArrowheads="1"/>
          </p:cNvSpPr>
          <p:nvPr/>
        </p:nvSpPr>
        <p:spPr bwMode="auto">
          <a:xfrm>
            <a:off x="3000364" y="5774312"/>
            <a:ext cx="2917817" cy="369332"/>
          </a:xfrm>
          <a:prstGeom prst="rect">
            <a:avLst/>
          </a:prstGeom>
          <a:noFill/>
          <a:ln w="9525">
            <a:noFill/>
            <a:miter lim="800000"/>
            <a:headEnd/>
            <a:tailEnd/>
          </a:ln>
        </p:spPr>
        <p:txBody>
          <a:bodyPr wrap="square">
            <a:spAutoFit/>
          </a:bodyPr>
          <a:lstStyle/>
          <a:p>
            <a:r>
              <a:rPr lang="zh-CN" altLang="zh-CN" dirty="0"/>
              <a:t>Gain pattern of </a:t>
            </a:r>
            <a:r>
              <a:rPr lang="en-US" altLang="zh-CN" dirty="0"/>
              <a:t>L1 frequency</a:t>
            </a:r>
            <a:endParaRPr lang="zh-CN" altLang="en-US" dirty="0"/>
          </a:p>
        </p:txBody>
      </p:sp>
      <p:pic>
        <p:nvPicPr>
          <p:cNvPr id="69645" name="图片 2" descr="说明: Gain_L1.PNG"/>
          <p:cNvPicPr>
            <a:picLocks noChangeAspect="1" noChangeArrowheads="1"/>
          </p:cNvPicPr>
          <p:nvPr/>
        </p:nvPicPr>
        <p:blipFill>
          <a:blip r:embed="rId3"/>
          <a:srcRect/>
          <a:stretch>
            <a:fillRect/>
          </a:stretch>
        </p:blipFill>
        <p:spPr bwMode="auto">
          <a:xfrm>
            <a:off x="1906588" y="2059536"/>
            <a:ext cx="5192712" cy="3695700"/>
          </a:xfrm>
          <a:prstGeom prst="rect">
            <a:avLst/>
          </a:prstGeom>
          <a:noFill/>
          <a:ln w="9525">
            <a:noFill/>
            <a:miter lim="800000"/>
            <a:headEnd/>
            <a:tailEnd/>
          </a:ln>
        </p:spPr>
      </p:pic>
      <p:sp>
        <p:nvSpPr>
          <p:cNvPr id="14" name="灯片编号占位符 4"/>
          <p:cNvSpPr txBox="1">
            <a:spLocks/>
          </p:cNvSpPr>
          <p:nvPr/>
        </p:nvSpPr>
        <p:spPr>
          <a:xfrm>
            <a:off x="8001024" y="6357958"/>
            <a:ext cx="802432"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PAGE</a:t>
            </a:r>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fld id="{E1EFCB46-C834-4067-A327-0EA79FD50686}" type="slidenum">
              <a:rPr kumimoji="0" lang="zh-CN" altLang="en-US" sz="1200" b="0" i="0" u="none" strike="noStrike" kern="1200" cap="none" spc="0" normalizeH="0" baseline="0" noProof="0" smtClean="0">
                <a:ln>
                  <a:noFill/>
                </a:ln>
                <a:solidFill>
                  <a:schemeClr val="tx1"/>
                </a:solidFill>
                <a:effectLst/>
                <a:uLnTx/>
                <a:uFillTx/>
                <a:latin typeface="微软雅黑" pitchFamily="34" charset="-122"/>
                <a:ea typeface="微软雅黑" pitchFamily="34" charset="-122"/>
              </a:rPr>
              <a:pPr marL="0" marR="0" lvl="0" indent="0" algn="l" defTabSz="914400" rtl="0" eaLnBrk="1" fontAlgn="auto" latinLnBrk="0" hangingPunct="1">
                <a:lnSpc>
                  <a:spcPct val="100000"/>
                </a:lnSpc>
                <a:spcBef>
                  <a:spcPts val="0"/>
                </a:spcBef>
                <a:spcAft>
                  <a:spcPts val="0"/>
                </a:spcAft>
                <a:buClrTx/>
                <a:buSzTx/>
                <a:buFontTx/>
                <a:buNone/>
                <a:tabLst/>
                <a:defRPr/>
              </a:pPr>
              <a:t>50</a:t>
            </a:fld>
            <a:r>
              <a:rPr kumimoji="0" lang="zh-CN" altLang="en-US" sz="1200" b="0" i="0" u="none" strike="noStrike" kern="1200" cap="none" spc="0" normalizeH="0" baseline="0" noProof="0" dirty="0" smtClean="0">
                <a:ln>
                  <a:noFill/>
                </a:ln>
                <a:solidFill>
                  <a:schemeClr val="tx1"/>
                </a:solidFill>
                <a:effectLst/>
                <a:uLnTx/>
                <a:uFillTx/>
                <a:latin typeface="微软雅黑" pitchFamily="34" charset="-122"/>
                <a:ea typeface="微软雅黑" pitchFamily="34" charset="-122"/>
              </a:rPr>
              <a:t> </a:t>
            </a:r>
            <a:endParaRPr kumimoji="0" lang="zh-CN" altLang="en-US" sz="1200" b="0" i="0" u="none" strike="noStrike" kern="1200" cap="none" spc="0" normalizeH="0" baseline="0" noProof="0" dirty="0">
              <a:ln>
                <a:noFill/>
              </a:ln>
              <a:solidFill>
                <a:schemeClr val="tx1"/>
              </a:solidFill>
              <a:effectLst/>
              <a:uLnTx/>
              <a:uFillTx/>
              <a:latin typeface="微软雅黑" pitchFamily="34" charset="-122"/>
              <a:ea typeface="微软雅黑" pitchFamily="34" charset="-122"/>
            </a:endParaRPr>
          </a:p>
        </p:txBody>
      </p:sp>
      <p:sp>
        <p:nvSpPr>
          <p:cNvPr id="15" name="页脚占位符 3"/>
          <p:cNvSpPr>
            <a:spLocks noGrp="1"/>
          </p:cNvSpPr>
          <p:nvPr>
            <p:ph type="ftr" sz="quarter" idx="11"/>
          </p:nvPr>
        </p:nvSpPr>
        <p:spPr>
          <a:xfrm>
            <a:off x="1142976" y="6359525"/>
            <a:ext cx="6480720" cy="363558"/>
          </a:xfrm>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16" name="矩形 15"/>
          <p:cNvSpPr/>
          <p:nvPr/>
        </p:nvSpPr>
        <p:spPr>
          <a:xfrm>
            <a:off x="128903" y="261938"/>
            <a:ext cx="8729377" cy="615553"/>
          </a:xfrm>
          <a:prstGeom prst="rect">
            <a:avLst/>
          </a:prstGeom>
        </p:spPr>
        <p:txBody>
          <a:bodyPr wrap="none">
            <a:spAutoFit/>
          </a:bodyPr>
          <a:lstStyle/>
          <a:p>
            <a:pPr>
              <a:defRPr/>
            </a:pPr>
            <a:r>
              <a:rPr lang="en-US" altLang="zh-CN" sz="3400" b="1" kern="1700" dirty="0" smtClean="0">
                <a:solidFill>
                  <a:schemeClr val="bg1"/>
                </a:solidFill>
                <a:latin typeface="微软雅黑" pitchFamily="34" charset="-122"/>
                <a:ea typeface="微软雅黑" pitchFamily="34" charset="-122"/>
                <a:cs typeface="+mj-cs"/>
              </a:rPr>
              <a:t>4  </a:t>
            </a:r>
            <a:r>
              <a:rPr lang="en-US" altLang="zh-CN" sz="3400" b="1" kern="1700" dirty="0">
                <a:solidFill>
                  <a:schemeClr val="bg1"/>
                </a:solidFill>
                <a:latin typeface="微软雅黑" pitchFamily="34" charset="-122"/>
                <a:ea typeface="微软雅黑" pitchFamily="34" charset="-122"/>
                <a:cs typeface="+mj-cs"/>
              </a:rPr>
              <a:t>Positioning and Orbit Determination</a:t>
            </a:r>
            <a:endParaRPr lang="zh-CN" altLang="en-US" sz="3400" b="1" kern="1700" dirty="0">
              <a:solidFill>
                <a:schemeClr val="bg1"/>
              </a:solidFill>
              <a:latin typeface="微软雅黑" pitchFamily="34" charset="-122"/>
              <a:ea typeface="微软雅黑" pitchFamily="34" charset="-122"/>
              <a:cs typeface="+mj-cs"/>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页脚占位符 3"/>
          <p:cNvSpPr>
            <a:spLocks noGrp="1"/>
          </p:cNvSpPr>
          <p:nvPr>
            <p:ph type="ftr" sz="quarter" idx="11"/>
          </p:nvPr>
        </p:nvSpPr>
        <p:spPr>
          <a:xfrm>
            <a:off x="971550" y="6388100"/>
            <a:ext cx="6480175" cy="363538"/>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1200" b="1">
                <a:solidFill>
                  <a:schemeClr val="bg1"/>
                </a:solidFill>
                <a:latin typeface="Arial" charset="0"/>
                <a:ea typeface="楷体_GB2312" pitchFamily="49" charset="-122"/>
              </a:defRPr>
            </a:lvl1pPr>
            <a:lvl2pPr marL="742950" indent="-285750" eaLnBrk="0" hangingPunct="0">
              <a:defRPr sz="1200" b="1">
                <a:solidFill>
                  <a:schemeClr val="bg1"/>
                </a:solidFill>
                <a:latin typeface="Arial" charset="0"/>
                <a:ea typeface="楷体_GB2312" pitchFamily="49" charset="-122"/>
              </a:defRPr>
            </a:lvl2pPr>
            <a:lvl3pPr marL="1143000" indent="-228600" eaLnBrk="0" hangingPunct="0">
              <a:defRPr sz="1200" b="1">
                <a:solidFill>
                  <a:schemeClr val="bg1"/>
                </a:solidFill>
                <a:latin typeface="Arial" charset="0"/>
                <a:ea typeface="楷体_GB2312" pitchFamily="49" charset="-122"/>
              </a:defRPr>
            </a:lvl3pPr>
            <a:lvl4pPr marL="1600200" indent="-228600" eaLnBrk="0" hangingPunct="0">
              <a:defRPr sz="1200" b="1">
                <a:solidFill>
                  <a:schemeClr val="bg1"/>
                </a:solidFill>
                <a:latin typeface="Arial" charset="0"/>
                <a:ea typeface="楷体_GB2312" pitchFamily="49" charset="-122"/>
              </a:defRPr>
            </a:lvl4pPr>
            <a:lvl5pPr marL="2057400" indent="-228600" eaLnBrk="0" hangingPunct="0">
              <a:defRPr sz="1200" b="1">
                <a:solidFill>
                  <a:schemeClr val="bg1"/>
                </a:solidFill>
                <a:latin typeface="Arial" charset="0"/>
                <a:ea typeface="楷体_GB2312" pitchFamily="49" charset="-122"/>
              </a:defRPr>
            </a:lvl5pPr>
            <a:lvl6pPr marL="2514600" indent="-228600" eaLnBrk="0" fontAlgn="base" hangingPunct="0">
              <a:spcBef>
                <a:spcPct val="0"/>
              </a:spcBef>
              <a:spcAft>
                <a:spcPct val="0"/>
              </a:spcAft>
              <a:defRPr sz="1200" b="1">
                <a:solidFill>
                  <a:schemeClr val="bg1"/>
                </a:solidFill>
                <a:latin typeface="Arial" charset="0"/>
                <a:ea typeface="楷体_GB2312" pitchFamily="49" charset="-122"/>
              </a:defRPr>
            </a:lvl6pPr>
            <a:lvl7pPr marL="2971800" indent="-228600" eaLnBrk="0" fontAlgn="base" hangingPunct="0">
              <a:spcBef>
                <a:spcPct val="0"/>
              </a:spcBef>
              <a:spcAft>
                <a:spcPct val="0"/>
              </a:spcAft>
              <a:defRPr sz="1200" b="1">
                <a:solidFill>
                  <a:schemeClr val="bg1"/>
                </a:solidFill>
                <a:latin typeface="Arial" charset="0"/>
                <a:ea typeface="楷体_GB2312" pitchFamily="49" charset="-122"/>
              </a:defRPr>
            </a:lvl7pPr>
            <a:lvl8pPr marL="3429000" indent="-228600" eaLnBrk="0" fontAlgn="base" hangingPunct="0">
              <a:spcBef>
                <a:spcPct val="0"/>
              </a:spcBef>
              <a:spcAft>
                <a:spcPct val="0"/>
              </a:spcAft>
              <a:defRPr sz="1200" b="1">
                <a:solidFill>
                  <a:schemeClr val="bg1"/>
                </a:solidFill>
                <a:latin typeface="Arial" charset="0"/>
                <a:ea typeface="楷体_GB2312" pitchFamily="49" charset="-122"/>
              </a:defRPr>
            </a:lvl8pPr>
            <a:lvl9pPr marL="3886200" indent="-228600" eaLnBrk="0" fontAlgn="base" hangingPunct="0">
              <a:spcBef>
                <a:spcPct val="0"/>
              </a:spcBef>
              <a:spcAft>
                <a:spcPct val="0"/>
              </a:spcAft>
              <a:defRPr sz="1200" b="1">
                <a:solidFill>
                  <a:schemeClr val="bg1"/>
                </a:solidFill>
                <a:latin typeface="Arial" charset="0"/>
                <a:ea typeface="楷体_GB2312" pitchFamily="49" charset="-122"/>
              </a:defRPr>
            </a:lvl9pPr>
          </a:lstStyle>
          <a:p>
            <a:pPr eaLnBrk="1" hangingPunct="1"/>
            <a:r>
              <a:rPr lang="en-US" altLang="zh-CN" sz="700" b="0" smtClean="0">
                <a:solidFill>
                  <a:schemeClr val="tx1"/>
                </a:solidFill>
                <a:latin typeface="微软雅黑" pitchFamily="34" charset="-122"/>
                <a:ea typeface="微软雅黑" pitchFamily="34" charset="-122"/>
              </a:rPr>
              <a:t>THIS DOCUMENT CONTAINS PROPRIETARY INFORMATION OF CHINA ACADEMY OF SPACE TECHNOLOGY, AND MAY NOT BE REPRODUCED, COPIED, DISCLOSED, UTILIZED, PLACED OR TRANSMITTED ON INTERNET, IN WHOLE OR IN PART, WITHOUT PRIOR WRITTEN AUTHORIZATION.</a:t>
            </a:r>
          </a:p>
        </p:txBody>
      </p:sp>
      <p:sp>
        <p:nvSpPr>
          <p:cNvPr id="75779" name="灯片编号占位符 4"/>
          <p:cNvSpPr>
            <a:spLocks noGrp="1"/>
          </p:cNvSpPr>
          <p:nvPr>
            <p:ph type="sldNum" sz="quarter" idx="12"/>
          </p:nvPr>
        </p:nvSpPr>
        <p:spPr>
          <a:xfrm>
            <a:off x="7767638" y="6342063"/>
            <a:ext cx="955675" cy="365125"/>
          </a:xfrm>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1200" b="1">
                <a:solidFill>
                  <a:schemeClr val="bg1"/>
                </a:solidFill>
                <a:latin typeface="Arial" charset="0"/>
                <a:ea typeface="楷体_GB2312" pitchFamily="49" charset="-122"/>
              </a:defRPr>
            </a:lvl1pPr>
            <a:lvl2pPr marL="742950" indent="-285750" eaLnBrk="0" hangingPunct="0">
              <a:defRPr sz="1200" b="1">
                <a:solidFill>
                  <a:schemeClr val="bg1"/>
                </a:solidFill>
                <a:latin typeface="Arial" charset="0"/>
                <a:ea typeface="楷体_GB2312" pitchFamily="49" charset="-122"/>
              </a:defRPr>
            </a:lvl2pPr>
            <a:lvl3pPr marL="1143000" indent="-228600" eaLnBrk="0" hangingPunct="0">
              <a:defRPr sz="1200" b="1">
                <a:solidFill>
                  <a:schemeClr val="bg1"/>
                </a:solidFill>
                <a:latin typeface="Arial" charset="0"/>
                <a:ea typeface="楷体_GB2312" pitchFamily="49" charset="-122"/>
              </a:defRPr>
            </a:lvl3pPr>
            <a:lvl4pPr marL="1600200" indent="-228600" eaLnBrk="0" hangingPunct="0">
              <a:defRPr sz="1200" b="1">
                <a:solidFill>
                  <a:schemeClr val="bg1"/>
                </a:solidFill>
                <a:latin typeface="Arial" charset="0"/>
                <a:ea typeface="楷体_GB2312" pitchFamily="49" charset="-122"/>
              </a:defRPr>
            </a:lvl4pPr>
            <a:lvl5pPr marL="2057400" indent="-228600" eaLnBrk="0" hangingPunct="0">
              <a:defRPr sz="1200" b="1">
                <a:solidFill>
                  <a:schemeClr val="bg1"/>
                </a:solidFill>
                <a:latin typeface="Arial" charset="0"/>
                <a:ea typeface="楷体_GB2312" pitchFamily="49" charset="-122"/>
              </a:defRPr>
            </a:lvl5pPr>
            <a:lvl6pPr marL="2514600" indent="-228600" eaLnBrk="0" fontAlgn="base" hangingPunct="0">
              <a:spcBef>
                <a:spcPct val="0"/>
              </a:spcBef>
              <a:spcAft>
                <a:spcPct val="0"/>
              </a:spcAft>
              <a:defRPr sz="1200" b="1">
                <a:solidFill>
                  <a:schemeClr val="bg1"/>
                </a:solidFill>
                <a:latin typeface="Arial" charset="0"/>
                <a:ea typeface="楷体_GB2312" pitchFamily="49" charset="-122"/>
              </a:defRPr>
            </a:lvl6pPr>
            <a:lvl7pPr marL="2971800" indent="-228600" eaLnBrk="0" fontAlgn="base" hangingPunct="0">
              <a:spcBef>
                <a:spcPct val="0"/>
              </a:spcBef>
              <a:spcAft>
                <a:spcPct val="0"/>
              </a:spcAft>
              <a:defRPr sz="1200" b="1">
                <a:solidFill>
                  <a:schemeClr val="bg1"/>
                </a:solidFill>
                <a:latin typeface="Arial" charset="0"/>
                <a:ea typeface="楷体_GB2312" pitchFamily="49" charset="-122"/>
              </a:defRPr>
            </a:lvl7pPr>
            <a:lvl8pPr marL="3429000" indent="-228600" eaLnBrk="0" fontAlgn="base" hangingPunct="0">
              <a:spcBef>
                <a:spcPct val="0"/>
              </a:spcBef>
              <a:spcAft>
                <a:spcPct val="0"/>
              </a:spcAft>
              <a:defRPr sz="1200" b="1">
                <a:solidFill>
                  <a:schemeClr val="bg1"/>
                </a:solidFill>
                <a:latin typeface="Arial" charset="0"/>
                <a:ea typeface="楷体_GB2312" pitchFamily="49" charset="-122"/>
              </a:defRPr>
            </a:lvl8pPr>
            <a:lvl9pPr marL="3886200" indent="-228600" eaLnBrk="0" fontAlgn="base" hangingPunct="0">
              <a:spcBef>
                <a:spcPct val="0"/>
              </a:spcBef>
              <a:spcAft>
                <a:spcPct val="0"/>
              </a:spcAft>
              <a:defRPr sz="1200" b="1">
                <a:solidFill>
                  <a:schemeClr val="bg1"/>
                </a:solidFill>
                <a:latin typeface="Arial" charset="0"/>
                <a:ea typeface="楷体_GB2312" pitchFamily="49" charset="-122"/>
              </a:defRPr>
            </a:lvl9pPr>
          </a:lstStyle>
          <a:p>
            <a:pPr eaLnBrk="1" hangingPunct="1"/>
            <a:r>
              <a:rPr lang="en-US" altLang="zh-CN" sz="1400" b="0" smtClean="0">
                <a:solidFill>
                  <a:schemeClr val="tx1"/>
                </a:solidFill>
                <a:latin typeface="微软雅黑" pitchFamily="34" charset="-122"/>
                <a:ea typeface="微软雅黑" pitchFamily="34" charset="-122"/>
              </a:rPr>
              <a:t>PAGE</a:t>
            </a:r>
            <a:r>
              <a:rPr lang="zh-CN" altLang="en-US" sz="1400" b="0" smtClean="0">
                <a:solidFill>
                  <a:schemeClr val="tx1"/>
                </a:solidFill>
                <a:latin typeface="微软雅黑" pitchFamily="34" charset="-122"/>
                <a:ea typeface="微软雅黑" pitchFamily="34" charset="-122"/>
              </a:rPr>
              <a:t> </a:t>
            </a:r>
            <a:fld id="{2F602AEE-47D0-46D2-AD41-18E6E311D63F}" type="slidenum">
              <a:rPr lang="zh-CN" altLang="en-US" sz="1400" b="0" smtClean="0">
                <a:solidFill>
                  <a:schemeClr val="tx1"/>
                </a:solidFill>
                <a:latin typeface="微软雅黑" pitchFamily="34" charset="-122"/>
                <a:ea typeface="微软雅黑" pitchFamily="34" charset="-122"/>
              </a:rPr>
              <a:pPr eaLnBrk="1" hangingPunct="1"/>
              <a:t>51</a:t>
            </a:fld>
            <a:r>
              <a:rPr lang="zh-CN" altLang="en-US" sz="2000" b="0" smtClean="0">
                <a:solidFill>
                  <a:srgbClr val="003399"/>
                </a:solidFill>
                <a:ea typeface="宋体" pitchFamily="2" charset="-122"/>
              </a:rPr>
              <a:t> </a:t>
            </a:r>
            <a:endParaRPr lang="zh-CN" altLang="en-US" sz="2000" b="0" smtClean="0">
              <a:solidFill>
                <a:srgbClr val="003399"/>
              </a:solidFill>
              <a:latin typeface="微软雅黑" pitchFamily="34" charset="-122"/>
              <a:ea typeface="微软雅黑" pitchFamily="34" charset="-122"/>
            </a:endParaRPr>
          </a:p>
        </p:txBody>
      </p:sp>
      <p:sp>
        <p:nvSpPr>
          <p:cNvPr id="75780" name="Rectangle 41"/>
          <p:cNvSpPr>
            <a:spLocks noChangeArrowheads="1"/>
          </p:cNvSpPr>
          <p:nvPr/>
        </p:nvSpPr>
        <p:spPr bwMode="auto">
          <a:xfrm>
            <a:off x="571472" y="404664"/>
            <a:ext cx="7807325" cy="61555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lgn="ctr">
                <a:solidFill>
                  <a:srgbClr val="000000"/>
                </a:solidFill>
                <a:miter lim="800000"/>
                <a:headEnd/>
                <a:tailEnd/>
              </a14:hiddenLine>
            </a:ext>
          </a:extLst>
        </p:spPr>
        <p:txBody>
          <a:bodyPr>
            <a:spAutoFit/>
          </a:bodyPr>
          <a:lstStyle/>
          <a:p>
            <a:pPr lvl="1" algn="ctr">
              <a:spcBef>
                <a:spcPct val="0"/>
              </a:spcBef>
            </a:pPr>
            <a:r>
              <a:rPr lang="en-US" altLang="zh-CN" sz="3400" b="1" kern="1700" dirty="0" smtClean="0">
                <a:solidFill>
                  <a:schemeClr val="bg1"/>
                </a:solidFill>
                <a:latin typeface="微软雅黑" pitchFamily="34" charset="-122"/>
                <a:ea typeface="微软雅黑" pitchFamily="34" charset="-122"/>
                <a:cs typeface="+mj-cs"/>
              </a:rPr>
              <a:t>Classroom </a:t>
            </a:r>
            <a:r>
              <a:rPr lang="en-US" altLang="zh-CN" sz="3400" b="1" kern="1700" dirty="0">
                <a:solidFill>
                  <a:schemeClr val="bg1"/>
                </a:solidFill>
                <a:latin typeface="微软雅黑" pitchFamily="34" charset="-122"/>
                <a:ea typeface="微软雅黑" pitchFamily="34" charset="-122"/>
                <a:cs typeface="+mj-cs"/>
              </a:rPr>
              <a:t>work</a:t>
            </a:r>
          </a:p>
        </p:txBody>
      </p:sp>
      <p:sp>
        <p:nvSpPr>
          <p:cNvPr id="75781" name="TextBox 6"/>
          <p:cNvSpPr txBox="1">
            <a:spLocks noChangeArrowheads="1"/>
          </p:cNvSpPr>
          <p:nvPr/>
        </p:nvSpPr>
        <p:spPr bwMode="auto">
          <a:xfrm>
            <a:off x="949003" y="2167962"/>
            <a:ext cx="7266335" cy="3046988"/>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eaLnBrk="0" hangingPunct="0">
              <a:defRPr sz="1200" b="1">
                <a:solidFill>
                  <a:schemeClr val="bg1"/>
                </a:solidFill>
                <a:latin typeface="Arial" charset="0"/>
                <a:ea typeface="楷体_GB2312" pitchFamily="49" charset="-122"/>
              </a:defRPr>
            </a:lvl1pPr>
            <a:lvl2pPr marL="742950" indent="-285750" eaLnBrk="0" hangingPunct="0">
              <a:defRPr sz="1200" b="1">
                <a:solidFill>
                  <a:schemeClr val="bg1"/>
                </a:solidFill>
                <a:latin typeface="Arial" charset="0"/>
                <a:ea typeface="楷体_GB2312" pitchFamily="49" charset="-122"/>
              </a:defRPr>
            </a:lvl2pPr>
            <a:lvl3pPr marL="1143000" indent="-228600" eaLnBrk="0" hangingPunct="0">
              <a:defRPr sz="1200" b="1">
                <a:solidFill>
                  <a:schemeClr val="bg1"/>
                </a:solidFill>
                <a:latin typeface="Arial" charset="0"/>
                <a:ea typeface="楷体_GB2312" pitchFamily="49" charset="-122"/>
              </a:defRPr>
            </a:lvl3pPr>
            <a:lvl4pPr marL="1600200" indent="-228600" eaLnBrk="0" hangingPunct="0">
              <a:defRPr sz="1200" b="1">
                <a:solidFill>
                  <a:schemeClr val="bg1"/>
                </a:solidFill>
                <a:latin typeface="Arial" charset="0"/>
                <a:ea typeface="楷体_GB2312" pitchFamily="49" charset="-122"/>
              </a:defRPr>
            </a:lvl4pPr>
            <a:lvl5pPr marL="2057400" indent="-228600" eaLnBrk="0" hangingPunct="0">
              <a:defRPr sz="1200" b="1">
                <a:solidFill>
                  <a:schemeClr val="bg1"/>
                </a:solidFill>
                <a:latin typeface="Arial" charset="0"/>
                <a:ea typeface="楷体_GB2312" pitchFamily="49" charset="-122"/>
              </a:defRPr>
            </a:lvl5pPr>
            <a:lvl6pPr marL="2514600" indent="-228600" eaLnBrk="0" fontAlgn="base" hangingPunct="0">
              <a:spcBef>
                <a:spcPct val="0"/>
              </a:spcBef>
              <a:spcAft>
                <a:spcPct val="0"/>
              </a:spcAft>
              <a:defRPr sz="1200" b="1">
                <a:solidFill>
                  <a:schemeClr val="bg1"/>
                </a:solidFill>
                <a:latin typeface="Arial" charset="0"/>
                <a:ea typeface="楷体_GB2312" pitchFamily="49" charset="-122"/>
              </a:defRPr>
            </a:lvl6pPr>
            <a:lvl7pPr marL="2971800" indent="-228600" eaLnBrk="0" fontAlgn="base" hangingPunct="0">
              <a:spcBef>
                <a:spcPct val="0"/>
              </a:spcBef>
              <a:spcAft>
                <a:spcPct val="0"/>
              </a:spcAft>
              <a:defRPr sz="1200" b="1">
                <a:solidFill>
                  <a:schemeClr val="bg1"/>
                </a:solidFill>
                <a:latin typeface="Arial" charset="0"/>
                <a:ea typeface="楷体_GB2312" pitchFamily="49" charset="-122"/>
              </a:defRPr>
            </a:lvl7pPr>
            <a:lvl8pPr marL="3429000" indent="-228600" eaLnBrk="0" fontAlgn="base" hangingPunct="0">
              <a:spcBef>
                <a:spcPct val="0"/>
              </a:spcBef>
              <a:spcAft>
                <a:spcPct val="0"/>
              </a:spcAft>
              <a:defRPr sz="1200" b="1">
                <a:solidFill>
                  <a:schemeClr val="bg1"/>
                </a:solidFill>
                <a:latin typeface="Arial" charset="0"/>
                <a:ea typeface="楷体_GB2312" pitchFamily="49" charset="-122"/>
              </a:defRPr>
            </a:lvl8pPr>
            <a:lvl9pPr marL="3886200" indent="-228600" eaLnBrk="0" fontAlgn="base" hangingPunct="0">
              <a:spcBef>
                <a:spcPct val="0"/>
              </a:spcBef>
              <a:spcAft>
                <a:spcPct val="0"/>
              </a:spcAft>
              <a:defRPr sz="1200" b="1">
                <a:solidFill>
                  <a:schemeClr val="bg1"/>
                </a:solidFill>
                <a:latin typeface="Arial" charset="0"/>
                <a:ea typeface="楷体_GB2312" pitchFamily="49" charset="-122"/>
              </a:defRPr>
            </a:lvl9pPr>
          </a:lstStyle>
          <a:p>
            <a:pPr lvl="0">
              <a:lnSpc>
                <a:spcPct val="200000"/>
              </a:lnSpc>
            </a:pPr>
            <a:r>
              <a:rPr lang="en-US" altLang="zh-CN" sz="2400" dirty="0" smtClean="0">
                <a:solidFill>
                  <a:schemeClr val="tx1"/>
                </a:solidFill>
                <a:latin typeface="Times New Roman" pitchFamily="18" charset="0"/>
                <a:cs typeface="Times New Roman" pitchFamily="18" charset="0"/>
              </a:rPr>
              <a:t>Q1 </a:t>
            </a:r>
            <a:r>
              <a:rPr lang="en-US" altLang="zh-CN" sz="2400" dirty="0">
                <a:solidFill>
                  <a:schemeClr val="tx1"/>
                </a:solidFill>
                <a:latin typeface="Times New Roman" pitchFamily="18" charset="0"/>
                <a:cs typeface="Times New Roman" pitchFamily="18" charset="0"/>
              </a:rPr>
              <a:t>: Specifies </a:t>
            </a:r>
            <a:r>
              <a:rPr lang="en-US" altLang="zh-CN" sz="2400" dirty="0" smtClean="0">
                <a:solidFill>
                  <a:schemeClr val="tx1"/>
                </a:solidFill>
                <a:latin typeface="Times New Roman" pitchFamily="18" charset="0"/>
                <a:cs typeface="Times New Roman" pitchFamily="18" charset="0"/>
              </a:rPr>
              <a:t>the </a:t>
            </a:r>
            <a:r>
              <a:rPr lang="en-US" altLang="zh-CN" sz="2400" dirty="0">
                <a:solidFill>
                  <a:schemeClr val="tx1"/>
                </a:solidFill>
                <a:latin typeface="Times New Roman" pitchFamily="18" charset="0"/>
                <a:cs typeface="Times New Roman" pitchFamily="18" charset="0"/>
              </a:rPr>
              <a:t>function of the TT&amp;C subsystem </a:t>
            </a:r>
            <a:endParaRPr lang="en-US" altLang="zh-CN" sz="2400" dirty="0" smtClean="0">
              <a:solidFill>
                <a:schemeClr val="tx1"/>
              </a:solidFill>
              <a:latin typeface="Times New Roman" pitchFamily="18" charset="0"/>
              <a:cs typeface="Times New Roman" pitchFamily="18" charset="0"/>
            </a:endParaRPr>
          </a:p>
          <a:p>
            <a:pPr lvl="0">
              <a:lnSpc>
                <a:spcPct val="200000"/>
              </a:lnSpc>
            </a:pPr>
            <a:r>
              <a:rPr lang="en-US" altLang="zh-CN" sz="2400" dirty="0" smtClean="0">
                <a:solidFill>
                  <a:schemeClr val="tx1"/>
                </a:solidFill>
                <a:latin typeface="Times New Roman" pitchFamily="18" charset="0"/>
                <a:cs typeface="Times New Roman" pitchFamily="18" charset="0"/>
              </a:rPr>
              <a:t>Q2: Describe the equipments of TT&amp;C Subsystem</a:t>
            </a:r>
          </a:p>
          <a:p>
            <a:pPr>
              <a:lnSpc>
                <a:spcPct val="200000"/>
              </a:lnSpc>
            </a:pPr>
            <a:r>
              <a:rPr lang="en-US" altLang="zh-CN" sz="2400" dirty="0" smtClean="0">
                <a:solidFill>
                  <a:schemeClr val="tx1"/>
                </a:solidFill>
                <a:latin typeface="Times New Roman" pitchFamily="18" charset="0"/>
                <a:cs typeface="Times New Roman" pitchFamily="18" charset="0"/>
              </a:rPr>
              <a:t>Q3: Describe the working mode of transponder</a:t>
            </a:r>
          </a:p>
          <a:p>
            <a:pPr lvl="0">
              <a:lnSpc>
                <a:spcPct val="200000"/>
              </a:lnSpc>
            </a:pPr>
            <a:r>
              <a:rPr lang="en-US" altLang="zh-CN" sz="2400" dirty="0" smtClean="0">
                <a:solidFill>
                  <a:schemeClr val="tx1"/>
                </a:solidFill>
                <a:latin typeface="Times New Roman" pitchFamily="18" charset="0"/>
                <a:cs typeface="Times New Roman" pitchFamily="18" charset="0"/>
              </a:rPr>
              <a:t>Q4:  Specifies TC and TM Signal Character</a:t>
            </a:r>
            <a:endParaRPr lang="zh-CN" altLang="zh-CN" sz="2400"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342812295"/>
      </p:ext>
    </p:extLst>
  </p:cSld>
  <p:clrMapOvr>
    <a:masterClrMapping/>
  </p:clrMapOvr>
  <p:transition>
    <p:random/>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928794" y="3000372"/>
            <a:ext cx="5429288" cy="923330"/>
          </a:xfrm>
          <a:prstGeom prst="rect">
            <a:avLst/>
          </a:prstGeom>
          <a:noFill/>
        </p:spPr>
        <p:txBody>
          <a:bodyPr wrap="square" lIns="91440" tIns="45720" rIns="91440" bIns="45720">
            <a:spAutoFit/>
            <a:scene3d>
              <a:camera prst="orthographicFront"/>
              <a:lightRig rig="threePt" dir="t"/>
            </a:scene3d>
            <a:sp3d extrusionH="57150">
              <a:bevelT w="69850" h="38100" prst="cross"/>
            </a:sp3d>
          </a:bodyPr>
          <a:lstStyle/>
          <a:p>
            <a:pPr algn="ctr"/>
            <a:r>
              <a:rPr lang="en-US" altLang="zh-CN" sz="5400" b="1" cap="all" dirty="0" smtClean="0">
                <a:ln w="900" cmpd="sng">
                  <a:solidFill>
                    <a:schemeClr val="accent1">
                      <a:satMod val="190000"/>
                      <a:alpha val="55000"/>
                    </a:schemeClr>
                  </a:solidFill>
                  <a:prstDash val="solid"/>
                </a:ln>
                <a:solidFill>
                  <a:schemeClr val="tx2"/>
                </a:solidFill>
                <a:effectLst>
                  <a:innerShdw blurRad="101600" dist="76200" dir="5400000">
                    <a:schemeClr val="accent1">
                      <a:satMod val="190000"/>
                      <a:tint val="100000"/>
                      <a:alpha val="74000"/>
                    </a:schemeClr>
                  </a:innerShdw>
                  <a:reflection blurRad="6350" stA="60000" endA="900" endPos="60000" dist="60007" dir="5400000" sy="-100000" algn="bl" rotWithShape="0"/>
                </a:effectLst>
              </a:rPr>
              <a:t>Thank you</a:t>
            </a:r>
            <a:endParaRPr lang="zh-CN" altLang="en-US" sz="5400" b="1" cap="all" spc="0" dirty="0">
              <a:ln w="900" cmpd="sng">
                <a:solidFill>
                  <a:schemeClr val="accent1">
                    <a:satMod val="190000"/>
                    <a:alpha val="55000"/>
                  </a:schemeClr>
                </a:solidFill>
                <a:prstDash val="solid"/>
              </a:ln>
              <a:solidFill>
                <a:schemeClr val="tx2"/>
              </a:solidFill>
              <a:effectLst>
                <a:innerShdw blurRad="101600" dist="76200" dir="5400000">
                  <a:schemeClr val="accent1">
                    <a:satMod val="190000"/>
                    <a:tint val="100000"/>
                    <a:alpha val="74000"/>
                  </a:schemeClr>
                </a:innerShdw>
                <a:reflection blurRad="6350" stA="60000" endA="900" endPos="60000" dist="60007" dir="5400000" sy="-100000" algn="bl" rotWithShape="0"/>
              </a:effectLst>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穿越">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19784</TotalTime>
  <Words>4188</Words>
  <Application>Microsoft Office PowerPoint</Application>
  <PresentationFormat>On-screen Show (4:3)</PresentationFormat>
  <Paragraphs>736</Paragraphs>
  <Slides>52</Slides>
  <Notes>44</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52</vt:i4>
      </vt:variant>
    </vt:vector>
  </HeadingPairs>
  <TitlesOfParts>
    <vt:vector size="55" baseType="lpstr">
      <vt:lpstr>Office 主题</vt:lpstr>
      <vt:lpstr>Equation</vt:lpstr>
      <vt:lpstr>Visio</vt:lpstr>
      <vt:lpstr>ETRSS-1  TT&amp;C Module Design</vt:lpstr>
      <vt:lpstr>Terms and Abbreviations</vt:lpstr>
      <vt:lpstr>Outlines</vt:lpstr>
      <vt:lpstr>Slide 4</vt:lpstr>
      <vt:lpstr>Slide 5</vt:lpstr>
      <vt:lpstr>Slide 6</vt:lpstr>
      <vt:lpstr>Slide 7</vt:lpstr>
      <vt:lpstr>Slide 8</vt:lpstr>
      <vt:lpstr>Slide 9</vt:lpstr>
      <vt:lpstr>Slide 10</vt:lpstr>
      <vt:lpstr>Outlines</vt:lpstr>
      <vt:lpstr>Slide 12</vt:lpstr>
      <vt:lpstr>Slide 13</vt:lpstr>
      <vt:lpstr>Slide 14</vt:lpstr>
      <vt:lpstr>Slide 15</vt:lpstr>
      <vt:lpstr>Slide 16</vt:lpstr>
      <vt:lpstr>Slide 17</vt:lpstr>
      <vt:lpstr>Slide 18</vt:lpstr>
      <vt:lpstr>Slide 19</vt:lpstr>
      <vt:lpstr>Slide 20</vt:lpstr>
      <vt:lpstr>Outlines</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Outlines</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dfh</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单悌磊</dc:creator>
  <cp:lastModifiedBy>dfh</cp:lastModifiedBy>
  <cp:revision>977</cp:revision>
  <dcterms:created xsi:type="dcterms:W3CDTF">2013-04-18T01:59:38Z</dcterms:created>
  <dcterms:modified xsi:type="dcterms:W3CDTF">2019-03-01T19:21:23Z</dcterms:modified>
</cp:coreProperties>
</file>