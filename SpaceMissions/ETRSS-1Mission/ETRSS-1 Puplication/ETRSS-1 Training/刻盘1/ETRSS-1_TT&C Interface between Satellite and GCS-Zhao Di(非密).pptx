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Default Extension="wdp" ContentType="image/vnd.ms-photo"/>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75" r:id="rId2"/>
    <p:sldId id="440" r:id="rId3"/>
    <p:sldId id="412" r:id="rId4"/>
    <p:sldId id="441" r:id="rId5"/>
    <p:sldId id="413" r:id="rId6"/>
    <p:sldId id="414" r:id="rId7"/>
    <p:sldId id="442" r:id="rId8"/>
    <p:sldId id="416" r:id="rId9"/>
    <p:sldId id="417" r:id="rId10"/>
    <p:sldId id="421" r:id="rId11"/>
    <p:sldId id="419" r:id="rId12"/>
    <p:sldId id="422" r:id="rId13"/>
    <p:sldId id="443" r:id="rId14"/>
    <p:sldId id="423" r:id="rId15"/>
    <p:sldId id="424" r:id="rId16"/>
    <p:sldId id="444" r:id="rId17"/>
    <p:sldId id="425" r:id="rId18"/>
    <p:sldId id="427" r:id="rId19"/>
    <p:sldId id="445" r:id="rId20"/>
    <p:sldId id="428" r:id="rId21"/>
    <p:sldId id="433" r:id="rId22"/>
    <p:sldId id="446" r:id="rId23"/>
    <p:sldId id="435" r:id="rId24"/>
    <p:sldId id="439"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默认节" id="{D98E4EC8-262F-4493-A17B-40E3C335E374}">
          <p14:sldIdLst>
            <p14:sldId id="275"/>
            <p14:sldId id="440"/>
            <p14:sldId id="412"/>
            <p14:sldId id="441"/>
            <p14:sldId id="413"/>
            <p14:sldId id="414"/>
            <p14:sldId id="442"/>
            <p14:sldId id="416"/>
            <p14:sldId id="417"/>
            <p14:sldId id="421"/>
            <p14:sldId id="419"/>
            <p14:sldId id="422"/>
            <p14:sldId id="443"/>
            <p14:sldId id="423"/>
            <p14:sldId id="424"/>
            <p14:sldId id="444"/>
            <p14:sldId id="425"/>
            <p14:sldId id="427"/>
            <p14:sldId id="445"/>
            <p14:sldId id="428"/>
            <p14:sldId id="433"/>
            <p14:sldId id="446"/>
            <p14:sldId id="435"/>
            <p14:sldId id="43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3F1"/>
    <a:srgbClr val="0099FF"/>
    <a:srgbClr val="1656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2615" autoAdjust="0"/>
  </p:normalViewPr>
  <p:slideViewPr>
    <p:cSldViewPr>
      <p:cViewPr varScale="1">
        <p:scale>
          <a:sx n="71" d="100"/>
          <a:sy n="71" d="100"/>
        </p:scale>
        <p:origin x="-1134" y="-60"/>
      </p:cViewPr>
      <p:guideLst>
        <p:guide orient="horz" pos="216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2019/3/1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xmlns=""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2019/3/1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xmlns=""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a:t>
            </a:fld>
            <a:endParaRPr lang="zh-CN" altLang="en-US"/>
          </a:p>
        </p:txBody>
      </p:sp>
    </p:spTree>
    <p:extLst>
      <p:ext uri="{BB962C8B-B14F-4D97-AF65-F5344CB8AC3E}">
        <p14:creationId xmlns:p14="http://schemas.microsoft.com/office/powerpoint/2010/main" xmlns="" val="956889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Font typeface="Wingdings" pitchFamily="2" charset="2"/>
              <a:buChar char="p"/>
            </a:pPr>
            <a:endParaRPr lang="zh-CN" altLang="en-US" sz="1200" dirty="0">
              <a:solidFill>
                <a:schemeClr val="tx1"/>
              </a:solidFill>
              <a:latin typeface="Times New Roman" pitchFamily="18" charset="0"/>
              <a:cs typeface="Times New Roman" pitchFamily="18" charset="0"/>
            </a:endParaRPr>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xmlns="" val="2289962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eaLnBrk="0" hangingPunct="0"/>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eaLnBrk="0" hangingPunct="0"/>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eaLnBrk="0" hangingPunct="0"/>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eaLnBrk="0" hangingPunct="0"/>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14</a:t>
            </a:fld>
            <a:endParaRPr lang="zh-CN" altLang="en-US"/>
          </a:p>
        </p:txBody>
      </p:sp>
    </p:spTree>
    <p:extLst>
      <p:ext uri="{BB962C8B-B14F-4D97-AF65-F5344CB8AC3E}">
        <p14:creationId xmlns:p14="http://schemas.microsoft.com/office/powerpoint/2010/main" xmlns="" val="375893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15</a:t>
            </a:fld>
            <a:endParaRPr lang="zh-CN" altLang="en-US"/>
          </a:p>
        </p:txBody>
      </p:sp>
    </p:spTree>
    <p:extLst>
      <p:ext uri="{BB962C8B-B14F-4D97-AF65-F5344CB8AC3E}">
        <p14:creationId xmlns:p14="http://schemas.microsoft.com/office/powerpoint/2010/main" xmlns="" val="12232176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19</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20</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22</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xmlns="">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xmlns=""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422410" y="0"/>
            <a:ext cx="2754307" cy="1944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大小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60748"/>
            <a:ext cx="8229600" cy="4525963"/>
          </a:xfrm>
          <a:prstGeom prst="rect">
            <a:avLst/>
          </a:prstGeom>
        </p:spPr>
        <p:txBody>
          <a:bodyPr/>
          <a:lstStyle>
            <a:lvl1pPr>
              <a:defRPr b="1"/>
            </a:lvl1pPr>
            <a:lvl2pPr>
              <a:defRPr b="1"/>
            </a:lvl2pPr>
            <a:lvl3pPr>
              <a:defRPr b="1"/>
            </a:lvl3pPr>
            <a:lvl4pPr>
              <a:defRPr b="1"/>
            </a:lvl4pPr>
            <a:lvl5pPr marL="1828800" indent="0">
              <a:buNone/>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p:txBody>
      </p:sp>
      <p:sp>
        <p:nvSpPr>
          <p:cNvPr id="5" name="标题 1"/>
          <p:cNvSpPr>
            <a:spLocks noGrp="1"/>
          </p:cNvSpPr>
          <p:nvPr>
            <p:ph type="title"/>
          </p:nvPr>
        </p:nvSpPr>
        <p:spPr>
          <a:xfrm>
            <a:off x="457200" y="274638"/>
            <a:ext cx="8229600" cy="1143000"/>
          </a:xfrm>
          <a:prstGeom prst="rect">
            <a:avLst/>
          </a:prstGeom>
        </p:spPr>
        <p:txBody>
          <a:bodyPr/>
          <a:lstStyle>
            <a:lvl1pPr algn="l">
              <a:defRPr sz="3600" b="1"/>
            </a:lvl1pPr>
          </a:lstStyle>
          <a:p>
            <a:r>
              <a:rPr lang="zh-CN" altLang="en-US" smtClean="0"/>
              <a:t>单击此处编辑母版标题样式</a:t>
            </a:r>
            <a:endParaRPr lang="zh-CN" altLang="en-US" dirty="0"/>
          </a:p>
        </p:txBody>
      </p:sp>
    </p:spTree>
    <p:extLst>
      <p:ext uri="{BB962C8B-B14F-4D97-AF65-F5344CB8AC3E}">
        <p14:creationId xmlns:p14="http://schemas.microsoft.com/office/powerpoint/2010/main" xmlns="" val="189116376"/>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9"/>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9"/>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10" cstate="print">
            <a:extLst>
              <a:ext uri="{28A0092B-C50C-407E-A947-70E740481C1C}">
                <a14:useLocalDpi xmlns:a14="http://schemas.microsoft.com/office/drawing/2010/main" xmlns="" val="0"/>
              </a:ext>
            </a:extLst>
          </a:blip>
          <a:srcRect b="34726"/>
          <a:stretch/>
        </p:blipFill>
        <p:spPr>
          <a:xfrm>
            <a:off x="171892" y="6339800"/>
            <a:ext cx="432048" cy="345317"/>
          </a:xfrm>
          <a:prstGeom prst="rect">
            <a:avLst/>
          </a:prstGeom>
        </p:spPr>
      </p:pic>
      <p:pic>
        <p:nvPicPr>
          <p:cNvPr id="12290" name="Picture 2"/>
          <p:cNvPicPr>
            <a:picLocks noChangeAspect="1" noChangeArrowheads="1"/>
          </p:cNvPicPr>
          <p:nvPr userDrawn="1"/>
        </p:nvPicPr>
        <p:blipFill>
          <a:blip r:embed="rId11">
            <a:extLst>
              <a:ext uri="{28A0092B-C50C-407E-A947-70E740481C1C}">
                <a14:useLocalDpi xmlns:a14="http://schemas.microsoft.com/office/drawing/2010/main" xmlns=""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 id="2147483661" r:id="rId6"/>
    <p:sldLayoutId id="2147483662" r:id="rId7"/>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7.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vmlDrawing" Target="../drawings/vmlDrawing3.vml"/><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4797152"/>
            <a:ext cx="4914912" cy="1512168"/>
          </a:xfrm>
        </p:spPr>
        <p:txBody>
          <a:bodyPr/>
          <a:lstStyle/>
          <a:p>
            <a:r>
              <a:rPr lang="en-US" altLang="zh-CN" sz="2800" dirty="0">
                <a:solidFill>
                  <a:schemeClr val="bg1"/>
                </a:solidFill>
                <a:effectLst>
                  <a:outerShdw blurRad="38100" dist="38100" dir="2700000" algn="tl">
                    <a:srgbClr val="000000">
                      <a:alpha val="43137"/>
                    </a:srgbClr>
                  </a:outerShdw>
                </a:effectLst>
              </a:rPr>
              <a:t>DFH SATELLITE </a:t>
            </a:r>
            <a:r>
              <a:rPr lang="en-US" altLang="zh-CN" sz="2800" dirty="0" smtClean="0">
                <a:solidFill>
                  <a:schemeClr val="bg1"/>
                </a:solidFill>
                <a:effectLst>
                  <a:outerShdw blurRad="38100" dist="38100" dir="2700000" algn="tl">
                    <a:srgbClr val="000000">
                      <a:alpha val="43137"/>
                    </a:srgbClr>
                  </a:outerShdw>
                </a:effectLst>
              </a:rPr>
              <a:t>CO.,LTD</a:t>
            </a:r>
          </a:p>
          <a:p>
            <a:r>
              <a:rPr lang="en-US" altLang="zh-CN" sz="2800" dirty="0" smtClean="0"/>
              <a:t>February.</a:t>
            </a:r>
            <a:r>
              <a:rPr lang="en-US" altLang="zh-CN" sz="2800" dirty="0" smtClean="0">
                <a:solidFill>
                  <a:schemeClr val="bg1"/>
                </a:solidFill>
                <a:effectLst>
                  <a:outerShdw blurRad="38100" dist="38100" dir="2700000" algn="tl">
                    <a:srgbClr val="000000">
                      <a:alpha val="43137"/>
                    </a:srgbClr>
                  </a:outerShdw>
                </a:effectLst>
              </a:rPr>
              <a:t>2019</a:t>
            </a:r>
          </a:p>
          <a:p>
            <a:endParaRPr lang="zh-CN" altLang="en-US" dirty="0"/>
          </a:p>
          <a:p>
            <a:endParaRPr lang="zh-CN" altLang="en-US" dirty="0"/>
          </a:p>
        </p:txBody>
      </p:sp>
      <p:sp>
        <p:nvSpPr>
          <p:cNvPr id="3" name="标题 2"/>
          <p:cNvSpPr>
            <a:spLocks noGrp="1"/>
          </p:cNvSpPr>
          <p:nvPr>
            <p:ph type="title"/>
          </p:nvPr>
        </p:nvSpPr>
        <p:spPr>
          <a:xfrm>
            <a:off x="714348" y="1772816"/>
            <a:ext cx="7586658" cy="2088232"/>
          </a:xfrm>
        </p:spPr>
        <p:txBody>
          <a:bodyPr>
            <a:normAutofit fontScale="90000"/>
          </a:bodyPr>
          <a:lstStyle/>
          <a:p>
            <a:r>
              <a:rPr lang="en-US" altLang="zh-CN" dirty="0" smtClean="0"/>
              <a:t>ETRSS-1 </a:t>
            </a:r>
            <a:br>
              <a:rPr lang="en-US" altLang="zh-CN" dirty="0" smtClean="0"/>
            </a:br>
            <a:r>
              <a:rPr lang="en-US" altLang="zh-CN" dirty="0" smtClean="0">
                <a:solidFill>
                  <a:schemeClr val="bg2"/>
                </a:solidFill>
              </a:rPr>
              <a:t> </a:t>
            </a:r>
            <a:r>
              <a:rPr lang="en-US" altLang="zh-CN" dirty="0" smtClean="0"/>
              <a:t>TT&amp;C Interface Between Spacecraft and GCS</a:t>
            </a:r>
            <a:endParaRPr lang="zh-CN" altLang="en-US" dirty="0"/>
          </a:p>
        </p:txBody>
      </p:sp>
    </p:spTree>
    <p:extLst>
      <p:ext uri="{BB962C8B-B14F-4D97-AF65-F5344CB8AC3E}">
        <p14:creationId xmlns:p14="http://schemas.microsoft.com/office/powerpoint/2010/main" xmlns=""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pic>
        <p:nvPicPr>
          <p:cNvPr id="6" name="Picture 2" descr="D:\resources for ppt\sino6_W020100905714056942648.jpg"/>
          <p:cNvPicPr>
            <a:picLocks noChangeAspect="1" noChangeArrowheads="1"/>
          </p:cNvPicPr>
          <p:nvPr/>
        </p:nvPicPr>
        <p:blipFill>
          <a:blip r:embed="rId4" cstate="email"/>
          <a:stretch>
            <a:fillRect/>
          </a:stretch>
        </p:blipFill>
        <p:spPr bwMode="auto">
          <a:xfrm>
            <a:off x="2357681" y="1765805"/>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3000364" y="1716605"/>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cs typeface="Arial" pitchFamily="34" charset="0"/>
              </a:rPr>
              <a:t>1</a:t>
            </a:r>
            <a:r>
              <a:rPr lang="en-US" altLang="zh-CN" sz="2400" b="1" dirty="0" smtClean="0">
                <a:solidFill>
                  <a:schemeClr val="tx1"/>
                </a:solidFill>
                <a:latin typeface="Arial" pitchFamily="34" charset="0"/>
                <a:cs typeface="Arial" pitchFamily="34" charset="0"/>
              </a:rPr>
              <a:t>   Introduction</a:t>
            </a:r>
            <a:endParaRPr lang="zh-CN" altLang="en-US" sz="2400" b="1" dirty="0">
              <a:solidFill>
                <a:schemeClr val="tx1"/>
              </a:solidFill>
              <a:latin typeface="Arial" pitchFamily="34" charset="0"/>
              <a:cs typeface="Arial" pitchFamily="34" charset="0"/>
            </a:endParaRPr>
          </a:p>
        </p:txBody>
      </p:sp>
      <p:pic>
        <p:nvPicPr>
          <p:cNvPr id="11" name="Picture 1" descr="D:\resources for ppt\sat5.jpg"/>
          <p:cNvPicPr>
            <a:picLocks noChangeAspect="1" noChangeArrowheads="1"/>
          </p:cNvPicPr>
          <p:nvPr/>
        </p:nvPicPr>
        <p:blipFill>
          <a:blip r:embed="rId5" cstate="email"/>
          <a:stretch>
            <a:fillRect/>
          </a:stretch>
        </p:blipFill>
        <p:spPr bwMode="auto">
          <a:xfrm>
            <a:off x="2377256" y="2734916"/>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5" name="单圆角矩形 14"/>
          <p:cNvSpPr/>
          <p:nvPr/>
        </p:nvSpPr>
        <p:spPr>
          <a:xfrm>
            <a:off x="3024189" y="2638424"/>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solidFill>
                  <a:schemeClr val="tx1"/>
                </a:solidFill>
                <a:ea typeface="微软雅黑" pitchFamily="34" charset="-122"/>
              </a:rPr>
              <a:t>2</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latin typeface="Times New Roman" pitchFamily="18" charset="0"/>
                <a:ea typeface="微软雅黑" pitchFamily="34" charset="-122"/>
                <a:cs typeface="Times New Roman" pitchFamily="18" charset="0"/>
              </a:rPr>
              <a:t>Task Requirement</a:t>
            </a:r>
            <a:endParaRPr lang="zh-CN" altLang="en-US" sz="2400" b="1" dirty="0" smtClean="0">
              <a:solidFill>
                <a:schemeClr val="tx1"/>
              </a:solidFill>
              <a:latin typeface="Times New Roman" pitchFamily="18" charset="0"/>
              <a:cs typeface="Times New Roman" pitchFamily="18" charset="0"/>
            </a:endParaRPr>
          </a:p>
        </p:txBody>
      </p:sp>
      <p:sp>
        <p:nvSpPr>
          <p:cNvPr id="12" name="标题 2"/>
          <p:cNvSpPr>
            <a:spLocks noGrp="1"/>
          </p:cNvSpPr>
          <p:nvPr>
            <p:ph type="title"/>
          </p:nvPr>
        </p:nvSpPr>
        <p:spPr>
          <a:xfrm>
            <a:off x="457200" y="274638"/>
            <a:ext cx="8229600" cy="1143000"/>
          </a:xfrm>
        </p:spPr>
        <p:txBody>
          <a:bodyPr anchor="t">
            <a:normAutofit/>
          </a:bodyPr>
          <a:lstStyle/>
          <a:p>
            <a:pPr algn="l"/>
            <a:r>
              <a:rPr lang="en-US" altLang="zh-CN" sz="3600" dirty="0" smtClean="0"/>
              <a:t>Outlines</a:t>
            </a:r>
            <a:endParaRPr lang="zh-CN" altLang="en-US" sz="3600" dirty="0" smtClean="0"/>
          </a:p>
        </p:txBody>
      </p:sp>
      <p:pic>
        <p:nvPicPr>
          <p:cNvPr id="13" name="Picture 1" descr="D:\resources for ppt\sat5.jpg"/>
          <p:cNvPicPr>
            <a:picLocks noChangeAspect="1" noChangeArrowheads="1"/>
          </p:cNvPicPr>
          <p:nvPr/>
        </p:nvPicPr>
        <p:blipFill>
          <a:blip r:embed="rId5" cstate="email"/>
          <a:stretch>
            <a:fillRect/>
          </a:stretch>
        </p:blipFill>
        <p:spPr bwMode="auto">
          <a:xfrm>
            <a:off x="2389984" y="4587779"/>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4498453"/>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t>4</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Interface with the Ground TT&amp;C</a:t>
            </a:r>
            <a:endParaRPr lang="zh-CN" altLang="en-US" sz="2400" b="1" dirty="0" smtClean="0">
              <a:solidFill>
                <a:srgbClr val="FFFF00"/>
              </a:solidFill>
              <a:latin typeface="Times New Roman" pitchFamily="18" charset="0"/>
              <a:cs typeface="Times New Roman" pitchFamily="18" charset="0"/>
            </a:endParaRPr>
          </a:p>
        </p:txBody>
      </p:sp>
      <p:pic>
        <p:nvPicPr>
          <p:cNvPr id="16" name="Picture 1" descr="D:\resources for ppt\sat5.jpg"/>
          <p:cNvPicPr>
            <a:picLocks noChangeAspect="1" noChangeArrowheads="1"/>
          </p:cNvPicPr>
          <p:nvPr/>
        </p:nvPicPr>
        <p:blipFill>
          <a:blip r:embed="rId5" cstate="email"/>
          <a:stretch>
            <a:fillRect/>
          </a:stretch>
        </p:blipFill>
        <p:spPr bwMode="auto">
          <a:xfrm>
            <a:off x="2389984" y="3666251"/>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3569759"/>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3   </a:t>
            </a:r>
            <a:r>
              <a:rPr lang="en-US" altLang="zh-CN" sz="2400" b="1" dirty="0" smtClean="0">
                <a:latin typeface="Times New Roman" pitchFamily="18" charset="0"/>
                <a:cs typeface="Times New Roman" pitchFamily="18" charset="0"/>
              </a:rPr>
              <a:t>Satellite TT&amp;C Subsystem</a:t>
            </a:r>
            <a:endParaRPr lang="zh-CN" altLang="en-US" sz="2400" b="1" dirty="0">
              <a:solidFill>
                <a:srgbClr val="FFFF00"/>
              </a:solidFill>
              <a:latin typeface="Times New Roman" pitchFamily="18" charset="0"/>
              <a:cs typeface="Times New Roman" pitchFamily="18" charset="0"/>
            </a:endParaRPr>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pic>
        <p:nvPicPr>
          <p:cNvPr id="20" name="Picture 1" descr="D:\resources for ppt\sat5.jpg"/>
          <p:cNvPicPr>
            <a:picLocks noChangeAspect="1" noChangeArrowheads="1"/>
          </p:cNvPicPr>
          <p:nvPr/>
        </p:nvPicPr>
        <p:blipFill>
          <a:blip r:embed="rId5" cstate="email"/>
          <a:stretch>
            <a:fillRect/>
          </a:stretch>
        </p:blipFill>
        <p:spPr bwMode="auto">
          <a:xfrm>
            <a:off x="2389984" y="5518590"/>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1" name="单圆角矩形 20"/>
          <p:cNvSpPr/>
          <p:nvPr/>
        </p:nvSpPr>
        <p:spPr>
          <a:xfrm>
            <a:off x="3036917" y="5429264"/>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t>5</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Rule of Sending TC and Data Block</a:t>
            </a:r>
            <a:endParaRPr lang="zh-CN" altLang="en-US" sz="2400" b="1" dirty="0" smtClean="0">
              <a:solidFill>
                <a:srgbClr val="FFFF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r>
              <a:rPr lang="en-US" altLang="zh-CN" sz="3200" dirty="0" smtClean="0"/>
              <a:t>1</a:t>
            </a:r>
            <a:r>
              <a:rPr lang="zh-CN" altLang="en-US" sz="3200" dirty="0" smtClean="0"/>
              <a:t>  </a:t>
            </a:r>
            <a:r>
              <a:rPr lang="en-US" altLang="zh-CN" sz="3200" dirty="0" smtClean="0"/>
              <a:t>I</a:t>
            </a:r>
            <a:r>
              <a:rPr lang="en-US" altLang="zh-CN" sz="3200" cap="all" dirty="0" smtClean="0"/>
              <a:t>ntroduction</a:t>
            </a:r>
            <a:endParaRPr lang="zh-CN" altLang="en-US" sz="3200" cap="all" dirty="0"/>
          </a:p>
        </p:txBody>
      </p:sp>
      <p:graphicFrame>
        <p:nvGraphicFramePr>
          <p:cNvPr id="8" name="对象 7"/>
          <p:cNvGraphicFramePr>
            <a:graphicFrameLocks noChangeAspect="1"/>
          </p:cNvGraphicFramePr>
          <p:nvPr>
            <p:extLst>
              <p:ext uri="{D42A27DB-BD31-4B8C-83A1-F6EECF244321}">
                <p14:modId xmlns:p14="http://schemas.microsoft.com/office/powerpoint/2010/main" xmlns="" val="540121571"/>
              </p:ext>
            </p:extLst>
          </p:nvPr>
        </p:nvGraphicFramePr>
        <p:xfrm>
          <a:off x="4960293" y="1928802"/>
          <a:ext cx="3888432" cy="3960440"/>
        </p:xfrm>
        <a:graphic>
          <a:graphicData uri="http://schemas.openxmlformats.org/presentationml/2006/ole">
            <p:oleObj spid="_x0000_s1029" name="Visio" r:id="rId4" imgW="5107496" imgH="5809869" progId="">
              <p:embed/>
            </p:oleObj>
          </a:graphicData>
        </a:graphic>
      </p:graphicFrame>
      <p:sp>
        <p:nvSpPr>
          <p:cNvPr id="9" name="TextBox 5"/>
          <p:cNvSpPr txBox="1">
            <a:spLocks noChangeArrowheads="1"/>
          </p:cNvSpPr>
          <p:nvPr/>
        </p:nvSpPr>
        <p:spPr bwMode="auto">
          <a:xfrm>
            <a:off x="607570" y="2000240"/>
            <a:ext cx="4607372" cy="39617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82954" tIns="41477" rIns="82954" bIns="41477">
            <a:spAutoFit/>
          </a:bodyPr>
          <a:lstStyle>
            <a:lvl1pPr marL="285750" indent="-285750" eaLnBrk="0" hangingPunct="0">
              <a:tabLst>
                <a:tab pos="361950" algn="l"/>
              </a:tabLst>
              <a:defRPr sz="2000" b="1">
                <a:solidFill>
                  <a:srgbClr val="575F6D"/>
                </a:solidFill>
                <a:latin typeface="Arial" charset="0"/>
                <a:ea typeface="宋体" charset="-122"/>
              </a:defRPr>
            </a:lvl1pPr>
            <a:lvl2pPr marL="742950" indent="-285750" eaLnBrk="0" hangingPunct="0">
              <a:tabLst>
                <a:tab pos="361950" algn="l"/>
              </a:tabLst>
              <a:defRPr sz="2000" b="1">
                <a:solidFill>
                  <a:srgbClr val="575F6D"/>
                </a:solidFill>
                <a:latin typeface="Arial" charset="0"/>
                <a:ea typeface="宋体" charset="-122"/>
              </a:defRPr>
            </a:lvl2pPr>
            <a:lvl3pPr marL="1143000" indent="-228600" eaLnBrk="0" hangingPunct="0">
              <a:tabLst>
                <a:tab pos="361950" algn="l"/>
              </a:tabLst>
              <a:defRPr sz="2000" b="1">
                <a:solidFill>
                  <a:srgbClr val="575F6D"/>
                </a:solidFill>
                <a:latin typeface="Arial" charset="0"/>
                <a:ea typeface="宋体" charset="-122"/>
              </a:defRPr>
            </a:lvl3pPr>
            <a:lvl4pPr marL="1600200" indent="-228600" eaLnBrk="0" hangingPunct="0">
              <a:tabLst>
                <a:tab pos="361950" algn="l"/>
              </a:tabLst>
              <a:defRPr sz="2000" b="1">
                <a:solidFill>
                  <a:srgbClr val="575F6D"/>
                </a:solidFill>
                <a:latin typeface="Arial" charset="0"/>
                <a:ea typeface="宋体" charset="-122"/>
              </a:defRPr>
            </a:lvl4pPr>
            <a:lvl5pPr marL="2057400" indent="-228600" eaLnBrk="0" hangingPunct="0">
              <a:tabLst>
                <a:tab pos="361950" algn="l"/>
              </a:tabLst>
              <a:defRPr sz="2000" b="1">
                <a:solidFill>
                  <a:srgbClr val="575F6D"/>
                </a:solidFill>
                <a:latin typeface="Arial" charset="0"/>
                <a:ea typeface="宋体" charset="-122"/>
              </a:defRPr>
            </a:lvl5pPr>
            <a:lvl6pPr marL="2514600" indent="-228600" algn="ctr" eaLnBrk="0" fontAlgn="base" hangingPunct="0">
              <a:spcBef>
                <a:spcPct val="0"/>
              </a:spcBef>
              <a:spcAft>
                <a:spcPct val="0"/>
              </a:spcAft>
              <a:tabLst>
                <a:tab pos="361950" algn="l"/>
              </a:tabLst>
              <a:defRPr sz="2000" b="1">
                <a:solidFill>
                  <a:srgbClr val="575F6D"/>
                </a:solidFill>
                <a:latin typeface="Arial" charset="0"/>
                <a:ea typeface="宋体" charset="-122"/>
              </a:defRPr>
            </a:lvl6pPr>
            <a:lvl7pPr marL="2971800" indent="-228600" algn="ctr" eaLnBrk="0" fontAlgn="base" hangingPunct="0">
              <a:spcBef>
                <a:spcPct val="0"/>
              </a:spcBef>
              <a:spcAft>
                <a:spcPct val="0"/>
              </a:spcAft>
              <a:tabLst>
                <a:tab pos="361950" algn="l"/>
              </a:tabLst>
              <a:defRPr sz="2000" b="1">
                <a:solidFill>
                  <a:srgbClr val="575F6D"/>
                </a:solidFill>
                <a:latin typeface="Arial" charset="0"/>
                <a:ea typeface="宋体" charset="-122"/>
              </a:defRPr>
            </a:lvl7pPr>
            <a:lvl8pPr marL="3429000" indent="-228600" algn="ctr" eaLnBrk="0" fontAlgn="base" hangingPunct="0">
              <a:spcBef>
                <a:spcPct val="0"/>
              </a:spcBef>
              <a:spcAft>
                <a:spcPct val="0"/>
              </a:spcAft>
              <a:tabLst>
                <a:tab pos="361950" algn="l"/>
              </a:tabLst>
              <a:defRPr sz="2000" b="1">
                <a:solidFill>
                  <a:srgbClr val="575F6D"/>
                </a:solidFill>
                <a:latin typeface="Arial" charset="0"/>
                <a:ea typeface="宋体" charset="-122"/>
              </a:defRPr>
            </a:lvl8pPr>
            <a:lvl9pPr marL="3886200" indent="-228600" algn="ctr" eaLnBrk="0" fontAlgn="base" hangingPunct="0">
              <a:spcBef>
                <a:spcPct val="0"/>
              </a:spcBef>
              <a:spcAft>
                <a:spcPct val="0"/>
              </a:spcAft>
              <a:tabLst>
                <a:tab pos="361950" algn="l"/>
              </a:tabLst>
              <a:defRPr sz="2000" b="1">
                <a:solidFill>
                  <a:srgbClr val="575F6D"/>
                </a:solidFill>
                <a:latin typeface="Arial" charset="0"/>
                <a:ea typeface="宋体" charset="-122"/>
              </a:defRPr>
            </a:lvl9pPr>
          </a:lstStyle>
          <a:p>
            <a:pPr algn="l" eaLnBrk="1" hangingPunct="1">
              <a:lnSpc>
                <a:spcPct val="150000"/>
              </a:lnSpc>
              <a:buFont typeface="Arial" pitchFamily="34" charset="0"/>
              <a:buChar char="•"/>
            </a:pPr>
            <a:r>
              <a:rPr lang="en-US" altLang="zh-CN" sz="2400" dirty="0" smtClean="0">
                <a:solidFill>
                  <a:schemeClr val="tx1"/>
                </a:solidFill>
                <a:latin typeface="Times New Roman" pitchFamily="18" charset="0"/>
                <a:cs typeface="Times New Roman" pitchFamily="18" charset="0"/>
              </a:rPr>
              <a:t>Familiar </a:t>
            </a:r>
            <a:r>
              <a:rPr lang="en-US" altLang="zh-CN" sz="2400" dirty="0">
                <a:solidFill>
                  <a:schemeClr val="tx1"/>
                </a:solidFill>
                <a:latin typeface="Times New Roman" pitchFamily="18" charset="0"/>
                <a:cs typeface="Times New Roman" pitchFamily="18" charset="0"/>
              </a:rPr>
              <a:t>with the TT&amp;C subsystem composition.</a:t>
            </a:r>
          </a:p>
          <a:p>
            <a:pPr eaLnBrk="1" hangingPunct="1">
              <a:lnSpc>
                <a:spcPct val="150000"/>
              </a:lnSpc>
              <a:buFont typeface="Arial" pitchFamily="34" charset="0"/>
              <a:buChar char="•"/>
            </a:pPr>
            <a:r>
              <a:rPr lang="en-US" altLang="zh-CN" sz="2400" dirty="0">
                <a:solidFill>
                  <a:schemeClr val="tx1"/>
                </a:solidFill>
                <a:latin typeface="Times New Roman" pitchFamily="18" charset="0"/>
                <a:cs typeface="Times New Roman" pitchFamily="18" charset="0"/>
              </a:rPr>
              <a:t>Familiar with the </a:t>
            </a:r>
            <a:r>
              <a:rPr lang="en-US" altLang="zh-CN" sz="2400" dirty="0" smtClean="0">
                <a:solidFill>
                  <a:schemeClr val="tx1"/>
                </a:solidFill>
                <a:latin typeface="Times New Roman" pitchFamily="18" charset="0"/>
                <a:cs typeface="Times New Roman" pitchFamily="18" charset="0"/>
              </a:rPr>
              <a:t>TT&amp;C  interface </a:t>
            </a:r>
            <a:r>
              <a:rPr lang="en-US" altLang="zh-CN" sz="2400" dirty="0">
                <a:solidFill>
                  <a:schemeClr val="tx1"/>
                </a:solidFill>
                <a:latin typeface="Times New Roman" pitchFamily="18" charset="0"/>
                <a:cs typeface="Times New Roman" pitchFamily="18" charset="0"/>
              </a:rPr>
              <a:t>between satellite </a:t>
            </a:r>
            <a:r>
              <a:rPr lang="en-US" altLang="zh-CN" sz="2400" dirty="0" smtClean="0">
                <a:solidFill>
                  <a:schemeClr val="tx1"/>
                </a:solidFill>
                <a:latin typeface="Times New Roman" pitchFamily="18" charset="0"/>
                <a:cs typeface="Times New Roman" pitchFamily="18" charset="0"/>
              </a:rPr>
              <a:t>and GCS.</a:t>
            </a:r>
            <a:endParaRPr lang="en-US" altLang="zh-CN" sz="2400" dirty="0">
              <a:solidFill>
                <a:schemeClr val="tx1"/>
              </a:solidFill>
              <a:latin typeface="Times New Roman" pitchFamily="18" charset="0"/>
              <a:cs typeface="Times New Roman" pitchFamily="18" charset="0"/>
            </a:endParaRPr>
          </a:p>
          <a:p>
            <a:pPr eaLnBrk="1" hangingPunct="1">
              <a:lnSpc>
                <a:spcPct val="150000"/>
              </a:lnSpc>
              <a:buFont typeface="Arial" pitchFamily="34" charset="0"/>
              <a:buChar char="•"/>
            </a:pPr>
            <a:r>
              <a:rPr lang="en-US" altLang="zh-CN" sz="2400" dirty="0">
                <a:solidFill>
                  <a:schemeClr val="tx1"/>
                </a:solidFill>
                <a:latin typeface="Times New Roman" pitchFamily="18" charset="0"/>
                <a:cs typeface="Times New Roman" pitchFamily="18" charset="0"/>
              </a:rPr>
              <a:t>Familiar with the </a:t>
            </a:r>
            <a:r>
              <a:rPr lang="en-US" altLang="zh-CN" sz="2400" dirty="0" smtClean="0">
                <a:solidFill>
                  <a:schemeClr val="tx1"/>
                </a:solidFill>
                <a:latin typeface="Times New Roman" pitchFamily="18" charset="0"/>
                <a:cs typeface="Times New Roman" pitchFamily="18" charset="0"/>
              </a:rPr>
              <a:t>rules </a:t>
            </a:r>
            <a:r>
              <a:rPr lang="en-US" altLang="zh-CN" sz="2400" dirty="0">
                <a:solidFill>
                  <a:schemeClr val="tx1"/>
                </a:solidFill>
                <a:latin typeface="Times New Roman" pitchFamily="18" charset="0"/>
                <a:cs typeface="Times New Roman" pitchFamily="18" charset="0"/>
              </a:rPr>
              <a:t>of </a:t>
            </a:r>
            <a:r>
              <a:rPr lang="en-US" altLang="zh-CN" sz="2400" dirty="0" smtClean="0">
                <a:solidFill>
                  <a:schemeClr val="tx1"/>
                </a:solidFill>
                <a:latin typeface="Times New Roman" pitchFamily="18" charset="0"/>
                <a:cs typeface="Times New Roman" pitchFamily="18" charset="0"/>
              </a:rPr>
              <a:t>Injecting Data Block.</a:t>
            </a:r>
            <a:endParaRPr lang="en-US" altLang="zh-CN" sz="2400" dirty="0">
              <a:solidFill>
                <a:schemeClr val="tx1"/>
              </a:solidFill>
              <a:latin typeface="Times New Roman" pitchFamily="18" charset="0"/>
              <a:cs typeface="Times New Roman" pitchFamily="18" charset="0"/>
            </a:endParaRPr>
          </a:p>
        </p:txBody>
      </p:sp>
      <p:sp>
        <p:nvSpPr>
          <p:cNvPr id="10" name="Text Box 2051"/>
          <p:cNvSpPr txBox="1">
            <a:spLocks noChangeArrowheads="1"/>
          </p:cNvSpPr>
          <p:nvPr/>
        </p:nvSpPr>
        <p:spPr bwMode="auto">
          <a:xfrm>
            <a:off x="263525" y="1196752"/>
            <a:ext cx="8585200" cy="5040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0130" tIns="40065" rIns="80130" bIns="40065" anchor="b"/>
          <a:lstStyle>
            <a:lvl1pPr defTabSz="801688" eaLnBrk="0" hangingPunct="0">
              <a:defRPr sz="2000" b="1">
                <a:solidFill>
                  <a:srgbClr val="575F6D"/>
                </a:solidFill>
                <a:latin typeface="Arial" charset="0"/>
                <a:ea typeface="宋体" charset="-122"/>
              </a:defRPr>
            </a:lvl1pPr>
            <a:lvl2pPr marL="742950" indent="-285750" defTabSz="801688" eaLnBrk="0" hangingPunct="0">
              <a:defRPr sz="2000" b="1">
                <a:solidFill>
                  <a:srgbClr val="575F6D"/>
                </a:solidFill>
                <a:latin typeface="Arial" charset="0"/>
                <a:ea typeface="宋体" charset="-122"/>
              </a:defRPr>
            </a:lvl2pPr>
            <a:lvl3pPr marL="1143000" indent="-228600" defTabSz="801688" eaLnBrk="0" hangingPunct="0">
              <a:defRPr sz="2000" b="1">
                <a:solidFill>
                  <a:srgbClr val="575F6D"/>
                </a:solidFill>
                <a:latin typeface="Arial" charset="0"/>
                <a:ea typeface="宋体" charset="-122"/>
              </a:defRPr>
            </a:lvl3pPr>
            <a:lvl4pPr marL="1600200" indent="-228600" defTabSz="801688" eaLnBrk="0" hangingPunct="0">
              <a:defRPr sz="2000" b="1">
                <a:solidFill>
                  <a:srgbClr val="575F6D"/>
                </a:solidFill>
                <a:latin typeface="Arial" charset="0"/>
                <a:ea typeface="宋体" charset="-122"/>
              </a:defRPr>
            </a:lvl4pPr>
            <a:lvl5pPr marL="2057400" indent="-228600" defTabSz="801688" eaLnBrk="0" hangingPunct="0">
              <a:defRPr sz="2000" b="1">
                <a:solidFill>
                  <a:srgbClr val="575F6D"/>
                </a:solidFill>
                <a:latin typeface="Arial" charset="0"/>
                <a:ea typeface="宋体" charset="-122"/>
              </a:defRPr>
            </a:lvl5pPr>
            <a:lvl6pPr marL="2514600" indent="-228600" algn="ctr" defTabSz="801688" eaLnBrk="0" fontAlgn="base" hangingPunct="0">
              <a:spcBef>
                <a:spcPct val="0"/>
              </a:spcBef>
              <a:spcAft>
                <a:spcPct val="0"/>
              </a:spcAft>
              <a:defRPr sz="2000" b="1">
                <a:solidFill>
                  <a:srgbClr val="575F6D"/>
                </a:solidFill>
                <a:latin typeface="Arial" charset="0"/>
                <a:ea typeface="宋体" charset="-122"/>
              </a:defRPr>
            </a:lvl6pPr>
            <a:lvl7pPr marL="2971800" indent="-228600" algn="ctr" defTabSz="801688" eaLnBrk="0" fontAlgn="base" hangingPunct="0">
              <a:spcBef>
                <a:spcPct val="0"/>
              </a:spcBef>
              <a:spcAft>
                <a:spcPct val="0"/>
              </a:spcAft>
              <a:defRPr sz="2000" b="1">
                <a:solidFill>
                  <a:srgbClr val="575F6D"/>
                </a:solidFill>
                <a:latin typeface="Arial" charset="0"/>
                <a:ea typeface="宋体" charset="-122"/>
              </a:defRPr>
            </a:lvl7pPr>
            <a:lvl8pPr marL="3429000" indent="-228600" algn="ctr" defTabSz="801688" eaLnBrk="0" fontAlgn="base" hangingPunct="0">
              <a:spcBef>
                <a:spcPct val="0"/>
              </a:spcBef>
              <a:spcAft>
                <a:spcPct val="0"/>
              </a:spcAft>
              <a:defRPr sz="2000" b="1">
                <a:solidFill>
                  <a:srgbClr val="575F6D"/>
                </a:solidFill>
                <a:latin typeface="Arial" charset="0"/>
                <a:ea typeface="宋体" charset="-122"/>
              </a:defRPr>
            </a:lvl8pPr>
            <a:lvl9pPr marL="3886200" indent="-228600" algn="ctr" defTabSz="801688" eaLnBrk="0" fontAlgn="base" hangingPunct="0">
              <a:spcBef>
                <a:spcPct val="0"/>
              </a:spcBef>
              <a:spcAft>
                <a:spcPct val="0"/>
              </a:spcAft>
              <a:defRPr sz="2000" b="1">
                <a:solidFill>
                  <a:srgbClr val="575F6D"/>
                </a:solidFill>
                <a:latin typeface="Arial" charset="0"/>
                <a:ea typeface="宋体" charset="-122"/>
              </a:defRPr>
            </a:lvl9pPr>
          </a:lstStyle>
          <a:p>
            <a:endParaRPr lang="en-GB" altLang="zh-CN" dirty="0">
              <a:solidFill>
                <a:schemeClr val="tx1"/>
              </a:solidFill>
              <a:latin typeface="Times New Roman" pitchFamily="18" charset="0"/>
              <a:cs typeface="Times New Roman" pitchFamily="18" charset="0"/>
            </a:endParaRPr>
          </a:p>
        </p:txBody>
      </p:sp>
      <p:sp>
        <p:nvSpPr>
          <p:cNvPr id="11" name="页脚占位符 4"/>
          <p:cNvSpPr>
            <a:spLocks noGrp="1"/>
          </p:cNvSpPr>
          <p:nvPr>
            <p:ph type="ftr" sz="quarter" idx="4294967295"/>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5"/>
          <p:cNvSpPr>
            <a:spLocks noGrp="1"/>
          </p:cNvSpPr>
          <p:nvPr>
            <p:ph type="sldNum" sz="quarter" idx="4294967295"/>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3</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pic>
        <p:nvPicPr>
          <p:cNvPr id="6" name="Picture 2" descr="D:\resources for ppt\sino6_W020100905714056942648.jpg"/>
          <p:cNvPicPr>
            <a:picLocks noChangeAspect="1" noChangeArrowheads="1"/>
          </p:cNvPicPr>
          <p:nvPr/>
        </p:nvPicPr>
        <p:blipFill>
          <a:blip r:embed="rId4" cstate="email"/>
          <a:stretch>
            <a:fillRect/>
          </a:stretch>
        </p:blipFill>
        <p:spPr bwMode="auto">
          <a:xfrm>
            <a:off x="2357681" y="2687252"/>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3000364" y="2638052"/>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cs typeface="Arial" pitchFamily="34" charset="0"/>
              </a:rPr>
              <a:t>2</a:t>
            </a:r>
            <a:r>
              <a:rPr lang="en-US" altLang="zh-CN" sz="2400" b="1" dirty="0" smtClean="0">
                <a:solidFill>
                  <a:schemeClr val="tx1"/>
                </a:solidFill>
                <a:latin typeface="Arial" pitchFamily="34" charset="0"/>
                <a:cs typeface="Arial" pitchFamily="34" charset="0"/>
              </a:rPr>
              <a:t>  </a:t>
            </a:r>
            <a:r>
              <a:rPr lang="en-US" altLang="zh-CN" sz="2400" b="1" dirty="0" smtClean="0">
                <a:solidFill>
                  <a:schemeClr val="tx1"/>
                </a:solidFill>
                <a:latin typeface="Times New Roman" pitchFamily="18" charset="0"/>
                <a:ea typeface="微软雅黑" pitchFamily="34" charset="-122"/>
                <a:cs typeface="Times New Roman" pitchFamily="18" charset="0"/>
              </a:rPr>
              <a:t>Task Requirement</a:t>
            </a:r>
            <a:endParaRPr lang="zh-CN" altLang="en-US" sz="2400" b="1" dirty="0">
              <a:solidFill>
                <a:schemeClr val="tx1"/>
              </a:solidFill>
              <a:latin typeface="Arial" pitchFamily="34" charset="0"/>
              <a:cs typeface="Arial" pitchFamily="34" charset="0"/>
            </a:endParaRPr>
          </a:p>
        </p:txBody>
      </p:sp>
      <p:sp>
        <p:nvSpPr>
          <p:cNvPr id="12" name="标题 2"/>
          <p:cNvSpPr>
            <a:spLocks noGrp="1"/>
          </p:cNvSpPr>
          <p:nvPr>
            <p:ph type="title"/>
          </p:nvPr>
        </p:nvSpPr>
        <p:spPr>
          <a:xfrm>
            <a:off x="457200" y="274638"/>
            <a:ext cx="8229600" cy="725470"/>
          </a:xfrm>
        </p:spPr>
        <p:txBody>
          <a:bodyPr anchor="t">
            <a:normAutofit/>
          </a:bodyPr>
          <a:lstStyle/>
          <a:p>
            <a:pPr algn="l"/>
            <a:r>
              <a:rPr lang="en-US" altLang="zh-CN" sz="3200" dirty="0" smtClean="0"/>
              <a:t>Outlines</a:t>
            </a:r>
            <a:endParaRPr lang="zh-CN" altLang="en-US" sz="3200" dirty="0" smtClean="0"/>
          </a:p>
        </p:txBody>
      </p:sp>
      <p:pic>
        <p:nvPicPr>
          <p:cNvPr id="13" name="Picture 1" descr="D:\resources for ppt\sat5.jpg"/>
          <p:cNvPicPr>
            <a:picLocks noChangeAspect="1" noChangeArrowheads="1"/>
          </p:cNvPicPr>
          <p:nvPr/>
        </p:nvPicPr>
        <p:blipFill>
          <a:blip r:embed="rId5" cstate="email"/>
          <a:stretch>
            <a:fillRect/>
          </a:stretch>
        </p:blipFill>
        <p:spPr bwMode="auto">
          <a:xfrm>
            <a:off x="2389984" y="4587779"/>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4498453"/>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t>4</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Interface with the Ground TT&amp;C</a:t>
            </a:r>
            <a:endParaRPr lang="zh-CN" altLang="en-US" sz="2400" b="1" dirty="0" smtClean="0">
              <a:solidFill>
                <a:srgbClr val="FFFF00"/>
              </a:solidFill>
              <a:latin typeface="Times New Roman" pitchFamily="18" charset="0"/>
              <a:cs typeface="Times New Roman" pitchFamily="18" charset="0"/>
            </a:endParaRPr>
          </a:p>
        </p:txBody>
      </p:sp>
      <p:pic>
        <p:nvPicPr>
          <p:cNvPr id="16" name="Picture 1" descr="D:\resources for ppt\sat5.jpg"/>
          <p:cNvPicPr>
            <a:picLocks noChangeAspect="1" noChangeArrowheads="1"/>
          </p:cNvPicPr>
          <p:nvPr/>
        </p:nvPicPr>
        <p:blipFill>
          <a:blip r:embed="rId5" cstate="email"/>
          <a:stretch>
            <a:fillRect/>
          </a:stretch>
        </p:blipFill>
        <p:spPr bwMode="auto">
          <a:xfrm>
            <a:off x="2389984" y="3666251"/>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3569759"/>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3   </a:t>
            </a:r>
            <a:r>
              <a:rPr lang="en-US" altLang="zh-CN" sz="2400" b="1" dirty="0" smtClean="0">
                <a:latin typeface="Times New Roman" pitchFamily="18" charset="0"/>
                <a:cs typeface="Times New Roman" pitchFamily="18" charset="0"/>
              </a:rPr>
              <a:t>Satellite TT&amp;C subsystem</a:t>
            </a:r>
            <a:endParaRPr lang="zh-CN" altLang="en-US" sz="2400" b="1" dirty="0">
              <a:solidFill>
                <a:srgbClr val="FFFF00"/>
              </a:solidFill>
              <a:latin typeface="Times New Roman" pitchFamily="18" charset="0"/>
              <a:cs typeface="Times New Roman" pitchFamily="18" charset="0"/>
            </a:endParaRPr>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pic>
        <p:nvPicPr>
          <p:cNvPr id="20" name="Picture 1" descr="D:\resources for ppt\sat5.jpg"/>
          <p:cNvPicPr>
            <a:picLocks noChangeAspect="1" noChangeArrowheads="1"/>
          </p:cNvPicPr>
          <p:nvPr/>
        </p:nvPicPr>
        <p:blipFill>
          <a:blip r:embed="rId5" cstate="email"/>
          <a:stretch>
            <a:fillRect/>
          </a:stretch>
        </p:blipFill>
        <p:spPr bwMode="auto">
          <a:xfrm>
            <a:off x="2389984" y="5518590"/>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1" name="单圆角矩形 20"/>
          <p:cNvSpPr/>
          <p:nvPr/>
        </p:nvSpPr>
        <p:spPr>
          <a:xfrm>
            <a:off x="3036917" y="5429264"/>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5</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Rule of Sending TC and Data Block</a:t>
            </a:r>
            <a:endParaRPr lang="zh-CN" altLang="en-US" sz="2400" b="1" dirty="0" smtClean="0">
              <a:solidFill>
                <a:srgbClr val="FFFF00"/>
              </a:solidFill>
              <a:latin typeface="Times New Roman" pitchFamily="18" charset="0"/>
              <a:cs typeface="Times New Roman" pitchFamily="18" charset="0"/>
            </a:endParaRPr>
          </a:p>
        </p:txBody>
      </p:sp>
      <p:pic>
        <p:nvPicPr>
          <p:cNvPr id="22" name="Picture 1" descr="D:\resources for ppt\sat5.jpg"/>
          <p:cNvPicPr>
            <a:picLocks noChangeAspect="1" noChangeArrowheads="1"/>
          </p:cNvPicPr>
          <p:nvPr/>
        </p:nvPicPr>
        <p:blipFill>
          <a:blip r:embed="rId5" cstate="email"/>
          <a:stretch>
            <a:fillRect/>
          </a:stretch>
        </p:blipFill>
        <p:spPr bwMode="auto">
          <a:xfrm>
            <a:off x="2377256" y="173954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3" name="单圆角矩形 22"/>
          <p:cNvSpPr/>
          <p:nvPr/>
        </p:nvSpPr>
        <p:spPr>
          <a:xfrm>
            <a:off x="3024189" y="1643050"/>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ea typeface="Arial Unicode MS" pitchFamily="34" charset="-122"/>
                <a:cs typeface="Arial Unicode MS" pitchFamily="34" charset="-122"/>
              </a:rPr>
              <a:t>1</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latin typeface="Arial" pitchFamily="34" charset="0"/>
                <a:cs typeface="Arial" pitchFamily="34" charset="0"/>
              </a:rPr>
              <a:t>Introduction</a:t>
            </a:r>
            <a:endParaRPr lang="zh-CN" altLang="en-US" sz="2400" b="1" dirty="0" smtClean="0">
              <a:solidFill>
                <a:schemeClr val="tx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42852"/>
            <a:ext cx="8229600" cy="1082660"/>
          </a:xfrm>
        </p:spPr>
        <p:txBody>
          <a:bodyPr>
            <a:normAutofit/>
          </a:bodyPr>
          <a:lstStyle/>
          <a:p>
            <a:pPr algn="l"/>
            <a:r>
              <a:rPr lang="en-US" altLang="zh-CN" sz="3200" dirty="0" smtClean="0"/>
              <a:t>2 Task Requirement</a:t>
            </a:r>
            <a:endParaRPr lang="zh-CN" altLang="en-US" sz="3200" dirty="0"/>
          </a:p>
        </p:txBody>
      </p:sp>
      <p:sp>
        <p:nvSpPr>
          <p:cNvPr id="3" name="内容占位符 2"/>
          <p:cNvSpPr>
            <a:spLocks noGrp="1"/>
          </p:cNvSpPr>
          <p:nvPr>
            <p:ph idx="1"/>
          </p:nvPr>
        </p:nvSpPr>
        <p:spPr>
          <a:xfrm>
            <a:off x="571472" y="1697388"/>
            <a:ext cx="8072494" cy="4160504"/>
          </a:xfrm>
        </p:spPr>
        <p:style>
          <a:lnRef idx="2">
            <a:schemeClr val="accent1"/>
          </a:lnRef>
          <a:fillRef idx="1">
            <a:schemeClr val="lt1"/>
          </a:fillRef>
          <a:effectRef idx="0">
            <a:schemeClr val="accent1"/>
          </a:effectRef>
          <a:fontRef idx="minor">
            <a:schemeClr val="dk1"/>
          </a:fontRef>
        </p:style>
        <p:txBody>
          <a:bodyPr>
            <a:noAutofit/>
          </a:bodyPr>
          <a:lstStyle/>
          <a:p>
            <a:pPr>
              <a:buFont typeface="Wingdings" pitchFamily="2" charset="2"/>
              <a:buChar char="p"/>
            </a:pPr>
            <a:r>
              <a:rPr lang="x-none" sz="2400" dirty="0" smtClean="0">
                <a:solidFill>
                  <a:srgbClr val="0070C0"/>
                </a:solidFill>
                <a:latin typeface="Times New Roman" pitchFamily="18" charset="0"/>
                <a:cs typeface="Times New Roman" pitchFamily="18" charset="0"/>
              </a:rPr>
              <a:t>Requirements </a:t>
            </a:r>
            <a:r>
              <a:rPr lang="en-US" sz="2400" dirty="0" smtClean="0">
                <a:solidFill>
                  <a:srgbClr val="0070C0"/>
                </a:solidFill>
                <a:latin typeface="Times New Roman" pitchFamily="18" charset="0"/>
                <a:cs typeface="Times New Roman" pitchFamily="18" charset="0"/>
              </a:rPr>
              <a:t> to </a:t>
            </a:r>
            <a:r>
              <a:rPr lang="x-none" sz="2400" dirty="0" smtClean="0">
                <a:solidFill>
                  <a:srgbClr val="0070C0"/>
                </a:solidFill>
                <a:latin typeface="Times New Roman" pitchFamily="18" charset="0"/>
                <a:cs typeface="Times New Roman" pitchFamily="18" charset="0"/>
              </a:rPr>
              <a:t> </a:t>
            </a:r>
            <a:r>
              <a:rPr lang="en-US" sz="2400" dirty="0" smtClean="0">
                <a:solidFill>
                  <a:srgbClr val="0070C0"/>
                </a:solidFill>
                <a:latin typeface="Times New Roman" pitchFamily="18" charset="0"/>
                <a:cs typeface="Times New Roman" pitchFamily="18" charset="0"/>
              </a:rPr>
              <a:t>GCS </a:t>
            </a:r>
            <a:endParaRPr lang="zh-CN" altLang="en-US" sz="2400" dirty="0" smtClean="0">
              <a:solidFill>
                <a:srgbClr val="0070C0"/>
              </a:solidFill>
              <a:latin typeface="Times New Roman" pitchFamily="18" charset="0"/>
              <a:cs typeface="Times New Roman" pitchFamily="18" charset="0"/>
            </a:endParaRPr>
          </a:p>
          <a:p>
            <a:pPr lvl="1" eaLnBrk="0" hangingPunct="0">
              <a:buFont typeface="Arial" pitchFamily="34" charset="0"/>
              <a:buChar char="•"/>
            </a:pPr>
            <a:r>
              <a:rPr lang="en-US" sz="2400" dirty="0" smtClean="0">
                <a:solidFill>
                  <a:schemeClr val="tx1"/>
                </a:solidFill>
                <a:latin typeface="Times New Roman" pitchFamily="18" charset="0"/>
                <a:cs typeface="Times New Roman" pitchFamily="18" charset="0"/>
              </a:rPr>
              <a:t>P</a:t>
            </a:r>
            <a:r>
              <a:rPr lang="x-none" sz="2400" dirty="0" smtClean="0">
                <a:solidFill>
                  <a:schemeClr val="tx1"/>
                </a:solidFill>
                <a:latin typeface="Times New Roman" pitchFamily="18" charset="0"/>
                <a:cs typeface="Times New Roman" pitchFamily="18" charset="0"/>
              </a:rPr>
              <a:t>rovide the orbit </a:t>
            </a:r>
            <a:r>
              <a:rPr lang="en-US" altLang="zh-CN" sz="2400" dirty="0">
                <a:solidFill>
                  <a:schemeClr val="tx1"/>
                </a:solidFill>
                <a:latin typeface="Times New Roman" pitchFamily="18" charset="0"/>
                <a:cs typeface="Times New Roman" pitchFamily="18" charset="0"/>
              </a:rPr>
              <a:t>parameter and predict the orbit </a:t>
            </a:r>
            <a:r>
              <a:rPr lang="x-none" sz="2400" dirty="0" smtClean="0">
                <a:solidFill>
                  <a:schemeClr val="tx1"/>
                </a:solidFill>
                <a:latin typeface="Times New Roman" pitchFamily="18" charset="0"/>
                <a:cs typeface="Times New Roman" pitchFamily="18" charset="0"/>
              </a:rPr>
              <a:t>information </a:t>
            </a:r>
            <a:r>
              <a:rPr lang="en-US" sz="2400" dirty="0" smtClean="0">
                <a:solidFill>
                  <a:schemeClr val="tx1"/>
                </a:solidFill>
                <a:latin typeface="Times New Roman" pitchFamily="18" charset="0"/>
                <a:cs typeface="Times New Roman" pitchFamily="18" charset="0"/>
              </a:rPr>
              <a:t>for satellite</a:t>
            </a:r>
            <a:endParaRPr lang="en-US" sz="2400" dirty="0" smtClean="0">
              <a:solidFill>
                <a:schemeClr val="tx1"/>
              </a:solidFill>
              <a:latin typeface="Times New Roman" pitchFamily="18" charset="0"/>
              <a:ea typeface="微软雅黑" pitchFamily="34" charset="-122"/>
              <a:cs typeface="Times New Roman" pitchFamily="18" charset="0"/>
            </a:endParaRPr>
          </a:p>
          <a:p>
            <a:pPr lvl="1" eaLnBrk="0" hangingPunct="0">
              <a:buFont typeface="Arial" pitchFamily="34" charset="0"/>
              <a:buChar char="•"/>
              <a:defRPr/>
            </a:pPr>
            <a:r>
              <a:rPr lang="en-US" altLang="zh-CN" sz="2400" dirty="0" smtClean="0">
                <a:solidFill>
                  <a:schemeClr val="tx1"/>
                </a:solidFill>
                <a:latin typeface="Times New Roman" pitchFamily="18" charset="0"/>
                <a:cs typeface="Times New Roman" pitchFamily="18" charset="0"/>
              </a:rPr>
              <a:t>Receive TM , </a:t>
            </a:r>
            <a:r>
              <a:rPr lang="x-none" altLang="zh-CN" sz="2400" dirty="0" smtClean="0">
                <a:solidFill>
                  <a:schemeClr val="tx1"/>
                </a:solidFill>
                <a:latin typeface="Times New Roman" pitchFamily="18" charset="0"/>
                <a:cs typeface="Times New Roman" pitchFamily="18" charset="0"/>
              </a:rPr>
              <a:t> </a:t>
            </a:r>
            <a:r>
              <a:rPr lang="x-none" altLang="zh-CN" sz="2400" dirty="0">
                <a:solidFill>
                  <a:schemeClr val="tx1"/>
                </a:solidFill>
                <a:latin typeface="Times New Roman" pitchFamily="18" charset="0"/>
                <a:cs typeface="Times New Roman" pitchFamily="18" charset="0"/>
              </a:rPr>
              <a:t>send </a:t>
            </a:r>
            <a:r>
              <a:rPr lang="en-US" altLang="zh-CN" sz="2400" dirty="0">
                <a:solidFill>
                  <a:schemeClr val="tx1"/>
                </a:solidFill>
                <a:latin typeface="Times New Roman" pitchFamily="18" charset="0"/>
                <a:cs typeface="Times New Roman" pitchFamily="18" charset="0"/>
              </a:rPr>
              <a:t>TC</a:t>
            </a:r>
            <a:r>
              <a:rPr lang="x-none" altLang="zh-CN" sz="2400" dirty="0">
                <a:solidFill>
                  <a:schemeClr val="tx1"/>
                </a:solidFill>
                <a:latin typeface="Times New Roman" pitchFamily="18" charset="0"/>
                <a:cs typeface="Times New Roman" pitchFamily="18" charset="0"/>
              </a:rPr>
              <a:t> </a:t>
            </a:r>
            <a:r>
              <a:rPr lang="en-US" altLang="zh-CN" sz="2400" dirty="0">
                <a:solidFill>
                  <a:schemeClr val="tx1"/>
                </a:solidFill>
                <a:latin typeface="Times New Roman" pitchFamily="18" charset="0"/>
                <a:cs typeface="Times New Roman" pitchFamily="18" charset="0"/>
              </a:rPr>
              <a:t>and </a:t>
            </a:r>
            <a:r>
              <a:rPr lang="en-US" altLang="zh-CN" sz="2400" dirty="0" smtClean="0">
                <a:solidFill>
                  <a:schemeClr val="tx1"/>
                </a:solidFill>
                <a:latin typeface="Times New Roman" pitchFamily="18" charset="0"/>
                <a:cs typeface="Times New Roman" pitchFamily="18" charset="0"/>
              </a:rPr>
              <a:t>data block</a:t>
            </a:r>
            <a:endParaRPr lang="en-US" altLang="zh-CN" sz="2400" dirty="0">
              <a:solidFill>
                <a:schemeClr val="tx1"/>
              </a:solidFill>
              <a:latin typeface="Times New Roman" pitchFamily="18" charset="0"/>
              <a:cs typeface="Times New Roman" pitchFamily="18" charset="0"/>
            </a:endParaRPr>
          </a:p>
          <a:p>
            <a:pPr lvl="1" eaLnBrk="0" hangingPunct="0">
              <a:buFont typeface="Arial" pitchFamily="34" charset="0"/>
              <a:buChar char="•"/>
              <a:defRPr/>
            </a:pPr>
            <a:r>
              <a:rPr lang="en-US" altLang="zh-CN" sz="2400" dirty="0" smtClean="0">
                <a:solidFill>
                  <a:schemeClr val="tx1"/>
                </a:solidFill>
                <a:latin typeface="Times New Roman" pitchFamily="18" charset="0"/>
                <a:ea typeface="微软雅黑" pitchFamily="34" charset="-122"/>
                <a:cs typeface="Times New Roman" pitchFamily="18" charset="0"/>
              </a:rPr>
              <a:t>T</a:t>
            </a:r>
            <a:r>
              <a:rPr lang="x-none" altLang="zh-CN" sz="2400" dirty="0" smtClean="0">
                <a:solidFill>
                  <a:schemeClr val="tx1"/>
                </a:solidFill>
                <a:latin typeface="Times New Roman" pitchFamily="18" charset="0"/>
                <a:ea typeface="微软雅黑" pitchFamily="34" charset="-122"/>
                <a:cs typeface="Times New Roman" pitchFamily="18" charset="0"/>
              </a:rPr>
              <a:t>ime </a:t>
            </a:r>
            <a:r>
              <a:rPr lang="x-none" altLang="zh-CN" sz="2400" dirty="0">
                <a:solidFill>
                  <a:schemeClr val="tx1"/>
                </a:solidFill>
                <a:latin typeface="Times New Roman" pitchFamily="18" charset="0"/>
                <a:ea typeface="微软雅黑" pitchFamily="34" charset="-122"/>
                <a:cs typeface="Times New Roman" pitchFamily="18" charset="0"/>
              </a:rPr>
              <a:t>calibration and </a:t>
            </a:r>
            <a:r>
              <a:rPr lang="en-US" altLang="zh-CN" sz="2400" dirty="0" smtClean="0">
                <a:solidFill>
                  <a:schemeClr val="tx1"/>
                </a:solidFill>
                <a:latin typeface="Times New Roman" pitchFamily="18" charset="0"/>
                <a:ea typeface="微软雅黑" pitchFamily="34" charset="-122"/>
                <a:cs typeface="Times New Roman" pitchFamily="18" charset="0"/>
              </a:rPr>
              <a:t>T</a:t>
            </a:r>
            <a:r>
              <a:rPr lang="x-none" altLang="zh-CN" sz="2400" dirty="0" smtClean="0">
                <a:solidFill>
                  <a:schemeClr val="tx1"/>
                </a:solidFill>
                <a:latin typeface="Times New Roman" pitchFamily="18" charset="0"/>
                <a:ea typeface="微软雅黑" pitchFamily="34" charset="-122"/>
                <a:cs typeface="Times New Roman" pitchFamily="18" charset="0"/>
              </a:rPr>
              <a:t>ime </a:t>
            </a:r>
            <a:r>
              <a:rPr lang="en-US" altLang="zh-CN" sz="2400" dirty="0" smtClean="0">
                <a:solidFill>
                  <a:schemeClr val="tx1"/>
                </a:solidFill>
                <a:latin typeface="Times New Roman" pitchFamily="18" charset="0"/>
                <a:ea typeface="微软雅黑" pitchFamily="34" charset="-122"/>
                <a:cs typeface="Times New Roman" pitchFamily="18" charset="0"/>
              </a:rPr>
              <a:t>transfer</a:t>
            </a:r>
            <a:endParaRPr lang="zh-CN" altLang="en-US" sz="2400" dirty="0">
              <a:solidFill>
                <a:schemeClr val="tx1"/>
              </a:solidFill>
              <a:latin typeface="Times New Roman" pitchFamily="18" charset="0"/>
              <a:ea typeface="微软雅黑" pitchFamily="34" charset="-122"/>
              <a:cs typeface="Times New Roman" pitchFamily="18" charset="0"/>
            </a:endParaRPr>
          </a:p>
          <a:p>
            <a:pPr lvl="1" eaLnBrk="0" hangingPunct="0">
              <a:buFont typeface="Arial" pitchFamily="34" charset="0"/>
              <a:buChar char="•"/>
              <a:defRPr/>
            </a:pPr>
            <a:r>
              <a:rPr lang="en-US" altLang="zh-CN" sz="2400" dirty="0" smtClean="0">
                <a:solidFill>
                  <a:schemeClr val="tx1"/>
                </a:solidFill>
                <a:latin typeface="Times New Roman" pitchFamily="18" charset="0"/>
                <a:ea typeface="微软雅黑" pitchFamily="34" charset="-122"/>
                <a:cs typeface="Times New Roman" pitchFamily="18" charset="0"/>
              </a:rPr>
              <a:t>Monitor and </a:t>
            </a:r>
            <a:r>
              <a:rPr lang="x-none" altLang="zh-CN" sz="2400" dirty="0" smtClean="0">
                <a:solidFill>
                  <a:schemeClr val="tx1"/>
                </a:solidFill>
                <a:latin typeface="Times New Roman" pitchFamily="18" charset="0"/>
                <a:ea typeface="微软雅黑" pitchFamily="34" charset="-122"/>
                <a:cs typeface="Times New Roman" pitchFamily="18" charset="0"/>
              </a:rPr>
              <a:t>manage </a:t>
            </a:r>
            <a:r>
              <a:rPr lang="x-none" altLang="zh-CN" sz="2400" dirty="0">
                <a:solidFill>
                  <a:schemeClr val="tx1"/>
                </a:solidFill>
                <a:latin typeface="Times New Roman" pitchFamily="18" charset="0"/>
                <a:ea typeface="微软雅黑" pitchFamily="34" charset="-122"/>
                <a:cs typeface="Times New Roman" pitchFamily="18" charset="0"/>
              </a:rPr>
              <a:t>the </a:t>
            </a:r>
            <a:r>
              <a:rPr lang="x-none" altLang="zh-CN" sz="2400" dirty="0" smtClean="0">
                <a:solidFill>
                  <a:schemeClr val="tx1"/>
                </a:solidFill>
                <a:latin typeface="Times New Roman" pitchFamily="18" charset="0"/>
                <a:ea typeface="微软雅黑" pitchFamily="34" charset="-122"/>
                <a:cs typeface="Times New Roman" pitchFamily="18" charset="0"/>
              </a:rPr>
              <a:t>satellite</a:t>
            </a:r>
            <a:endParaRPr lang="en-US" altLang="zh-CN" sz="2400" dirty="0">
              <a:solidFill>
                <a:schemeClr val="tx1"/>
              </a:solidFill>
              <a:latin typeface="Times New Roman" pitchFamily="18" charset="0"/>
              <a:ea typeface="微软雅黑" pitchFamily="34" charset="-122"/>
              <a:cs typeface="Times New Roman" pitchFamily="18" charset="0"/>
            </a:endParaRPr>
          </a:p>
          <a:p>
            <a:pPr lvl="1" eaLnBrk="0" hangingPunct="0">
              <a:buFont typeface="Arial" pitchFamily="34" charset="0"/>
              <a:buChar char="•"/>
              <a:defRPr/>
            </a:pPr>
            <a:r>
              <a:rPr lang="en-US" altLang="zh-CN" sz="2400" dirty="0" smtClean="0">
                <a:solidFill>
                  <a:schemeClr val="tx1"/>
                </a:solidFill>
                <a:latin typeface="Times New Roman" pitchFamily="18" charset="0"/>
                <a:ea typeface="微软雅黑" pitchFamily="34" charset="-122"/>
                <a:cs typeface="Times New Roman" pitchFamily="18" charset="0"/>
              </a:rPr>
              <a:t>Emergency </a:t>
            </a:r>
            <a:r>
              <a:rPr lang="en-US" altLang="zh-CN" sz="2400" dirty="0">
                <a:solidFill>
                  <a:schemeClr val="tx1"/>
                </a:solidFill>
                <a:latin typeface="Times New Roman" pitchFamily="18" charset="0"/>
                <a:ea typeface="微软雅黑" pitchFamily="34" charset="-122"/>
                <a:cs typeface="Times New Roman" pitchFamily="18" charset="0"/>
              </a:rPr>
              <a:t>rescue </a:t>
            </a:r>
            <a:r>
              <a:rPr lang="en-US" altLang="zh-CN" sz="2400" dirty="0" smtClean="0">
                <a:solidFill>
                  <a:schemeClr val="tx1"/>
                </a:solidFill>
                <a:latin typeface="Times New Roman" pitchFamily="18" charset="0"/>
                <a:ea typeface="微软雅黑" pitchFamily="34" charset="-122"/>
                <a:cs typeface="Times New Roman" pitchFamily="18" charset="0"/>
              </a:rPr>
              <a:t>in </a:t>
            </a:r>
            <a:r>
              <a:rPr lang="en-US" altLang="zh-CN" sz="2400" dirty="0">
                <a:solidFill>
                  <a:schemeClr val="tx1"/>
                </a:solidFill>
                <a:latin typeface="Times New Roman" pitchFamily="18" charset="0"/>
                <a:ea typeface="微软雅黑" pitchFamily="34" charset="-122"/>
                <a:cs typeface="Times New Roman" pitchFamily="18" charset="0"/>
              </a:rPr>
              <a:t>fault </a:t>
            </a:r>
            <a:r>
              <a:rPr lang="en-US" altLang="zh-CN" sz="2400" dirty="0" smtClean="0">
                <a:solidFill>
                  <a:schemeClr val="tx1"/>
                </a:solidFill>
                <a:latin typeface="Times New Roman" pitchFamily="18" charset="0"/>
                <a:ea typeface="微软雅黑" pitchFamily="34" charset="-122"/>
                <a:cs typeface="Times New Roman" pitchFamily="18" charset="0"/>
              </a:rPr>
              <a:t>mode</a:t>
            </a:r>
            <a:endParaRPr lang="en-US" sz="2400" dirty="0" smtClean="0">
              <a:solidFill>
                <a:schemeClr val="tx1"/>
              </a:solidFill>
              <a:latin typeface="Times New Roman" pitchFamily="18" charset="0"/>
              <a:ea typeface="微软雅黑" pitchFamily="34" charset="-122"/>
              <a:cs typeface="Times New Roman" pitchFamily="18" charset="0"/>
            </a:endParaRPr>
          </a:p>
          <a:p>
            <a:pPr>
              <a:buFont typeface="Wingdings" pitchFamily="2" charset="2"/>
              <a:buChar char="Ø"/>
            </a:pPr>
            <a:endParaRPr lang="zh-CN" altLang="en-US" sz="1800" dirty="0">
              <a:latin typeface="Times New Roman" pitchFamily="18" charset="0"/>
              <a:cs typeface="Times New Roman" pitchFamily="18" charset="0"/>
            </a:endParaRPr>
          </a:p>
        </p:txBody>
      </p:sp>
      <p:sp>
        <p:nvSpPr>
          <p:cNvPr id="9" name="页脚占位符 4"/>
          <p:cNvSpPr>
            <a:spLocks noGrp="1"/>
          </p:cNvSpPr>
          <p:nvPr>
            <p:ph type="ftr" sz="quarter" idx="4294967295"/>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5"/>
          <p:cNvSpPr>
            <a:spLocks noGrp="1"/>
          </p:cNvSpPr>
          <p:nvPr>
            <p:ph type="sldNum" sz="quarter" idx="4294967295"/>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5</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5834" y="1483074"/>
            <a:ext cx="8249570" cy="4660570"/>
          </a:xfrm>
        </p:spPr>
        <p:style>
          <a:lnRef idx="2">
            <a:schemeClr val="accent1"/>
          </a:lnRef>
          <a:fillRef idx="1">
            <a:schemeClr val="lt1"/>
          </a:fillRef>
          <a:effectRef idx="0">
            <a:schemeClr val="accent1"/>
          </a:effectRef>
          <a:fontRef idx="minor">
            <a:schemeClr val="dk1"/>
          </a:fontRef>
        </p:style>
        <p:txBody>
          <a:bodyPr>
            <a:noAutofit/>
          </a:bodyPr>
          <a:lstStyle/>
          <a:p>
            <a:pPr>
              <a:lnSpc>
                <a:spcPct val="200000"/>
              </a:lnSpc>
              <a:buFont typeface="Wingdings" pitchFamily="2" charset="2"/>
              <a:buChar char="p"/>
            </a:pPr>
            <a:r>
              <a:rPr lang="x-none" sz="2400" dirty="0" smtClean="0">
                <a:solidFill>
                  <a:srgbClr val="0070C0"/>
                </a:solidFill>
                <a:latin typeface="Times New Roman" pitchFamily="18" charset="0"/>
                <a:cs typeface="Times New Roman" pitchFamily="18" charset="0"/>
              </a:rPr>
              <a:t>Requirements </a:t>
            </a:r>
            <a:r>
              <a:rPr lang="en-US" sz="2400" dirty="0" smtClean="0">
                <a:solidFill>
                  <a:srgbClr val="0070C0"/>
                </a:solidFill>
                <a:latin typeface="Times New Roman" pitchFamily="18" charset="0"/>
                <a:cs typeface="Times New Roman" pitchFamily="18" charset="0"/>
              </a:rPr>
              <a:t>to</a:t>
            </a:r>
            <a:r>
              <a:rPr lang="x-none" sz="2400" dirty="0" smtClean="0">
                <a:solidFill>
                  <a:srgbClr val="0070C0"/>
                </a:solidFill>
                <a:latin typeface="Times New Roman" pitchFamily="18" charset="0"/>
                <a:cs typeface="Times New Roman" pitchFamily="18" charset="0"/>
              </a:rPr>
              <a:t> TT&amp;C Subsystem</a:t>
            </a:r>
            <a:r>
              <a:rPr lang="en-US" sz="2400" dirty="0" smtClean="0">
                <a:solidFill>
                  <a:srgbClr val="0070C0"/>
                </a:solidFill>
                <a:latin typeface="Times New Roman" pitchFamily="18" charset="0"/>
                <a:cs typeface="Times New Roman" pitchFamily="18" charset="0"/>
              </a:rPr>
              <a:t> of </a:t>
            </a:r>
            <a:r>
              <a:rPr lang="en-US" sz="2400" dirty="0" err="1" smtClean="0">
                <a:solidFill>
                  <a:srgbClr val="0070C0"/>
                </a:solidFill>
                <a:latin typeface="Times New Roman" pitchFamily="18" charset="0"/>
                <a:cs typeface="Times New Roman" pitchFamily="18" charset="0"/>
              </a:rPr>
              <a:t>sattellite</a:t>
            </a:r>
            <a:endParaRPr lang="zh-CN" altLang="en-US" sz="2400" dirty="0" smtClean="0">
              <a:solidFill>
                <a:srgbClr val="0070C0"/>
              </a:solidFill>
              <a:latin typeface="Times New Roman" pitchFamily="18" charset="0"/>
              <a:cs typeface="Times New Roman" pitchFamily="18" charset="0"/>
            </a:endParaRPr>
          </a:p>
          <a:p>
            <a:pPr fontAlgn="b">
              <a:lnSpc>
                <a:spcPct val="200000"/>
              </a:lnSpc>
              <a:defRPr/>
            </a:pPr>
            <a:r>
              <a:rPr lang="en-US" altLang="zh-CN" sz="2400" dirty="0" smtClean="0">
                <a:solidFill>
                  <a:schemeClr val="tx1"/>
                </a:solidFill>
                <a:latin typeface="Times New Roman" pitchFamily="18" charset="0"/>
                <a:cs typeface="Times New Roman" pitchFamily="18" charset="0"/>
              </a:rPr>
              <a:t>Receive and demodulate S-band </a:t>
            </a:r>
            <a:r>
              <a:rPr lang="en-US" altLang="zh-CN" sz="2400" dirty="0">
                <a:solidFill>
                  <a:schemeClr val="tx1"/>
                </a:solidFill>
                <a:latin typeface="Times New Roman" pitchFamily="18" charset="0"/>
                <a:cs typeface="Times New Roman" pitchFamily="18" charset="0"/>
              </a:rPr>
              <a:t>up-link signal from </a:t>
            </a:r>
            <a:r>
              <a:rPr lang="en-US" altLang="zh-CN" sz="2400" dirty="0" smtClean="0">
                <a:solidFill>
                  <a:schemeClr val="tx1"/>
                </a:solidFill>
                <a:latin typeface="Times New Roman" pitchFamily="18" charset="0"/>
                <a:cs typeface="Times New Roman" pitchFamily="18" charset="0"/>
              </a:rPr>
              <a:t>GCS </a:t>
            </a:r>
            <a:endParaRPr lang="zh-CN" altLang="en-US" sz="2400" dirty="0">
              <a:solidFill>
                <a:schemeClr val="tx1"/>
              </a:solidFill>
              <a:latin typeface="Times New Roman" pitchFamily="18" charset="0"/>
              <a:cs typeface="Times New Roman" pitchFamily="18" charset="0"/>
            </a:endParaRPr>
          </a:p>
          <a:p>
            <a:pPr fontAlgn="b">
              <a:lnSpc>
                <a:spcPct val="200000"/>
              </a:lnSpc>
              <a:defRPr/>
            </a:pPr>
            <a:r>
              <a:rPr lang="en-US" altLang="zh-CN" sz="2400" dirty="0" smtClean="0">
                <a:solidFill>
                  <a:schemeClr val="tx1"/>
                </a:solidFill>
                <a:latin typeface="Times New Roman" pitchFamily="18" charset="0"/>
                <a:cs typeface="Times New Roman" pitchFamily="18" charset="0"/>
              </a:rPr>
              <a:t>Transmit S-band </a:t>
            </a:r>
            <a:r>
              <a:rPr lang="en-US" altLang="zh-CN" sz="2400" dirty="0">
                <a:solidFill>
                  <a:schemeClr val="tx1"/>
                </a:solidFill>
                <a:latin typeface="Times New Roman" pitchFamily="18" charset="0"/>
                <a:cs typeface="Times New Roman" pitchFamily="18" charset="0"/>
              </a:rPr>
              <a:t>downlink </a:t>
            </a:r>
            <a:r>
              <a:rPr lang="en-US" altLang="zh-CN" sz="2400" dirty="0" smtClean="0">
                <a:solidFill>
                  <a:schemeClr val="tx1"/>
                </a:solidFill>
                <a:latin typeface="Times New Roman" pitchFamily="18" charset="0"/>
                <a:cs typeface="Times New Roman" pitchFamily="18" charset="0"/>
              </a:rPr>
              <a:t>telemetry signal</a:t>
            </a:r>
            <a:endParaRPr lang="zh-CN" altLang="en-US" sz="2400" dirty="0">
              <a:solidFill>
                <a:schemeClr val="tx1"/>
              </a:solidFill>
              <a:latin typeface="Times New Roman" pitchFamily="18" charset="0"/>
              <a:cs typeface="Times New Roman" pitchFamily="18" charset="0"/>
            </a:endParaRPr>
          </a:p>
          <a:p>
            <a:pPr lvl="0">
              <a:lnSpc>
                <a:spcPct val="200000"/>
              </a:lnSpc>
            </a:pPr>
            <a:r>
              <a:rPr lang="en-US" sz="2400" dirty="0" smtClean="0">
                <a:solidFill>
                  <a:schemeClr val="tx1"/>
                </a:solidFill>
                <a:latin typeface="Times New Roman" pitchFamily="18" charset="0"/>
                <a:cs typeface="Times New Roman" pitchFamily="18" charset="0"/>
              </a:rPr>
              <a:t>Provide </a:t>
            </a:r>
            <a:r>
              <a:rPr lang="en-US" altLang="zh-CN" sz="2400" dirty="0" smtClean="0">
                <a:solidFill>
                  <a:schemeClr val="tx1"/>
                </a:solidFill>
                <a:latin typeface="Times New Roman" pitchFamily="18" charset="0"/>
                <a:cs typeface="Times New Roman" pitchFamily="18" charset="0"/>
              </a:rPr>
              <a:t>quasi-</a:t>
            </a:r>
            <a:r>
              <a:rPr lang="en-US" altLang="zh-CN" sz="2400" dirty="0" err="1" smtClean="0">
                <a:solidFill>
                  <a:schemeClr val="tx1"/>
                </a:solidFill>
                <a:latin typeface="Times New Roman" pitchFamily="18" charset="0"/>
                <a:cs typeface="Times New Roman" pitchFamily="18" charset="0"/>
              </a:rPr>
              <a:t>omniderictional</a:t>
            </a:r>
            <a:r>
              <a:rPr lang="en-US" altLang="zh-CN" sz="2400" dirty="0" smtClean="0">
                <a:solidFill>
                  <a:schemeClr val="tx1"/>
                </a:solidFill>
                <a:latin typeface="Times New Roman" pitchFamily="18" charset="0"/>
                <a:cs typeface="Times New Roman" pitchFamily="18" charset="0"/>
              </a:rPr>
              <a:t> </a:t>
            </a:r>
            <a:r>
              <a:rPr lang="en-US" sz="2400" dirty="0" smtClean="0">
                <a:solidFill>
                  <a:schemeClr val="tx1"/>
                </a:solidFill>
                <a:latin typeface="Times New Roman" pitchFamily="18" charset="0"/>
                <a:cs typeface="Times New Roman" pitchFamily="18" charset="0"/>
              </a:rPr>
              <a:t>antennas </a:t>
            </a:r>
          </a:p>
          <a:p>
            <a:pPr>
              <a:lnSpc>
                <a:spcPct val="200000"/>
              </a:lnSpc>
            </a:pPr>
            <a:r>
              <a:rPr lang="en-US" altLang="zh-CN" sz="2400" dirty="0" smtClean="0">
                <a:solidFill>
                  <a:schemeClr val="tx1"/>
                </a:solidFill>
                <a:latin typeface="Times New Roman" pitchFamily="18" charset="0"/>
                <a:cs typeface="Times New Roman" pitchFamily="18" charset="0"/>
              </a:rPr>
              <a:t>To acquire and track the GPS navigation signal , provide satellite’s position, velocity and time</a:t>
            </a:r>
            <a:endParaRPr lang="zh-CN" altLang="en-US" sz="2400" dirty="0">
              <a:solidFill>
                <a:schemeClr val="tx1"/>
              </a:solidFill>
              <a:latin typeface="Times New Roman" pitchFamily="18" charset="0"/>
              <a:cs typeface="Times New Roman" pitchFamily="18" charset="0"/>
            </a:endParaRPr>
          </a:p>
        </p:txBody>
      </p:sp>
      <p:sp>
        <p:nvSpPr>
          <p:cNvPr id="7" name="页脚占位符 4"/>
          <p:cNvSpPr>
            <a:spLocks noGrp="1"/>
          </p:cNvSpPr>
          <p:nvPr>
            <p:ph type="ftr" sz="quarter" idx="4294967295"/>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灯片编号占位符 5"/>
          <p:cNvSpPr>
            <a:spLocks noGrp="1"/>
          </p:cNvSpPr>
          <p:nvPr>
            <p:ph type="sldNum" sz="quarter" idx="4294967295"/>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6</a:t>
            </a:fld>
            <a:r>
              <a:rPr lang="zh-CN" altLang="en-US" dirty="0" smtClean="0"/>
              <a:t> </a:t>
            </a:r>
            <a:endParaRPr lang="zh-CN" altLang="en-US" dirty="0">
              <a:latin typeface="微软雅黑" pitchFamily="34" charset="-122"/>
              <a:ea typeface="微软雅黑" pitchFamily="34" charset="-122"/>
            </a:endParaRPr>
          </a:p>
        </p:txBody>
      </p:sp>
      <p:sp>
        <p:nvSpPr>
          <p:cNvPr id="11" name="标题 1"/>
          <p:cNvSpPr>
            <a:spLocks noGrp="1"/>
          </p:cNvSpPr>
          <p:nvPr>
            <p:ph type="title"/>
          </p:nvPr>
        </p:nvSpPr>
        <p:spPr>
          <a:xfrm>
            <a:off x="428596" y="142852"/>
            <a:ext cx="8229600" cy="1082660"/>
          </a:xfrm>
        </p:spPr>
        <p:txBody>
          <a:bodyPr>
            <a:normAutofit/>
          </a:bodyPr>
          <a:lstStyle/>
          <a:p>
            <a:pPr algn="l"/>
            <a:r>
              <a:rPr lang="en-US" altLang="zh-CN" sz="3200" dirty="0" smtClean="0"/>
              <a:t>2 Task Requirement</a:t>
            </a:r>
            <a:endParaRPr lang="zh-CN" altLang="en-US" sz="3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sp>
        <p:nvSpPr>
          <p:cNvPr id="12" name="标题 2"/>
          <p:cNvSpPr>
            <a:spLocks noGrp="1"/>
          </p:cNvSpPr>
          <p:nvPr>
            <p:ph type="title"/>
          </p:nvPr>
        </p:nvSpPr>
        <p:spPr>
          <a:xfrm>
            <a:off x="457200" y="274638"/>
            <a:ext cx="8229600" cy="1143000"/>
          </a:xfrm>
        </p:spPr>
        <p:txBody>
          <a:bodyPr anchor="t">
            <a:normAutofit/>
          </a:bodyPr>
          <a:lstStyle/>
          <a:p>
            <a:pPr algn="l"/>
            <a:r>
              <a:rPr lang="en-US" altLang="zh-CN" sz="3200" dirty="0" smtClean="0"/>
              <a:t>Outlines</a:t>
            </a:r>
            <a:endParaRPr lang="zh-CN" altLang="en-US" sz="3200" dirty="0" smtClean="0"/>
          </a:p>
        </p:txBody>
      </p:sp>
      <p:pic>
        <p:nvPicPr>
          <p:cNvPr id="13" name="Picture 1" descr="D:\resources for ppt\sat5.jpg"/>
          <p:cNvPicPr>
            <a:picLocks noChangeAspect="1" noChangeArrowheads="1"/>
          </p:cNvPicPr>
          <p:nvPr/>
        </p:nvPicPr>
        <p:blipFill>
          <a:blip r:embed="rId4" cstate="email"/>
          <a:stretch>
            <a:fillRect/>
          </a:stretch>
        </p:blipFill>
        <p:spPr bwMode="auto">
          <a:xfrm>
            <a:off x="2389984" y="4518458"/>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4429132"/>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t>4</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Interface with the Ground TT&amp;C</a:t>
            </a:r>
            <a:endParaRPr lang="zh-CN" altLang="en-US" sz="2400" b="1" dirty="0" smtClean="0">
              <a:solidFill>
                <a:srgbClr val="FFFF00"/>
              </a:solidFill>
              <a:latin typeface="Times New Roman" pitchFamily="18" charset="0"/>
              <a:cs typeface="Times New Roman" pitchFamily="18" charset="0"/>
            </a:endParaRPr>
          </a:p>
        </p:txBody>
      </p:sp>
      <p:pic>
        <p:nvPicPr>
          <p:cNvPr id="16" name="Picture 1" descr="D:\resources for ppt\sat5.jpg"/>
          <p:cNvPicPr>
            <a:picLocks noChangeAspect="1" noChangeArrowheads="1"/>
          </p:cNvPicPr>
          <p:nvPr/>
        </p:nvPicPr>
        <p:blipFill>
          <a:blip r:embed="rId4" cstate="email"/>
          <a:stretch>
            <a:fillRect/>
          </a:stretch>
        </p:blipFill>
        <p:spPr bwMode="auto">
          <a:xfrm>
            <a:off x="2389984" y="2668236"/>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2571744"/>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cs typeface="Arial" pitchFamily="34" charset="0"/>
              </a:rPr>
              <a:t>2</a:t>
            </a:r>
            <a:r>
              <a:rPr lang="en-US" altLang="zh-CN" sz="2400" b="1" dirty="0" smtClean="0">
                <a:solidFill>
                  <a:schemeClr val="tx1"/>
                </a:solidFill>
                <a:latin typeface="Arial" pitchFamily="34" charset="0"/>
                <a:cs typeface="Arial" pitchFamily="34" charset="0"/>
              </a:rPr>
              <a:t>  </a:t>
            </a:r>
            <a:r>
              <a:rPr lang="en-US" altLang="zh-CN" sz="2400" b="1" dirty="0" smtClean="0">
                <a:solidFill>
                  <a:schemeClr val="tx1"/>
                </a:solidFill>
                <a:latin typeface="Times New Roman" pitchFamily="18" charset="0"/>
                <a:ea typeface="微软雅黑" pitchFamily="34" charset="-122"/>
                <a:cs typeface="Times New Roman" pitchFamily="18" charset="0"/>
              </a:rPr>
              <a:t>Task Requirement</a:t>
            </a:r>
            <a:endParaRPr lang="zh-CN" altLang="en-US" sz="2400" b="1" dirty="0">
              <a:solidFill>
                <a:schemeClr val="tx1"/>
              </a:solidFill>
              <a:latin typeface="Arial" pitchFamily="34" charset="0"/>
              <a:cs typeface="Arial" pitchFamily="34" charset="0"/>
            </a:endParaRPr>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pic>
        <p:nvPicPr>
          <p:cNvPr id="20" name="Picture 1" descr="D:\resources for ppt\sat5.jpg"/>
          <p:cNvPicPr>
            <a:picLocks noChangeAspect="1" noChangeArrowheads="1"/>
          </p:cNvPicPr>
          <p:nvPr/>
        </p:nvPicPr>
        <p:blipFill>
          <a:blip r:embed="rId4" cstate="email"/>
          <a:stretch>
            <a:fillRect/>
          </a:stretch>
        </p:blipFill>
        <p:spPr bwMode="auto">
          <a:xfrm>
            <a:off x="2389984" y="5449269"/>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1" name="单圆角矩形 20"/>
          <p:cNvSpPr/>
          <p:nvPr/>
        </p:nvSpPr>
        <p:spPr>
          <a:xfrm>
            <a:off x="3036917" y="5359943"/>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5</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Rule of Sending TC and Data Block</a:t>
            </a:r>
            <a:endParaRPr lang="zh-CN" altLang="en-US" sz="2400" b="1" dirty="0" smtClean="0">
              <a:solidFill>
                <a:srgbClr val="FFFF00"/>
              </a:solidFill>
              <a:latin typeface="Times New Roman" pitchFamily="18" charset="0"/>
              <a:cs typeface="Times New Roman" pitchFamily="18" charset="0"/>
            </a:endParaRPr>
          </a:p>
        </p:txBody>
      </p:sp>
      <p:pic>
        <p:nvPicPr>
          <p:cNvPr id="22" name="Picture 1" descr="D:\resources for ppt\sat5.jpg"/>
          <p:cNvPicPr>
            <a:picLocks noChangeAspect="1" noChangeArrowheads="1"/>
          </p:cNvPicPr>
          <p:nvPr/>
        </p:nvPicPr>
        <p:blipFill>
          <a:blip r:embed="rId4" cstate="email"/>
          <a:stretch>
            <a:fillRect/>
          </a:stretch>
        </p:blipFill>
        <p:spPr bwMode="auto">
          <a:xfrm>
            <a:off x="2377256" y="173954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3" name="单圆角矩形 22"/>
          <p:cNvSpPr/>
          <p:nvPr/>
        </p:nvSpPr>
        <p:spPr>
          <a:xfrm>
            <a:off x="3024189" y="1643050"/>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ea typeface="Arial Unicode MS" pitchFamily="34" charset="-122"/>
                <a:cs typeface="Arial Unicode MS" pitchFamily="34" charset="-122"/>
              </a:rPr>
              <a:t>1</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latin typeface="Arial" pitchFamily="34" charset="0"/>
                <a:cs typeface="Arial" pitchFamily="34" charset="0"/>
              </a:rPr>
              <a:t>Introduction</a:t>
            </a:r>
            <a:endParaRPr lang="zh-CN" altLang="en-US" sz="2400" b="1" dirty="0" smtClean="0">
              <a:solidFill>
                <a:schemeClr val="tx1"/>
              </a:solidFill>
              <a:latin typeface="Arial" pitchFamily="34" charset="0"/>
              <a:cs typeface="Arial" pitchFamily="34" charset="0"/>
            </a:endParaRPr>
          </a:p>
        </p:txBody>
      </p:sp>
      <p:pic>
        <p:nvPicPr>
          <p:cNvPr id="24" name="Picture 2" descr="D:\resources for ppt\sino6_W020100905714056942648.jpg"/>
          <p:cNvPicPr>
            <a:picLocks noChangeAspect="1" noChangeArrowheads="1"/>
          </p:cNvPicPr>
          <p:nvPr/>
        </p:nvPicPr>
        <p:blipFill>
          <a:blip r:embed="rId5" cstate="email"/>
          <a:stretch>
            <a:fillRect/>
          </a:stretch>
        </p:blipFill>
        <p:spPr bwMode="auto">
          <a:xfrm>
            <a:off x="2357681" y="3549638"/>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5" name="单圆角矩形 24"/>
          <p:cNvSpPr/>
          <p:nvPr/>
        </p:nvSpPr>
        <p:spPr>
          <a:xfrm>
            <a:off x="3000364" y="3500438"/>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r>
              <a:rPr lang="en-US" altLang="zh-CN" sz="2400" b="1" dirty="0" smtClean="0"/>
              <a:t>3   </a:t>
            </a:r>
            <a:r>
              <a:rPr lang="en-US" altLang="zh-CN" sz="2400" b="1" dirty="0" smtClean="0">
                <a:latin typeface="Times New Roman" pitchFamily="18" charset="0"/>
                <a:cs typeface="Times New Roman" pitchFamily="18" charset="0"/>
              </a:rPr>
              <a:t>Satellite TT&amp;C subsystem</a:t>
            </a:r>
            <a:endParaRPr lang="zh-CN" altLang="en-US" sz="2400" b="1" dirty="0" smtClean="0">
              <a:solidFill>
                <a:srgbClr val="FFFF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页脚占位符 4"/>
          <p:cNvSpPr>
            <a:spLocks noGrp="1"/>
          </p:cNvSpPr>
          <p:nvPr>
            <p:ph type="ftr" sz="quarter" idx="4294967295"/>
          </p:nvPr>
        </p:nvSpPr>
        <p:spPr>
          <a:xfrm>
            <a:off x="971600" y="6494442"/>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5"/>
          <p:cNvSpPr>
            <a:spLocks noGrp="1"/>
          </p:cNvSpPr>
          <p:nvPr>
            <p:ph type="sldNum" sz="quarter" idx="4294967295"/>
          </p:nvPr>
        </p:nvSpPr>
        <p:spPr>
          <a:xfrm>
            <a:off x="7884368" y="6491267"/>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8</a:t>
            </a:fld>
            <a:r>
              <a:rPr lang="zh-CN" altLang="en-US" dirty="0" smtClean="0"/>
              <a:t> </a:t>
            </a:r>
            <a:endParaRPr lang="zh-CN" altLang="en-US" dirty="0">
              <a:latin typeface="微软雅黑" pitchFamily="34" charset="-122"/>
              <a:ea typeface="微软雅黑" pitchFamily="34" charset="-122"/>
            </a:endParaRPr>
          </a:p>
        </p:txBody>
      </p:sp>
      <p:pic>
        <p:nvPicPr>
          <p:cNvPr id="11" name="Picture 1"/>
          <p:cNvPicPr>
            <a:picLocks noChangeAspect="1" noChangeArrowheads="1"/>
          </p:cNvPicPr>
          <p:nvPr/>
        </p:nvPicPr>
        <p:blipFill>
          <a:blip r:embed="rId3"/>
          <a:srcRect/>
          <a:stretch>
            <a:fillRect/>
          </a:stretch>
        </p:blipFill>
        <p:spPr bwMode="auto">
          <a:xfrm>
            <a:off x="1214414" y="1469187"/>
            <a:ext cx="6786610" cy="49269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0"/>
          <p:cNvSpPr>
            <a:spLocks noGrp="1"/>
          </p:cNvSpPr>
          <p:nvPr>
            <p:ph idx="1"/>
          </p:nvPr>
        </p:nvSpPr>
        <p:spPr>
          <a:xfrm>
            <a:off x="753296" y="1697388"/>
            <a:ext cx="7676356" cy="4231942"/>
          </a:xfrm>
        </p:spPr>
        <p:txBody>
          <a:bodyPr>
            <a:normAutofit/>
          </a:bodyPr>
          <a:lstStyle/>
          <a:p>
            <a:pPr marL="0" indent="0">
              <a:buFont typeface="Wingdings" pitchFamily="2" charset="2"/>
              <a:buChar char="p"/>
            </a:pPr>
            <a:r>
              <a:rPr lang="en-US" altLang="zh-CN" sz="2400" dirty="0" smtClean="0">
                <a:solidFill>
                  <a:srgbClr val="0070C0"/>
                </a:solidFill>
                <a:latin typeface="Times New Roman" pitchFamily="18" charset="0"/>
                <a:cs typeface="Times New Roman" pitchFamily="18" charset="0"/>
              </a:rPr>
              <a:t>Status of transponder</a:t>
            </a:r>
          </a:p>
          <a:p>
            <a:pPr>
              <a:lnSpc>
                <a:spcPct val="170000"/>
              </a:lnSpc>
            </a:pPr>
            <a:r>
              <a:rPr lang="en-US" altLang="zh-CN" sz="2400" dirty="0" smtClean="0">
                <a:solidFill>
                  <a:schemeClr val="tx1"/>
                </a:solidFill>
                <a:latin typeface="Times New Roman" pitchFamily="18" charset="0"/>
                <a:ea typeface="+mn-ea"/>
                <a:cs typeface="Times New Roman" pitchFamily="18" charset="0"/>
              </a:rPr>
              <a:t>The </a:t>
            </a:r>
            <a:r>
              <a:rPr lang="en-US" altLang="zh-CN" sz="2400" dirty="0">
                <a:solidFill>
                  <a:schemeClr val="tx1"/>
                </a:solidFill>
                <a:latin typeface="Times New Roman" pitchFamily="18" charset="0"/>
                <a:ea typeface="+mn-ea"/>
                <a:cs typeface="Times New Roman" pitchFamily="18" charset="0"/>
              </a:rPr>
              <a:t>two receivers of </a:t>
            </a:r>
            <a:r>
              <a:rPr lang="en-US" altLang="zh-CN" sz="2400" dirty="0" smtClean="0">
                <a:solidFill>
                  <a:schemeClr val="tx1"/>
                </a:solidFill>
                <a:latin typeface="Times New Roman" pitchFamily="18" charset="0"/>
                <a:ea typeface="+mn-ea"/>
                <a:cs typeface="Times New Roman" pitchFamily="18" charset="0"/>
              </a:rPr>
              <a:t>transponders </a:t>
            </a:r>
            <a:r>
              <a:rPr lang="en-US" altLang="zh-CN" sz="2400" dirty="0">
                <a:solidFill>
                  <a:schemeClr val="tx1"/>
                </a:solidFill>
                <a:latin typeface="Times New Roman" pitchFamily="18" charset="0"/>
                <a:ea typeface="+mn-ea"/>
                <a:cs typeface="Times New Roman" pitchFamily="18" charset="0"/>
              </a:rPr>
              <a:t>are </a:t>
            </a:r>
            <a:r>
              <a:rPr lang="en-US" altLang="zh-CN" sz="2400" dirty="0" smtClean="0">
                <a:solidFill>
                  <a:schemeClr val="tx1"/>
                </a:solidFill>
                <a:latin typeface="Times New Roman" pitchFamily="18" charset="0"/>
                <a:ea typeface="+mn-ea"/>
                <a:cs typeface="Times New Roman" pitchFamily="18" charset="0"/>
              </a:rPr>
              <a:t>both on</a:t>
            </a:r>
          </a:p>
          <a:p>
            <a:pPr>
              <a:lnSpc>
                <a:spcPct val="170000"/>
              </a:lnSpc>
            </a:pPr>
            <a:r>
              <a:rPr lang="en-US" altLang="zh-CN" sz="2400" dirty="0" smtClean="0">
                <a:solidFill>
                  <a:schemeClr val="tx1"/>
                </a:solidFill>
                <a:latin typeface="Times New Roman" pitchFamily="18" charset="0"/>
                <a:ea typeface="+mn-ea"/>
                <a:cs typeface="Times New Roman" pitchFamily="18" charset="0"/>
              </a:rPr>
              <a:t>Only one of the </a:t>
            </a:r>
            <a:r>
              <a:rPr lang="en-US" altLang="zh-CN" sz="2400" dirty="0">
                <a:solidFill>
                  <a:schemeClr val="tx1"/>
                </a:solidFill>
                <a:latin typeface="Times New Roman" pitchFamily="18" charset="0"/>
                <a:ea typeface="+mn-ea"/>
                <a:cs typeface="Times New Roman" pitchFamily="18" charset="0"/>
              </a:rPr>
              <a:t>two transmitters </a:t>
            </a:r>
            <a:r>
              <a:rPr lang="en-US" altLang="zh-CN" sz="2400" dirty="0" smtClean="0">
                <a:solidFill>
                  <a:schemeClr val="tx1"/>
                </a:solidFill>
                <a:latin typeface="Times New Roman" pitchFamily="18" charset="0"/>
                <a:ea typeface="+mn-ea"/>
                <a:cs typeface="Times New Roman" pitchFamily="18" charset="0"/>
              </a:rPr>
              <a:t>is on(A on or B on)</a:t>
            </a:r>
          </a:p>
          <a:p>
            <a:pPr>
              <a:lnSpc>
                <a:spcPct val="170000"/>
              </a:lnSpc>
              <a:buFont typeface="Wingdings" pitchFamily="2" charset="2"/>
              <a:buChar char="p"/>
            </a:pPr>
            <a:r>
              <a:rPr lang="en-US" altLang="zh-CN" sz="2400" dirty="0" smtClean="0">
                <a:solidFill>
                  <a:srgbClr val="0070C0"/>
                </a:solidFill>
                <a:latin typeface="Times New Roman" pitchFamily="18" charset="0"/>
                <a:cs typeface="Times New Roman" pitchFamily="18" charset="0"/>
              </a:rPr>
              <a:t>operation modes</a:t>
            </a:r>
          </a:p>
          <a:p>
            <a:pPr lvl="0">
              <a:lnSpc>
                <a:spcPct val="170000"/>
              </a:lnSpc>
              <a:spcAft>
                <a:spcPct val="35000"/>
              </a:spcAft>
            </a:pPr>
            <a:r>
              <a:rPr lang="en-US" altLang="zh-CN" sz="2400" dirty="0" smtClean="0">
                <a:solidFill>
                  <a:schemeClr val="tx1"/>
                </a:solidFill>
                <a:latin typeface="Times New Roman" pitchFamily="18" charset="0"/>
                <a:ea typeface="+mn-ea"/>
                <a:cs typeface="Times New Roman" pitchFamily="18" charset="0"/>
              </a:rPr>
              <a:t>Mode 1:TM only for downlink</a:t>
            </a:r>
            <a:endParaRPr lang="zh-CN" altLang="en-US" sz="2400" dirty="0" smtClean="0">
              <a:solidFill>
                <a:schemeClr val="tx1"/>
              </a:solidFill>
              <a:latin typeface="Times New Roman" pitchFamily="18" charset="0"/>
              <a:ea typeface="+mn-ea"/>
              <a:cs typeface="Times New Roman" pitchFamily="18" charset="0"/>
            </a:endParaRPr>
          </a:p>
          <a:p>
            <a:pPr lvl="0">
              <a:lnSpc>
                <a:spcPct val="170000"/>
              </a:lnSpc>
              <a:spcAft>
                <a:spcPct val="35000"/>
              </a:spcAft>
            </a:pPr>
            <a:r>
              <a:rPr lang="en-US" altLang="zh-CN" sz="2400" dirty="0" smtClean="0">
                <a:solidFill>
                  <a:schemeClr val="tx1"/>
                </a:solidFill>
                <a:latin typeface="Times New Roman" pitchFamily="18" charset="0"/>
                <a:ea typeface="+mn-ea"/>
                <a:cs typeface="Times New Roman" pitchFamily="18" charset="0"/>
              </a:rPr>
              <a:t>Mode2 :TC for uplink and TM for downlink</a:t>
            </a:r>
            <a:endParaRPr lang="zh-CN" altLang="en-US" sz="2400" dirty="0" smtClean="0">
              <a:solidFill>
                <a:schemeClr val="tx1"/>
              </a:solidFill>
              <a:latin typeface="Times New Roman" pitchFamily="18" charset="0"/>
              <a:ea typeface="+mn-ea"/>
              <a:cs typeface="Times New Roman" pitchFamily="18" charset="0"/>
            </a:endParaRPr>
          </a:p>
          <a:p>
            <a:pPr>
              <a:lnSpc>
                <a:spcPct val="170000"/>
              </a:lnSpc>
              <a:buNone/>
            </a:pPr>
            <a:endParaRPr lang="en-US" altLang="zh-CN" sz="2400" dirty="0" smtClean="0">
              <a:solidFill>
                <a:srgbClr val="0070C0"/>
              </a:solidFill>
              <a:latin typeface="Times New Roman" pitchFamily="18" charset="0"/>
              <a:cs typeface="Times New Roman" pitchFamily="18" charset="0"/>
            </a:endParaRPr>
          </a:p>
        </p:txBody>
      </p:sp>
      <p:sp>
        <p:nvSpPr>
          <p:cNvPr id="7" name="页脚占位符 4"/>
          <p:cNvSpPr>
            <a:spLocks noGrp="1"/>
          </p:cNvSpPr>
          <p:nvPr>
            <p:ph type="ftr" sz="quarter" idx="4294967295"/>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灯片编号占位符 5"/>
          <p:cNvSpPr>
            <a:spLocks noGrp="1"/>
          </p:cNvSpPr>
          <p:nvPr>
            <p:ph type="sldNum" sz="quarter" idx="4294967295"/>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9</a:t>
            </a:fld>
            <a:r>
              <a:rPr lang="zh-CN" altLang="en-US" dirty="0" smtClean="0"/>
              <a:t> </a:t>
            </a:r>
            <a:endParaRPr lang="zh-CN" altLang="en-US" dirty="0">
              <a:latin typeface="微软雅黑" pitchFamily="34" charset="-122"/>
              <a:ea typeface="微软雅黑" pitchFamily="34" charset="-122"/>
            </a:endParaRPr>
          </a:p>
        </p:txBody>
      </p:sp>
      <p:sp>
        <p:nvSpPr>
          <p:cNvPr id="10"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图片 16"/>
          <p:cNvPicPr>
            <a:picLocks noChangeAspect="1" noChangeArrowheads="1"/>
          </p:cNvPicPr>
          <p:nvPr/>
        </p:nvPicPr>
        <p:blipFill>
          <a:blip r:embed="rId3"/>
          <a:srcRect b="28033"/>
          <a:stretch>
            <a:fillRect/>
          </a:stretch>
        </p:blipFill>
        <p:spPr bwMode="auto">
          <a:xfrm>
            <a:off x="4786314" y="1928802"/>
            <a:ext cx="3582144" cy="2000264"/>
          </a:xfrm>
          <a:prstGeom prst="rect">
            <a:avLst/>
          </a:prstGeom>
          <a:noFill/>
          <a:ln w="9525">
            <a:noFill/>
            <a:miter lim="800000"/>
            <a:headEnd/>
            <a:tailEnd/>
          </a:ln>
          <a:scene3d>
            <a:camera prst="orthographicFront">
              <a:rot lat="0" lon="0" rev="10800000"/>
            </a:camera>
            <a:lightRig rig="threePt" dir="t"/>
          </a:scene3d>
        </p:spPr>
      </p:pic>
      <p:sp>
        <p:nvSpPr>
          <p:cNvPr id="11" name="页脚占位符 4"/>
          <p:cNvSpPr>
            <a:spLocks noGrp="1"/>
          </p:cNvSpPr>
          <p:nvPr>
            <p:ph type="ftr" sz="quarter" idx="4294967295"/>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灯片编号占位符 5"/>
          <p:cNvSpPr>
            <a:spLocks noGrp="1"/>
          </p:cNvSpPr>
          <p:nvPr>
            <p:ph type="sldNum" sz="quarter" idx="4294967295"/>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10</a:t>
            </a:fld>
            <a:r>
              <a:rPr lang="zh-CN" altLang="en-US" dirty="0" smtClean="0"/>
              <a:t> </a:t>
            </a:r>
            <a:endParaRPr lang="zh-CN" altLang="en-US" dirty="0">
              <a:latin typeface="微软雅黑" pitchFamily="34" charset="-122"/>
              <a:ea typeface="微软雅黑" pitchFamily="34" charset="-122"/>
            </a:endParaRPr>
          </a:p>
        </p:txBody>
      </p:sp>
      <p:sp>
        <p:nvSpPr>
          <p:cNvPr id="15"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
        <p:nvSpPr>
          <p:cNvPr id="17" name="内容占位符 10"/>
          <p:cNvSpPr>
            <a:spLocks noGrp="1"/>
          </p:cNvSpPr>
          <p:nvPr>
            <p:ph idx="1"/>
          </p:nvPr>
        </p:nvSpPr>
        <p:spPr>
          <a:xfrm>
            <a:off x="571472" y="1214422"/>
            <a:ext cx="7676356" cy="660042"/>
          </a:xfrm>
        </p:spPr>
        <p:txBody>
          <a:bodyPr>
            <a:normAutofit/>
          </a:bodyPr>
          <a:lstStyle/>
          <a:p>
            <a:pPr marL="0" indent="0">
              <a:buFont typeface="Wingdings" pitchFamily="2" charset="2"/>
              <a:buChar char="p"/>
            </a:pPr>
            <a:r>
              <a:rPr lang="en-US" altLang="zh-CN" sz="2400" dirty="0" smtClean="0">
                <a:solidFill>
                  <a:srgbClr val="0070C0"/>
                </a:solidFill>
                <a:latin typeface="Times New Roman" pitchFamily="18" charset="0"/>
                <a:cs typeface="Times New Roman" pitchFamily="18" charset="0"/>
              </a:rPr>
              <a:t>Status of TT&amp;C Antenna</a:t>
            </a:r>
          </a:p>
        </p:txBody>
      </p:sp>
      <p:sp>
        <p:nvSpPr>
          <p:cNvPr id="18" name="矩形 17"/>
          <p:cNvSpPr/>
          <p:nvPr/>
        </p:nvSpPr>
        <p:spPr>
          <a:xfrm>
            <a:off x="714348" y="2071678"/>
            <a:ext cx="3571900" cy="1975926"/>
          </a:xfrm>
          <a:prstGeom prst="rect">
            <a:avLst/>
          </a:prstGeom>
        </p:spPr>
        <p:txBody>
          <a:bodyPr wrap="square">
            <a:spAutoFit/>
          </a:bodyPr>
          <a:lstStyle/>
          <a:p>
            <a:pPr marL="342900" indent="-342900">
              <a:lnSpc>
                <a:spcPct val="170000"/>
              </a:lnSpc>
            </a:pPr>
            <a:r>
              <a:rPr lang="en-US" altLang="zh-CN" sz="2400" b="1" dirty="0" smtClean="0">
                <a:latin typeface="Times New Roman" pitchFamily="18" charset="0"/>
                <a:cs typeface="Times New Roman" pitchFamily="18" charset="0"/>
              </a:rPr>
              <a:t>To nadir </a:t>
            </a:r>
          </a:p>
          <a:p>
            <a:pPr marL="342900" indent="-342900">
              <a:lnSpc>
                <a:spcPct val="170000"/>
              </a:lnSpc>
              <a:buFont typeface="Arial" pitchFamily="34" charset="0"/>
              <a:buChar char="•"/>
            </a:pPr>
            <a:r>
              <a:rPr lang="en-US" altLang="zh-CN" sz="2400" b="1" dirty="0" smtClean="0">
                <a:latin typeface="Times New Roman" pitchFamily="18" charset="0"/>
                <a:cs typeface="Times New Roman" pitchFamily="18" charset="0"/>
              </a:rPr>
              <a:t>Conical spiral </a:t>
            </a:r>
            <a:r>
              <a:rPr lang="en-US" altLang="zh-CN" sz="2400" b="1" dirty="0" err="1" smtClean="0">
                <a:latin typeface="Times New Roman" pitchFamily="18" charset="0"/>
                <a:cs typeface="Times New Roman" pitchFamily="18" charset="0"/>
              </a:rPr>
              <a:t>atanna</a:t>
            </a:r>
            <a:endParaRPr lang="en-US" altLang="zh-CN" sz="2400" b="1" dirty="0" smtClean="0">
              <a:latin typeface="Times New Roman" pitchFamily="18" charset="0"/>
              <a:cs typeface="Times New Roman" pitchFamily="18" charset="0"/>
            </a:endParaRPr>
          </a:p>
          <a:p>
            <a:pPr marL="342900" indent="-342900">
              <a:lnSpc>
                <a:spcPct val="170000"/>
              </a:lnSpc>
              <a:buFont typeface="Arial" pitchFamily="34" charset="0"/>
              <a:buChar char="•"/>
            </a:pPr>
            <a:r>
              <a:rPr lang="en-US" altLang="zh-CN" sz="2400" b="1" dirty="0" smtClean="0">
                <a:latin typeface="Times New Roman" pitchFamily="18" charset="0"/>
                <a:cs typeface="Times New Roman" pitchFamily="18" charset="0"/>
              </a:rPr>
              <a:t>LHCP</a:t>
            </a:r>
          </a:p>
        </p:txBody>
      </p:sp>
      <p:pic>
        <p:nvPicPr>
          <p:cNvPr id="25602" name="图片 2" descr="etrss-1_0-020180502002"/>
          <p:cNvPicPr>
            <a:picLocks noChangeAspect="1" noChangeArrowheads="1"/>
          </p:cNvPicPr>
          <p:nvPr/>
        </p:nvPicPr>
        <p:blipFill>
          <a:blip r:embed="rId4" cstate="print"/>
          <a:srcRect/>
          <a:stretch>
            <a:fillRect/>
          </a:stretch>
        </p:blipFill>
        <p:spPr bwMode="auto">
          <a:xfrm>
            <a:off x="1201744" y="4071942"/>
            <a:ext cx="2941628" cy="2080214"/>
          </a:xfrm>
          <a:prstGeom prst="rect">
            <a:avLst/>
          </a:prstGeom>
          <a:noFill/>
          <a:ln w="9525">
            <a:noFill/>
            <a:miter lim="800000"/>
            <a:headEnd/>
            <a:tailEnd/>
          </a:ln>
        </p:spPr>
      </p:pic>
      <p:sp>
        <p:nvSpPr>
          <p:cNvPr id="19" name="矩形 18"/>
          <p:cNvSpPr/>
          <p:nvPr/>
        </p:nvSpPr>
        <p:spPr>
          <a:xfrm>
            <a:off x="4929190" y="4214818"/>
            <a:ext cx="3286148" cy="1975926"/>
          </a:xfrm>
          <a:prstGeom prst="rect">
            <a:avLst/>
          </a:prstGeom>
        </p:spPr>
        <p:txBody>
          <a:bodyPr wrap="square">
            <a:spAutoFit/>
          </a:bodyPr>
          <a:lstStyle/>
          <a:p>
            <a:pPr marL="342900" indent="-342900">
              <a:lnSpc>
                <a:spcPct val="170000"/>
              </a:lnSpc>
            </a:pPr>
            <a:r>
              <a:rPr lang="en-US" altLang="zh-CN" sz="2400" b="1" dirty="0" smtClean="0">
                <a:latin typeface="Times New Roman" pitchFamily="18" charset="0"/>
                <a:cs typeface="Times New Roman" pitchFamily="18" charset="0"/>
              </a:rPr>
              <a:t>To zenith </a:t>
            </a:r>
          </a:p>
          <a:p>
            <a:pPr marL="342900" indent="-342900">
              <a:lnSpc>
                <a:spcPct val="170000"/>
              </a:lnSpc>
              <a:buFont typeface="Arial" pitchFamily="34" charset="0"/>
              <a:buChar char="•"/>
            </a:pPr>
            <a:r>
              <a:rPr lang="en-US" altLang="zh-CN" sz="2400" b="1" dirty="0" err="1" smtClean="0">
                <a:latin typeface="Times New Roman" pitchFamily="18" charset="0"/>
                <a:cs typeface="Times New Roman" pitchFamily="18" charset="0"/>
              </a:rPr>
              <a:t>Microstrip</a:t>
            </a:r>
            <a:r>
              <a:rPr lang="en-US" altLang="zh-CN" sz="2400" b="1" dirty="0" smtClean="0">
                <a:latin typeface="Times New Roman" pitchFamily="18" charset="0"/>
                <a:cs typeface="Times New Roman" pitchFamily="18" charset="0"/>
              </a:rPr>
              <a:t> </a:t>
            </a:r>
            <a:r>
              <a:rPr lang="en-US" altLang="zh-CN" sz="2400" b="1" dirty="0" err="1" smtClean="0">
                <a:latin typeface="Times New Roman" pitchFamily="18" charset="0"/>
                <a:cs typeface="Times New Roman" pitchFamily="18" charset="0"/>
              </a:rPr>
              <a:t>atanna</a:t>
            </a:r>
            <a:endParaRPr lang="en-US" altLang="zh-CN" sz="2400" b="1" dirty="0" smtClean="0">
              <a:latin typeface="Times New Roman" pitchFamily="18" charset="0"/>
              <a:cs typeface="Times New Roman" pitchFamily="18" charset="0"/>
            </a:endParaRPr>
          </a:p>
          <a:p>
            <a:pPr marL="342900" indent="-342900">
              <a:lnSpc>
                <a:spcPct val="170000"/>
              </a:lnSpc>
              <a:buFont typeface="Arial" pitchFamily="34" charset="0"/>
              <a:buChar char="•"/>
            </a:pPr>
            <a:r>
              <a:rPr lang="en-US" altLang="zh-CN" sz="2400" b="1" dirty="0" smtClean="0">
                <a:latin typeface="Times New Roman" pitchFamily="18" charset="0"/>
                <a:cs typeface="Times New Roman" pitchFamily="18" charset="0"/>
              </a:rPr>
              <a:t>LHCP</a:t>
            </a:r>
            <a:endParaRPr lang="zh-CN" altLang="en-US" sz="2400" b="1"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4"/>
          <p:cNvSpPr>
            <a:spLocks noGrp="1"/>
          </p:cNvSpPr>
          <p:nvPr>
            <p:ph type="ftr" sz="quarter" idx="4294967295"/>
          </p:nvPr>
        </p:nvSpPr>
        <p:spPr>
          <a:xfrm>
            <a:off x="971600" y="6494442"/>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5"/>
          <p:cNvSpPr>
            <a:spLocks noGrp="1"/>
          </p:cNvSpPr>
          <p:nvPr>
            <p:ph type="sldNum" sz="quarter" idx="4294967295"/>
          </p:nvPr>
        </p:nvSpPr>
        <p:spPr>
          <a:xfrm>
            <a:off x="7884368" y="6491267"/>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11</a:t>
            </a:fld>
            <a:r>
              <a:rPr lang="zh-CN" altLang="en-US" dirty="0" smtClean="0"/>
              <a:t> </a:t>
            </a:r>
            <a:endParaRPr lang="zh-CN" altLang="en-US" dirty="0">
              <a:latin typeface="微软雅黑" pitchFamily="34" charset="-122"/>
              <a:ea typeface="微软雅黑" pitchFamily="34" charset="-122"/>
            </a:endParaRPr>
          </a:p>
        </p:txBody>
      </p:sp>
      <p:sp>
        <p:nvSpPr>
          <p:cNvPr id="10"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
        <p:nvSpPr>
          <p:cNvPr id="11" name="矩形 10"/>
          <p:cNvSpPr/>
          <p:nvPr/>
        </p:nvSpPr>
        <p:spPr>
          <a:xfrm>
            <a:off x="785786" y="1574292"/>
            <a:ext cx="7500990" cy="4355038"/>
          </a:xfrm>
          <a:prstGeom prst="rect">
            <a:avLst/>
          </a:prstGeom>
        </p:spPr>
        <p:txBody>
          <a:bodyPr wrap="square">
            <a:spAutoFit/>
          </a:bodyPr>
          <a:lstStyle/>
          <a:p>
            <a:pPr>
              <a:lnSpc>
                <a:spcPct val="150000"/>
              </a:lnSpc>
              <a:spcAft>
                <a:spcPts val="1200"/>
              </a:spcAft>
              <a:buFont typeface="Wingdings" pitchFamily="2" charset="2"/>
              <a:buChar char="p"/>
              <a:defRPr/>
            </a:pPr>
            <a:r>
              <a:rPr lang="en-US" altLang="zh-CN" sz="2400" b="1" dirty="0" smtClean="0">
                <a:solidFill>
                  <a:srgbClr val="0070C0"/>
                </a:solidFill>
                <a:latin typeface="Times New Roman" pitchFamily="18" charset="0"/>
                <a:ea typeface="微软雅黑" pitchFamily="34" charset="-122"/>
                <a:cs typeface="Times New Roman" pitchFamily="18" charset="0"/>
              </a:rPr>
              <a:t>Status of GPS Receiver</a:t>
            </a:r>
          </a:p>
          <a:p>
            <a:pPr marL="342900" indent="-342900">
              <a:lnSpc>
                <a:spcPct val="150000"/>
              </a:lnSpc>
              <a:buFont typeface="Arial" pitchFamily="34" charset="0"/>
              <a:buChar char="•"/>
              <a:defRPr/>
            </a:pPr>
            <a:r>
              <a:rPr lang="en-US" altLang="zh-CN" sz="2200" b="1" dirty="0" smtClean="0">
                <a:latin typeface="Times New Roman" pitchFamily="18" charset="0"/>
                <a:cs typeface="Times New Roman" pitchFamily="18" charset="0"/>
              </a:rPr>
              <a:t>Only one of the two receivers is on(A on or B on)</a:t>
            </a:r>
          </a:p>
          <a:p>
            <a:pPr marL="342900" lvl="0" indent="-342900">
              <a:lnSpc>
                <a:spcPct val="150000"/>
              </a:lnSpc>
              <a:buFont typeface="Arial" pitchFamily="34" charset="0"/>
              <a:buChar char="•"/>
              <a:defRPr/>
            </a:pPr>
            <a:r>
              <a:rPr lang="x-none" altLang="zh-CN" sz="2200" b="1" dirty="0" smtClean="0">
                <a:latin typeface="Times New Roman" pitchFamily="18" charset="0"/>
                <a:cs typeface="Times New Roman" pitchFamily="18" charset="0"/>
              </a:rPr>
              <a:t>Real-time mode</a:t>
            </a:r>
            <a:endParaRPr lang="en-US" altLang="zh-CN" sz="2200" b="1" dirty="0" smtClean="0">
              <a:latin typeface="Times New Roman" pitchFamily="18" charset="0"/>
              <a:cs typeface="Times New Roman" pitchFamily="18" charset="0"/>
            </a:endParaRPr>
          </a:p>
          <a:p>
            <a:pPr lvl="1">
              <a:lnSpc>
                <a:spcPct val="150000"/>
              </a:lnSpc>
            </a:pPr>
            <a:r>
              <a:rPr lang="en-US" altLang="zh-CN" sz="2200" b="1" dirty="0" smtClean="0">
                <a:latin typeface="Times New Roman" pitchFamily="18" charset="0"/>
                <a:cs typeface="Times New Roman" pitchFamily="18" charset="0"/>
              </a:rPr>
              <a:t>GPS receiver </a:t>
            </a:r>
            <a:r>
              <a:rPr lang="x-none" altLang="zh-CN" sz="2200" b="1" dirty="0" smtClean="0">
                <a:latin typeface="Times New Roman" pitchFamily="18" charset="0"/>
                <a:cs typeface="Times New Roman" pitchFamily="18" charset="0"/>
              </a:rPr>
              <a:t>work</a:t>
            </a:r>
            <a:r>
              <a:rPr lang="en-US" altLang="zh-CN" sz="2200" b="1" dirty="0" smtClean="0">
                <a:latin typeface="Times New Roman" pitchFamily="18" charset="0"/>
                <a:cs typeface="Times New Roman" pitchFamily="18" charset="0"/>
              </a:rPr>
              <a:t>s</a:t>
            </a:r>
            <a:r>
              <a:rPr lang="x-none" altLang="zh-CN" sz="2200" b="1" dirty="0" smtClean="0">
                <a:latin typeface="Times New Roman" pitchFamily="18" charset="0"/>
                <a:cs typeface="Times New Roman" pitchFamily="18" charset="0"/>
              </a:rPr>
              <a:t> in position lock status</a:t>
            </a:r>
            <a:endParaRPr lang="en-US" altLang="zh-CN" sz="2200" b="1" dirty="0" smtClean="0">
              <a:latin typeface="Times New Roman" pitchFamily="18" charset="0"/>
              <a:cs typeface="Times New Roman" pitchFamily="18" charset="0"/>
            </a:endParaRPr>
          </a:p>
          <a:p>
            <a:pPr lvl="1">
              <a:lnSpc>
                <a:spcPct val="150000"/>
              </a:lnSpc>
            </a:pPr>
            <a:r>
              <a:rPr lang="en-US" altLang="zh-CN" sz="2200" b="1" dirty="0" smtClean="0">
                <a:latin typeface="Times New Roman" pitchFamily="18" charset="0"/>
                <a:cs typeface="Times New Roman" pitchFamily="18" charset="0"/>
              </a:rPr>
              <a:t>Provide real time high precision </a:t>
            </a:r>
            <a:r>
              <a:rPr lang="x-none" altLang="zh-CN" sz="2200" b="1" dirty="0" smtClean="0">
                <a:latin typeface="Times New Roman" pitchFamily="18" charset="0"/>
                <a:cs typeface="Times New Roman" pitchFamily="18" charset="0"/>
              </a:rPr>
              <a:t>position dat</a:t>
            </a:r>
            <a:r>
              <a:rPr lang="en-US" altLang="zh-CN" sz="2200" b="1" dirty="0" smtClean="0">
                <a:latin typeface="Times New Roman" pitchFamily="18" charset="0"/>
                <a:cs typeface="Times New Roman" pitchFamily="18" charset="0"/>
              </a:rPr>
              <a:t>a and PPS</a:t>
            </a:r>
          </a:p>
          <a:p>
            <a:pPr marL="342900" indent="-342900">
              <a:lnSpc>
                <a:spcPct val="150000"/>
              </a:lnSpc>
              <a:buFont typeface="Arial" pitchFamily="34" charset="0"/>
              <a:buChar char="•"/>
              <a:defRPr/>
            </a:pPr>
            <a:r>
              <a:rPr lang="en-US" altLang="zh-CN" sz="2200" b="1" dirty="0" smtClean="0">
                <a:latin typeface="Times New Roman" pitchFamily="18" charset="0"/>
                <a:cs typeface="Times New Roman" pitchFamily="18" charset="0"/>
              </a:rPr>
              <a:t>Extrapolating</a:t>
            </a:r>
          </a:p>
          <a:p>
            <a:pPr lvl="1">
              <a:lnSpc>
                <a:spcPct val="150000"/>
              </a:lnSpc>
            </a:pPr>
            <a:r>
              <a:rPr lang="en-US" altLang="zh-CN" sz="2200" b="1" dirty="0" smtClean="0">
                <a:latin typeface="Times New Roman" pitchFamily="18" charset="0"/>
                <a:cs typeface="Times New Roman" pitchFamily="18" charset="0"/>
              </a:rPr>
              <a:t>GPS receiver </a:t>
            </a:r>
            <a:r>
              <a:rPr lang="x-none" altLang="zh-CN" sz="2200" b="1" dirty="0" smtClean="0">
                <a:latin typeface="Times New Roman" pitchFamily="18" charset="0"/>
                <a:cs typeface="Times New Roman" pitchFamily="18" charset="0"/>
              </a:rPr>
              <a:t>work</a:t>
            </a:r>
            <a:r>
              <a:rPr lang="en-US" altLang="zh-CN" sz="2200" b="1" dirty="0" smtClean="0">
                <a:latin typeface="Times New Roman" pitchFamily="18" charset="0"/>
                <a:cs typeface="Times New Roman" pitchFamily="18" charset="0"/>
              </a:rPr>
              <a:t>s</a:t>
            </a:r>
            <a:r>
              <a:rPr lang="x-none" altLang="zh-CN" sz="2200" b="1" dirty="0" smtClean="0">
                <a:latin typeface="Times New Roman" pitchFamily="18" charset="0"/>
                <a:cs typeface="Times New Roman" pitchFamily="18" charset="0"/>
              </a:rPr>
              <a:t> in positioning </a:t>
            </a:r>
            <a:r>
              <a:rPr lang="en-US" altLang="zh-CN" sz="2200" b="1" dirty="0" smtClean="0">
                <a:latin typeface="Times New Roman" pitchFamily="18" charset="0"/>
                <a:cs typeface="Times New Roman" pitchFamily="18" charset="0"/>
              </a:rPr>
              <a:t>un</a:t>
            </a:r>
            <a:r>
              <a:rPr lang="x-none" altLang="zh-CN" sz="2200" b="1" dirty="0" smtClean="0">
                <a:latin typeface="Times New Roman" pitchFamily="18" charset="0"/>
                <a:cs typeface="Times New Roman" pitchFamily="18" charset="0"/>
              </a:rPr>
              <a:t>lock status.</a:t>
            </a:r>
            <a:endParaRPr lang="en-US" altLang="zh-CN" sz="2200" b="1" dirty="0" smtClean="0">
              <a:latin typeface="Times New Roman" pitchFamily="18" charset="0"/>
              <a:cs typeface="Times New Roman" pitchFamily="18" charset="0"/>
            </a:endParaRPr>
          </a:p>
          <a:p>
            <a:pPr lvl="1">
              <a:lnSpc>
                <a:spcPct val="150000"/>
              </a:lnSpc>
            </a:pPr>
            <a:r>
              <a:rPr lang="en-US" altLang="zh-CN" sz="2200" b="1" dirty="0" smtClean="0">
                <a:latin typeface="Times New Roman" pitchFamily="18" charset="0"/>
                <a:cs typeface="Times New Roman" pitchFamily="18" charset="0"/>
              </a:rPr>
              <a:t>Provide  </a:t>
            </a:r>
            <a:r>
              <a:rPr lang="x-none" altLang="zh-CN" sz="2200" b="1" dirty="0" smtClean="0">
                <a:latin typeface="Times New Roman" pitchFamily="18" charset="0"/>
                <a:cs typeface="Times New Roman" pitchFamily="18" charset="0"/>
              </a:rPr>
              <a:t>extrapolating position dat</a:t>
            </a:r>
            <a:r>
              <a:rPr lang="en-US" altLang="zh-CN" sz="2200" b="1" dirty="0" smtClean="0">
                <a:latin typeface="Times New Roman" pitchFamily="18" charset="0"/>
                <a:cs typeface="Times New Roman" pitchFamily="18" charset="0"/>
              </a:rPr>
              <a:t>a. No PPS.</a:t>
            </a:r>
            <a:endParaRPr lang="en-US" altLang="zh-CN" sz="2200" b="1" dirty="0" smtClean="0">
              <a:solidFill>
                <a:srgbClr val="0070C0"/>
              </a:solidFill>
              <a:latin typeface="Times New Roman" pitchFamily="18" charset="0"/>
              <a:ea typeface="微软雅黑" pitchFamily="34" charset="-122"/>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0"/>
          <p:cNvSpPr>
            <a:spLocks noGrp="1"/>
          </p:cNvSpPr>
          <p:nvPr>
            <p:ph sz="half" idx="1"/>
          </p:nvPr>
        </p:nvSpPr>
        <p:spPr>
          <a:xfrm>
            <a:off x="680148" y="1625950"/>
            <a:ext cx="7749504" cy="3874752"/>
          </a:xfrm>
        </p:spPr>
        <p:txBody>
          <a:bodyPr>
            <a:noAutofit/>
          </a:bodyPr>
          <a:lstStyle/>
          <a:p>
            <a:pPr marL="0" lvl="0">
              <a:lnSpc>
                <a:spcPct val="200000"/>
              </a:lnSpc>
              <a:buFont typeface="Wingdings" pitchFamily="2" charset="2"/>
              <a:buChar char="p"/>
              <a:defRPr/>
            </a:pPr>
            <a:r>
              <a:rPr lang="en-US" altLang="zh-CN" sz="2400" dirty="0" smtClean="0">
                <a:solidFill>
                  <a:srgbClr val="0070C0"/>
                </a:solidFill>
                <a:latin typeface="Times New Roman" pitchFamily="18" charset="0"/>
                <a:cs typeface="Times New Roman" pitchFamily="18" charset="0"/>
              </a:rPr>
              <a:t>T</a:t>
            </a:r>
            <a:r>
              <a:rPr lang="x-none" altLang="zh-CN" sz="2400" dirty="0" smtClean="0">
                <a:solidFill>
                  <a:srgbClr val="0070C0"/>
                </a:solidFill>
                <a:latin typeface="Times New Roman" pitchFamily="18" charset="0"/>
                <a:cs typeface="Times New Roman" pitchFamily="18" charset="0"/>
              </a:rPr>
              <a:t>ime system</a:t>
            </a:r>
            <a:endParaRPr lang="zh-CN" altLang="en-US" sz="2400" dirty="0" smtClean="0">
              <a:solidFill>
                <a:srgbClr val="0070C0"/>
              </a:solidFill>
              <a:latin typeface="Times New Roman" pitchFamily="18" charset="0"/>
              <a:cs typeface="Times New Roman" pitchFamily="18" charset="0"/>
            </a:endParaRPr>
          </a:p>
          <a:p>
            <a:pPr marL="342900" lvl="1" indent="-342900">
              <a:lnSpc>
                <a:spcPct val="200000"/>
              </a:lnSpc>
              <a:buFont typeface="Arial" pitchFamily="34" charset="0"/>
              <a:buChar char="•"/>
              <a:defRPr/>
            </a:pPr>
            <a:r>
              <a:rPr lang="x-none" altLang="zh-CN" dirty="0" smtClean="0">
                <a:solidFill>
                  <a:schemeClr val="tx1"/>
                </a:solidFill>
                <a:latin typeface="Times New Roman" pitchFamily="18" charset="0"/>
                <a:ea typeface="+mn-ea"/>
                <a:cs typeface="Times New Roman" pitchFamily="18" charset="0"/>
              </a:rPr>
              <a:t>Satellite-rocket separation Time </a:t>
            </a:r>
            <a:endParaRPr lang="en-US" altLang="zh-CN" dirty="0" smtClean="0">
              <a:solidFill>
                <a:schemeClr val="tx1"/>
              </a:solidFill>
              <a:latin typeface="Times New Roman" pitchFamily="18" charset="0"/>
              <a:ea typeface="+mn-ea"/>
              <a:cs typeface="Times New Roman" pitchFamily="18" charset="0"/>
            </a:endParaRPr>
          </a:p>
          <a:p>
            <a:pPr marL="342900" lvl="1" indent="-342900">
              <a:lnSpc>
                <a:spcPct val="200000"/>
              </a:lnSpc>
              <a:buNone/>
              <a:defRPr/>
            </a:pPr>
            <a:r>
              <a:rPr lang="en-US" altLang="zh-CN" dirty="0" smtClean="0">
                <a:solidFill>
                  <a:schemeClr val="tx1"/>
                </a:solidFill>
                <a:latin typeface="Times New Roman" pitchFamily="18" charset="0"/>
                <a:ea typeface="+mn-ea"/>
                <a:cs typeface="Times New Roman" pitchFamily="18" charset="0"/>
              </a:rPr>
              <a:t>     (T0) zero </a:t>
            </a:r>
            <a:r>
              <a:rPr lang="x-none" altLang="zh-CN" dirty="0" smtClean="0">
                <a:solidFill>
                  <a:schemeClr val="tx1"/>
                </a:solidFill>
                <a:latin typeface="Times New Roman" pitchFamily="18" charset="0"/>
                <a:ea typeface="+mn-ea"/>
                <a:cs typeface="Times New Roman" pitchFamily="18" charset="0"/>
              </a:rPr>
              <a:t>as the start time </a:t>
            </a:r>
            <a:r>
              <a:rPr lang="en-US" altLang="zh-CN" dirty="0" smtClean="0">
                <a:solidFill>
                  <a:schemeClr val="tx1"/>
                </a:solidFill>
                <a:latin typeface="Times New Roman" pitchFamily="18" charset="0"/>
                <a:ea typeface="+mn-ea"/>
                <a:cs typeface="Times New Roman" pitchFamily="18" charset="0"/>
              </a:rPr>
              <a:t>,</a:t>
            </a:r>
            <a:r>
              <a:rPr lang="x-none" altLang="zh-CN" dirty="0" smtClean="0">
                <a:solidFill>
                  <a:schemeClr val="tx1"/>
                </a:solidFill>
                <a:latin typeface="Times New Roman" pitchFamily="18" charset="0"/>
                <a:ea typeface="+mn-ea"/>
                <a:cs typeface="Times New Roman" pitchFamily="18" charset="0"/>
              </a:rPr>
              <a:t>used for initial orbit phase.</a:t>
            </a:r>
            <a:endParaRPr lang="zh-CN" altLang="en-US" dirty="0" smtClean="0">
              <a:solidFill>
                <a:schemeClr val="tx1"/>
              </a:solidFill>
              <a:latin typeface="Times New Roman" pitchFamily="18" charset="0"/>
              <a:ea typeface="+mn-ea"/>
              <a:cs typeface="Times New Roman" pitchFamily="18" charset="0"/>
            </a:endParaRPr>
          </a:p>
          <a:p>
            <a:pPr marL="342900" lvl="1" indent="-342900">
              <a:lnSpc>
                <a:spcPct val="200000"/>
              </a:lnSpc>
              <a:buFont typeface="Arial" pitchFamily="34" charset="0"/>
              <a:buChar char="•"/>
              <a:defRPr/>
            </a:pPr>
            <a:r>
              <a:rPr lang="x-none" altLang="zh-CN" dirty="0" smtClean="0">
                <a:solidFill>
                  <a:schemeClr val="tx1"/>
                </a:solidFill>
                <a:latin typeface="Times New Roman" pitchFamily="18" charset="0"/>
                <a:ea typeface="+mn-ea"/>
                <a:cs typeface="Times New Roman" pitchFamily="18" charset="0"/>
              </a:rPr>
              <a:t>UTC time </a:t>
            </a:r>
            <a:endParaRPr lang="en-US" altLang="zh-CN" dirty="0" smtClean="0">
              <a:solidFill>
                <a:schemeClr val="tx1"/>
              </a:solidFill>
              <a:latin typeface="Times New Roman" pitchFamily="18" charset="0"/>
              <a:ea typeface="+mn-ea"/>
              <a:cs typeface="Times New Roman" pitchFamily="18" charset="0"/>
            </a:endParaRPr>
          </a:p>
          <a:p>
            <a:pPr marL="342900" lvl="1" indent="-342900">
              <a:lnSpc>
                <a:spcPct val="200000"/>
              </a:lnSpc>
              <a:buNone/>
              <a:defRPr/>
            </a:pPr>
            <a:r>
              <a:rPr lang="en-US" altLang="zh-CN" dirty="0" smtClean="0">
                <a:solidFill>
                  <a:schemeClr val="tx1"/>
                </a:solidFill>
                <a:latin typeface="Times New Roman" pitchFamily="18" charset="0"/>
                <a:ea typeface="+mn-ea"/>
                <a:cs typeface="Times New Roman" pitchFamily="18" charset="0"/>
              </a:rPr>
              <a:t>     </a:t>
            </a:r>
            <a:r>
              <a:rPr lang="x-none" altLang="zh-CN" dirty="0" smtClean="0">
                <a:solidFill>
                  <a:schemeClr val="tx1"/>
                </a:solidFill>
                <a:latin typeface="Times New Roman" pitchFamily="18" charset="0"/>
                <a:ea typeface="+mn-ea"/>
                <a:cs typeface="Times New Roman" pitchFamily="18" charset="0"/>
              </a:rPr>
              <a:t>Jan 1, 2009 </a:t>
            </a:r>
            <a:r>
              <a:rPr lang="en-US" altLang="zh-CN" dirty="0" smtClean="0">
                <a:solidFill>
                  <a:schemeClr val="tx1"/>
                </a:solidFill>
                <a:latin typeface="Times New Roman" pitchFamily="18" charset="0"/>
                <a:ea typeface="+mn-ea"/>
                <a:cs typeface="Times New Roman" pitchFamily="18" charset="0"/>
              </a:rPr>
              <a:t>used </a:t>
            </a:r>
            <a:r>
              <a:rPr lang="x-none" altLang="zh-CN" dirty="0" smtClean="0">
                <a:solidFill>
                  <a:schemeClr val="tx1"/>
                </a:solidFill>
                <a:latin typeface="Times New Roman" pitchFamily="18" charset="0"/>
                <a:ea typeface="+mn-ea"/>
                <a:cs typeface="Times New Roman" pitchFamily="18" charset="0"/>
              </a:rPr>
              <a:t>as the start time </a:t>
            </a:r>
            <a:r>
              <a:rPr lang="en-US" altLang="zh-CN" dirty="0" smtClean="0">
                <a:solidFill>
                  <a:schemeClr val="tx1"/>
                </a:solidFill>
                <a:latin typeface="Times New Roman" pitchFamily="18" charset="0"/>
                <a:ea typeface="+mn-ea"/>
                <a:cs typeface="Times New Roman" pitchFamily="18" charset="0"/>
              </a:rPr>
              <a:t>(</a:t>
            </a:r>
            <a:r>
              <a:rPr lang="x-none" altLang="zh-CN" dirty="0" smtClean="0">
                <a:solidFill>
                  <a:schemeClr val="tx1"/>
                </a:solidFill>
                <a:latin typeface="Times New Roman" pitchFamily="18" charset="0"/>
                <a:ea typeface="+mn-ea"/>
                <a:cs typeface="Times New Roman" pitchFamily="18" charset="0"/>
              </a:rPr>
              <a:t>GMT 00:00:00</a:t>
            </a:r>
            <a:r>
              <a:rPr lang="en-US" altLang="zh-CN" dirty="0" smtClean="0">
                <a:solidFill>
                  <a:schemeClr val="tx1"/>
                </a:solidFill>
                <a:latin typeface="Times New Roman" pitchFamily="18" charset="0"/>
                <a:ea typeface="+mn-ea"/>
                <a:cs typeface="Times New Roman" pitchFamily="18" charset="0"/>
              </a:rPr>
              <a:t>)</a:t>
            </a:r>
            <a:endParaRPr lang="zh-CN" altLang="en-US" dirty="0" smtClean="0">
              <a:solidFill>
                <a:schemeClr val="tx1"/>
              </a:solidFill>
              <a:latin typeface="Times New Roman" pitchFamily="18" charset="0"/>
              <a:cs typeface="Times New Roman" pitchFamily="18" charset="0"/>
            </a:endParaRPr>
          </a:p>
        </p:txBody>
      </p:sp>
      <p:sp>
        <p:nvSpPr>
          <p:cNvPr id="7"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12</a:t>
            </a:fld>
            <a:r>
              <a:rPr lang="zh-CN" altLang="en-US" smtClean="0"/>
              <a:t> </a:t>
            </a:r>
            <a:endParaRPr lang="zh-CN" altLang="en-US" dirty="0">
              <a:latin typeface="微软雅黑" pitchFamily="34" charset="-122"/>
              <a:ea typeface="微软雅黑" pitchFamily="34" charset="-122"/>
            </a:endParaRPr>
          </a:p>
        </p:txBody>
      </p:sp>
      <p:sp>
        <p:nvSpPr>
          <p:cNvPr id="9"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119161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内容占位符 10"/>
          <p:cNvSpPr>
            <a:spLocks noGrp="1"/>
          </p:cNvSpPr>
          <p:nvPr>
            <p:ph sz="half" idx="1"/>
          </p:nvPr>
        </p:nvSpPr>
        <p:spPr>
          <a:xfrm>
            <a:off x="608710" y="1911702"/>
            <a:ext cx="7963818" cy="3660438"/>
          </a:xfrm>
        </p:spPr>
        <p:txBody>
          <a:bodyPr>
            <a:noAutofit/>
          </a:bodyPr>
          <a:lstStyle/>
          <a:p>
            <a:pPr marL="0">
              <a:lnSpc>
                <a:spcPct val="200000"/>
              </a:lnSpc>
              <a:buFont typeface="Wingdings" pitchFamily="2" charset="2"/>
              <a:buChar char="p"/>
              <a:defRPr/>
            </a:pPr>
            <a:r>
              <a:rPr lang="en-US" altLang="zh-CN" sz="2400" dirty="0" smtClean="0">
                <a:solidFill>
                  <a:srgbClr val="0070C0"/>
                </a:solidFill>
                <a:latin typeface="Times New Roman" pitchFamily="18" charset="0"/>
                <a:cs typeface="Times New Roman" pitchFamily="18" charset="0"/>
              </a:rPr>
              <a:t>Satellite t</a:t>
            </a:r>
            <a:r>
              <a:rPr lang="x-none" altLang="zh-CN" sz="2400" dirty="0" smtClean="0">
                <a:solidFill>
                  <a:srgbClr val="0070C0"/>
                </a:solidFill>
                <a:latin typeface="Times New Roman" pitchFamily="18" charset="0"/>
                <a:cs typeface="Times New Roman" pitchFamily="18" charset="0"/>
              </a:rPr>
              <a:t>ime calibration</a:t>
            </a:r>
            <a:endParaRPr lang="en-US" altLang="zh-CN" sz="2400" dirty="0" smtClean="0">
              <a:solidFill>
                <a:srgbClr val="0070C0"/>
              </a:solidFill>
              <a:latin typeface="Times New Roman" pitchFamily="18" charset="0"/>
              <a:cs typeface="Times New Roman" pitchFamily="18" charset="0"/>
            </a:endParaRPr>
          </a:p>
          <a:p>
            <a:pPr marL="342900" lvl="1" indent="-342900">
              <a:lnSpc>
                <a:spcPct val="200000"/>
              </a:lnSpc>
              <a:buFont typeface="Arial" pitchFamily="34" charset="0"/>
              <a:buChar char="•"/>
              <a:defRPr/>
            </a:pPr>
            <a:r>
              <a:rPr lang="en-US" altLang="zh-CN" sz="2200" dirty="0" smtClean="0">
                <a:solidFill>
                  <a:schemeClr val="tx1"/>
                </a:solidFill>
                <a:latin typeface="Times New Roman" pitchFamily="18" charset="0"/>
                <a:ea typeface="+mn-ea"/>
                <a:cs typeface="Times New Roman" pitchFamily="18" charset="0"/>
              </a:rPr>
              <a:t>GPS time calibration </a:t>
            </a:r>
          </a:p>
          <a:p>
            <a:pPr marL="342900" lvl="1" indent="-342900">
              <a:lnSpc>
                <a:spcPct val="200000"/>
              </a:lnSpc>
              <a:buNone/>
              <a:defRPr/>
            </a:pPr>
            <a:r>
              <a:rPr lang="en-US" altLang="zh-CN" sz="2200" dirty="0" smtClean="0">
                <a:solidFill>
                  <a:schemeClr val="tx1"/>
                </a:solidFill>
                <a:latin typeface="Times New Roman" pitchFamily="18" charset="0"/>
                <a:ea typeface="+mn-ea"/>
                <a:cs typeface="Times New Roman" pitchFamily="18" charset="0"/>
              </a:rPr>
              <a:t>     Allowed by default when GPS receiver is in positioning status</a:t>
            </a:r>
          </a:p>
          <a:p>
            <a:pPr marL="342900" lvl="1" indent="-342900">
              <a:lnSpc>
                <a:spcPct val="200000"/>
              </a:lnSpc>
              <a:buFont typeface="Arial" pitchFamily="34" charset="0"/>
              <a:buChar char="•"/>
              <a:defRPr/>
            </a:pPr>
            <a:r>
              <a:rPr lang="en-US" altLang="zh-CN" sz="2200" dirty="0" smtClean="0">
                <a:solidFill>
                  <a:schemeClr val="tx1"/>
                </a:solidFill>
                <a:latin typeface="Times New Roman" pitchFamily="18" charset="0"/>
                <a:ea typeface="+mn-ea"/>
                <a:cs typeface="Times New Roman" pitchFamily="18" charset="0"/>
              </a:rPr>
              <a:t>Ground station calibration</a:t>
            </a:r>
          </a:p>
          <a:p>
            <a:pPr marL="342900" lvl="1" indent="-342900">
              <a:lnSpc>
                <a:spcPct val="200000"/>
              </a:lnSpc>
              <a:buNone/>
              <a:defRPr/>
            </a:pPr>
            <a:r>
              <a:rPr lang="en-US" altLang="zh-CN" sz="2200" dirty="0" smtClean="0">
                <a:solidFill>
                  <a:schemeClr val="tx1"/>
                </a:solidFill>
                <a:latin typeface="Times New Roman" pitchFamily="18" charset="0"/>
                <a:ea typeface="+mn-ea"/>
                <a:cs typeface="Times New Roman" pitchFamily="18" charset="0"/>
              </a:rPr>
              <a:t>     Calibrated by injecting data from ground station</a:t>
            </a:r>
            <a:endParaRPr lang="zh-CN" altLang="en-US" sz="2000" dirty="0" smtClean="0">
              <a:solidFill>
                <a:schemeClr val="tx1"/>
              </a:solidFill>
              <a:latin typeface="Times New Roman" pitchFamily="18" charset="0"/>
              <a:cs typeface="Times New Roman" pitchFamily="18" charset="0"/>
            </a:endParaRPr>
          </a:p>
        </p:txBody>
      </p:sp>
      <p:sp>
        <p:nvSpPr>
          <p:cNvPr id="7"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13</a:t>
            </a:fld>
            <a:r>
              <a:rPr lang="zh-CN" altLang="en-US" smtClean="0"/>
              <a:t> </a:t>
            </a:r>
            <a:endParaRPr lang="zh-CN" altLang="en-US" dirty="0">
              <a:latin typeface="微软雅黑" pitchFamily="34" charset="-122"/>
              <a:ea typeface="微软雅黑" pitchFamily="34" charset="-122"/>
            </a:endParaRPr>
          </a:p>
        </p:txBody>
      </p:sp>
      <p:sp>
        <p:nvSpPr>
          <p:cNvPr id="9"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1191613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5"/>
          <p:cNvSpPr txBox="1">
            <a:spLocks noChangeArrowheads="1"/>
          </p:cNvSpPr>
          <p:nvPr/>
        </p:nvSpPr>
        <p:spPr bwMode="auto">
          <a:xfrm>
            <a:off x="330200" y="1667428"/>
            <a:ext cx="8424863" cy="39001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342900" lvl="1" indent="-342900" eaLnBrk="1" hangingPunct="1">
              <a:lnSpc>
                <a:spcPct val="150000"/>
              </a:lnSpc>
              <a:spcAft>
                <a:spcPts val="1200"/>
              </a:spcAft>
              <a:buFont typeface="Wingdings" pitchFamily="2" charset="2"/>
              <a:buChar char="p"/>
              <a:defRPr/>
            </a:pPr>
            <a:r>
              <a:rPr lang="en-US" altLang="zh-CN" sz="2400" dirty="0" smtClean="0">
                <a:solidFill>
                  <a:srgbClr val="0070C0"/>
                </a:solidFill>
                <a:latin typeface="Times New Roman" pitchFamily="18" charset="0"/>
                <a:cs typeface="Times New Roman" pitchFamily="18" charset="0"/>
              </a:rPr>
              <a:t>GPS time calibration</a:t>
            </a:r>
          </a:p>
          <a:p>
            <a:pPr marL="342900" lvl="1" indent="-342900" eaLnBrk="1" hangingPunct="1">
              <a:lnSpc>
                <a:spcPct val="150000"/>
              </a:lnSpc>
              <a:spcAft>
                <a:spcPts val="1200"/>
              </a:spcAft>
              <a:buFont typeface="Arial" pitchFamily="34" charset="0"/>
              <a:buChar char="•"/>
              <a:defRPr/>
            </a:pPr>
            <a:r>
              <a:rPr lang="en-US" altLang="zh-CN" sz="2200" dirty="0" smtClean="0">
                <a:solidFill>
                  <a:schemeClr val="tx1"/>
                </a:solidFill>
                <a:latin typeface="Times New Roman" pitchFamily="18" charset="0"/>
                <a:ea typeface="+mn-ea"/>
                <a:cs typeface="Times New Roman" pitchFamily="18" charset="0"/>
              </a:rPr>
              <a:t>GPS </a:t>
            </a:r>
            <a:r>
              <a:rPr lang="en-US" altLang="zh-CN" sz="2200" dirty="0">
                <a:solidFill>
                  <a:schemeClr val="tx1"/>
                </a:solidFill>
                <a:latin typeface="Times New Roman" pitchFamily="18" charset="0"/>
                <a:ea typeface="+mn-ea"/>
                <a:cs typeface="Times New Roman" pitchFamily="18" charset="0"/>
              </a:rPr>
              <a:t>time </a:t>
            </a:r>
            <a:r>
              <a:rPr lang="en-US" altLang="zh-CN" sz="2200" dirty="0" smtClean="0">
                <a:solidFill>
                  <a:schemeClr val="tx1"/>
                </a:solidFill>
                <a:latin typeface="Times New Roman" pitchFamily="18" charset="0"/>
                <a:ea typeface="+mn-ea"/>
                <a:cs typeface="Times New Roman" pitchFamily="18" charset="0"/>
              </a:rPr>
              <a:t>transfer</a:t>
            </a:r>
          </a:p>
          <a:p>
            <a:pPr marL="360000" eaLnBrk="1" hangingPunct="1">
              <a:lnSpc>
                <a:spcPct val="150000"/>
              </a:lnSpc>
              <a:spcAft>
                <a:spcPts val="1200"/>
              </a:spcAft>
              <a:defRPr/>
            </a:pPr>
            <a:r>
              <a:rPr lang="en-US" altLang="zh-CN" sz="2400" dirty="0" smtClean="0">
                <a:solidFill>
                  <a:schemeClr val="tx1"/>
                </a:solidFill>
                <a:latin typeface="Times New Roman" pitchFamily="18" charset="0"/>
                <a:cs typeface="Times New Roman" pitchFamily="18" charset="0"/>
              </a:rPr>
              <a:t>Use</a:t>
            </a:r>
            <a:r>
              <a:rPr lang="x-none" altLang="zh-CN" sz="2400" dirty="0" smtClean="0">
                <a:solidFill>
                  <a:schemeClr val="tx1"/>
                </a:solidFill>
                <a:latin typeface="Times New Roman" pitchFamily="18" charset="0"/>
                <a:cs typeface="Times New Roman" pitchFamily="18" charset="0"/>
              </a:rPr>
              <a:t> </a:t>
            </a:r>
            <a:r>
              <a:rPr lang="x-none" altLang="zh-CN" sz="2400" dirty="0">
                <a:solidFill>
                  <a:schemeClr val="tx1"/>
                </a:solidFill>
                <a:latin typeface="Times New Roman" pitchFamily="18" charset="0"/>
                <a:cs typeface="Times New Roman" pitchFamily="18" charset="0"/>
              </a:rPr>
              <a:t>GPS time </a:t>
            </a:r>
            <a:r>
              <a:rPr lang="en-US" altLang="zh-CN" sz="2400" dirty="0">
                <a:solidFill>
                  <a:schemeClr val="tx1"/>
                </a:solidFill>
                <a:latin typeface="Times New Roman" pitchFamily="18" charset="0"/>
                <a:cs typeface="Times New Roman" pitchFamily="18" charset="0"/>
              </a:rPr>
              <a:t>as satellite </a:t>
            </a:r>
            <a:r>
              <a:rPr lang="en-US" altLang="zh-CN" sz="2400" dirty="0" smtClean="0">
                <a:solidFill>
                  <a:schemeClr val="tx1"/>
                </a:solidFill>
                <a:latin typeface="Times New Roman" pitchFamily="18" charset="0"/>
                <a:cs typeface="Times New Roman" pitchFamily="18" charset="0"/>
              </a:rPr>
              <a:t>time (used </a:t>
            </a:r>
            <a:r>
              <a:rPr lang="en-US" altLang="zh-CN" sz="2400" dirty="0">
                <a:solidFill>
                  <a:schemeClr val="tx1"/>
                </a:solidFill>
                <a:latin typeface="Times New Roman" pitchFamily="18" charset="0"/>
                <a:cs typeface="Times New Roman" pitchFamily="18" charset="0"/>
              </a:rPr>
              <a:t>for large deviation)</a:t>
            </a:r>
          </a:p>
          <a:p>
            <a:pPr marL="342900" lvl="1" indent="-342900" eaLnBrk="1" hangingPunct="1">
              <a:lnSpc>
                <a:spcPct val="150000"/>
              </a:lnSpc>
              <a:spcAft>
                <a:spcPts val="1200"/>
              </a:spcAft>
              <a:buFont typeface="Arial" pitchFamily="34" charset="0"/>
              <a:buChar char="•"/>
              <a:defRPr/>
            </a:pPr>
            <a:r>
              <a:rPr lang="en-US" altLang="zh-CN" sz="2200" dirty="0">
                <a:solidFill>
                  <a:schemeClr val="tx1"/>
                </a:solidFill>
                <a:latin typeface="Times New Roman" pitchFamily="18" charset="0"/>
                <a:ea typeface="+mn-ea"/>
                <a:cs typeface="Times New Roman" pitchFamily="18" charset="0"/>
              </a:rPr>
              <a:t>GPS time </a:t>
            </a:r>
            <a:r>
              <a:rPr lang="en-US" altLang="zh-CN" sz="2200" dirty="0" smtClean="0">
                <a:solidFill>
                  <a:schemeClr val="tx1"/>
                </a:solidFill>
                <a:latin typeface="Times New Roman" pitchFamily="18" charset="0"/>
                <a:ea typeface="+mn-ea"/>
                <a:cs typeface="Times New Roman" pitchFamily="18" charset="0"/>
              </a:rPr>
              <a:t>calibration</a:t>
            </a:r>
          </a:p>
          <a:p>
            <a:pPr marL="360000" eaLnBrk="1" hangingPunct="1">
              <a:lnSpc>
                <a:spcPct val="150000"/>
              </a:lnSpc>
              <a:spcAft>
                <a:spcPts val="1200"/>
              </a:spcAft>
              <a:defRPr/>
            </a:pPr>
            <a:r>
              <a:rPr lang="en-US" altLang="zh-CN" sz="2400" dirty="0" smtClean="0">
                <a:solidFill>
                  <a:schemeClr val="tx1"/>
                </a:solidFill>
                <a:latin typeface="Times New Roman" pitchFamily="18" charset="0"/>
                <a:cs typeface="Times New Roman" pitchFamily="18" charset="0"/>
              </a:rPr>
              <a:t>Satellite</a:t>
            </a:r>
            <a:r>
              <a:rPr lang="en-US" altLang="zh-CN" sz="2400" dirty="0" smtClean="0">
                <a:solidFill>
                  <a:srgbClr val="FF0000"/>
                </a:solidFill>
                <a:latin typeface="Times New Roman" pitchFamily="18" charset="0"/>
                <a:cs typeface="Times New Roman" pitchFamily="18" charset="0"/>
              </a:rPr>
              <a:t> </a:t>
            </a:r>
            <a:r>
              <a:rPr lang="en-US" altLang="zh-CN" sz="2400" dirty="0">
                <a:solidFill>
                  <a:schemeClr val="tx1"/>
                </a:solidFill>
                <a:latin typeface="Times New Roman" pitchFamily="18" charset="0"/>
                <a:cs typeface="Times New Roman" pitchFamily="18" charset="0"/>
              </a:rPr>
              <a:t>time </a:t>
            </a:r>
            <a:r>
              <a:rPr lang="en-US" altLang="zh-CN" sz="2400" dirty="0" smtClean="0">
                <a:solidFill>
                  <a:schemeClr val="tx1"/>
                </a:solidFill>
                <a:latin typeface="Times New Roman" pitchFamily="18" charset="0"/>
                <a:cs typeface="Times New Roman" pitchFamily="18" charset="0"/>
              </a:rPr>
              <a:t>is calibrated </a:t>
            </a:r>
            <a:r>
              <a:rPr lang="en-US" altLang="zh-CN" sz="2400" dirty="0">
                <a:solidFill>
                  <a:schemeClr val="tx1"/>
                </a:solidFill>
                <a:latin typeface="Times New Roman" pitchFamily="18" charset="0"/>
                <a:cs typeface="Times New Roman" pitchFamily="18" charset="0"/>
              </a:rPr>
              <a:t>step by step </a:t>
            </a:r>
            <a:r>
              <a:rPr lang="en-US" altLang="zh-CN" sz="2400" dirty="0" smtClean="0">
                <a:solidFill>
                  <a:schemeClr val="tx1"/>
                </a:solidFill>
                <a:latin typeface="Times New Roman" pitchFamily="18" charset="0"/>
                <a:cs typeface="Times New Roman" pitchFamily="18" charset="0"/>
              </a:rPr>
              <a:t>until </a:t>
            </a:r>
            <a:r>
              <a:rPr lang="en-US" altLang="zh-CN" sz="2400" dirty="0">
                <a:solidFill>
                  <a:schemeClr val="tx1"/>
                </a:solidFill>
                <a:latin typeface="Times New Roman" pitchFamily="18" charset="0"/>
                <a:cs typeface="Times New Roman" pitchFamily="18" charset="0"/>
              </a:rPr>
              <a:t>reach the GPS time</a:t>
            </a:r>
            <a:r>
              <a:rPr lang="en-US" altLang="zh-CN" sz="2400" dirty="0" smtClean="0">
                <a:solidFill>
                  <a:schemeClr val="tx1"/>
                </a:solidFill>
                <a:latin typeface="Times New Roman" pitchFamily="18" charset="0"/>
                <a:cs typeface="Times New Roman" pitchFamily="18" charset="0"/>
              </a:rPr>
              <a:t>.</a:t>
            </a:r>
          </a:p>
        </p:txBody>
      </p:sp>
      <p:sp>
        <p:nvSpPr>
          <p:cNvPr id="5"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14</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25468921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5"/>
          <p:cNvSpPr txBox="1">
            <a:spLocks noChangeArrowheads="1"/>
          </p:cNvSpPr>
          <p:nvPr/>
        </p:nvSpPr>
        <p:spPr bwMode="auto">
          <a:xfrm>
            <a:off x="384365" y="1359652"/>
            <a:ext cx="8259601" cy="50697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720000" indent="-360000" algn="l" eaLnBrk="1" hangingPunct="1">
              <a:lnSpc>
                <a:spcPct val="150000"/>
              </a:lnSpc>
              <a:buFont typeface="Wingdings" pitchFamily="2" charset="2"/>
              <a:buChar char="p"/>
              <a:defRPr/>
            </a:pPr>
            <a:r>
              <a:rPr lang="en-US" altLang="zh-CN" sz="2400" dirty="0" smtClean="0">
                <a:solidFill>
                  <a:srgbClr val="0070C0"/>
                </a:solidFill>
                <a:latin typeface="Times New Roman" pitchFamily="18" charset="0"/>
                <a:cs typeface="Times New Roman" pitchFamily="18" charset="0"/>
              </a:rPr>
              <a:t>Ground station time calibration</a:t>
            </a:r>
            <a:endParaRPr lang="en-US" altLang="zh-CN" sz="2400" dirty="0" smtClean="0">
              <a:solidFill>
                <a:schemeClr val="bg1"/>
              </a:solidFill>
              <a:latin typeface="Times New Roman" pitchFamily="18" charset="0"/>
              <a:cs typeface="Times New Roman" pitchFamily="18" charset="0"/>
            </a:endParaRPr>
          </a:p>
          <a:p>
            <a:pPr marL="702900" indent="-342900" eaLnBrk="1" hangingPunct="1">
              <a:lnSpc>
                <a:spcPct val="150000"/>
              </a:lnSpc>
              <a:buFont typeface="Arial" pitchFamily="34" charset="0"/>
              <a:buChar char="•"/>
              <a:defRPr/>
            </a:pPr>
            <a:r>
              <a:rPr lang="en-US" altLang="zh-CN" sz="2400" dirty="0" smtClean="0">
                <a:solidFill>
                  <a:schemeClr val="tx1"/>
                </a:solidFill>
                <a:latin typeface="Times New Roman" pitchFamily="18" charset="0"/>
                <a:cs typeface="Times New Roman" pitchFamily="18" charset="0"/>
              </a:rPr>
              <a:t>Mean time calibration</a:t>
            </a:r>
          </a:p>
          <a:p>
            <a:pPr marL="719138" eaLnBrk="1" hangingPunct="1">
              <a:lnSpc>
                <a:spcPct val="150000"/>
              </a:lnSpc>
              <a:defRPr/>
            </a:pPr>
            <a:r>
              <a:rPr lang="en-US" altLang="zh-CN" sz="2400" dirty="0" smtClean="0">
                <a:solidFill>
                  <a:schemeClr val="tx1"/>
                </a:solidFill>
                <a:latin typeface="Times New Roman" pitchFamily="18" charset="0"/>
                <a:cs typeface="Times New Roman" pitchFamily="18" charset="0"/>
              </a:rPr>
              <a:t>Calibrating time periodically by the </a:t>
            </a:r>
            <a:r>
              <a:rPr lang="en-US" altLang="zh-CN" sz="2400" dirty="0" err="1" smtClean="0">
                <a:solidFill>
                  <a:schemeClr val="tx1"/>
                </a:solidFill>
                <a:latin typeface="Times New Roman" pitchFamily="18" charset="0"/>
                <a:cs typeface="Times New Roman" pitchFamily="18" charset="0"/>
              </a:rPr>
              <a:t>tele</a:t>
            </a:r>
            <a:r>
              <a:rPr lang="en-US" altLang="zh-CN" sz="2400" dirty="0" smtClean="0">
                <a:solidFill>
                  <a:schemeClr val="tx1"/>
                </a:solidFill>
                <a:latin typeface="Times New Roman" pitchFamily="18" charset="0"/>
                <a:cs typeface="Times New Roman" pitchFamily="18" charset="0"/>
              </a:rPr>
              <a:t>-command(</a:t>
            </a:r>
            <a:r>
              <a:rPr lang="en-US" altLang="zh-CN" sz="2400" dirty="0" smtClean="0">
                <a:solidFill>
                  <a:srgbClr val="0070C0"/>
                </a:solidFill>
                <a:latin typeface="Times New Roman" pitchFamily="18" charset="0"/>
                <a:cs typeface="Times New Roman" pitchFamily="18" charset="0"/>
                <a:sym typeface="Symbol"/>
              </a:rPr>
              <a:t>t+</a:t>
            </a:r>
            <a:r>
              <a:rPr lang="en-US" altLang="zh-CN" sz="2400" dirty="0" smtClean="0">
                <a:solidFill>
                  <a:srgbClr val="0070C0"/>
                </a:solidFill>
                <a:latin typeface="Times New Roman" pitchFamily="18" charset="0"/>
                <a:cs typeface="Times New Roman" pitchFamily="18" charset="0"/>
              </a:rPr>
              <a:t> interval time</a:t>
            </a:r>
            <a:r>
              <a:rPr lang="en-US" altLang="zh-CN" sz="2400" dirty="0" smtClean="0">
                <a:solidFill>
                  <a:schemeClr val="tx1"/>
                </a:solidFill>
                <a:latin typeface="Times New Roman" pitchFamily="18" charset="0"/>
                <a:cs typeface="Times New Roman" pitchFamily="18" charset="0"/>
              </a:rPr>
              <a:t>)</a:t>
            </a:r>
          </a:p>
          <a:p>
            <a:pPr marL="702900" indent="-342900" eaLnBrk="1" hangingPunct="1">
              <a:lnSpc>
                <a:spcPct val="150000"/>
              </a:lnSpc>
              <a:buFont typeface="Arial" pitchFamily="34" charset="0"/>
              <a:buChar char="•"/>
              <a:defRPr/>
            </a:pPr>
            <a:r>
              <a:rPr lang="en-US" altLang="zh-CN" sz="2400" dirty="0" smtClean="0">
                <a:solidFill>
                  <a:schemeClr val="tx1"/>
                </a:solidFill>
                <a:latin typeface="Times New Roman" pitchFamily="18" charset="0"/>
                <a:cs typeface="Times New Roman" pitchFamily="18" charset="0"/>
              </a:rPr>
              <a:t>Centralized time calibration</a:t>
            </a:r>
          </a:p>
          <a:p>
            <a:pPr marL="719138" eaLnBrk="1" hangingPunct="1">
              <a:lnSpc>
                <a:spcPct val="150000"/>
              </a:lnSpc>
              <a:defRPr/>
            </a:pPr>
            <a:r>
              <a:rPr lang="en-US" altLang="zh-CN" sz="2400" dirty="0" smtClean="0">
                <a:solidFill>
                  <a:schemeClr val="tx1"/>
                </a:solidFill>
                <a:latin typeface="Times New Roman" pitchFamily="18" charset="0"/>
                <a:cs typeface="Times New Roman" pitchFamily="18" charset="0"/>
              </a:rPr>
              <a:t>Calibrating time at a time by the </a:t>
            </a:r>
            <a:r>
              <a:rPr lang="en-US" altLang="zh-CN" sz="2400" dirty="0" err="1" smtClean="0">
                <a:solidFill>
                  <a:schemeClr val="tx1"/>
                </a:solidFill>
                <a:latin typeface="Times New Roman" pitchFamily="18" charset="0"/>
                <a:cs typeface="Times New Roman" pitchFamily="18" charset="0"/>
              </a:rPr>
              <a:t>tele</a:t>
            </a:r>
            <a:r>
              <a:rPr lang="en-US" altLang="zh-CN" sz="2400" dirty="0" smtClean="0">
                <a:solidFill>
                  <a:schemeClr val="tx1"/>
                </a:solidFill>
                <a:latin typeface="Times New Roman" pitchFamily="18" charset="0"/>
                <a:cs typeface="Times New Roman" pitchFamily="18" charset="0"/>
              </a:rPr>
              <a:t>-command (</a:t>
            </a:r>
            <a:r>
              <a:rPr lang="en-US" altLang="zh-CN" sz="2400" dirty="0" smtClean="0">
                <a:solidFill>
                  <a:srgbClr val="0070C0"/>
                </a:solidFill>
                <a:latin typeface="Times New Roman" pitchFamily="18" charset="0"/>
                <a:cs typeface="Times New Roman" pitchFamily="18" charset="0"/>
                <a:sym typeface="Symbol"/>
              </a:rPr>
              <a:t>t</a:t>
            </a:r>
            <a:r>
              <a:rPr lang="en-US" altLang="zh-CN" sz="2400" dirty="0" smtClean="0">
                <a:solidFill>
                  <a:schemeClr val="tx1"/>
                </a:solidFill>
                <a:latin typeface="Times New Roman" pitchFamily="18" charset="0"/>
                <a:cs typeface="Times New Roman" pitchFamily="18" charset="0"/>
                <a:sym typeface="Symbol"/>
              </a:rPr>
              <a:t>)</a:t>
            </a:r>
            <a:endParaRPr lang="en-US" altLang="zh-CN" sz="2400" dirty="0" smtClean="0">
              <a:solidFill>
                <a:schemeClr val="tx1"/>
              </a:solidFill>
              <a:latin typeface="Times New Roman" pitchFamily="18" charset="0"/>
              <a:cs typeface="Times New Roman" pitchFamily="18" charset="0"/>
            </a:endParaRPr>
          </a:p>
          <a:p>
            <a:pPr marL="702900" indent="-342900" algn="l" eaLnBrk="1" hangingPunct="1">
              <a:lnSpc>
                <a:spcPct val="150000"/>
              </a:lnSpc>
              <a:buFont typeface="Arial" pitchFamily="34" charset="0"/>
              <a:buChar char="•"/>
              <a:defRPr/>
            </a:pPr>
            <a:r>
              <a:rPr lang="en-US" altLang="zh-CN" sz="2400" dirty="0" smtClean="0">
                <a:solidFill>
                  <a:schemeClr val="tx1"/>
                </a:solidFill>
                <a:latin typeface="Times New Roman" pitchFamily="18" charset="0"/>
                <a:cs typeface="Times New Roman" pitchFamily="18" charset="0"/>
              </a:rPr>
              <a:t>Transfer time</a:t>
            </a:r>
          </a:p>
          <a:p>
            <a:pPr marL="701675" indent="17463" eaLnBrk="1" hangingPunct="1">
              <a:lnSpc>
                <a:spcPct val="150000"/>
              </a:lnSpc>
              <a:defRPr/>
            </a:pPr>
            <a:r>
              <a:rPr lang="en-US" altLang="zh-CN" sz="2400" dirty="0" smtClean="0">
                <a:solidFill>
                  <a:schemeClr val="tx1"/>
                </a:solidFill>
                <a:latin typeface="Times New Roman" pitchFamily="18" charset="0"/>
                <a:cs typeface="Times New Roman" pitchFamily="18" charset="0"/>
              </a:rPr>
              <a:t>Calibrating </a:t>
            </a:r>
            <a:r>
              <a:rPr lang="en-US" altLang="zh-CN" sz="2400" dirty="0">
                <a:solidFill>
                  <a:schemeClr val="tx1"/>
                </a:solidFill>
                <a:latin typeface="Times New Roman" pitchFamily="18" charset="0"/>
                <a:cs typeface="Times New Roman" pitchFamily="18" charset="0"/>
              </a:rPr>
              <a:t>time at a time by the </a:t>
            </a:r>
            <a:r>
              <a:rPr lang="en-US" altLang="zh-CN" sz="2400" dirty="0" err="1" smtClean="0">
                <a:solidFill>
                  <a:srgbClr val="0070C0"/>
                </a:solidFill>
                <a:latin typeface="Times New Roman" pitchFamily="18" charset="0"/>
                <a:cs typeface="Times New Roman" pitchFamily="18" charset="0"/>
              </a:rPr>
              <a:t>tele</a:t>
            </a:r>
            <a:r>
              <a:rPr lang="en-US" altLang="zh-CN" sz="2400" dirty="0" smtClean="0">
                <a:solidFill>
                  <a:srgbClr val="0070C0"/>
                </a:solidFill>
                <a:latin typeface="Times New Roman" pitchFamily="18" charset="0"/>
                <a:cs typeface="Times New Roman" pitchFamily="18" charset="0"/>
              </a:rPr>
              <a:t>-command(absolute time</a:t>
            </a:r>
            <a:r>
              <a:rPr lang="en-US" altLang="zh-CN" sz="2400" dirty="0" smtClean="0">
                <a:solidFill>
                  <a:schemeClr val="tx1"/>
                </a:solidFill>
                <a:latin typeface="Times New Roman" pitchFamily="18" charset="0"/>
                <a:cs typeface="Times New Roman" pitchFamily="18" charset="0"/>
              </a:rPr>
              <a:t>) </a:t>
            </a:r>
          </a:p>
        </p:txBody>
      </p:sp>
      <p:sp>
        <p:nvSpPr>
          <p:cNvPr id="4"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15</a:t>
            </a:fld>
            <a:r>
              <a:rPr lang="zh-CN" altLang="en-US" smtClean="0"/>
              <a:t> </a:t>
            </a:r>
            <a:endParaRPr lang="zh-CN" altLang="en-US" dirty="0">
              <a:latin typeface="微软雅黑" pitchFamily="34" charset="-122"/>
              <a:ea typeface="微软雅黑" pitchFamily="34" charset="-122"/>
            </a:endParaRPr>
          </a:p>
        </p:txBody>
      </p:sp>
      <p:sp>
        <p:nvSpPr>
          <p:cNvPr id="6" name="标题 1"/>
          <p:cNvSpPr>
            <a:spLocks noGrp="1"/>
          </p:cNvSpPr>
          <p:nvPr>
            <p:ph type="title"/>
          </p:nvPr>
        </p:nvSpPr>
        <p:spPr>
          <a:xfrm>
            <a:off x="457200" y="274638"/>
            <a:ext cx="8229600" cy="725470"/>
          </a:xfrm>
        </p:spPr>
        <p:txBody>
          <a:bodyPr>
            <a:normAutofit/>
          </a:bodyPr>
          <a:lstStyle/>
          <a:p>
            <a:pPr lvl="0" algn="l"/>
            <a:r>
              <a:rPr lang="en-US" altLang="zh-CN" sz="3200" dirty="0" smtClean="0">
                <a:latin typeface="Times New Roman" pitchFamily="18" charset="0"/>
                <a:cs typeface="Times New Roman" pitchFamily="18" charset="0"/>
              </a:rPr>
              <a:t>3 Satellite </a:t>
            </a:r>
            <a:r>
              <a:rPr lang="en-US" altLang="zh-CN" sz="3200" dirty="0">
                <a:latin typeface="Times New Roman" pitchFamily="18" charset="0"/>
                <a:cs typeface="Times New Roman" pitchFamily="18" charset="0"/>
              </a:rPr>
              <a:t>TT&amp;C subsystem</a:t>
            </a:r>
            <a:endParaRPr lang="zh-CN" altLang="en-US" sz="3200" dirty="0">
              <a:solidFill>
                <a:srgbClr val="FFFF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7190384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sp>
        <p:nvSpPr>
          <p:cNvPr id="12" name="标题 2"/>
          <p:cNvSpPr>
            <a:spLocks noGrp="1"/>
          </p:cNvSpPr>
          <p:nvPr>
            <p:ph type="title"/>
          </p:nvPr>
        </p:nvSpPr>
        <p:spPr>
          <a:xfrm>
            <a:off x="457200" y="274638"/>
            <a:ext cx="8229600" cy="1143000"/>
          </a:xfrm>
        </p:spPr>
        <p:txBody>
          <a:bodyPr anchor="t">
            <a:normAutofit/>
          </a:bodyPr>
          <a:lstStyle/>
          <a:p>
            <a:pPr algn="l"/>
            <a:r>
              <a:rPr lang="en-US" altLang="zh-CN" sz="3200" dirty="0" smtClean="0"/>
              <a:t>Outlines</a:t>
            </a:r>
            <a:endParaRPr lang="zh-CN" altLang="en-US" sz="3200" dirty="0" smtClean="0"/>
          </a:p>
        </p:txBody>
      </p:sp>
      <p:pic>
        <p:nvPicPr>
          <p:cNvPr id="13" name="Picture 1" descr="D:\resources for ppt\sat5.jpg"/>
          <p:cNvPicPr>
            <a:picLocks noChangeAspect="1" noChangeArrowheads="1"/>
          </p:cNvPicPr>
          <p:nvPr/>
        </p:nvPicPr>
        <p:blipFill>
          <a:blip r:embed="rId4" cstate="email"/>
          <a:stretch>
            <a:fillRect/>
          </a:stretch>
        </p:blipFill>
        <p:spPr bwMode="auto">
          <a:xfrm>
            <a:off x="2389984" y="3589764"/>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3500438"/>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t>3   </a:t>
            </a:r>
            <a:r>
              <a:rPr lang="en-US" altLang="zh-CN" sz="2400" b="1" dirty="0" smtClean="0">
                <a:latin typeface="Times New Roman" pitchFamily="18" charset="0"/>
                <a:cs typeface="Times New Roman" pitchFamily="18" charset="0"/>
              </a:rPr>
              <a:t>Satellite TT&amp;C subsystem</a:t>
            </a:r>
            <a:endParaRPr lang="zh-CN" altLang="en-US" sz="2400" b="1" dirty="0" smtClean="0">
              <a:solidFill>
                <a:srgbClr val="FFFF00"/>
              </a:solidFill>
              <a:latin typeface="Times New Roman" pitchFamily="18" charset="0"/>
              <a:cs typeface="Times New Roman" pitchFamily="18" charset="0"/>
            </a:endParaRPr>
          </a:p>
        </p:txBody>
      </p:sp>
      <p:pic>
        <p:nvPicPr>
          <p:cNvPr id="16" name="Picture 1" descr="D:\resources for ppt\sat5.jpg"/>
          <p:cNvPicPr>
            <a:picLocks noChangeAspect="1" noChangeArrowheads="1"/>
          </p:cNvPicPr>
          <p:nvPr/>
        </p:nvPicPr>
        <p:blipFill>
          <a:blip r:embed="rId4" cstate="email"/>
          <a:stretch>
            <a:fillRect/>
          </a:stretch>
        </p:blipFill>
        <p:spPr bwMode="auto">
          <a:xfrm>
            <a:off x="2389984" y="2668236"/>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2571744"/>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cs typeface="Arial" pitchFamily="34" charset="0"/>
              </a:rPr>
              <a:t>2</a:t>
            </a:r>
            <a:r>
              <a:rPr lang="en-US" altLang="zh-CN" sz="2400" b="1" dirty="0" smtClean="0">
                <a:solidFill>
                  <a:schemeClr val="tx1"/>
                </a:solidFill>
                <a:latin typeface="Arial" pitchFamily="34" charset="0"/>
                <a:cs typeface="Arial" pitchFamily="34" charset="0"/>
              </a:rPr>
              <a:t>  </a:t>
            </a:r>
            <a:r>
              <a:rPr lang="en-US" altLang="zh-CN" sz="2400" b="1" dirty="0" smtClean="0">
                <a:solidFill>
                  <a:schemeClr val="tx1"/>
                </a:solidFill>
                <a:latin typeface="Times New Roman" pitchFamily="18" charset="0"/>
                <a:ea typeface="微软雅黑" pitchFamily="34" charset="-122"/>
                <a:cs typeface="Times New Roman" pitchFamily="18" charset="0"/>
              </a:rPr>
              <a:t>Task Requirement</a:t>
            </a:r>
            <a:endParaRPr lang="zh-CN" altLang="en-US" sz="2400" b="1" dirty="0">
              <a:solidFill>
                <a:schemeClr val="tx1"/>
              </a:solidFill>
              <a:latin typeface="Arial" pitchFamily="34" charset="0"/>
              <a:cs typeface="Arial" pitchFamily="34" charset="0"/>
            </a:endParaRPr>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16</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pic>
        <p:nvPicPr>
          <p:cNvPr id="20" name="Picture 1" descr="D:\resources for ppt\sat5.jpg"/>
          <p:cNvPicPr>
            <a:picLocks noChangeAspect="1" noChangeArrowheads="1"/>
          </p:cNvPicPr>
          <p:nvPr/>
        </p:nvPicPr>
        <p:blipFill>
          <a:blip r:embed="rId4" cstate="email"/>
          <a:stretch>
            <a:fillRect/>
          </a:stretch>
        </p:blipFill>
        <p:spPr bwMode="auto">
          <a:xfrm>
            <a:off x="2389984" y="5449269"/>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1" name="单圆角矩形 20"/>
          <p:cNvSpPr/>
          <p:nvPr/>
        </p:nvSpPr>
        <p:spPr>
          <a:xfrm>
            <a:off x="3036917" y="5359943"/>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5</a:t>
            </a:r>
            <a:r>
              <a:rPr lang="en-US" altLang="zh-CN" sz="2400" b="1" dirty="0" smtClean="0">
                <a:solidFill>
                  <a:schemeClr val="tx1"/>
                </a:solidFill>
                <a:latin typeface="微软雅黑" pitchFamily="34" charset="-122"/>
                <a:ea typeface="微软雅黑" pitchFamily="34" charset="-122"/>
              </a:rPr>
              <a:t>  </a:t>
            </a:r>
            <a:r>
              <a:rPr lang="en-US" altLang="zh-CN" sz="2400" b="1" dirty="0" smtClean="0">
                <a:latin typeface="Times New Roman" pitchFamily="18" charset="0"/>
                <a:cs typeface="Times New Roman" pitchFamily="18" charset="0"/>
              </a:rPr>
              <a:t>Rule of Sending TC and Data Block</a:t>
            </a:r>
            <a:endParaRPr lang="zh-CN" altLang="en-US" sz="2400" b="1" dirty="0" smtClean="0">
              <a:solidFill>
                <a:srgbClr val="FFFF00"/>
              </a:solidFill>
              <a:latin typeface="Times New Roman" pitchFamily="18" charset="0"/>
              <a:cs typeface="Times New Roman" pitchFamily="18" charset="0"/>
            </a:endParaRPr>
          </a:p>
        </p:txBody>
      </p:sp>
      <p:pic>
        <p:nvPicPr>
          <p:cNvPr id="22" name="Picture 1" descr="D:\resources for ppt\sat5.jpg"/>
          <p:cNvPicPr>
            <a:picLocks noChangeAspect="1" noChangeArrowheads="1"/>
          </p:cNvPicPr>
          <p:nvPr/>
        </p:nvPicPr>
        <p:blipFill>
          <a:blip r:embed="rId4" cstate="email"/>
          <a:stretch>
            <a:fillRect/>
          </a:stretch>
        </p:blipFill>
        <p:spPr bwMode="auto">
          <a:xfrm>
            <a:off x="2377256" y="173954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3" name="单圆角矩形 22"/>
          <p:cNvSpPr/>
          <p:nvPr/>
        </p:nvSpPr>
        <p:spPr>
          <a:xfrm>
            <a:off x="3024189" y="1643050"/>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ea typeface="Arial Unicode MS" pitchFamily="34" charset="-122"/>
                <a:cs typeface="Arial Unicode MS" pitchFamily="34" charset="-122"/>
              </a:rPr>
              <a:t>1</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latin typeface="Arial" pitchFamily="34" charset="0"/>
                <a:cs typeface="Arial" pitchFamily="34" charset="0"/>
              </a:rPr>
              <a:t>Introduction</a:t>
            </a:r>
            <a:endParaRPr lang="zh-CN" altLang="en-US" sz="2400" b="1" dirty="0" smtClean="0">
              <a:solidFill>
                <a:schemeClr val="tx1"/>
              </a:solidFill>
              <a:latin typeface="Arial" pitchFamily="34" charset="0"/>
              <a:cs typeface="Arial" pitchFamily="34" charset="0"/>
            </a:endParaRPr>
          </a:p>
        </p:txBody>
      </p:sp>
      <p:pic>
        <p:nvPicPr>
          <p:cNvPr id="26" name="Picture 2" descr="D:\resources for ppt\sino6_W020100905714056942648.jpg"/>
          <p:cNvPicPr>
            <a:picLocks noChangeAspect="1" noChangeArrowheads="1"/>
          </p:cNvPicPr>
          <p:nvPr/>
        </p:nvPicPr>
        <p:blipFill>
          <a:blip r:embed="rId5" cstate="email"/>
          <a:stretch>
            <a:fillRect/>
          </a:stretch>
        </p:blipFill>
        <p:spPr bwMode="auto">
          <a:xfrm>
            <a:off x="2357681" y="4473202"/>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7" name="单圆角矩形 26"/>
          <p:cNvSpPr/>
          <p:nvPr/>
        </p:nvSpPr>
        <p:spPr>
          <a:xfrm>
            <a:off x="3000364" y="4424002"/>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r>
              <a:rPr lang="en-US" altLang="zh-CN" sz="2400" b="1" dirty="0" smtClean="0"/>
              <a:t>4   </a:t>
            </a:r>
            <a:r>
              <a:rPr lang="en-US" altLang="zh-CN" sz="2400" b="1" dirty="0" smtClean="0">
                <a:latin typeface="Times New Roman" pitchFamily="18" charset="0"/>
                <a:cs typeface="Times New Roman" pitchFamily="18" charset="0"/>
              </a:rPr>
              <a:t>Interface with the Ground TT&amp;C</a:t>
            </a:r>
            <a:endParaRPr lang="zh-CN" altLang="en-US" sz="2400" b="1" dirty="0" smtClean="0">
              <a:solidFill>
                <a:srgbClr val="FFFF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00034" y="214290"/>
            <a:ext cx="8229600" cy="928694"/>
          </a:xfrm>
        </p:spPr>
        <p:txBody>
          <a:bodyPr>
            <a:noAutofit/>
          </a:bodyPr>
          <a:lstStyle/>
          <a:p>
            <a:pPr algn="l"/>
            <a:r>
              <a:rPr lang="en-US" sz="3200" cap="all" dirty="0" smtClean="0"/>
              <a:t>4</a:t>
            </a:r>
            <a:r>
              <a:rPr lang="en-US" altLang="zh-CN" sz="3200" dirty="0"/>
              <a:t> Interface with the Ground TT&amp;C</a:t>
            </a:r>
            <a:endParaRPr lang="zh-CN" altLang="en-US" sz="3200" dirty="0"/>
          </a:p>
        </p:txBody>
      </p:sp>
      <p:graphicFrame>
        <p:nvGraphicFramePr>
          <p:cNvPr id="8" name="表格 7"/>
          <p:cNvGraphicFramePr>
            <a:graphicFrameLocks noGrp="1"/>
          </p:cNvGraphicFramePr>
          <p:nvPr>
            <p:extLst>
              <p:ext uri="{D42A27DB-BD31-4B8C-83A1-F6EECF244321}">
                <p14:modId xmlns:p14="http://schemas.microsoft.com/office/powerpoint/2010/main" xmlns="" val="4043601515"/>
              </p:ext>
            </p:extLst>
          </p:nvPr>
        </p:nvGraphicFramePr>
        <p:xfrm>
          <a:off x="571472" y="1841117"/>
          <a:ext cx="7960398" cy="3945337"/>
        </p:xfrm>
        <a:graphic>
          <a:graphicData uri="http://schemas.openxmlformats.org/drawingml/2006/table">
            <a:tbl>
              <a:tblPr firstRow="1" bandRow="1">
                <a:tableStyleId>{5C22544A-7EE6-4342-B048-85BDC9FD1C3A}</a:tableStyleId>
              </a:tblPr>
              <a:tblGrid>
                <a:gridCol w="4245622"/>
                <a:gridCol w="3714776"/>
              </a:tblGrid>
              <a:tr h="379849">
                <a:tc gridSpan="2">
                  <a:txBody>
                    <a:bodyPr/>
                    <a:lstStyle/>
                    <a:p>
                      <a:r>
                        <a:rPr lang="x-none" sz="2000" b="1" dirty="0" smtClean="0">
                          <a:latin typeface="Times New Roman" pitchFamily="18" charset="0"/>
                          <a:cs typeface="Times New Roman" pitchFamily="18" charset="0"/>
                        </a:rPr>
                        <a:t>RF Channel</a:t>
                      </a:r>
                      <a:endParaRPr lang="zh-CN" altLang="en-US" sz="2000" b="1" dirty="0" smtClean="0">
                        <a:latin typeface="Times New Roman" pitchFamily="18" charset="0"/>
                        <a:cs typeface="Times New Roman" pitchFamily="18" charset="0"/>
                      </a:endParaRPr>
                    </a:p>
                  </a:txBody>
                  <a:tcPr anchor="ctr" anchorCtr="1"/>
                </a:tc>
                <a:tc hMerge="1">
                  <a:txBody>
                    <a:bodyPr/>
                    <a:lstStyle/>
                    <a:p>
                      <a:endParaRPr lang="zh-CN" altLang="en-US" dirty="0"/>
                    </a:p>
                  </a:txBody>
                  <a:tcPr/>
                </a:tc>
              </a:tr>
              <a:tr h="379849">
                <a:tc>
                  <a:txBody>
                    <a:bodyPr/>
                    <a:lstStyle/>
                    <a:p>
                      <a:r>
                        <a:rPr lang="en-US" altLang="zh-CN" sz="2000" b="1" dirty="0" smtClean="0">
                          <a:latin typeface="Times New Roman" pitchFamily="18" charset="0"/>
                          <a:cs typeface="Times New Roman" pitchFamily="18" charset="0"/>
                        </a:rPr>
                        <a:t>Item</a:t>
                      </a:r>
                      <a:endParaRPr lang="zh-CN" altLang="en-US" sz="2000" b="1" dirty="0">
                        <a:latin typeface="Times New Roman" pitchFamily="18" charset="0"/>
                        <a:cs typeface="Times New Roman" pitchFamily="18" charset="0"/>
                      </a:endParaRPr>
                    </a:p>
                  </a:txBody>
                  <a:tcPr anchor="ctr" anchorCtr="1"/>
                </a:tc>
                <a:tc>
                  <a:txBody>
                    <a:bodyPr/>
                    <a:lstStyle/>
                    <a:p>
                      <a:r>
                        <a:rPr lang="en-US" altLang="zh-CN" sz="2000" b="1" dirty="0" smtClean="0">
                          <a:latin typeface="Times New Roman" pitchFamily="18" charset="0"/>
                          <a:cs typeface="Times New Roman" pitchFamily="18" charset="0"/>
                        </a:rPr>
                        <a:t>Index</a:t>
                      </a:r>
                      <a:endParaRPr lang="zh-CN" altLang="en-US" sz="2000" b="1" dirty="0">
                        <a:latin typeface="Times New Roman" pitchFamily="18" charset="0"/>
                        <a:cs typeface="Times New Roman" pitchFamily="18" charset="0"/>
                      </a:endParaRPr>
                    </a:p>
                  </a:txBody>
                  <a:tcPr anchor="ctr" anchorCtr="1"/>
                </a:tc>
              </a:tr>
              <a:tr h="67204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kern="1200" dirty="0" smtClean="0">
                          <a:solidFill>
                            <a:schemeClr val="dk1"/>
                          </a:solidFill>
                          <a:latin typeface="Times New Roman" pitchFamily="18" charset="0"/>
                          <a:ea typeface="+mn-ea"/>
                          <a:cs typeface="Times New Roman" pitchFamily="18" charset="0"/>
                        </a:rPr>
                        <a:t>Carrier frequency </a:t>
                      </a: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kern="1200" dirty="0" smtClean="0">
                          <a:solidFill>
                            <a:schemeClr val="dk1"/>
                          </a:solidFill>
                          <a:latin typeface="Times New Roman" pitchFamily="18" charset="0"/>
                          <a:ea typeface="+mn-ea"/>
                          <a:cs typeface="Times New Roman" pitchFamily="18" charset="0"/>
                        </a:rPr>
                        <a:t>to be continued </a:t>
                      </a:r>
                      <a:r>
                        <a:rPr lang="en-US" altLang="zh-CN" sz="2000" b="1" kern="1200" dirty="0" smtClean="0">
                          <a:solidFill>
                            <a:schemeClr val="dk1"/>
                          </a:solidFill>
                          <a:latin typeface="Times New Roman" pitchFamily="18" charset="0"/>
                          <a:ea typeface="+mn-ea"/>
                          <a:cs typeface="Times New Roman" pitchFamily="18" charset="0"/>
                        </a:rPr>
                        <a:t> (</a:t>
                      </a:r>
                      <a:r>
                        <a:rPr lang="zh-CN" altLang="en-US" sz="2000" b="1" kern="1200" dirty="0" smtClean="0">
                          <a:solidFill>
                            <a:schemeClr val="dk1"/>
                          </a:solidFill>
                          <a:latin typeface="Times New Roman" pitchFamily="18" charset="0"/>
                          <a:ea typeface="+mn-ea"/>
                          <a:cs typeface="Times New Roman" pitchFamily="18" charset="0"/>
                        </a:rPr>
                        <a:t>上行</a:t>
                      </a:r>
                      <a:r>
                        <a:rPr lang="en-US" altLang="zh-CN" sz="2000" b="1" kern="1200" dirty="0" smtClean="0">
                          <a:solidFill>
                            <a:schemeClr val="dk1"/>
                          </a:solidFill>
                          <a:latin typeface="Times New Roman" pitchFamily="18" charset="0"/>
                          <a:ea typeface="+mn-ea"/>
                          <a:cs typeface="Times New Roman" pitchFamily="18"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b="1" kern="1200" dirty="0" smtClean="0">
                          <a:solidFill>
                            <a:schemeClr val="dk1"/>
                          </a:solidFill>
                          <a:latin typeface="Times New Roman" pitchFamily="18" charset="0"/>
                          <a:ea typeface="+mn-ea"/>
                          <a:cs typeface="Times New Roman" pitchFamily="18" charset="0"/>
                        </a:rPr>
                        <a:t>to be continued </a:t>
                      </a:r>
                      <a:r>
                        <a:rPr lang="en-US" altLang="zh-CN" sz="2000" b="1" kern="1200" dirty="0" smtClean="0">
                          <a:solidFill>
                            <a:schemeClr val="dk1"/>
                          </a:solidFill>
                          <a:latin typeface="Times New Roman" pitchFamily="18" charset="0"/>
                          <a:ea typeface="+mn-ea"/>
                          <a:cs typeface="Times New Roman" pitchFamily="18" charset="0"/>
                        </a:rPr>
                        <a:t>(</a:t>
                      </a:r>
                      <a:r>
                        <a:rPr lang="zh-CN" altLang="en-US" sz="2000" b="1" kern="1200" dirty="0" smtClean="0">
                          <a:solidFill>
                            <a:schemeClr val="dk1"/>
                          </a:solidFill>
                          <a:latin typeface="Times New Roman" pitchFamily="18" charset="0"/>
                          <a:ea typeface="+mn-ea"/>
                          <a:cs typeface="Times New Roman" pitchFamily="18" charset="0"/>
                        </a:rPr>
                        <a:t>下行</a:t>
                      </a:r>
                      <a:r>
                        <a:rPr lang="en-US" altLang="zh-CN" sz="2000" b="1" kern="1200" dirty="0" smtClean="0">
                          <a:solidFill>
                            <a:schemeClr val="dk1"/>
                          </a:solidFill>
                          <a:latin typeface="Times New Roman" pitchFamily="18" charset="0"/>
                          <a:ea typeface="+mn-ea"/>
                          <a:cs typeface="Times New Roman" pitchFamily="18" charset="0"/>
                        </a:rPr>
                        <a:t>)</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r h="3798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EIRP of ground station </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≥4</a:t>
                      </a:r>
                      <a:r>
                        <a:rPr lang="en-US" sz="2000" b="1" kern="1200" dirty="0" smtClean="0">
                          <a:solidFill>
                            <a:schemeClr val="dk1"/>
                          </a:solidFill>
                          <a:latin typeface="Times New Roman" pitchFamily="18" charset="0"/>
                          <a:ea typeface="+mn-ea"/>
                          <a:cs typeface="Times New Roman" pitchFamily="18" charset="0"/>
                        </a:rPr>
                        <a:t>7.95</a:t>
                      </a:r>
                      <a:r>
                        <a:rPr lang="x-none" sz="2000" b="1" kern="1200" dirty="0" smtClean="0">
                          <a:solidFill>
                            <a:schemeClr val="dk1"/>
                          </a:solidFill>
                          <a:latin typeface="Times New Roman" pitchFamily="18" charset="0"/>
                          <a:ea typeface="+mn-ea"/>
                          <a:cs typeface="Times New Roman" pitchFamily="18" charset="0"/>
                        </a:rPr>
                        <a:t>dBW</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r h="3798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EIRP of satellite</a:t>
                      </a:r>
                      <a:r>
                        <a:rPr lang="en-US" sz="2000" b="1" kern="1200" dirty="0" smtClean="0">
                          <a:solidFill>
                            <a:schemeClr val="dk1"/>
                          </a:solidFill>
                          <a:latin typeface="Times New Roman" pitchFamily="18" charset="0"/>
                          <a:ea typeface="+mn-ea"/>
                          <a:cs typeface="Times New Roman" pitchFamily="18" charset="0"/>
                        </a:rPr>
                        <a:t> </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 </a:t>
                      </a:r>
                      <a:r>
                        <a:rPr lang="en-US" sz="2000" b="1" kern="1200" dirty="0" smtClean="0">
                          <a:solidFill>
                            <a:schemeClr val="dk1"/>
                          </a:solidFill>
                          <a:latin typeface="Times New Roman" pitchFamily="18" charset="0"/>
                          <a:ea typeface="+mn-ea"/>
                          <a:cs typeface="Times New Roman" pitchFamily="18" charset="0"/>
                        </a:rPr>
                        <a:t>-13.01</a:t>
                      </a:r>
                      <a:r>
                        <a:rPr lang="x-none" sz="2000" b="1" kern="1200" dirty="0" smtClean="0">
                          <a:solidFill>
                            <a:schemeClr val="dk1"/>
                          </a:solidFill>
                          <a:latin typeface="Times New Roman" pitchFamily="18" charset="0"/>
                          <a:ea typeface="+mn-ea"/>
                          <a:cs typeface="Times New Roman" pitchFamily="18" charset="0"/>
                        </a:rPr>
                        <a:t>dB</a:t>
                      </a:r>
                      <a:r>
                        <a:rPr lang="en-US" sz="2000" b="1" kern="1200" dirty="0" smtClean="0">
                          <a:solidFill>
                            <a:schemeClr val="dk1"/>
                          </a:solidFill>
                          <a:latin typeface="Times New Roman" pitchFamily="18" charset="0"/>
                          <a:ea typeface="+mn-ea"/>
                          <a:cs typeface="Times New Roman" pitchFamily="18" charset="0"/>
                        </a:rPr>
                        <a:t>W</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r h="3798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G/T of ground station</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a:t>
                      </a:r>
                      <a:r>
                        <a:rPr lang="en-US" sz="2000" b="1" kern="1200" dirty="0" smtClean="0">
                          <a:solidFill>
                            <a:schemeClr val="dk1"/>
                          </a:solidFill>
                          <a:latin typeface="Times New Roman" pitchFamily="18" charset="0"/>
                          <a:ea typeface="+mn-ea"/>
                          <a:cs typeface="Times New Roman" pitchFamily="18" charset="0"/>
                        </a:rPr>
                        <a:t>13</a:t>
                      </a:r>
                      <a:r>
                        <a:rPr lang="x-none" sz="2000" b="1" kern="1200" dirty="0" smtClean="0">
                          <a:solidFill>
                            <a:schemeClr val="dk1"/>
                          </a:solidFill>
                          <a:latin typeface="Times New Roman" pitchFamily="18" charset="0"/>
                          <a:ea typeface="+mn-ea"/>
                          <a:cs typeface="Times New Roman" pitchFamily="18" charset="0"/>
                        </a:rPr>
                        <a:t>.</a:t>
                      </a:r>
                      <a:r>
                        <a:rPr lang="en-US" sz="2000" b="1" kern="1200" dirty="0" smtClean="0">
                          <a:solidFill>
                            <a:schemeClr val="dk1"/>
                          </a:solidFill>
                          <a:latin typeface="Times New Roman" pitchFamily="18" charset="0"/>
                          <a:ea typeface="+mn-ea"/>
                          <a:cs typeface="Times New Roman" pitchFamily="18" charset="0"/>
                        </a:rPr>
                        <a:t>4</a:t>
                      </a:r>
                      <a:r>
                        <a:rPr lang="x-none" sz="2000" b="1" kern="1200" dirty="0" smtClean="0">
                          <a:solidFill>
                            <a:schemeClr val="dk1"/>
                          </a:solidFill>
                          <a:latin typeface="Times New Roman" pitchFamily="18" charset="0"/>
                          <a:ea typeface="+mn-ea"/>
                          <a:cs typeface="Times New Roman" pitchFamily="18" charset="0"/>
                        </a:rPr>
                        <a:t>5 dB/K</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r h="3798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G/T of satellite </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a:t>
                      </a:r>
                      <a:r>
                        <a:rPr lang="en-US" sz="2000" b="1" kern="1200" dirty="0" smtClean="0">
                          <a:solidFill>
                            <a:schemeClr val="dk1"/>
                          </a:solidFill>
                          <a:latin typeface="Times New Roman" pitchFamily="18" charset="0"/>
                          <a:ea typeface="+mn-ea"/>
                          <a:cs typeface="Times New Roman" pitchFamily="18" charset="0"/>
                        </a:rPr>
                        <a:t>38.33</a:t>
                      </a:r>
                      <a:r>
                        <a:rPr lang="x-none" sz="2000" b="1" kern="1200" dirty="0" smtClean="0">
                          <a:solidFill>
                            <a:schemeClr val="dk1"/>
                          </a:solidFill>
                          <a:latin typeface="Times New Roman" pitchFamily="18" charset="0"/>
                          <a:ea typeface="+mn-ea"/>
                          <a:cs typeface="Times New Roman" pitchFamily="18" charset="0"/>
                        </a:rPr>
                        <a:t> dB/K</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r h="37984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Acquisition </a:t>
                      </a:r>
                      <a:r>
                        <a:rPr lang="en-US" sz="2000" b="1" kern="1200" dirty="0" smtClean="0">
                          <a:solidFill>
                            <a:schemeClr val="dk1"/>
                          </a:solidFill>
                          <a:latin typeface="Times New Roman" pitchFamily="18" charset="0"/>
                          <a:ea typeface="+mn-ea"/>
                          <a:cs typeface="Times New Roman" pitchFamily="18" charset="0"/>
                        </a:rPr>
                        <a:t>sensitivity</a:t>
                      </a:r>
                      <a:r>
                        <a:rPr lang="x-none" sz="2000" b="1" kern="1200" dirty="0" smtClean="0">
                          <a:solidFill>
                            <a:schemeClr val="dk1"/>
                          </a:solidFill>
                          <a:latin typeface="Times New Roman" pitchFamily="18" charset="0"/>
                          <a:ea typeface="+mn-ea"/>
                          <a:cs typeface="Times New Roman" pitchFamily="18" charset="0"/>
                        </a:rPr>
                        <a:t> of satellite</a:t>
                      </a:r>
                      <a:r>
                        <a:rPr lang="en-US" sz="2000" b="1" kern="1200" dirty="0" smtClean="0">
                          <a:solidFill>
                            <a:schemeClr val="dk1"/>
                          </a:solidFill>
                          <a:latin typeface="Times New Roman" pitchFamily="18" charset="0"/>
                          <a:ea typeface="+mn-ea"/>
                          <a:cs typeface="Times New Roman" pitchFamily="18" charset="0"/>
                        </a:rPr>
                        <a:t> </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x-none" sz="2000" b="1" kern="1200" dirty="0" smtClean="0">
                          <a:solidFill>
                            <a:schemeClr val="dk1"/>
                          </a:solidFill>
                          <a:latin typeface="Times New Roman" pitchFamily="18" charset="0"/>
                          <a:ea typeface="+mn-ea"/>
                          <a:cs typeface="Times New Roman" pitchFamily="18" charset="0"/>
                        </a:rPr>
                        <a:t>≥-1</a:t>
                      </a:r>
                      <a:r>
                        <a:rPr lang="en-US" sz="2000" b="1" kern="1200" dirty="0" smtClean="0">
                          <a:solidFill>
                            <a:schemeClr val="dk1"/>
                          </a:solidFill>
                          <a:latin typeface="Times New Roman" pitchFamily="18" charset="0"/>
                          <a:ea typeface="+mn-ea"/>
                          <a:cs typeface="Times New Roman" pitchFamily="18" charset="0"/>
                        </a:rPr>
                        <a:t>06</a:t>
                      </a:r>
                      <a:r>
                        <a:rPr lang="x-none" sz="2000" b="1" kern="1200" dirty="0" smtClean="0">
                          <a:solidFill>
                            <a:schemeClr val="dk1"/>
                          </a:solidFill>
                          <a:latin typeface="Times New Roman" pitchFamily="18" charset="0"/>
                          <a:ea typeface="+mn-ea"/>
                          <a:cs typeface="Times New Roman" pitchFamily="18" charset="0"/>
                        </a:rPr>
                        <a:t> dBm（32 </a:t>
                      </a:r>
                      <a:r>
                        <a:rPr lang="en-US" sz="2000" b="1" kern="1200" dirty="0" smtClean="0">
                          <a:solidFill>
                            <a:schemeClr val="dk1"/>
                          </a:solidFill>
                          <a:latin typeface="Times New Roman" pitchFamily="18" charset="0"/>
                          <a:ea typeface="+mn-ea"/>
                          <a:cs typeface="Times New Roman" pitchFamily="18" charset="0"/>
                        </a:rPr>
                        <a:t>k</a:t>
                      </a:r>
                      <a:r>
                        <a:rPr lang="x-none" sz="2000" b="1" kern="1200" dirty="0" smtClean="0">
                          <a:solidFill>
                            <a:schemeClr val="dk1"/>
                          </a:solidFill>
                          <a:latin typeface="Times New Roman" pitchFamily="18" charset="0"/>
                          <a:ea typeface="+mn-ea"/>
                          <a:cs typeface="Times New Roman" pitchFamily="18" charset="0"/>
                        </a:rPr>
                        <a:t>Hz/s）</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r h="47061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kern="1200" dirty="0" smtClean="0">
                          <a:solidFill>
                            <a:schemeClr val="dk1"/>
                          </a:solidFill>
                          <a:latin typeface="Times New Roman" pitchFamily="18" charset="0"/>
                          <a:ea typeface="+mn-ea"/>
                          <a:cs typeface="Times New Roman" pitchFamily="18" charset="0"/>
                        </a:rPr>
                        <a:t>Antenna polarization</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kern="1200" dirty="0" smtClean="0">
                          <a:solidFill>
                            <a:schemeClr val="dk1"/>
                          </a:solidFill>
                          <a:latin typeface="Times New Roman" pitchFamily="18" charset="0"/>
                          <a:ea typeface="+mn-ea"/>
                          <a:cs typeface="Times New Roman" pitchFamily="18" charset="0"/>
                        </a:rPr>
                        <a:t>LHCP</a:t>
                      </a:r>
                      <a:endParaRPr lang="zh-CN" altLang="en-US" sz="2000" b="1" kern="1200" dirty="0">
                        <a:solidFill>
                          <a:schemeClr val="dk1"/>
                        </a:solidFill>
                        <a:latin typeface="Times New Roman" pitchFamily="18" charset="0"/>
                        <a:ea typeface="+mn-ea"/>
                        <a:cs typeface="Times New Roman" pitchFamily="18" charset="0"/>
                      </a:endParaRPr>
                    </a:p>
                  </a:txBody>
                  <a:tcPr anchor="ctr" anchorCtr="1"/>
                </a:tc>
              </a:tr>
            </a:tbl>
          </a:graphicData>
        </a:graphic>
      </p:graphicFrame>
      <p:sp>
        <p:nvSpPr>
          <p:cNvPr id="9"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10"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17</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extLst>
              <p:ext uri="{D42A27DB-BD31-4B8C-83A1-F6EECF244321}">
                <p14:modId xmlns:p14="http://schemas.microsoft.com/office/powerpoint/2010/main" xmlns="" val="2901123964"/>
              </p:ext>
            </p:extLst>
          </p:nvPr>
        </p:nvGraphicFramePr>
        <p:xfrm>
          <a:off x="395537" y="1840836"/>
          <a:ext cx="8352927" cy="3874180"/>
        </p:xfrm>
        <a:graphic>
          <a:graphicData uri="http://schemas.openxmlformats.org/drawingml/2006/table">
            <a:tbl>
              <a:tblPr firstRow="1" bandRow="1">
                <a:tableStyleId>{5C22544A-7EE6-4342-B048-85BDC9FD1C3A}</a:tableStyleId>
              </a:tblPr>
              <a:tblGrid>
                <a:gridCol w="3141926"/>
                <a:gridCol w="2223458"/>
                <a:gridCol w="2987543"/>
              </a:tblGrid>
              <a:tr h="4974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smtClean="0">
                          <a:solidFill>
                            <a:schemeClr val="bg1"/>
                          </a:solidFill>
                          <a:latin typeface="Times New Roman" pitchFamily="18" charset="0"/>
                          <a:cs typeface="Times New Roman" pitchFamily="18" charset="0"/>
                        </a:rPr>
                        <a:t>Item</a:t>
                      </a:r>
                      <a:endParaRPr lang="zh-CN" altLang="en-US" sz="2000" b="1" dirty="0" smtClean="0">
                        <a:solidFill>
                          <a:schemeClr val="bg1"/>
                        </a:solidFill>
                        <a:latin typeface="Times New Roman" pitchFamily="18" charset="0"/>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1800" b="1" dirty="0" smtClean="0">
                          <a:solidFill>
                            <a:schemeClr val="bg1"/>
                          </a:solidFill>
                          <a:latin typeface="Times New Roman" pitchFamily="18" charset="0"/>
                          <a:cs typeface="Times New Roman" pitchFamily="18" charset="0"/>
                        </a:rPr>
                        <a:t>Tele-Command</a:t>
                      </a:r>
                      <a:endParaRPr lang="zh-CN" altLang="en-US" dirty="0"/>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1800" b="1" dirty="0" smtClean="0">
                          <a:solidFill>
                            <a:schemeClr val="bg1"/>
                          </a:solidFill>
                          <a:latin typeface="Times New Roman" pitchFamily="18" charset="0"/>
                          <a:cs typeface="Times New Roman" pitchFamily="18" charset="0"/>
                        </a:rPr>
                        <a:t>Telemetry</a:t>
                      </a:r>
                      <a:endParaRPr lang="zh-CN" altLang="en-US" dirty="0"/>
                    </a:p>
                  </a:txBody>
                  <a:tcPr anchor="ctr" anchorCtr="1"/>
                </a:tc>
              </a:tr>
              <a:tr h="4716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Modulation</a:t>
                      </a:r>
                      <a:endParaRPr lang="zh-CN" altLang="en-US" sz="2000" b="1" dirty="0">
                        <a:solidFill>
                          <a:schemeClr val="tx1"/>
                        </a:solidFill>
                        <a:latin typeface="Times New Roman" pitchFamily="18" charset="0"/>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smtClean="0">
                          <a:solidFill>
                            <a:schemeClr val="tx1"/>
                          </a:solidFill>
                          <a:latin typeface="Times New Roman" pitchFamily="18" charset="0"/>
                          <a:cs typeface="Times New Roman" pitchFamily="18" charset="0"/>
                        </a:rPr>
                        <a:t>PCM/</a:t>
                      </a:r>
                      <a:r>
                        <a:rPr lang="en-US" altLang="zh-CN" sz="2000" b="1" dirty="0" smtClean="0">
                          <a:solidFill>
                            <a:schemeClr val="tx1"/>
                          </a:solidFill>
                          <a:latin typeface="Times New Roman" pitchFamily="18" charset="0"/>
                          <a:cs typeface="Times New Roman" pitchFamily="18" charset="0"/>
                        </a:rPr>
                        <a:t>B</a:t>
                      </a:r>
                      <a:r>
                        <a:rPr lang="x-none" altLang="zh-CN" sz="2000" b="1" smtClean="0">
                          <a:solidFill>
                            <a:schemeClr val="tx1"/>
                          </a:solidFill>
                          <a:latin typeface="Times New Roman" pitchFamily="18" charset="0"/>
                          <a:cs typeface="Times New Roman" pitchFamily="18" charset="0"/>
                        </a:rPr>
                        <a:t>PSK/PM</a:t>
                      </a:r>
                      <a:endParaRPr lang="zh-CN" altLang="en-US" sz="2000" b="1" dirty="0">
                        <a:solidFill>
                          <a:schemeClr val="tx1"/>
                        </a:solidFill>
                        <a:latin typeface="Times New Roman" pitchFamily="18" charset="0"/>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smtClean="0">
                          <a:latin typeface="Times New Roman" pitchFamily="18" charset="0"/>
                          <a:cs typeface="Times New Roman" pitchFamily="18" charset="0"/>
                        </a:rPr>
                        <a:t>PCM/</a:t>
                      </a:r>
                      <a:r>
                        <a:rPr lang="en-US" altLang="zh-CN" sz="2000" b="1" dirty="0" smtClean="0">
                          <a:latin typeface="Times New Roman" pitchFamily="18" charset="0"/>
                          <a:cs typeface="Times New Roman" pitchFamily="18" charset="0"/>
                        </a:rPr>
                        <a:t>B</a:t>
                      </a:r>
                      <a:r>
                        <a:rPr lang="x-none" altLang="zh-CN" sz="2000" b="1" smtClean="0">
                          <a:latin typeface="Times New Roman" pitchFamily="18" charset="0"/>
                          <a:cs typeface="Times New Roman" pitchFamily="18" charset="0"/>
                        </a:rPr>
                        <a:t>PSK/PM</a:t>
                      </a:r>
                      <a:endParaRPr lang="zh-CN" altLang="en-US" sz="2000" b="1" dirty="0">
                        <a:solidFill>
                          <a:schemeClr val="tx1"/>
                        </a:solidFill>
                        <a:latin typeface="Times New Roman" pitchFamily="18" charset="0"/>
                        <a:cs typeface="Times New Roman" pitchFamily="18" charset="0"/>
                      </a:endParaRPr>
                    </a:p>
                  </a:txBody>
                  <a:tcPr anchor="ctr" anchorCtr="1"/>
                </a:tc>
              </a:tr>
              <a:tr h="56636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2000" b="1" dirty="0" smtClean="0">
                          <a:solidFill>
                            <a:schemeClr val="tx1"/>
                          </a:solidFill>
                          <a:latin typeface="Times New Roman" pitchFamily="18" charset="0"/>
                          <a:cs typeface="Times New Roman" pitchFamily="18" charset="0"/>
                        </a:rPr>
                        <a:t>S</a:t>
                      </a:r>
                      <a:r>
                        <a:rPr lang="x-none" altLang="zh-CN" sz="2000" b="1" dirty="0" smtClean="0">
                          <a:solidFill>
                            <a:schemeClr val="tx1"/>
                          </a:solidFill>
                          <a:latin typeface="Times New Roman" pitchFamily="18" charset="0"/>
                          <a:cs typeface="Times New Roman" pitchFamily="18" charset="0"/>
                        </a:rPr>
                        <a:t>ub-carrier frequency</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8 kHz</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rgbClr val="FF0000"/>
                          </a:solidFill>
                          <a:latin typeface="Times New Roman" pitchFamily="18" charset="0"/>
                          <a:cs typeface="Times New Roman" pitchFamily="18" charset="0"/>
                        </a:rPr>
                        <a:t> </a:t>
                      </a:r>
                      <a:r>
                        <a:rPr lang="x-none" altLang="zh-CN" sz="2000" b="1" dirty="0" smtClean="0">
                          <a:latin typeface="Times New Roman" pitchFamily="18" charset="0"/>
                          <a:cs typeface="Times New Roman" pitchFamily="18" charset="0"/>
                        </a:rPr>
                        <a:t>65.536 kHz </a:t>
                      </a:r>
                      <a:endParaRPr lang="zh-CN" altLang="en-US" sz="2000" b="1" dirty="0" smtClean="0">
                        <a:latin typeface="Times New Roman" pitchFamily="18" charset="0"/>
                        <a:cs typeface="Times New Roman" pitchFamily="18" charset="0"/>
                      </a:endParaRPr>
                    </a:p>
                  </a:txBody>
                  <a:tcPr anchor="ctr" anchorCtr="1"/>
                </a:tc>
              </a:tr>
              <a:tr h="599934">
                <a:tc>
                  <a:txBody>
                    <a:bodyPr/>
                    <a:lstStyle/>
                    <a:p>
                      <a:pPr lvl="0"/>
                      <a:r>
                        <a:rPr lang="en-US" altLang="zh-CN" sz="2000" b="1" dirty="0" smtClean="0">
                          <a:solidFill>
                            <a:schemeClr val="tx1"/>
                          </a:solidFill>
                          <a:latin typeface="Times New Roman" pitchFamily="18" charset="0"/>
                          <a:cs typeface="Times New Roman" pitchFamily="18" charset="0"/>
                        </a:rPr>
                        <a:t>Bit </a:t>
                      </a:r>
                      <a:r>
                        <a:rPr lang="x-none" altLang="zh-CN" sz="2000" b="1" dirty="0" smtClean="0">
                          <a:solidFill>
                            <a:schemeClr val="tx1"/>
                          </a:solidFill>
                          <a:latin typeface="Times New Roman" pitchFamily="18" charset="0"/>
                          <a:cs typeface="Times New Roman" pitchFamily="18" charset="0"/>
                        </a:rPr>
                        <a:t>rate</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2000 bps</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smtClean="0">
                          <a:latin typeface="Times New Roman" pitchFamily="18" charset="0"/>
                          <a:cs typeface="Times New Roman" pitchFamily="18" charset="0"/>
                        </a:rPr>
                        <a:t>4096 </a:t>
                      </a:r>
                      <a:r>
                        <a:rPr lang="en-US" altLang="zh-CN" sz="2000" b="1" kern="1200" dirty="0" smtClean="0">
                          <a:solidFill>
                            <a:schemeClr val="tx1"/>
                          </a:solidFill>
                          <a:latin typeface="Times New Roman" pitchFamily="18" charset="0"/>
                          <a:ea typeface="+mn-ea"/>
                          <a:cs typeface="Times New Roman" pitchFamily="18" charset="0"/>
                        </a:rPr>
                        <a:t>bps</a:t>
                      </a:r>
                      <a:endParaRPr lang="zh-CN" altLang="en-US" sz="2000" dirty="0" smtClean="0"/>
                    </a:p>
                  </a:txBody>
                  <a:tcPr anchor="ctr" anchorCtr="1"/>
                </a:tc>
              </a:tr>
              <a:tr h="590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modulation index</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0.7 rad ±5%</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latin typeface="Times New Roman" pitchFamily="18" charset="0"/>
                          <a:cs typeface="Times New Roman" pitchFamily="18" charset="0"/>
                        </a:rPr>
                        <a:t>1.15 rad ±10%</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r>
              <a:tr h="524127">
                <a:tc>
                  <a:txBody>
                    <a:bodyPr/>
                    <a:lstStyle/>
                    <a:p>
                      <a:pPr lvl="0"/>
                      <a:r>
                        <a:rPr lang="x-none" altLang="zh-CN" sz="2000" b="1" dirty="0" smtClean="0">
                          <a:solidFill>
                            <a:schemeClr val="tx1"/>
                          </a:solidFill>
                          <a:latin typeface="Times New Roman" pitchFamily="18" charset="0"/>
                          <a:cs typeface="Times New Roman" pitchFamily="18" charset="0"/>
                        </a:rPr>
                        <a:t>PCM code</a:t>
                      </a:r>
                      <a:r>
                        <a:rPr lang="en-US" altLang="zh-CN" sz="2000" b="1" dirty="0" smtClean="0">
                          <a:solidFill>
                            <a:schemeClr val="tx1"/>
                          </a:solidFill>
                          <a:latin typeface="Times New Roman" pitchFamily="18" charset="0"/>
                          <a:cs typeface="Times New Roman" pitchFamily="18" charset="0"/>
                        </a:rPr>
                        <a:t> type</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NRZ-L</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dirty="0" smtClean="0">
                          <a:solidFill>
                            <a:schemeClr val="tx1"/>
                          </a:solidFill>
                          <a:latin typeface="Times New Roman" pitchFamily="18" charset="0"/>
                          <a:cs typeface="Times New Roman" pitchFamily="18" charset="0"/>
                        </a:rPr>
                        <a:t>NRZ-</a:t>
                      </a:r>
                      <a:r>
                        <a:rPr lang="en-US" altLang="zh-CN" sz="2000" b="1" dirty="0" smtClean="0">
                          <a:solidFill>
                            <a:schemeClr val="tx1"/>
                          </a:solidFill>
                          <a:latin typeface="Times New Roman" pitchFamily="18" charset="0"/>
                          <a:cs typeface="Times New Roman" pitchFamily="18" charset="0"/>
                        </a:rPr>
                        <a:t>S</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r>
              <a:tr h="6241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kern="1200" dirty="0" smtClean="0">
                          <a:solidFill>
                            <a:schemeClr val="tx1"/>
                          </a:solidFill>
                          <a:latin typeface="Times New Roman" pitchFamily="18" charset="0"/>
                          <a:ea typeface="+mn-ea"/>
                          <a:cs typeface="Times New Roman" pitchFamily="18" charset="0"/>
                        </a:rPr>
                        <a:t>Bit error rate</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kern="1200" dirty="0" smtClean="0">
                          <a:solidFill>
                            <a:schemeClr val="tx1"/>
                          </a:solidFill>
                          <a:latin typeface="Times New Roman" pitchFamily="18" charset="0"/>
                          <a:ea typeface="+mn-ea"/>
                          <a:cs typeface="Times New Roman" pitchFamily="18" charset="0"/>
                        </a:rPr>
                        <a:t>≤ 1×10</a:t>
                      </a:r>
                      <a:r>
                        <a:rPr lang="x-none" altLang="zh-CN" sz="2000" b="1" kern="1200" baseline="30000" dirty="0" smtClean="0">
                          <a:solidFill>
                            <a:schemeClr val="tx1"/>
                          </a:solidFill>
                          <a:latin typeface="Times New Roman" pitchFamily="18" charset="0"/>
                          <a:ea typeface="+mn-ea"/>
                          <a:cs typeface="Times New Roman" pitchFamily="18" charset="0"/>
                        </a:rPr>
                        <a:t>-6</a:t>
                      </a:r>
                      <a:r>
                        <a:rPr lang="x-none" altLang="zh-CN" sz="2000" b="1" kern="1200" dirty="0" smtClean="0">
                          <a:solidFill>
                            <a:schemeClr val="tx1"/>
                          </a:solidFill>
                          <a:latin typeface="Times New Roman" pitchFamily="18" charset="0"/>
                          <a:ea typeface="+mn-ea"/>
                          <a:cs typeface="Times New Roman" pitchFamily="18" charset="0"/>
                        </a:rPr>
                        <a:t> </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x-none" altLang="zh-CN" sz="2000" b="1" kern="1200" dirty="0" smtClean="0">
                          <a:solidFill>
                            <a:schemeClr val="tx1"/>
                          </a:solidFill>
                          <a:latin typeface="Times New Roman" pitchFamily="18" charset="0"/>
                          <a:ea typeface="+mn-ea"/>
                          <a:cs typeface="Times New Roman" pitchFamily="18" charset="0"/>
                        </a:rPr>
                        <a:t>≤ 1×10</a:t>
                      </a:r>
                      <a:r>
                        <a:rPr lang="x-none" altLang="zh-CN" sz="2000" b="1" kern="1200" baseline="30000" dirty="0" smtClean="0">
                          <a:solidFill>
                            <a:schemeClr val="tx1"/>
                          </a:solidFill>
                          <a:latin typeface="Times New Roman" pitchFamily="18" charset="0"/>
                          <a:ea typeface="+mn-ea"/>
                          <a:cs typeface="Times New Roman" pitchFamily="18" charset="0"/>
                        </a:rPr>
                        <a:t>-6</a:t>
                      </a:r>
                      <a:r>
                        <a:rPr lang="x-none" altLang="zh-CN" sz="2000" b="1" kern="1200" dirty="0" smtClean="0">
                          <a:solidFill>
                            <a:schemeClr val="tx1"/>
                          </a:solidFill>
                          <a:latin typeface="Times New Roman" pitchFamily="18" charset="0"/>
                          <a:ea typeface="+mn-ea"/>
                          <a:cs typeface="Times New Roman" pitchFamily="18" charset="0"/>
                        </a:rPr>
                        <a:t> </a:t>
                      </a:r>
                      <a:endParaRPr lang="zh-CN" altLang="en-US" sz="2000" b="1" kern="1200" dirty="0">
                        <a:solidFill>
                          <a:schemeClr val="tx1"/>
                        </a:solidFill>
                        <a:latin typeface="Times New Roman" pitchFamily="18" charset="0"/>
                        <a:ea typeface="+mn-ea"/>
                        <a:cs typeface="Times New Roman" pitchFamily="18" charset="0"/>
                      </a:endParaRPr>
                    </a:p>
                  </a:txBody>
                  <a:tcPr anchor="ctr" anchorCtr="1"/>
                </a:tc>
              </a:tr>
            </a:tbl>
          </a:graphicData>
        </a:graphic>
      </p:graphicFrame>
      <p:sp>
        <p:nvSpPr>
          <p:cNvPr id="9"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10"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18</a:t>
            </a:fld>
            <a:r>
              <a:rPr lang="zh-CN" altLang="en-US" smtClean="0"/>
              <a:t> </a:t>
            </a:r>
            <a:endParaRPr lang="zh-CN" altLang="en-US" dirty="0">
              <a:latin typeface="微软雅黑" pitchFamily="34" charset="-122"/>
              <a:ea typeface="微软雅黑" pitchFamily="34" charset="-122"/>
            </a:endParaRPr>
          </a:p>
        </p:txBody>
      </p:sp>
      <p:sp>
        <p:nvSpPr>
          <p:cNvPr id="7" name="标题 1"/>
          <p:cNvSpPr>
            <a:spLocks noGrp="1"/>
          </p:cNvSpPr>
          <p:nvPr>
            <p:ph type="title"/>
          </p:nvPr>
        </p:nvSpPr>
        <p:spPr>
          <a:xfrm>
            <a:off x="500034" y="214290"/>
            <a:ext cx="8229600" cy="928694"/>
          </a:xfrm>
        </p:spPr>
        <p:txBody>
          <a:bodyPr>
            <a:noAutofit/>
          </a:bodyPr>
          <a:lstStyle/>
          <a:p>
            <a:pPr algn="l"/>
            <a:r>
              <a:rPr lang="en-US" sz="3200" cap="all" dirty="0" smtClean="0"/>
              <a:t>4</a:t>
            </a:r>
            <a:r>
              <a:rPr lang="en-US" altLang="zh-CN" sz="3200" dirty="0"/>
              <a:t> Interface with the Ground TT&amp;C</a:t>
            </a:r>
            <a:endParaRPr lang="zh-CN" altLang="en-US" sz="3200" dirty="0"/>
          </a:p>
        </p:txBody>
      </p:sp>
    </p:spTree>
    <p:extLst>
      <p:ext uri="{BB962C8B-B14F-4D97-AF65-F5344CB8AC3E}">
        <p14:creationId xmlns:p14="http://schemas.microsoft.com/office/powerpoint/2010/main" xmlns="" val="41939684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sp>
        <p:nvSpPr>
          <p:cNvPr id="12" name="标题 2"/>
          <p:cNvSpPr>
            <a:spLocks noGrp="1"/>
          </p:cNvSpPr>
          <p:nvPr>
            <p:ph type="title"/>
          </p:nvPr>
        </p:nvSpPr>
        <p:spPr>
          <a:xfrm>
            <a:off x="457200" y="274638"/>
            <a:ext cx="8229600" cy="1143000"/>
          </a:xfrm>
        </p:spPr>
        <p:txBody>
          <a:bodyPr anchor="t">
            <a:normAutofit/>
          </a:bodyPr>
          <a:lstStyle/>
          <a:p>
            <a:pPr algn="l"/>
            <a:r>
              <a:rPr lang="en-US" altLang="zh-CN" sz="3200" dirty="0" smtClean="0"/>
              <a:t>Outlines</a:t>
            </a:r>
            <a:endParaRPr lang="zh-CN" altLang="en-US" sz="3200" dirty="0" smtClean="0"/>
          </a:p>
        </p:txBody>
      </p:sp>
      <p:pic>
        <p:nvPicPr>
          <p:cNvPr id="13" name="Picture 1" descr="D:\resources for ppt\sat5.jpg"/>
          <p:cNvPicPr>
            <a:picLocks noChangeAspect="1" noChangeArrowheads="1"/>
          </p:cNvPicPr>
          <p:nvPr/>
        </p:nvPicPr>
        <p:blipFill>
          <a:blip r:embed="rId4" cstate="email"/>
          <a:stretch>
            <a:fillRect/>
          </a:stretch>
        </p:blipFill>
        <p:spPr bwMode="auto">
          <a:xfrm>
            <a:off x="2389984" y="3589764"/>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3500438"/>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t>3   </a:t>
            </a:r>
            <a:r>
              <a:rPr lang="en-US" altLang="zh-CN" sz="2400" b="1" dirty="0" smtClean="0">
                <a:latin typeface="Times New Roman" pitchFamily="18" charset="0"/>
                <a:cs typeface="Times New Roman" pitchFamily="18" charset="0"/>
              </a:rPr>
              <a:t>Satellite TT&amp;C subsystem</a:t>
            </a:r>
            <a:endParaRPr lang="zh-CN" altLang="en-US" sz="2400" b="1" dirty="0" smtClean="0">
              <a:solidFill>
                <a:srgbClr val="FFFF00"/>
              </a:solidFill>
              <a:latin typeface="Times New Roman" pitchFamily="18" charset="0"/>
              <a:cs typeface="Times New Roman" pitchFamily="18" charset="0"/>
            </a:endParaRPr>
          </a:p>
        </p:txBody>
      </p:sp>
      <p:pic>
        <p:nvPicPr>
          <p:cNvPr id="16" name="Picture 1" descr="D:\resources for ppt\sat5.jpg"/>
          <p:cNvPicPr>
            <a:picLocks noChangeAspect="1" noChangeArrowheads="1"/>
          </p:cNvPicPr>
          <p:nvPr/>
        </p:nvPicPr>
        <p:blipFill>
          <a:blip r:embed="rId4" cstate="email"/>
          <a:stretch>
            <a:fillRect/>
          </a:stretch>
        </p:blipFill>
        <p:spPr bwMode="auto">
          <a:xfrm>
            <a:off x="2389984" y="2668236"/>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2571744"/>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cs typeface="Arial" pitchFamily="34" charset="0"/>
              </a:rPr>
              <a:t>2</a:t>
            </a:r>
            <a:r>
              <a:rPr lang="en-US" altLang="zh-CN" sz="2400" b="1" dirty="0" smtClean="0">
                <a:solidFill>
                  <a:schemeClr val="tx1"/>
                </a:solidFill>
                <a:latin typeface="Arial" pitchFamily="34" charset="0"/>
                <a:cs typeface="Arial" pitchFamily="34" charset="0"/>
              </a:rPr>
              <a:t>  </a:t>
            </a:r>
            <a:r>
              <a:rPr lang="en-US" altLang="zh-CN" sz="2400" b="1" dirty="0" smtClean="0">
                <a:solidFill>
                  <a:schemeClr val="tx1"/>
                </a:solidFill>
                <a:latin typeface="Times New Roman" pitchFamily="18" charset="0"/>
                <a:ea typeface="微软雅黑" pitchFamily="34" charset="-122"/>
                <a:cs typeface="Times New Roman" pitchFamily="18" charset="0"/>
              </a:rPr>
              <a:t>Task Requirement</a:t>
            </a:r>
            <a:endParaRPr lang="zh-CN" altLang="en-US" sz="2400" b="1" dirty="0">
              <a:solidFill>
                <a:schemeClr val="tx1"/>
              </a:solidFill>
              <a:latin typeface="Arial" pitchFamily="34" charset="0"/>
              <a:cs typeface="Arial" pitchFamily="34" charset="0"/>
            </a:endParaRPr>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19</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pic>
        <p:nvPicPr>
          <p:cNvPr id="20" name="Picture 1" descr="D:\resources for ppt\sat5.jpg"/>
          <p:cNvPicPr>
            <a:picLocks noChangeAspect="1" noChangeArrowheads="1"/>
          </p:cNvPicPr>
          <p:nvPr/>
        </p:nvPicPr>
        <p:blipFill>
          <a:blip r:embed="rId4" cstate="email"/>
          <a:stretch>
            <a:fillRect/>
          </a:stretch>
        </p:blipFill>
        <p:spPr bwMode="auto">
          <a:xfrm>
            <a:off x="2389984" y="4518458"/>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1" name="单圆角矩形 20"/>
          <p:cNvSpPr/>
          <p:nvPr/>
        </p:nvSpPr>
        <p:spPr>
          <a:xfrm>
            <a:off x="3036917" y="4429132"/>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4   </a:t>
            </a:r>
            <a:r>
              <a:rPr lang="en-US" altLang="zh-CN" sz="2400" b="1" dirty="0" smtClean="0">
                <a:latin typeface="Times New Roman" pitchFamily="18" charset="0"/>
                <a:cs typeface="Times New Roman" pitchFamily="18" charset="0"/>
              </a:rPr>
              <a:t>Interface with the Ground TT&amp;C</a:t>
            </a:r>
            <a:endParaRPr lang="zh-CN" altLang="en-US" sz="2400" b="1" dirty="0" smtClean="0">
              <a:solidFill>
                <a:srgbClr val="FFFF00"/>
              </a:solidFill>
              <a:latin typeface="Times New Roman" pitchFamily="18" charset="0"/>
              <a:cs typeface="Times New Roman" pitchFamily="18" charset="0"/>
            </a:endParaRPr>
          </a:p>
        </p:txBody>
      </p:sp>
      <p:pic>
        <p:nvPicPr>
          <p:cNvPr id="22" name="Picture 1" descr="D:\resources for ppt\sat5.jpg"/>
          <p:cNvPicPr>
            <a:picLocks noChangeAspect="1" noChangeArrowheads="1"/>
          </p:cNvPicPr>
          <p:nvPr/>
        </p:nvPicPr>
        <p:blipFill>
          <a:blip r:embed="rId4" cstate="email"/>
          <a:stretch>
            <a:fillRect/>
          </a:stretch>
        </p:blipFill>
        <p:spPr bwMode="auto">
          <a:xfrm>
            <a:off x="2377256" y="173954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23" name="单圆角矩形 22"/>
          <p:cNvSpPr/>
          <p:nvPr/>
        </p:nvSpPr>
        <p:spPr>
          <a:xfrm>
            <a:off x="3024189" y="1643050"/>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ea typeface="Arial Unicode MS" pitchFamily="34" charset="-122"/>
                <a:cs typeface="Arial Unicode MS" pitchFamily="34" charset="-122"/>
              </a:rPr>
              <a:t>1</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latin typeface="Arial" pitchFamily="34" charset="0"/>
                <a:cs typeface="Arial" pitchFamily="34" charset="0"/>
              </a:rPr>
              <a:t>Introduction</a:t>
            </a:r>
            <a:endParaRPr lang="zh-CN" altLang="en-US" sz="2400" b="1" dirty="0" smtClean="0">
              <a:solidFill>
                <a:schemeClr val="tx1"/>
              </a:solidFill>
              <a:latin typeface="Arial" pitchFamily="34" charset="0"/>
              <a:cs typeface="Arial" pitchFamily="34" charset="0"/>
            </a:endParaRPr>
          </a:p>
        </p:txBody>
      </p:sp>
      <p:pic>
        <p:nvPicPr>
          <p:cNvPr id="24" name="Picture 2" descr="D:\resources for ppt\sino6_W020100905714056942648.jpg"/>
          <p:cNvPicPr>
            <a:picLocks noChangeAspect="1" noChangeArrowheads="1"/>
          </p:cNvPicPr>
          <p:nvPr/>
        </p:nvPicPr>
        <p:blipFill>
          <a:blip r:embed="rId5" cstate="email"/>
          <a:stretch>
            <a:fillRect/>
          </a:stretch>
        </p:blipFill>
        <p:spPr bwMode="auto">
          <a:xfrm>
            <a:off x="2357681" y="5401896"/>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25" name="单圆角矩形 24"/>
          <p:cNvSpPr/>
          <p:nvPr/>
        </p:nvSpPr>
        <p:spPr>
          <a:xfrm>
            <a:off x="3000364" y="5352696"/>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rPr>
              <a:t>5</a:t>
            </a:r>
            <a:r>
              <a:rPr lang="en-US" altLang="zh-CN" sz="2400" b="1" dirty="0" smtClean="0">
                <a:solidFill>
                  <a:schemeClr val="tx1"/>
                </a:solidFill>
                <a:latin typeface="微软雅黑" pitchFamily="34" charset="-122"/>
                <a:ea typeface="微软雅黑" pitchFamily="34" charset="-122"/>
              </a:rPr>
              <a:t>  </a:t>
            </a:r>
            <a:r>
              <a:rPr lang="en-US" altLang="zh-CN" sz="2400" b="1" dirty="0" smtClean="0">
                <a:solidFill>
                  <a:schemeClr val="tx1"/>
                </a:solidFill>
                <a:latin typeface="Times New Roman" pitchFamily="18" charset="0"/>
                <a:cs typeface="Times New Roman" pitchFamily="18" charset="0"/>
              </a:rPr>
              <a:t>Rule of Sending TC and Data Block</a:t>
            </a:r>
            <a:endParaRPr lang="zh-CN" altLang="en-US" sz="2400" b="1" dirty="0" smtClean="0">
              <a:solidFill>
                <a:srgbClr val="FFFF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4" name="矩形 2"/>
          <p:cNvSpPr>
            <a:spLocks noChangeArrowheads="1"/>
          </p:cNvSpPr>
          <p:nvPr/>
        </p:nvSpPr>
        <p:spPr bwMode="auto">
          <a:xfrm>
            <a:off x="565942" y="1214422"/>
            <a:ext cx="8272463" cy="3416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50000"/>
              </a:lnSpc>
              <a:buFont typeface="Wingdings" pitchFamily="2" charset="2"/>
              <a:buChar char="p"/>
            </a:pPr>
            <a:r>
              <a:rPr lang="en-US" altLang="zh-CN" sz="2400" dirty="0" smtClean="0">
                <a:solidFill>
                  <a:srgbClr val="0070C0"/>
                </a:solidFill>
                <a:latin typeface="Times New Roman" pitchFamily="18" charset="0"/>
                <a:cs typeface="Times New Roman" pitchFamily="18" charset="0"/>
              </a:rPr>
              <a:t> Tele-command frame</a:t>
            </a:r>
            <a:endParaRPr lang="en-US" altLang="zh-CN" sz="2400" dirty="0">
              <a:solidFill>
                <a:srgbClr val="0070C0"/>
              </a:solidFill>
              <a:latin typeface="Times New Roman" pitchFamily="18" charset="0"/>
              <a:cs typeface="Times New Roman" pitchFamily="18" charset="0"/>
            </a:endParaRPr>
          </a:p>
          <a:p>
            <a:pPr marL="342900" indent="-342900">
              <a:lnSpc>
                <a:spcPct val="150000"/>
              </a:lnSpc>
              <a:buFont typeface="Arial" pitchFamily="34" charset="0"/>
              <a:buChar char="•"/>
            </a:pPr>
            <a:r>
              <a:rPr lang="en-US" altLang="zh-CN" sz="2400" dirty="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Direct </a:t>
            </a:r>
            <a:r>
              <a:rPr lang="en-US" altLang="zh-CN" sz="2400" dirty="0">
                <a:latin typeface="Times New Roman" pitchFamily="18" charset="0"/>
                <a:cs typeface="Times New Roman" pitchFamily="18" charset="0"/>
              </a:rPr>
              <a:t>command </a:t>
            </a:r>
            <a:r>
              <a:rPr lang="en-US" altLang="zh-CN" sz="2400" dirty="0" smtClean="0">
                <a:latin typeface="Times New Roman" pitchFamily="18" charset="0"/>
                <a:cs typeface="Times New Roman" pitchFamily="18" charset="0"/>
              </a:rPr>
              <a:t>frame</a:t>
            </a:r>
          </a:p>
          <a:p>
            <a:pPr marL="342900" indent="-342900">
              <a:lnSpc>
                <a:spcPct val="150000"/>
              </a:lnSpc>
              <a:buFont typeface="Arial" pitchFamily="34" charset="0"/>
              <a:buChar char="•"/>
            </a:pPr>
            <a:endParaRPr lang="en-US" altLang="zh-CN" sz="2400" dirty="0" smtClean="0">
              <a:latin typeface="Times New Roman" pitchFamily="18" charset="0"/>
              <a:cs typeface="Times New Roman" pitchFamily="18" charset="0"/>
            </a:endParaRPr>
          </a:p>
          <a:p>
            <a:pPr marL="342900" indent="-342900">
              <a:lnSpc>
                <a:spcPct val="150000"/>
              </a:lnSpc>
              <a:buFont typeface="Arial" pitchFamily="34" charset="0"/>
              <a:buChar char="•"/>
            </a:pPr>
            <a:endParaRPr lang="en-US" altLang="zh-CN" sz="2400" dirty="0" smtClean="0">
              <a:latin typeface="Times New Roman" pitchFamily="18" charset="0"/>
              <a:cs typeface="Times New Roman" pitchFamily="18" charset="0"/>
            </a:endParaRPr>
          </a:p>
          <a:p>
            <a:pPr marL="342900" indent="-342900">
              <a:lnSpc>
                <a:spcPct val="150000"/>
              </a:lnSpc>
              <a:buFont typeface="Arial" pitchFamily="34" charset="0"/>
              <a:buChar char="•"/>
            </a:pPr>
            <a:endParaRPr lang="en-US" altLang="zh-CN" sz="2400" dirty="0">
              <a:latin typeface="Times New Roman" pitchFamily="18" charset="0"/>
              <a:cs typeface="Times New Roman" pitchFamily="18" charset="0"/>
            </a:endParaRPr>
          </a:p>
          <a:p>
            <a:pPr marL="342900" indent="-342900">
              <a:lnSpc>
                <a:spcPct val="150000"/>
              </a:lnSpc>
              <a:buFont typeface="Arial" pitchFamily="34" charset="0"/>
              <a:buChar char="•"/>
            </a:pPr>
            <a:r>
              <a:rPr lang="en-US" altLang="zh-CN" sz="2400" dirty="0">
                <a:latin typeface="Times New Roman" pitchFamily="18" charset="0"/>
                <a:cs typeface="Times New Roman" pitchFamily="18" charset="0"/>
              </a:rPr>
              <a:t> </a:t>
            </a:r>
            <a:r>
              <a:rPr lang="en-US" altLang="zh-CN" sz="2400" dirty="0" smtClean="0">
                <a:latin typeface="Times New Roman" pitchFamily="18" charset="0"/>
                <a:cs typeface="Times New Roman" pitchFamily="18" charset="0"/>
              </a:rPr>
              <a:t>Indirect Data block frame </a:t>
            </a:r>
            <a:endParaRPr lang="en-US" altLang="zh-CN" sz="2400" dirty="0">
              <a:latin typeface="Times New Roman" pitchFamily="18" charset="0"/>
              <a:cs typeface="Times New Roman" pitchFamily="18" charset="0"/>
            </a:endParaRPr>
          </a:p>
        </p:txBody>
      </p:sp>
      <p:sp>
        <p:nvSpPr>
          <p:cNvPr id="6"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7"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20</a:t>
            </a:fld>
            <a:r>
              <a:rPr lang="zh-CN" altLang="en-US" smtClean="0"/>
              <a:t> </a:t>
            </a:r>
            <a:endParaRPr lang="zh-CN" altLang="en-US" dirty="0">
              <a:latin typeface="微软雅黑" pitchFamily="34" charset="-122"/>
              <a:ea typeface="微软雅黑" pitchFamily="34" charset="-122"/>
            </a:endParaRPr>
          </a:p>
        </p:txBody>
      </p:sp>
      <p:sp>
        <p:nvSpPr>
          <p:cNvPr id="10" name="标题 1"/>
          <p:cNvSpPr>
            <a:spLocks noGrp="1"/>
          </p:cNvSpPr>
          <p:nvPr>
            <p:ph type="title"/>
          </p:nvPr>
        </p:nvSpPr>
        <p:spPr>
          <a:xfrm>
            <a:off x="500034" y="214290"/>
            <a:ext cx="8229600" cy="928694"/>
          </a:xfrm>
        </p:spPr>
        <p:txBody>
          <a:bodyPr>
            <a:noAutofit/>
          </a:bodyPr>
          <a:lstStyle/>
          <a:p>
            <a:r>
              <a:rPr lang="en-US" sz="3200" cap="all" dirty="0" smtClean="0"/>
              <a:t>5</a:t>
            </a:r>
            <a:r>
              <a:rPr lang="en-US" altLang="zh-CN" sz="3200" dirty="0" smtClean="0"/>
              <a:t> Rule of Sending TC and Data Block</a:t>
            </a:r>
            <a:endParaRPr lang="zh-CN" altLang="en-US" sz="3200" dirty="0"/>
          </a:p>
        </p:txBody>
      </p:sp>
      <p:graphicFrame>
        <p:nvGraphicFramePr>
          <p:cNvPr id="14337" name="Object 1"/>
          <p:cNvGraphicFramePr>
            <a:graphicFrameLocks noChangeAspect="1"/>
          </p:cNvGraphicFramePr>
          <p:nvPr/>
        </p:nvGraphicFramePr>
        <p:xfrm>
          <a:off x="2000268" y="2571744"/>
          <a:ext cx="5143500" cy="1143000"/>
        </p:xfrm>
        <a:graphic>
          <a:graphicData uri="http://schemas.openxmlformats.org/presentationml/2006/ole">
            <p:oleObj spid="_x0000_s14343" name="Visio" r:id="rId4" imgW="2839402" imgH="634365" progId="">
              <p:embed/>
            </p:oleObj>
          </a:graphicData>
        </a:graphic>
      </p:graphicFrame>
      <p:graphicFrame>
        <p:nvGraphicFramePr>
          <p:cNvPr id="14338" name="Object 2"/>
          <p:cNvGraphicFramePr>
            <a:graphicFrameLocks noChangeAspect="1"/>
          </p:cNvGraphicFramePr>
          <p:nvPr/>
        </p:nvGraphicFramePr>
        <p:xfrm>
          <a:off x="428596" y="4853006"/>
          <a:ext cx="8343900" cy="1219200"/>
        </p:xfrm>
        <a:graphic>
          <a:graphicData uri="http://schemas.openxmlformats.org/presentationml/2006/ole">
            <p:oleObj spid="_x0000_s14344" name="Visio" r:id="rId5" imgW="4866894" imgH="712089" progId="">
              <p:embed/>
            </p:oleObj>
          </a:graphicData>
        </a:graphic>
      </p:graphicFrame>
    </p:spTree>
    <p:extLst>
      <p:ext uri="{BB962C8B-B14F-4D97-AF65-F5344CB8AC3E}">
        <p14:creationId xmlns:p14="http://schemas.microsoft.com/office/powerpoint/2010/main" xmlns="" val="30019128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Box 5"/>
          <p:cNvSpPr txBox="1">
            <a:spLocks noChangeArrowheads="1"/>
          </p:cNvSpPr>
          <p:nvPr/>
        </p:nvSpPr>
        <p:spPr bwMode="auto">
          <a:xfrm>
            <a:off x="303313" y="1285860"/>
            <a:ext cx="6126076" cy="571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82954" tIns="41477" rIns="82954" bIns="41477">
            <a:spAutoFit/>
          </a:bodyPr>
          <a:lstStyle>
            <a:lvl1pPr marL="719138" indent="-358775" eaLnBrk="0" hangingPunct="0">
              <a:defRPr sz="2000" b="1">
                <a:solidFill>
                  <a:srgbClr val="575F6D"/>
                </a:solidFill>
                <a:latin typeface="Arial" charset="0"/>
                <a:ea typeface="宋体" charset="-122"/>
              </a:defRPr>
            </a:lvl1pPr>
            <a:lvl2pPr marL="742950" indent="-285750" eaLnBrk="0" hangingPunct="0">
              <a:defRPr sz="2000" b="1">
                <a:solidFill>
                  <a:srgbClr val="575F6D"/>
                </a:solidFill>
                <a:latin typeface="Arial" charset="0"/>
                <a:ea typeface="宋体" charset="-122"/>
              </a:defRPr>
            </a:lvl2pPr>
            <a:lvl3pPr marL="1143000" indent="-228600" eaLnBrk="0" hangingPunct="0">
              <a:defRPr sz="2000" b="1">
                <a:solidFill>
                  <a:srgbClr val="575F6D"/>
                </a:solidFill>
                <a:latin typeface="Arial" charset="0"/>
                <a:ea typeface="宋体" charset="-122"/>
              </a:defRPr>
            </a:lvl3pPr>
            <a:lvl4pPr marL="1600200" indent="-228600" eaLnBrk="0" hangingPunct="0">
              <a:defRPr sz="2000" b="1">
                <a:solidFill>
                  <a:srgbClr val="575F6D"/>
                </a:solidFill>
                <a:latin typeface="Arial" charset="0"/>
                <a:ea typeface="宋体" charset="-122"/>
              </a:defRPr>
            </a:lvl4pPr>
            <a:lvl5pPr marL="2057400" indent="-228600" eaLnBrk="0" hangingPunct="0">
              <a:defRPr sz="2000" b="1">
                <a:solidFill>
                  <a:srgbClr val="575F6D"/>
                </a:solidFill>
                <a:latin typeface="Arial" charset="0"/>
                <a:ea typeface="宋体" charset="-122"/>
              </a:defRPr>
            </a:lvl5pPr>
            <a:lvl6pPr marL="2514600" indent="-228600" algn="ctr" eaLnBrk="0" fontAlgn="base" hangingPunct="0">
              <a:spcBef>
                <a:spcPct val="0"/>
              </a:spcBef>
              <a:spcAft>
                <a:spcPct val="0"/>
              </a:spcAft>
              <a:defRPr sz="2000" b="1">
                <a:solidFill>
                  <a:srgbClr val="575F6D"/>
                </a:solidFill>
                <a:latin typeface="Arial" charset="0"/>
                <a:ea typeface="宋体" charset="-122"/>
              </a:defRPr>
            </a:lvl6pPr>
            <a:lvl7pPr marL="2971800" indent="-228600" algn="ctr" eaLnBrk="0" fontAlgn="base" hangingPunct="0">
              <a:spcBef>
                <a:spcPct val="0"/>
              </a:spcBef>
              <a:spcAft>
                <a:spcPct val="0"/>
              </a:spcAft>
              <a:defRPr sz="2000" b="1">
                <a:solidFill>
                  <a:srgbClr val="575F6D"/>
                </a:solidFill>
                <a:latin typeface="Arial" charset="0"/>
                <a:ea typeface="宋体" charset="-122"/>
              </a:defRPr>
            </a:lvl7pPr>
            <a:lvl8pPr marL="3429000" indent="-228600" algn="ctr" eaLnBrk="0" fontAlgn="base" hangingPunct="0">
              <a:spcBef>
                <a:spcPct val="0"/>
              </a:spcBef>
              <a:spcAft>
                <a:spcPct val="0"/>
              </a:spcAft>
              <a:defRPr sz="2000" b="1">
                <a:solidFill>
                  <a:srgbClr val="575F6D"/>
                </a:solidFill>
                <a:latin typeface="Arial" charset="0"/>
                <a:ea typeface="宋体" charset="-122"/>
              </a:defRPr>
            </a:lvl8pPr>
            <a:lvl9pPr marL="3886200" indent="-228600" algn="ctr" eaLnBrk="0" fontAlgn="base" hangingPunct="0">
              <a:spcBef>
                <a:spcPct val="0"/>
              </a:spcBef>
              <a:spcAft>
                <a:spcPct val="0"/>
              </a:spcAft>
              <a:defRPr sz="2000" b="1">
                <a:solidFill>
                  <a:srgbClr val="575F6D"/>
                </a:solidFill>
                <a:latin typeface="Arial" charset="0"/>
                <a:ea typeface="宋体" charset="-122"/>
              </a:defRPr>
            </a:lvl9pPr>
          </a:lstStyle>
          <a:p>
            <a:pPr algn="l" eaLnBrk="1" hangingPunct="1">
              <a:lnSpc>
                <a:spcPct val="150000"/>
              </a:lnSpc>
              <a:buFont typeface="Wingdings" pitchFamily="2" charset="2"/>
              <a:buChar char="p"/>
            </a:pPr>
            <a:r>
              <a:rPr lang="en-US" altLang="zh-CN" sz="2400" dirty="0">
                <a:solidFill>
                  <a:srgbClr val="0070C0"/>
                </a:solidFill>
                <a:latin typeface="Times New Roman" pitchFamily="18" charset="0"/>
                <a:ea typeface="+mn-ea"/>
                <a:cs typeface="Times New Roman" pitchFamily="18" charset="0"/>
              </a:rPr>
              <a:t>Satellite </a:t>
            </a:r>
            <a:r>
              <a:rPr lang="en-US" altLang="zh-CN" sz="2400" dirty="0" smtClean="0">
                <a:solidFill>
                  <a:srgbClr val="0070C0"/>
                </a:solidFill>
                <a:latin typeface="Times New Roman" pitchFamily="18" charset="0"/>
                <a:ea typeface="+mn-ea"/>
                <a:cs typeface="Times New Roman" pitchFamily="18" charset="0"/>
              </a:rPr>
              <a:t>Mode Word</a:t>
            </a:r>
            <a:endParaRPr lang="zh-CN" altLang="zh-CN" sz="2400" dirty="0">
              <a:solidFill>
                <a:srgbClr val="0070C0"/>
              </a:solidFill>
              <a:latin typeface="Times New Roman" pitchFamily="18" charset="0"/>
              <a:ea typeface="+mn-ea"/>
              <a:cs typeface="Times New Roman" pitchFamily="18" charset="0"/>
            </a:endParaRPr>
          </a:p>
        </p:txBody>
      </p:sp>
      <p:graphicFrame>
        <p:nvGraphicFramePr>
          <p:cNvPr id="9" name="表格 8"/>
          <p:cNvGraphicFramePr>
            <a:graphicFrameLocks noGrp="1"/>
          </p:cNvGraphicFramePr>
          <p:nvPr>
            <p:extLst>
              <p:ext uri="{D42A27DB-BD31-4B8C-83A1-F6EECF244321}">
                <p14:modId xmlns:p14="http://schemas.microsoft.com/office/powerpoint/2010/main" xmlns="" val="3911903707"/>
              </p:ext>
            </p:extLst>
          </p:nvPr>
        </p:nvGraphicFramePr>
        <p:xfrm>
          <a:off x="869952" y="2444580"/>
          <a:ext cx="7416824" cy="3198998"/>
        </p:xfrm>
        <a:graphic>
          <a:graphicData uri="http://schemas.openxmlformats.org/drawingml/2006/table">
            <a:tbl>
              <a:tblPr firstRow="1" bandRow="1">
                <a:tableStyleId>{5C22544A-7EE6-4342-B048-85BDC9FD1C3A}</a:tableStyleId>
              </a:tblPr>
              <a:tblGrid>
                <a:gridCol w="5986437"/>
                <a:gridCol w="1430387"/>
              </a:tblGrid>
              <a:tr h="744378">
                <a:tc>
                  <a:txBody>
                    <a:bodyPr/>
                    <a:lstStyle/>
                    <a:p>
                      <a:pPr algn="ctr">
                        <a:lnSpc>
                          <a:spcPct val="115000"/>
                        </a:lnSpc>
                        <a:spcBef>
                          <a:spcPts val="1800"/>
                        </a:spcBef>
                        <a:spcAft>
                          <a:spcPts val="1800"/>
                        </a:spcAf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Times New Roman" pitchFamily="18" charset="0"/>
                        </a:rPr>
                        <a:t>Tele-command Format</a:t>
                      </a:r>
                      <a:endParaRPr kumimoji="1" lang="zh-CN" sz="20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ctr">
                    <a:solidFill>
                      <a:srgbClr val="FFC000"/>
                    </a:solidFill>
                  </a:tcPr>
                </a:tc>
                <a:tc>
                  <a:txBody>
                    <a:bodyPr/>
                    <a:lstStyle/>
                    <a:p>
                      <a:pPr marL="0" marR="0" indent="0" algn="ctr" defTabSz="914400" rtl="0" eaLnBrk="1" fontAlgn="auto" latinLnBrk="0" hangingPunct="1">
                        <a:lnSpc>
                          <a:spcPct val="115000"/>
                        </a:lnSpc>
                        <a:spcBef>
                          <a:spcPts val="1800"/>
                        </a:spcBef>
                        <a:spcAft>
                          <a:spcPts val="1800"/>
                        </a:spcAft>
                        <a:buClrTx/>
                        <a:buSzTx/>
                        <a:buFontTx/>
                        <a:buNone/>
                        <a:tabLst/>
                        <a:defRPr/>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Times New Roman" pitchFamily="18" charset="0"/>
                        </a:rPr>
                        <a:t>Mode Word </a:t>
                      </a:r>
                      <a:endParaRPr kumimoji="1" lang="zh-CN" altLang="zh-CN" sz="2000" b="0" i="0" u="none" strike="noStrike" kern="1200" cap="none" normalizeH="0" baseline="0" dirty="0">
                        <a:ln>
                          <a:noFill/>
                        </a:ln>
                        <a:solidFill>
                          <a:schemeClr val="tx1"/>
                        </a:solidFill>
                        <a:effectLst/>
                        <a:latin typeface="Times New Roman" pitchFamily="18" charset="0"/>
                        <a:ea typeface="宋体" pitchFamily="2" charset="-122"/>
                        <a:cs typeface="Times New Roman" pitchFamily="18" charset="0"/>
                      </a:endParaRPr>
                    </a:p>
                  </a:txBody>
                  <a:tcPr marL="9525" marR="9525" marT="9526" marB="0" anchor="ctr">
                    <a:solidFill>
                      <a:srgbClr val="FFC000"/>
                    </a:solidFill>
                  </a:tcPr>
                </a:tc>
              </a:tr>
              <a:tr h="490924">
                <a:tc>
                  <a:txBody>
                    <a:bodyPr/>
                    <a:lstStyle/>
                    <a:p>
                      <a:pPr marL="0" marR="0" lvl="0" indent="0" algn="ctr" defTabSz="914400" rtl="0" eaLnBrk="1" fontAlgn="base" latinLnBrk="0" hangingPunct="1">
                        <a:lnSpc>
                          <a:spcPct val="100000"/>
                        </a:lnSpc>
                        <a:spcBef>
                          <a:spcPts val="1800"/>
                        </a:spcBef>
                        <a:spcAft>
                          <a:spcPts val="1800"/>
                        </a:spcAft>
                        <a:buClrTx/>
                        <a:buSzTx/>
                        <a:buFontTx/>
                        <a:buNone/>
                        <a:tabLst/>
                      </a:pPr>
                      <a:r>
                        <a:rPr lang="en-US" altLang="zh-CN" sz="2000" dirty="0" smtClean="0">
                          <a:effectLst/>
                          <a:latin typeface="Times New Roman" pitchFamily="18" charset="0"/>
                          <a:cs typeface="Times New Roman" pitchFamily="18" charset="0"/>
                        </a:rPr>
                        <a:t>Direct command frame72bits</a:t>
                      </a:r>
                      <a:endParaRPr lang="zh-CN" sz="2000" b="0" kern="1200" dirty="0">
                        <a:solidFill>
                          <a:schemeClr val="dk1"/>
                        </a:solidFill>
                        <a:latin typeface="Times New Roman" pitchFamily="18" charset="0"/>
                        <a:ea typeface="+mn-ea"/>
                        <a:cs typeface="Times New Roman" pitchFamily="18" charset="0"/>
                      </a:endParaRPr>
                    </a:p>
                  </a:txBody>
                  <a:tcPr marL="9525" marR="9525" marT="9526" marB="0" anchor="ctr"/>
                </a:tc>
                <a:tc>
                  <a:txBody>
                    <a:bodyPr/>
                    <a:lstStyle/>
                    <a:p>
                      <a:pPr algn="ctr">
                        <a:lnSpc>
                          <a:spcPct val="150000"/>
                        </a:lnSpc>
                        <a:spcAft>
                          <a:spcPts val="0"/>
                        </a:spcAft>
                      </a:pPr>
                      <a:r>
                        <a:rPr lang="en-US" sz="2000" kern="1200" dirty="0" smtClean="0">
                          <a:solidFill>
                            <a:schemeClr val="dk1"/>
                          </a:solidFill>
                          <a:effectLst/>
                          <a:latin typeface="Times New Roman" pitchFamily="18" charset="0"/>
                          <a:ea typeface="+mn-ea"/>
                          <a:cs typeface="Times New Roman" pitchFamily="18" charset="0"/>
                        </a:rPr>
                        <a:t>CCH</a:t>
                      </a:r>
                      <a:endParaRPr lang="zh-CN" sz="2000" kern="1200" dirty="0">
                        <a:solidFill>
                          <a:schemeClr val="dk1"/>
                        </a:solidFill>
                        <a:effectLst/>
                        <a:latin typeface="Times New Roman" pitchFamily="18" charset="0"/>
                        <a:ea typeface="+mn-ea"/>
                        <a:cs typeface="Times New Roman" pitchFamily="18" charset="0"/>
                      </a:endParaRPr>
                    </a:p>
                  </a:txBody>
                  <a:tcPr marL="68577" marR="68577" marT="0" marB="0" anchor="ctr"/>
                </a:tc>
              </a:tr>
              <a:tr h="490924">
                <a:tc>
                  <a:txBody>
                    <a:bodyPr/>
                    <a:lstStyle/>
                    <a:p>
                      <a:pPr marL="0" marR="0" lvl="0" indent="0" algn="ctr" defTabSz="914400" rtl="0" eaLnBrk="1" fontAlgn="base" latinLnBrk="0" hangingPunct="1">
                        <a:lnSpc>
                          <a:spcPct val="100000"/>
                        </a:lnSpc>
                        <a:spcBef>
                          <a:spcPts val="1800"/>
                        </a:spcBef>
                        <a:spcAft>
                          <a:spcPts val="1800"/>
                        </a:spcAft>
                        <a:buClrTx/>
                        <a:buSzTx/>
                        <a:buFontTx/>
                        <a:buNone/>
                        <a:tabLst/>
                      </a:pPr>
                      <a:r>
                        <a:rPr lang="en-US" altLang="zh-CN" sz="2000" dirty="0" smtClean="0">
                          <a:effectLst/>
                          <a:latin typeface="Times New Roman" pitchFamily="18" charset="0"/>
                          <a:cs typeface="Times New Roman" pitchFamily="18" charset="0"/>
                        </a:rPr>
                        <a:t>Data block frame, the data area length is</a:t>
                      </a:r>
                      <a:r>
                        <a:rPr lang="en-US" altLang="zh-CN" sz="2000" baseline="0" dirty="0" smtClean="0">
                          <a:effectLst/>
                          <a:latin typeface="Times New Roman" pitchFamily="18" charset="0"/>
                          <a:cs typeface="Times New Roman" pitchFamily="18" charset="0"/>
                        </a:rPr>
                        <a:t> 128 bits</a:t>
                      </a:r>
                      <a:endParaRPr lang="zh-CN" sz="2000" b="0" kern="1200" dirty="0">
                        <a:solidFill>
                          <a:schemeClr val="dk1"/>
                        </a:solidFill>
                        <a:latin typeface="Times New Roman" pitchFamily="18" charset="0"/>
                        <a:ea typeface="+mn-ea"/>
                        <a:cs typeface="Times New Roman" pitchFamily="18" charset="0"/>
                      </a:endParaRPr>
                    </a:p>
                  </a:txBody>
                  <a:tcPr marL="9525" marR="9525" marT="9526" marB="0" anchor="ctr"/>
                </a:tc>
                <a:tc>
                  <a:txBody>
                    <a:bodyPr/>
                    <a:lstStyle/>
                    <a:p>
                      <a:pPr algn="ctr">
                        <a:lnSpc>
                          <a:spcPct val="150000"/>
                        </a:lnSpc>
                        <a:spcAft>
                          <a:spcPts val="0"/>
                        </a:spcAft>
                      </a:pPr>
                      <a:r>
                        <a:rPr lang="en-US" sz="2000" kern="1200" dirty="0">
                          <a:solidFill>
                            <a:schemeClr val="dk1"/>
                          </a:solidFill>
                          <a:effectLst/>
                          <a:latin typeface="Times New Roman" pitchFamily="18" charset="0"/>
                          <a:ea typeface="+mn-ea"/>
                          <a:cs typeface="Times New Roman" pitchFamily="18" charset="0"/>
                        </a:rPr>
                        <a:t>5AH</a:t>
                      </a:r>
                      <a:endParaRPr lang="zh-CN" sz="2000" kern="1200" dirty="0">
                        <a:solidFill>
                          <a:schemeClr val="dk1"/>
                        </a:solidFill>
                        <a:effectLst/>
                        <a:latin typeface="Times New Roman" pitchFamily="18" charset="0"/>
                        <a:ea typeface="+mn-ea"/>
                        <a:cs typeface="Times New Roman" pitchFamily="18" charset="0"/>
                      </a:endParaRPr>
                    </a:p>
                  </a:txBody>
                  <a:tcPr marL="68577" marR="68577" marT="0" marB="0" anchor="ctr"/>
                </a:tc>
              </a:tr>
              <a:tr h="490924">
                <a:tc>
                  <a:txBody>
                    <a:bodyPr/>
                    <a:lstStyle/>
                    <a:p>
                      <a:pPr marL="0" marR="0" lvl="0" indent="0" algn="ctr" defTabSz="914400" rtl="0" eaLnBrk="1" fontAlgn="base" latinLnBrk="0" hangingPunct="1">
                        <a:lnSpc>
                          <a:spcPct val="100000"/>
                        </a:lnSpc>
                        <a:spcBef>
                          <a:spcPts val="1800"/>
                        </a:spcBef>
                        <a:spcAft>
                          <a:spcPts val="1800"/>
                        </a:spcAft>
                        <a:buClrTx/>
                        <a:buSzTx/>
                        <a:buFontTx/>
                        <a:buNone/>
                        <a:tabLst/>
                      </a:pPr>
                      <a:r>
                        <a:rPr lang="en-US" altLang="zh-CN" sz="2000" dirty="0" smtClean="0">
                          <a:effectLst/>
                          <a:latin typeface="Times New Roman" pitchFamily="18" charset="0"/>
                          <a:cs typeface="Times New Roman" pitchFamily="18" charset="0"/>
                        </a:rPr>
                        <a:t>Data block frame, the data area length is</a:t>
                      </a:r>
                      <a:r>
                        <a:rPr lang="en-US" altLang="zh-CN" sz="2000" baseline="0" dirty="0" smtClean="0">
                          <a:effectLst/>
                          <a:latin typeface="Times New Roman" pitchFamily="18" charset="0"/>
                          <a:cs typeface="Times New Roman" pitchFamily="18" charset="0"/>
                        </a:rPr>
                        <a:t> 512 bits</a:t>
                      </a:r>
                      <a:endParaRPr lang="zh-CN" altLang="zh-CN" sz="2000" b="0" kern="1200" dirty="0">
                        <a:solidFill>
                          <a:schemeClr val="dk1"/>
                        </a:solidFill>
                        <a:latin typeface="Times New Roman" pitchFamily="18" charset="0"/>
                        <a:ea typeface="+mn-ea"/>
                        <a:cs typeface="Times New Roman" pitchFamily="18" charset="0"/>
                      </a:endParaRPr>
                    </a:p>
                  </a:txBody>
                  <a:tcPr marL="9525" marR="9525" marT="9526" marB="0" anchor="ctr"/>
                </a:tc>
                <a:tc>
                  <a:txBody>
                    <a:bodyPr/>
                    <a:lstStyle/>
                    <a:p>
                      <a:pPr algn="ctr">
                        <a:lnSpc>
                          <a:spcPct val="150000"/>
                        </a:lnSpc>
                        <a:spcAft>
                          <a:spcPts val="0"/>
                        </a:spcAft>
                      </a:pPr>
                      <a:r>
                        <a:rPr lang="en-US" sz="2000" kern="1200" dirty="0">
                          <a:solidFill>
                            <a:schemeClr val="dk1"/>
                          </a:solidFill>
                          <a:effectLst/>
                          <a:latin typeface="Times New Roman" pitchFamily="18" charset="0"/>
                          <a:ea typeface="+mn-ea"/>
                          <a:cs typeface="Times New Roman" pitchFamily="18" charset="0"/>
                        </a:rPr>
                        <a:t>69H</a:t>
                      </a:r>
                      <a:endParaRPr lang="zh-CN" sz="2000" kern="1200" dirty="0">
                        <a:solidFill>
                          <a:schemeClr val="dk1"/>
                        </a:solidFill>
                        <a:effectLst/>
                        <a:latin typeface="Times New Roman" pitchFamily="18" charset="0"/>
                        <a:ea typeface="+mn-ea"/>
                        <a:cs typeface="Times New Roman" pitchFamily="18" charset="0"/>
                      </a:endParaRPr>
                    </a:p>
                  </a:txBody>
                  <a:tcPr marL="68577" marR="68577" marT="0" marB="0" anchor="ctr"/>
                </a:tc>
              </a:tr>
              <a:tr h="490924">
                <a:tc>
                  <a:txBody>
                    <a:bodyPr/>
                    <a:lstStyle/>
                    <a:p>
                      <a:pPr marL="0" marR="0" lvl="0" indent="0" algn="ctr" defTabSz="914400" rtl="0" eaLnBrk="1" fontAlgn="base" latinLnBrk="0" hangingPunct="1">
                        <a:lnSpc>
                          <a:spcPct val="100000"/>
                        </a:lnSpc>
                        <a:spcBef>
                          <a:spcPts val="1800"/>
                        </a:spcBef>
                        <a:spcAft>
                          <a:spcPts val="1800"/>
                        </a:spcAft>
                        <a:buClrTx/>
                        <a:buSzTx/>
                        <a:buFontTx/>
                        <a:buNone/>
                        <a:tabLst/>
                        <a:defRPr/>
                      </a:pPr>
                      <a:r>
                        <a:rPr lang="en-US" altLang="zh-CN" sz="2000" dirty="0" smtClean="0">
                          <a:effectLst/>
                          <a:latin typeface="Times New Roman" pitchFamily="18" charset="0"/>
                          <a:cs typeface="Times New Roman" pitchFamily="18" charset="0"/>
                        </a:rPr>
                        <a:t>Data block frame, the data area length is</a:t>
                      </a:r>
                      <a:r>
                        <a:rPr lang="en-US" altLang="zh-CN" sz="2000" baseline="0" dirty="0" smtClean="0">
                          <a:effectLst/>
                          <a:latin typeface="Times New Roman" pitchFamily="18" charset="0"/>
                          <a:cs typeface="Times New Roman" pitchFamily="18" charset="0"/>
                        </a:rPr>
                        <a:t> 1024 bits</a:t>
                      </a:r>
                      <a:endParaRPr lang="zh-CN" sz="2000" b="0" kern="1200" dirty="0">
                        <a:solidFill>
                          <a:schemeClr val="dk1"/>
                        </a:solidFill>
                        <a:latin typeface="Times New Roman" pitchFamily="18" charset="0"/>
                        <a:ea typeface="+mn-ea"/>
                        <a:cs typeface="Times New Roman" pitchFamily="18" charset="0"/>
                      </a:endParaRPr>
                    </a:p>
                  </a:txBody>
                  <a:tcPr marL="9525" marR="9525" marT="9526" marB="0" anchor="ctr"/>
                </a:tc>
                <a:tc>
                  <a:txBody>
                    <a:bodyPr/>
                    <a:lstStyle/>
                    <a:p>
                      <a:pPr algn="ctr">
                        <a:lnSpc>
                          <a:spcPct val="150000"/>
                        </a:lnSpc>
                        <a:spcAft>
                          <a:spcPts val="0"/>
                        </a:spcAft>
                      </a:pPr>
                      <a:r>
                        <a:rPr lang="en-US" sz="2000" kern="1200" dirty="0">
                          <a:solidFill>
                            <a:schemeClr val="dk1"/>
                          </a:solidFill>
                          <a:effectLst/>
                          <a:latin typeface="Times New Roman" pitchFamily="18" charset="0"/>
                          <a:ea typeface="+mn-ea"/>
                          <a:cs typeface="Times New Roman" pitchFamily="18" charset="0"/>
                        </a:rPr>
                        <a:t>99H</a:t>
                      </a:r>
                      <a:endParaRPr lang="zh-CN" sz="2000" kern="1200" dirty="0">
                        <a:solidFill>
                          <a:schemeClr val="dk1"/>
                        </a:solidFill>
                        <a:effectLst/>
                        <a:latin typeface="Times New Roman" pitchFamily="18" charset="0"/>
                        <a:ea typeface="+mn-ea"/>
                        <a:cs typeface="Times New Roman" pitchFamily="18" charset="0"/>
                      </a:endParaRPr>
                    </a:p>
                  </a:txBody>
                  <a:tcPr marL="68577" marR="68577" marT="0" marB="0" anchor="ctr"/>
                </a:tc>
              </a:tr>
              <a:tr h="490924">
                <a:tc>
                  <a:txBody>
                    <a:bodyPr/>
                    <a:lstStyle/>
                    <a:p>
                      <a:pPr marL="0" marR="0" lvl="0" indent="0" algn="ctr" defTabSz="914400" rtl="0" eaLnBrk="1" fontAlgn="base" latinLnBrk="0" hangingPunct="1">
                        <a:lnSpc>
                          <a:spcPct val="100000"/>
                        </a:lnSpc>
                        <a:spcBef>
                          <a:spcPts val="1800"/>
                        </a:spcBef>
                        <a:spcAft>
                          <a:spcPts val="1800"/>
                        </a:spcAft>
                        <a:buClrTx/>
                        <a:buSzTx/>
                        <a:buFontTx/>
                        <a:buNone/>
                        <a:tabLst/>
                      </a:pPr>
                      <a:r>
                        <a:rPr lang="en-US" altLang="zh-CN" sz="2000" dirty="0" smtClean="0">
                          <a:effectLst/>
                          <a:latin typeface="Times New Roman" pitchFamily="18" charset="0"/>
                          <a:cs typeface="Times New Roman" pitchFamily="18" charset="0"/>
                        </a:rPr>
                        <a:t>Data block frame, the data area length is</a:t>
                      </a:r>
                      <a:r>
                        <a:rPr lang="en-US" altLang="zh-CN" sz="2000" baseline="0" dirty="0" smtClean="0">
                          <a:effectLst/>
                          <a:latin typeface="Times New Roman" pitchFamily="18" charset="0"/>
                          <a:cs typeface="Times New Roman" pitchFamily="18" charset="0"/>
                        </a:rPr>
                        <a:t> 2048 bits</a:t>
                      </a:r>
                      <a:endParaRPr lang="zh-CN" altLang="zh-CN" sz="2000" b="0" kern="1200" dirty="0">
                        <a:solidFill>
                          <a:schemeClr val="dk1"/>
                        </a:solidFill>
                        <a:latin typeface="Times New Roman" pitchFamily="18" charset="0"/>
                        <a:ea typeface="+mn-ea"/>
                        <a:cs typeface="Times New Roman" pitchFamily="18" charset="0"/>
                      </a:endParaRPr>
                    </a:p>
                  </a:txBody>
                  <a:tcPr marL="9525" marR="9525" marT="9526" marB="0" anchor="ctr"/>
                </a:tc>
                <a:tc>
                  <a:txBody>
                    <a:bodyPr/>
                    <a:lstStyle/>
                    <a:p>
                      <a:pPr algn="ctr">
                        <a:lnSpc>
                          <a:spcPct val="150000"/>
                        </a:lnSpc>
                        <a:spcAft>
                          <a:spcPts val="0"/>
                        </a:spcAft>
                      </a:pPr>
                      <a:r>
                        <a:rPr lang="en-US" sz="2000" kern="1200" dirty="0">
                          <a:solidFill>
                            <a:schemeClr val="dk1"/>
                          </a:solidFill>
                          <a:effectLst/>
                          <a:latin typeface="Times New Roman" pitchFamily="18" charset="0"/>
                          <a:ea typeface="+mn-ea"/>
                          <a:cs typeface="Times New Roman" pitchFamily="18" charset="0"/>
                        </a:rPr>
                        <a:t>A5H</a:t>
                      </a:r>
                      <a:endParaRPr lang="zh-CN" sz="2000" kern="1200" dirty="0">
                        <a:solidFill>
                          <a:schemeClr val="dk1"/>
                        </a:solidFill>
                        <a:effectLst/>
                        <a:latin typeface="Times New Roman" pitchFamily="18" charset="0"/>
                        <a:ea typeface="+mn-ea"/>
                        <a:cs typeface="Times New Roman" pitchFamily="18" charset="0"/>
                      </a:endParaRPr>
                    </a:p>
                  </a:txBody>
                  <a:tcPr marL="68577" marR="68577" marT="0" marB="0" anchor="ctr"/>
                </a:tc>
              </a:tr>
            </a:tbl>
          </a:graphicData>
        </a:graphic>
      </p:graphicFrame>
      <p:sp>
        <p:nvSpPr>
          <p:cNvPr id="7" name="页脚占位符 4"/>
          <p:cNvSpPr txBox="1">
            <a:spLocks/>
          </p:cNvSpPr>
          <p:nvPr/>
        </p:nvSpPr>
        <p:spPr>
          <a:xfrm>
            <a:off x="971600" y="6359525"/>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8" name="灯片编号占位符 5"/>
          <p:cNvSpPr txBox="1">
            <a:spLocks/>
          </p:cNvSpPr>
          <p:nvPr/>
        </p:nvSpPr>
        <p:spPr>
          <a:xfrm>
            <a:off x="7884368" y="6356350"/>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21</a:t>
            </a:fld>
            <a:r>
              <a:rPr lang="zh-CN" altLang="en-US" smtClean="0"/>
              <a:t> </a:t>
            </a:r>
            <a:endParaRPr lang="zh-CN" altLang="en-US" dirty="0">
              <a:latin typeface="微软雅黑" pitchFamily="34" charset="-122"/>
              <a:ea typeface="微软雅黑" pitchFamily="34" charset="-122"/>
            </a:endParaRPr>
          </a:p>
        </p:txBody>
      </p:sp>
      <p:sp>
        <p:nvSpPr>
          <p:cNvPr id="13" name="标题 1"/>
          <p:cNvSpPr>
            <a:spLocks noGrp="1"/>
          </p:cNvSpPr>
          <p:nvPr>
            <p:ph type="title"/>
          </p:nvPr>
        </p:nvSpPr>
        <p:spPr>
          <a:xfrm>
            <a:off x="500034" y="214290"/>
            <a:ext cx="8229600" cy="928694"/>
          </a:xfrm>
        </p:spPr>
        <p:txBody>
          <a:bodyPr>
            <a:noAutofit/>
          </a:bodyPr>
          <a:lstStyle/>
          <a:p>
            <a:r>
              <a:rPr lang="en-US" sz="3200" cap="all" dirty="0" smtClean="0"/>
              <a:t>5</a:t>
            </a:r>
            <a:r>
              <a:rPr lang="en-US" altLang="zh-CN" sz="3200" dirty="0" smtClean="0"/>
              <a:t> Rule of Sending TC and Data Block</a:t>
            </a:r>
            <a:endParaRPr lang="zh-CN" altLang="en-US" sz="3200" dirty="0"/>
          </a:p>
        </p:txBody>
      </p:sp>
    </p:spTree>
    <p:extLst>
      <p:ext uri="{BB962C8B-B14F-4D97-AF65-F5344CB8AC3E}">
        <p14:creationId xmlns:p14="http://schemas.microsoft.com/office/powerpoint/2010/main" xmlns="" val="203263893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p:cNvSpPr>
            <a:spLocks noGrp="1"/>
          </p:cNvSpPr>
          <p:nvPr>
            <p:ph idx="1"/>
          </p:nvPr>
        </p:nvSpPr>
        <p:spPr>
          <a:xfrm>
            <a:off x="395536" y="1285861"/>
            <a:ext cx="8229600" cy="642941"/>
          </a:xfrm>
        </p:spPr>
        <p:txBody>
          <a:bodyPr>
            <a:normAutofit/>
          </a:bodyPr>
          <a:lstStyle/>
          <a:p>
            <a:pPr>
              <a:buFont typeface="Wingdings" pitchFamily="2" charset="2"/>
              <a:buChar char="p"/>
            </a:pPr>
            <a:r>
              <a:rPr lang="x-none" sz="2000" dirty="0" smtClean="0">
                <a:solidFill>
                  <a:srgbClr val="0070C0"/>
                </a:solidFill>
                <a:latin typeface="Times New Roman" pitchFamily="18" charset="0"/>
                <a:cs typeface="Times New Roman" pitchFamily="18" charset="0"/>
              </a:rPr>
              <a:t>Telemetry Frame</a:t>
            </a:r>
            <a:r>
              <a:rPr lang="en-US" sz="2000" dirty="0" smtClean="0">
                <a:solidFill>
                  <a:srgbClr val="0070C0"/>
                </a:solidFill>
                <a:latin typeface="Times New Roman" pitchFamily="18" charset="0"/>
                <a:cs typeface="Times New Roman" pitchFamily="18" charset="0"/>
              </a:rPr>
              <a:t> (128Byte, Fixed </a:t>
            </a:r>
            <a:r>
              <a:rPr lang="en-US" sz="2000" dirty="0" err="1" smtClean="0">
                <a:solidFill>
                  <a:srgbClr val="0070C0"/>
                </a:solidFill>
                <a:latin typeface="Times New Roman" pitchFamily="18" charset="0"/>
                <a:cs typeface="Times New Roman" pitchFamily="18" charset="0"/>
              </a:rPr>
              <a:t>lengh</a:t>
            </a:r>
            <a:r>
              <a:rPr lang="en-US" sz="2000" dirty="0" smtClean="0">
                <a:solidFill>
                  <a:srgbClr val="0070C0"/>
                </a:solidFill>
                <a:latin typeface="Times New Roman" pitchFamily="18" charset="0"/>
                <a:cs typeface="Times New Roman" pitchFamily="18" charset="0"/>
              </a:rPr>
              <a:t>)</a:t>
            </a:r>
            <a:endParaRPr lang="zh-CN" altLang="en-US" sz="2000" dirty="0" smtClean="0">
              <a:solidFill>
                <a:srgbClr val="0070C0"/>
              </a:solidFill>
              <a:latin typeface="Times New Roman" pitchFamily="18" charset="0"/>
              <a:cs typeface="Times New Roman" pitchFamily="18" charset="0"/>
            </a:endParaRPr>
          </a:p>
          <a:p>
            <a:endParaRPr lang="zh-CN" altLang="en-US" sz="2000" dirty="0">
              <a:latin typeface="Times New Roman" pitchFamily="18" charset="0"/>
              <a:cs typeface="Times New Roman" pitchFamily="18" charset="0"/>
            </a:endParaRPr>
          </a:p>
        </p:txBody>
      </p:sp>
      <p:sp>
        <p:nvSpPr>
          <p:cNvPr id="8" name="页脚占位符 4"/>
          <p:cNvSpPr>
            <a:spLocks noGrp="1"/>
          </p:cNvSpPr>
          <p:nvPr>
            <p:ph type="ftr" sz="quarter" idx="4294967295"/>
          </p:nvPr>
        </p:nvSpPr>
        <p:spPr>
          <a:xfrm>
            <a:off x="971600" y="6494442"/>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5"/>
          <p:cNvSpPr>
            <a:spLocks noGrp="1"/>
          </p:cNvSpPr>
          <p:nvPr>
            <p:ph type="sldNum" sz="quarter" idx="4294967295"/>
          </p:nvPr>
        </p:nvSpPr>
        <p:spPr>
          <a:xfrm>
            <a:off x="7884368" y="6491267"/>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22</a:t>
            </a:fld>
            <a:r>
              <a:rPr lang="zh-CN" altLang="en-US" dirty="0" smtClean="0"/>
              <a:t> </a:t>
            </a:r>
            <a:endParaRPr lang="zh-CN" altLang="en-US" dirty="0">
              <a:latin typeface="微软雅黑" pitchFamily="34" charset="-122"/>
              <a:ea typeface="微软雅黑" pitchFamily="34" charset="-122"/>
            </a:endParaRPr>
          </a:p>
        </p:txBody>
      </p:sp>
      <p:sp>
        <p:nvSpPr>
          <p:cNvPr id="14" name="标题 1"/>
          <p:cNvSpPr>
            <a:spLocks noGrp="1"/>
          </p:cNvSpPr>
          <p:nvPr>
            <p:ph type="title"/>
          </p:nvPr>
        </p:nvSpPr>
        <p:spPr>
          <a:xfrm>
            <a:off x="500034" y="214290"/>
            <a:ext cx="8229600" cy="928694"/>
          </a:xfrm>
        </p:spPr>
        <p:txBody>
          <a:bodyPr>
            <a:noAutofit/>
          </a:bodyPr>
          <a:lstStyle/>
          <a:p>
            <a:r>
              <a:rPr lang="en-US" sz="3200" cap="all" dirty="0" smtClean="0"/>
              <a:t>5</a:t>
            </a:r>
            <a:r>
              <a:rPr lang="en-US" altLang="zh-CN" sz="3200" dirty="0" smtClean="0"/>
              <a:t> Rule of Sending TC and Data Block</a:t>
            </a:r>
            <a:endParaRPr lang="zh-CN" altLang="en-US" sz="3200" dirty="0"/>
          </a:p>
        </p:txBody>
      </p:sp>
      <p:graphicFrame>
        <p:nvGraphicFramePr>
          <p:cNvPr id="7" name="表格 6"/>
          <p:cNvGraphicFramePr>
            <a:graphicFrameLocks noGrp="1"/>
          </p:cNvGraphicFramePr>
          <p:nvPr/>
        </p:nvGraphicFramePr>
        <p:xfrm>
          <a:off x="500034" y="2055810"/>
          <a:ext cx="8429689" cy="4087834"/>
        </p:xfrm>
        <a:graphic>
          <a:graphicData uri="http://schemas.openxmlformats.org/drawingml/2006/table">
            <a:tbl>
              <a:tblPr/>
              <a:tblGrid>
                <a:gridCol w="482814"/>
                <a:gridCol w="448261"/>
                <a:gridCol w="450081"/>
                <a:gridCol w="450081"/>
                <a:gridCol w="450081"/>
                <a:gridCol w="450081"/>
                <a:gridCol w="450081"/>
                <a:gridCol w="450081"/>
                <a:gridCol w="440078"/>
                <a:gridCol w="581922"/>
                <a:gridCol w="544642"/>
                <a:gridCol w="444625"/>
                <a:gridCol w="450081"/>
                <a:gridCol w="450989"/>
                <a:gridCol w="450081"/>
                <a:gridCol w="450081"/>
                <a:gridCol w="450989"/>
                <a:gridCol w="534640"/>
              </a:tblGrid>
              <a:tr h="643974">
                <a:tc>
                  <a:txBody>
                    <a:bodyPr/>
                    <a:lstStyle/>
                    <a:p>
                      <a:pPr algn="ctr">
                        <a:lnSpc>
                          <a:spcPct val="125000"/>
                        </a:lnSpc>
                        <a:spcAft>
                          <a:spcPts val="60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2</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3</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4</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5</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6</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7</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8</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13</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14</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15</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16</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17</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a:latin typeface="Times New Roman"/>
                          <a:ea typeface="宋体"/>
                          <a:cs typeface="Times New Roman"/>
                        </a:rPr>
                        <a:t>127</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5896">
                <a:tc>
                  <a:txBody>
                    <a:bodyPr/>
                    <a:lstStyle/>
                    <a:p>
                      <a:pPr algn="ctr">
                        <a:lnSpc>
                          <a:spcPct val="125000"/>
                        </a:lnSpc>
                        <a:spcAft>
                          <a:spcPts val="600"/>
                        </a:spcAft>
                      </a:pPr>
                      <a:r>
                        <a:rPr lang="en-US" sz="1400" kern="100">
                          <a:latin typeface="Times New Roman"/>
                          <a:ea typeface="宋体"/>
                          <a:cs typeface="Times New Roman"/>
                        </a:rPr>
                        <a:t>EB</a:t>
                      </a:r>
                      <a:endParaRPr lang="zh-CN" sz="1400" kern="10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90</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a:latin typeface="Times New Roman"/>
                          <a:ea typeface="宋体"/>
                          <a:cs typeface="Times New Roman"/>
                        </a:rPr>
                        <a:t>##</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57828">
                <a:tc gridSpan="2">
                  <a:txBody>
                    <a:bodyPr/>
                    <a:lstStyle/>
                    <a:p>
                      <a:pPr algn="just">
                        <a:lnSpc>
                          <a:spcPct val="125000"/>
                        </a:lnSpc>
                        <a:spcAft>
                          <a:spcPts val="600"/>
                        </a:spcAft>
                      </a:pPr>
                      <a:endParaRPr lang="en-US" sz="1400" kern="100" dirty="0">
                        <a:latin typeface="Times New Roman"/>
                        <a:ea typeface="宋体"/>
                        <a:cs typeface="Times New Roman"/>
                      </a:endParaRPr>
                    </a:p>
                    <a:p>
                      <a:pPr algn="ctr">
                        <a:spcAft>
                          <a:spcPts val="0"/>
                        </a:spcAft>
                      </a:pPr>
                      <a:r>
                        <a:rPr lang="en-US" sz="1400" kern="100" dirty="0" smtClean="0"/>
                        <a:t>Frame Synchronization Marker</a:t>
                      </a:r>
                      <a:endParaRPr lang="zh-CN" altLang="en-US" sz="1400" b="1" kern="100" dirty="0">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indent="158750" algn="just">
                        <a:lnSpc>
                          <a:spcPct val="125000"/>
                        </a:lnSpc>
                        <a:spcAft>
                          <a:spcPts val="600"/>
                        </a:spcAft>
                      </a:pPr>
                      <a:endParaRPr lang="en-US" sz="1400" kern="100" dirty="0">
                        <a:latin typeface="Times New Roman"/>
                        <a:ea typeface="宋体"/>
                        <a:cs typeface="Times New Roman"/>
                      </a:endParaRPr>
                    </a:p>
                    <a:p>
                      <a:pPr algn="ctr">
                        <a:spcAft>
                          <a:spcPts val="0"/>
                        </a:spcAft>
                      </a:pPr>
                      <a:r>
                        <a:rPr lang="en-US" sz="1400" kern="100" dirty="0" smtClean="0"/>
                        <a:t>Encryption information </a:t>
                      </a:r>
                      <a:endParaRPr lang="zh-CN" altLang="en-US" sz="1400" b="1" kern="100" dirty="0">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just">
                        <a:lnSpc>
                          <a:spcPct val="125000"/>
                        </a:lnSpc>
                        <a:spcAft>
                          <a:spcPts val="600"/>
                        </a:spcAft>
                      </a:pPr>
                      <a:endParaRPr lang="en-US" sz="1400" kern="100" dirty="0">
                        <a:latin typeface="Times New Roman"/>
                        <a:ea typeface="宋体"/>
                        <a:cs typeface="Times New Roman"/>
                      </a:endParaRPr>
                    </a:p>
                    <a:p>
                      <a:pPr algn="just">
                        <a:lnSpc>
                          <a:spcPct val="125000"/>
                        </a:lnSpc>
                        <a:spcAft>
                          <a:spcPts val="600"/>
                        </a:spcAft>
                      </a:pPr>
                      <a:r>
                        <a:rPr lang="en-US" altLang="zh-CN" sz="1400" kern="100" dirty="0" smtClean="0">
                          <a:latin typeface="Times New Roman"/>
                          <a:ea typeface="+mn-ea"/>
                          <a:cs typeface="Times New Roman"/>
                        </a:rPr>
                        <a:t>Identity</a:t>
                      </a:r>
                    </a:p>
                    <a:p>
                      <a:pPr algn="just">
                        <a:lnSpc>
                          <a:spcPct val="125000"/>
                        </a:lnSpc>
                        <a:spcAft>
                          <a:spcPts val="600"/>
                        </a:spcAft>
                      </a:pPr>
                      <a:r>
                        <a:rPr lang="en-US" altLang="zh-CN" sz="1400" kern="100" dirty="0" smtClean="0">
                          <a:latin typeface="Times New Roman"/>
                          <a:ea typeface="+mn-ea"/>
                          <a:cs typeface="Times New Roman"/>
                        </a:rPr>
                        <a:t>code</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just">
                        <a:lnSpc>
                          <a:spcPct val="125000"/>
                        </a:lnSpc>
                        <a:spcAft>
                          <a:spcPts val="600"/>
                        </a:spcAft>
                      </a:pPr>
                      <a:endParaRPr lang="en-US" sz="1400" kern="100" dirty="0">
                        <a:latin typeface="Times New Roman"/>
                        <a:ea typeface="宋体"/>
                        <a:cs typeface="Times New Roman"/>
                      </a:endParaRPr>
                    </a:p>
                    <a:p>
                      <a:pPr algn="ctr">
                        <a:spcAft>
                          <a:spcPts val="0"/>
                        </a:spcAft>
                      </a:pPr>
                      <a:r>
                        <a:rPr lang="en-US" sz="1400" kern="100" dirty="0" smtClean="0"/>
                        <a:t>Fixed Format Telemetry</a:t>
                      </a:r>
                      <a:endParaRPr lang="zh-CN" altLang="en-US" sz="1400" b="1" kern="100" dirty="0">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dirty="0" smtClean="0"/>
                        <a:t>Master Channel Frame count</a:t>
                      </a:r>
                      <a:endParaRPr lang="zh-CN" altLang="en-US" sz="1400" b="1" kern="100" dirty="0">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smtClean="0"/>
                        <a:t>Virtual Channel Frame count</a:t>
                      </a:r>
                      <a:endParaRPr lang="zh-CN" altLang="en-US" sz="1400" b="1" kern="100" dirty="0">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smtClean="0"/>
                        <a:t>Master Header Pointer</a:t>
                      </a:r>
                      <a:endParaRPr lang="zh-CN" altLang="en-US" sz="1400" b="1" kern="100" dirty="0">
                        <a:latin typeface="Times New Roman" pitchFamily="18" charset="0"/>
                        <a:ea typeface="+mn-ea"/>
                        <a:cs typeface="Times New Roman" pitchFamily="18" charset="0"/>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just">
                        <a:lnSpc>
                          <a:spcPct val="125000"/>
                        </a:lnSpc>
                        <a:spcAft>
                          <a:spcPts val="600"/>
                        </a:spcAft>
                      </a:pPr>
                      <a:endParaRPr lang="en-US" sz="1400" kern="100" dirty="0">
                        <a:latin typeface="Times New Roman"/>
                        <a:ea typeface="宋体"/>
                        <a:cs typeface="Times New Roman"/>
                      </a:endParaRPr>
                    </a:p>
                    <a:p>
                      <a:pPr indent="79375" algn="just">
                        <a:lnSpc>
                          <a:spcPct val="125000"/>
                        </a:lnSpc>
                        <a:spcAft>
                          <a:spcPts val="600"/>
                        </a:spcAft>
                      </a:pPr>
                      <a:r>
                        <a:rPr lang="en-US" sz="1400" kern="100" dirty="0" smtClean="0"/>
                        <a:t>Data Field</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r h="580136">
                <a:tc gridSpan="2">
                  <a:txBody>
                    <a:bodyPr/>
                    <a:lstStyle/>
                    <a:p>
                      <a:pPr algn="ctr">
                        <a:lnSpc>
                          <a:spcPct val="125000"/>
                        </a:lnSpc>
                        <a:spcAft>
                          <a:spcPts val="600"/>
                        </a:spcAft>
                      </a:pPr>
                      <a:r>
                        <a:rPr lang="en-US" sz="1400" kern="100" dirty="0" smtClean="0">
                          <a:latin typeface="Times New Roman"/>
                          <a:ea typeface="宋体"/>
                          <a:cs typeface="Times New Roman"/>
                        </a:rPr>
                        <a:t>2</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1400" kern="100" dirty="0" smtClean="0">
                          <a:latin typeface="Times New Roman"/>
                          <a:ea typeface="宋体"/>
                          <a:cs typeface="Times New Roman"/>
                        </a:rPr>
                        <a:t>4</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a:lnSpc>
                          <a:spcPct val="125000"/>
                        </a:lnSpc>
                        <a:spcAft>
                          <a:spcPts val="600"/>
                        </a:spcAft>
                      </a:pPr>
                      <a:r>
                        <a:rPr lang="en-US" sz="1400" kern="100" dirty="0" smtClean="0">
                          <a:latin typeface="Times New Roman"/>
                          <a:ea typeface="宋体"/>
                          <a:cs typeface="Times New Roman"/>
                        </a:rPr>
                        <a:t>2</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1400" kern="100" dirty="0" smtClean="0">
                          <a:latin typeface="Times New Roman"/>
                          <a:ea typeface="宋体"/>
                          <a:cs typeface="Times New Roman"/>
                        </a:rPr>
                        <a:t>6</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lnSpc>
                          <a:spcPct val="125000"/>
                        </a:lnSpc>
                        <a:spcAft>
                          <a:spcPts val="600"/>
                        </a:spcAft>
                      </a:pPr>
                      <a:r>
                        <a:rPr lang="en-US" sz="1400" kern="100" dirty="0" smtClean="0">
                          <a:latin typeface="Times New Roman"/>
                          <a:ea typeface="宋体"/>
                          <a:cs typeface="Times New Roman"/>
                        </a:rPr>
                        <a:t>1</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smtClean="0">
                          <a:latin typeface="Times New Roman"/>
                          <a:ea typeface="宋体"/>
                          <a:cs typeface="Times New Roman"/>
                        </a:rPr>
                        <a:t>1</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1400" kern="100" dirty="0" smtClean="0">
                          <a:latin typeface="Times New Roman"/>
                          <a:ea typeface="宋体"/>
                          <a:cs typeface="Times New Roman"/>
                        </a:rPr>
                        <a:t>1</a:t>
                      </a:r>
                      <a:r>
                        <a:rPr lang="en-US" sz="1400" kern="100" dirty="0" smtClean="0"/>
                        <a:t>bytes</a:t>
                      </a:r>
                      <a:endParaRPr lang="zh-CN"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25000"/>
                        </a:lnSpc>
                        <a:spcAft>
                          <a:spcPts val="600"/>
                        </a:spcAft>
                      </a:pPr>
                      <a:r>
                        <a:rPr lang="en-US" sz="1400" kern="100" dirty="0" smtClean="0">
                          <a:latin typeface="Times New Roman"/>
                          <a:ea typeface="宋体"/>
                          <a:cs typeface="Times New Roman"/>
                        </a:rPr>
                        <a:t>111</a:t>
                      </a:r>
                      <a:r>
                        <a:rPr lang="en-US" sz="1400" kern="100" dirty="0" smtClean="0"/>
                        <a:t>bytes</a:t>
                      </a:r>
                      <a:endParaRPr lang="en-US" sz="1400" kern="100" dirty="0">
                        <a:latin typeface="Times New Roman"/>
                        <a:ea typeface="宋体"/>
                        <a:cs typeface="Times New Roman"/>
                      </a:endParaRP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Box 5"/>
          <p:cNvSpPr txBox="1">
            <a:spLocks noChangeArrowheads="1"/>
          </p:cNvSpPr>
          <p:nvPr/>
        </p:nvSpPr>
        <p:spPr bwMode="auto">
          <a:xfrm>
            <a:off x="285720" y="1857364"/>
            <a:ext cx="8424863" cy="487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82954" tIns="41477" rIns="82954" bIns="41477">
            <a:spAutoFit/>
          </a:bodyPr>
          <a:lstStyle>
            <a:lvl1pPr marL="719138" indent="-358775" eaLnBrk="0" hangingPunct="0">
              <a:defRPr sz="2000" b="1">
                <a:solidFill>
                  <a:srgbClr val="575F6D"/>
                </a:solidFill>
                <a:latin typeface="Arial" charset="0"/>
                <a:ea typeface="宋体" charset="-122"/>
              </a:defRPr>
            </a:lvl1pPr>
            <a:lvl2pPr marL="742950" indent="-285750" eaLnBrk="0" hangingPunct="0">
              <a:defRPr sz="2000" b="1">
                <a:solidFill>
                  <a:srgbClr val="575F6D"/>
                </a:solidFill>
                <a:latin typeface="Arial" charset="0"/>
                <a:ea typeface="宋体" charset="-122"/>
              </a:defRPr>
            </a:lvl2pPr>
            <a:lvl3pPr marL="1143000" indent="-228600" eaLnBrk="0" hangingPunct="0">
              <a:defRPr sz="2000" b="1">
                <a:solidFill>
                  <a:srgbClr val="575F6D"/>
                </a:solidFill>
                <a:latin typeface="Arial" charset="0"/>
                <a:ea typeface="宋体" charset="-122"/>
              </a:defRPr>
            </a:lvl3pPr>
            <a:lvl4pPr marL="1600200" indent="-228600" eaLnBrk="0" hangingPunct="0">
              <a:defRPr sz="2000" b="1">
                <a:solidFill>
                  <a:srgbClr val="575F6D"/>
                </a:solidFill>
                <a:latin typeface="Arial" charset="0"/>
                <a:ea typeface="宋体" charset="-122"/>
              </a:defRPr>
            </a:lvl4pPr>
            <a:lvl5pPr marL="2057400" indent="-228600" eaLnBrk="0" hangingPunct="0">
              <a:defRPr sz="2000" b="1">
                <a:solidFill>
                  <a:srgbClr val="575F6D"/>
                </a:solidFill>
                <a:latin typeface="Arial" charset="0"/>
                <a:ea typeface="宋体" charset="-122"/>
              </a:defRPr>
            </a:lvl5pPr>
            <a:lvl6pPr marL="2514600" indent="-228600" algn="ctr" eaLnBrk="0" fontAlgn="base" hangingPunct="0">
              <a:spcBef>
                <a:spcPct val="0"/>
              </a:spcBef>
              <a:spcAft>
                <a:spcPct val="0"/>
              </a:spcAft>
              <a:defRPr sz="2000" b="1">
                <a:solidFill>
                  <a:srgbClr val="575F6D"/>
                </a:solidFill>
                <a:latin typeface="Arial" charset="0"/>
                <a:ea typeface="宋体" charset="-122"/>
              </a:defRPr>
            </a:lvl6pPr>
            <a:lvl7pPr marL="2971800" indent="-228600" algn="ctr" eaLnBrk="0" fontAlgn="base" hangingPunct="0">
              <a:spcBef>
                <a:spcPct val="0"/>
              </a:spcBef>
              <a:spcAft>
                <a:spcPct val="0"/>
              </a:spcAft>
              <a:defRPr sz="2000" b="1">
                <a:solidFill>
                  <a:srgbClr val="575F6D"/>
                </a:solidFill>
                <a:latin typeface="Arial" charset="0"/>
                <a:ea typeface="宋体" charset="-122"/>
              </a:defRPr>
            </a:lvl7pPr>
            <a:lvl8pPr marL="3429000" indent="-228600" algn="ctr" eaLnBrk="0" fontAlgn="base" hangingPunct="0">
              <a:spcBef>
                <a:spcPct val="0"/>
              </a:spcBef>
              <a:spcAft>
                <a:spcPct val="0"/>
              </a:spcAft>
              <a:defRPr sz="2000" b="1">
                <a:solidFill>
                  <a:srgbClr val="575F6D"/>
                </a:solidFill>
                <a:latin typeface="Arial" charset="0"/>
                <a:ea typeface="宋体" charset="-122"/>
              </a:defRPr>
            </a:lvl8pPr>
            <a:lvl9pPr marL="3886200" indent="-228600" algn="ctr" eaLnBrk="0" fontAlgn="base" hangingPunct="0">
              <a:spcBef>
                <a:spcPct val="0"/>
              </a:spcBef>
              <a:spcAft>
                <a:spcPct val="0"/>
              </a:spcAft>
              <a:defRPr sz="2000" b="1">
                <a:solidFill>
                  <a:srgbClr val="575F6D"/>
                </a:solidFill>
                <a:latin typeface="Arial" charset="0"/>
                <a:ea typeface="宋体" charset="-122"/>
              </a:defRPr>
            </a:lvl9pPr>
          </a:lstStyle>
          <a:p>
            <a:pPr algn="l" eaLnBrk="1" hangingPunct="1">
              <a:lnSpc>
                <a:spcPct val="150000"/>
              </a:lnSpc>
              <a:buFont typeface="Arial" pitchFamily="34" charset="0"/>
              <a:buChar char="•"/>
            </a:pPr>
            <a:r>
              <a:rPr lang="en-US" altLang="zh-CN" dirty="0">
                <a:solidFill>
                  <a:srgbClr val="0070C0"/>
                </a:solidFill>
              </a:rPr>
              <a:t>Direct command</a:t>
            </a:r>
            <a:endParaRPr lang="zh-CN" altLang="zh-CN" dirty="0">
              <a:solidFill>
                <a:srgbClr val="0070C0"/>
              </a:solidFill>
            </a:endParaRPr>
          </a:p>
        </p:txBody>
      </p:sp>
      <p:graphicFrame>
        <p:nvGraphicFramePr>
          <p:cNvPr id="36870" name="对象 16"/>
          <p:cNvGraphicFramePr>
            <a:graphicFrameLocks noChangeAspect="1"/>
          </p:cNvGraphicFramePr>
          <p:nvPr/>
        </p:nvGraphicFramePr>
        <p:xfrm>
          <a:off x="942975" y="2312988"/>
          <a:ext cx="7158038" cy="1308100"/>
        </p:xfrm>
        <a:graphic>
          <a:graphicData uri="http://schemas.openxmlformats.org/presentationml/2006/ole">
            <p:oleObj spid="_x0000_s6153" name="Visio" r:id="rId4" imgW="3945255" imgH="721519" progId="">
              <p:embed/>
            </p:oleObj>
          </a:graphicData>
        </a:graphic>
      </p:graphicFrame>
      <p:sp>
        <p:nvSpPr>
          <p:cNvPr id="9" name="页脚占位符 4"/>
          <p:cNvSpPr txBox="1">
            <a:spLocks/>
          </p:cNvSpPr>
          <p:nvPr/>
        </p:nvSpPr>
        <p:spPr>
          <a:xfrm>
            <a:off x="971600" y="6494442"/>
            <a:ext cx="6480720" cy="363558"/>
          </a:xfrm>
          <a:prstGeom prst="rect">
            <a:avLst/>
          </a:prstGeom>
        </p:spPr>
        <p:txBody>
          <a:bodyPr vert="horz" lIns="91440" tIns="45720" rIns="91440" bIns="45720" rtlCol="0" anchor="ctr"/>
          <a:lstStyle>
            <a:defPPr>
              <a:defRPr lang="zh-CN"/>
            </a:defPPr>
            <a:lvl1pPr marL="0" algn="ctr" defTabSz="914400" rtl="0" eaLnBrk="1" latinLnBrk="0" hangingPunct="1">
              <a:defRPr sz="700" b="0" kern="1200">
                <a:solidFill>
                  <a:schemeClr val="tx1"/>
                </a:solidFill>
                <a:latin typeface="微软雅黑" pitchFamily="34" charset="-122"/>
                <a:ea typeface="微软雅黑" pitchFamily="34" charset="-122"/>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10" name="灯片编号占位符 5"/>
          <p:cNvSpPr txBox="1">
            <a:spLocks/>
          </p:cNvSpPr>
          <p:nvPr/>
        </p:nvSpPr>
        <p:spPr>
          <a:xfrm>
            <a:off x="7884368" y="6491267"/>
            <a:ext cx="80243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050" smtClean="0">
                <a:latin typeface="微软雅黑" pitchFamily="34" charset="-122"/>
                <a:ea typeface="微软雅黑" pitchFamily="34" charset="-122"/>
              </a:rPr>
              <a:t>PAGE</a:t>
            </a:r>
            <a:r>
              <a:rPr lang="zh-CN" altLang="en-US" sz="1050" smtClean="0"/>
              <a:t> </a:t>
            </a:r>
            <a:fld id="{E1EFCB46-C834-4067-A327-0EA79FD50686}" type="slidenum">
              <a:rPr lang="zh-CN" altLang="en-US" sz="1050" smtClean="0"/>
              <a:pPr/>
              <a:t>23</a:t>
            </a:fld>
            <a:r>
              <a:rPr lang="zh-CN" altLang="en-US" smtClean="0"/>
              <a:t> </a:t>
            </a:r>
            <a:endParaRPr lang="zh-CN" altLang="en-US" dirty="0">
              <a:latin typeface="微软雅黑" pitchFamily="34" charset="-122"/>
              <a:ea typeface="微软雅黑" pitchFamily="34" charset="-122"/>
            </a:endParaRPr>
          </a:p>
        </p:txBody>
      </p:sp>
      <p:sp>
        <p:nvSpPr>
          <p:cNvPr id="13" name="标题 1"/>
          <p:cNvSpPr>
            <a:spLocks noGrp="1"/>
          </p:cNvSpPr>
          <p:nvPr>
            <p:ph type="title"/>
          </p:nvPr>
        </p:nvSpPr>
        <p:spPr>
          <a:xfrm>
            <a:off x="500034" y="214290"/>
            <a:ext cx="8229600" cy="928694"/>
          </a:xfrm>
        </p:spPr>
        <p:txBody>
          <a:bodyPr>
            <a:noAutofit/>
          </a:bodyPr>
          <a:lstStyle/>
          <a:p>
            <a:r>
              <a:rPr lang="en-US" sz="3200" cap="all" dirty="0" smtClean="0"/>
              <a:t>5</a:t>
            </a:r>
            <a:r>
              <a:rPr lang="en-US" altLang="zh-CN" sz="3200" dirty="0" smtClean="0"/>
              <a:t> Rule of Sending TC and Data Block</a:t>
            </a:r>
            <a:endParaRPr lang="zh-CN" altLang="en-US" sz="3200" dirty="0"/>
          </a:p>
        </p:txBody>
      </p:sp>
      <p:sp>
        <p:nvSpPr>
          <p:cNvPr id="14" name="TextBox 5"/>
          <p:cNvSpPr txBox="1">
            <a:spLocks noChangeArrowheads="1"/>
          </p:cNvSpPr>
          <p:nvPr/>
        </p:nvSpPr>
        <p:spPr bwMode="auto">
          <a:xfrm>
            <a:off x="642910" y="1285860"/>
            <a:ext cx="6126076" cy="57139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82954" tIns="41477" rIns="82954" bIns="41477">
            <a:spAutoFit/>
          </a:bodyPr>
          <a:lstStyle>
            <a:lvl1pPr marL="719138" indent="-358775" eaLnBrk="0" hangingPunct="0">
              <a:defRPr sz="2000" b="1">
                <a:solidFill>
                  <a:srgbClr val="575F6D"/>
                </a:solidFill>
                <a:latin typeface="Arial" charset="0"/>
                <a:ea typeface="宋体" charset="-122"/>
              </a:defRPr>
            </a:lvl1pPr>
            <a:lvl2pPr marL="742950" indent="-285750" eaLnBrk="0" hangingPunct="0">
              <a:defRPr sz="2000" b="1">
                <a:solidFill>
                  <a:srgbClr val="575F6D"/>
                </a:solidFill>
                <a:latin typeface="Arial" charset="0"/>
                <a:ea typeface="宋体" charset="-122"/>
              </a:defRPr>
            </a:lvl2pPr>
            <a:lvl3pPr marL="1143000" indent="-228600" eaLnBrk="0" hangingPunct="0">
              <a:defRPr sz="2000" b="1">
                <a:solidFill>
                  <a:srgbClr val="575F6D"/>
                </a:solidFill>
                <a:latin typeface="Arial" charset="0"/>
                <a:ea typeface="宋体" charset="-122"/>
              </a:defRPr>
            </a:lvl3pPr>
            <a:lvl4pPr marL="1600200" indent="-228600" eaLnBrk="0" hangingPunct="0">
              <a:defRPr sz="2000" b="1">
                <a:solidFill>
                  <a:srgbClr val="575F6D"/>
                </a:solidFill>
                <a:latin typeface="Arial" charset="0"/>
                <a:ea typeface="宋体" charset="-122"/>
              </a:defRPr>
            </a:lvl4pPr>
            <a:lvl5pPr marL="2057400" indent="-228600" eaLnBrk="0" hangingPunct="0">
              <a:defRPr sz="2000" b="1">
                <a:solidFill>
                  <a:srgbClr val="575F6D"/>
                </a:solidFill>
                <a:latin typeface="Arial" charset="0"/>
                <a:ea typeface="宋体" charset="-122"/>
              </a:defRPr>
            </a:lvl5pPr>
            <a:lvl6pPr marL="2514600" indent="-228600" algn="ctr" eaLnBrk="0" fontAlgn="base" hangingPunct="0">
              <a:spcBef>
                <a:spcPct val="0"/>
              </a:spcBef>
              <a:spcAft>
                <a:spcPct val="0"/>
              </a:spcAft>
              <a:defRPr sz="2000" b="1">
                <a:solidFill>
                  <a:srgbClr val="575F6D"/>
                </a:solidFill>
                <a:latin typeface="Arial" charset="0"/>
                <a:ea typeface="宋体" charset="-122"/>
              </a:defRPr>
            </a:lvl6pPr>
            <a:lvl7pPr marL="2971800" indent="-228600" algn="ctr" eaLnBrk="0" fontAlgn="base" hangingPunct="0">
              <a:spcBef>
                <a:spcPct val="0"/>
              </a:spcBef>
              <a:spcAft>
                <a:spcPct val="0"/>
              </a:spcAft>
              <a:defRPr sz="2000" b="1">
                <a:solidFill>
                  <a:srgbClr val="575F6D"/>
                </a:solidFill>
                <a:latin typeface="Arial" charset="0"/>
                <a:ea typeface="宋体" charset="-122"/>
              </a:defRPr>
            </a:lvl7pPr>
            <a:lvl8pPr marL="3429000" indent="-228600" algn="ctr" eaLnBrk="0" fontAlgn="base" hangingPunct="0">
              <a:spcBef>
                <a:spcPct val="0"/>
              </a:spcBef>
              <a:spcAft>
                <a:spcPct val="0"/>
              </a:spcAft>
              <a:defRPr sz="2000" b="1">
                <a:solidFill>
                  <a:srgbClr val="575F6D"/>
                </a:solidFill>
                <a:latin typeface="Arial" charset="0"/>
                <a:ea typeface="宋体" charset="-122"/>
              </a:defRPr>
            </a:lvl8pPr>
            <a:lvl9pPr marL="3886200" indent="-228600" algn="ctr" eaLnBrk="0" fontAlgn="base" hangingPunct="0">
              <a:spcBef>
                <a:spcPct val="0"/>
              </a:spcBef>
              <a:spcAft>
                <a:spcPct val="0"/>
              </a:spcAft>
              <a:defRPr sz="2000" b="1">
                <a:solidFill>
                  <a:srgbClr val="575F6D"/>
                </a:solidFill>
                <a:latin typeface="Arial" charset="0"/>
                <a:ea typeface="宋体" charset="-122"/>
              </a:defRPr>
            </a:lvl9pPr>
          </a:lstStyle>
          <a:p>
            <a:pPr marL="342900" indent="-342900" eaLnBrk="1" hangingPunct="1">
              <a:lnSpc>
                <a:spcPct val="150000"/>
              </a:lnSpc>
              <a:buFont typeface="Wingdings" pitchFamily="2" charset="2"/>
              <a:buChar char="p"/>
            </a:pPr>
            <a:r>
              <a:rPr lang="en-US" altLang="zh-CN" sz="2400" dirty="0" smtClean="0">
                <a:solidFill>
                  <a:srgbClr val="0070C0"/>
                </a:solidFill>
                <a:latin typeface="Times New Roman" pitchFamily="18" charset="0"/>
                <a:ea typeface="微软雅黑" pitchFamily="34" charset="-122"/>
                <a:cs typeface="Times New Roman" pitchFamily="18" charset="0"/>
              </a:rPr>
              <a:t>Interval time </a:t>
            </a:r>
            <a:endParaRPr lang="zh-CN" altLang="zh-CN" sz="2400" dirty="0" smtClean="0">
              <a:solidFill>
                <a:srgbClr val="0070C0"/>
              </a:solidFill>
              <a:latin typeface="Times New Roman" pitchFamily="18" charset="0"/>
              <a:ea typeface="微软雅黑" pitchFamily="34" charset="-122"/>
              <a:cs typeface="Times New Roman" pitchFamily="18" charset="0"/>
            </a:endParaRPr>
          </a:p>
        </p:txBody>
      </p:sp>
      <p:sp>
        <p:nvSpPr>
          <p:cNvPr id="15" name="TextBox 5"/>
          <p:cNvSpPr txBox="1">
            <a:spLocks noChangeArrowheads="1"/>
          </p:cNvSpPr>
          <p:nvPr/>
        </p:nvSpPr>
        <p:spPr bwMode="auto">
          <a:xfrm>
            <a:off x="361947" y="3929066"/>
            <a:ext cx="3352797" cy="5454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82954" tIns="41477" rIns="82954" bIns="41477">
            <a:spAutoFit/>
          </a:bodyPr>
          <a:lstStyle>
            <a:lvl1pPr marL="719138" indent="-358775" eaLnBrk="0" hangingPunct="0">
              <a:defRPr sz="2000" b="1">
                <a:solidFill>
                  <a:srgbClr val="575F6D"/>
                </a:solidFill>
                <a:latin typeface="Arial" charset="0"/>
                <a:ea typeface="宋体" charset="-122"/>
              </a:defRPr>
            </a:lvl1pPr>
            <a:lvl2pPr marL="742950" indent="-285750" eaLnBrk="0" hangingPunct="0">
              <a:defRPr sz="2000" b="1">
                <a:solidFill>
                  <a:srgbClr val="575F6D"/>
                </a:solidFill>
                <a:latin typeface="Arial" charset="0"/>
                <a:ea typeface="宋体" charset="-122"/>
              </a:defRPr>
            </a:lvl2pPr>
            <a:lvl3pPr marL="1143000" indent="-228600" eaLnBrk="0" hangingPunct="0">
              <a:defRPr sz="2000" b="1">
                <a:solidFill>
                  <a:srgbClr val="575F6D"/>
                </a:solidFill>
                <a:latin typeface="Arial" charset="0"/>
                <a:ea typeface="宋体" charset="-122"/>
              </a:defRPr>
            </a:lvl3pPr>
            <a:lvl4pPr marL="1600200" indent="-228600" eaLnBrk="0" hangingPunct="0">
              <a:defRPr sz="2000" b="1">
                <a:solidFill>
                  <a:srgbClr val="575F6D"/>
                </a:solidFill>
                <a:latin typeface="Arial" charset="0"/>
                <a:ea typeface="宋体" charset="-122"/>
              </a:defRPr>
            </a:lvl4pPr>
            <a:lvl5pPr marL="2057400" indent="-228600" eaLnBrk="0" hangingPunct="0">
              <a:defRPr sz="2000" b="1">
                <a:solidFill>
                  <a:srgbClr val="575F6D"/>
                </a:solidFill>
                <a:latin typeface="Arial" charset="0"/>
                <a:ea typeface="宋体" charset="-122"/>
              </a:defRPr>
            </a:lvl5pPr>
            <a:lvl6pPr marL="2514600" indent="-228600" algn="ctr" eaLnBrk="0" fontAlgn="base" hangingPunct="0">
              <a:spcBef>
                <a:spcPct val="0"/>
              </a:spcBef>
              <a:spcAft>
                <a:spcPct val="0"/>
              </a:spcAft>
              <a:defRPr sz="2000" b="1">
                <a:solidFill>
                  <a:srgbClr val="575F6D"/>
                </a:solidFill>
                <a:latin typeface="Arial" charset="0"/>
                <a:ea typeface="宋体" charset="-122"/>
              </a:defRPr>
            </a:lvl6pPr>
            <a:lvl7pPr marL="2971800" indent="-228600" algn="ctr" eaLnBrk="0" fontAlgn="base" hangingPunct="0">
              <a:spcBef>
                <a:spcPct val="0"/>
              </a:spcBef>
              <a:spcAft>
                <a:spcPct val="0"/>
              </a:spcAft>
              <a:defRPr sz="2000" b="1">
                <a:solidFill>
                  <a:srgbClr val="575F6D"/>
                </a:solidFill>
                <a:latin typeface="Arial" charset="0"/>
                <a:ea typeface="宋体" charset="-122"/>
              </a:defRPr>
            </a:lvl7pPr>
            <a:lvl8pPr marL="3429000" indent="-228600" algn="ctr" eaLnBrk="0" fontAlgn="base" hangingPunct="0">
              <a:spcBef>
                <a:spcPct val="0"/>
              </a:spcBef>
              <a:spcAft>
                <a:spcPct val="0"/>
              </a:spcAft>
              <a:defRPr sz="2000" b="1">
                <a:solidFill>
                  <a:srgbClr val="575F6D"/>
                </a:solidFill>
                <a:latin typeface="Arial" charset="0"/>
                <a:ea typeface="宋体" charset="-122"/>
              </a:defRPr>
            </a:lvl8pPr>
            <a:lvl9pPr marL="3886200" indent="-228600" algn="ctr" eaLnBrk="0" fontAlgn="base" hangingPunct="0">
              <a:spcBef>
                <a:spcPct val="0"/>
              </a:spcBef>
              <a:spcAft>
                <a:spcPct val="0"/>
              </a:spcAft>
              <a:defRPr sz="2000" b="1">
                <a:solidFill>
                  <a:srgbClr val="575F6D"/>
                </a:solidFill>
                <a:latin typeface="Arial" charset="0"/>
                <a:ea typeface="宋体" charset="-122"/>
              </a:defRPr>
            </a:lvl9pPr>
          </a:lstStyle>
          <a:p>
            <a:pPr eaLnBrk="1" hangingPunct="1">
              <a:lnSpc>
                <a:spcPct val="150000"/>
              </a:lnSpc>
              <a:buFont typeface="Arial" pitchFamily="34" charset="0"/>
              <a:buChar char="•"/>
            </a:pPr>
            <a:r>
              <a:rPr lang="en-US" altLang="zh-CN" dirty="0">
                <a:solidFill>
                  <a:srgbClr val="0070C0"/>
                </a:solidFill>
              </a:rPr>
              <a:t>Data block frame</a:t>
            </a:r>
            <a:endParaRPr lang="zh-CN" altLang="zh-CN" dirty="0">
              <a:solidFill>
                <a:srgbClr val="0070C0"/>
              </a:solidFill>
            </a:endParaRPr>
          </a:p>
        </p:txBody>
      </p:sp>
      <p:graphicFrame>
        <p:nvGraphicFramePr>
          <p:cNvPr id="6148" name="Object 4"/>
          <p:cNvGraphicFramePr>
            <a:graphicFrameLocks noChangeAspect="1"/>
          </p:cNvGraphicFramePr>
          <p:nvPr/>
        </p:nvGraphicFramePr>
        <p:xfrm>
          <a:off x="1297010" y="4643446"/>
          <a:ext cx="6489700" cy="1308100"/>
        </p:xfrm>
        <a:graphic>
          <a:graphicData uri="http://schemas.openxmlformats.org/presentationml/2006/ole">
            <p:oleObj spid="_x0000_s6154" name="Visio" r:id="rId5" imgW="3577590" imgH="724853" progId="">
              <p:embed/>
            </p:oleObj>
          </a:graphicData>
        </a:graphic>
      </p:graphicFrame>
    </p:spTree>
    <p:extLst>
      <p:ext uri="{BB962C8B-B14F-4D97-AF65-F5344CB8AC3E}">
        <p14:creationId xmlns:p14="http://schemas.microsoft.com/office/powerpoint/2010/main" xmlns="" val="25609139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28794" y="3000372"/>
            <a:ext cx="5429288" cy="923330"/>
          </a:xfrm>
          <a:prstGeom prst="rect">
            <a:avLst/>
          </a:prstGeom>
          <a:noFill/>
        </p:spPr>
        <p:txBody>
          <a:bodyPr wrap="square" lIns="91440" tIns="45720" rIns="91440" bIns="45720">
            <a:spAutoFit/>
            <a:scene3d>
              <a:camera prst="orthographicFront"/>
              <a:lightRig rig="threePt" dir="t"/>
            </a:scene3d>
            <a:sp3d extrusionH="57150">
              <a:bevelT w="69850" h="38100" prst="cross"/>
            </a:sp3d>
          </a:bodyPr>
          <a:lstStyle/>
          <a:p>
            <a:pPr algn="ctr"/>
            <a:r>
              <a:rPr lang="en-US" altLang="zh-CN" sz="5400" b="1" cap="all" dirty="0" smtClean="0">
                <a:ln w="900" cmpd="sng">
                  <a:solidFill>
                    <a:schemeClr val="accent1">
                      <a:satMod val="190000"/>
                      <a:alpha val="55000"/>
                    </a:schemeClr>
                  </a:solidFill>
                  <a:prstDash val="solid"/>
                </a:ln>
                <a:solidFill>
                  <a:schemeClr val="tx2"/>
                </a:solidFill>
                <a:effectLst>
                  <a:innerShdw blurRad="101600" dist="76200" dir="5400000">
                    <a:schemeClr val="accent1">
                      <a:satMod val="190000"/>
                      <a:tint val="100000"/>
                      <a:alpha val="74000"/>
                    </a:schemeClr>
                  </a:innerShdw>
                  <a:reflection blurRad="6350" stA="60000" endA="900" endPos="60000" dist="60007" dir="5400000" sy="-100000" algn="bl" rotWithShape="0"/>
                </a:effectLst>
              </a:rPr>
              <a:t>Thank you</a:t>
            </a:r>
            <a:endParaRPr lang="zh-CN" altLang="en-US" sz="5400" b="1" cap="all" spc="0" dirty="0">
              <a:ln w="900" cmpd="sng">
                <a:solidFill>
                  <a:schemeClr val="accent1">
                    <a:satMod val="190000"/>
                    <a:alpha val="55000"/>
                  </a:schemeClr>
                </a:solidFill>
                <a:prstDash val="solid"/>
              </a:ln>
              <a:solidFill>
                <a:schemeClr val="tx2"/>
              </a:solidFill>
              <a:effectLst>
                <a:innerShdw blurRad="101600" dist="76200" dir="5400000">
                  <a:schemeClr val="accent1">
                    <a:satMod val="190000"/>
                    <a:tint val="100000"/>
                    <a:alpha val="74000"/>
                  </a:schemeClr>
                </a:innerShdw>
                <a:reflection blurRad="6350" stA="60000" endA="900" endPos="60000" dist="60007" dir="5400000" sy="-100000" algn="bl" rotWithShape="0"/>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16487</TotalTime>
  <Words>1801</Words>
  <Application>Microsoft Office PowerPoint</Application>
  <PresentationFormat>On-screen Show (4:3)</PresentationFormat>
  <Paragraphs>291</Paragraphs>
  <Slides>24</Slides>
  <Notes>19</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26" baseType="lpstr">
      <vt:lpstr>Office 主题</vt:lpstr>
      <vt:lpstr>Visio</vt:lpstr>
      <vt:lpstr>ETRSS-1   TT&amp;C Interface Between Spacecraft and GCS</vt:lpstr>
      <vt:lpstr>Outlines</vt:lpstr>
      <vt:lpstr>1  Introduction</vt:lpstr>
      <vt:lpstr>Outlines</vt:lpstr>
      <vt:lpstr>2 Task Requirement</vt:lpstr>
      <vt:lpstr>2 Task Requirement</vt:lpstr>
      <vt:lpstr>Outlines</vt:lpstr>
      <vt:lpstr>3 Satellite TT&amp;C subsystem</vt:lpstr>
      <vt:lpstr>3 Satellite TT&amp;C subsystem</vt:lpstr>
      <vt:lpstr>3 Satellite TT&amp;C subsystem</vt:lpstr>
      <vt:lpstr>3 Satellite TT&amp;C subsystem</vt:lpstr>
      <vt:lpstr>3 Satellite TT&amp;C subsystem</vt:lpstr>
      <vt:lpstr>3 Satellite TT&amp;C subsystem</vt:lpstr>
      <vt:lpstr>3 Satellite TT&amp;C subsystem</vt:lpstr>
      <vt:lpstr>3 Satellite TT&amp;C subsystem</vt:lpstr>
      <vt:lpstr>Outlines</vt:lpstr>
      <vt:lpstr>4 Interface with the Ground TT&amp;C</vt:lpstr>
      <vt:lpstr>4 Interface with the Ground TT&amp;C</vt:lpstr>
      <vt:lpstr>Outlines</vt:lpstr>
      <vt:lpstr>5 Rule of Sending TC and Data Block</vt:lpstr>
      <vt:lpstr>5 Rule of Sending TC and Data Block</vt:lpstr>
      <vt:lpstr>5 Rule of Sending TC and Data Block</vt:lpstr>
      <vt:lpstr>5 Rule of Sending TC and Data Block</vt:lpstr>
      <vt:lpstr>Slide 24</vt:lpstr>
    </vt:vector>
  </TitlesOfParts>
  <Company>dfh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单悌磊</dc:creator>
  <cp:lastModifiedBy>dfh</cp:lastModifiedBy>
  <cp:revision>726</cp:revision>
  <dcterms:created xsi:type="dcterms:W3CDTF">2013-04-18T01:59:38Z</dcterms:created>
  <dcterms:modified xsi:type="dcterms:W3CDTF">2019-03-01T22:37:19Z</dcterms:modified>
</cp:coreProperties>
</file>