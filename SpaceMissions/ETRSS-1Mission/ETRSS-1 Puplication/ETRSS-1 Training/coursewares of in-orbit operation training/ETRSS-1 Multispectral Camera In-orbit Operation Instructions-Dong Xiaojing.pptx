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5">
  <p:sldMasterIdLst>
    <p:sldMasterId id="2147483648" r:id="rId1"/>
  </p:sldMasterIdLst>
  <p:notesMasterIdLst>
    <p:notesMasterId r:id="rId34"/>
  </p:notesMasterIdLst>
  <p:handoutMasterIdLst>
    <p:handoutMasterId r:id="rId35"/>
  </p:handoutMasterIdLst>
  <p:sldIdLst>
    <p:sldId id="275" r:id="rId2"/>
    <p:sldId id="276" r:id="rId3"/>
    <p:sldId id="277" r:id="rId4"/>
    <p:sldId id="373" r:id="rId5"/>
    <p:sldId id="374" r:id="rId6"/>
    <p:sldId id="280" r:id="rId7"/>
    <p:sldId id="281" r:id="rId8"/>
    <p:sldId id="375" r:id="rId9"/>
    <p:sldId id="412" r:id="rId10"/>
    <p:sldId id="376" r:id="rId11"/>
    <p:sldId id="289" r:id="rId12"/>
    <p:sldId id="381" r:id="rId13"/>
    <p:sldId id="383" r:id="rId14"/>
    <p:sldId id="393" r:id="rId15"/>
    <p:sldId id="416" r:id="rId16"/>
    <p:sldId id="417" r:id="rId17"/>
    <p:sldId id="436" r:id="rId18"/>
    <p:sldId id="310" r:id="rId19"/>
    <p:sldId id="437" r:id="rId20"/>
    <p:sldId id="395" r:id="rId21"/>
    <p:sldId id="324" r:id="rId22"/>
    <p:sldId id="407" r:id="rId23"/>
    <p:sldId id="342" r:id="rId24"/>
    <p:sldId id="355" r:id="rId25"/>
    <p:sldId id="356" r:id="rId26"/>
    <p:sldId id="431" r:id="rId27"/>
    <p:sldId id="432" r:id="rId28"/>
    <p:sldId id="433" r:id="rId29"/>
    <p:sldId id="430" r:id="rId30"/>
    <p:sldId id="369" r:id="rId31"/>
    <p:sldId id="370" r:id="rId32"/>
    <p:sldId id="372" r:id="rId3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5676"/>
    <a:srgbClr val="0983F1"/>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0" d="100"/>
          <a:sy n="110" d="100"/>
        </p:scale>
        <p:origin x="-1008" y="-570"/>
      </p:cViewPr>
      <p:guideLst>
        <p:guide orient="horz" pos="162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jpe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t>2019-9-29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2019-9-29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a:t>
            </a:fld>
            <a:endParaRPr lang="zh-CN" altLang="en-US"/>
          </a:p>
        </p:txBody>
      </p:sp>
    </p:spTree>
    <p:extLst>
      <p:ext uri="{BB962C8B-B14F-4D97-AF65-F5344CB8AC3E}">
        <p14:creationId xmlns:p14="http://schemas.microsoft.com/office/powerpoint/2010/main" val="1157805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054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357FA755-4C2E-499F-8512-DA1B3D65B901}" type="slidenum">
              <a:rPr lang="zh-CN" altLang="en-US" smtClean="0"/>
              <a:pPr eaLnBrk="1" hangingPunct="1"/>
              <a:t>11</a:t>
            </a:fld>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06500"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98050E0B-B341-4C3D-92AA-FEF95F33F95E}" type="slidenum">
              <a:rPr lang="zh-CN" altLang="en-US" sz="1300"/>
              <a:pPr algn="r" eaLnBrk="1" hangingPunct="1"/>
              <a:t>12</a:t>
            </a:fld>
            <a:endParaRPr lang="en-US" altLang="zh-CN"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06500"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98050E0B-B341-4C3D-92AA-FEF95F33F95E}" type="slidenum">
              <a:rPr lang="zh-CN" altLang="en-US" sz="1300"/>
              <a:pPr algn="r" eaLnBrk="1" hangingPunct="1"/>
              <a:t>13</a:t>
            </a:fld>
            <a:endParaRPr lang="en-US" altLang="zh-CN"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06500"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98050E0B-B341-4C3D-92AA-FEF95F33F95E}" type="slidenum">
              <a:rPr lang="zh-CN" altLang="en-US" sz="1300"/>
              <a:pPr algn="r" eaLnBrk="1" hangingPunct="1"/>
              <a:t>14</a:t>
            </a:fld>
            <a:endParaRPr lang="en-US" altLang="zh-CN"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06500"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98050E0B-B341-4C3D-92AA-FEF95F33F95E}" type="slidenum">
              <a:rPr lang="zh-CN" altLang="en-US" sz="1300"/>
              <a:pPr algn="r" eaLnBrk="1" hangingPunct="1"/>
              <a:t>15</a:t>
            </a:fld>
            <a:endParaRPr lang="en-US" altLang="zh-CN"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06500"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98050E0B-B341-4C3D-92AA-FEF95F33F95E}" type="slidenum">
              <a:rPr lang="zh-CN" altLang="en-US" sz="1300"/>
              <a:pPr algn="r" eaLnBrk="1" hangingPunct="1"/>
              <a:t>16</a:t>
            </a:fld>
            <a:endParaRPr lang="en-US" altLang="zh-CN"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28004"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1C3C514C-2E7C-407F-900D-FE8F5E3E4324}" type="slidenum">
              <a:rPr lang="zh-CN" altLang="en-US" sz="1300"/>
              <a:pPr algn="r" eaLnBrk="1" hangingPunct="1"/>
              <a:t>17</a:t>
            </a:fld>
            <a:endParaRPr lang="en-US" altLang="zh-CN"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26980"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8F0025F4-0231-4026-A418-0BEC54172AB6}" type="slidenum">
              <a:rPr lang="zh-CN" altLang="en-US" sz="1300"/>
              <a:pPr algn="r" eaLnBrk="1" hangingPunct="1"/>
              <a:t>18</a:t>
            </a:fld>
            <a:endParaRPr lang="en-US" altLang="zh-CN"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26980"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8F0025F4-0231-4026-A418-0BEC54172AB6}" type="slidenum">
              <a:rPr lang="zh-CN" altLang="en-US" sz="1300"/>
              <a:pPr algn="r" eaLnBrk="1" hangingPunct="1"/>
              <a:t>19</a:t>
            </a:fld>
            <a:endParaRPr lang="en-US" altLang="zh-CN"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26980"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8F0025F4-0231-4026-A418-0BEC54172AB6}" type="slidenum">
              <a:rPr lang="zh-CN" altLang="en-US" sz="1300"/>
              <a:pPr algn="r" eaLnBrk="1" hangingPunct="1"/>
              <a:t>20</a:t>
            </a:fld>
            <a:endParaRPr lang="en-US" altLang="zh-CN"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41316"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5A65EED1-72BC-4254-B34D-1B46674535F7}" type="slidenum">
              <a:rPr lang="zh-CN" altLang="en-US" sz="1300"/>
              <a:pPr algn="r" eaLnBrk="1" hangingPunct="1"/>
              <a:t>21</a:t>
            </a:fld>
            <a:endParaRPr lang="en-US" altLang="zh-CN"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59748"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88B0EA03-D745-461E-B768-7011A42B9780}" type="slidenum">
              <a:rPr lang="zh-CN" altLang="en-US" sz="1300"/>
              <a:pPr algn="r" eaLnBrk="1" hangingPunct="1"/>
              <a:t>22</a:t>
            </a:fld>
            <a:endParaRPr lang="en-US" altLang="zh-CN"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59748" name="灯片编号占位符 3"/>
          <p:cNvSpPr txBox="1">
            <a:spLocks noGrp="1"/>
          </p:cNvSpPr>
          <p:nvPr/>
        </p:nvSpPr>
        <p:spPr bwMode="auto">
          <a:xfrm>
            <a:off x="3883852" y="8686362"/>
            <a:ext cx="2972547" cy="45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64" tIns="47632" rIns="95264" bIns="47632"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88B0EA03-D745-461E-B768-7011A42B9780}" type="slidenum">
              <a:rPr lang="zh-CN" altLang="en-US" sz="1300"/>
              <a:pPr algn="r" eaLnBrk="1" hangingPunct="1"/>
              <a:t>23</a:t>
            </a:fld>
            <a:endParaRPr lang="en-US" altLang="zh-CN"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Arial" panose="020B0604020202020204" pitchFamily="34" charset="0"/>
                <a:cs typeface="Arial" panose="020B0604020202020204" pitchFamily="34" charset="0"/>
              </a:rPr>
              <a:t>It is because that long wave detector needs 2mins to get a stable temperature, and black body calibration must be done after detector maintain a stable temperature (60K±5K)</a:t>
            </a:r>
            <a:endParaRPr lang="zh-CN" altLang="zh-CN" sz="1200" smtClean="0">
              <a:latin typeface="Arial" panose="020B0604020202020204" pitchFamily="34" charset="0"/>
              <a:cs typeface="Arial" panose="020B0604020202020204" pitchFamily="34" charset="0"/>
            </a:endParaRPr>
          </a:p>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29</a:t>
            </a:fld>
            <a:endParaRPr lang="zh-CN" altLang="en-US"/>
          </a:p>
        </p:txBody>
      </p:sp>
    </p:spTree>
    <p:extLst>
      <p:ext uri="{BB962C8B-B14F-4D97-AF65-F5344CB8AC3E}">
        <p14:creationId xmlns:p14="http://schemas.microsoft.com/office/powerpoint/2010/main" val="2724580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sp>
        <p:nvSpPr>
          <p:cNvPr id="3" name="副标题 2"/>
          <p:cNvSpPr>
            <a:spLocks noGrp="1"/>
          </p:cNvSpPr>
          <p:nvPr>
            <p:ph type="subTitle" idx="1" hasCustomPrompt="1"/>
          </p:nvPr>
        </p:nvSpPr>
        <p:spPr>
          <a:xfrm>
            <a:off x="2195736" y="3813888"/>
            <a:ext cx="4914912" cy="514356"/>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1806936"/>
            <a:ext cx="7586658" cy="811995"/>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6" name="图片 5" descr="小卫星.gif"/>
          <p:cNvPicPr>
            <a:picLocks noChangeAspect="1"/>
          </p:cNvPicPr>
          <p:nvPr userDrawn="1"/>
        </p:nvPicPr>
        <p:blipFill>
          <a:blip r:embed="rId3"/>
          <a:stretch>
            <a:fillRect/>
          </a:stretch>
        </p:blipFill>
        <p:spPr>
          <a:xfrm rot="2940000">
            <a:off x="6740036" y="251736"/>
            <a:ext cx="1471124" cy="1231277"/>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pic>
        <p:nvPicPr>
          <p:cNvPr id="13" name="图片 12" descr="小卫星.gif"/>
          <p:cNvPicPr>
            <a:picLocks noChangeAspect="1"/>
          </p:cNvPicPr>
          <p:nvPr userDrawn="1"/>
        </p:nvPicPr>
        <p:blipFill>
          <a:blip r:embed="rId3"/>
          <a:stretch>
            <a:fillRect/>
          </a:stretch>
        </p:blipFill>
        <p:spPr>
          <a:xfrm rot="2940000">
            <a:off x="6740036" y="251736"/>
            <a:ext cx="1471124" cy="1231277"/>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457200" y="4767263"/>
            <a:ext cx="2133600" cy="273844"/>
          </a:xfrm>
          <a:prstGeom prst="rect">
            <a:avLst/>
          </a:prstGeom>
        </p:spPr>
        <p:txBody>
          <a:bodyPr/>
          <a:lstStyle>
            <a:lvl1pPr>
              <a:defRPr/>
            </a:lvl1pPr>
          </a:lstStyle>
          <a:p>
            <a:pPr>
              <a:defRPr/>
            </a:pPr>
            <a:fld id="{435B7D3A-9555-4A4B-8C14-92E6C3D3F0DF}" type="datetimeFigureOut">
              <a:rPr lang="zh-CN" altLang="en-US"/>
              <a:pPr>
                <a:defRPr/>
              </a:pPr>
              <a:t>2019-9-29</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BD0EA1-7E5E-427C-82AD-C4A6EEE1DF4D}" type="slidenum">
              <a:rPr lang="zh-CN" altLang="en-US"/>
              <a:pPr>
                <a:defRPr/>
              </a:pPr>
              <a:t>‹#›</a:t>
            </a:fld>
            <a:endParaRPr lang="zh-CN" altLang="en-US"/>
          </a:p>
        </p:txBody>
      </p:sp>
    </p:spTree>
    <p:extLst>
      <p:ext uri="{BB962C8B-B14F-4D97-AF65-F5344CB8AC3E}">
        <p14:creationId xmlns:p14="http://schemas.microsoft.com/office/powerpoint/2010/main" val="104888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8"/>
          <a:srcRect t="10773" b="69020"/>
          <a:stretch>
            <a:fillRect/>
          </a:stretch>
        </p:blipFill>
        <p:spPr>
          <a:xfrm>
            <a:off x="0" y="0"/>
            <a:ext cx="9144000" cy="910817"/>
          </a:xfrm>
          <a:prstGeom prst="rect">
            <a:avLst/>
          </a:prstGeom>
        </p:spPr>
      </p:pic>
      <p:sp>
        <p:nvSpPr>
          <p:cNvPr id="2" name="标题占位符 1"/>
          <p:cNvSpPr>
            <a:spLocks noGrp="1"/>
          </p:cNvSpPr>
          <p:nvPr>
            <p:ph type="title"/>
          </p:nvPr>
        </p:nvSpPr>
        <p:spPr>
          <a:xfrm>
            <a:off x="457200" y="205979"/>
            <a:ext cx="8229600" cy="811995"/>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017974"/>
            <a:ext cx="8229600" cy="35766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4769644"/>
            <a:ext cx="6480720" cy="272669"/>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4767263"/>
            <a:ext cx="802432" cy="273844"/>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8"/>
          <a:srcRect t="52304" b="41753"/>
          <a:stretch>
            <a:fillRect/>
          </a:stretch>
        </p:blipFill>
        <p:spPr>
          <a:xfrm>
            <a:off x="0" y="5036361"/>
            <a:ext cx="9144000" cy="241094"/>
          </a:xfrm>
          <a:prstGeom prst="rect">
            <a:avLst/>
          </a:prstGeom>
        </p:spPr>
      </p:pic>
      <p:pic>
        <p:nvPicPr>
          <p:cNvPr id="12" name="图片 11" descr="小卫星.gif"/>
          <p:cNvPicPr>
            <a:picLocks noChangeAspect="1"/>
          </p:cNvPicPr>
          <p:nvPr userDrawn="1"/>
        </p:nvPicPr>
        <p:blipFill>
          <a:blip r:embed="rId9"/>
          <a:stretch>
            <a:fillRect/>
          </a:stretch>
        </p:blipFill>
        <p:spPr>
          <a:xfrm rot="2940000">
            <a:off x="7901405" y="67538"/>
            <a:ext cx="735105" cy="615256"/>
          </a:xfrm>
          <a:prstGeom prst="rect">
            <a:avLst/>
          </a:prstGeom>
        </p:spPr>
      </p:pic>
      <p:pic>
        <p:nvPicPr>
          <p:cNvPr id="16" name="图片 15"/>
          <p:cNvPicPr>
            <a:picLocks noChangeAspect="1"/>
          </p:cNvPicPr>
          <p:nvPr userDrawn="1"/>
        </p:nvPicPr>
        <p:blipFill rotWithShape="1">
          <a:blip r:embed="rId10" cstate="print">
            <a:extLst>
              <a:ext uri="{28A0092B-C50C-407E-A947-70E740481C1C}">
                <a14:useLocalDpi xmlns:a14="http://schemas.microsoft.com/office/drawing/2010/main" val="0"/>
              </a:ext>
            </a:extLst>
          </a:blip>
          <a:srcRect b="34726"/>
          <a:stretch/>
        </p:blipFill>
        <p:spPr>
          <a:xfrm>
            <a:off x="171892" y="4754850"/>
            <a:ext cx="432048" cy="2589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 id="2147483661" r:id="rId6"/>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4.jpeg"/><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195736" y="3597864"/>
            <a:ext cx="4914912" cy="1134126"/>
          </a:xfrm>
        </p:spPr>
        <p:txBody>
          <a:bodyPr/>
          <a:lstStyle/>
          <a:p>
            <a:r>
              <a:rPr lang="en-US" altLang="zh-CN" sz="2800" dirty="0">
                <a:solidFill>
                  <a:schemeClr val="bg1"/>
                </a:solidFill>
                <a:effectLst>
                  <a:outerShdw blurRad="38100" dist="38100" dir="2700000" algn="tl">
                    <a:srgbClr val="000000">
                      <a:alpha val="43137"/>
                    </a:srgbClr>
                  </a:outerShdw>
                </a:effectLst>
              </a:rPr>
              <a:t>DFH </a:t>
            </a:r>
            <a:r>
              <a:rPr lang="en-US" altLang="zh-CN" sz="2800" dirty="0" smtClean="0">
                <a:solidFill>
                  <a:schemeClr val="bg1"/>
                </a:solidFill>
                <a:effectLst>
                  <a:outerShdw blurRad="38100" dist="38100" dir="2700000" algn="tl">
                    <a:srgbClr val="000000">
                      <a:alpha val="43137"/>
                    </a:srgbClr>
                  </a:outerShdw>
                </a:effectLst>
              </a:rPr>
              <a:t>Satellite </a:t>
            </a:r>
            <a:r>
              <a:rPr lang="en-US" altLang="zh-CN" sz="2800" dirty="0">
                <a:solidFill>
                  <a:schemeClr val="bg1"/>
                </a:solidFill>
                <a:effectLst>
                  <a:outerShdw blurRad="38100" dist="38100" dir="2700000" algn="tl">
                    <a:srgbClr val="000000">
                      <a:alpha val="43137"/>
                    </a:srgbClr>
                  </a:outerShdw>
                </a:effectLst>
              </a:rPr>
              <a:t>Co</a:t>
            </a:r>
            <a:r>
              <a:rPr lang="en-US" altLang="zh-CN" sz="2800" dirty="0" smtClean="0">
                <a:solidFill>
                  <a:schemeClr val="bg1"/>
                </a:solidFill>
                <a:effectLst>
                  <a:outerShdw blurRad="38100" dist="38100" dir="2700000" algn="tl">
                    <a:srgbClr val="000000">
                      <a:alpha val="43137"/>
                    </a:srgbClr>
                  </a:outerShdw>
                </a:effectLst>
              </a:rPr>
              <a:t>., Ltd.</a:t>
            </a:r>
            <a:endParaRPr lang="en-US" altLang="zh-CN" sz="2800" dirty="0" smtClean="0">
              <a:solidFill>
                <a:schemeClr val="bg1"/>
              </a:solidFill>
              <a:effectLst>
                <a:outerShdw blurRad="38100" dist="38100" dir="2700000" algn="tl">
                  <a:srgbClr val="000000">
                    <a:alpha val="43137"/>
                  </a:srgbClr>
                </a:outerShdw>
              </a:effectLst>
            </a:endParaRPr>
          </a:p>
          <a:p>
            <a:r>
              <a:rPr lang="en-US" altLang="zh-CN" sz="2800" dirty="0" smtClean="0">
                <a:solidFill>
                  <a:schemeClr val="bg1"/>
                </a:solidFill>
                <a:effectLst>
                  <a:outerShdw blurRad="38100" dist="38100" dir="2700000" algn="tl">
                    <a:srgbClr val="000000">
                      <a:alpha val="43137"/>
                    </a:srgbClr>
                  </a:outerShdw>
                </a:effectLst>
              </a:rPr>
              <a:t>Oct, 2019</a:t>
            </a:r>
            <a:endParaRPr lang="en-US" altLang="zh-CN" sz="2800" dirty="0" smtClean="0">
              <a:solidFill>
                <a:schemeClr val="bg1"/>
              </a:solidFill>
              <a:effectLst>
                <a:outerShdw blurRad="38100" dist="38100" dir="2700000" algn="tl">
                  <a:srgbClr val="000000">
                    <a:alpha val="43137"/>
                  </a:srgbClr>
                </a:outerShdw>
              </a:effectLst>
            </a:endParaRPr>
          </a:p>
          <a:p>
            <a:endParaRPr lang="zh-CN" altLang="en-US" dirty="0"/>
          </a:p>
          <a:p>
            <a:endParaRPr lang="zh-CN" altLang="en-US" dirty="0"/>
          </a:p>
        </p:txBody>
      </p:sp>
      <p:sp>
        <p:nvSpPr>
          <p:cNvPr id="3" name="标题 2"/>
          <p:cNvSpPr>
            <a:spLocks noGrp="1"/>
          </p:cNvSpPr>
          <p:nvPr>
            <p:ph type="title"/>
          </p:nvPr>
        </p:nvSpPr>
        <p:spPr>
          <a:xfrm>
            <a:off x="714348" y="1329612"/>
            <a:ext cx="7586658" cy="1566174"/>
          </a:xfrm>
        </p:spPr>
        <p:txBody>
          <a:bodyPr>
            <a:noAutofit/>
          </a:bodyPr>
          <a:lstStyle/>
          <a:p>
            <a:r>
              <a:rPr lang="en-US" altLang="zh-CN" sz="4000" dirty="0"/>
              <a:t>Multispectral Camera In-orbit Operation Instructions </a:t>
            </a:r>
            <a:r>
              <a:rPr lang="en-US" altLang="zh-CN" sz="4000" dirty="0"/>
              <a:t>(Normal &amp; Emergency</a:t>
            </a:r>
            <a:r>
              <a:rPr lang="en-US" altLang="zh-CN" sz="4000" dirty="0" smtClean="0"/>
              <a:t>)</a:t>
            </a:r>
            <a:endParaRPr lang="zh-CN" altLang="en-US" sz="400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52973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内容占位符 2"/>
          <p:cNvSpPr>
            <a:spLocks noGrp="1"/>
          </p:cNvSpPr>
          <p:nvPr>
            <p:ph idx="4294967295"/>
          </p:nvPr>
        </p:nvSpPr>
        <p:spPr>
          <a:xfrm>
            <a:off x="899592" y="1113589"/>
            <a:ext cx="7905750" cy="3240881"/>
          </a:xfrm>
        </p:spPr>
        <p:txBody>
          <a:bodyPr>
            <a:normAutofit fontScale="62500" lnSpcReduction="20000"/>
          </a:bodyPr>
          <a:lstStyle/>
          <a:p>
            <a:pPr eaLnBrk="1" hangingPunct="1"/>
            <a:r>
              <a:rPr lang="en-US" altLang="zh-CN" sz="4000" dirty="0" smtClean="0">
                <a:latin typeface="Arial" panose="020B0604020202020204" pitchFamily="34" charset="0"/>
                <a:cs typeface="Arial" panose="020B0604020202020204" pitchFamily="34" charset="0"/>
              </a:rPr>
              <a:t>Composition</a:t>
            </a:r>
          </a:p>
          <a:p>
            <a:pPr eaLnBrk="1" hangingPunct="1"/>
            <a:r>
              <a:rPr lang="en-US" altLang="zh-CN" sz="4000" dirty="0" smtClean="0">
                <a:latin typeface="Arial" panose="020B0604020202020204" pitchFamily="34" charset="0"/>
                <a:cs typeface="Arial" panose="020B0604020202020204" pitchFamily="34" charset="0"/>
              </a:rPr>
              <a:t>Working Principle and Status </a:t>
            </a:r>
          </a:p>
          <a:p>
            <a:pPr eaLnBrk="1" hangingPunct="1"/>
            <a:r>
              <a:rPr lang="en-US" altLang="zh-CN" sz="4000" dirty="0" smtClean="0">
                <a:latin typeface="Arial" panose="020B0604020202020204" pitchFamily="34" charset="0"/>
                <a:cs typeface="Arial" panose="020B0604020202020204" pitchFamily="34" charset="0"/>
              </a:rPr>
              <a:t>Operation Modes</a:t>
            </a:r>
          </a:p>
          <a:p>
            <a:pPr eaLnBrk="1" hangingPunct="1"/>
            <a:r>
              <a:rPr lang="en-US" altLang="zh-CN" sz="4000" dirty="0" smtClean="0">
                <a:latin typeface="Arial" panose="020B0604020202020204" pitchFamily="34" charset="0"/>
                <a:cs typeface="Arial" panose="020B0604020202020204" pitchFamily="34" charset="0"/>
              </a:rPr>
              <a:t>Telemetry and Tele-command</a:t>
            </a:r>
          </a:p>
          <a:p>
            <a:pPr eaLnBrk="1" hangingPunct="1"/>
            <a:r>
              <a:rPr lang="en-US" altLang="zh-CN" sz="4000" dirty="0" smtClean="0">
                <a:latin typeface="Arial" panose="020B0604020202020204" pitchFamily="34" charset="0"/>
                <a:cs typeface="Arial" panose="020B0604020202020204" pitchFamily="34" charset="0"/>
              </a:rPr>
              <a:t>Instructions for Use</a:t>
            </a:r>
          </a:p>
          <a:p>
            <a:pPr eaLnBrk="1" hangingPunct="1"/>
            <a:r>
              <a:rPr lang="en-US" altLang="zh-CN" sz="4000" dirty="0" smtClean="0">
                <a:latin typeface="Arial" panose="020B0604020202020204" pitchFamily="34" charset="0"/>
                <a:cs typeface="Arial" panose="020B0604020202020204" pitchFamily="34" charset="0"/>
              </a:rPr>
              <a:t>Conclusion</a:t>
            </a:r>
          </a:p>
        </p:txBody>
      </p:sp>
      <p:sp>
        <p:nvSpPr>
          <p:cNvPr id="4099" name="标题 3"/>
          <p:cNvSpPr>
            <a:spLocks noGrp="1" noChangeArrowheads="1"/>
          </p:cNvSpPr>
          <p:nvPr>
            <p:ph type="title" idx="4294967295"/>
          </p:nvPr>
        </p:nvSpPr>
        <p:spPr>
          <a:xfrm>
            <a:off x="323528" y="40769"/>
            <a:ext cx="8229600" cy="784830"/>
          </a:xfrm>
        </p:spPr>
        <p:txBody>
          <a:bodyPr>
            <a:spAutoFit/>
          </a:bodyPr>
          <a:lstStyle/>
          <a:p>
            <a:pPr eaLnBrk="1" hangingPunct="1"/>
            <a:r>
              <a:rPr lang="en-US" altLang="zh-CN" sz="4500" b="1" dirty="0" smtClean="0">
                <a:latin typeface="Arial" panose="020B0604020202020204" pitchFamily="34" charset="0"/>
                <a:cs typeface="Arial" panose="020B0604020202020204" pitchFamily="34" charset="0"/>
              </a:rPr>
              <a:t>Outline</a:t>
            </a:r>
            <a:endParaRPr lang="zh-CN" altLang="en-US" sz="45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7179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p:cNvSpPr>
            <a:spLocks noGrp="1"/>
          </p:cNvSpPr>
          <p:nvPr>
            <p:ph idx="4294967295"/>
          </p:nvPr>
        </p:nvSpPr>
        <p:spPr>
          <a:xfrm>
            <a:off x="251594" y="195486"/>
            <a:ext cx="8424863" cy="635794"/>
          </a:xfrm>
        </p:spPr>
        <p:txBody>
          <a:bodyPr>
            <a:normAutofit fontScale="62500" lnSpcReduction="20000"/>
          </a:bodyPr>
          <a:lstStyle/>
          <a:p>
            <a:pPr algn="ctr" eaLnBrk="1" hangingPunct="1">
              <a:buFont typeface="Arial" pitchFamily="34" charset="0"/>
              <a:buNone/>
            </a:pPr>
            <a:r>
              <a:rPr lang="en-US" altLang="zh-CN" sz="4000" dirty="0" smtClean="0">
                <a:solidFill>
                  <a:schemeClr val="bg1"/>
                </a:solidFill>
                <a:latin typeface="Arial" panose="020B0604020202020204" pitchFamily="34" charset="0"/>
                <a:cs typeface="Arial" panose="020B0604020202020204" pitchFamily="34" charset="0"/>
              </a:rPr>
              <a:t>Composition of HRC</a:t>
            </a:r>
          </a:p>
        </p:txBody>
      </p:sp>
      <p:sp>
        <p:nvSpPr>
          <p:cNvPr id="2" name="矩形 1"/>
          <p:cNvSpPr/>
          <p:nvPr/>
        </p:nvSpPr>
        <p:spPr>
          <a:xfrm>
            <a:off x="575556" y="1059583"/>
            <a:ext cx="7992888" cy="646331"/>
          </a:xfrm>
          <a:prstGeom prst="rect">
            <a:avLst/>
          </a:prstGeom>
        </p:spPr>
        <p:txBody>
          <a:bodyPr wrap="square">
            <a:spAutoFit/>
          </a:bodyPr>
          <a:lstStyle/>
          <a:p>
            <a:pPr>
              <a:lnSpc>
                <a:spcPct val="150000"/>
              </a:lnSpc>
            </a:pPr>
            <a:r>
              <a:rPr lang="en-GB" altLang="zh-CN" sz="2400" dirty="0" smtClean="0">
                <a:latin typeface="Arial" panose="020B0604020202020204" pitchFamily="34" charset="0"/>
                <a:cs typeface="Arial" panose="020B0604020202020204" pitchFamily="34" charset="0"/>
              </a:rPr>
              <a:t>Camera</a:t>
            </a:r>
            <a:r>
              <a:rPr lang="en-US" altLang="zh-CN" sz="2200" dirty="0" smtClean="0">
                <a:latin typeface="Arial" panose="020B0604020202020204" pitchFamily="34" charset="0"/>
                <a:cs typeface="Arial" panose="020B0604020202020204" pitchFamily="34" charset="0"/>
              </a:rPr>
              <a:t> includes </a:t>
            </a:r>
            <a:r>
              <a:rPr lang="en-US" altLang="zh-CN" sz="2400" dirty="0">
                <a:solidFill>
                  <a:srgbClr val="FF0000"/>
                </a:solidFill>
              </a:rPr>
              <a:t>Camera Main body</a:t>
            </a:r>
            <a:r>
              <a:rPr lang="en-US" altLang="zh-CN" sz="2400" dirty="0"/>
              <a:t>, </a:t>
            </a:r>
            <a:r>
              <a:rPr lang="en-US" altLang="zh-CN" sz="2400" dirty="0" smtClean="0">
                <a:solidFill>
                  <a:srgbClr val="FF0000"/>
                </a:solidFill>
              </a:rPr>
              <a:t>Secondary power</a:t>
            </a:r>
            <a:r>
              <a:rPr lang="en-US" altLang="zh-CN" sz="2400" dirty="0">
                <a:solidFill>
                  <a:srgbClr val="FF0000"/>
                </a:solidFill>
              </a:rPr>
              <a:t>.</a:t>
            </a:r>
            <a:endParaRPr lang="zh-CN" altLang="en-US" sz="2000" dirty="0">
              <a:latin typeface="Arial" panose="020B0604020202020204" pitchFamily="34" charset="0"/>
              <a:cs typeface="Arial" panose="020B0604020202020204" pitchFamily="34" charset="0"/>
            </a:endParaRPr>
          </a:p>
        </p:txBody>
      </p:sp>
      <p:sp>
        <p:nvSpPr>
          <p:cNvPr id="3" name="Rectangle 2"/>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Arial" panose="020B0604020202020204" pitchFamily="34" charset="0"/>
              <a:cs typeface="Arial" panose="020B0604020202020204" pitchFamily="34" charset="0"/>
            </a:endParaRPr>
          </a:p>
        </p:txBody>
      </p:sp>
      <p:sp>
        <p:nvSpPr>
          <p:cNvPr id="5" name="Rectangle 77"/>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052642060"/>
              </p:ext>
            </p:extLst>
          </p:nvPr>
        </p:nvGraphicFramePr>
        <p:xfrm>
          <a:off x="2267744" y="1977684"/>
          <a:ext cx="4320480" cy="2616291"/>
        </p:xfrm>
        <a:graphic>
          <a:graphicData uri="http://schemas.openxmlformats.org/presentationml/2006/ole">
            <mc:AlternateContent xmlns:mc="http://schemas.openxmlformats.org/markup-compatibility/2006">
              <mc:Choice xmlns:v="urn:schemas-microsoft-com:vml" Requires="v">
                <p:oleObj spid="_x0000_s168073" name="Visio" r:id="rId3" imgW="10241280" imgH="8283416" progId="Visio.Drawing.11">
                  <p:embed/>
                </p:oleObj>
              </mc:Choice>
              <mc:Fallback>
                <p:oleObj name="Visio" r:id="rId3" imgW="10241280" imgH="8283416" progId="Visio.Drawing.11">
                  <p:embed/>
                  <p:pic>
                    <p:nvPicPr>
                      <p:cNvPr id="0" name="Object 76"/>
                      <p:cNvPicPr>
                        <a:picLocks noChangeAspect="1" noChangeArrowheads="1"/>
                      </p:cNvPicPr>
                      <p:nvPr/>
                    </p:nvPicPr>
                    <p:blipFill>
                      <a:blip r:embed="rId4"/>
                      <a:srcRect/>
                      <a:stretch>
                        <a:fillRect/>
                      </a:stretch>
                    </p:blipFill>
                    <p:spPr bwMode="auto">
                      <a:xfrm>
                        <a:off x="2267744" y="1977684"/>
                        <a:ext cx="4320480" cy="2616291"/>
                      </a:xfrm>
                      <a:prstGeom prst="rect">
                        <a:avLst/>
                      </a:prstGeom>
                      <a:blipFill>
                        <a:blip r:embed="rId5"/>
                        <a:tile tx="0" ty="0" sx="100000" sy="100000" flip="none" algn="tl"/>
                      </a:blipFill>
                    </p:spPr>
                  </p:pic>
                </p:oleObj>
              </mc:Fallback>
            </mc:AlternateContent>
          </a:graphicData>
        </a:graphic>
      </p:graphicFrame>
    </p:spTree>
    <p:extLst>
      <p:ext uri="{BB962C8B-B14F-4D97-AF65-F5344CB8AC3E}">
        <p14:creationId xmlns:p14="http://schemas.microsoft.com/office/powerpoint/2010/main" val="1693426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p:cNvSpPr>
            <a:spLocks noGrp="1"/>
          </p:cNvSpPr>
          <p:nvPr>
            <p:ph idx="4294967295"/>
          </p:nvPr>
        </p:nvSpPr>
        <p:spPr>
          <a:xfrm>
            <a:off x="395973" y="195486"/>
            <a:ext cx="8424863" cy="635794"/>
          </a:xfrm>
        </p:spPr>
        <p:txBody>
          <a:bodyPr>
            <a:normAutofit fontScale="62500" lnSpcReduction="20000"/>
          </a:bodyPr>
          <a:lstStyle/>
          <a:p>
            <a:pPr algn="ctr">
              <a:buNone/>
            </a:pPr>
            <a:r>
              <a:rPr lang="en-US" altLang="zh-CN" sz="4000" dirty="0" smtClean="0">
                <a:solidFill>
                  <a:schemeClr val="bg1"/>
                </a:solidFill>
                <a:latin typeface="Arial" panose="020B0604020202020204" pitchFamily="34" charset="0"/>
                <a:cs typeface="Arial" panose="020B0604020202020204" pitchFamily="34" charset="0"/>
              </a:rPr>
              <a:t>Composition of </a:t>
            </a:r>
            <a:r>
              <a:rPr lang="en-US" altLang="zh-CN" sz="4000" dirty="0">
                <a:solidFill>
                  <a:schemeClr val="bg1"/>
                </a:solidFill>
              </a:rPr>
              <a:t>Camera</a:t>
            </a:r>
            <a:endParaRPr lang="en-US" altLang="zh-CN" sz="4000" dirty="0" smtClean="0">
              <a:solidFill>
                <a:schemeClr val="bg1"/>
              </a:solidFill>
              <a:latin typeface="Arial" panose="020B0604020202020204" pitchFamily="34" charset="0"/>
              <a:cs typeface="Arial" panose="020B0604020202020204" pitchFamily="34" charset="0"/>
            </a:endParaRPr>
          </a:p>
        </p:txBody>
      </p:sp>
      <p:sp>
        <p:nvSpPr>
          <p:cNvPr id="5123" name="Rectangle 5"/>
          <p:cNvSpPr>
            <a:spLocks noChangeArrowheads="1"/>
          </p:cNvSpPr>
          <p:nvPr/>
        </p:nvSpPr>
        <p:spPr bwMode="auto">
          <a:xfrm>
            <a:off x="195145" y="851829"/>
            <a:ext cx="8856663" cy="316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lvl="1">
              <a:lnSpc>
                <a:spcPct val="150000"/>
              </a:lnSpc>
              <a:spcBef>
                <a:spcPct val="20000"/>
              </a:spcBef>
            </a:pPr>
            <a:r>
              <a:rPr lang="en-US" altLang="zh-CN" sz="2800" dirty="0" smtClean="0">
                <a:latin typeface="Arial" panose="020B0604020202020204" pitchFamily="34" charset="0"/>
                <a:cs typeface="Arial" panose="020B0604020202020204" pitchFamily="34" charset="0"/>
              </a:rPr>
              <a:t>imaging spectrum channels</a:t>
            </a:r>
          </a:p>
          <a:p>
            <a:pPr marL="914400" lvl="1" indent="-457200">
              <a:lnSpc>
                <a:spcPct val="150000"/>
              </a:lnSpc>
              <a:buFont typeface="Wingdings" panose="05000000000000000000" pitchFamily="2" charset="2"/>
              <a:buChar char="l"/>
            </a:pPr>
            <a:r>
              <a:rPr lang="en-US" altLang="zh-CN" sz="2500" dirty="0" smtClean="0">
                <a:solidFill>
                  <a:srgbClr val="FF3300"/>
                </a:solidFill>
                <a:latin typeface="Arial Unicode MS" pitchFamily="34" charset="-122"/>
                <a:ea typeface="Arial Unicode MS" pitchFamily="34" charset="-122"/>
                <a:cs typeface="Arial Unicode MS" pitchFamily="34" charset="-122"/>
              </a:rPr>
              <a:t>Camera </a:t>
            </a:r>
          </a:p>
          <a:p>
            <a:pPr marL="1200150" lvl="2" indent="-285750">
              <a:lnSpc>
                <a:spcPct val="150000"/>
              </a:lnSpc>
              <a:buFont typeface="Wingdings" panose="05000000000000000000" pitchFamily="2" charset="2"/>
              <a:buChar char="Ø"/>
            </a:pPr>
            <a:r>
              <a:rPr lang="en-US" altLang="zh-CN" sz="2000" dirty="0" smtClean="0">
                <a:latin typeface="Arial" panose="020B0604020202020204" pitchFamily="34" charset="0"/>
                <a:cs typeface="Arial" panose="020B0604020202020204" pitchFamily="34" charset="0"/>
              </a:rPr>
              <a:t>B1/blue</a:t>
            </a:r>
            <a:r>
              <a:rPr lang="zh-CN" altLang="zh-CN"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 0.45</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0.02</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m ~ 0.52</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0.02</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m</a:t>
            </a:r>
            <a:endParaRPr lang="zh-CN" altLang="zh-CN" sz="2000" dirty="0">
              <a:latin typeface="Arial" panose="020B0604020202020204" pitchFamily="34" charset="0"/>
              <a:cs typeface="Arial" panose="020B0604020202020204" pitchFamily="34" charset="0"/>
            </a:endParaRPr>
          </a:p>
          <a:p>
            <a:pPr marL="1200150" lvl="2" indent="-285750">
              <a:lnSpc>
                <a:spcPct val="150000"/>
              </a:lnSpc>
              <a:buFont typeface="Wingdings" panose="05000000000000000000" pitchFamily="2" charset="2"/>
              <a:buChar char="Ø"/>
            </a:pPr>
            <a:r>
              <a:rPr lang="en-US" altLang="zh-CN" sz="2000" dirty="0">
                <a:latin typeface="Arial" panose="020B0604020202020204" pitchFamily="34" charset="0"/>
                <a:cs typeface="Arial" panose="020B0604020202020204" pitchFamily="34" charset="0"/>
              </a:rPr>
              <a:t>B2/green</a:t>
            </a:r>
            <a:r>
              <a:rPr lang="zh-CN" altLang="zh-CN"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0.52</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0.02</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m ~ 0.59</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0.02</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m</a:t>
            </a:r>
            <a:endParaRPr lang="zh-CN" altLang="zh-CN" sz="2000" dirty="0">
              <a:latin typeface="Arial" panose="020B0604020202020204" pitchFamily="34" charset="0"/>
              <a:cs typeface="Arial" panose="020B0604020202020204" pitchFamily="34" charset="0"/>
            </a:endParaRPr>
          </a:p>
          <a:p>
            <a:pPr marL="1200150" lvl="2" indent="-285750">
              <a:lnSpc>
                <a:spcPct val="150000"/>
              </a:lnSpc>
              <a:buFont typeface="Wingdings" panose="05000000000000000000" pitchFamily="2" charset="2"/>
              <a:buChar char="Ø"/>
            </a:pPr>
            <a:r>
              <a:rPr lang="en-US" altLang="zh-CN" sz="2000" dirty="0">
                <a:latin typeface="Arial" panose="020B0604020202020204" pitchFamily="34" charset="0"/>
                <a:cs typeface="Arial" panose="020B0604020202020204" pitchFamily="34" charset="0"/>
              </a:rPr>
              <a:t>B3/red</a:t>
            </a:r>
            <a:r>
              <a:rPr lang="zh-CN" altLang="zh-CN"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  0.63</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0.02</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m ~ 0.69</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0.02</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m</a:t>
            </a:r>
            <a:endParaRPr lang="zh-CN" altLang="zh-CN" sz="2000" dirty="0">
              <a:latin typeface="Arial" panose="020B0604020202020204" pitchFamily="34" charset="0"/>
              <a:cs typeface="Arial" panose="020B0604020202020204" pitchFamily="34" charset="0"/>
            </a:endParaRPr>
          </a:p>
          <a:p>
            <a:pPr marL="1200150" lvl="2" indent="-285750">
              <a:lnSpc>
                <a:spcPct val="150000"/>
              </a:lnSpc>
              <a:buFont typeface="Wingdings" panose="05000000000000000000" pitchFamily="2" charset="2"/>
              <a:buChar char="Ø"/>
            </a:pPr>
            <a:r>
              <a:rPr lang="en-US" altLang="zh-CN" sz="2000" dirty="0">
                <a:latin typeface="Arial" panose="020B0604020202020204" pitchFamily="34" charset="0"/>
                <a:cs typeface="Arial" panose="020B0604020202020204" pitchFamily="34" charset="0"/>
              </a:rPr>
              <a:t>B4/NIR</a:t>
            </a:r>
            <a:r>
              <a:rPr lang="zh-CN" altLang="zh-CN"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 0.77</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0.02</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m ~ 0.89</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0.02</a:t>
            </a:r>
            <a:r>
              <a:rPr lang="en-US" altLang="zh-CN" sz="2000" dirty="0">
                <a:latin typeface="Arial" panose="020B0604020202020204" pitchFamily="34" charset="0"/>
                <a:cs typeface="Arial" panose="020B0604020202020204" pitchFamily="34" charset="0"/>
                <a:sym typeface="Symbol"/>
              </a:rPr>
              <a:t></a:t>
            </a:r>
            <a:r>
              <a:rPr lang="en-US" altLang="zh-CN" sz="2000" dirty="0">
                <a:latin typeface="Arial" panose="020B0604020202020204" pitchFamily="34" charset="0"/>
                <a:cs typeface="Arial" panose="020B0604020202020204" pitchFamily="34" charset="0"/>
              </a:rPr>
              <a:t>m</a:t>
            </a:r>
          </a:p>
        </p:txBody>
      </p:sp>
    </p:spTree>
    <p:extLst>
      <p:ext uri="{BB962C8B-B14F-4D97-AF65-F5344CB8AC3E}">
        <p14:creationId xmlns:p14="http://schemas.microsoft.com/office/powerpoint/2010/main" val="15622268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p:cNvSpPr>
            <a:spLocks noGrp="1"/>
          </p:cNvSpPr>
          <p:nvPr>
            <p:ph idx="4294967295"/>
          </p:nvPr>
        </p:nvSpPr>
        <p:spPr>
          <a:xfrm>
            <a:off x="395973" y="87474"/>
            <a:ext cx="8424863" cy="635794"/>
          </a:xfrm>
        </p:spPr>
        <p:txBody>
          <a:bodyPr>
            <a:normAutofit fontScale="62500" lnSpcReduction="20000"/>
          </a:bodyPr>
          <a:lstStyle/>
          <a:p>
            <a:pPr algn="ctr">
              <a:buNone/>
            </a:pPr>
            <a:r>
              <a:rPr lang="en-US" altLang="zh-CN" sz="4000" dirty="0" smtClean="0">
                <a:solidFill>
                  <a:schemeClr val="bg1"/>
                </a:solidFill>
                <a:latin typeface="Arial" panose="020B0604020202020204" pitchFamily="34" charset="0"/>
                <a:cs typeface="Arial" panose="020B0604020202020204" pitchFamily="34" charset="0"/>
              </a:rPr>
              <a:t>Composition of </a:t>
            </a:r>
            <a:r>
              <a:rPr lang="en-US" altLang="zh-CN" sz="4000" dirty="0">
                <a:solidFill>
                  <a:schemeClr val="bg1"/>
                </a:solidFill>
              </a:rPr>
              <a:t>Camera</a:t>
            </a:r>
            <a:endParaRPr lang="en-US" altLang="zh-CN" sz="4000" dirty="0" smtClean="0">
              <a:solidFill>
                <a:schemeClr val="bg1"/>
              </a:solidFill>
              <a:latin typeface="Arial" panose="020B0604020202020204" pitchFamily="34" charset="0"/>
              <a:cs typeface="Arial" panose="020B0604020202020204" pitchFamily="34" charset="0"/>
            </a:endParaRPr>
          </a:p>
        </p:txBody>
      </p:sp>
      <p:sp>
        <p:nvSpPr>
          <p:cNvPr id="5123" name="Rectangle 5"/>
          <p:cNvSpPr>
            <a:spLocks noChangeArrowheads="1"/>
          </p:cNvSpPr>
          <p:nvPr/>
        </p:nvSpPr>
        <p:spPr bwMode="auto">
          <a:xfrm>
            <a:off x="107505" y="1298494"/>
            <a:ext cx="8856663" cy="198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742950" lvl="1" indent="-285750">
              <a:lnSpc>
                <a:spcPct val="150000"/>
              </a:lnSpc>
              <a:spcBef>
                <a:spcPct val="20000"/>
              </a:spcBef>
              <a:buFont typeface="Arial" pitchFamily="34" charset="0"/>
              <a:buChar char="•"/>
            </a:pPr>
            <a:r>
              <a:rPr lang="en-US" altLang="zh-CN" sz="2800" dirty="0"/>
              <a:t>Camera</a:t>
            </a:r>
            <a:r>
              <a:rPr lang="en-US" altLang="zh-CN" sz="2700" dirty="0" smtClean="0">
                <a:solidFill>
                  <a:srgbClr val="FF3300"/>
                </a:solidFill>
                <a:latin typeface="Arial" panose="020B0604020202020204" pitchFamily="34" charset="0"/>
                <a:cs typeface="Arial" panose="020B0604020202020204" pitchFamily="34" charset="0"/>
              </a:rPr>
              <a:t> can </a:t>
            </a:r>
            <a:r>
              <a:rPr lang="en-US" altLang="zh-CN" sz="2700" dirty="0" smtClean="0">
                <a:latin typeface="Arial" panose="020B0604020202020204" pitchFamily="34" charset="0"/>
                <a:cs typeface="Arial" panose="020B0604020202020204" pitchFamily="34" charset="0"/>
              </a:rPr>
              <a:t>acquire the image with the Ground Sampling Distance (</a:t>
            </a:r>
            <a:r>
              <a:rPr lang="en-US" altLang="zh-CN" sz="2700" dirty="0" smtClean="0">
                <a:solidFill>
                  <a:srgbClr val="FF3300"/>
                </a:solidFill>
                <a:latin typeface="Arial" panose="020B0604020202020204" pitchFamily="34" charset="0"/>
                <a:cs typeface="Arial" panose="020B0604020202020204" pitchFamily="34" charset="0"/>
              </a:rPr>
              <a:t>GSD</a:t>
            </a:r>
            <a:r>
              <a:rPr lang="en-US" altLang="zh-CN" sz="2700" dirty="0" smtClean="0">
                <a:latin typeface="Arial" panose="020B0604020202020204" pitchFamily="34" charset="0"/>
                <a:cs typeface="Arial" panose="020B0604020202020204" pitchFamily="34" charset="0"/>
              </a:rPr>
              <a:t>) of </a:t>
            </a:r>
            <a:r>
              <a:rPr lang="en-US" altLang="zh-CN" sz="2700" dirty="0" smtClean="0">
                <a:solidFill>
                  <a:srgbClr val="FF0000"/>
                </a:solidFill>
                <a:latin typeface="Arial" panose="020B0604020202020204" pitchFamily="34" charset="0"/>
                <a:cs typeface="Arial" panose="020B0604020202020204" pitchFamily="34" charset="0"/>
              </a:rPr>
              <a:t>13.4</a:t>
            </a:r>
            <a:r>
              <a:rPr lang="en-US" altLang="zh-CN" sz="2700" dirty="0" smtClean="0">
                <a:solidFill>
                  <a:srgbClr val="FF3300"/>
                </a:solidFill>
                <a:latin typeface="Arial" panose="020B0604020202020204" pitchFamily="34" charset="0"/>
                <a:cs typeface="Arial" panose="020B0604020202020204" pitchFamily="34" charset="0"/>
              </a:rPr>
              <a:t>m</a:t>
            </a:r>
            <a:r>
              <a:rPr lang="en-US" altLang="zh-CN" sz="2700" dirty="0" smtClean="0">
                <a:latin typeface="Arial" panose="020B0604020202020204" pitchFamily="34" charset="0"/>
                <a:cs typeface="Arial" panose="020B0604020202020204" pitchFamily="34" charset="0"/>
              </a:rPr>
              <a:t> at the orbit altitude of 629km, and a  </a:t>
            </a:r>
            <a:r>
              <a:rPr lang="en-US" altLang="zh-CN" sz="2700" dirty="0" smtClean="0">
                <a:solidFill>
                  <a:srgbClr val="FF3300"/>
                </a:solidFill>
                <a:latin typeface="Arial" panose="020B0604020202020204" pitchFamily="34" charset="0"/>
                <a:cs typeface="Arial" panose="020B0604020202020204" pitchFamily="34" charset="0"/>
              </a:rPr>
              <a:t>swath</a:t>
            </a:r>
            <a:r>
              <a:rPr lang="en-US" altLang="zh-CN" sz="2700" dirty="0" smtClean="0">
                <a:latin typeface="Arial" panose="020B0604020202020204" pitchFamily="34" charset="0"/>
                <a:cs typeface="Arial" panose="020B0604020202020204" pitchFamily="34" charset="0"/>
              </a:rPr>
              <a:t> of </a:t>
            </a:r>
            <a:r>
              <a:rPr lang="en-US" altLang="zh-CN" sz="2700" dirty="0" smtClean="0">
                <a:solidFill>
                  <a:srgbClr val="FF3300"/>
                </a:solidFill>
                <a:latin typeface="Arial" panose="020B0604020202020204" pitchFamily="34" charset="0"/>
                <a:cs typeface="Arial" panose="020B0604020202020204" pitchFamily="34" charset="0"/>
              </a:rPr>
              <a:t>80km</a:t>
            </a:r>
            <a:r>
              <a:rPr lang="en-US" altLang="zh-CN" sz="2700" dirty="0" smtClean="0">
                <a:latin typeface="Arial" panose="020B0604020202020204" pitchFamily="34" charset="0"/>
                <a:cs typeface="Arial" panose="020B0604020202020204" pitchFamily="34" charset="0"/>
              </a:rPr>
              <a:t>; </a:t>
            </a:r>
            <a:endParaRPr lang="en-US" altLang="zh-CN" sz="2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23833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4294967295"/>
          </p:nvPr>
        </p:nvSpPr>
        <p:spPr>
          <a:xfrm>
            <a:off x="251520" y="141480"/>
            <a:ext cx="8424862" cy="635794"/>
          </a:xfrm>
        </p:spPr>
        <p:txBody>
          <a:bodyPr>
            <a:normAutofit fontScale="62500" lnSpcReduction="20000"/>
          </a:bodyPr>
          <a:lstStyle/>
          <a:p>
            <a:pPr algn="ctr" eaLnBrk="1" hangingPunct="1">
              <a:buFont typeface="Arial" pitchFamily="34" charset="0"/>
              <a:buNone/>
            </a:pPr>
            <a:r>
              <a:rPr lang="en-US" altLang="zh-CN" sz="4000" dirty="0" smtClean="0">
                <a:solidFill>
                  <a:schemeClr val="bg1"/>
                </a:solidFill>
                <a:latin typeface="Arial" panose="020B0604020202020204" pitchFamily="34" charset="0"/>
                <a:cs typeface="Arial" panose="020B0604020202020204" pitchFamily="34" charset="0"/>
              </a:rPr>
              <a:t>Working Status</a:t>
            </a:r>
          </a:p>
        </p:txBody>
      </p:sp>
      <p:sp>
        <p:nvSpPr>
          <p:cNvPr id="5" name="Rectangle 2"/>
          <p:cNvSpPr>
            <a:spLocks noChangeArrowheads="1"/>
          </p:cNvSpPr>
          <p:nvPr/>
        </p:nvSpPr>
        <p:spPr bwMode="auto">
          <a:xfrm>
            <a:off x="395536" y="1063285"/>
            <a:ext cx="842493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indent="304800" fontAlgn="base">
              <a:lnSpc>
                <a:spcPct val="150000"/>
              </a:lnSpc>
              <a:spcBef>
                <a:spcPct val="0"/>
              </a:spcBef>
              <a:spcAft>
                <a:spcPct val="0"/>
              </a:spcAft>
            </a:pPr>
            <a:r>
              <a:rPr lang="en-US" altLang="zh-CN" sz="2000" dirty="0">
                <a:latin typeface="Arial" panose="020B0604020202020204" pitchFamily="34" charset="0"/>
                <a:ea typeface="宋体" pitchFamily="2" charset="-122"/>
                <a:cs typeface="Arial" panose="020B0604020202020204" pitchFamily="34" charset="0"/>
              </a:rPr>
              <a:t>T</a:t>
            </a:r>
            <a:r>
              <a:rPr lang="en-US" altLang="zh-CN" sz="2000" dirty="0" bmk="">
                <a:latin typeface="Arial" panose="020B0604020202020204" pitchFamily="34" charset="0"/>
                <a:ea typeface="宋体" pitchFamily="2" charset="-122"/>
                <a:cs typeface="Arial" panose="020B0604020202020204" pitchFamily="34" charset="0"/>
              </a:rPr>
              <a:t>he default working status and working parameters for </a:t>
            </a:r>
            <a:r>
              <a:rPr lang="en-US" altLang="zh-CN" sz="2000" dirty="0"/>
              <a:t>Camera</a:t>
            </a:r>
            <a:r>
              <a:rPr lang="en-US" altLang="zh-CN" sz="2000" dirty="0" smtClean="0" bmk="">
                <a:latin typeface="Arial" panose="020B0604020202020204" pitchFamily="34" charset="0"/>
                <a:ea typeface="宋体" pitchFamily="2" charset="-122"/>
                <a:cs typeface="Arial" panose="020B0604020202020204" pitchFamily="34" charset="0"/>
              </a:rPr>
              <a:t> </a:t>
            </a:r>
            <a:r>
              <a:rPr lang="en-US" altLang="zh-CN" sz="2000" dirty="0" bmk="">
                <a:latin typeface="Arial" panose="020B0604020202020204" pitchFamily="34" charset="0"/>
                <a:ea typeface="宋体" pitchFamily="2" charset="-122"/>
                <a:cs typeface="Arial" panose="020B0604020202020204" pitchFamily="34" charset="0"/>
              </a:rPr>
              <a:t>are as following:</a:t>
            </a:r>
            <a:endParaRPr lang="en-US" altLang="zh-CN" sz="2000" dirty="0">
              <a:latin typeface="Arial" pitchFamily="34" charset="0"/>
              <a:ea typeface="宋体" pitchFamily="2" charset="-122"/>
              <a:cs typeface="Arial" panose="020B0604020202020204" pitchFamily="34" charset="0"/>
            </a:endParaRPr>
          </a:p>
          <a:p>
            <a:pPr eaLnBrk="0" fontAlgn="base" hangingPunct="0">
              <a:lnSpc>
                <a:spcPct val="150000"/>
              </a:lnSpc>
              <a:spcBef>
                <a:spcPct val="0"/>
              </a:spcBef>
              <a:spcAft>
                <a:spcPct val="0"/>
              </a:spcAft>
              <a:buFontTx/>
              <a:buChar char="•"/>
            </a:pPr>
            <a:r>
              <a:rPr lang="en-US" altLang="zh-CN" sz="2000" dirty="0" bmk="_Toc327202790">
                <a:solidFill>
                  <a:srgbClr val="FF0000"/>
                </a:solidFill>
                <a:latin typeface="Arial" panose="020B0604020202020204" pitchFamily="34" charset="0"/>
                <a:ea typeface="宋体" pitchFamily="2" charset="-122"/>
                <a:cs typeface="Arial" panose="020B0604020202020204" pitchFamily="34" charset="0"/>
              </a:rPr>
              <a:t>Main</a:t>
            </a:r>
            <a:r>
              <a:rPr lang="en-US" altLang="zh-CN" sz="2000" dirty="0" bmk="_Toc327202790">
                <a:latin typeface="Arial" panose="020B0604020202020204" pitchFamily="34" charset="0"/>
                <a:ea typeface="宋体" pitchFamily="2" charset="-122"/>
                <a:cs typeface="Arial" panose="020B0604020202020204" pitchFamily="34" charset="0"/>
              </a:rPr>
              <a:t> of </a:t>
            </a:r>
            <a:r>
              <a:rPr lang="en-US" altLang="zh-CN" sz="2000" dirty="0"/>
              <a:t>Camera</a:t>
            </a:r>
            <a:r>
              <a:rPr lang="en-US" altLang="zh-CN" sz="2000" dirty="0" smtClean="0" bmk="_Toc327202790">
                <a:latin typeface="Arial" panose="020B0604020202020204" pitchFamily="34" charset="0"/>
                <a:ea typeface="宋体" pitchFamily="2" charset="-122"/>
                <a:cs typeface="Arial" panose="020B0604020202020204" pitchFamily="34" charset="0"/>
              </a:rPr>
              <a:t> </a:t>
            </a:r>
            <a:r>
              <a:rPr lang="en-US" altLang="zh-CN" sz="2000" dirty="0" bmk="_Toc327202790">
                <a:latin typeface="Arial" panose="020B0604020202020204" pitchFamily="34" charset="0"/>
                <a:ea typeface="宋体" pitchFamily="2" charset="-122"/>
                <a:cs typeface="Arial" panose="020B0604020202020204" pitchFamily="34" charset="0"/>
              </a:rPr>
              <a:t>management controller works </a:t>
            </a:r>
            <a:r>
              <a:rPr lang="en-US" altLang="zh-CN" sz="2000" dirty="0" bmk="_Toc327202790">
                <a:solidFill>
                  <a:srgbClr val="FF0000"/>
                </a:solidFill>
                <a:latin typeface="Arial" panose="020B0604020202020204" pitchFamily="34" charset="0"/>
                <a:ea typeface="宋体" pitchFamily="2" charset="-122"/>
                <a:cs typeface="Arial" panose="020B0604020202020204" pitchFamily="34" charset="0"/>
              </a:rPr>
              <a:t>in general</a:t>
            </a:r>
            <a:r>
              <a:rPr lang="en-US" altLang="zh-CN" sz="2000" dirty="0" bmk="_Toc327202790">
                <a:latin typeface="Arial" panose="020B0604020202020204" pitchFamily="34" charset="0"/>
                <a:ea typeface="宋体" pitchFamily="2" charset="-122"/>
                <a:cs typeface="Arial" panose="020B0604020202020204" pitchFamily="34" charset="0"/>
              </a:rPr>
              <a:t>.</a:t>
            </a:r>
            <a:endParaRPr lang="zh-CN" altLang="zh-CN" sz="2000" dirty="0" bmk="_Toc327202790">
              <a:latin typeface="Arial" panose="020B0604020202020204" pitchFamily="34" charset="0"/>
              <a:ea typeface="宋体" pitchFamily="2" charset="-122"/>
              <a:cs typeface="Arial" panose="020B0604020202020204" pitchFamily="34" charset="0"/>
            </a:endParaRPr>
          </a:p>
          <a:p>
            <a:pPr lvl="0" eaLnBrk="0" fontAlgn="base" hangingPunct="0">
              <a:lnSpc>
                <a:spcPct val="150000"/>
              </a:lnSpc>
              <a:spcBef>
                <a:spcPct val="0"/>
              </a:spcBef>
              <a:spcAft>
                <a:spcPct val="0"/>
              </a:spcAft>
              <a:buFontTx/>
              <a:buChar char="•"/>
            </a:pPr>
            <a:r>
              <a:rPr lang="en-US" altLang="zh-CN" sz="2000" dirty="0" smtClean="0" bmk="_Toc327202790">
                <a:latin typeface="Arial" panose="020B0604020202020204" pitchFamily="34" charset="0"/>
                <a:ea typeface="宋体" pitchFamily="2" charset="-122"/>
                <a:cs typeface="Arial" panose="020B0604020202020204" pitchFamily="34" charset="0"/>
              </a:rPr>
              <a:t>The </a:t>
            </a:r>
            <a:r>
              <a:rPr lang="en-US" altLang="zh-CN" sz="2000" dirty="0" bmk="_Toc327202790">
                <a:solidFill>
                  <a:srgbClr val="FF0000"/>
                </a:solidFill>
                <a:latin typeface="Arial" panose="020B0604020202020204" pitchFamily="34" charset="0"/>
                <a:ea typeface="宋体" pitchFamily="2" charset="-122"/>
                <a:cs typeface="Arial" panose="020B0604020202020204" pitchFamily="34" charset="0"/>
              </a:rPr>
              <a:t>default imaging parameters </a:t>
            </a:r>
            <a:r>
              <a:rPr lang="en-US" altLang="zh-CN" sz="2000" dirty="0" bmk="_Toc327202790">
                <a:latin typeface="Arial" panose="020B0604020202020204" pitchFamily="34" charset="0"/>
                <a:ea typeface="宋体" pitchFamily="2" charset="-122"/>
                <a:cs typeface="Arial" panose="020B0604020202020204" pitchFamily="34" charset="0"/>
              </a:rPr>
              <a:t>of </a:t>
            </a:r>
            <a:r>
              <a:rPr lang="en-US" altLang="zh-CN" sz="2000" dirty="0"/>
              <a:t>Camera</a:t>
            </a:r>
            <a:r>
              <a:rPr lang="en-US" altLang="zh-CN" sz="2000" dirty="0" smtClean="0" bmk="_Toc327202790">
                <a:latin typeface="Arial" panose="020B0604020202020204" pitchFamily="34" charset="0"/>
                <a:ea typeface="宋体" pitchFamily="2" charset="-122"/>
                <a:cs typeface="Arial" panose="020B0604020202020204" pitchFamily="34" charset="0"/>
              </a:rPr>
              <a:t> </a:t>
            </a:r>
            <a:r>
              <a:rPr lang="en-US" altLang="zh-CN" sz="2000" dirty="0" bmk="_Toc327202790">
                <a:latin typeface="Arial" panose="020B0604020202020204" pitchFamily="34" charset="0"/>
                <a:ea typeface="宋体" pitchFamily="2" charset="-122"/>
                <a:cs typeface="Arial" panose="020B0604020202020204" pitchFamily="34" charset="0"/>
              </a:rPr>
              <a:t>are listed as below</a:t>
            </a:r>
            <a:r>
              <a:rPr lang="en-US" altLang="zh-CN" sz="2000" dirty="0" smtClean="0" bmk="_Toc327202790">
                <a:latin typeface="Arial" panose="020B0604020202020204" pitchFamily="34" charset="0"/>
                <a:ea typeface="宋体" pitchFamily="2" charset="-122"/>
                <a:cs typeface="Arial" panose="020B0604020202020204" pitchFamily="34" charset="0"/>
              </a:rPr>
              <a:t>.</a:t>
            </a:r>
          </a:p>
          <a:p>
            <a:pPr lvl="0" eaLnBrk="0" fontAlgn="base" hangingPunct="0">
              <a:spcBef>
                <a:spcPct val="0"/>
              </a:spcBef>
              <a:spcAft>
                <a:spcPct val="0"/>
              </a:spcAft>
              <a:buFontTx/>
              <a:buChar char="•"/>
            </a:pPr>
            <a:endParaRPr lang="en-US" altLang="zh-CN" sz="2000" dirty="0" bmk="_Toc327202790">
              <a:latin typeface="Arial" panose="020B0604020202020204" pitchFamily="34" charset="0"/>
              <a:ea typeface="宋体" pitchFamily="2" charset="-122"/>
              <a:cs typeface="Arial" panose="020B0604020202020204" pitchFamily="34" charset="0"/>
            </a:endParaRPr>
          </a:p>
          <a:p>
            <a:pPr lvl="0" eaLnBrk="0" fontAlgn="base" hangingPunct="0">
              <a:spcBef>
                <a:spcPct val="0"/>
              </a:spcBef>
              <a:spcAft>
                <a:spcPct val="0"/>
              </a:spcAft>
              <a:buFontTx/>
              <a:buChar char="•"/>
            </a:pPr>
            <a:endParaRPr lang="en-US" altLang="zh-CN" sz="2000" dirty="0" smtClean="0" bmk="_Toc327202790">
              <a:latin typeface="Arial" panose="020B0604020202020204" pitchFamily="34" charset="0"/>
              <a:ea typeface="宋体" pitchFamily="2" charset="-122"/>
              <a:cs typeface="Arial" panose="020B0604020202020204" pitchFamily="34" charset="0"/>
            </a:endParaRPr>
          </a:p>
          <a:p>
            <a:pPr lvl="0" eaLnBrk="0" fontAlgn="base" hangingPunct="0">
              <a:spcBef>
                <a:spcPct val="0"/>
              </a:spcBef>
              <a:spcAft>
                <a:spcPct val="0"/>
              </a:spcAft>
              <a:buFontTx/>
              <a:buChar char="•"/>
            </a:pPr>
            <a:endParaRPr lang="en-US" altLang="zh-CN" sz="2000" dirty="0" bmk="_Toc327202790">
              <a:latin typeface="Arial" panose="020B0604020202020204" pitchFamily="34" charset="0"/>
              <a:ea typeface="宋体" pitchFamily="2" charset="-122"/>
              <a:cs typeface="Arial" panose="020B0604020202020204" pitchFamily="34" charset="0"/>
            </a:endParaRPr>
          </a:p>
          <a:p>
            <a:pPr lvl="0" indent="-342900" eaLnBrk="0" fontAlgn="base" hangingPunct="0">
              <a:lnSpc>
                <a:spcPct val="150000"/>
              </a:lnSpc>
              <a:spcBef>
                <a:spcPct val="0"/>
              </a:spcBef>
              <a:spcAft>
                <a:spcPct val="0"/>
              </a:spcAft>
              <a:buFontTx/>
              <a:buChar char="•"/>
            </a:pPr>
            <a:r>
              <a:rPr lang="en-US" altLang="zh-CN" sz="2000" dirty="0" bmk="_Toc327202790">
                <a:latin typeface="Arial" panose="020B0604020202020204" pitchFamily="34" charset="0"/>
                <a:ea typeface="宋体" pitchFamily="2" charset="-122"/>
                <a:cs typeface="Arial" panose="020B0604020202020204" pitchFamily="34" charset="0"/>
              </a:rPr>
              <a:t>All the algorithms of </a:t>
            </a:r>
            <a:r>
              <a:rPr lang="en-US" altLang="zh-CN" sz="2000" dirty="0"/>
              <a:t>Camera </a:t>
            </a:r>
            <a:r>
              <a:rPr lang="zh-CN" altLang="zh-CN" sz="2000" dirty="0" smtClean="0" bmk="_Toc327202790">
                <a:latin typeface="Arial" panose="020B0604020202020204" pitchFamily="34" charset="0"/>
                <a:ea typeface="宋体" pitchFamily="2" charset="-122"/>
                <a:cs typeface="Arial" panose="020B0604020202020204" pitchFamily="34" charset="0"/>
              </a:rPr>
              <a:t>（</a:t>
            </a:r>
            <a:r>
              <a:rPr lang="en-US" altLang="zh-CN" sz="2000" dirty="0" bmk="_Toc327202790">
                <a:latin typeface="Arial" panose="020B0604020202020204" pitchFamily="34" charset="0"/>
                <a:ea typeface="宋体" pitchFamily="2" charset="-122"/>
                <a:cs typeface="Arial" panose="020B0604020202020204" pitchFamily="34" charset="0"/>
              </a:rPr>
              <a:t>include dark pixel correction and uniformity </a:t>
            </a:r>
            <a:r>
              <a:rPr lang="en-US" altLang="zh-CN" sz="2000" dirty="0" smtClean="0" bmk="_Toc327202790">
                <a:latin typeface="Arial" panose="020B0604020202020204" pitchFamily="34" charset="0"/>
                <a:ea typeface="宋体" pitchFamily="2" charset="-122"/>
                <a:cs typeface="Arial" panose="020B0604020202020204" pitchFamily="34" charset="0"/>
              </a:rPr>
              <a:t>correction</a:t>
            </a:r>
            <a:r>
              <a:rPr lang="zh-CN" altLang="zh-CN" sz="2000" dirty="0" smtClean="0" bmk="_Toc327202790">
                <a:latin typeface="Arial" panose="020B0604020202020204" pitchFamily="34" charset="0"/>
                <a:ea typeface="宋体" pitchFamily="2" charset="-122"/>
                <a:cs typeface="Arial" panose="020B0604020202020204" pitchFamily="34" charset="0"/>
              </a:rPr>
              <a:t>）</a:t>
            </a:r>
            <a:r>
              <a:rPr lang="en-US" altLang="zh-CN" sz="2000" dirty="0" bmk="_Toc327202790">
                <a:latin typeface="Arial" panose="020B0604020202020204" pitchFamily="34" charset="0"/>
                <a:ea typeface="宋体" pitchFamily="2" charset="-122"/>
                <a:cs typeface="Arial" panose="020B0604020202020204" pitchFamily="34" charset="0"/>
              </a:rPr>
              <a:t>are set </a:t>
            </a:r>
            <a:r>
              <a:rPr lang="en-US" altLang="zh-CN" sz="2000" dirty="0" bmk="_Toc327202790">
                <a:solidFill>
                  <a:srgbClr val="FF0000"/>
                </a:solidFill>
                <a:latin typeface="Arial" panose="020B0604020202020204" pitchFamily="34" charset="0"/>
                <a:ea typeface="宋体" pitchFamily="2" charset="-122"/>
                <a:cs typeface="Arial" panose="020B0604020202020204" pitchFamily="34" charset="0"/>
              </a:rPr>
              <a:t>turn on</a:t>
            </a:r>
            <a:r>
              <a:rPr lang="zh-CN" altLang="zh-CN" sz="2000" dirty="0" bmk="_Toc327202790">
                <a:latin typeface="Arial" panose="020B0604020202020204" pitchFamily="34" charset="0"/>
                <a:ea typeface="宋体" pitchFamily="2" charset="-122"/>
                <a:cs typeface="Arial" panose="020B0604020202020204" pitchFamily="34" charset="0"/>
              </a:rPr>
              <a:t>（</a:t>
            </a:r>
            <a:r>
              <a:rPr lang="en-US" altLang="zh-CN" sz="2000" dirty="0" smtClean="0" bmk="_Toc327202790">
                <a:solidFill>
                  <a:srgbClr val="FF0000"/>
                </a:solidFill>
                <a:latin typeface="Arial" panose="020B0604020202020204" pitchFamily="34" charset="0"/>
                <a:ea typeface="宋体" pitchFamily="2" charset="-122"/>
                <a:cs typeface="Arial" panose="020B0604020202020204" pitchFamily="34" charset="0"/>
              </a:rPr>
              <a:t>01</a:t>
            </a:r>
            <a:r>
              <a:rPr lang="zh-CN" altLang="zh-CN" sz="2000" dirty="0" smtClean="0" bmk="_Toc327202790">
                <a:latin typeface="Arial" panose="020B0604020202020204" pitchFamily="34" charset="0"/>
                <a:ea typeface="宋体" pitchFamily="2" charset="-122"/>
                <a:cs typeface="Arial" panose="020B0604020202020204" pitchFamily="34" charset="0"/>
              </a:rPr>
              <a:t>）</a:t>
            </a:r>
            <a:r>
              <a:rPr lang="en-US" altLang="zh-CN" sz="2000" dirty="0" bmk="_Toc327202790">
                <a:latin typeface="Arial" panose="020B0604020202020204" pitchFamily="34" charset="0"/>
                <a:ea typeface="宋体" pitchFamily="2" charset="-122"/>
                <a:cs typeface="Arial" panose="020B0604020202020204" pitchFamily="34" charset="0"/>
              </a:rPr>
              <a:t>as </a:t>
            </a:r>
            <a:r>
              <a:rPr lang="en-US" altLang="zh-CN" sz="2000" dirty="0" smtClean="0" bmk="_Toc327202790">
                <a:latin typeface="Arial" panose="020B0604020202020204" pitchFamily="34" charset="0"/>
                <a:ea typeface="宋体" pitchFamily="2" charset="-122"/>
                <a:cs typeface="Arial" panose="020B0604020202020204" pitchFamily="34" charset="0"/>
              </a:rPr>
              <a:t>default</a:t>
            </a:r>
            <a:r>
              <a:rPr lang="zh-CN" altLang="zh-CN" sz="2000" dirty="0" smtClean="0" bmk="_Toc327202790">
                <a:latin typeface="Arial" panose="020B0604020202020204" pitchFamily="34" charset="0"/>
                <a:ea typeface="宋体" pitchFamily="2" charset="-122"/>
                <a:cs typeface="Arial" panose="020B0604020202020204" pitchFamily="34" charset="0"/>
              </a:rPr>
              <a:t>。</a:t>
            </a:r>
            <a:endParaRPr lang="zh-CN" altLang="zh-CN" sz="2000" dirty="0" bmk="_Toc327202790">
              <a:latin typeface="Arial" panose="020B0604020202020204" pitchFamily="34" charset="0"/>
              <a:ea typeface="宋体" pitchFamily="2" charset="-122"/>
              <a:cs typeface="Arial" panose="020B0604020202020204" pitchFamily="34"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1689992758"/>
              </p:ext>
            </p:extLst>
          </p:nvPr>
        </p:nvGraphicFramePr>
        <p:xfrm>
          <a:off x="1763688" y="3165816"/>
          <a:ext cx="4265930" cy="349568"/>
        </p:xfrm>
        <a:graphic>
          <a:graphicData uri="http://schemas.openxmlformats.org/drawingml/2006/table">
            <a:tbl>
              <a:tblPr firstRow="1" firstCol="1" bandRow="1">
                <a:tableStyleId>{5C22544A-7EE6-4342-B048-85BDC9FD1C3A}</a:tableStyleId>
              </a:tblPr>
              <a:tblGrid>
                <a:gridCol w="1169670"/>
                <a:gridCol w="774065"/>
                <a:gridCol w="774065"/>
                <a:gridCol w="774065"/>
                <a:gridCol w="774065"/>
              </a:tblGrid>
              <a:tr h="171450">
                <a:tc>
                  <a:txBody>
                    <a:bodyPr/>
                    <a:lstStyle/>
                    <a:p>
                      <a:pPr algn="ctr">
                        <a:spcAft>
                          <a:spcPts val="0"/>
                        </a:spcAft>
                      </a:pPr>
                      <a:r>
                        <a:rPr lang="en-US" sz="1100" kern="100" dirty="0">
                          <a:effectLst/>
                        </a:rPr>
                        <a:t>Band</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a:effectLst/>
                        </a:rPr>
                        <a:t>B1 </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a:effectLst/>
                        </a:rPr>
                        <a:t>B2 </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a:effectLst/>
                        </a:rPr>
                        <a:t>B3 </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rPr>
                        <a:t>B4 </a:t>
                      </a:r>
                      <a:endParaRPr lang="zh-CN" sz="1100" kern="100">
                        <a:effectLst/>
                        <a:latin typeface="Times New Roman"/>
                        <a:ea typeface="宋体"/>
                      </a:endParaRPr>
                    </a:p>
                  </a:txBody>
                  <a:tcPr marL="68580" marR="68580" marT="0" marB="0" anchor="ctr"/>
                </a:tc>
              </a:tr>
              <a:tr h="178118">
                <a:tc>
                  <a:txBody>
                    <a:bodyPr/>
                    <a:lstStyle/>
                    <a:p>
                      <a:pPr algn="ctr">
                        <a:spcAft>
                          <a:spcPts val="0"/>
                        </a:spcAft>
                      </a:pPr>
                      <a:r>
                        <a:rPr lang="en-US" sz="1100" kern="100" dirty="0">
                          <a:effectLst/>
                        </a:rPr>
                        <a:t>Gain</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0" dirty="0" smtClean="0">
                          <a:effectLst/>
                        </a:rPr>
                        <a:t>BB</a:t>
                      </a:r>
                      <a:r>
                        <a:rPr lang="en-US" sz="1100" kern="0" dirty="0" smtClean="0">
                          <a:effectLst/>
                        </a:rPr>
                        <a:t>H</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0" dirty="0" smtClean="0">
                          <a:effectLst/>
                        </a:rPr>
                        <a:t>BB</a:t>
                      </a:r>
                      <a:r>
                        <a:rPr lang="en-US" sz="1100" kern="0" dirty="0" smtClean="0">
                          <a:effectLst/>
                        </a:rPr>
                        <a:t>H</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0" dirty="0" smtClean="0">
                          <a:effectLst/>
                        </a:rPr>
                        <a:t>BB</a:t>
                      </a:r>
                      <a:r>
                        <a:rPr lang="en-US" sz="1100" kern="0" dirty="0" smtClean="0">
                          <a:effectLst/>
                        </a:rPr>
                        <a:t>H</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0" dirty="0" smtClean="0">
                          <a:effectLst/>
                        </a:rPr>
                        <a:t>BB</a:t>
                      </a:r>
                      <a:r>
                        <a:rPr lang="en-US" sz="1100" kern="0" dirty="0" smtClean="0">
                          <a:effectLst/>
                        </a:rPr>
                        <a:t>H</a:t>
                      </a:r>
                      <a:endParaRPr lang="zh-CN" sz="1100" kern="1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7563855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a:spLocks noChangeArrowheads="1"/>
          </p:cNvSpPr>
          <p:nvPr/>
        </p:nvSpPr>
        <p:spPr bwMode="auto">
          <a:xfrm>
            <a:off x="0" y="6547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9220" name="Rectangle 6"/>
          <p:cNvSpPr>
            <a:spLocks/>
          </p:cNvSpPr>
          <p:nvPr/>
        </p:nvSpPr>
        <p:spPr bwMode="auto">
          <a:xfrm>
            <a:off x="457200" y="195486"/>
            <a:ext cx="8229600" cy="589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indent="-342900" algn="ctr">
              <a:lnSpc>
                <a:spcPct val="130000"/>
              </a:lnSpc>
            </a:pPr>
            <a:r>
              <a:rPr lang="en-US" altLang="zh-CN" sz="3700" b="1" dirty="0">
                <a:solidFill>
                  <a:schemeClr val="bg1"/>
                </a:solidFill>
                <a:latin typeface="微软雅黑" pitchFamily="34" charset="-122"/>
                <a:ea typeface="微软雅黑" pitchFamily="34" charset="-122"/>
              </a:rPr>
              <a:t>Working Principle </a:t>
            </a:r>
          </a:p>
        </p:txBody>
      </p:sp>
      <p:sp>
        <p:nvSpPr>
          <p:cNvPr id="2" name="Rectangle 11"/>
          <p:cNvSpPr>
            <a:spLocks noChangeArrowheads="1"/>
          </p:cNvSpPr>
          <p:nvPr/>
        </p:nvSpPr>
        <p:spPr bwMode="auto">
          <a:xfrm>
            <a:off x="0" y="-184666"/>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4" name="Rectangle 13"/>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78"/>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105"/>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06275601"/>
              </p:ext>
            </p:extLst>
          </p:nvPr>
        </p:nvGraphicFramePr>
        <p:xfrm>
          <a:off x="1763688" y="1383618"/>
          <a:ext cx="5448300" cy="2714625"/>
        </p:xfrm>
        <a:graphic>
          <a:graphicData uri="http://schemas.openxmlformats.org/presentationml/2006/ole">
            <mc:AlternateContent xmlns:mc="http://schemas.openxmlformats.org/markup-compatibility/2006">
              <mc:Choice xmlns:v="urn:schemas-microsoft-com:vml" Requires="v">
                <p:oleObj spid="_x0000_s1165" name="Visio" r:id="rId3" imgW="5471636" imgH="3619976" progId="Visio.Drawing.11">
                  <p:embed/>
                </p:oleObj>
              </mc:Choice>
              <mc:Fallback>
                <p:oleObj name="Visio" r:id="rId3" imgW="5471636" imgH="3619976" progId="Visio.Drawing.11">
                  <p:embed/>
                  <p:pic>
                    <p:nvPicPr>
                      <p:cNvPr id="0" name="Object 104"/>
                      <p:cNvPicPr>
                        <a:picLocks noChangeAspect="1" noChangeArrowheads="1"/>
                      </p:cNvPicPr>
                      <p:nvPr/>
                    </p:nvPicPr>
                    <p:blipFill>
                      <a:blip r:embed="rId4"/>
                      <a:srcRect/>
                      <a:stretch>
                        <a:fillRect/>
                      </a:stretch>
                    </p:blipFill>
                    <p:spPr bwMode="auto">
                      <a:xfrm>
                        <a:off x="1763688" y="1383618"/>
                        <a:ext cx="5448300" cy="271462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pic>
                </p:oleObj>
              </mc:Fallback>
            </mc:AlternateContent>
          </a:graphicData>
        </a:graphic>
      </p:graphicFrame>
      <p:sp>
        <p:nvSpPr>
          <p:cNvPr id="8" name="TextBox 7"/>
          <p:cNvSpPr txBox="1"/>
          <p:nvPr/>
        </p:nvSpPr>
        <p:spPr>
          <a:xfrm>
            <a:off x="6372200" y="1383618"/>
            <a:ext cx="1152128" cy="369332"/>
          </a:xfrm>
          <a:prstGeom prst="rect">
            <a:avLst/>
          </a:prstGeom>
          <a:noFill/>
        </p:spPr>
        <p:txBody>
          <a:bodyPr wrap="square" rtlCol="0">
            <a:spAutoFit/>
          </a:bodyPr>
          <a:lstStyle/>
          <a:p>
            <a:r>
              <a:rPr lang="en-US" altLang="zh-CN" dirty="0"/>
              <a:t>Camera</a:t>
            </a:r>
            <a:endParaRPr lang="zh-CN" altLang="en-US" dirty="0"/>
          </a:p>
        </p:txBody>
      </p:sp>
    </p:spTree>
    <p:extLst>
      <p:ext uri="{BB962C8B-B14F-4D97-AF65-F5344CB8AC3E}">
        <p14:creationId xmlns:p14="http://schemas.microsoft.com/office/powerpoint/2010/main" val="5362945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p:cNvSpPr>
            <a:spLocks noGrp="1"/>
          </p:cNvSpPr>
          <p:nvPr>
            <p:ph idx="4294967295"/>
          </p:nvPr>
        </p:nvSpPr>
        <p:spPr>
          <a:xfrm>
            <a:off x="395536" y="195486"/>
            <a:ext cx="8424862" cy="635794"/>
          </a:xfrm>
        </p:spPr>
        <p:txBody>
          <a:bodyPr>
            <a:noAutofit/>
          </a:bodyPr>
          <a:lstStyle/>
          <a:p>
            <a:pPr algn="ctr">
              <a:buFont typeface="Arial" pitchFamily="34" charset="0"/>
              <a:buNone/>
            </a:pPr>
            <a:r>
              <a:rPr lang="en-US" altLang="zh-CN" sz="3700" dirty="0" smtClean="0">
                <a:solidFill>
                  <a:schemeClr val="bg1"/>
                </a:solidFill>
                <a:latin typeface="Arial" panose="020B0604020202020204" pitchFamily="34" charset="0"/>
                <a:cs typeface="Arial" panose="020B0604020202020204" pitchFamily="34" charset="0"/>
              </a:rPr>
              <a:t>Functions</a:t>
            </a:r>
            <a:endParaRPr lang="en-US" altLang="zh-CN" sz="3700" dirty="0">
              <a:solidFill>
                <a:schemeClr val="bg1"/>
              </a:solidFill>
              <a:latin typeface="Arial" panose="020B0604020202020204" pitchFamily="34" charset="0"/>
              <a:cs typeface="Arial" panose="020B0604020202020204" pitchFamily="34" charset="0"/>
            </a:endParaRPr>
          </a:p>
        </p:txBody>
      </p:sp>
      <p:sp>
        <p:nvSpPr>
          <p:cNvPr id="13315" name="Rectangle 5"/>
          <p:cNvSpPr>
            <a:spLocks noChangeArrowheads="1"/>
          </p:cNvSpPr>
          <p:nvPr/>
        </p:nvSpPr>
        <p:spPr bwMode="auto">
          <a:xfrm>
            <a:off x="684213" y="1372079"/>
            <a:ext cx="7992243"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342900" lvl="0" indent="-342900">
              <a:lnSpc>
                <a:spcPct val="150000"/>
              </a:lnSpc>
              <a:buFont typeface="Wingdings" panose="05000000000000000000" pitchFamily="2" charset="2"/>
              <a:buChar char="Ø"/>
            </a:pPr>
            <a:r>
              <a:rPr lang="en-US" altLang="zh-CN" sz="2000" dirty="0">
                <a:latin typeface="Arial" panose="020B0604020202020204" pitchFamily="34" charset="0"/>
                <a:cs typeface="Arial" panose="020B0604020202020204" pitchFamily="34" charset="0"/>
              </a:rPr>
              <a:t>to take </a:t>
            </a:r>
            <a:r>
              <a:rPr lang="en-US" altLang="zh-CN" sz="2000" dirty="0" smtClean="0">
                <a:latin typeface="Arial" panose="020B0604020202020204" pitchFamily="34" charset="0"/>
                <a:cs typeface="Arial" panose="020B0604020202020204" pitchFamily="34" charset="0"/>
              </a:rPr>
              <a:t>images </a:t>
            </a:r>
            <a:r>
              <a:rPr lang="en-US" altLang="zh-CN" sz="2000" dirty="0">
                <a:latin typeface="Arial" panose="020B0604020202020204" pitchFamily="34" charset="0"/>
                <a:cs typeface="Arial" panose="020B0604020202020204" pitchFamily="34" charset="0"/>
              </a:rPr>
              <a:t>in nadir or roll maneuver status;</a:t>
            </a:r>
            <a:endParaRPr lang="zh-CN" altLang="zh-CN" sz="2000" dirty="0">
              <a:latin typeface="Arial" panose="020B0604020202020204" pitchFamily="34" charset="0"/>
              <a:cs typeface="Arial" panose="020B0604020202020204" pitchFamily="34" charset="0"/>
            </a:endParaRPr>
          </a:p>
          <a:p>
            <a:pPr marL="342900" lvl="0" indent="-342900">
              <a:lnSpc>
                <a:spcPct val="150000"/>
              </a:lnSpc>
              <a:buFont typeface="Wingdings" panose="05000000000000000000" pitchFamily="2" charset="2"/>
              <a:buChar char="Ø"/>
            </a:pPr>
            <a:r>
              <a:rPr lang="en-US" altLang="zh-CN" sz="2000" dirty="0">
                <a:latin typeface="Arial" panose="020B0604020202020204" pitchFamily="34" charset="0"/>
                <a:cs typeface="Arial" panose="020B0604020202020204" pitchFamily="34" charset="0"/>
              </a:rPr>
              <a:t>to transmit image data to DTS;</a:t>
            </a:r>
            <a:endParaRPr lang="zh-CN" altLang="zh-CN" sz="2000" dirty="0">
              <a:latin typeface="Arial" panose="020B0604020202020204" pitchFamily="34" charset="0"/>
              <a:cs typeface="Arial" panose="020B0604020202020204" pitchFamily="34" charset="0"/>
            </a:endParaRPr>
          </a:p>
          <a:p>
            <a:pPr marL="342900" lvl="0" indent="-342900">
              <a:lnSpc>
                <a:spcPct val="150000"/>
              </a:lnSpc>
              <a:buFont typeface="Wingdings" panose="05000000000000000000" pitchFamily="2" charset="2"/>
              <a:buChar char="Ø"/>
            </a:pPr>
            <a:r>
              <a:rPr lang="en-US" altLang="zh-CN" sz="2000" dirty="0">
                <a:latin typeface="Arial" panose="020B0604020202020204" pitchFamily="34" charset="0"/>
                <a:cs typeface="Arial" panose="020B0604020202020204" pitchFamily="34" charset="0"/>
              </a:rPr>
              <a:t>to adjust some parameters, such as </a:t>
            </a:r>
            <a:r>
              <a:rPr lang="en-US" altLang="zh-CN" sz="2000" dirty="0" smtClean="0">
                <a:latin typeface="Arial" panose="020B0604020202020204" pitchFamily="34" charset="0"/>
                <a:cs typeface="Arial" panose="020B0604020202020204" pitchFamily="34" charset="0"/>
              </a:rPr>
              <a:t>gain;</a:t>
            </a:r>
            <a:endParaRPr lang="zh-CN" altLang="zh-CN" sz="2000" dirty="0">
              <a:latin typeface="Arial" panose="020B0604020202020204" pitchFamily="34" charset="0"/>
              <a:cs typeface="Arial" panose="020B0604020202020204" pitchFamily="34" charset="0"/>
            </a:endParaRPr>
          </a:p>
          <a:p>
            <a:pPr marL="342900" lvl="0" indent="-342900">
              <a:lnSpc>
                <a:spcPct val="150000"/>
              </a:lnSpc>
              <a:buFont typeface="Wingdings" panose="05000000000000000000" pitchFamily="2" charset="2"/>
              <a:buChar char="Ø"/>
            </a:pPr>
            <a:r>
              <a:rPr lang="en-US" altLang="zh-CN" sz="2000" dirty="0" smtClean="0">
                <a:latin typeface="Arial" panose="020B0604020202020204" pitchFamily="34" charset="0"/>
                <a:cs typeface="Arial" panose="020B0604020202020204" pitchFamily="34" charset="0"/>
              </a:rPr>
              <a:t>to </a:t>
            </a:r>
            <a:r>
              <a:rPr lang="en-US" altLang="zh-CN" sz="2000" dirty="0">
                <a:latin typeface="Arial" panose="020B0604020202020204" pitchFamily="34" charset="0"/>
                <a:cs typeface="Arial" panose="020B0604020202020204" pitchFamily="34" charset="0"/>
              </a:rPr>
              <a:t>realize thermal control </a:t>
            </a:r>
            <a:r>
              <a:rPr lang="en-US" altLang="zh-CN" sz="2000" dirty="0" smtClean="0">
                <a:latin typeface="Arial" panose="020B0604020202020204" pitchFamily="34" charset="0"/>
                <a:cs typeface="Arial" panose="020B0604020202020204" pitchFamily="34" charset="0"/>
              </a:rPr>
              <a:t>by OBDH Thermal </a:t>
            </a:r>
            <a:r>
              <a:rPr lang="en-US" altLang="zh-CN" sz="2000" dirty="0">
                <a:latin typeface="Arial" panose="020B0604020202020204" pitchFamily="34" charset="0"/>
                <a:cs typeface="Arial" panose="020B0604020202020204" pitchFamily="34" charset="0"/>
              </a:rPr>
              <a:t>Control </a:t>
            </a:r>
            <a:r>
              <a:rPr lang="en-US" altLang="zh-CN" sz="2000" dirty="0" smtClean="0">
                <a:latin typeface="Arial" panose="020B0604020202020204" pitchFamily="34" charset="0"/>
                <a:cs typeface="Arial" panose="020B0604020202020204" pitchFamily="34" charset="0"/>
              </a:rPr>
              <a:t>Loops;</a:t>
            </a:r>
            <a:endParaRPr lang="zh-CN" altLang="zh-CN" sz="2000" dirty="0">
              <a:latin typeface="Arial" panose="020B0604020202020204" pitchFamily="34" charset="0"/>
              <a:cs typeface="Arial" panose="020B0604020202020204" pitchFamily="34" charset="0"/>
            </a:endParaRPr>
          </a:p>
          <a:p>
            <a:pPr marL="342900" lvl="0" indent="-342900">
              <a:lnSpc>
                <a:spcPct val="150000"/>
              </a:lnSpc>
              <a:buFont typeface="Wingdings" panose="05000000000000000000" pitchFamily="2" charset="2"/>
              <a:buChar char="Ø"/>
            </a:pPr>
            <a:r>
              <a:rPr lang="en-US" altLang="zh-CN" sz="2000" dirty="0">
                <a:latin typeface="Arial" panose="020B0604020202020204" pitchFamily="34" charset="0"/>
                <a:cs typeface="Arial" panose="020B0604020202020204" pitchFamily="34" charset="0"/>
              </a:rPr>
              <a:t>to enter into </a:t>
            </a:r>
            <a:r>
              <a:rPr lang="en-US" altLang="zh-CN" sz="2000" dirty="0" smtClean="0">
                <a:latin typeface="Arial" panose="020B0604020202020204" pitchFamily="34" charset="0"/>
                <a:cs typeface="Arial" panose="020B0604020202020204" pitchFamily="34" charset="0"/>
              </a:rPr>
              <a:t>safe </a:t>
            </a:r>
            <a:r>
              <a:rPr lang="en-US" altLang="zh-CN" sz="2000" dirty="0">
                <a:latin typeface="Arial" panose="020B0604020202020204" pitchFamily="34" charset="0"/>
                <a:cs typeface="Arial" panose="020B0604020202020204" pitchFamily="34" charset="0"/>
              </a:rPr>
              <a:t>mode automatically after 15min of uninterrupted image taking; </a:t>
            </a:r>
            <a:endParaRPr lang="zh-CN"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61452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p:cNvSpPr>
            <a:spLocks noGrp="1"/>
          </p:cNvSpPr>
          <p:nvPr>
            <p:ph idx="4294967295"/>
          </p:nvPr>
        </p:nvSpPr>
        <p:spPr>
          <a:xfrm>
            <a:off x="395536" y="195486"/>
            <a:ext cx="8424862" cy="635794"/>
          </a:xfrm>
        </p:spPr>
        <p:txBody>
          <a:bodyPr>
            <a:noAutofit/>
          </a:bodyPr>
          <a:lstStyle/>
          <a:p>
            <a:pPr algn="ctr">
              <a:buFont typeface="Arial" pitchFamily="34" charset="0"/>
              <a:buNone/>
            </a:pPr>
            <a:r>
              <a:rPr lang="en-US" altLang="zh-CN" sz="3700" dirty="0" smtClean="0">
                <a:solidFill>
                  <a:schemeClr val="bg1"/>
                </a:solidFill>
                <a:latin typeface="Arial" panose="020B0604020202020204" pitchFamily="34" charset="0"/>
                <a:cs typeface="Arial" panose="020B0604020202020204" pitchFamily="34" charset="0"/>
              </a:rPr>
              <a:t>Functions</a:t>
            </a:r>
            <a:endParaRPr lang="en-US" altLang="zh-CN" sz="3700" dirty="0">
              <a:solidFill>
                <a:schemeClr val="bg1"/>
              </a:solidFill>
              <a:latin typeface="Arial" panose="020B0604020202020204" pitchFamily="34" charset="0"/>
              <a:cs typeface="Arial" panose="020B0604020202020204" pitchFamily="34" charset="0"/>
            </a:endParaRPr>
          </a:p>
        </p:txBody>
      </p:sp>
      <p:sp>
        <p:nvSpPr>
          <p:cNvPr id="13315" name="Rectangle 5"/>
          <p:cNvSpPr>
            <a:spLocks noChangeArrowheads="1"/>
          </p:cNvSpPr>
          <p:nvPr/>
        </p:nvSpPr>
        <p:spPr bwMode="auto">
          <a:xfrm>
            <a:off x="684213" y="1568289"/>
            <a:ext cx="7992243" cy="2469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342900" lvl="0" indent="-342900">
              <a:lnSpc>
                <a:spcPct val="150000"/>
              </a:lnSpc>
              <a:buFont typeface="Wingdings" panose="05000000000000000000" pitchFamily="2" charset="2"/>
              <a:buChar char="Ø"/>
            </a:pPr>
            <a:r>
              <a:rPr lang="en-US" altLang="zh-CN" sz="2500" dirty="0" smtClean="0">
                <a:latin typeface="Arial" panose="020B0604020202020204" pitchFamily="34" charset="0"/>
                <a:cs typeface="Arial" panose="020B0604020202020204" pitchFamily="34" charset="0"/>
              </a:rPr>
              <a:t>To perform the</a:t>
            </a:r>
            <a:r>
              <a:rPr lang="x-none" altLang="zh-CN" sz="2500" dirty="0" smtClean="0">
                <a:latin typeface="Arial" panose="020B0604020202020204" pitchFamily="34" charset="0"/>
                <a:cs typeface="Arial" panose="020B0604020202020204" pitchFamily="34" charset="0"/>
              </a:rPr>
              <a:t> </a:t>
            </a:r>
            <a:r>
              <a:rPr lang="x-none" altLang="zh-CN" sz="2500" dirty="0">
                <a:latin typeface="Arial" panose="020B0604020202020204" pitchFamily="34" charset="0"/>
                <a:cs typeface="Arial" panose="020B0604020202020204" pitchFamily="34" charset="0"/>
              </a:rPr>
              <a:t>imaging radiation calibration to the ground when the satellite yaws ±</a:t>
            </a:r>
            <a:r>
              <a:rPr lang="x-none" altLang="zh-CN" sz="2500" dirty="0" smtClean="0">
                <a:latin typeface="Arial" panose="020B0604020202020204" pitchFamily="34" charset="0"/>
                <a:cs typeface="Arial" panose="020B0604020202020204" pitchFamily="34" charset="0"/>
              </a:rPr>
              <a:t>90</a:t>
            </a:r>
            <a:r>
              <a:rPr lang="en-US" altLang="zh-CN" sz="2800" dirty="0">
                <a:latin typeface="Arial" panose="020B0604020202020204" pitchFamily="34" charset="0"/>
                <a:cs typeface="Arial" panose="020B0604020202020204" pitchFamily="34" charset="0"/>
              </a:rPr>
              <a:t>°</a:t>
            </a:r>
            <a:r>
              <a:rPr lang="x-none" altLang="zh-CN" sz="2500" dirty="0" smtClean="0">
                <a:latin typeface="Arial" panose="020B0604020202020204" pitchFamily="34" charset="0"/>
                <a:cs typeface="Arial" panose="020B0604020202020204" pitchFamily="34" charset="0"/>
              </a:rPr>
              <a:t>. </a:t>
            </a:r>
            <a:r>
              <a:rPr lang="x-none" altLang="zh-CN" sz="2500" dirty="0">
                <a:latin typeface="Arial" panose="020B0604020202020204" pitchFamily="34" charset="0"/>
                <a:cs typeface="Arial" panose="020B0604020202020204" pitchFamily="34" charset="0"/>
              </a:rPr>
              <a:t>According to other satellites in orbit calibration experiments , the calibration in orbit always be done nearly once a year.</a:t>
            </a:r>
            <a:endParaRPr lang="zh-CN" altLang="zh-CN" sz="2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42158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p:cNvSpPr>
            <a:spLocks noGrp="1"/>
          </p:cNvSpPr>
          <p:nvPr>
            <p:ph idx="4294967295"/>
          </p:nvPr>
        </p:nvSpPr>
        <p:spPr>
          <a:xfrm>
            <a:off x="395536" y="195486"/>
            <a:ext cx="8424862" cy="635794"/>
          </a:xfrm>
        </p:spPr>
        <p:txBody>
          <a:bodyPr>
            <a:noAutofit/>
          </a:bodyPr>
          <a:lstStyle/>
          <a:p>
            <a:pPr algn="ctr">
              <a:buFont typeface="Arial" pitchFamily="34" charset="0"/>
              <a:buNone/>
            </a:pPr>
            <a:r>
              <a:rPr lang="en-US" altLang="zh-CN" sz="3700" dirty="0">
                <a:solidFill>
                  <a:schemeClr val="bg1"/>
                </a:solidFill>
                <a:latin typeface="Arial" panose="020B0604020202020204" pitchFamily="34" charset="0"/>
                <a:cs typeface="Arial" panose="020B0604020202020204" pitchFamily="34" charset="0"/>
              </a:rPr>
              <a:t>Operation Modes</a:t>
            </a:r>
          </a:p>
        </p:txBody>
      </p:sp>
      <p:sp>
        <p:nvSpPr>
          <p:cNvPr id="13315" name="Rectangle 5"/>
          <p:cNvSpPr>
            <a:spLocks noChangeArrowheads="1"/>
          </p:cNvSpPr>
          <p:nvPr/>
        </p:nvSpPr>
        <p:spPr bwMode="auto">
          <a:xfrm>
            <a:off x="1115616" y="1343573"/>
            <a:ext cx="7092950" cy="3576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285750" indent="-285750">
              <a:lnSpc>
                <a:spcPct val="200000"/>
              </a:lnSpc>
              <a:buFont typeface="Wingdings" panose="05000000000000000000" pitchFamily="2" charset="2"/>
              <a:buChar char="ü"/>
            </a:pPr>
            <a:r>
              <a:rPr lang="en-US" altLang="zh-CN" sz="2600" dirty="0" smtClean="0">
                <a:latin typeface="Arial" panose="020B0604020202020204" pitchFamily="34" charset="0"/>
                <a:cs typeface="Arial" panose="020B0604020202020204" pitchFamily="34" charset="0"/>
              </a:rPr>
              <a:t>Imaging Mode</a:t>
            </a:r>
          </a:p>
          <a:p>
            <a:pPr marL="1143000" lvl="2" indent="-228600">
              <a:lnSpc>
                <a:spcPct val="150000"/>
              </a:lnSpc>
              <a:spcBef>
                <a:spcPct val="20000"/>
              </a:spcBef>
              <a:buFontTx/>
              <a:buChar char="–"/>
            </a:pPr>
            <a:r>
              <a:rPr lang="en-US" altLang="zh-CN" sz="2400" dirty="0" smtClean="0">
                <a:latin typeface="Arial" panose="020B0604020202020204" pitchFamily="34" charset="0"/>
                <a:cs typeface="Arial" panose="020B0604020202020204" pitchFamily="34" charset="0"/>
              </a:rPr>
              <a:t>To </a:t>
            </a:r>
            <a:r>
              <a:rPr lang="en-US" altLang="zh-CN" sz="2400" dirty="0">
                <a:latin typeface="Arial" panose="020B0604020202020204" pitchFamily="34" charset="0"/>
                <a:cs typeface="Arial" panose="020B0604020202020204" pitchFamily="34" charset="0"/>
              </a:rPr>
              <a:t>take images in nadir</a:t>
            </a:r>
          </a:p>
          <a:p>
            <a:pPr marL="1143000" lvl="2" indent="-228600">
              <a:lnSpc>
                <a:spcPct val="150000"/>
              </a:lnSpc>
              <a:spcBef>
                <a:spcPct val="20000"/>
              </a:spcBef>
              <a:buFontTx/>
              <a:buChar char="–"/>
            </a:pPr>
            <a:r>
              <a:rPr lang="en-US" altLang="zh-CN" sz="2400" dirty="0">
                <a:latin typeface="Arial" panose="020B0604020202020204" pitchFamily="34" charset="0"/>
                <a:cs typeface="Arial" panose="020B0604020202020204" pitchFamily="34" charset="0"/>
              </a:rPr>
              <a:t>To take images in roll less than </a:t>
            </a:r>
            <a:r>
              <a:rPr lang="en-US" altLang="zh-CN" sz="2400" dirty="0" smtClean="0">
                <a:latin typeface="Arial" panose="020B0604020202020204" pitchFamily="34" charset="0"/>
                <a:cs typeface="Arial" panose="020B0604020202020204" pitchFamily="34" charset="0"/>
              </a:rPr>
              <a:t>±40°</a:t>
            </a:r>
            <a:endParaRPr lang="en-US" altLang="zh-CN" sz="2400" dirty="0">
              <a:latin typeface="Arial" panose="020B0604020202020204" pitchFamily="34" charset="0"/>
              <a:cs typeface="Arial" panose="020B0604020202020204" pitchFamily="34" charset="0"/>
            </a:endParaRPr>
          </a:p>
          <a:p>
            <a:pPr marL="1143000" lvl="2" indent="-228600">
              <a:lnSpc>
                <a:spcPct val="150000"/>
              </a:lnSpc>
              <a:spcBef>
                <a:spcPct val="20000"/>
              </a:spcBef>
              <a:buFontTx/>
              <a:buChar char="–"/>
            </a:pPr>
            <a:r>
              <a:rPr lang="en-US" altLang="zh-CN" sz="2400" dirty="0">
                <a:latin typeface="Arial" panose="020B0604020202020204" pitchFamily="34" charset="0"/>
                <a:cs typeface="Arial" panose="020B0604020202020204" pitchFamily="34" charset="0"/>
              </a:rPr>
              <a:t>To take images in ±90°yaw attitude</a:t>
            </a:r>
          </a:p>
          <a:p>
            <a:pPr marL="285750" indent="-285750">
              <a:lnSpc>
                <a:spcPct val="200000"/>
              </a:lnSpc>
              <a:buFont typeface="Wingdings" panose="05000000000000000000" pitchFamily="2" charset="2"/>
              <a:buChar char="ü"/>
            </a:pPr>
            <a:endParaRPr lang="zh-CN" altLang="zh-CN"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61452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2"/>
          <p:cNvSpPr>
            <a:spLocks noGrp="1"/>
          </p:cNvSpPr>
          <p:nvPr>
            <p:ph idx="4294967295"/>
          </p:nvPr>
        </p:nvSpPr>
        <p:spPr>
          <a:xfrm>
            <a:off x="1492797" y="1275606"/>
            <a:ext cx="7632700" cy="2970610"/>
          </a:xfrm>
        </p:spPr>
        <p:txBody>
          <a:bodyPr>
            <a:normAutofit fontScale="85000" lnSpcReduction="20000"/>
          </a:bodyPr>
          <a:lstStyle/>
          <a:p>
            <a:pPr>
              <a:lnSpc>
                <a:spcPct val="160000"/>
              </a:lnSpc>
            </a:pPr>
            <a:r>
              <a:rPr lang="en-US" altLang="zh-CN" sz="2800" dirty="0">
                <a:solidFill>
                  <a:srgbClr val="FF0000"/>
                </a:solidFill>
              </a:rPr>
              <a:t>Tele-command (TC)</a:t>
            </a:r>
          </a:p>
          <a:p>
            <a:pPr lvl="1"/>
            <a:r>
              <a:rPr lang="en-US" altLang="zh-CN" sz="2400" dirty="0" smtClean="0"/>
              <a:t>Camera </a:t>
            </a:r>
            <a:endParaRPr lang="en-US" altLang="zh-CN" sz="2400" dirty="0"/>
          </a:p>
          <a:p>
            <a:pPr eaLnBrk="1" hangingPunct="1"/>
            <a:r>
              <a:rPr lang="en-US" altLang="zh-CN" sz="2800" dirty="0" smtClean="0">
                <a:solidFill>
                  <a:srgbClr val="FF0000"/>
                </a:solidFill>
              </a:rPr>
              <a:t>Telemetry (TM)</a:t>
            </a:r>
          </a:p>
          <a:p>
            <a:pPr lvl="1"/>
            <a:r>
              <a:rPr lang="en-US" altLang="zh-CN" sz="2400" dirty="0"/>
              <a:t>Camera </a:t>
            </a:r>
            <a:endParaRPr lang="en-US" altLang="zh-CN" sz="2400" dirty="0" smtClean="0"/>
          </a:p>
          <a:p>
            <a:pPr lvl="1"/>
            <a:r>
              <a:rPr lang="en-US" altLang="zh-CN" sz="2400" dirty="0" smtClean="0"/>
              <a:t>Thermal </a:t>
            </a:r>
            <a:r>
              <a:rPr lang="en-US" altLang="zh-CN" sz="2400" dirty="0"/>
              <a:t>Controller Loops </a:t>
            </a:r>
          </a:p>
          <a:p>
            <a:pPr>
              <a:lnSpc>
                <a:spcPct val="160000"/>
              </a:lnSpc>
            </a:pPr>
            <a:r>
              <a:rPr lang="en-US" altLang="zh-CN" sz="2800" dirty="0" smtClean="0">
                <a:solidFill>
                  <a:srgbClr val="FF0000"/>
                </a:solidFill>
              </a:rPr>
              <a:t>TM/TC </a:t>
            </a:r>
            <a:r>
              <a:rPr lang="en-US" altLang="zh-CN" sz="2800" dirty="0">
                <a:solidFill>
                  <a:srgbClr val="FF0000"/>
                </a:solidFill>
              </a:rPr>
              <a:t>Based on Operation Mode</a:t>
            </a:r>
          </a:p>
        </p:txBody>
      </p:sp>
      <p:sp>
        <p:nvSpPr>
          <p:cNvPr id="17411" name="标题 3"/>
          <p:cNvSpPr>
            <a:spLocks noGrp="1" noChangeArrowheads="1"/>
          </p:cNvSpPr>
          <p:nvPr>
            <p:ph type="title" idx="4294967295"/>
          </p:nvPr>
        </p:nvSpPr>
        <p:spPr>
          <a:xfrm>
            <a:off x="-252536" y="-70405"/>
            <a:ext cx="9144000" cy="946413"/>
          </a:xfrm>
        </p:spPr>
        <p:txBody>
          <a:bodyPr>
            <a:spAutoFit/>
          </a:bodyPr>
          <a:lstStyle/>
          <a:p>
            <a:pPr marL="342900" indent="-342900">
              <a:lnSpc>
                <a:spcPct val="150000"/>
              </a:lnSpc>
              <a:spcBef>
                <a:spcPts val="0"/>
              </a:spcBef>
            </a:pPr>
            <a:r>
              <a:rPr lang="en-US" altLang="zh-CN" sz="3700" dirty="0">
                <a:latin typeface="Arial" panose="020B0604020202020204" pitchFamily="34" charset="0"/>
                <a:cs typeface="Arial" panose="020B0604020202020204" pitchFamily="34" charset="0"/>
              </a:rPr>
              <a:t>Telemetry and Tele-command</a:t>
            </a:r>
            <a:endParaRPr lang="zh-CN" altLang="en-US" sz="3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87184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2"/>
          <p:cNvSpPr>
            <a:spLocks noGrp="1"/>
          </p:cNvSpPr>
          <p:nvPr>
            <p:ph idx="4294967295"/>
          </p:nvPr>
        </p:nvSpPr>
        <p:spPr>
          <a:xfrm>
            <a:off x="468313" y="1059582"/>
            <a:ext cx="8280400" cy="1133475"/>
          </a:xfrm>
        </p:spPr>
        <p:txBody>
          <a:bodyPr>
            <a:normAutofit fontScale="62500" lnSpcReduction="20000"/>
          </a:bodyPr>
          <a:lstStyle/>
          <a:p>
            <a:pPr eaLnBrk="1" hangingPunct="1"/>
            <a:r>
              <a:rPr lang="en-US" altLang="zh-CN" dirty="0" smtClean="0">
                <a:latin typeface="Arial" panose="020B0604020202020204" pitchFamily="34" charset="0"/>
                <a:cs typeface="Arial" panose="020B0604020202020204" pitchFamily="34" charset="0"/>
              </a:rPr>
              <a:t>Camera </a:t>
            </a:r>
          </a:p>
          <a:p>
            <a:pPr lvl="1"/>
            <a:r>
              <a:rPr lang="en-US" altLang="zh-CN" dirty="0"/>
              <a:t>Indirect </a:t>
            </a:r>
            <a:r>
              <a:rPr lang="en-US" altLang="zh-CN" dirty="0">
                <a:solidFill>
                  <a:srgbClr val="FF0000"/>
                </a:solidFill>
              </a:rPr>
              <a:t>On/Off command </a:t>
            </a:r>
            <a:r>
              <a:rPr lang="en-US" altLang="zh-CN" dirty="0"/>
              <a:t>controlled by </a:t>
            </a:r>
            <a:r>
              <a:rPr lang="en-US" altLang="zh-CN" dirty="0">
                <a:solidFill>
                  <a:srgbClr val="FF0000"/>
                </a:solidFill>
              </a:rPr>
              <a:t>OBDH</a:t>
            </a:r>
            <a:r>
              <a:rPr lang="en-US" altLang="zh-CN" dirty="0"/>
              <a:t> </a:t>
            </a:r>
            <a:endParaRPr lang="en-US" altLang="zh-CN" dirty="0" smtClean="0">
              <a:latin typeface="Arial" panose="020B0604020202020204" pitchFamily="34" charset="0"/>
              <a:cs typeface="Arial" panose="020B0604020202020204" pitchFamily="34" charset="0"/>
            </a:endParaRPr>
          </a:p>
          <a:p>
            <a:pPr lvl="2" eaLnBrk="1" hangingPunct="1">
              <a:buFont typeface="Wingdings" pitchFamily="2" charset="2"/>
              <a:buChar char="ü"/>
            </a:pPr>
            <a:r>
              <a:rPr lang="en-US" altLang="zh-CN" sz="2000" dirty="0" smtClean="0">
                <a:latin typeface="Arial" panose="020B0604020202020204" pitchFamily="34" charset="0"/>
                <a:cs typeface="Arial" panose="020B0604020202020204" pitchFamily="34" charset="0"/>
              </a:rPr>
              <a:t>KSM037~KSM040</a:t>
            </a:r>
          </a:p>
        </p:txBody>
      </p:sp>
      <p:graphicFrame>
        <p:nvGraphicFramePr>
          <p:cNvPr id="8" name="表格 7"/>
          <p:cNvGraphicFramePr>
            <a:graphicFrameLocks noGrp="1"/>
          </p:cNvGraphicFramePr>
          <p:nvPr>
            <p:extLst>
              <p:ext uri="{D42A27DB-BD31-4B8C-83A1-F6EECF244321}">
                <p14:modId xmlns:p14="http://schemas.microsoft.com/office/powerpoint/2010/main" val="3240580193"/>
              </p:ext>
            </p:extLst>
          </p:nvPr>
        </p:nvGraphicFramePr>
        <p:xfrm>
          <a:off x="819262" y="2301720"/>
          <a:ext cx="7416824" cy="2727960"/>
        </p:xfrm>
        <a:graphic>
          <a:graphicData uri="http://schemas.openxmlformats.org/drawingml/2006/table">
            <a:tbl>
              <a:tblPr firstRow="1" firstCol="1" bandRow="1" bandCol="1">
                <a:tableStyleId>{5C22544A-7EE6-4342-B048-85BDC9FD1C3A}</a:tableStyleId>
              </a:tblPr>
              <a:tblGrid>
                <a:gridCol w="936104"/>
                <a:gridCol w="1944216"/>
                <a:gridCol w="4536504"/>
              </a:tblGrid>
              <a:tr h="160020">
                <a:tc>
                  <a:txBody>
                    <a:bodyPr/>
                    <a:lstStyle/>
                    <a:p>
                      <a:pPr algn="ctr">
                        <a:spcAft>
                          <a:spcPts val="0"/>
                        </a:spcAft>
                      </a:pPr>
                      <a:r>
                        <a:rPr lang="en-US" sz="1100" kern="100" dirty="0">
                          <a:effectLst/>
                          <a:latin typeface="Times New Roman" panose="02020603050405020304" pitchFamily="18" charset="0"/>
                          <a:cs typeface="Times New Roman" panose="02020603050405020304" pitchFamily="18" charset="0"/>
                        </a:rPr>
                        <a:t>Code</a:t>
                      </a:r>
                      <a:endParaRPr lang="zh-CN" sz="11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ctr">
                        <a:spcAft>
                          <a:spcPts val="0"/>
                        </a:spcAft>
                      </a:pPr>
                      <a:r>
                        <a:rPr lang="en-US" sz="1100" kern="100">
                          <a:effectLst/>
                          <a:latin typeface="Times New Roman" panose="02020603050405020304" pitchFamily="18" charset="0"/>
                          <a:cs typeface="Times New Roman" panose="02020603050405020304" pitchFamily="18" charset="0"/>
                        </a:rPr>
                        <a:t>Name</a:t>
                      </a:r>
                      <a:endParaRPr lang="zh-CN" sz="1100" kern="10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ctr">
                        <a:spcAft>
                          <a:spcPts val="0"/>
                        </a:spcAft>
                      </a:pPr>
                      <a:r>
                        <a:rPr lang="en-US" sz="1100" kern="100">
                          <a:effectLst/>
                          <a:latin typeface="Times New Roman" panose="02020603050405020304" pitchFamily="18" charset="0"/>
                          <a:cs typeface="Times New Roman" panose="02020603050405020304" pitchFamily="18" charset="0"/>
                        </a:rPr>
                        <a:t>Normal Range</a:t>
                      </a:r>
                      <a:endParaRPr lang="zh-CN" sz="1100" kern="100">
                        <a:effectLst/>
                        <a:latin typeface="Times New Roman" panose="02020603050405020304" pitchFamily="18" charset="0"/>
                        <a:ea typeface="宋体"/>
                        <a:cs typeface="Times New Roman" panose="02020603050405020304" pitchFamily="18" charset="0"/>
                      </a:endParaRPr>
                    </a:p>
                  </a:txBody>
                  <a:tcPr marL="68580" marR="68580" marT="0" marB="0" anchor="ctr"/>
                </a:tc>
              </a:tr>
              <a:tr h="205740">
                <a:tc>
                  <a:txBody>
                    <a:bodyPr/>
                    <a:lstStyle/>
                    <a:p>
                      <a:pPr algn="just">
                        <a:spcAft>
                          <a:spcPts val="0"/>
                        </a:spcAft>
                      </a:pPr>
                      <a:r>
                        <a:rPr lang="en-US" sz="800" kern="100" dirty="0">
                          <a:effectLst/>
                          <a:latin typeface="Times New Roman"/>
                          <a:ea typeface="宋体"/>
                        </a:rPr>
                        <a:t>KSM137</a:t>
                      </a:r>
                      <a:endParaRPr lang="zh-CN" sz="800" kern="100" dirty="0">
                        <a:effectLst/>
                        <a:latin typeface="Times New Roman"/>
                        <a:ea typeface="宋体"/>
                      </a:endParaRPr>
                    </a:p>
                  </a:txBody>
                  <a:tcPr marL="68580" marR="68580" marT="0" marB="0" anchor="ctr"/>
                </a:tc>
                <a:tc>
                  <a:txBody>
                    <a:bodyPr/>
                    <a:lstStyle/>
                    <a:p>
                      <a:pPr algn="l">
                        <a:spcAft>
                          <a:spcPts val="0"/>
                        </a:spcAft>
                      </a:pPr>
                      <a:r>
                        <a:rPr lang="en-US" altLang="zh-CN" sz="1100" kern="100" dirty="0" smtClean="0">
                          <a:solidFill>
                            <a:srgbClr val="000000"/>
                          </a:solidFill>
                          <a:effectLst/>
                          <a:latin typeface="Times New Roman"/>
                          <a:ea typeface="+mn-ea"/>
                        </a:rPr>
                        <a:t>MC Power-on 1st</a:t>
                      </a:r>
                      <a:endParaRPr lang="zh-CN" altLang="zh-CN" sz="1100" kern="100" dirty="0">
                        <a:effectLst/>
                        <a:latin typeface="Times New Roman"/>
                        <a:ea typeface="+mn-ea"/>
                      </a:endParaRPr>
                    </a:p>
                  </a:txBody>
                  <a:tcPr marL="68580" marR="68580" marT="0" marB="0" anchor="ctr"/>
                </a:tc>
                <a:tc>
                  <a:txBody>
                    <a:bodyPr/>
                    <a:lstStyle/>
                    <a:p>
                      <a:pPr algn="l">
                        <a:spcAft>
                          <a:spcPts val="0"/>
                        </a:spcAft>
                      </a:pPr>
                      <a:r>
                        <a:rPr lang="en-US" altLang="zh-CN" sz="1400" kern="1200" dirty="0" smtClean="0">
                          <a:solidFill>
                            <a:schemeClr val="dk1"/>
                          </a:solidFill>
                          <a:effectLst/>
                          <a:latin typeface="+mn-lt"/>
                          <a:ea typeface="+mn-ea"/>
                          <a:cs typeface="+mn-cs"/>
                        </a:rPr>
                        <a:t>Voltage 1=4.3V~4.8V</a:t>
                      </a:r>
                      <a:endParaRPr lang="zh-CN" sz="1100" kern="100" dirty="0">
                        <a:effectLst/>
                        <a:latin typeface="Times New Roman"/>
                        <a:ea typeface="宋体"/>
                      </a:endParaRPr>
                    </a:p>
                  </a:txBody>
                  <a:tcPr marL="68580" marR="68580" marT="0" marB="0" anchor="ctr"/>
                </a:tc>
              </a:tr>
              <a:tr h="822960">
                <a:tc>
                  <a:txBody>
                    <a:bodyPr/>
                    <a:lstStyle/>
                    <a:p>
                      <a:pPr algn="just">
                        <a:spcAft>
                          <a:spcPts val="0"/>
                        </a:spcAft>
                      </a:pPr>
                      <a:r>
                        <a:rPr lang="en-US" sz="800" kern="100" dirty="0">
                          <a:effectLst/>
                          <a:latin typeface="Times New Roman"/>
                          <a:ea typeface="宋体"/>
                        </a:rPr>
                        <a:t>KSM138</a:t>
                      </a:r>
                      <a:endParaRPr lang="zh-CN" sz="800" kern="100" dirty="0">
                        <a:effectLst/>
                        <a:latin typeface="Times New Roman"/>
                        <a:ea typeface="宋体"/>
                      </a:endParaRPr>
                    </a:p>
                  </a:txBody>
                  <a:tcPr marL="68580" marR="68580" marT="0" marB="0" anchor="ctr"/>
                </a:tc>
                <a:tc>
                  <a:txBody>
                    <a:bodyPr/>
                    <a:lstStyle/>
                    <a:p>
                      <a:pPr algn="l">
                        <a:spcAft>
                          <a:spcPts val="0"/>
                        </a:spcAft>
                      </a:pPr>
                      <a:r>
                        <a:rPr lang="en-US" altLang="zh-CN" sz="1100" kern="100" dirty="0" smtClean="0">
                          <a:solidFill>
                            <a:srgbClr val="000000"/>
                          </a:solidFill>
                          <a:effectLst/>
                          <a:latin typeface="Times New Roman"/>
                          <a:ea typeface="+mn-ea"/>
                        </a:rPr>
                        <a:t>MC Power-on 2nd</a:t>
                      </a:r>
                      <a:endParaRPr lang="zh-CN" altLang="zh-CN" sz="1100" kern="100" dirty="0">
                        <a:effectLst/>
                        <a:latin typeface="Times New Roman"/>
                        <a:ea typeface="+mn-ea"/>
                      </a:endParaRPr>
                    </a:p>
                  </a:txBody>
                  <a:tcPr marL="68580" marR="68580" marT="0" marB="0" anchor="ctr"/>
                </a:tc>
                <a:tc>
                  <a:txBody>
                    <a:bodyPr/>
                    <a:lstStyle/>
                    <a:p>
                      <a:r>
                        <a:rPr lang="en-US" altLang="zh-CN" sz="1400" kern="1200" dirty="0" smtClean="0">
                          <a:solidFill>
                            <a:schemeClr val="dk1"/>
                          </a:solidFill>
                          <a:effectLst/>
                          <a:latin typeface="+mn-lt"/>
                          <a:ea typeface="+mn-ea"/>
                          <a:cs typeface="+mn-cs"/>
                        </a:rPr>
                        <a:t>Voltage 2=4.3~4.8V,</a:t>
                      </a:r>
                      <a:endParaRPr lang="zh-CN" altLang="zh-CN" sz="1400" kern="1200" dirty="0" smtClean="0">
                        <a:solidFill>
                          <a:schemeClr val="dk1"/>
                        </a:solidFill>
                        <a:effectLst/>
                        <a:latin typeface="+mn-lt"/>
                        <a:ea typeface="+mn-ea"/>
                        <a:cs typeface="+mn-cs"/>
                      </a:endParaRPr>
                    </a:p>
                    <a:p>
                      <a:r>
                        <a:rPr lang="en-US" altLang="zh-CN" sz="1400" kern="1200" dirty="0" smtClean="0">
                          <a:solidFill>
                            <a:schemeClr val="dk1"/>
                          </a:solidFill>
                          <a:effectLst/>
                          <a:latin typeface="+mn-lt"/>
                          <a:ea typeface="+mn-ea"/>
                          <a:cs typeface="+mn-cs"/>
                        </a:rPr>
                        <a:t>Voltage 3=3.8~4.2V;</a:t>
                      </a:r>
                      <a:endParaRPr lang="zh-CN" altLang="zh-CN" sz="1400" kern="1200" dirty="0" smtClean="0">
                        <a:solidFill>
                          <a:schemeClr val="dk1"/>
                        </a:solidFill>
                        <a:effectLst/>
                        <a:latin typeface="+mn-lt"/>
                        <a:ea typeface="+mn-ea"/>
                        <a:cs typeface="+mn-cs"/>
                      </a:endParaRPr>
                    </a:p>
                    <a:p>
                      <a:r>
                        <a:rPr lang="en-US" altLang="zh-CN" sz="1400" kern="1200" dirty="0" smtClean="0">
                          <a:solidFill>
                            <a:schemeClr val="dk1"/>
                          </a:solidFill>
                          <a:effectLst/>
                          <a:latin typeface="+mn-lt"/>
                          <a:ea typeface="+mn-ea"/>
                          <a:cs typeface="+mn-cs"/>
                        </a:rPr>
                        <a:t>Voltage 4=4.1~4.5V;</a:t>
                      </a:r>
                      <a:endParaRPr lang="zh-CN" altLang="zh-CN" sz="1400" kern="1200" dirty="0" smtClean="0">
                        <a:solidFill>
                          <a:schemeClr val="dk1"/>
                        </a:solidFill>
                        <a:effectLst/>
                        <a:latin typeface="+mn-lt"/>
                        <a:ea typeface="+mn-ea"/>
                        <a:cs typeface="+mn-cs"/>
                      </a:endParaRPr>
                    </a:p>
                    <a:p>
                      <a:r>
                        <a:rPr lang="en-US" altLang="zh-CN" sz="1400" kern="1200" dirty="0" smtClean="0">
                          <a:solidFill>
                            <a:schemeClr val="dk1"/>
                          </a:solidFill>
                          <a:effectLst/>
                          <a:latin typeface="+mn-lt"/>
                          <a:ea typeface="+mn-ea"/>
                          <a:cs typeface="+mn-cs"/>
                        </a:rPr>
                        <a:t>Voltage 5=2.2~2.4V.</a:t>
                      </a:r>
                      <a:endParaRPr lang="zh-CN" sz="1100" kern="100" dirty="0">
                        <a:effectLst/>
                        <a:latin typeface="Times New Roman"/>
                        <a:ea typeface="宋体"/>
                      </a:endParaRPr>
                    </a:p>
                  </a:txBody>
                  <a:tcPr marL="68580" marR="68580" marT="0" marB="0" anchor="ctr"/>
                </a:tc>
              </a:tr>
              <a:tr h="205740">
                <a:tc>
                  <a:txBody>
                    <a:bodyPr/>
                    <a:lstStyle/>
                    <a:p>
                      <a:pPr algn="just">
                        <a:spcAft>
                          <a:spcPts val="0"/>
                        </a:spcAft>
                      </a:pPr>
                      <a:r>
                        <a:rPr lang="en-US" sz="800" kern="100" dirty="0">
                          <a:effectLst/>
                          <a:latin typeface="Times New Roman"/>
                          <a:ea typeface="宋体"/>
                        </a:rPr>
                        <a:t>KSM139</a:t>
                      </a:r>
                      <a:endParaRPr lang="zh-CN" sz="800" kern="100" dirty="0">
                        <a:effectLst/>
                        <a:latin typeface="Times New Roman"/>
                        <a:ea typeface="宋体"/>
                      </a:endParaRPr>
                    </a:p>
                  </a:txBody>
                  <a:tcPr marL="68580" marR="68580" marT="0" marB="0" anchor="ctr"/>
                </a:tc>
                <a:tc>
                  <a:txBody>
                    <a:bodyPr/>
                    <a:lstStyle/>
                    <a:p>
                      <a:pPr algn="l">
                        <a:spcAft>
                          <a:spcPts val="0"/>
                        </a:spcAft>
                      </a:pPr>
                      <a:r>
                        <a:rPr lang="en-US" altLang="zh-CN" sz="1100" kern="100" dirty="0" smtClean="0">
                          <a:solidFill>
                            <a:srgbClr val="000000"/>
                          </a:solidFill>
                          <a:effectLst/>
                          <a:latin typeface="Times New Roman"/>
                          <a:ea typeface="+mn-ea"/>
                        </a:rPr>
                        <a:t>MC Power-off 1st</a:t>
                      </a:r>
                      <a:endParaRPr lang="zh-CN" altLang="zh-CN" sz="1100" kern="100" dirty="0">
                        <a:effectLst/>
                        <a:latin typeface="Times New Roman"/>
                        <a:ea typeface="+mn-ea"/>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mn-lt"/>
                          <a:ea typeface="+mn-ea"/>
                          <a:cs typeface="+mn-cs"/>
                        </a:rPr>
                        <a:t>Voltage 1=4.3V~4.8V</a:t>
                      </a:r>
                      <a:endParaRPr lang="zh-CN" sz="1100" kern="100" dirty="0">
                        <a:effectLst/>
                        <a:latin typeface="Times New Roman"/>
                        <a:ea typeface="宋体"/>
                      </a:endParaRPr>
                    </a:p>
                  </a:txBody>
                  <a:tcPr marL="68580" marR="68580" marT="0" marB="0" anchor="ctr"/>
                </a:tc>
              </a:tr>
              <a:tr h="1234440">
                <a:tc>
                  <a:txBody>
                    <a:bodyPr/>
                    <a:lstStyle/>
                    <a:p>
                      <a:pPr algn="just">
                        <a:spcAft>
                          <a:spcPts val="0"/>
                        </a:spcAft>
                      </a:pPr>
                      <a:r>
                        <a:rPr lang="en-US" sz="800" kern="100" dirty="0">
                          <a:effectLst/>
                          <a:latin typeface="Times New Roman"/>
                          <a:ea typeface="宋体"/>
                        </a:rPr>
                        <a:t>KSM140</a:t>
                      </a:r>
                      <a:endParaRPr lang="zh-CN" sz="800" kern="100" dirty="0">
                        <a:effectLst/>
                        <a:latin typeface="Times New Roman"/>
                        <a:ea typeface="宋体"/>
                      </a:endParaRPr>
                    </a:p>
                  </a:txBody>
                  <a:tcPr marL="68580" marR="68580" marT="0" marB="0" anchor="ctr"/>
                </a:tc>
                <a:tc>
                  <a:txBody>
                    <a:bodyPr/>
                    <a:lstStyle/>
                    <a:p>
                      <a:pPr marL="0" algn="l" defTabSz="914400" rtl="0" eaLnBrk="1" latinLnBrk="0" hangingPunct="1">
                        <a:spcAft>
                          <a:spcPts val="0"/>
                        </a:spcAft>
                      </a:pPr>
                      <a:r>
                        <a:rPr lang="en-US" altLang="zh-CN" sz="1100" kern="100" dirty="0" smtClean="0">
                          <a:solidFill>
                            <a:srgbClr val="000000"/>
                          </a:solidFill>
                          <a:effectLst/>
                          <a:latin typeface="Times New Roman"/>
                          <a:ea typeface="+mn-ea"/>
                          <a:cs typeface="+mn-cs"/>
                        </a:rPr>
                        <a:t>MC Power-off 2st</a:t>
                      </a:r>
                      <a:endParaRPr lang="zh-CN" altLang="zh-CN" sz="1100" kern="100" dirty="0">
                        <a:solidFill>
                          <a:srgbClr val="000000"/>
                        </a:solidFill>
                        <a:effectLst/>
                        <a:latin typeface="Times New Roman"/>
                        <a:ea typeface="+mn-ea"/>
                        <a:cs typeface="+mn-cs"/>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mn-lt"/>
                          <a:ea typeface="+mn-ea"/>
                          <a:cs typeface="+mn-cs"/>
                        </a:rPr>
                        <a:t>Voltage 1=0V</a:t>
                      </a:r>
                      <a:endParaRPr lang="zh-CN" altLang="zh-CN" sz="1400" kern="1200" dirty="0" smtClean="0">
                        <a:solidFill>
                          <a:schemeClr val="dk1"/>
                        </a:solidFill>
                        <a:effectLst/>
                        <a:latin typeface="+mn-lt"/>
                        <a:ea typeface="+mn-ea"/>
                        <a:cs typeface="+mn-cs"/>
                      </a:endParaRPr>
                    </a:p>
                    <a:p>
                      <a:r>
                        <a:rPr lang="en-US" altLang="zh-CN" sz="1400" kern="1200" dirty="0" smtClean="0">
                          <a:solidFill>
                            <a:schemeClr val="dk1"/>
                          </a:solidFill>
                          <a:effectLst/>
                          <a:latin typeface="+mn-lt"/>
                          <a:ea typeface="+mn-ea"/>
                          <a:cs typeface="+mn-cs"/>
                        </a:rPr>
                        <a:t>Voltage 2=0V,</a:t>
                      </a:r>
                      <a:endParaRPr lang="zh-CN" altLang="zh-CN" sz="1400" kern="1200" dirty="0" smtClean="0">
                        <a:solidFill>
                          <a:schemeClr val="dk1"/>
                        </a:solidFill>
                        <a:effectLst/>
                        <a:latin typeface="+mn-lt"/>
                        <a:ea typeface="+mn-ea"/>
                        <a:cs typeface="+mn-cs"/>
                      </a:endParaRPr>
                    </a:p>
                    <a:p>
                      <a:r>
                        <a:rPr lang="en-US" altLang="zh-CN" sz="1400" kern="1200" dirty="0" smtClean="0">
                          <a:solidFill>
                            <a:schemeClr val="dk1"/>
                          </a:solidFill>
                          <a:effectLst/>
                          <a:latin typeface="+mn-lt"/>
                          <a:ea typeface="+mn-ea"/>
                          <a:cs typeface="+mn-cs"/>
                        </a:rPr>
                        <a:t>Voltage 3=0V;</a:t>
                      </a:r>
                      <a:endParaRPr lang="zh-CN" altLang="zh-CN" sz="1400" kern="1200" dirty="0" smtClean="0">
                        <a:solidFill>
                          <a:schemeClr val="dk1"/>
                        </a:solidFill>
                        <a:effectLst/>
                        <a:latin typeface="+mn-lt"/>
                        <a:ea typeface="+mn-ea"/>
                        <a:cs typeface="+mn-cs"/>
                      </a:endParaRPr>
                    </a:p>
                    <a:p>
                      <a:r>
                        <a:rPr lang="en-US" altLang="zh-CN" sz="1400" kern="1200" dirty="0" smtClean="0">
                          <a:solidFill>
                            <a:schemeClr val="dk1"/>
                          </a:solidFill>
                          <a:effectLst/>
                          <a:latin typeface="+mn-lt"/>
                          <a:ea typeface="+mn-ea"/>
                          <a:cs typeface="+mn-cs"/>
                        </a:rPr>
                        <a:t>Voltage 4=0V;</a:t>
                      </a:r>
                      <a:endParaRPr lang="zh-CN" altLang="zh-CN" sz="1400" kern="1200" dirty="0" smtClean="0">
                        <a:solidFill>
                          <a:schemeClr val="dk1"/>
                        </a:solidFill>
                        <a:effectLst/>
                        <a:latin typeface="+mn-lt"/>
                        <a:ea typeface="+mn-ea"/>
                        <a:cs typeface="+mn-cs"/>
                      </a:endParaRPr>
                    </a:p>
                    <a:p>
                      <a:r>
                        <a:rPr lang="en-US" altLang="zh-CN" sz="1400" kern="1200" dirty="0" smtClean="0">
                          <a:solidFill>
                            <a:schemeClr val="dk1"/>
                          </a:solidFill>
                          <a:effectLst/>
                          <a:latin typeface="+mn-lt"/>
                          <a:ea typeface="+mn-ea"/>
                          <a:cs typeface="+mn-cs"/>
                        </a:rPr>
                        <a:t>Voltage 5=0V.</a:t>
                      </a:r>
                      <a:endParaRPr lang="zh-CN" altLang="zh-CN" sz="140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zh-CN" sz="1400" kern="1200" dirty="0">
                        <a:solidFill>
                          <a:schemeClr val="dk1"/>
                        </a:solidFill>
                        <a:effectLst/>
                        <a:latin typeface="+mn-lt"/>
                        <a:ea typeface="+mn-ea"/>
                        <a:cs typeface="+mn-cs"/>
                      </a:endParaRPr>
                    </a:p>
                  </a:txBody>
                  <a:tcPr marL="68580" marR="68580" marT="0" marB="0" anchor="ctr"/>
                </a:tc>
              </a:tr>
            </a:tbl>
          </a:graphicData>
        </a:graphic>
      </p:graphicFrame>
      <p:sp>
        <p:nvSpPr>
          <p:cNvPr id="5" name="标题 3"/>
          <p:cNvSpPr txBox="1">
            <a:spLocks noChangeArrowheads="1"/>
          </p:cNvSpPr>
          <p:nvPr/>
        </p:nvSpPr>
        <p:spPr>
          <a:xfrm>
            <a:off x="179513"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smtClean="0">
                <a:latin typeface="Arial" panose="020B0604020202020204" pitchFamily="34" charset="0"/>
                <a:cs typeface="Arial" panose="020B0604020202020204" pitchFamily="34" charset="0"/>
              </a:rPr>
              <a:t>Tele-command</a:t>
            </a:r>
            <a:endParaRPr lang="zh-CN" altLang="en-US" sz="3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13970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2"/>
          <p:cNvSpPr>
            <a:spLocks noGrp="1"/>
          </p:cNvSpPr>
          <p:nvPr>
            <p:ph idx="4294967295"/>
          </p:nvPr>
        </p:nvSpPr>
        <p:spPr>
          <a:xfrm>
            <a:off x="468313" y="897564"/>
            <a:ext cx="8280400" cy="1133475"/>
          </a:xfrm>
        </p:spPr>
        <p:txBody>
          <a:bodyPr>
            <a:normAutofit fontScale="62500" lnSpcReduction="20000"/>
          </a:bodyPr>
          <a:lstStyle/>
          <a:p>
            <a:pPr eaLnBrk="1" hangingPunct="1"/>
            <a:r>
              <a:rPr lang="en-US" altLang="zh-CN" dirty="0" smtClean="0">
                <a:latin typeface="Arial" panose="020B0604020202020204" pitchFamily="34" charset="0"/>
                <a:cs typeface="Arial" panose="020B0604020202020204" pitchFamily="34" charset="0"/>
              </a:rPr>
              <a:t>Camera </a:t>
            </a:r>
          </a:p>
          <a:p>
            <a:pPr lvl="1"/>
            <a:r>
              <a:rPr lang="en-US" altLang="zh-CN" dirty="0"/>
              <a:t>Indirect </a:t>
            </a:r>
            <a:r>
              <a:rPr lang="en-US" altLang="zh-CN" dirty="0">
                <a:solidFill>
                  <a:srgbClr val="FF0000"/>
                </a:solidFill>
              </a:rPr>
              <a:t>data command </a:t>
            </a:r>
            <a:r>
              <a:rPr lang="en-US" altLang="zh-CN" dirty="0"/>
              <a:t>through </a:t>
            </a:r>
            <a:r>
              <a:rPr lang="en-US" altLang="zh-CN" dirty="0">
                <a:solidFill>
                  <a:srgbClr val="FF0000"/>
                </a:solidFill>
              </a:rPr>
              <a:t>CAN bus</a:t>
            </a:r>
            <a:endParaRPr lang="en-US" altLang="zh-CN" dirty="0"/>
          </a:p>
          <a:p>
            <a:pPr lvl="2"/>
            <a:r>
              <a:rPr lang="en-US" altLang="zh-CN" sz="2200" dirty="0" smtClean="0">
                <a:latin typeface="Arial" panose="020B0604020202020204" pitchFamily="34" charset="0"/>
                <a:cs typeface="Arial" panose="020B0604020202020204" pitchFamily="34" charset="0"/>
              </a:rPr>
              <a:t>KHC001-KHC012</a:t>
            </a:r>
          </a:p>
        </p:txBody>
      </p:sp>
      <p:graphicFrame>
        <p:nvGraphicFramePr>
          <p:cNvPr id="8" name="表格 7"/>
          <p:cNvGraphicFramePr>
            <a:graphicFrameLocks noGrp="1"/>
          </p:cNvGraphicFramePr>
          <p:nvPr>
            <p:extLst>
              <p:ext uri="{D42A27DB-BD31-4B8C-83A1-F6EECF244321}">
                <p14:modId xmlns:p14="http://schemas.microsoft.com/office/powerpoint/2010/main" val="4133863935"/>
              </p:ext>
            </p:extLst>
          </p:nvPr>
        </p:nvGraphicFramePr>
        <p:xfrm>
          <a:off x="387215" y="2211710"/>
          <a:ext cx="8280920" cy="2366610"/>
        </p:xfrm>
        <a:graphic>
          <a:graphicData uri="http://schemas.openxmlformats.org/drawingml/2006/table">
            <a:tbl>
              <a:tblPr firstRow="1" firstCol="1" bandRow="1" bandCol="1">
                <a:tableStyleId>{5C22544A-7EE6-4342-B048-85BDC9FD1C3A}</a:tableStyleId>
              </a:tblPr>
              <a:tblGrid>
                <a:gridCol w="792088"/>
                <a:gridCol w="2160240"/>
                <a:gridCol w="1800200"/>
                <a:gridCol w="3528392"/>
              </a:tblGrid>
              <a:tr h="548640">
                <a:tc>
                  <a:txBody>
                    <a:bodyPr/>
                    <a:lstStyle/>
                    <a:p>
                      <a:pPr marR="635" algn="ctr">
                        <a:lnSpc>
                          <a:spcPct val="150000"/>
                        </a:lnSpc>
                        <a:spcAft>
                          <a:spcPts val="0"/>
                        </a:spcAft>
                      </a:pPr>
                      <a:r>
                        <a:rPr lang="en-US" sz="1200" b="1" kern="100" cap="all" dirty="0" smtClean="0">
                          <a:effectLst/>
                          <a:latin typeface="Times New Roman"/>
                          <a:ea typeface="黑体"/>
                          <a:cs typeface="Times New Roman"/>
                        </a:rPr>
                        <a:t>code </a:t>
                      </a:r>
                      <a:endParaRPr lang="zh-CN" sz="1200" kern="100" dirty="0">
                        <a:effectLst/>
                        <a:latin typeface="Times New Roman"/>
                        <a:ea typeface="宋体"/>
                        <a:cs typeface="Times New Roman"/>
                      </a:endParaRPr>
                    </a:p>
                  </a:txBody>
                  <a:tcPr marL="68580" marR="68580" marT="0" marB="0" anchor="ctr" anchorCtr="1"/>
                </a:tc>
                <a:tc>
                  <a:txBody>
                    <a:bodyPr/>
                    <a:lstStyle/>
                    <a:p>
                      <a:pPr marR="635" algn="ctr">
                        <a:lnSpc>
                          <a:spcPct val="150000"/>
                        </a:lnSpc>
                        <a:spcAft>
                          <a:spcPts val="0"/>
                        </a:spcAft>
                      </a:pPr>
                      <a:r>
                        <a:rPr lang="en-US" sz="1200" b="1" kern="100" cap="all" dirty="0">
                          <a:effectLst/>
                          <a:latin typeface="Times New Roman"/>
                          <a:ea typeface="黑体"/>
                          <a:cs typeface="Times New Roman"/>
                        </a:rPr>
                        <a:t>Parameters name </a:t>
                      </a:r>
                      <a:endParaRPr lang="zh-CN" sz="1200" kern="100" dirty="0">
                        <a:effectLst/>
                        <a:latin typeface="Times New Roman"/>
                        <a:ea typeface="宋体"/>
                        <a:cs typeface="Times New Roman"/>
                      </a:endParaRPr>
                    </a:p>
                  </a:txBody>
                  <a:tcPr marL="68580" marR="68580" marT="0" marB="0" anchor="ctr" anchorCtr="1"/>
                </a:tc>
                <a:tc>
                  <a:txBody>
                    <a:bodyPr/>
                    <a:lstStyle/>
                    <a:p>
                      <a:pPr algn="ctr">
                        <a:spcAft>
                          <a:spcPts val="0"/>
                        </a:spcAft>
                      </a:pPr>
                      <a:r>
                        <a:rPr lang="en-US" sz="1200" b="1" kern="100" cap="all" dirty="0" smtClean="0">
                          <a:effectLst/>
                          <a:latin typeface="Times New Roman"/>
                          <a:ea typeface="黑体"/>
                          <a:cs typeface="Times New Roman"/>
                        </a:rPr>
                        <a:t>TC CODE</a:t>
                      </a:r>
                      <a:endParaRPr lang="zh-CN" sz="1200" kern="100" dirty="0">
                        <a:effectLst/>
                        <a:latin typeface="Times New Roman"/>
                        <a:ea typeface="宋体"/>
                        <a:cs typeface="Times New Roman"/>
                      </a:endParaRPr>
                    </a:p>
                  </a:txBody>
                  <a:tcPr marL="68580" marR="68580" marT="0" marB="0" anchor="ctr" anchorCtr="1"/>
                </a:tc>
                <a:tc>
                  <a:txBody>
                    <a:bodyPr/>
                    <a:lstStyle/>
                    <a:p>
                      <a:pPr algn="ctr">
                        <a:spcAft>
                          <a:spcPts val="0"/>
                        </a:spcAft>
                      </a:pPr>
                      <a:r>
                        <a:rPr lang="en-US" altLang="zh-CN" sz="1200" b="1" kern="100" cap="all" dirty="0" smtClean="0">
                          <a:effectLst/>
                          <a:latin typeface="Times New Roman"/>
                          <a:ea typeface="黑体"/>
                          <a:cs typeface="Times New Roman"/>
                        </a:rPr>
                        <a:t>normal range </a:t>
                      </a:r>
                      <a:endParaRPr lang="zh-CN" altLang="zh-CN" sz="1200" kern="100" dirty="0">
                        <a:effectLst/>
                        <a:latin typeface="Times New Roman"/>
                        <a:ea typeface="+mn-ea"/>
                        <a:cs typeface="Times New Roman"/>
                      </a:endParaRPr>
                    </a:p>
                  </a:txBody>
                  <a:tcPr marL="68580" marR="68580" marT="0" marB="0" anchor="ctr" anchorCtr="1"/>
                </a:tc>
              </a:tr>
              <a:tr h="148934">
                <a:tc>
                  <a:txBody>
                    <a:bodyPr/>
                    <a:lstStyle/>
                    <a:p>
                      <a:pPr algn="ctr" fontAlgn="b"/>
                      <a:r>
                        <a:rPr lang="en-US" sz="900" b="0" i="0" u="none" strike="noStrike" dirty="0">
                          <a:solidFill>
                            <a:srgbClr val="000000"/>
                          </a:solidFill>
                          <a:effectLst/>
                          <a:latin typeface="Calibri"/>
                        </a:rPr>
                        <a:t>KHC001</a:t>
                      </a:r>
                    </a:p>
                  </a:txBody>
                  <a:tcPr marL="9525" marR="9525" marT="7144" marB="0" anchor="ctr" anchorCtr="1"/>
                </a:tc>
                <a:tc>
                  <a:txBody>
                    <a:bodyPr/>
                    <a:lstStyle/>
                    <a:p>
                      <a:pPr algn="ctr" fontAlgn="b"/>
                      <a:r>
                        <a:rPr lang="en-US" sz="900" b="0" i="0" u="none" strike="noStrike" dirty="0">
                          <a:solidFill>
                            <a:srgbClr val="000000"/>
                          </a:solidFill>
                          <a:effectLst/>
                          <a:latin typeface="Calibri"/>
                        </a:rPr>
                        <a:t>MC B1 gain setting</a:t>
                      </a:r>
                    </a:p>
                  </a:txBody>
                  <a:tcPr marL="9525" marR="9525" marT="7144" marB="0" anchor="ctr" anchorCtr="1"/>
                </a:tc>
                <a:tc>
                  <a:txBody>
                    <a:bodyPr/>
                    <a:lstStyle/>
                    <a:p>
                      <a:pPr algn="l" fontAlgn="b"/>
                      <a:r>
                        <a:rPr lang="en-US" sz="900" b="0" i="0" u="none" strike="noStrike" dirty="0">
                          <a:solidFill>
                            <a:srgbClr val="000000"/>
                          </a:solidFill>
                          <a:effectLst/>
                          <a:latin typeface="Calibri"/>
                        </a:rPr>
                        <a:t>0C01XXXXH</a:t>
                      </a:r>
                    </a:p>
                  </a:txBody>
                  <a:tcPr marL="9525" marR="9525" marT="7144" marB="0" anchor="ctr" anchorCtr="1"/>
                </a:tc>
                <a:tc>
                  <a:txBody>
                    <a:bodyPr/>
                    <a:lstStyle/>
                    <a:p>
                      <a:pPr algn="l" fontAlgn="b"/>
                      <a:r>
                        <a:rPr lang="en-US" sz="900" b="0" i="0" u="none" strike="noStrike" dirty="0">
                          <a:solidFill>
                            <a:srgbClr val="000000"/>
                          </a:solidFill>
                          <a:effectLst/>
                          <a:latin typeface="Calibri"/>
                        </a:rPr>
                        <a:t>0H</a:t>
                      </a:r>
                      <a:r>
                        <a:rPr lang="en-US" sz="900" b="0" i="0" u="none" strike="noStrike" dirty="0">
                          <a:solidFill>
                            <a:srgbClr val="000000"/>
                          </a:solidFill>
                          <a:effectLst/>
                          <a:latin typeface="宋体"/>
                        </a:rPr>
                        <a:t>～</a:t>
                      </a:r>
                      <a:r>
                        <a:rPr lang="en-US" sz="900" b="0" i="0" u="none" strike="noStrike" dirty="0">
                          <a:solidFill>
                            <a:srgbClr val="000000"/>
                          </a:solidFill>
                          <a:effectLst/>
                          <a:latin typeface="Calibri"/>
                        </a:rPr>
                        <a:t>1FFH</a:t>
                      </a:r>
                    </a:p>
                  </a:txBody>
                  <a:tcPr marL="9525" marR="9525" marT="7144" marB="0" anchor="ctr" anchorCtr="1"/>
                </a:tc>
              </a:tr>
              <a:tr h="148934">
                <a:tc>
                  <a:txBody>
                    <a:bodyPr/>
                    <a:lstStyle/>
                    <a:p>
                      <a:pPr algn="ctr" fontAlgn="b"/>
                      <a:r>
                        <a:rPr lang="en-US" sz="900" b="0" i="0" u="none" strike="noStrike">
                          <a:solidFill>
                            <a:srgbClr val="000000"/>
                          </a:solidFill>
                          <a:effectLst/>
                          <a:latin typeface="Calibri"/>
                        </a:rPr>
                        <a:t>KHC002</a:t>
                      </a:r>
                    </a:p>
                  </a:txBody>
                  <a:tcPr marL="9525" marR="9525" marT="7144" marB="0" anchor="ctr" anchorCtr="1"/>
                </a:tc>
                <a:tc>
                  <a:txBody>
                    <a:bodyPr/>
                    <a:lstStyle/>
                    <a:p>
                      <a:pPr algn="ctr" fontAlgn="b"/>
                      <a:r>
                        <a:rPr lang="en-US" sz="900" b="0" i="0" u="none" strike="noStrike" dirty="0">
                          <a:solidFill>
                            <a:srgbClr val="000000"/>
                          </a:solidFill>
                          <a:effectLst/>
                          <a:latin typeface="Calibri"/>
                        </a:rPr>
                        <a:t>MC B2 gain setting</a:t>
                      </a:r>
                    </a:p>
                  </a:txBody>
                  <a:tcPr marL="9525" marR="9525" marT="7144" marB="0" anchor="ctr" anchorCtr="1"/>
                </a:tc>
                <a:tc>
                  <a:txBody>
                    <a:bodyPr/>
                    <a:lstStyle/>
                    <a:p>
                      <a:pPr algn="l" fontAlgn="b"/>
                      <a:r>
                        <a:rPr lang="en-US" sz="900" b="0" i="0" u="none" strike="noStrike" dirty="0">
                          <a:solidFill>
                            <a:srgbClr val="000000"/>
                          </a:solidFill>
                          <a:effectLst/>
                          <a:latin typeface="Calibri"/>
                        </a:rPr>
                        <a:t>0C02XXXXH</a:t>
                      </a:r>
                    </a:p>
                  </a:txBody>
                  <a:tcPr marL="9525" marR="9525" marT="7144" marB="0" anchor="ctr" anchorCtr="1"/>
                </a:tc>
                <a:tc>
                  <a:txBody>
                    <a:bodyPr/>
                    <a:lstStyle/>
                    <a:p>
                      <a:pPr algn="l" fontAlgn="b"/>
                      <a:r>
                        <a:rPr lang="en-US" sz="900" b="0" i="0" u="none" strike="noStrike" dirty="0">
                          <a:solidFill>
                            <a:srgbClr val="000000"/>
                          </a:solidFill>
                          <a:effectLst/>
                          <a:latin typeface="Calibri"/>
                        </a:rPr>
                        <a:t>0H</a:t>
                      </a:r>
                      <a:r>
                        <a:rPr lang="en-US" sz="900" b="0" i="0" u="none" strike="noStrike" dirty="0">
                          <a:solidFill>
                            <a:srgbClr val="000000"/>
                          </a:solidFill>
                          <a:effectLst/>
                          <a:latin typeface="宋体"/>
                        </a:rPr>
                        <a:t>～</a:t>
                      </a:r>
                      <a:r>
                        <a:rPr lang="en-US" sz="900" b="0" i="0" u="none" strike="noStrike" dirty="0" smtClean="0">
                          <a:solidFill>
                            <a:srgbClr val="000000"/>
                          </a:solidFill>
                          <a:effectLst/>
                          <a:latin typeface="Calibri"/>
                        </a:rPr>
                        <a:t>1FFH</a:t>
                      </a:r>
                      <a:endParaRPr lang="en-US" sz="900" b="0" i="0" u="none" strike="noStrike" dirty="0">
                        <a:solidFill>
                          <a:srgbClr val="000000"/>
                        </a:solidFill>
                        <a:effectLst/>
                        <a:latin typeface="Calibri"/>
                      </a:endParaRPr>
                    </a:p>
                  </a:txBody>
                  <a:tcPr marL="9525" marR="9525" marT="7144" marB="0" anchor="ctr" anchorCtr="1"/>
                </a:tc>
              </a:tr>
              <a:tr h="148934">
                <a:tc>
                  <a:txBody>
                    <a:bodyPr/>
                    <a:lstStyle/>
                    <a:p>
                      <a:pPr algn="ctr" fontAlgn="b"/>
                      <a:r>
                        <a:rPr lang="en-US" sz="900" b="0" i="0" u="none" strike="noStrike">
                          <a:solidFill>
                            <a:srgbClr val="000000"/>
                          </a:solidFill>
                          <a:effectLst/>
                          <a:latin typeface="Calibri"/>
                        </a:rPr>
                        <a:t>KHC003</a:t>
                      </a:r>
                    </a:p>
                  </a:txBody>
                  <a:tcPr marL="9525" marR="9525" marT="7144" marB="0" anchor="ctr" anchorCtr="1"/>
                </a:tc>
                <a:tc>
                  <a:txBody>
                    <a:bodyPr/>
                    <a:lstStyle/>
                    <a:p>
                      <a:pPr algn="ctr" fontAlgn="b"/>
                      <a:r>
                        <a:rPr lang="en-US" sz="900" b="0" i="0" u="none" strike="noStrike" dirty="0">
                          <a:solidFill>
                            <a:srgbClr val="000000"/>
                          </a:solidFill>
                          <a:effectLst/>
                          <a:latin typeface="Calibri"/>
                        </a:rPr>
                        <a:t>MC B3 gain setting</a:t>
                      </a:r>
                    </a:p>
                  </a:txBody>
                  <a:tcPr marL="9525" marR="9525" marT="7144" marB="0" anchor="ctr" anchorCtr="1"/>
                </a:tc>
                <a:tc>
                  <a:txBody>
                    <a:bodyPr/>
                    <a:lstStyle/>
                    <a:p>
                      <a:pPr algn="l" fontAlgn="b"/>
                      <a:r>
                        <a:rPr lang="en-US" sz="900" b="0" i="0" u="none" strike="noStrike" dirty="0">
                          <a:solidFill>
                            <a:srgbClr val="000000"/>
                          </a:solidFill>
                          <a:effectLst/>
                          <a:latin typeface="Calibri"/>
                        </a:rPr>
                        <a:t>0C03XXXXH</a:t>
                      </a:r>
                    </a:p>
                  </a:txBody>
                  <a:tcPr marL="9525" marR="9525" marT="7144" marB="0" anchor="ctr" anchorCtr="1"/>
                </a:tc>
                <a:tc>
                  <a:txBody>
                    <a:bodyPr/>
                    <a:lstStyle/>
                    <a:p>
                      <a:pPr algn="l" fontAlgn="b"/>
                      <a:r>
                        <a:rPr lang="en-US" sz="900" b="0" i="0" u="none" strike="noStrike" dirty="0">
                          <a:solidFill>
                            <a:srgbClr val="000000"/>
                          </a:solidFill>
                          <a:effectLst/>
                          <a:latin typeface="Calibri"/>
                        </a:rPr>
                        <a:t>0H</a:t>
                      </a:r>
                      <a:r>
                        <a:rPr lang="en-US" sz="900" b="0" i="0" u="none" strike="noStrike" dirty="0">
                          <a:solidFill>
                            <a:srgbClr val="000000"/>
                          </a:solidFill>
                          <a:effectLst/>
                          <a:latin typeface="宋体"/>
                        </a:rPr>
                        <a:t>～</a:t>
                      </a:r>
                      <a:r>
                        <a:rPr lang="en-US" sz="900" b="0" i="0" u="none" strike="noStrike" dirty="0" smtClean="0">
                          <a:solidFill>
                            <a:srgbClr val="000000"/>
                          </a:solidFill>
                          <a:effectLst/>
                          <a:latin typeface="Calibri"/>
                        </a:rPr>
                        <a:t>1FFH</a:t>
                      </a:r>
                      <a:endParaRPr lang="en-US" sz="900" b="0" i="0" u="none" strike="noStrike" dirty="0">
                        <a:solidFill>
                          <a:srgbClr val="000000"/>
                        </a:solidFill>
                        <a:effectLst/>
                        <a:latin typeface="Calibri"/>
                      </a:endParaRPr>
                    </a:p>
                  </a:txBody>
                  <a:tcPr marL="9525" marR="9525" marT="7144" marB="0" anchor="ctr" anchorCtr="1"/>
                </a:tc>
              </a:tr>
              <a:tr h="148934">
                <a:tc>
                  <a:txBody>
                    <a:bodyPr/>
                    <a:lstStyle/>
                    <a:p>
                      <a:pPr algn="ctr" fontAlgn="b"/>
                      <a:r>
                        <a:rPr lang="en-US" sz="900" b="0" i="0" u="none" strike="noStrike" dirty="0">
                          <a:solidFill>
                            <a:srgbClr val="000000"/>
                          </a:solidFill>
                          <a:effectLst/>
                          <a:latin typeface="Calibri"/>
                        </a:rPr>
                        <a:t>KHC004</a:t>
                      </a:r>
                    </a:p>
                  </a:txBody>
                  <a:tcPr marL="9525" marR="9525" marT="7144" marB="0" anchor="ctr" anchorCtr="1"/>
                </a:tc>
                <a:tc>
                  <a:txBody>
                    <a:bodyPr/>
                    <a:lstStyle/>
                    <a:p>
                      <a:pPr algn="ctr" fontAlgn="b"/>
                      <a:r>
                        <a:rPr lang="en-US" sz="900" b="0" i="0" u="none" strike="noStrike" dirty="0">
                          <a:solidFill>
                            <a:srgbClr val="000000"/>
                          </a:solidFill>
                          <a:effectLst/>
                          <a:latin typeface="Calibri"/>
                        </a:rPr>
                        <a:t>MC B4 gain setting</a:t>
                      </a:r>
                    </a:p>
                  </a:txBody>
                  <a:tcPr marL="9525" marR="9525" marT="7144" marB="0" anchor="ctr" anchorCtr="1"/>
                </a:tc>
                <a:tc>
                  <a:txBody>
                    <a:bodyPr/>
                    <a:lstStyle/>
                    <a:p>
                      <a:pPr algn="l" fontAlgn="b"/>
                      <a:r>
                        <a:rPr lang="en-US" sz="900" b="0" i="0" u="none" strike="noStrike" dirty="0">
                          <a:solidFill>
                            <a:srgbClr val="000000"/>
                          </a:solidFill>
                          <a:effectLst/>
                          <a:latin typeface="Calibri"/>
                        </a:rPr>
                        <a:t>0C04XXXXH</a:t>
                      </a:r>
                    </a:p>
                  </a:txBody>
                  <a:tcPr marL="9525" marR="9525" marT="7144" marB="0" anchor="ctr" anchorCtr="1"/>
                </a:tc>
                <a:tc>
                  <a:txBody>
                    <a:bodyPr/>
                    <a:lstStyle/>
                    <a:p>
                      <a:pPr algn="l" fontAlgn="b"/>
                      <a:r>
                        <a:rPr lang="en-US" sz="900" b="0" i="0" u="none" strike="noStrike" dirty="0">
                          <a:solidFill>
                            <a:srgbClr val="000000"/>
                          </a:solidFill>
                          <a:effectLst/>
                          <a:latin typeface="Calibri"/>
                        </a:rPr>
                        <a:t>0H</a:t>
                      </a:r>
                      <a:r>
                        <a:rPr lang="en-US" sz="900" b="0" i="0" u="none" strike="noStrike" dirty="0">
                          <a:solidFill>
                            <a:srgbClr val="000000"/>
                          </a:solidFill>
                          <a:effectLst/>
                          <a:latin typeface="宋体"/>
                        </a:rPr>
                        <a:t>～</a:t>
                      </a:r>
                      <a:r>
                        <a:rPr lang="en-US" sz="900" b="0" i="0" u="none" strike="noStrike" dirty="0" smtClean="0">
                          <a:solidFill>
                            <a:srgbClr val="000000"/>
                          </a:solidFill>
                          <a:effectLst/>
                          <a:latin typeface="Calibri"/>
                        </a:rPr>
                        <a:t>1FFH</a:t>
                      </a:r>
                      <a:endParaRPr lang="en-US" sz="900" b="0" i="0" u="none" strike="noStrike" dirty="0">
                        <a:solidFill>
                          <a:srgbClr val="000000"/>
                        </a:solidFill>
                        <a:effectLst/>
                        <a:latin typeface="Calibri"/>
                      </a:endParaRPr>
                    </a:p>
                  </a:txBody>
                  <a:tcPr marL="9525" marR="9525" marT="7144" marB="0" anchor="ctr" anchorCtr="1"/>
                </a:tc>
              </a:tr>
              <a:tr h="148934">
                <a:tc>
                  <a:txBody>
                    <a:bodyPr/>
                    <a:lstStyle/>
                    <a:p>
                      <a:pPr algn="l" fontAlgn="b"/>
                      <a:r>
                        <a:rPr lang="en-US" sz="900" b="0" i="0" u="none" strike="noStrike" dirty="0">
                          <a:solidFill>
                            <a:srgbClr val="000000"/>
                          </a:solidFill>
                          <a:effectLst/>
                          <a:latin typeface="Calibri"/>
                        </a:rPr>
                        <a:t>KHC005</a:t>
                      </a:r>
                    </a:p>
                  </a:txBody>
                  <a:tcPr marL="9525" marR="9525" marT="7144" marB="0" anchor="ctr" anchorCtr="1"/>
                </a:tc>
                <a:tc>
                  <a:txBody>
                    <a:bodyPr/>
                    <a:lstStyle/>
                    <a:p>
                      <a:pPr algn="l" fontAlgn="b"/>
                      <a:r>
                        <a:rPr lang="en-US" sz="900" b="0" i="0" u="none" strike="noStrike" dirty="0">
                          <a:solidFill>
                            <a:srgbClr val="000000"/>
                          </a:solidFill>
                          <a:effectLst/>
                          <a:latin typeface="Calibri"/>
                        </a:rPr>
                        <a:t> MC Integration Time Settings</a:t>
                      </a:r>
                    </a:p>
                  </a:txBody>
                  <a:tcPr marL="9525" marR="9525" marT="7144" marB="0" anchor="ctr" anchorCtr="1"/>
                </a:tc>
                <a:tc>
                  <a:txBody>
                    <a:bodyPr/>
                    <a:lstStyle/>
                    <a:p>
                      <a:pPr algn="l" fontAlgn="b"/>
                      <a:r>
                        <a:rPr lang="en-US" sz="900" b="0" i="0" u="none" strike="noStrike" dirty="0">
                          <a:solidFill>
                            <a:srgbClr val="000000"/>
                          </a:solidFill>
                          <a:effectLst/>
                          <a:latin typeface="Calibri"/>
                        </a:rPr>
                        <a:t>0C05XXXXH</a:t>
                      </a:r>
                    </a:p>
                  </a:txBody>
                  <a:tcPr marL="9525" marR="9525" marT="7144" marB="0" anchor="ctr" anchorCtr="1"/>
                </a:tc>
                <a:tc>
                  <a:txBody>
                    <a:bodyPr/>
                    <a:lstStyle/>
                    <a:p>
                      <a:pPr algn="l" fontAlgn="b"/>
                      <a:r>
                        <a:rPr lang="en-US" sz="900" b="0" i="0" u="none" strike="noStrike" dirty="0">
                          <a:solidFill>
                            <a:srgbClr val="000000"/>
                          </a:solidFill>
                          <a:effectLst/>
                          <a:latin typeface="Calibri"/>
                        </a:rPr>
                        <a:t>01H~0AH.</a:t>
                      </a:r>
                    </a:p>
                  </a:txBody>
                  <a:tcPr marL="9525" marR="9525" marT="7144" marB="0" anchor="ctr" anchorCtr="1"/>
                </a:tc>
              </a:tr>
              <a:tr h="148934">
                <a:tc>
                  <a:txBody>
                    <a:bodyPr/>
                    <a:lstStyle/>
                    <a:p>
                      <a:pPr algn="l" fontAlgn="b"/>
                      <a:r>
                        <a:rPr lang="en-US" sz="900" b="0" i="0" u="none" strike="noStrike">
                          <a:solidFill>
                            <a:srgbClr val="000000"/>
                          </a:solidFill>
                          <a:effectLst/>
                          <a:latin typeface="Calibri"/>
                        </a:rPr>
                        <a:t>KHC006</a:t>
                      </a:r>
                    </a:p>
                  </a:txBody>
                  <a:tcPr marL="9525" marR="9525" marT="7144" marB="0" anchor="ctr" anchorCtr="1"/>
                </a:tc>
                <a:tc>
                  <a:txBody>
                    <a:bodyPr/>
                    <a:lstStyle/>
                    <a:p>
                      <a:pPr algn="l" fontAlgn="b"/>
                      <a:r>
                        <a:rPr lang="en-US" sz="900" b="0" i="0" u="none" strike="noStrike">
                          <a:solidFill>
                            <a:srgbClr val="000000"/>
                          </a:solidFill>
                          <a:effectLst/>
                          <a:latin typeface="Calibri"/>
                        </a:rPr>
                        <a:t>MC B1 Exposure time Settings</a:t>
                      </a:r>
                    </a:p>
                  </a:txBody>
                  <a:tcPr marL="9525" marR="9525" marT="7144" marB="0" anchor="ctr" anchorCtr="1"/>
                </a:tc>
                <a:tc>
                  <a:txBody>
                    <a:bodyPr/>
                    <a:lstStyle/>
                    <a:p>
                      <a:pPr algn="l" fontAlgn="b"/>
                      <a:r>
                        <a:rPr lang="en-US" sz="900" b="0" i="0" u="none" strike="noStrike" dirty="0">
                          <a:solidFill>
                            <a:srgbClr val="000000"/>
                          </a:solidFill>
                          <a:effectLst/>
                          <a:latin typeface="Calibri"/>
                        </a:rPr>
                        <a:t>0C06XXXXH</a:t>
                      </a:r>
                    </a:p>
                  </a:txBody>
                  <a:tcPr marL="9525" marR="9525" marT="7144" marB="0" anchor="ctr" anchorCtr="1"/>
                </a:tc>
                <a:tc>
                  <a:txBody>
                    <a:bodyPr/>
                    <a:lstStyle/>
                    <a:p>
                      <a:pPr algn="l" fontAlgn="b"/>
                      <a:r>
                        <a:rPr lang="en-US" sz="900" b="0" i="0" u="none" strike="noStrike">
                          <a:solidFill>
                            <a:srgbClr val="000000"/>
                          </a:solidFill>
                          <a:effectLst/>
                          <a:latin typeface="Calibri"/>
                        </a:rPr>
                        <a:t>01H~0BH.</a:t>
                      </a:r>
                    </a:p>
                  </a:txBody>
                  <a:tcPr marL="9525" marR="9525" marT="7144" marB="0" anchor="ctr" anchorCtr="1"/>
                </a:tc>
              </a:tr>
              <a:tr h="148934">
                <a:tc>
                  <a:txBody>
                    <a:bodyPr/>
                    <a:lstStyle/>
                    <a:p>
                      <a:pPr algn="l" fontAlgn="b"/>
                      <a:r>
                        <a:rPr lang="en-US" sz="900" b="0" i="0" u="none" strike="noStrike">
                          <a:solidFill>
                            <a:srgbClr val="000000"/>
                          </a:solidFill>
                          <a:effectLst/>
                          <a:latin typeface="Calibri"/>
                        </a:rPr>
                        <a:t>KHC007</a:t>
                      </a:r>
                    </a:p>
                  </a:txBody>
                  <a:tcPr marL="9525" marR="9525" marT="7144" marB="0" anchor="ctr" anchorCtr="1"/>
                </a:tc>
                <a:tc>
                  <a:txBody>
                    <a:bodyPr/>
                    <a:lstStyle/>
                    <a:p>
                      <a:pPr algn="l" fontAlgn="b"/>
                      <a:r>
                        <a:rPr lang="en-US" sz="900" b="0" i="0" u="none" strike="noStrike">
                          <a:solidFill>
                            <a:srgbClr val="000000"/>
                          </a:solidFill>
                          <a:effectLst/>
                          <a:latin typeface="Calibri"/>
                        </a:rPr>
                        <a:t>MC B2Exposure time Settings</a:t>
                      </a:r>
                    </a:p>
                  </a:txBody>
                  <a:tcPr marL="9525" marR="9525" marT="7144" marB="0" anchor="ctr" anchorCtr="1"/>
                </a:tc>
                <a:tc>
                  <a:txBody>
                    <a:bodyPr/>
                    <a:lstStyle/>
                    <a:p>
                      <a:pPr algn="l" fontAlgn="b"/>
                      <a:r>
                        <a:rPr lang="en-US" sz="900" b="0" i="0" u="none" strike="noStrike" dirty="0">
                          <a:solidFill>
                            <a:srgbClr val="000000"/>
                          </a:solidFill>
                          <a:effectLst/>
                          <a:latin typeface="Calibri"/>
                        </a:rPr>
                        <a:t>0C07XXXXH</a:t>
                      </a:r>
                    </a:p>
                  </a:txBody>
                  <a:tcPr marL="9525" marR="9525" marT="7144" marB="0" anchor="ctr" anchorCtr="1"/>
                </a:tc>
                <a:tc>
                  <a:txBody>
                    <a:bodyPr/>
                    <a:lstStyle/>
                    <a:p>
                      <a:pPr algn="l" fontAlgn="b"/>
                      <a:r>
                        <a:rPr lang="en-US" sz="900" b="0" i="0" u="none" strike="noStrike">
                          <a:solidFill>
                            <a:srgbClr val="000000"/>
                          </a:solidFill>
                          <a:effectLst/>
                          <a:latin typeface="Calibri"/>
                        </a:rPr>
                        <a:t>01H~0BH.</a:t>
                      </a:r>
                    </a:p>
                  </a:txBody>
                  <a:tcPr marL="9525" marR="9525" marT="7144" marB="0" anchor="ctr" anchorCtr="1"/>
                </a:tc>
              </a:tr>
              <a:tr h="148934">
                <a:tc>
                  <a:txBody>
                    <a:bodyPr/>
                    <a:lstStyle/>
                    <a:p>
                      <a:pPr algn="l" fontAlgn="b"/>
                      <a:r>
                        <a:rPr lang="en-US" sz="900" b="0" i="0" u="none" strike="noStrike">
                          <a:solidFill>
                            <a:srgbClr val="000000"/>
                          </a:solidFill>
                          <a:effectLst/>
                          <a:latin typeface="Calibri"/>
                        </a:rPr>
                        <a:t>KHC008</a:t>
                      </a:r>
                    </a:p>
                  </a:txBody>
                  <a:tcPr marL="9525" marR="9525" marT="7144" marB="0" anchor="ctr" anchorCtr="1"/>
                </a:tc>
                <a:tc>
                  <a:txBody>
                    <a:bodyPr/>
                    <a:lstStyle/>
                    <a:p>
                      <a:pPr algn="l" fontAlgn="b"/>
                      <a:r>
                        <a:rPr lang="en-US" sz="900" b="0" i="0" u="none" strike="noStrike">
                          <a:solidFill>
                            <a:srgbClr val="000000"/>
                          </a:solidFill>
                          <a:effectLst/>
                          <a:latin typeface="Calibri"/>
                        </a:rPr>
                        <a:t>MC B3 Exposure time Settings</a:t>
                      </a:r>
                    </a:p>
                  </a:txBody>
                  <a:tcPr marL="9525" marR="9525" marT="7144" marB="0" anchor="ctr" anchorCtr="1"/>
                </a:tc>
                <a:tc>
                  <a:txBody>
                    <a:bodyPr/>
                    <a:lstStyle/>
                    <a:p>
                      <a:pPr algn="l" fontAlgn="b"/>
                      <a:r>
                        <a:rPr lang="en-US" sz="900" b="0" i="0" u="none" strike="noStrike" dirty="0">
                          <a:solidFill>
                            <a:srgbClr val="000000"/>
                          </a:solidFill>
                          <a:effectLst/>
                          <a:latin typeface="Calibri"/>
                        </a:rPr>
                        <a:t>0C08XXXXH</a:t>
                      </a:r>
                    </a:p>
                  </a:txBody>
                  <a:tcPr marL="9525" marR="9525" marT="7144" marB="0" anchor="ctr" anchorCtr="1"/>
                </a:tc>
                <a:tc>
                  <a:txBody>
                    <a:bodyPr/>
                    <a:lstStyle/>
                    <a:p>
                      <a:pPr algn="l" fontAlgn="b"/>
                      <a:r>
                        <a:rPr lang="en-US" sz="900" b="0" i="0" u="none" strike="noStrike">
                          <a:solidFill>
                            <a:srgbClr val="000000"/>
                          </a:solidFill>
                          <a:effectLst/>
                          <a:latin typeface="Calibri"/>
                        </a:rPr>
                        <a:t>01H~0BH.</a:t>
                      </a:r>
                    </a:p>
                  </a:txBody>
                  <a:tcPr marL="9525" marR="9525" marT="7144" marB="0" anchor="ctr" anchorCtr="1"/>
                </a:tc>
              </a:tr>
              <a:tr h="148934">
                <a:tc>
                  <a:txBody>
                    <a:bodyPr/>
                    <a:lstStyle/>
                    <a:p>
                      <a:pPr algn="l" fontAlgn="b"/>
                      <a:r>
                        <a:rPr lang="en-US" sz="900" b="0" i="0" u="none" strike="noStrike">
                          <a:solidFill>
                            <a:srgbClr val="000000"/>
                          </a:solidFill>
                          <a:effectLst/>
                          <a:latin typeface="Calibri"/>
                        </a:rPr>
                        <a:t>KHC009</a:t>
                      </a:r>
                    </a:p>
                  </a:txBody>
                  <a:tcPr marL="9525" marR="9525" marT="7144" marB="0" anchor="ctr" anchorCtr="1"/>
                </a:tc>
                <a:tc>
                  <a:txBody>
                    <a:bodyPr/>
                    <a:lstStyle/>
                    <a:p>
                      <a:pPr algn="l" fontAlgn="b"/>
                      <a:r>
                        <a:rPr lang="en-US" sz="900" b="0" i="0" u="none" strike="noStrike">
                          <a:solidFill>
                            <a:srgbClr val="000000"/>
                          </a:solidFill>
                          <a:effectLst/>
                          <a:latin typeface="Calibri"/>
                        </a:rPr>
                        <a:t>MC B4 Exposure time Settings</a:t>
                      </a:r>
                    </a:p>
                  </a:txBody>
                  <a:tcPr marL="9525" marR="9525" marT="7144" marB="0" anchor="ctr" anchorCtr="1"/>
                </a:tc>
                <a:tc>
                  <a:txBody>
                    <a:bodyPr/>
                    <a:lstStyle/>
                    <a:p>
                      <a:pPr algn="l" fontAlgn="b"/>
                      <a:r>
                        <a:rPr lang="en-US" sz="900" b="0" i="0" u="none" strike="noStrike">
                          <a:solidFill>
                            <a:srgbClr val="000000"/>
                          </a:solidFill>
                          <a:effectLst/>
                          <a:latin typeface="Calibri"/>
                        </a:rPr>
                        <a:t>0C09XXXXH</a:t>
                      </a:r>
                    </a:p>
                  </a:txBody>
                  <a:tcPr marL="9525" marR="9525" marT="7144" marB="0" anchor="ctr" anchorCtr="1"/>
                </a:tc>
                <a:tc>
                  <a:txBody>
                    <a:bodyPr/>
                    <a:lstStyle/>
                    <a:p>
                      <a:pPr algn="l" fontAlgn="b"/>
                      <a:r>
                        <a:rPr lang="en-US" sz="900" b="0" i="0" u="none" strike="noStrike" dirty="0">
                          <a:solidFill>
                            <a:srgbClr val="000000"/>
                          </a:solidFill>
                          <a:effectLst/>
                          <a:latin typeface="Calibri"/>
                        </a:rPr>
                        <a:t>01H~0BH.</a:t>
                      </a:r>
                    </a:p>
                  </a:txBody>
                  <a:tcPr marL="9525" marR="9525" marT="7144" marB="0" anchor="ctr" anchorCtr="1"/>
                </a:tc>
              </a:tr>
              <a:tr h="148934">
                <a:tc>
                  <a:txBody>
                    <a:bodyPr/>
                    <a:lstStyle/>
                    <a:p>
                      <a:pPr algn="l" fontAlgn="b"/>
                      <a:r>
                        <a:rPr lang="en-US" sz="900" b="0" i="0" u="none" strike="noStrike">
                          <a:solidFill>
                            <a:srgbClr val="000000"/>
                          </a:solidFill>
                          <a:effectLst/>
                          <a:latin typeface="Calibri"/>
                        </a:rPr>
                        <a:t>KHC010</a:t>
                      </a:r>
                    </a:p>
                  </a:txBody>
                  <a:tcPr marL="9525" marR="9525" marT="7144" marB="0" anchor="ctr" anchorCtr="1"/>
                </a:tc>
                <a:tc>
                  <a:txBody>
                    <a:bodyPr/>
                    <a:lstStyle/>
                    <a:p>
                      <a:pPr algn="l" fontAlgn="b"/>
                      <a:r>
                        <a:rPr lang="en-US" sz="900" b="0" i="0" u="none" strike="noStrike">
                          <a:solidFill>
                            <a:srgbClr val="000000"/>
                          </a:solidFill>
                          <a:effectLst/>
                          <a:latin typeface="Times New Roman"/>
                        </a:rPr>
                        <a:t>MC Algorithm Settings</a:t>
                      </a:r>
                    </a:p>
                  </a:txBody>
                  <a:tcPr marL="9525" marR="9525" marT="7144" marB="0" anchor="ctr" anchorCtr="1"/>
                </a:tc>
                <a:tc>
                  <a:txBody>
                    <a:bodyPr/>
                    <a:lstStyle/>
                    <a:p>
                      <a:pPr algn="l" fontAlgn="b"/>
                      <a:r>
                        <a:rPr lang="en-US" sz="900" b="0" i="0" u="none" strike="noStrike">
                          <a:solidFill>
                            <a:srgbClr val="000000"/>
                          </a:solidFill>
                          <a:effectLst/>
                          <a:latin typeface="Calibri"/>
                        </a:rPr>
                        <a:t>0C0AXXXXH</a:t>
                      </a:r>
                    </a:p>
                  </a:txBody>
                  <a:tcPr marL="9525" marR="9525" marT="7144" marB="0" anchor="ctr" anchorCtr="1"/>
                </a:tc>
                <a:tc>
                  <a:txBody>
                    <a:bodyPr/>
                    <a:lstStyle/>
                    <a:p>
                      <a:pPr algn="l" fontAlgn="b"/>
                      <a:r>
                        <a:rPr lang="en-US" sz="900" b="0" i="0" u="none" strike="noStrike" dirty="0">
                          <a:solidFill>
                            <a:srgbClr val="000000"/>
                          </a:solidFill>
                          <a:effectLst/>
                          <a:latin typeface="Calibri"/>
                        </a:rPr>
                        <a:t>01</a:t>
                      </a:r>
                      <a:r>
                        <a:rPr lang="en-US" sz="900" b="0" i="0" u="none" strike="noStrike" dirty="0">
                          <a:solidFill>
                            <a:srgbClr val="000000"/>
                          </a:solidFill>
                          <a:effectLst/>
                          <a:latin typeface="宋体"/>
                        </a:rPr>
                        <a:t>：</a:t>
                      </a:r>
                      <a:r>
                        <a:rPr lang="en-US" sz="900" b="0" i="0" u="none" strike="noStrike" dirty="0">
                          <a:solidFill>
                            <a:srgbClr val="000000"/>
                          </a:solidFill>
                          <a:effectLst/>
                          <a:latin typeface="Calibri"/>
                        </a:rPr>
                        <a:t>on</a:t>
                      </a:r>
                      <a:r>
                        <a:rPr lang="en-US" sz="900" b="0" i="0" u="none" strike="noStrike" dirty="0">
                          <a:solidFill>
                            <a:srgbClr val="000000"/>
                          </a:solidFill>
                          <a:effectLst/>
                          <a:latin typeface="宋体"/>
                        </a:rPr>
                        <a:t>，</a:t>
                      </a:r>
                      <a:r>
                        <a:rPr lang="en-US" sz="900" b="0" i="0" u="none" strike="noStrike" dirty="0">
                          <a:solidFill>
                            <a:srgbClr val="000000"/>
                          </a:solidFill>
                          <a:effectLst/>
                          <a:latin typeface="Calibri"/>
                        </a:rPr>
                        <a:t>10</a:t>
                      </a:r>
                      <a:r>
                        <a:rPr lang="en-US" sz="900" b="0" i="0" u="none" strike="noStrike" dirty="0">
                          <a:solidFill>
                            <a:srgbClr val="000000"/>
                          </a:solidFill>
                          <a:effectLst/>
                          <a:latin typeface="宋体"/>
                        </a:rPr>
                        <a:t>：</a:t>
                      </a:r>
                      <a:r>
                        <a:rPr lang="en-US" sz="900" b="0" i="0" u="none" strike="noStrike" dirty="0">
                          <a:solidFill>
                            <a:srgbClr val="000000"/>
                          </a:solidFill>
                          <a:effectLst/>
                          <a:latin typeface="Calibri"/>
                        </a:rPr>
                        <a:t>off</a:t>
                      </a:r>
                    </a:p>
                  </a:txBody>
                  <a:tcPr marL="9525" marR="9525" marT="7144" marB="0" anchor="ctr" anchorCtr="1"/>
                </a:tc>
              </a:tr>
              <a:tr h="148934">
                <a:tc>
                  <a:txBody>
                    <a:bodyPr/>
                    <a:lstStyle/>
                    <a:p>
                      <a:pPr algn="l" fontAlgn="b"/>
                      <a:r>
                        <a:rPr lang="en-US" sz="900" b="0" i="0" u="none" strike="noStrike">
                          <a:solidFill>
                            <a:srgbClr val="000000"/>
                          </a:solidFill>
                          <a:effectLst/>
                          <a:latin typeface="Calibri"/>
                        </a:rPr>
                        <a:t>KHC011</a:t>
                      </a:r>
                    </a:p>
                  </a:txBody>
                  <a:tcPr marL="9525" marR="9525" marT="7144" marB="0" anchor="ctr" anchorCtr="1"/>
                </a:tc>
                <a:tc>
                  <a:txBody>
                    <a:bodyPr/>
                    <a:lstStyle/>
                    <a:p>
                      <a:pPr algn="l" fontAlgn="b"/>
                      <a:r>
                        <a:rPr lang="en-US" sz="900" b="0" i="0" u="none" strike="noStrike">
                          <a:solidFill>
                            <a:srgbClr val="000000"/>
                          </a:solidFill>
                          <a:effectLst/>
                          <a:latin typeface="Calibri"/>
                        </a:rPr>
                        <a:t>MC reset CANA</a:t>
                      </a:r>
                    </a:p>
                  </a:txBody>
                  <a:tcPr marL="9525" marR="9525" marT="7144" marB="0" anchor="ctr" anchorCtr="1"/>
                </a:tc>
                <a:tc>
                  <a:txBody>
                    <a:bodyPr/>
                    <a:lstStyle/>
                    <a:p>
                      <a:pPr algn="l" fontAlgn="b"/>
                      <a:r>
                        <a:rPr lang="en-US" sz="900" b="0" i="0" u="none" strike="noStrike">
                          <a:solidFill>
                            <a:srgbClr val="000000"/>
                          </a:solidFill>
                          <a:effectLst/>
                          <a:latin typeface="Calibri"/>
                        </a:rPr>
                        <a:t>0C0BAAAAH</a:t>
                      </a:r>
                    </a:p>
                  </a:txBody>
                  <a:tcPr marL="9525" marR="9525" marT="7144" marB="0" anchor="ctr" anchorCtr="1"/>
                </a:tc>
                <a:tc>
                  <a:txBody>
                    <a:bodyPr/>
                    <a:lstStyle/>
                    <a:p>
                      <a:pPr algn="l" fontAlgn="b"/>
                      <a:r>
                        <a:rPr lang="en-US" sz="900" b="0" i="0" u="none" strike="noStrike" dirty="0">
                          <a:solidFill>
                            <a:srgbClr val="000000"/>
                          </a:solidFill>
                          <a:effectLst/>
                          <a:latin typeface="Calibri"/>
                        </a:rPr>
                        <a:t>reset CANA</a:t>
                      </a:r>
                    </a:p>
                  </a:txBody>
                  <a:tcPr marL="9525" marR="9525" marT="7144" marB="0" anchor="ctr" anchorCtr="1"/>
                </a:tc>
              </a:tr>
              <a:tr h="179696">
                <a:tc>
                  <a:txBody>
                    <a:bodyPr/>
                    <a:lstStyle/>
                    <a:p>
                      <a:pPr algn="l" fontAlgn="b"/>
                      <a:r>
                        <a:rPr lang="en-US" sz="900" b="0" i="0" u="none" strike="noStrike" dirty="0">
                          <a:solidFill>
                            <a:srgbClr val="000000"/>
                          </a:solidFill>
                          <a:effectLst/>
                          <a:latin typeface="Calibri"/>
                        </a:rPr>
                        <a:t>KHC012</a:t>
                      </a:r>
                    </a:p>
                  </a:txBody>
                  <a:tcPr marL="9525" marR="9525" marT="7144" marB="0" anchor="ctr" anchorCtr="1"/>
                </a:tc>
                <a:tc>
                  <a:txBody>
                    <a:bodyPr/>
                    <a:lstStyle/>
                    <a:p>
                      <a:pPr algn="l" fontAlgn="b"/>
                      <a:r>
                        <a:rPr lang="en-US" sz="900" b="0" i="0" u="none" strike="noStrike">
                          <a:solidFill>
                            <a:srgbClr val="000000"/>
                          </a:solidFill>
                          <a:effectLst/>
                          <a:latin typeface="Calibri"/>
                        </a:rPr>
                        <a:t>MC reset CANB</a:t>
                      </a:r>
                    </a:p>
                  </a:txBody>
                  <a:tcPr marL="9525" marR="9525" marT="7144" marB="0" anchor="ctr" anchorCtr="1"/>
                </a:tc>
                <a:tc>
                  <a:txBody>
                    <a:bodyPr/>
                    <a:lstStyle/>
                    <a:p>
                      <a:pPr algn="l" fontAlgn="b"/>
                      <a:r>
                        <a:rPr lang="en-US" sz="900" b="0" i="0" u="none" strike="noStrike" dirty="0">
                          <a:solidFill>
                            <a:srgbClr val="000000"/>
                          </a:solidFill>
                          <a:effectLst/>
                          <a:latin typeface="Calibri"/>
                        </a:rPr>
                        <a:t>0C0CAAAAH</a:t>
                      </a:r>
                    </a:p>
                  </a:txBody>
                  <a:tcPr marL="9525" marR="9525" marT="7144" marB="0" anchor="ctr" anchorCtr="1"/>
                </a:tc>
                <a:tc>
                  <a:txBody>
                    <a:bodyPr/>
                    <a:lstStyle/>
                    <a:p>
                      <a:pPr algn="l" fontAlgn="b"/>
                      <a:r>
                        <a:rPr lang="en-US" sz="900" b="0" i="0" u="none" strike="noStrike" dirty="0">
                          <a:solidFill>
                            <a:srgbClr val="000000"/>
                          </a:solidFill>
                          <a:effectLst/>
                          <a:latin typeface="Calibri"/>
                        </a:rPr>
                        <a:t>reset CANA</a:t>
                      </a:r>
                    </a:p>
                  </a:txBody>
                  <a:tcPr marL="9525" marR="9525" marT="7144" marB="0" anchor="ctr" anchorCtr="1"/>
                </a:tc>
              </a:tr>
            </a:tbl>
          </a:graphicData>
        </a:graphic>
      </p:graphicFrame>
      <p:sp>
        <p:nvSpPr>
          <p:cNvPr id="5" name="标题 3"/>
          <p:cNvSpPr txBox="1">
            <a:spLocks noChangeArrowheads="1"/>
          </p:cNvSpPr>
          <p:nvPr/>
        </p:nvSpPr>
        <p:spPr>
          <a:xfrm>
            <a:off x="179513"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smtClean="0">
                <a:latin typeface="Arial" panose="020B0604020202020204" pitchFamily="34" charset="0"/>
                <a:cs typeface="Arial" panose="020B0604020202020204" pitchFamily="34" charset="0"/>
              </a:rPr>
              <a:t>Tele-command</a:t>
            </a:r>
            <a:endParaRPr lang="zh-CN" altLang="en-US" sz="3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13456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标题 3"/>
          <p:cNvSpPr>
            <a:spLocks noGrp="1" noChangeArrowheads="1"/>
          </p:cNvSpPr>
          <p:nvPr>
            <p:ph type="title" idx="4294967295"/>
          </p:nvPr>
        </p:nvSpPr>
        <p:spPr>
          <a:xfrm>
            <a:off x="179513" y="210335"/>
            <a:ext cx="8696325" cy="661720"/>
          </a:xfrm>
        </p:spPr>
        <p:txBody>
          <a:bodyPr>
            <a:spAutoFit/>
          </a:bodyPr>
          <a:lstStyle/>
          <a:p>
            <a:pPr eaLnBrk="1" hangingPunct="1"/>
            <a:r>
              <a:rPr lang="en-US" altLang="zh-CN" sz="3700" dirty="0">
                <a:latin typeface="Arial" panose="020B0604020202020204" pitchFamily="34" charset="0"/>
                <a:cs typeface="Arial" panose="020B0604020202020204" pitchFamily="34" charset="0"/>
              </a:rPr>
              <a:t>Telemetry</a:t>
            </a:r>
            <a:endParaRPr lang="zh-CN" altLang="en-US" sz="3700" dirty="0">
              <a:latin typeface="Arial" panose="020B0604020202020204" pitchFamily="34" charset="0"/>
              <a:cs typeface="Arial" panose="020B0604020202020204" pitchFamily="34"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1718896562"/>
              </p:ext>
            </p:extLst>
          </p:nvPr>
        </p:nvGraphicFramePr>
        <p:xfrm>
          <a:off x="611560" y="2427734"/>
          <a:ext cx="8244407" cy="2023110"/>
        </p:xfrm>
        <a:graphic>
          <a:graphicData uri="http://schemas.openxmlformats.org/drawingml/2006/table">
            <a:tbl>
              <a:tblPr firstRow="1" firstCol="1" bandRow="1" bandCol="1">
                <a:tableStyleId>{5C22544A-7EE6-4342-B048-85BDC9FD1C3A}</a:tableStyleId>
              </a:tblPr>
              <a:tblGrid>
                <a:gridCol w="1008112"/>
                <a:gridCol w="5004047"/>
                <a:gridCol w="2232248"/>
              </a:tblGrid>
              <a:tr h="308610">
                <a:tc>
                  <a:txBody>
                    <a:bodyPr/>
                    <a:lstStyle/>
                    <a:p>
                      <a:pPr marR="635" algn="ctr">
                        <a:lnSpc>
                          <a:spcPct val="150000"/>
                        </a:lnSpc>
                        <a:spcAft>
                          <a:spcPts val="0"/>
                        </a:spcAft>
                      </a:pPr>
                      <a:r>
                        <a:rPr lang="en-US" sz="1400" b="1" kern="100" cap="all" dirty="0" smtClean="0">
                          <a:effectLst/>
                          <a:latin typeface="Times New Roman"/>
                          <a:ea typeface="黑体"/>
                          <a:cs typeface="Times New Roman"/>
                        </a:rPr>
                        <a:t>code </a:t>
                      </a:r>
                      <a:endParaRPr lang="zh-CN" sz="1400" kern="100" dirty="0">
                        <a:effectLst/>
                        <a:latin typeface="Times New Roman"/>
                        <a:ea typeface="宋体"/>
                        <a:cs typeface="Times New Roman"/>
                      </a:endParaRPr>
                    </a:p>
                  </a:txBody>
                  <a:tcPr marL="68580" marR="68580" marT="0" marB="0" anchor="ctr"/>
                </a:tc>
                <a:tc>
                  <a:txBody>
                    <a:bodyPr/>
                    <a:lstStyle/>
                    <a:p>
                      <a:pPr marR="635" algn="ctr">
                        <a:lnSpc>
                          <a:spcPct val="150000"/>
                        </a:lnSpc>
                        <a:spcAft>
                          <a:spcPts val="0"/>
                        </a:spcAft>
                      </a:pPr>
                      <a:r>
                        <a:rPr lang="en-US" sz="1400" b="1" kern="100" cap="all">
                          <a:effectLst/>
                          <a:latin typeface="Times New Roman"/>
                          <a:ea typeface="黑体"/>
                          <a:cs typeface="Times New Roman"/>
                        </a:rPr>
                        <a:t>Parameters name </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b="1" kern="100" cap="all" dirty="0">
                          <a:effectLst/>
                          <a:latin typeface="Times New Roman"/>
                          <a:ea typeface="黑体"/>
                          <a:cs typeface="Times New Roman"/>
                        </a:rPr>
                        <a:t>normal range </a:t>
                      </a:r>
                      <a:endParaRPr lang="zh-CN" sz="1400" kern="100" dirty="0">
                        <a:effectLst/>
                        <a:latin typeface="Times New Roman"/>
                        <a:ea typeface="宋体"/>
                        <a:cs typeface="Times New Roman"/>
                      </a:endParaRPr>
                    </a:p>
                  </a:txBody>
                  <a:tcPr marL="68580" marR="68580" marT="0" marB="0" anchor="ctr"/>
                </a:tc>
              </a:tr>
              <a:tr h="342900">
                <a:tc>
                  <a:txBody>
                    <a:bodyPr/>
                    <a:lstStyle/>
                    <a:p>
                      <a:pPr marL="0" algn="l" defTabSz="914400" rtl="0" eaLnBrk="1" latinLnBrk="0" hangingPunct="1">
                        <a:lnSpc>
                          <a:spcPct val="150000"/>
                        </a:lnSpc>
                        <a:spcAft>
                          <a:spcPts val="0"/>
                        </a:spcAft>
                      </a:pPr>
                      <a:r>
                        <a:rPr lang="en-US" altLang="zh-CN" sz="1400" dirty="0" smtClean="0">
                          <a:latin typeface="Arial" panose="020B0604020202020204" pitchFamily="34" charset="0"/>
                          <a:cs typeface="Arial" panose="020B0604020202020204" pitchFamily="34" charset="0"/>
                        </a:rPr>
                        <a:t>Y10001</a:t>
                      </a:r>
                      <a:endParaRPr lang="zh-CN" sz="1400" b="0" kern="100" dirty="0">
                        <a:solidFill>
                          <a:srgbClr val="000000"/>
                        </a:solidFill>
                        <a:effectLst/>
                        <a:latin typeface="Times New Roman" panose="02020603050405020304" pitchFamily="18" charset="0"/>
                        <a:ea typeface="宋体"/>
                        <a:cs typeface="Times New Roman" panose="02020603050405020304" pitchFamily="18" charset="0"/>
                      </a:endParaRPr>
                    </a:p>
                  </a:txBody>
                  <a:tcPr marL="68580" marR="68580" marT="0" marB="0" anchor="ctr" anchorCtr="1"/>
                </a:tc>
                <a:tc>
                  <a:txBody>
                    <a:bodyPr/>
                    <a:lstStyle/>
                    <a:p>
                      <a:pPr algn="l">
                        <a:lnSpc>
                          <a:spcPct val="150000"/>
                        </a:lnSpc>
                        <a:spcAft>
                          <a:spcPts val="0"/>
                        </a:spcAft>
                      </a:pPr>
                      <a:r>
                        <a:rPr lang="en-US" sz="1400" b="0" kern="100" dirty="0" err="1" smtClean="0">
                          <a:solidFill>
                            <a:srgbClr val="000000"/>
                          </a:solidFill>
                          <a:effectLst/>
                          <a:latin typeface="Times New Roman" panose="02020603050405020304" pitchFamily="18" charset="0"/>
                          <a:ea typeface="宋体"/>
                          <a:cs typeface="Times New Roman" panose="02020603050405020304" pitchFamily="18" charset="0"/>
                        </a:rPr>
                        <a:t>MC_</a:t>
                      </a:r>
                      <a:r>
                        <a:rPr lang="en-US" altLang="zh-CN" sz="1500" kern="1200" dirty="0" err="1" smtClean="0">
                          <a:solidFill>
                            <a:schemeClr val="dk1"/>
                          </a:solidFill>
                          <a:effectLst/>
                          <a:latin typeface="+mn-lt"/>
                          <a:ea typeface="+mn-ea"/>
                          <a:cs typeface="+mn-cs"/>
                        </a:rPr>
                        <a:t>Voltage</a:t>
                      </a:r>
                      <a:r>
                        <a:rPr lang="en-US" altLang="zh-CN" sz="1500" kern="1200" dirty="0" smtClean="0">
                          <a:solidFill>
                            <a:schemeClr val="dk1"/>
                          </a:solidFill>
                          <a:effectLst/>
                          <a:latin typeface="+mn-lt"/>
                          <a:ea typeface="+mn-ea"/>
                          <a:cs typeface="+mn-cs"/>
                        </a:rPr>
                        <a:t> 1_</a:t>
                      </a:r>
                      <a:r>
                        <a:rPr lang="en-US" sz="1400" b="0" kern="100" dirty="0" smtClean="0">
                          <a:solidFill>
                            <a:srgbClr val="000000"/>
                          </a:solidFill>
                          <a:effectLst/>
                          <a:latin typeface="Times New Roman" panose="02020603050405020304" pitchFamily="18" charset="0"/>
                          <a:ea typeface="宋体"/>
                          <a:cs typeface="Times New Roman" panose="02020603050405020304" pitchFamily="18" charset="0"/>
                        </a:rPr>
                        <a:t>Circuit_STATUS</a:t>
                      </a:r>
                      <a:endParaRPr lang="zh-CN" sz="1400" b="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l">
                        <a:spcAft>
                          <a:spcPts val="0"/>
                        </a:spcAft>
                      </a:pPr>
                      <a:r>
                        <a:rPr lang="en-US" altLang="zh-CN" sz="1800" kern="1200" dirty="0" smtClean="0">
                          <a:solidFill>
                            <a:schemeClr val="dk1"/>
                          </a:solidFill>
                          <a:effectLst/>
                          <a:latin typeface="+mn-lt"/>
                          <a:ea typeface="+mn-ea"/>
                          <a:cs typeface="+mn-cs"/>
                        </a:rPr>
                        <a:t>4.3~4.8V</a:t>
                      </a:r>
                      <a:endParaRPr lang="zh-CN" altLang="zh-CN" sz="1800" kern="1200" dirty="0">
                        <a:solidFill>
                          <a:schemeClr val="dk1"/>
                        </a:solidFill>
                        <a:effectLst/>
                        <a:latin typeface="+mn-lt"/>
                        <a:ea typeface="+mn-ea"/>
                        <a:cs typeface="+mn-cs"/>
                      </a:endParaRPr>
                    </a:p>
                  </a:txBody>
                  <a:tcPr marL="68580" marR="68580" marT="0" marB="0" anchor="ctr"/>
                </a:tc>
              </a:tr>
              <a:tr h="342900">
                <a:tc>
                  <a:txBody>
                    <a:bodyPr/>
                    <a:lstStyle/>
                    <a:p>
                      <a:pPr marL="0" algn="l" defTabSz="914400" rtl="0" eaLnBrk="1" latinLnBrk="0" hangingPunct="1">
                        <a:lnSpc>
                          <a:spcPct val="150000"/>
                        </a:lnSpc>
                        <a:spcAft>
                          <a:spcPts val="0"/>
                        </a:spcAft>
                      </a:pPr>
                      <a:r>
                        <a:rPr lang="en-US" altLang="zh-CN" sz="1400" dirty="0" smtClean="0">
                          <a:latin typeface="Arial" panose="020B0604020202020204" pitchFamily="34" charset="0"/>
                          <a:cs typeface="Arial" panose="020B0604020202020204" pitchFamily="34" charset="0"/>
                        </a:rPr>
                        <a:t>Y10002</a:t>
                      </a:r>
                      <a:endParaRPr lang="zh-CN" sz="1400" b="0" kern="100" dirty="0">
                        <a:solidFill>
                          <a:srgbClr val="000000"/>
                        </a:solidFill>
                        <a:effectLst/>
                        <a:latin typeface="Times New Roman" panose="02020603050405020304" pitchFamily="18" charset="0"/>
                        <a:ea typeface="宋体"/>
                        <a:cs typeface="Times New Roman" panose="02020603050405020304" pitchFamily="18" charset="0"/>
                      </a:endParaRPr>
                    </a:p>
                  </a:txBody>
                  <a:tcPr marL="68580" marR="68580" marT="0" marB="0" anchor="ctr" anchorCtr="1"/>
                </a:tc>
                <a:tc>
                  <a:txBody>
                    <a:bodyPr/>
                    <a:lstStyle/>
                    <a:p>
                      <a:pPr algn="l">
                        <a:lnSpc>
                          <a:spcPct val="150000"/>
                        </a:lnSpc>
                        <a:spcAft>
                          <a:spcPts val="0"/>
                        </a:spcAft>
                      </a:pPr>
                      <a:r>
                        <a:rPr lang="en-US" altLang="zh-CN" sz="1400" b="0" kern="100" dirty="0" err="1" smtClean="0">
                          <a:solidFill>
                            <a:srgbClr val="000000"/>
                          </a:solidFill>
                          <a:effectLst/>
                          <a:latin typeface="Times New Roman" panose="02020603050405020304" pitchFamily="18" charset="0"/>
                          <a:ea typeface="宋体"/>
                          <a:cs typeface="Times New Roman" panose="02020603050405020304" pitchFamily="18" charset="0"/>
                        </a:rPr>
                        <a:t>MC_</a:t>
                      </a:r>
                      <a:r>
                        <a:rPr lang="en-US" altLang="zh-CN" sz="1500" kern="1200" dirty="0" err="1" smtClean="0">
                          <a:solidFill>
                            <a:schemeClr val="dk1"/>
                          </a:solidFill>
                          <a:effectLst/>
                          <a:latin typeface="+mn-lt"/>
                          <a:ea typeface="+mn-ea"/>
                          <a:cs typeface="+mn-cs"/>
                        </a:rPr>
                        <a:t>Voltage</a:t>
                      </a:r>
                      <a:r>
                        <a:rPr lang="en-US" altLang="zh-CN" sz="1500" kern="1200" dirty="0" smtClean="0">
                          <a:solidFill>
                            <a:schemeClr val="dk1"/>
                          </a:solidFill>
                          <a:effectLst/>
                          <a:latin typeface="+mn-lt"/>
                          <a:ea typeface="+mn-ea"/>
                          <a:cs typeface="+mn-cs"/>
                        </a:rPr>
                        <a:t> 2_</a:t>
                      </a:r>
                      <a:r>
                        <a:rPr lang="en-US" altLang="zh-CN" sz="1400" b="0" kern="100" dirty="0" smtClean="0">
                          <a:solidFill>
                            <a:srgbClr val="000000"/>
                          </a:solidFill>
                          <a:effectLst/>
                          <a:latin typeface="Times New Roman" panose="02020603050405020304" pitchFamily="18" charset="0"/>
                          <a:ea typeface="宋体"/>
                          <a:cs typeface="Times New Roman" panose="02020603050405020304" pitchFamily="18" charset="0"/>
                        </a:rPr>
                        <a:t>Circuit_STATUS</a:t>
                      </a:r>
                      <a:endParaRPr lang="zh-CN" altLang="zh-CN" sz="1400" b="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r>
                        <a:rPr lang="en-US" altLang="zh-CN" sz="1800" kern="1200" dirty="0" smtClean="0">
                          <a:solidFill>
                            <a:schemeClr val="dk1"/>
                          </a:solidFill>
                          <a:effectLst/>
                          <a:latin typeface="+mn-lt"/>
                          <a:ea typeface="+mn-ea"/>
                          <a:cs typeface="+mn-cs"/>
                        </a:rPr>
                        <a:t>4.3~4.8V,</a:t>
                      </a:r>
                      <a:endParaRPr lang="zh-CN" altLang="zh-CN" sz="1800" kern="1200" dirty="0" smtClean="0">
                        <a:solidFill>
                          <a:schemeClr val="dk1"/>
                        </a:solidFill>
                        <a:effectLst/>
                        <a:latin typeface="+mn-lt"/>
                        <a:ea typeface="+mn-ea"/>
                        <a:cs typeface="+mn-cs"/>
                      </a:endParaRPr>
                    </a:p>
                  </a:txBody>
                  <a:tcPr marL="68580" marR="68580" marT="0" marB="0" anchor="ctr"/>
                </a:tc>
              </a:tr>
              <a:tr h="342900">
                <a:tc>
                  <a:txBody>
                    <a:bodyPr/>
                    <a:lstStyle/>
                    <a:p>
                      <a:pPr marL="0" algn="l" defTabSz="914400" rtl="0" eaLnBrk="1" latinLnBrk="0" hangingPunct="1">
                        <a:lnSpc>
                          <a:spcPct val="150000"/>
                        </a:lnSpc>
                        <a:spcAft>
                          <a:spcPts val="0"/>
                        </a:spcAft>
                      </a:pPr>
                      <a:r>
                        <a:rPr lang="en-US" altLang="zh-CN" sz="1400" dirty="0" smtClean="0">
                          <a:latin typeface="Arial" panose="020B0604020202020204" pitchFamily="34" charset="0"/>
                          <a:cs typeface="Arial" panose="020B0604020202020204" pitchFamily="34" charset="0"/>
                        </a:rPr>
                        <a:t>Y10003</a:t>
                      </a:r>
                      <a:endParaRPr lang="zh-CN" sz="1400" b="0" kern="100" dirty="0">
                        <a:solidFill>
                          <a:srgbClr val="000000"/>
                        </a:solidFill>
                        <a:effectLst/>
                        <a:latin typeface="Times New Roman" panose="02020603050405020304" pitchFamily="18" charset="0"/>
                        <a:ea typeface="宋体"/>
                        <a:cs typeface="Times New Roman" panose="02020603050405020304" pitchFamily="18" charset="0"/>
                      </a:endParaRPr>
                    </a:p>
                  </a:txBody>
                  <a:tcPr marL="68580" marR="68580" marT="0" marB="0" anchor="ctr" anchorCtr="1"/>
                </a:tc>
                <a:tc>
                  <a:txBody>
                    <a:bodyPr/>
                    <a:lstStyle/>
                    <a:p>
                      <a:pPr algn="l">
                        <a:lnSpc>
                          <a:spcPct val="150000"/>
                        </a:lnSpc>
                        <a:spcAft>
                          <a:spcPts val="0"/>
                        </a:spcAft>
                      </a:pPr>
                      <a:r>
                        <a:rPr lang="en-US" altLang="zh-CN" sz="1400" b="0" kern="100" dirty="0" err="1" smtClean="0">
                          <a:solidFill>
                            <a:srgbClr val="000000"/>
                          </a:solidFill>
                          <a:effectLst/>
                          <a:latin typeface="Times New Roman" panose="02020603050405020304" pitchFamily="18" charset="0"/>
                          <a:ea typeface="宋体"/>
                          <a:cs typeface="Times New Roman" panose="02020603050405020304" pitchFamily="18" charset="0"/>
                        </a:rPr>
                        <a:t>MC_</a:t>
                      </a:r>
                      <a:r>
                        <a:rPr lang="en-US" altLang="zh-CN" sz="1500" kern="1200" dirty="0" err="1" smtClean="0">
                          <a:solidFill>
                            <a:schemeClr val="dk1"/>
                          </a:solidFill>
                          <a:effectLst/>
                          <a:latin typeface="+mn-lt"/>
                          <a:ea typeface="+mn-ea"/>
                          <a:cs typeface="+mn-cs"/>
                        </a:rPr>
                        <a:t>Voltage</a:t>
                      </a:r>
                      <a:r>
                        <a:rPr lang="en-US" altLang="zh-CN" sz="1500" kern="1200" dirty="0" smtClean="0">
                          <a:solidFill>
                            <a:schemeClr val="dk1"/>
                          </a:solidFill>
                          <a:effectLst/>
                          <a:latin typeface="+mn-lt"/>
                          <a:ea typeface="+mn-ea"/>
                          <a:cs typeface="+mn-cs"/>
                        </a:rPr>
                        <a:t> 3_</a:t>
                      </a:r>
                      <a:r>
                        <a:rPr lang="en-US" altLang="zh-CN" sz="1400" b="0" kern="100" dirty="0" smtClean="0">
                          <a:solidFill>
                            <a:srgbClr val="000000"/>
                          </a:solidFill>
                          <a:effectLst/>
                          <a:latin typeface="Times New Roman" panose="02020603050405020304" pitchFamily="18" charset="0"/>
                          <a:ea typeface="宋体"/>
                          <a:cs typeface="Times New Roman" panose="02020603050405020304" pitchFamily="18" charset="0"/>
                        </a:rPr>
                        <a:t>Circuit_STATUS</a:t>
                      </a:r>
                      <a:endParaRPr lang="zh-CN" altLang="zh-CN" sz="1400" b="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r>
                        <a:rPr lang="en-US" altLang="zh-CN" sz="1800" kern="1200" dirty="0" smtClean="0">
                          <a:solidFill>
                            <a:schemeClr val="dk1"/>
                          </a:solidFill>
                          <a:effectLst/>
                          <a:latin typeface="+mn-lt"/>
                          <a:ea typeface="+mn-ea"/>
                          <a:cs typeface="+mn-cs"/>
                        </a:rPr>
                        <a:t>3.8~4.2V;</a:t>
                      </a:r>
                      <a:endParaRPr lang="zh-CN" altLang="zh-CN" sz="1800" kern="1200" dirty="0" smtClean="0">
                        <a:solidFill>
                          <a:schemeClr val="dk1"/>
                        </a:solidFill>
                        <a:effectLst/>
                        <a:latin typeface="+mn-lt"/>
                        <a:ea typeface="+mn-ea"/>
                        <a:cs typeface="+mn-cs"/>
                      </a:endParaRPr>
                    </a:p>
                  </a:txBody>
                  <a:tcPr marL="68580" marR="68580" marT="0" marB="0" anchor="ctr"/>
                </a:tc>
              </a:tr>
              <a:tr h="342900">
                <a:tc>
                  <a:txBody>
                    <a:bodyPr/>
                    <a:lstStyle/>
                    <a:p>
                      <a:pPr marL="0" algn="l" defTabSz="914400" rtl="0" eaLnBrk="1" latinLnBrk="0" hangingPunct="1">
                        <a:lnSpc>
                          <a:spcPct val="150000"/>
                        </a:lnSpc>
                        <a:spcAft>
                          <a:spcPts val="0"/>
                        </a:spcAft>
                      </a:pPr>
                      <a:r>
                        <a:rPr lang="en-US" altLang="zh-CN" sz="1400" dirty="0" smtClean="0">
                          <a:latin typeface="Arial" panose="020B0604020202020204" pitchFamily="34" charset="0"/>
                          <a:cs typeface="Arial" panose="020B0604020202020204" pitchFamily="34" charset="0"/>
                        </a:rPr>
                        <a:t>Y10004</a:t>
                      </a:r>
                      <a:endParaRPr lang="zh-CN" sz="1400" b="0" kern="100" dirty="0">
                        <a:solidFill>
                          <a:srgbClr val="000000"/>
                        </a:solidFill>
                        <a:effectLst/>
                        <a:latin typeface="Times New Roman" panose="02020603050405020304" pitchFamily="18" charset="0"/>
                        <a:ea typeface="宋体"/>
                        <a:cs typeface="Times New Roman" panose="02020603050405020304" pitchFamily="18" charset="0"/>
                      </a:endParaRPr>
                    </a:p>
                  </a:txBody>
                  <a:tcPr marL="68580" marR="68580" marT="0" marB="0" anchor="ctr" anchorCtr="1"/>
                </a:tc>
                <a:tc>
                  <a:txBody>
                    <a:bodyPr/>
                    <a:lstStyle/>
                    <a:p>
                      <a:pPr algn="l">
                        <a:lnSpc>
                          <a:spcPct val="150000"/>
                        </a:lnSpc>
                        <a:spcAft>
                          <a:spcPts val="0"/>
                        </a:spcAft>
                      </a:pPr>
                      <a:r>
                        <a:rPr lang="en-US" altLang="zh-CN" sz="1400" b="0" kern="100" dirty="0" err="1" smtClean="0">
                          <a:solidFill>
                            <a:srgbClr val="000000"/>
                          </a:solidFill>
                          <a:effectLst/>
                          <a:latin typeface="Times New Roman" panose="02020603050405020304" pitchFamily="18" charset="0"/>
                          <a:ea typeface="宋体"/>
                          <a:cs typeface="Times New Roman" panose="02020603050405020304" pitchFamily="18" charset="0"/>
                        </a:rPr>
                        <a:t>MC_</a:t>
                      </a:r>
                      <a:r>
                        <a:rPr lang="en-US" altLang="zh-CN" sz="1500" kern="1200" dirty="0" err="1" smtClean="0">
                          <a:solidFill>
                            <a:schemeClr val="dk1"/>
                          </a:solidFill>
                          <a:effectLst/>
                          <a:latin typeface="+mn-lt"/>
                          <a:ea typeface="+mn-ea"/>
                          <a:cs typeface="+mn-cs"/>
                        </a:rPr>
                        <a:t>Voltage</a:t>
                      </a:r>
                      <a:r>
                        <a:rPr lang="en-US" altLang="zh-CN" sz="1500" kern="1200" dirty="0" smtClean="0">
                          <a:solidFill>
                            <a:schemeClr val="dk1"/>
                          </a:solidFill>
                          <a:effectLst/>
                          <a:latin typeface="+mn-lt"/>
                          <a:ea typeface="+mn-ea"/>
                          <a:cs typeface="+mn-cs"/>
                        </a:rPr>
                        <a:t> 4_</a:t>
                      </a:r>
                      <a:r>
                        <a:rPr lang="en-US" altLang="zh-CN" sz="1400" b="0" kern="100" dirty="0" smtClean="0">
                          <a:solidFill>
                            <a:srgbClr val="000000"/>
                          </a:solidFill>
                          <a:effectLst/>
                          <a:latin typeface="Times New Roman" panose="02020603050405020304" pitchFamily="18" charset="0"/>
                          <a:ea typeface="宋体"/>
                          <a:cs typeface="Times New Roman" panose="02020603050405020304" pitchFamily="18" charset="0"/>
                        </a:rPr>
                        <a:t>Circuit_STATUS</a:t>
                      </a:r>
                      <a:endParaRPr lang="zh-CN" altLang="zh-CN" sz="1400" b="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r>
                        <a:rPr lang="en-US" altLang="zh-CN" sz="1800" kern="1200" dirty="0" smtClean="0">
                          <a:solidFill>
                            <a:schemeClr val="dk1"/>
                          </a:solidFill>
                          <a:effectLst/>
                          <a:latin typeface="+mn-lt"/>
                          <a:ea typeface="+mn-ea"/>
                          <a:cs typeface="+mn-cs"/>
                        </a:rPr>
                        <a:t>4.1~4.5V;</a:t>
                      </a:r>
                      <a:endParaRPr lang="zh-CN" altLang="zh-CN" sz="1800" kern="1200" dirty="0" smtClean="0">
                        <a:solidFill>
                          <a:schemeClr val="dk1"/>
                        </a:solidFill>
                        <a:effectLst/>
                        <a:latin typeface="+mn-lt"/>
                        <a:ea typeface="+mn-ea"/>
                        <a:cs typeface="+mn-cs"/>
                      </a:endParaRPr>
                    </a:p>
                  </a:txBody>
                  <a:tcPr marL="68580" marR="68580" marT="0" marB="0" anchor="ctr"/>
                </a:tc>
              </a:tr>
              <a:tr h="342900">
                <a:tc>
                  <a:txBody>
                    <a:bodyPr/>
                    <a:lstStyle/>
                    <a:p>
                      <a:pPr marL="0" algn="l" defTabSz="914400" rtl="0" eaLnBrk="1" latinLnBrk="0" hangingPunct="1">
                        <a:lnSpc>
                          <a:spcPct val="150000"/>
                        </a:lnSpc>
                        <a:spcAft>
                          <a:spcPts val="0"/>
                        </a:spcAft>
                      </a:pPr>
                      <a:r>
                        <a:rPr lang="en-US" altLang="zh-CN" sz="1400" dirty="0" smtClean="0">
                          <a:latin typeface="Arial" panose="020B0604020202020204" pitchFamily="34" charset="0"/>
                          <a:cs typeface="Arial" panose="020B0604020202020204" pitchFamily="34" charset="0"/>
                        </a:rPr>
                        <a:t>Y10005</a:t>
                      </a:r>
                      <a:endParaRPr lang="zh-CN" sz="1400" b="0" kern="100" dirty="0">
                        <a:solidFill>
                          <a:srgbClr val="000000"/>
                        </a:solidFill>
                        <a:effectLst/>
                        <a:latin typeface="Times New Roman" panose="02020603050405020304" pitchFamily="18" charset="0"/>
                        <a:ea typeface="宋体"/>
                        <a:cs typeface="Times New Roman" panose="02020603050405020304" pitchFamily="18" charset="0"/>
                      </a:endParaRPr>
                    </a:p>
                  </a:txBody>
                  <a:tcPr marL="68580" marR="68580" marT="0" marB="0" anchor="ctr" anchorCtr="1"/>
                </a:tc>
                <a:tc>
                  <a:txBody>
                    <a:bodyPr/>
                    <a:lstStyle/>
                    <a:p>
                      <a:pPr algn="l">
                        <a:lnSpc>
                          <a:spcPct val="150000"/>
                        </a:lnSpc>
                        <a:spcAft>
                          <a:spcPts val="0"/>
                        </a:spcAft>
                      </a:pPr>
                      <a:r>
                        <a:rPr lang="en-US" altLang="zh-CN" sz="1400" b="0" kern="100" dirty="0" err="1" smtClean="0">
                          <a:solidFill>
                            <a:srgbClr val="000000"/>
                          </a:solidFill>
                          <a:effectLst/>
                          <a:latin typeface="Times New Roman" panose="02020603050405020304" pitchFamily="18" charset="0"/>
                          <a:ea typeface="宋体"/>
                          <a:cs typeface="Times New Roman" panose="02020603050405020304" pitchFamily="18" charset="0"/>
                        </a:rPr>
                        <a:t>MC_</a:t>
                      </a:r>
                      <a:r>
                        <a:rPr lang="en-US" altLang="zh-CN" sz="1500" kern="1200" dirty="0" err="1" smtClean="0">
                          <a:solidFill>
                            <a:schemeClr val="dk1"/>
                          </a:solidFill>
                          <a:effectLst/>
                          <a:latin typeface="+mn-lt"/>
                          <a:ea typeface="+mn-ea"/>
                          <a:cs typeface="+mn-cs"/>
                        </a:rPr>
                        <a:t>Voltage</a:t>
                      </a:r>
                      <a:r>
                        <a:rPr lang="en-US" altLang="zh-CN" sz="1500" kern="1200" dirty="0" smtClean="0">
                          <a:solidFill>
                            <a:schemeClr val="dk1"/>
                          </a:solidFill>
                          <a:effectLst/>
                          <a:latin typeface="+mn-lt"/>
                          <a:ea typeface="+mn-ea"/>
                          <a:cs typeface="+mn-cs"/>
                        </a:rPr>
                        <a:t> 5_</a:t>
                      </a:r>
                      <a:r>
                        <a:rPr lang="en-US" altLang="zh-CN" sz="1400" b="0" kern="100" dirty="0" smtClean="0">
                          <a:solidFill>
                            <a:srgbClr val="000000"/>
                          </a:solidFill>
                          <a:effectLst/>
                          <a:latin typeface="Times New Roman" panose="02020603050405020304" pitchFamily="18" charset="0"/>
                          <a:ea typeface="宋体"/>
                          <a:cs typeface="Times New Roman" panose="02020603050405020304" pitchFamily="18" charset="0"/>
                        </a:rPr>
                        <a:t>Circuit_STATUS</a:t>
                      </a:r>
                      <a:endParaRPr lang="zh-CN" altLang="zh-CN" sz="1400" b="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r>
                        <a:rPr lang="en-US" altLang="zh-CN" sz="1800" kern="1200" dirty="0" smtClean="0">
                          <a:solidFill>
                            <a:schemeClr val="dk1"/>
                          </a:solidFill>
                          <a:effectLst/>
                          <a:latin typeface="+mn-lt"/>
                          <a:ea typeface="+mn-ea"/>
                          <a:cs typeface="+mn-cs"/>
                        </a:rPr>
                        <a:t>2.2~2.4V.</a:t>
                      </a:r>
                      <a:endParaRPr lang="zh-CN" altLang="zh-CN" sz="1400" kern="100" dirty="0">
                        <a:effectLst/>
                        <a:latin typeface="Times New Roman"/>
                        <a:ea typeface="宋体"/>
                      </a:endParaRPr>
                    </a:p>
                  </a:txBody>
                  <a:tcPr marL="68580" marR="68580" marT="0" marB="0" anchor="ctr"/>
                </a:tc>
              </a:tr>
            </a:tbl>
          </a:graphicData>
        </a:graphic>
      </p:graphicFrame>
      <p:sp>
        <p:nvSpPr>
          <p:cNvPr id="5" name="内容占位符 2"/>
          <p:cNvSpPr txBox="1">
            <a:spLocks/>
          </p:cNvSpPr>
          <p:nvPr/>
        </p:nvSpPr>
        <p:spPr>
          <a:xfrm>
            <a:off x="468313" y="897564"/>
            <a:ext cx="8280400" cy="1133475"/>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200" dirty="0" smtClean="0">
                <a:latin typeface="Arial" panose="020B0604020202020204" pitchFamily="34" charset="0"/>
                <a:cs typeface="Arial" panose="020B0604020202020204" pitchFamily="34" charset="0"/>
              </a:rPr>
              <a:t>MC</a:t>
            </a:r>
          </a:p>
          <a:p>
            <a:pPr lvl="1"/>
            <a:r>
              <a:rPr lang="en-US" altLang="zh-CN" dirty="0" smtClean="0">
                <a:solidFill>
                  <a:srgbClr val="FF0000"/>
                </a:solidFill>
                <a:latin typeface="Arial" panose="020B0604020202020204" pitchFamily="34" charset="0"/>
                <a:cs typeface="Arial" panose="020B0604020202020204" pitchFamily="34" charset="0"/>
              </a:rPr>
              <a:t>Fast </a:t>
            </a:r>
            <a:r>
              <a:rPr lang="en-US" altLang="zh-CN" dirty="0">
                <a:solidFill>
                  <a:srgbClr val="FF0000"/>
                </a:solidFill>
                <a:latin typeface="Arial" panose="020B0604020202020204" pitchFamily="34" charset="0"/>
                <a:cs typeface="Arial" panose="020B0604020202020204" pitchFamily="34" charset="0"/>
              </a:rPr>
              <a:t>TM </a:t>
            </a:r>
            <a:r>
              <a:rPr lang="en-US" altLang="zh-CN" dirty="0">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rPr>
              <a:t>OBDH directly collecting</a:t>
            </a:r>
            <a:r>
              <a:rPr lang="en-US" altLang="zh-CN" dirty="0">
                <a:latin typeface="Arial" panose="020B0604020202020204" pitchFamily="34" charset="0"/>
                <a:cs typeface="Arial" panose="020B0604020202020204" pitchFamily="34" charset="0"/>
              </a:rPr>
              <a:t>):</a:t>
            </a:r>
          </a:p>
          <a:p>
            <a:pPr lvl="2">
              <a:buFont typeface="Wingdings" pitchFamily="2" charset="2"/>
              <a:buChar char="ü"/>
            </a:pPr>
            <a:r>
              <a:rPr lang="en-US" altLang="zh-CN" sz="2000" dirty="0" smtClean="0">
                <a:latin typeface="Arial" panose="020B0604020202020204" pitchFamily="34" charset="0"/>
                <a:cs typeface="Arial" panose="020B0604020202020204" pitchFamily="34" charset="0"/>
              </a:rPr>
              <a:t>Y10001~Y10005</a:t>
            </a:r>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45248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2"/>
          <p:cNvSpPr>
            <a:spLocks noGrp="1"/>
          </p:cNvSpPr>
          <p:nvPr>
            <p:ph idx="4294967295"/>
          </p:nvPr>
        </p:nvSpPr>
        <p:spPr>
          <a:xfrm>
            <a:off x="467544" y="735546"/>
            <a:ext cx="8280400" cy="1133475"/>
          </a:xfrm>
        </p:spPr>
        <p:txBody>
          <a:bodyPr>
            <a:normAutofit/>
          </a:bodyPr>
          <a:lstStyle/>
          <a:p>
            <a:pPr eaLnBrk="1" hangingPunct="1"/>
            <a:r>
              <a:rPr lang="en-US" altLang="zh-CN" sz="2400" dirty="0" smtClean="0">
                <a:latin typeface="Arial" panose="020B0604020202020204" pitchFamily="34" charset="0"/>
                <a:cs typeface="Arial" panose="020B0604020202020204" pitchFamily="34" charset="0"/>
              </a:rPr>
              <a:t>MC-</a:t>
            </a:r>
            <a:r>
              <a:rPr lang="en-US" altLang="zh-CN" sz="2400" dirty="0" smtClean="0">
                <a:solidFill>
                  <a:srgbClr val="FF0000"/>
                </a:solidFill>
                <a:latin typeface="Arial" panose="020B0604020202020204" pitchFamily="34" charset="0"/>
                <a:cs typeface="Arial" panose="020B0604020202020204" pitchFamily="34" charset="0"/>
              </a:rPr>
              <a:t>FAST TM </a:t>
            </a:r>
            <a:r>
              <a:rPr lang="en-US" altLang="zh-CN" sz="2400" dirty="0" smtClean="0">
                <a:latin typeface="Arial" panose="020B0604020202020204" pitchFamily="34" charset="0"/>
                <a:cs typeface="Arial" panose="020B0604020202020204" pitchFamily="34" charset="0"/>
              </a:rPr>
              <a:t>(</a:t>
            </a:r>
            <a:r>
              <a:rPr lang="en-US" altLang="zh-CN" sz="2400" dirty="0" smtClean="0">
                <a:solidFill>
                  <a:srgbClr val="FF0000"/>
                </a:solidFill>
                <a:latin typeface="Arial" panose="020B0604020202020204" pitchFamily="34" charset="0"/>
                <a:cs typeface="Arial" panose="020B0604020202020204" pitchFamily="34" charset="0"/>
              </a:rPr>
              <a:t>2s period</a:t>
            </a:r>
            <a:r>
              <a:rPr lang="en-US" altLang="zh-CN" sz="2400" dirty="0" smtClean="0">
                <a:latin typeface="Arial" panose="020B0604020202020204" pitchFamily="34" charset="0"/>
                <a:cs typeface="Arial" panose="020B0604020202020204" pitchFamily="34" charset="0"/>
              </a:rPr>
              <a:t>):</a:t>
            </a:r>
          </a:p>
        </p:txBody>
      </p:sp>
      <p:sp>
        <p:nvSpPr>
          <p:cNvPr id="18435" name="标题 3"/>
          <p:cNvSpPr>
            <a:spLocks noGrp="1" noChangeArrowheads="1"/>
          </p:cNvSpPr>
          <p:nvPr>
            <p:ph type="title" idx="4294967295"/>
          </p:nvPr>
        </p:nvSpPr>
        <p:spPr>
          <a:xfrm>
            <a:off x="179513" y="210335"/>
            <a:ext cx="8696325" cy="661720"/>
          </a:xfrm>
        </p:spPr>
        <p:txBody>
          <a:bodyPr>
            <a:spAutoFit/>
          </a:bodyPr>
          <a:lstStyle/>
          <a:p>
            <a:pPr eaLnBrk="1" hangingPunct="1"/>
            <a:r>
              <a:rPr lang="en-US" altLang="zh-CN" sz="3700" dirty="0">
                <a:latin typeface="Arial" panose="020B0604020202020204" pitchFamily="34" charset="0"/>
                <a:cs typeface="Arial" panose="020B0604020202020204" pitchFamily="34" charset="0"/>
              </a:rPr>
              <a:t>Telemetry</a:t>
            </a:r>
            <a:endParaRPr lang="zh-CN" altLang="en-US" sz="3700" dirty="0">
              <a:latin typeface="Arial" panose="020B0604020202020204" pitchFamily="34" charset="0"/>
              <a:cs typeface="Arial" panose="020B0604020202020204" pitchFamily="34"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523573016"/>
              </p:ext>
            </p:extLst>
          </p:nvPr>
        </p:nvGraphicFramePr>
        <p:xfrm>
          <a:off x="323528" y="1383618"/>
          <a:ext cx="8064896" cy="3363278"/>
        </p:xfrm>
        <a:graphic>
          <a:graphicData uri="http://schemas.openxmlformats.org/drawingml/2006/table">
            <a:tbl>
              <a:tblPr firstRow="1" firstCol="1" bandRow="1" bandCol="1">
                <a:tableStyleId>{5C22544A-7EE6-4342-B048-85BDC9FD1C3A}</a:tableStyleId>
              </a:tblPr>
              <a:tblGrid>
                <a:gridCol w="1008112"/>
                <a:gridCol w="3528392"/>
                <a:gridCol w="3528392"/>
              </a:tblGrid>
              <a:tr h="342900">
                <a:tc>
                  <a:txBody>
                    <a:bodyPr/>
                    <a:lstStyle/>
                    <a:p>
                      <a:pPr marR="635" algn="ctr">
                        <a:lnSpc>
                          <a:spcPct val="150000"/>
                        </a:lnSpc>
                        <a:spcAft>
                          <a:spcPts val="0"/>
                        </a:spcAft>
                      </a:pPr>
                      <a:r>
                        <a:rPr lang="en-US" sz="1500" b="1" kern="100" cap="all" dirty="0" smtClean="0">
                          <a:effectLst/>
                          <a:latin typeface="Times New Roman"/>
                          <a:ea typeface="黑体"/>
                          <a:cs typeface="Times New Roman"/>
                        </a:rPr>
                        <a:t>code </a:t>
                      </a:r>
                      <a:endParaRPr lang="zh-CN" sz="1500" kern="100" dirty="0">
                        <a:effectLst/>
                        <a:latin typeface="Times New Roman"/>
                        <a:ea typeface="宋体"/>
                        <a:cs typeface="Times New Roman"/>
                      </a:endParaRPr>
                    </a:p>
                  </a:txBody>
                  <a:tcPr marL="68580" marR="68580" marT="0" marB="0" anchor="ctr" anchorCtr="1"/>
                </a:tc>
                <a:tc>
                  <a:txBody>
                    <a:bodyPr/>
                    <a:lstStyle/>
                    <a:p>
                      <a:pPr marR="635" algn="ctr">
                        <a:lnSpc>
                          <a:spcPct val="150000"/>
                        </a:lnSpc>
                        <a:spcAft>
                          <a:spcPts val="0"/>
                        </a:spcAft>
                      </a:pPr>
                      <a:r>
                        <a:rPr lang="en-US" sz="1500" b="1" kern="100" cap="all">
                          <a:effectLst/>
                          <a:latin typeface="Times New Roman"/>
                          <a:ea typeface="黑体"/>
                          <a:cs typeface="Times New Roman"/>
                        </a:rPr>
                        <a:t>Parameters name </a:t>
                      </a:r>
                      <a:endParaRPr lang="zh-CN" sz="1500" kern="100">
                        <a:effectLst/>
                        <a:latin typeface="Times New Roman"/>
                        <a:ea typeface="宋体"/>
                        <a:cs typeface="Times New Roman"/>
                      </a:endParaRPr>
                    </a:p>
                  </a:txBody>
                  <a:tcPr marL="68580" marR="68580" marT="0" marB="0" anchor="ctr" anchorCtr="1"/>
                </a:tc>
                <a:tc>
                  <a:txBody>
                    <a:bodyPr/>
                    <a:lstStyle/>
                    <a:p>
                      <a:pPr algn="ctr">
                        <a:spcAft>
                          <a:spcPts val="0"/>
                        </a:spcAft>
                      </a:pPr>
                      <a:r>
                        <a:rPr lang="en-US" sz="1500" b="1" kern="100" cap="all" dirty="0">
                          <a:effectLst/>
                          <a:latin typeface="Times New Roman"/>
                          <a:ea typeface="黑体"/>
                          <a:cs typeface="Times New Roman"/>
                        </a:rPr>
                        <a:t>normal range </a:t>
                      </a:r>
                      <a:endParaRPr lang="zh-CN" sz="1500" kern="100" dirty="0">
                        <a:effectLst/>
                        <a:latin typeface="Times New Roman"/>
                        <a:ea typeface="宋体"/>
                        <a:cs typeface="Times New Roman"/>
                      </a:endParaRPr>
                    </a:p>
                  </a:txBody>
                  <a:tcPr marL="68580" marR="68580" marT="0" marB="0" anchor="ctr" anchorCtr="1"/>
                </a:tc>
              </a:tr>
              <a:tr h="240030">
                <a:tc>
                  <a:txBody>
                    <a:bodyPr/>
                    <a:lstStyle/>
                    <a:p>
                      <a:pPr algn="l" fontAlgn="b"/>
                      <a:r>
                        <a:rPr lang="en-US" sz="1200" b="0" i="0" u="none" strike="noStrike">
                          <a:solidFill>
                            <a:srgbClr val="000000"/>
                          </a:solidFill>
                          <a:effectLst/>
                          <a:latin typeface="Calibri"/>
                        </a:rPr>
                        <a:t>AS001</a:t>
                      </a:r>
                    </a:p>
                  </a:txBody>
                  <a:tcPr marL="9525" marR="9525" marT="7144" marB="0" anchor="ctr" anchorCtr="1"/>
                </a:tc>
                <a:tc>
                  <a:txBody>
                    <a:bodyPr/>
                    <a:lstStyle/>
                    <a:p>
                      <a:pPr algn="l" fontAlgn="b"/>
                      <a:r>
                        <a:rPr lang="en-US" sz="1100" b="0" i="0" u="none" strike="noStrike" dirty="0">
                          <a:solidFill>
                            <a:srgbClr val="000000"/>
                          </a:solidFill>
                          <a:effectLst/>
                          <a:latin typeface="Times New Roman"/>
                        </a:rPr>
                        <a:t>MC </a:t>
                      </a:r>
                      <a:r>
                        <a:rPr lang="en-US" sz="1100" b="0" i="0" u="none" strike="noStrike" dirty="0" err="1">
                          <a:solidFill>
                            <a:srgbClr val="000000"/>
                          </a:solidFill>
                          <a:effectLst/>
                          <a:latin typeface="Times New Roman"/>
                        </a:rPr>
                        <a:t>Received_Latest_TC</a:t>
                      </a:r>
                      <a:endParaRPr lang="en-US" sz="1100" b="0" i="0" u="none" strike="noStrike" dirty="0">
                        <a:solidFill>
                          <a:srgbClr val="000000"/>
                        </a:solidFill>
                        <a:effectLst/>
                        <a:latin typeface="Times New Roman"/>
                      </a:endParaRPr>
                    </a:p>
                  </a:txBody>
                  <a:tcPr marL="9525" marR="9525" marT="7144" marB="0" anchor="ctr" anchorCtr="1"/>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altLang="zh-CN" sz="1100" kern="100" dirty="0" smtClean="0">
                          <a:solidFill>
                            <a:schemeClr val="dk1"/>
                          </a:solidFill>
                          <a:effectLst/>
                          <a:latin typeface="Times New Roman"/>
                          <a:ea typeface="宋体"/>
                          <a:cs typeface="+mn-cs"/>
                        </a:rPr>
                        <a:t>Received  Latest TC content</a:t>
                      </a:r>
                      <a:endParaRPr lang="zh-CN" sz="1100" kern="100" dirty="0">
                        <a:solidFill>
                          <a:schemeClr val="dk1"/>
                        </a:solidFill>
                        <a:effectLst/>
                        <a:latin typeface="Times New Roman"/>
                        <a:ea typeface="宋体"/>
                        <a:cs typeface="+mn-cs"/>
                      </a:endParaRPr>
                    </a:p>
                  </a:txBody>
                  <a:tcPr marL="68580" marR="68580" marT="0" marB="0" anchor="ctr" anchorCtr="1"/>
                </a:tc>
              </a:tr>
              <a:tr h="190024">
                <a:tc>
                  <a:txBody>
                    <a:bodyPr/>
                    <a:lstStyle/>
                    <a:p>
                      <a:pPr algn="l" fontAlgn="b"/>
                      <a:r>
                        <a:rPr lang="en-US" sz="1200" b="0" i="0" u="none" strike="noStrike">
                          <a:solidFill>
                            <a:srgbClr val="000000"/>
                          </a:solidFill>
                          <a:effectLst/>
                          <a:latin typeface="Calibri"/>
                        </a:rPr>
                        <a:t>AS002</a:t>
                      </a:r>
                    </a:p>
                  </a:txBody>
                  <a:tcPr marL="9525" marR="9525" marT="7144" marB="0" anchor="ctr" anchorCtr="1"/>
                </a:tc>
                <a:tc>
                  <a:txBody>
                    <a:bodyPr/>
                    <a:lstStyle/>
                    <a:p>
                      <a:pPr algn="l" fontAlgn="b"/>
                      <a:r>
                        <a:rPr lang="en-US" sz="1200" b="0" i="0" u="none" strike="noStrike">
                          <a:solidFill>
                            <a:srgbClr val="000000"/>
                          </a:solidFill>
                          <a:effectLst/>
                          <a:latin typeface="Calibri"/>
                        </a:rPr>
                        <a:t>MC Clock status</a:t>
                      </a:r>
                    </a:p>
                  </a:txBody>
                  <a:tcPr marL="9525" marR="9525" marT="7144" marB="0" anchor="ctr" anchorCtr="1"/>
                </a:tc>
                <a:tc>
                  <a:txBody>
                    <a:bodyPr/>
                    <a:lstStyle/>
                    <a:p>
                      <a:pPr marL="0" algn="just" defTabSz="914400" rtl="0" eaLnBrk="1" latinLnBrk="0" hangingPunct="1">
                        <a:spcAft>
                          <a:spcPts val="0"/>
                        </a:spcAft>
                      </a:pPr>
                      <a:r>
                        <a:rPr lang="en-US" sz="1100" kern="100" dirty="0" smtClean="0">
                          <a:solidFill>
                            <a:schemeClr val="dk1"/>
                          </a:solidFill>
                          <a:effectLst/>
                          <a:latin typeface="Times New Roman"/>
                          <a:ea typeface="宋体"/>
                          <a:cs typeface="+mn-cs"/>
                        </a:rPr>
                        <a:t>1:</a:t>
                      </a:r>
                      <a:r>
                        <a:rPr lang="en-US" altLang="zh-CN" sz="1100" kern="100" dirty="0" smtClean="0">
                          <a:solidFill>
                            <a:schemeClr val="dk1"/>
                          </a:solidFill>
                          <a:effectLst/>
                          <a:latin typeface="Times New Roman"/>
                          <a:ea typeface="宋体"/>
                          <a:cs typeface="+mn-cs"/>
                        </a:rPr>
                        <a:t>on </a:t>
                      </a:r>
                      <a:r>
                        <a:rPr lang="en-US" sz="1100" kern="100" dirty="0" smtClean="0">
                          <a:solidFill>
                            <a:schemeClr val="dk1"/>
                          </a:solidFill>
                          <a:effectLst/>
                          <a:latin typeface="Times New Roman"/>
                          <a:ea typeface="宋体"/>
                          <a:cs typeface="+mn-cs"/>
                        </a:rPr>
                        <a:t>0:</a:t>
                      </a:r>
                      <a:r>
                        <a:rPr lang="en-US" altLang="zh-CN" sz="1100" kern="100" dirty="0" smtClean="0">
                          <a:solidFill>
                            <a:schemeClr val="dk1"/>
                          </a:solidFill>
                          <a:effectLst/>
                          <a:latin typeface="Times New Roman"/>
                          <a:ea typeface="宋体"/>
                          <a:cs typeface="+mn-cs"/>
                        </a:rPr>
                        <a:t>off</a:t>
                      </a:r>
                      <a:endParaRPr lang="zh-CN" sz="1100" kern="100" dirty="0">
                        <a:solidFill>
                          <a:schemeClr val="dk1"/>
                        </a:solidFill>
                        <a:effectLst/>
                        <a:latin typeface="Times New Roman"/>
                        <a:ea typeface="宋体"/>
                        <a:cs typeface="+mn-cs"/>
                      </a:endParaRPr>
                    </a:p>
                  </a:txBody>
                  <a:tcPr marL="68580" marR="68580" marT="0" marB="0" anchor="ctr" anchorCtr="1"/>
                </a:tc>
              </a:tr>
              <a:tr h="240030">
                <a:tc>
                  <a:txBody>
                    <a:bodyPr/>
                    <a:lstStyle/>
                    <a:p>
                      <a:pPr algn="l" fontAlgn="b"/>
                      <a:r>
                        <a:rPr lang="en-US" sz="1200" b="0" i="0" u="none" strike="noStrike">
                          <a:solidFill>
                            <a:srgbClr val="000000"/>
                          </a:solidFill>
                          <a:effectLst/>
                          <a:latin typeface="Calibri"/>
                        </a:rPr>
                        <a:t>AS003</a:t>
                      </a:r>
                    </a:p>
                  </a:txBody>
                  <a:tcPr marL="9525" marR="9525" marT="7144" marB="0" anchor="ctr" anchorCtr="1"/>
                </a:tc>
                <a:tc>
                  <a:txBody>
                    <a:bodyPr/>
                    <a:lstStyle/>
                    <a:p>
                      <a:pPr algn="l" fontAlgn="b"/>
                      <a:r>
                        <a:rPr lang="en-US" sz="1200" b="0" i="0" u="none" strike="noStrike" dirty="0">
                          <a:solidFill>
                            <a:srgbClr val="000000"/>
                          </a:solidFill>
                          <a:effectLst/>
                          <a:latin typeface="Calibri"/>
                        </a:rPr>
                        <a:t>MC Parameter1</a:t>
                      </a:r>
                      <a:r>
                        <a:rPr lang="en-US" sz="1200" b="0" i="0" u="none" strike="noStrike" dirty="0">
                          <a:solidFill>
                            <a:srgbClr val="000000"/>
                          </a:solidFill>
                          <a:effectLst/>
                          <a:latin typeface="宋体"/>
                        </a:rPr>
                        <a:t>（</a:t>
                      </a:r>
                      <a:r>
                        <a:rPr lang="en-US" sz="1200" b="0" i="0" u="none" strike="noStrike" dirty="0">
                          <a:solidFill>
                            <a:srgbClr val="000000"/>
                          </a:solidFill>
                          <a:effectLst/>
                          <a:latin typeface="Calibri"/>
                        </a:rPr>
                        <a:t>right counter</a:t>
                      </a:r>
                      <a:r>
                        <a:rPr lang="en-US" sz="1200" b="0" i="0" u="none" strike="noStrike" dirty="0">
                          <a:solidFill>
                            <a:srgbClr val="000000"/>
                          </a:solidFill>
                          <a:effectLst/>
                          <a:latin typeface="宋体"/>
                        </a:rPr>
                        <a:t>）</a:t>
                      </a:r>
                      <a:endParaRPr lang="en-US" sz="1200" b="0" i="0" u="none" strike="noStrike" dirty="0">
                        <a:solidFill>
                          <a:srgbClr val="000000"/>
                        </a:solidFill>
                        <a:effectLst/>
                        <a:latin typeface="Calibri"/>
                      </a:endParaRPr>
                    </a:p>
                  </a:txBody>
                  <a:tcPr marL="9525" marR="9525" marT="7144" marB="0" anchor="ctr" anchorCtr="1"/>
                </a:tc>
                <a:tc>
                  <a:txBody>
                    <a:bodyPr/>
                    <a:lstStyle/>
                    <a:p>
                      <a:pPr marL="0" algn="just" defTabSz="914400" rtl="0" eaLnBrk="1" latinLnBrk="0" hangingPunct="1">
                        <a:lnSpc>
                          <a:spcPct val="150000"/>
                        </a:lnSpc>
                        <a:spcAft>
                          <a:spcPts val="0"/>
                        </a:spcAft>
                      </a:pPr>
                      <a:r>
                        <a:rPr lang="en-US" altLang="zh-CN" sz="1100" kern="100" dirty="0" smtClean="0">
                          <a:solidFill>
                            <a:schemeClr val="dk1"/>
                          </a:solidFill>
                          <a:effectLst/>
                          <a:latin typeface="Times New Roman"/>
                          <a:ea typeface="宋体"/>
                          <a:cs typeface="+mn-cs"/>
                        </a:rPr>
                        <a:t>If received the right TC then counter +1</a:t>
                      </a:r>
                      <a:endParaRPr lang="zh-CN" sz="1100" kern="100" dirty="0">
                        <a:solidFill>
                          <a:schemeClr val="dk1"/>
                        </a:solidFill>
                        <a:effectLst/>
                        <a:latin typeface="Times New Roman"/>
                        <a:ea typeface="宋体"/>
                        <a:cs typeface="+mn-cs"/>
                      </a:endParaRPr>
                    </a:p>
                  </a:txBody>
                  <a:tcPr marL="68580" marR="68580" marT="0" marB="0" anchor="ctr" anchorCtr="1"/>
                </a:tc>
              </a:tr>
              <a:tr h="240030">
                <a:tc>
                  <a:txBody>
                    <a:bodyPr/>
                    <a:lstStyle/>
                    <a:p>
                      <a:pPr algn="l" fontAlgn="b"/>
                      <a:r>
                        <a:rPr lang="en-US" sz="1200" b="0" i="0" u="none" strike="noStrike">
                          <a:solidFill>
                            <a:srgbClr val="000000"/>
                          </a:solidFill>
                          <a:effectLst/>
                          <a:latin typeface="Calibri"/>
                        </a:rPr>
                        <a:t>AS004</a:t>
                      </a:r>
                    </a:p>
                  </a:txBody>
                  <a:tcPr marL="9525" marR="9525" marT="7144" marB="0" anchor="ctr" anchorCtr="1"/>
                </a:tc>
                <a:tc>
                  <a:txBody>
                    <a:bodyPr/>
                    <a:lstStyle/>
                    <a:p>
                      <a:pPr algn="l" fontAlgn="b"/>
                      <a:r>
                        <a:rPr lang="en-US" sz="1200" b="0" i="0" u="none" strike="noStrike">
                          <a:solidFill>
                            <a:srgbClr val="000000"/>
                          </a:solidFill>
                          <a:effectLst/>
                          <a:latin typeface="Calibri"/>
                        </a:rPr>
                        <a:t>MC Parameter2</a:t>
                      </a:r>
                      <a:r>
                        <a:rPr lang="en-US" sz="1200" b="0" i="0" u="none" strike="noStrike">
                          <a:solidFill>
                            <a:srgbClr val="000000"/>
                          </a:solidFill>
                          <a:effectLst/>
                          <a:latin typeface="宋体"/>
                        </a:rPr>
                        <a:t>（</a:t>
                      </a:r>
                      <a:r>
                        <a:rPr lang="en-US" sz="1200" b="0" i="0" u="none" strike="noStrike">
                          <a:solidFill>
                            <a:srgbClr val="000000"/>
                          </a:solidFill>
                          <a:effectLst/>
                          <a:latin typeface="Calibri"/>
                        </a:rPr>
                        <a:t>wrong counter</a:t>
                      </a:r>
                      <a:r>
                        <a:rPr lang="en-US" sz="1200" b="0" i="0" u="none" strike="noStrike">
                          <a:solidFill>
                            <a:srgbClr val="000000"/>
                          </a:solidFill>
                          <a:effectLst/>
                          <a:latin typeface="宋体"/>
                        </a:rPr>
                        <a:t>）</a:t>
                      </a:r>
                      <a:endParaRPr lang="en-US" sz="1200" b="0" i="0" u="none" strike="noStrike">
                        <a:solidFill>
                          <a:srgbClr val="000000"/>
                        </a:solidFill>
                        <a:effectLst/>
                        <a:latin typeface="Calibri"/>
                      </a:endParaRPr>
                    </a:p>
                  </a:txBody>
                  <a:tcPr marL="9525" marR="9525" marT="7144" marB="0" anchor="ctr" anchorCtr="1"/>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altLang="zh-CN" sz="1100" kern="100" dirty="0" smtClean="0">
                          <a:solidFill>
                            <a:schemeClr val="dk1"/>
                          </a:solidFill>
                          <a:effectLst/>
                          <a:latin typeface="Times New Roman"/>
                          <a:ea typeface="宋体"/>
                          <a:cs typeface="+mn-cs"/>
                        </a:rPr>
                        <a:t>If received the wrong TC then counter +1</a:t>
                      </a:r>
                      <a:endParaRPr lang="zh-CN" sz="1100" kern="100" dirty="0">
                        <a:solidFill>
                          <a:schemeClr val="dk1"/>
                        </a:solidFill>
                        <a:effectLst/>
                        <a:latin typeface="Times New Roman"/>
                        <a:ea typeface="宋体"/>
                        <a:cs typeface="+mn-cs"/>
                      </a:endParaRPr>
                    </a:p>
                  </a:txBody>
                  <a:tcPr marL="68580" marR="68580" marT="0" marB="0" anchor="ctr" anchorCtr="1"/>
                </a:tc>
              </a:tr>
              <a:tr h="240030">
                <a:tc>
                  <a:txBody>
                    <a:bodyPr/>
                    <a:lstStyle/>
                    <a:p>
                      <a:pPr algn="l" fontAlgn="b"/>
                      <a:r>
                        <a:rPr lang="en-US" sz="1200" b="0" i="0" u="none" strike="noStrike">
                          <a:solidFill>
                            <a:srgbClr val="000000"/>
                          </a:solidFill>
                          <a:effectLst/>
                          <a:latin typeface="Calibri"/>
                        </a:rPr>
                        <a:t>AS005</a:t>
                      </a:r>
                    </a:p>
                  </a:txBody>
                  <a:tcPr marL="9525" marR="9525" marT="7144" marB="0" anchor="ctr" anchorCtr="1"/>
                </a:tc>
                <a:tc>
                  <a:txBody>
                    <a:bodyPr/>
                    <a:lstStyle/>
                    <a:p>
                      <a:pPr algn="l" fontAlgn="b"/>
                      <a:r>
                        <a:rPr lang="en-US" sz="1200" b="0" i="0" u="none" strike="noStrike" dirty="0">
                          <a:solidFill>
                            <a:srgbClr val="000000"/>
                          </a:solidFill>
                          <a:effectLst/>
                          <a:latin typeface="Calibri"/>
                        </a:rPr>
                        <a:t>MC Parameter3</a:t>
                      </a:r>
                      <a:r>
                        <a:rPr lang="en-US" sz="1200" b="0" i="0" u="none" strike="noStrike" dirty="0">
                          <a:solidFill>
                            <a:srgbClr val="000000"/>
                          </a:solidFill>
                          <a:effectLst/>
                          <a:latin typeface="宋体"/>
                        </a:rPr>
                        <a:t>（</a:t>
                      </a:r>
                      <a:r>
                        <a:rPr lang="en-US" sz="1200" b="0" i="0" u="none" strike="noStrike" dirty="0">
                          <a:solidFill>
                            <a:srgbClr val="000000"/>
                          </a:solidFill>
                          <a:effectLst/>
                          <a:latin typeface="Calibri"/>
                        </a:rPr>
                        <a:t>soft check</a:t>
                      </a:r>
                      <a:r>
                        <a:rPr lang="en-US" sz="1200" b="0" i="0" u="none" strike="noStrike" dirty="0">
                          <a:solidFill>
                            <a:srgbClr val="000000"/>
                          </a:solidFill>
                          <a:effectLst/>
                          <a:latin typeface="宋体"/>
                        </a:rPr>
                        <a:t>）</a:t>
                      </a:r>
                      <a:endParaRPr lang="en-US" sz="1200" b="0" i="0" u="none" strike="noStrike" dirty="0">
                        <a:solidFill>
                          <a:srgbClr val="000000"/>
                        </a:solidFill>
                        <a:effectLst/>
                        <a:latin typeface="Calibri"/>
                      </a:endParaRPr>
                    </a:p>
                  </a:txBody>
                  <a:tcPr marL="9525" marR="9525" marT="7144" marB="0" anchor="ctr" anchorCtr="1"/>
                </a:tc>
                <a:tc>
                  <a:txBody>
                    <a:bodyPr/>
                    <a:lstStyle/>
                    <a:p>
                      <a:pPr marL="0" algn="just" defTabSz="914400" rtl="0" eaLnBrk="1" latinLnBrk="0" hangingPunct="1">
                        <a:lnSpc>
                          <a:spcPct val="150000"/>
                        </a:lnSpc>
                        <a:spcAft>
                          <a:spcPts val="0"/>
                        </a:spcAft>
                      </a:pPr>
                      <a:r>
                        <a:rPr lang="en-US" altLang="zh-CN" sz="1100" kern="100" dirty="0" smtClean="0">
                          <a:solidFill>
                            <a:schemeClr val="dk1"/>
                          </a:solidFill>
                          <a:effectLst/>
                          <a:latin typeface="Times New Roman"/>
                          <a:ea typeface="宋体"/>
                          <a:cs typeface="+mn-cs"/>
                        </a:rPr>
                        <a:t>1: normal</a:t>
                      </a:r>
                      <a:endParaRPr lang="zh-CN" sz="1100" kern="100" dirty="0">
                        <a:solidFill>
                          <a:schemeClr val="dk1"/>
                        </a:solidFill>
                        <a:effectLst/>
                        <a:latin typeface="Times New Roman"/>
                        <a:ea typeface="宋体"/>
                        <a:cs typeface="+mn-cs"/>
                      </a:endParaRPr>
                    </a:p>
                  </a:txBody>
                  <a:tcPr marL="68580" marR="68580" marT="0" marB="0" anchor="ctr" anchorCtr="1"/>
                </a:tc>
              </a:tr>
              <a:tr h="190024">
                <a:tc>
                  <a:txBody>
                    <a:bodyPr/>
                    <a:lstStyle/>
                    <a:p>
                      <a:pPr algn="l" fontAlgn="b"/>
                      <a:r>
                        <a:rPr lang="en-US" sz="1200" b="0" i="0" u="none" strike="noStrike">
                          <a:solidFill>
                            <a:srgbClr val="000000"/>
                          </a:solidFill>
                          <a:effectLst/>
                          <a:latin typeface="Calibri"/>
                        </a:rPr>
                        <a:t>AS024</a:t>
                      </a:r>
                    </a:p>
                  </a:txBody>
                  <a:tcPr marL="9525" marR="9525" marT="7144" marB="0" anchor="ctr" anchorCtr="1"/>
                </a:tc>
                <a:tc>
                  <a:txBody>
                    <a:bodyPr/>
                    <a:lstStyle/>
                    <a:p>
                      <a:pPr algn="l" fontAlgn="b"/>
                      <a:r>
                        <a:rPr lang="en-US" sz="1200" b="0" i="0" u="none" strike="noStrike">
                          <a:solidFill>
                            <a:srgbClr val="000000"/>
                          </a:solidFill>
                          <a:effectLst/>
                          <a:latin typeface="Calibri"/>
                        </a:rPr>
                        <a:t>MC Can bus</a:t>
                      </a:r>
                    </a:p>
                  </a:txBody>
                  <a:tcPr marL="9525" marR="9525" marT="7144" marB="0" anchor="ctr" anchorCtr="1"/>
                </a:tc>
                <a:tc>
                  <a:txBody>
                    <a:bodyPr/>
                    <a:lstStyle/>
                    <a:p>
                      <a:pPr marL="0" algn="just" defTabSz="914400" rtl="0" eaLnBrk="1" fontAlgn="b" latinLnBrk="0" hangingPunct="1">
                        <a:spcAft>
                          <a:spcPts val="0"/>
                        </a:spcAft>
                      </a:pPr>
                      <a:r>
                        <a:rPr lang="en-US" sz="1100" kern="100" dirty="0">
                          <a:solidFill>
                            <a:schemeClr val="dk1"/>
                          </a:solidFill>
                          <a:effectLst/>
                          <a:latin typeface="Times New Roman"/>
                          <a:ea typeface="宋体"/>
                          <a:cs typeface="+mn-cs"/>
                        </a:rPr>
                        <a:t>1:CANB;0:CANA</a:t>
                      </a:r>
                    </a:p>
                  </a:txBody>
                  <a:tcPr marL="9525" marR="9525" marT="7144" marB="0" anchor="ctr" anchorCtr="1"/>
                </a:tc>
              </a:tr>
              <a:tr h="240030">
                <a:tc>
                  <a:txBody>
                    <a:bodyPr/>
                    <a:lstStyle/>
                    <a:p>
                      <a:pPr algn="l" fontAlgn="b"/>
                      <a:r>
                        <a:rPr lang="en-US" sz="1200" b="0" i="0" u="none" strike="noStrike">
                          <a:solidFill>
                            <a:srgbClr val="000000"/>
                          </a:solidFill>
                          <a:effectLst/>
                          <a:latin typeface="Calibri"/>
                        </a:rPr>
                        <a:t>AS025</a:t>
                      </a:r>
                    </a:p>
                  </a:txBody>
                  <a:tcPr marL="9525" marR="9525" marT="7144" marB="0" anchor="ctr" anchorCtr="1"/>
                </a:tc>
                <a:tc>
                  <a:txBody>
                    <a:bodyPr/>
                    <a:lstStyle/>
                    <a:p>
                      <a:pPr algn="l" fontAlgn="b"/>
                      <a:r>
                        <a:rPr lang="en-US" sz="1200" b="0" i="0" u="none" strike="noStrike" dirty="0">
                          <a:solidFill>
                            <a:srgbClr val="000000"/>
                          </a:solidFill>
                          <a:effectLst/>
                          <a:latin typeface="Calibri"/>
                        </a:rPr>
                        <a:t>MC </a:t>
                      </a:r>
                      <a:r>
                        <a:rPr lang="en-US" sz="1200" b="0" i="0" u="none" strike="noStrike" dirty="0" err="1">
                          <a:solidFill>
                            <a:srgbClr val="000000"/>
                          </a:solidFill>
                          <a:effectLst/>
                          <a:latin typeface="Calibri"/>
                        </a:rPr>
                        <a:t>imageoutput</a:t>
                      </a:r>
                      <a:r>
                        <a:rPr lang="en-US" sz="1200" b="0" i="0" u="none" strike="noStrike" dirty="0">
                          <a:solidFill>
                            <a:srgbClr val="000000"/>
                          </a:solidFill>
                          <a:effectLst/>
                          <a:latin typeface="Calibri"/>
                        </a:rPr>
                        <a:t> status</a:t>
                      </a:r>
                    </a:p>
                  </a:txBody>
                  <a:tcPr marL="9525" marR="9525" marT="7144" marB="0" anchor="ctr" anchorCtr="1"/>
                </a:tc>
                <a:tc>
                  <a:txBody>
                    <a:bodyPr/>
                    <a:lstStyle/>
                    <a:p>
                      <a:pPr marL="0" algn="just" defTabSz="914400" rtl="0" eaLnBrk="1" latinLnBrk="0" hangingPunct="1">
                        <a:lnSpc>
                          <a:spcPct val="150000"/>
                        </a:lnSpc>
                        <a:spcAft>
                          <a:spcPts val="0"/>
                        </a:spcAft>
                      </a:pPr>
                      <a:r>
                        <a:rPr lang="en-US" altLang="zh-CN" sz="1100" kern="100" dirty="0" smtClean="0">
                          <a:solidFill>
                            <a:schemeClr val="dk1"/>
                          </a:solidFill>
                          <a:effectLst/>
                          <a:latin typeface="Times New Roman"/>
                          <a:ea typeface="宋体"/>
                          <a:cs typeface="+mn-cs"/>
                        </a:rPr>
                        <a:t>1:0n 0:0ff</a:t>
                      </a:r>
                      <a:endParaRPr lang="zh-CN" sz="1100" kern="100" dirty="0">
                        <a:solidFill>
                          <a:schemeClr val="dk1"/>
                        </a:solidFill>
                        <a:effectLst/>
                        <a:latin typeface="Times New Roman"/>
                        <a:ea typeface="宋体"/>
                        <a:cs typeface="+mn-cs"/>
                      </a:endParaRPr>
                    </a:p>
                  </a:txBody>
                  <a:tcPr marL="68580" marR="68580" marT="0" marB="0" anchor="ctr" anchorCtr="1"/>
                </a:tc>
              </a:tr>
              <a:tr h="480060">
                <a:tc>
                  <a:txBody>
                    <a:bodyPr/>
                    <a:lstStyle/>
                    <a:p>
                      <a:pPr algn="l" fontAlgn="b"/>
                      <a:r>
                        <a:rPr lang="en-US" sz="1200" b="0" i="0" u="none" strike="noStrike">
                          <a:solidFill>
                            <a:srgbClr val="000000"/>
                          </a:solidFill>
                          <a:effectLst/>
                          <a:latin typeface="Calibri"/>
                        </a:rPr>
                        <a:t>AS007</a:t>
                      </a:r>
                    </a:p>
                  </a:txBody>
                  <a:tcPr marL="9525" marR="9525" marT="7144" marB="0" anchor="ctr" anchorCtr="1"/>
                </a:tc>
                <a:tc>
                  <a:txBody>
                    <a:bodyPr/>
                    <a:lstStyle/>
                    <a:p>
                      <a:pPr algn="l" fontAlgn="b"/>
                      <a:r>
                        <a:rPr lang="en-US" sz="1100" b="0" i="0" u="none" strike="noStrike" dirty="0" err="1" smtClean="0">
                          <a:solidFill>
                            <a:srgbClr val="000000"/>
                          </a:solidFill>
                          <a:effectLst/>
                          <a:latin typeface="Times New Roman"/>
                        </a:rPr>
                        <a:t>Received_Wrong</a:t>
                      </a:r>
                      <a:r>
                        <a:rPr lang="en-US" sz="1100" b="0" i="0" u="none" strike="noStrike" dirty="0" smtClean="0">
                          <a:solidFill>
                            <a:srgbClr val="000000"/>
                          </a:solidFill>
                          <a:effectLst/>
                          <a:latin typeface="Times New Roman"/>
                        </a:rPr>
                        <a:t>_</a:t>
                      </a:r>
                      <a:r>
                        <a:rPr lang="en-US" sz="1100" b="0" i="0" u="none" strike="noStrike" baseline="0" dirty="0" smtClean="0">
                          <a:solidFill>
                            <a:srgbClr val="000000"/>
                          </a:solidFill>
                          <a:effectLst/>
                          <a:latin typeface="Times New Roman"/>
                        </a:rPr>
                        <a:t> </a:t>
                      </a:r>
                      <a:r>
                        <a:rPr lang="en-US" sz="1100" b="0" i="0" u="none" strike="noStrike" baseline="0" dirty="0" err="1" smtClean="0">
                          <a:solidFill>
                            <a:srgbClr val="000000"/>
                          </a:solidFill>
                          <a:effectLst/>
                          <a:latin typeface="Times New Roman"/>
                        </a:rPr>
                        <a:t>CAN_data</a:t>
                      </a:r>
                      <a:r>
                        <a:rPr lang="en-US" sz="1100" b="0" i="0" u="none" strike="noStrike" dirty="0" err="1" smtClean="0">
                          <a:solidFill>
                            <a:srgbClr val="000000"/>
                          </a:solidFill>
                          <a:effectLst/>
                          <a:latin typeface="Times New Roman"/>
                        </a:rPr>
                        <a:t>_COUNTER</a:t>
                      </a:r>
                      <a:endParaRPr lang="en-US" sz="1100" b="0" i="0" u="none" strike="noStrike" dirty="0">
                        <a:solidFill>
                          <a:srgbClr val="000000"/>
                        </a:solidFill>
                        <a:effectLst/>
                        <a:latin typeface="Times New Roman"/>
                      </a:endParaRPr>
                    </a:p>
                  </a:txBody>
                  <a:tcPr marL="9525" marR="9525" marT="7144" marB="0" anchor="ctr" anchorCtr="1"/>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altLang="zh-CN" sz="1100" kern="100" dirty="0" smtClean="0">
                          <a:solidFill>
                            <a:schemeClr val="dk1"/>
                          </a:solidFill>
                          <a:effectLst/>
                          <a:latin typeface="Times New Roman"/>
                          <a:ea typeface="宋体"/>
                          <a:cs typeface="+mn-cs"/>
                        </a:rPr>
                        <a:t>If received the wrong CAN data then counter +1</a:t>
                      </a:r>
                      <a:endParaRPr lang="zh-CN" sz="1100" kern="100" dirty="0">
                        <a:solidFill>
                          <a:schemeClr val="dk1"/>
                        </a:solidFill>
                        <a:effectLst/>
                        <a:latin typeface="Times New Roman"/>
                        <a:ea typeface="宋体"/>
                        <a:cs typeface="+mn-cs"/>
                      </a:endParaRPr>
                    </a:p>
                  </a:txBody>
                  <a:tcPr marL="68580" marR="68580" marT="0" marB="0" anchor="ctr" anchorCtr="1"/>
                </a:tc>
              </a:tr>
              <a:tr h="240030">
                <a:tc>
                  <a:txBody>
                    <a:bodyPr/>
                    <a:lstStyle/>
                    <a:p>
                      <a:pPr algn="l" fontAlgn="b"/>
                      <a:r>
                        <a:rPr lang="en-US" sz="1200" b="0" i="0" u="none" strike="noStrike">
                          <a:solidFill>
                            <a:srgbClr val="000000"/>
                          </a:solidFill>
                          <a:effectLst/>
                          <a:latin typeface="Calibri"/>
                        </a:rPr>
                        <a:t>AS008</a:t>
                      </a:r>
                    </a:p>
                  </a:txBody>
                  <a:tcPr marL="9525" marR="9525" marT="7144" marB="0" anchor="ctr" anchorCtr="1"/>
                </a:tc>
                <a:tc>
                  <a:txBody>
                    <a:bodyPr/>
                    <a:lstStyle/>
                    <a:p>
                      <a:pPr algn="l" fontAlgn="b"/>
                      <a:r>
                        <a:rPr lang="en-US" sz="1200" b="0" i="0" u="none" strike="noStrike" dirty="0">
                          <a:solidFill>
                            <a:srgbClr val="000000"/>
                          </a:solidFill>
                          <a:effectLst/>
                          <a:latin typeface="Calibri"/>
                        </a:rPr>
                        <a:t>B1 </a:t>
                      </a:r>
                      <a:r>
                        <a:rPr lang="en-US" sz="1200" b="0" i="0" u="none" strike="noStrike" dirty="0" err="1">
                          <a:solidFill>
                            <a:srgbClr val="000000"/>
                          </a:solidFill>
                          <a:effectLst/>
                          <a:latin typeface="Calibri"/>
                        </a:rPr>
                        <a:t>Gain_Code_SET</a:t>
                      </a:r>
                      <a:endParaRPr lang="en-US" sz="1200" b="0" i="0" u="none" strike="noStrike" dirty="0">
                        <a:solidFill>
                          <a:srgbClr val="000000"/>
                        </a:solidFill>
                        <a:effectLst/>
                        <a:latin typeface="Calibri"/>
                      </a:endParaRPr>
                    </a:p>
                  </a:txBody>
                  <a:tcPr marL="9525" marR="9525" marT="7144" marB="0" anchor="ctr" anchorCtr="1"/>
                </a:tc>
                <a:tc>
                  <a:txBody>
                    <a:bodyPr/>
                    <a:lstStyle/>
                    <a:p>
                      <a:pPr marL="0" algn="just" defTabSz="914400" rtl="0" eaLnBrk="1" latinLnBrk="0" hangingPunct="1">
                        <a:lnSpc>
                          <a:spcPct val="150000"/>
                        </a:lnSpc>
                        <a:spcAft>
                          <a:spcPts val="0"/>
                        </a:spcAft>
                      </a:pPr>
                      <a:r>
                        <a:rPr lang="en-US" altLang="zh-CN" sz="1100" kern="100" dirty="0" smtClean="0">
                          <a:solidFill>
                            <a:schemeClr val="dk1"/>
                          </a:solidFill>
                          <a:effectLst/>
                          <a:latin typeface="Times New Roman"/>
                          <a:ea typeface="宋体"/>
                          <a:cs typeface="+mn-cs"/>
                        </a:rPr>
                        <a:t>0~1FF</a:t>
                      </a:r>
                      <a:endParaRPr lang="zh-CN" sz="1100" kern="100" dirty="0">
                        <a:solidFill>
                          <a:schemeClr val="dk1"/>
                        </a:solidFill>
                        <a:effectLst/>
                        <a:latin typeface="Times New Roman"/>
                        <a:ea typeface="宋体"/>
                        <a:cs typeface="+mn-cs"/>
                      </a:endParaRPr>
                    </a:p>
                  </a:txBody>
                  <a:tcPr marL="68580" marR="68580" marT="0" marB="0" anchor="ctr" anchorCtr="1"/>
                </a:tc>
              </a:tr>
              <a:tr h="240030">
                <a:tc>
                  <a:txBody>
                    <a:bodyPr/>
                    <a:lstStyle/>
                    <a:p>
                      <a:pPr algn="l" fontAlgn="b"/>
                      <a:r>
                        <a:rPr lang="en-US" sz="1200" b="0" i="0" u="none" strike="noStrike">
                          <a:solidFill>
                            <a:srgbClr val="000000"/>
                          </a:solidFill>
                          <a:effectLst/>
                          <a:latin typeface="Calibri"/>
                        </a:rPr>
                        <a:t>AS009</a:t>
                      </a:r>
                    </a:p>
                  </a:txBody>
                  <a:tcPr marL="9525" marR="9525" marT="7144" marB="0" anchor="ctr" anchorCtr="1"/>
                </a:tc>
                <a:tc>
                  <a:txBody>
                    <a:bodyPr/>
                    <a:lstStyle/>
                    <a:p>
                      <a:pPr algn="l" fontAlgn="b"/>
                      <a:r>
                        <a:rPr lang="en-US" sz="1200" b="0" i="0" u="none" strike="noStrike" dirty="0">
                          <a:solidFill>
                            <a:srgbClr val="000000"/>
                          </a:solidFill>
                          <a:effectLst/>
                          <a:latin typeface="Calibri"/>
                        </a:rPr>
                        <a:t>B2 </a:t>
                      </a:r>
                      <a:r>
                        <a:rPr lang="en-US" sz="1200" b="0" i="0" u="none" strike="noStrike" dirty="0" err="1">
                          <a:solidFill>
                            <a:srgbClr val="000000"/>
                          </a:solidFill>
                          <a:effectLst/>
                          <a:latin typeface="Calibri"/>
                        </a:rPr>
                        <a:t>Gain_Code_SET</a:t>
                      </a:r>
                      <a:endParaRPr lang="en-US" sz="1200" b="0" i="0" u="none" strike="noStrike" dirty="0">
                        <a:solidFill>
                          <a:srgbClr val="000000"/>
                        </a:solidFill>
                        <a:effectLst/>
                        <a:latin typeface="Calibri"/>
                      </a:endParaRPr>
                    </a:p>
                  </a:txBody>
                  <a:tcPr marL="9525" marR="9525" marT="7144" marB="0" anchor="ctr" anchorCtr="1"/>
                </a:tc>
                <a:tc>
                  <a:txBody>
                    <a:bodyPr/>
                    <a:lstStyle/>
                    <a:p>
                      <a:pPr marL="0" algn="just" defTabSz="914400" rtl="0" eaLnBrk="1" latinLnBrk="0" hangingPunct="1">
                        <a:lnSpc>
                          <a:spcPct val="150000"/>
                        </a:lnSpc>
                        <a:spcAft>
                          <a:spcPts val="0"/>
                        </a:spcAft>
                      </a:pPr>
                      <a:r>
                        <a:rPr lang="en-US" altLang="zh-CN" sz="1100" kern="100" smtClean="0">
                          <a:solidFill>
                            <a:schemeClr val="dk1"/>
                          </a:solidFill>
                          <a:effectLst/>
                          <a:latin typeface="Times New Roman"/>
                          <a:ea typeface="宋体"/>
                          <a:cs typeface="+mn-cs"/>
                        </a:rPr>
                        <a:t>0~1FF</a:t>
                      </a:r>
                      <a:endParaRPr lang="zh-CN" sz="1100" kern="100" dirty="0">
                        <a:solidFill>
                          <a:schemeClr val="dk1"/>
                        </a:solidFill>
                        <a:effectLst/>
                        <a:latin typeface="Times New Roman"/>
                        <a:ea typeface="宋体"/>
                        <a:cs typeface="+mn-cs"/>
                      </a:endParaRPr>
                    </a:p>
                  </a:txBody>
                  <a:tcPr marL="68580" marR="68580" marT="0" marB="0" anchor="ctr" anchorCtr="1"/>
                </a:tc>
              </a:tr>
              <a:tr h="240030">
                <a:tc>
                  <a:txBody>
                    <a:bodyPr/>
                    <a:lstStyle/>
                    <a:p>
                      <a:pPr algn="l" fontAlgn="b"/>
                      <a:r>
                        <a:rPr lang="en-US" sz="1200" b="0" i="0" u="none" strike="noStrike">
                          <a:solidFill>
                            <a:srgbClr val="000000"/>
                          </a:solidFill>
                          <a:effectLst/>
                          <a:latin typeface="Calibri"/>
                        </a:rPr>
                        <a:t>AS010</a:t>
                      </a:r>
                    </a:p>
                  </a:txBody>
                  <a:tcPr marL="9525" marR="9525" marT="7144" marB="0" anchor="ctr" anchorCtr="1"/>
                </a:tc>
                <a:tc>
                  <a:txBody>
                    <a:bodyPr/>
                    <a:lstStyle/>
                    <a:p>
                      <a:pPr algn="l" fontAlgn="b"/>
                      <a:r>
                        <a:rPr lang="en-US" sz="1200" b="0" i="0" u="none" strike="noStrike">
                          <a:solidFill>
                            <a:srgbClr val="000000"/>
                          </a:solidFill>
                          <a:effectLst/>
                          <a:latin typeface="Calibri"/>
                        </a:rPr>
                        <a:t>B3 Gain_Code_SET</a:t>
                      </a:r>
                    </a:p>
                  </a:txBody>
                  <a:tcPr marL="9525" marR="9525" marT="7144" marB="0" anchor="ctr" anchorCtr="1"/>
                </a:tc>
                <a:tc>
                  <a:txBody>
                    <a:bodyPr/>
                    <a:lstStyle/>
                    <a:p>
                      <a:pPr marL="0" algn="just" defTabSz="914400" rtl="0" eaLnBrk="1" latinLnBrk="0" hangingPunct="1">
                        <a:lnSpc>
                          <a:spcPct val="150000"/>
                        </a:lnSpc>
                        <a:spcAft>
                          <a:spcPts val="0"/>
                        </a:spcAft>
                      </a:pPr>
                      <a:r>
                        <a:rPr lang="en-US" altLang="zh-CN" sz="1100" kern="100" smtClean="0">
                          <a:solidFill>
                            <a:schemeClr val="dk1"/>
                          </a:solidFill>
                          <a:effectLst/>
                          <a:latin typeface="Times New Roman"/>
                          <a:ea typeface="宋体"/>
                          <a:cs typeface="+mn-cs"/>
                        </a:rPr>
                        <a:t>0~1FF</a:t>
                      </a:r>
                      <a:endParaRPr lang="zh-CN" sz="1100" kern="100" dirty="0">
                        <a:solidFill>
                          <a:schemeClr val="dk1"/>
                        </a:solidFill>
                        <a:effectLst/>
                        <a:latin typeface="Times New Roman"/>
                        <a:ea typeface="宋体"/>
                        <a:cs typeface="+mn-cs"/>
                      </a:endParaRPr>
                    </a:p>
                  </a:txBody>
                  <a:tcPr marL="68580" marR="68580" marT="0" marB="0" anchor="ctr" anchorCtr="1"/>
                </a:tc>
              </a:tr>
              <a:tr h="240030">
                <a:tc>
                  <a:txBody>
                    <a:bodyPr/>
                    <a:lstStyle/>
                    <a:p>
                      <a:pPr algn="l" fontAlgn="b"/>
                      <a:r>
                        <a:rPr lang="en-US" sz="1200" b="0" i="0" u="none" strike="noStrike" dirty="0">
                          <a:solidFill>
                            <a:srgbClr val="000000"/>
                          </a:solidFill>
                          <a:effectLst/>
                          <a:latin typeface="Calibri"/>
                        </a:rPr>
                        <a:t>AS011</a:t>
                      </a:r>
                    </a:p>
                  </a:txBody>
                  <a:tcPr marL="9525" marR="9525" marT="7144" marB="0" anchor="ctr" anchorCtr="1"/>
                </a:tc>
                <a:tc>
                  <a:txBody>
                    <a:bodyPr/>
                    <a:lstStyle/>
                    <a:p>
                      <a:pPr algn="l" fontAlgn="b"/>
                      <a:r>
                        <a:rPr lang="en-US" sz="1200" b="0" i="0" u="none" strike="noStrike" dirty="0">
                          <a:solidFill>
                            <a:srgbClr val="000000"/>
                          </a:solidFill>
                          <a:effectLst/>
                          <a:latin typeface="Calibri"/>
                        </a:rPr>
                        <a:t>B4 </a:t>
                      </a:r>
                      <a:r>
                        <a:rPr lang="en-US" sz="1200" b="0" i="0" u="none" strike="noStrike" dirty="0" err="1">
                          <a:solidFill>
                            <a:srgbClr val="000000"/>
                          </a:solidFill>
                          <a:effectLst/>
                          <a:latin typeface="Calibri"/>
                        </a:rPr>
                        <a:t>Gain_Code_SET</a:t>
                      </a:r>
                      <a:endParaRPr lang="en-US" sz="1200" b="0" i="0" u="none" strike="noStrike" dirty="0">
                        <a:solidFill>
                          <a:srgbClr val="000000"/>
                        </a:solidFill>
                        <a:effectLst/>
                        <a:latin typeface="Calibri"/>
                      </a:endParaRPr>
                    </a:p>
                  </a:txBody>
                  <a:tcPr marL="9525" marR="9525" marT="7144" marB="0" anchor="ctr" anchorCtr="1"/>
                </a:tc>
                <a:tc>
                  <a:txBody>
                    <a:bodyPr/>
                    <a:lstStyle/>
                    <a:p>
                      <a:pPr marL="0" algn="just" defTabSz="914400" rtl="0" eaLnBrk="1" latinLnBrk="0" hangingPunct="1">
                        <a:lnSpc>
                          <a:spcPct val="150000"/>
                        </a:lnSpc>
                        <a:spcAft>
                          <a:spcPts val="0"/>
                        </a:spcAft>
                      </a:pPr>
                      <a:r>
                        <a:rPr lang="en-US" altLang="zh-CN" sz="1100" kern="100" dirty="0" smtClean="0">
                          <a:solidFill>
                            <a:schemeClr val="dk1"/>
                          </a:solidFill>
                          <a:effectLst/>
                          <a:latin typeface="Times New Roman"/>
                          <a:ea typeface="宋体"/>
                          <a:cs typeface="+mn-cs"/>
                        </a:rPr>
                        <a:t>0~1FF</a:t>
                      </a:r>
                      <a:endParaRPr lang="zh-CN" sz="1100" kern="100" dirty="0">
                        <a:solidFill>
                          <a:schemeClr val="dk1"/>
                        </a:solidFill>
                        <a:effectLst/>
                        <a:latin typeface="Times New Roman"/>
                        <a:ea typeface="宋体"/>
                        <a:cs typeface="+mn-cs"/>
                      </a:endParaRPr>
                    </a:p>
                  </a:txBody>
                  <a:tcPr marL="68580" marR="68580" marT="0" marB="0" anchor="ctr" anchorCtr="1"/>
                </a:tc>
              </a:tr>
            </a:tbl>
          </a:graphicData>
        </a:graphic>
      </p:graphicFrame>
    </p:spTree>
    <p:extLst>
      <p:ext uri="{BB962C8B-B14F-4D97-AF65-F5344CB8AC3E}">
        <p14:creationId xmlns:p14="http://schemas.microsoft.com/office/powerpoint/2010/main" val="11896590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2"/>
          <p:cNvSpPr>
            <a:spLocks noGrp="1"/>
          </p:cNvSpPr>
          <p:nvPr>
            <p:ph idx="4294967295"/>
          </p:nvPr>
        </p:nvSpPr>
        <p:spPr>
          <a:xfrm>
            <a:off x="467544" y="735546"/>
            <a:ext cx="8280400" cy="1133475"/>
          </a:xfrm>
        </p:spPr>
        <p:txBody>
          <a:bodyPr>
            <a:normAutofit fontScale="92500" lnSpcReduction="10000"/>
          </a:bodyPr>
          <a:lstStyle/>
          <a:p>
            <a:pPr eaLnBrk="1" hangingPunct="1"/>
            <a:r>
              <a:rPr lang="en-US" altLang="zh-CN" sz="2600" dirty="0" smtClean="0">
                <a:latin typeface="Arial" panose="020B0604020202020204" pitchFamily="34" charset="0"/>
                <a:cs typeface="Arial" panose="020B0604020202020204" pitchFamily="34" charset="0"/>
              </a:rPr>
              <a:t>MC</a:t>
            </a:r>
          </a:p>
          <a:p>
            <a:pPr lvl="1" eaLnBrk="1" hangingPunct="1"/>
            <a:r>
              <a:rPr lang="en-US" altLang="zh-CN" sz="2600" dirty="0" smtClean="0">
                <a:solidFill>
                  <a:srgbClr val="FF0000"/>
                </a:solidFill>
                <a:latin typeface="Arial" panose="020B0604020202020204" pitchFamily="34" charset="0"/>
                <a:cs typeface="Arial" panose="020B0604020202020204" pitchFamily="34" charset="0"/>
              </a:rPr>
              <a:t>Fast TM </a:t>
            </a:r>
            <a:r>
              <a:rPr lang="en-US" altLang="zh-CN" sz="2600" dirty="0" smtClean="0">
                <a:latin typeface="Arial" panose="020B0604020202020204" pitchFamily="34" charset="0"/>
                <a:cs typeface="Arial" panose="020B0604020202020204" pitchFamily="34" charset="0"/>
              </a:rPr>
              <a:t>(</a:t>
            </a:r>
            <a:r>
              <a:rPr lang="en-US" altLang="zh-CN" sz="2600" dirty="0" smtClean="0">
                <a:solidFill>
                  <a:srgbClr val="FF0000"/>
                </a:solidFill>
                <a:latin typeface="Arial" panose="020B0604020202020204" pitchFamily="34" charset="0"/>
                <a:cs typeface="Arial" panose="020B0604020202020204" pitchFamily="34" charset="0"/>
              </a:rPr>
              <a:t>2s period</a:t>
            </a:r>
            <a:r>
              <a:rPr lang="en-US" altLang="zh-CN" sz="2600" dirty="0" smtClean="0">
                <a:latin typeface="Arial" panose="020B0604020202020204" pitchFamily="34" charset="0"/>
                <a:cs typeface="Arial" panose="020B0604020202020204" pitchFamily="34" charset="0"/>
              </a:rPr>
              <a:t>):</a:t>
            </a:r>
          </a:p>
        </p:txBody>
      </p:sp>
      <p:sp>
        <p:nvSpPr>
          <p:cNvPr id="18435" name="标题 3"/>
          <p:cNvSpPr>
            <a:spLocks noGrp="1" noChangeArrowheads="1"/>
          </p:cNvSpPr>
          <p:nvPr>
            <p:ph type="title" idx="4294967295"/>
          </p:nvPr>
        </p:nvSpPr>
        <p:spPr>
          <a:xfrm>
            <a:off x="179513" y="210335"/>
            <a:ext cx="8696325" cy="661720"/>
          </a:xfrm>
        </p:spPr>
        <p:txBody>
          <a:bodyPr>
            <a:spAutoFit/>
          </a:bodyPr>
          <a:lstStyle/>
          <a:p>
            <a:pPr eaLnBrk="1" hangingPunct="1"/>
            <a:r>
              <a:rPr lang="en-US" altLang="zh-CN" sz="3700" dirty="0">
                <a:latin typeface="Arial" panose="020B0604020202020204" pitchFamily="34" charset="0"/>
                <a:cs typeface="Arial" panose="020B0604020202020204" pitchFamily="34" charset="0"/>
              </a:rPr>
              <a:t>Telemetry</a:t>
            </a:r>
            <a:endParaRPr lang="zh-CN" altLang="en-US" sz="3700" dirty="0">
              <a:latin typeface="Arial" panose="020B0604020202020204" pitchFamily="34" charset="0"/>
              <a:cs typeface="Arial" panose="020B0604020202020204" pitchFamily="34"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1839681178"/>
              </p:ext>
            </p:extLst>
          </p:nvPr>
        </p:nvGraphicFramePr>
        <p:xfrm>
          <a:off x="611560" y="1977684"/>
          <a:ext cx="8064896" cy="2453164"/>
        </p:xfrm>
        <a:graphic>
          <a:graphicData uri="http://schemas.openxmlformats.org/drawingml/2006/table">
            <a:tbl>
              <a:tblPr firstRow="1" firstCol="1" bandRow="1" bandCol="1">
                <a:tableStyleId>{5C22544A-7EE6-4342-B048-85BDC9FD1C3A}</a:tableStyleId>
              </a:tblPr>
              <a:tblGrid>
                <a:gridCol w="1008112"/>
                <a:gridCol w="2808312"/>
                <a:gridCol w="4248472"/>
              </a:tblGrid>
              <a:tr h="342900">
                <a:tc>
                  <a:txBody>
                    <a:bodyPr/>
                    <a:lstStyle/>
                    <a:p>
                      <a:pPr marR="635" algn="ctr">
                        <a:lnSpc>
                          <a:spcPct val="150000"/>
                        </a:lnSpc>
                        <a:spcAft>
                          <a:spcPts val="0"/>
                        </a:spcAft>
                      </a:pPr>
                      <a:r>
                        <a:rPr lang="en-US" sz="1500" b="1" kern="100" cap="all" dirty="0" smtClean="0">
                          <a:effectLst/>
                          <a:latin typeface="Times New Roman"/>
                          <a:ea typeface="黑体"/>
                          <a:cs typeface="Times New Roman"/>
                        </a:rPr>
                        <a:t>code </a:t>
                      </a:r>
                      <a:endParaRPr lang="zh-CN" sz="1500" kern="100" dirty="0">
                        <a:effectLst/>
                        <a:latin typeface="Times New Roman"/>
                        <a:ea typeface="宋体"/>
                        <a:cs typeface="Times New Roman"/>
                      </a:endParaRPr>
                    </a:p>
                  </a:txBody>
                  <a:tcPr marL="68580" marR="68580" marT="0" marB="0" anchor="ctr" anchorCtr="1"/>
                </a:tc>
                <a:tc>
                  <a:txBody>
                    <a:bodyPr/>
                    <a:lstStyle/>
                    <a:p>
                      <a:pPr marR="635" algn="ctr">
                        <a:lnSpc>
                          <a:spcPct val="150000"/>
                        </a:lnSpc>
                        <a:spcAft>
                          <a:spcPts val="0"/>
                        </a:spcAft>
                      </a:pPr>
                      <a:r>
                        <a:rPr lang="en-US" sz="1500" b="1" kern="100" cap="all">
                          <a:effectLst/>
                          <a:latin typeface="Times New Roman"/>
                          <a:ea typeface="黑体"/>
                          <a:cs typeface="Times New Roman"/>
                        </a:rPr>
                        <a:t>Parameters name </a:t>
                      </a:r>
                      <a:endParaRPr lang="zh-CN" sz="1500" kern="100">
                        <a:effectLst/>
                        <a:latin typeface="Times New Roman"/>
                        <a:ea typeface="宋体"/>
                        <a:cs typeface="Times New Roman"/>
                      </a:endParaRPr>
                    </a:p>
                  </a:txBody>
                  <a:tcPr marL="68580" marR="68580" marT="0" marB="0" anchor="ctr" anchorCtr="1"/>
                </a:tc>
                <a:tc>
                  <a:txBody>
                    <a:bodyPr/>
                    <a:lstStyle/>
                    <a:p>
                      <a:pPr algn="ctr">
                        <a:spcAft>
                          <a:spcPts val="0"/>
                        </a:spcAft>
                      </a:pPr>
                      <a:r>
                        <a:rPr lang="en-US" sz="1500" b="1" kern="100" cap="all" dirty="0">
                          <a:effectLst/>
                          <a:latin typeface="Times New Roman"/>
                          <a:ea typeface="黑体"/>
                          <a:cs typeface="Times New Roman"/>
                        </a:rPr>
                        <a:t>normal range </a:t>
                      </a:r>
                      <a:endParaRPr lang="zh-CN" sz="1500" kern="100" dirty="0">
                        <a:effectLst/>
                        <a:latin typeface="Times New Roman"/>
                        <a:ea typeface="宋体"/>
                        <a:cs typeface="Times New Roman"/>
                      </a:endParaRPr>
                    </a:p>
                  </a:txBody>
                  <a:tcPr marL="68580" marR="68580" marT="0" marB="0" anchor="ctr" anchorCtr="1"/>
                </a:tc>
              </a:tr>
              <a:tr h="190024">
                <a:tc>
                  <a:txBody>
                    <a:bodyPr/>
                    <a:lstStyle/>
                    <a:p>
                      <a:pPr algn="l" fontAlgn="b"/>
                      <a:r>
                        <a:rPr lang="en-US" sz="1200" b="0" i="0" u="none" strike="noStrike" dirty="0">
                          <a:solidFill>
                            <a:srgbClr val="000000"/>
                          </a:solidFill>
                          <a:effectLst/>
                          <a:latin typeface="Calibri"/>
                        </a:rPr>
                        <a:t>AS013</a:t>
                      </a:r>
                    </a:p>
                  </a:txBody>
                  <a:tcPr marL="9525" marR="9525" marT="7144" marB="0" anchor="ctr" anchorCtr="1"/>
                </a:tc>
                <a:tc>
                  <a:txBody>
                    <a:bodyPr/>
                    <a:lstStyle/>
                    <a:p>
                      <a:pPr algn="l" fontAlgn="b"/>
                      <a:r>
                        <a:rPr lang="en-US" sz="1100" b="0" i="0" u="none" strike="noStrike" dirty="0" err="1">
                          <a:solidFill>
                            <a:srgbClr val="000000"/>
                          </a:solidFill>
                          <a:effectLst/>
                          <a:latin typeface="Times New Roman"/>
                        </a:rPr>
                        <a:t>Algorithm_ENABLE</a:t>
                      </a:r>
                      <a:r>
                        <a:rPr lang="en-US" sz="1100" b="0" i="0" u="none" strike="noStrike" dirty="0">
                          <a:solidFill>
                            <a:srgbClr val="000000"/>
                          </a:solidFill>
                          <a:effectLst/>
                          <a:latin typeface="Times New Roman"/>
                        </a:rPr>
                        <a:t> </a:t>
                      </a:r>
                    </a:p>
                  </a:txBody>
                  <a:tcPr marL="9525" marR="9525" marT="7144" marB="0" anchor="ctr" anchorCtr="1"/>
                </a:tc>
                <a:tc>
                  <a:txBody>
                    <a:bodyPr/>
                    <a:lstStyle/>
                    <a:p>
                      <a:pPr marL="0" algn="l" defTabSz="914400" rtl="0" eaLnBrk="1" fontAlgn="b" latinLnBrk="0" hangingPunct="1"/>
                      <a:r>
                        <a:rPr lang="en-US" altLang="zh-CN" sz="1200" b="0" i="0" u="none" strike="noStrike" kern="1200" dirty="0" smtClean="0">
                          <a:solidFill>
                            <a:srgbClr val="000000"/>
                          </a:solidFill>
                          <a:effectLst/>
                          <a:latin typeface="Calibri"/>
                          <a:ea typeface="+mn-ea"/>
                          <a:cs typeface="+mn-cs"/>
                        </a:rPr>
                        <a:t>on</a:t>
                      </a:r>
                      <a:r>
                        <a:rPr lang="zh-CN" altLang="zh-CN" sz="1200" b="0" i="0" u="none" strike="noStrike" kern="1200" dirty="0" smtClean="0">
                          <a:solidFill>
                            <a:srgbClr val="000000"/>
                          </a:solidFill>
                          <a:effectLst/>
                          <a:latin typeface="Calibri"/>
                          <a:ea typeface="+mn-ea"/>
                          <a:cs typeface="+mn-cs"/>
                        </a:rPr>
                        <a:t>：</a:t>
                      </a:r>
                      <a:r>
                        <a:rPr lang="en-US" altLang="zh-CN" sz="1200" b="0" i="0" u="none" strike="noStrike" kern="1200" dirty="0" smtClean="0">
                          <a:solidFill>
                            <a:srgbClr val="000000"/>
                          </a:solidFill>
                          <a:effectLst/>
                          <a:latin typeface="Calibri"/>
                          <a:ea typeface="+mn-ea"/>
                          <a:cs typeface="+mn-cs"/>
                        </a:rPr>
                        <a:t>01  off</a:t>
                      </a:r>
                      <a:r>
                        <a:rPr lang="zh-CN" altLang="zh-CN" sz="1200" b="0" i="0" u="none" strike="noStrike" kern="1200" dirty="0" smtClean="0">
                          <a:solidFill>
                            <a:srgbClr val="000000"/>
                          </a:solidFill>
                          <a:effectLst/>
                          <a:latin typeface="Calibri"/>
                          <a:ea typeface="+mn-ea"/>
                          <a:cs typeface="+mn-cs"/>
                        </a:rPr>
                        <a:t>：</a:t>
                      </a:r>
                      <a:r>
                        <a:rPr lang="en-US" altLang="zh-CN" sz="1200" b="0" i="0" u="none" strike="noStrike" kern="1200" dirty="0" smtClean="0">
                          <a:solidFill>
                            <a:srgbClr val="000000"/>
                          </a:solidFill>
                          <a:effectLst/>
                          <a:latin typeface="Calibri"/>
                          <a:ea typeface="+mn-ea"/>
                          <a:cs typeface="+mn-cs"/>
                        </a:rPr>
                        <a:t>10</a:t>
                      </a:r>
                      <a:endParaRPr lang="zh-CN" sz="1200" b="0" i="0" u="none" strike="noStrike" kern="1200" dirty="0">
                        <a:solidFill>
                          <a:srgbClr val="000000"/>
                        </a:solidFill>
                        <a:effectLst/>
                        <a:latin typeface="Calibri"/>
                        <a:ea typeface="+mn-ea"/>
                        <a:cs typeface="+mn-cs"/>
                      </a:endParaRPr>
                    </a:p>
                  </a:txBody>
                  <a:tcPr marL="68580" marR="68580" marT="0" marB="0" anchor="ctr" anchorCtr="1"/>
                </a:tc>
              </a:tr>
              <a:tr h="274320">
                <a:tc>
                  <a:txBody>
                    <a:bodyPr/>
                    <a:lstStyle/>
                    <a:p>
                      <a:pPr algn="l" fontAlgn="b"/>
                      <a:r>
                        <a:rPr lang="en-US" sz="1200" b="0" i="0" u="none" strike="noStrike">
                          <a:solidFill>
                            <a:srgbClr val="000000"/>
                          </a:solidFill>
                          <a:effectLst/>
                          <a:latin typeface="Calibri"/>
                        </a:rPr>
                        <a:t>AS014</a:t>
                      </a:r>
                    </a:p>
                  </a:txBody>
                  <a:tcPr marL="9525" marR="9525" marT="7144" marB="0" anchor="ctr" anchorCtr="1"/>
                </a:tc>
                <a:tc>
                  <a:txBody>
                    <a:bodyPr/>
                    <a:lstStyle/>
                    <a:p>
                      <a:pPr algn="l" fontAlgn="b"/>
                      <a:r>
                        <a:rPr lang="en-US" sz="1100" b="0" i="0" u="none" strike="noStrike" dirty="0">
                          <a:solidFill>
                            <a:srgbClr val="000000"/>
                          </a:solidFill>
                          <a:effectLst/>
                          <a:latin typeface="Times New Roman"/>
                        </a:rPr>
                        <a:t>MC </a:t>
                      </a:r>
                      <a:r>
                        <a:rPr lang="en-US" sz="1100" b="0" i="0" u="none" strike="noStrike" dirty="0" err="1">
                          <a:solidFill>
                            <a:srgbClr val="000000"/>
                          </a:solidFill>
                          <a:effectLst/>
                          <a:latin typeface="Times New Roman"/>
                        </a:rPr>
                        <a:t>Integration_Time_STATUS</a:t>
                      </a:r>
                      <a:endParaRPr lang="en-US" sz="1100" b="0" i="0" u="none" strike="noStrike" dirty="0">
                        <a:solidFill>
                          <a:srgbClr val="000000"/>
                        </a:solidFill>
                        <a:effectLst/>
                        <a:latin typeface="Times New Roman"/>
                      </a:endParaRPr>
                    </a:p>
                  </a:txBody>
                  <a:tcPr marL="9525" marR="9525" marT="7144" marB="0" anchor="ctr" anchorCtr="1"/>
                </a:tc>
                <a:tc>
                  <a:txBody>
                    <a:bodyPr/>
                    <a:lstStyle/>
                    <a:p>
                      <a:pPr marL="0" algn="l" defTabSz="914400" rtl="0" eaLnBrk="1" fontAlgn="b" latinLnBrk="0" hangingPunct="1">
                        <a:lnSpc>
                          <a:spcPct val="150000"/>
                        </a:lnSpc>
                      </a:pPr>
                      <a:r>
                        <a:rPr lang="en-US" altLang="zh-CN" sz="1200" b="0" i="0" u="none" strike="noStrike" kern="1200" dirty="0" smtClean="0">
                          <a:solidFill>
                            <a:srgbClr val="000000"/>
                          </a:solidFill>
                          <a:effectLst/>
                          <a:latin typeface="Calibri"/>
                          <a:ea typeface="+mn-ea"/>
                          <a:cs typeface="+mn-cs"/>
                        </a:rPr>
                        <a:t>01~0AH</a:t>
                      </a:r>
                      <a:endParaRPr lang="zh-CN" sz="1200" b="0" i="0" u="none" strike="noStrike" kern="1200" dirty="0">
                        <a:solidFill>
                          <a:srgbClr val="000000"/>
                        </a:solidFill>
                        <a:effectLst/>
                        <a:latin typeface="Calibri"/>
                        <a:ea typeface="+mn-ea"/>
                        <a:cs typeface="+mn-cs"/>
                      </a:endParaRPr>
                    </a:p>
                  </a:txBody>
                  <a:tcPr marL="68580" marR="68580" marT="0" marB="0" anchor="ctr" anchorCtr="1"/>
                </a:tc>
              </a:tr>
              <a:tr h="274320">
                <a:tc>
                  <a:txBody>
                    <a:bodyPr/>
                    <a:lstStyle/>
                    <a:p>
                      <a:pPr algn="l" fontAlgn="b"/>
                      <a:r>
                        <a:rPr lang="en-US" sz="1200" b="0" i="0" u="none" strike="noStrike">
                          <a:solidFill>
                            <a:srgbClr val="000000"/>
                          </a:solidFill>
                          <a:effectLst/>
                          <a:latin typeface="Calibri"/>
                        </a:rPr>
                        <a:t>AS015</a:t>
                      </a:r>
                    </a:p>
                  </a:txBody>
                  <a:tcPr marL="9525" marR="9525" marT="7144" marB="0" anchor="ctr" anchorCtr="1"/>
                </a:tc>
                <a:tc>
                  <a:txBody>
                    <a:bodyPr/>
                    <a:lstStyle/>
                    <a:p>
                      <a:pPr algn="l" fontAlgn="b"/>
                      <a:r>
                        <a:rPr lang="en-US" sz="1200" b="0" i="0" u="none" strike="noStrike" dirty="0">
                          <a:solidFill>
                            <a:srgbClr val="000000"/>
                          </a:solidFill>
                          <a:effectLst/>
                          <a:latin typeface="Calibri"/>
                        </a:rPr>
                        <a:t>MC B1 Exposure time _STATUS</a:t>
                      </a:r>
                    </a:p>
                  </a:txBody>
                  <a:tcPr marL="9525" marR="9525" marT="7144" marB="0" anchor="ctr" anchorCtr="1"/>
                </a:tc>
                <a:tc>
                  <a:txBody>
                    <a:bodyPr/>
                    <a:lstStyle/>
                    <a:p>
                      <a:pPr marL="0" algn="l" defTabSz="914400" rtl="0" eaLnBrk="1" fontAlgn="b" latinLnBrk="0" hangingPunct="1">
                        <a:lnSpc>
                          <a:spcPct val="150000"/>
                        </a:lnSpc>
                      </a:pPr>
                      <a:r>
                        <a:rPr lang="en-US" altLang="zh-CN" sz="1200" b="0" i="0" u="none" strike="noStrike" kern="1200" smtClean="0">
                          <a:solidFill>
                            <a:srgbClr val="000000"/>
                          </a:solidFill>
                          <a:effectLst/>
                          <a:latin typeface="Calibri"/>
                          <a:ea typeface="+mn-ea"/>
                          <a:cs typeface="+mn-cs"/>
                        </a:rPr>
                        <a:t>01~0BH</a:t>
                      </a:r>
                      <a:endParaRPr lang="zh-CN" sz="1200" b="0" i="0" u="none" strike="noStrike" kern="1200" dirty="0">
                        <a:solidFill>
                          <a:srgbClr val="000000"/>
                        </a:solidFill>
                        <a:effectLst/>
                        <a:latin typeface="Calibri"/>
                        <a:ea typeface="+mn-ea"/>
                        <a:cs typeface="+mn-cs"/>
                      </a:endParaRPr>
                    </a:p>
                  </a:txBody>
                  <a:tcPr marL="68580" marR="68580" marT="0" marB="0" anchor="ctr" anchorCtr="1"/>
                </a:tc>
              </a:tr>
              <a:tr h="274320">
                <a:tc>
                  <a:txBody>
                    <a:bodyPr/>
                    <a:lstStyle/>
                    <a:p>
                      <a:pPr algn="l" fontAlgn="b"/>
                      <a:r>
                        <a:rPr lang="en-US" sz="1200" b="0" i="0" u="none" strike="noStrike">
                          <a:solidFill>
                            <a:srgbClr val="000000"/>
                          </a:solidFill>
                          <a:effectLst/>
                          <a:latin typeface="Calibri"/>
                        </a:rPr>
                        <a:t>AS016</a:t>
                      </a:r>
                    </a:p>
                  </a:txBody>
                  <a:tcPr marL="9525" marR="9525" marT="7144" marB="0" anchor="ctr" anchorCtr="1"/>
                </a:tc>
                <a:tc>
                  <a:txBody>
                    <a:bodyPr/>
                    <a:lstStyle/>
                    <a:p>
                      <a:pPr algn="l" fontAlgn="b"/>
                      <a:r>
                        <a:rPr lang="en-US" sz="1200" b="0" i="0" u="none" strike="noStrike" dirty="0">
                          <a:solidFill>
                            <a:srgbClr val="000000"/>
                          </a:solidFill>
                          <a:effectLst/>
                          <a:latin typeface="Calibri"/>
                        </a:rPr>
                        <a:t>MC B2 Exposure time _STATUS</a:t>
                      </a:r>
                    </a:p>
                  </a:txBody>
                  <a:tcPr marL="9525" marR="9525" marT="7144" marB="0" anchor="ctr" anchorCtr="1"/>
                </a:tc>
                <a:tc>
                  <a:txBody>
                    <a:bodyPr/>
                    <a:lstStyle/>
                    <a:p>
                      <a:pPr marL="0" algn="l" defTabSz="914400" rtl="0" eaLnBrk="1" fontAlgn="b" latinLnBrk="0" hangingPunct="1">
                        <a:lnSpc>
                          <a:spcPct val="150000"/>
                        </a:lnSpc>
                      </a:pPr>
                      <a:r>
                        <a:rPr lang="en-US" altLang="zh-CN" sz="1200" b="0" i="0" u="none" strike="noStrike" kern="1200" smtClean="0">
                          <a:solidFill>
                            <a:srgbClr val="000000"/>
                          </a:solidFill>
                          <a:effectLst/>
                          <a:latin typeface="Calibri"/>
                          <a:ea typeface="+mn-ea"/>
                          <a:cs typeface="+mn-cs"/>
                        </a:rPr>
                        <a:t>01~0BH</a:t>
                      </a:r>
                      <a:endParaRPr lang="zh-CN" sz="1200" b="0" i="0" u="none" strike="noStrike" kern="1200" dirty="0">
                        <a:solidFill>
                          <a:srgbClr val="000000"/>
                        </a:solidFill>
                        <a:effectLst/>
                        <a:latin typeface="Calibri"/>
                        <a:ea typeface="+mn-ea"/>
                        <a:cs typeface="+mn-cs"/>
                      </a:endParaRPr>
                    </a:p>
                  </a:txBody>
                  <a:tcPr marL="68580" marR="68580" marT="0" marB="0" anchor="ctr" anchorCtr="1"/>
                </a:tc>
              </a:tr>
              <a:tr h="274320">
                <a:tc>
                  <a:txBody>
                    <a:bodyPr/>
                    <a:lstStyle/>
                    <a:p>
                      <a:pPr algn="l" fontAlgn="b"/>
                      <a:r>
                        <a:rPr lang="en-US" sz="1200" b="0" i="0" u="none" strike="noStrike">
                          <a:solidFill>
                            <a:srgbClr val="000000"/>
                          </a:solidFill>
                          <a:effectLst/>
                          <a:latin typeface="Calibri"/>
                        </a:rPr>
                        <a:t>AS017</a:t>
                      </a:r>
                    </a:p>
                  </a:txBody>
                  <a:tcPr marL="9525" marR="9525" marT="7144" marB="0" anchor="ctr" anchorCtr="1"/>
                </a:tc>
                <a:tc>
                  <a:txBody>
                    <a:bodyPr/>
                    <a:lstStyle/>
                    <a:p>
                      <a:pPr algn="l" fontAlgn="b"/>
                      <a:r>
                        <a:rPr lang="en-US" sz="1200" b="0" i="0" u="none" strike="noStrike" dirty="0">
                          <a:solidFill>
                            <a:srgbClr val="000000"/>
                          </a:solidFill>
                          <a:effectLst/>
                          <a:latin typeface="Calibri"/>
                        </a:rPr>
                        <a:t>MC B3 Exposure time _STATUS</a:t>
                      </a:r>
                    </a:p>
                  </a:txBody>
                  <a:tcPr marL="9525" marR="9525" marT="7144" marB="0" anchor="ctr" anchorCtr="1"/>
                </a:tc>
                <a:tc>
                  <a:txBody>
                    <a:bodyPr/>
                    <a:lstStyle/>
                    <a:p>
                      <a:pPr marL="0" algn="l" defTabSz="914400" rtl="0" eaLnBrk="1" fontAlgn="b" latinLnBrk="0" hangingPunct="1">
                        <a:lnSpc>
                          <a:spcPct val="150000"/>
                        </a:lnSpc>
                      </a:pPr>
                      <a:r>
                        <a:rPr lang="en-US" altLang="zh-CN" sz="1200" b="0" i="0" u="none" strike="noStrike" kern="1200" smtClean="0">
                          <a:solidFill>
                            <a:srgbClr val="000000"/>
                          </a:solidFill>
                          <a:effectLst/>
                          <a:latin typeface="Calibri"/>
                          <a:ea typeface="+mn-ea"/>
                          <a:cs typeface="+mn-cs"/>
                        </a:rPr>
                        <a:t>01~0BH</a:t>
                      </a:r>
                      <a:endParaRPr lang="zh-CN" sz="1200" b="0" i="0" u="none" strike="noStrike" kern="1200" dirty="0">
                        <a:solidFill>
                          <a:srgbClr val="000000"/>
                        </a:solidFill>
                        <a:effectLst/>
                        <a:latin typeface="Calibri"/>
                        <a:ea typeface="+mn-ea"/>
                        <a:cs typeface="+mn-cs"/>
                      </a:endParaRPr>
                    </a:p>
                  </a:txBody>
                  <a:tcPr marL="68580" marR="68580" marT="0" marB="0" anchor="ctr" anchorCtr="1"/>
                </a:tc>
              </a:tr>
              <a:tr h="274320">
                <a:tc>
                  <a:txBody>
                    <a:bodyPr/>
                    <a:lstStyle/>
                    <a:p>
                      <a:pPr algn="l" fontAlgn="b"/>
                      <a:r>
                        <a:rPr lang="en-US" sz="1200" b="0" i="0" u="none" strike="noStrike">
                          <a:solidFill>
                            <a:srgbClr val="000000"/>
                          </a:solidFill>
                          <a:effectLst/>
                          <a:latin typeface="Calibri"/>
                        </a:rPr>
                        <a:t>AS018</a:t>
                      </a:r>
                    </a:p>
                  </a:txBody>
                  <a:tcPr marL="9525" marR="9525" marT="7144" marB="0" anchor="ctr" anchorCtr="1"/>
                </a:tc>
                <a:tc>
                  <a:txBody>
                    <a:bodyPr/>
                    <a:lstStyle/>
                    <a:p>
                      <a:pPr algn="l" fontAlgn="b"/>
                      <a:r>
                        <a:rPr lang="en-US" sz="1200" b="0" i="0" u="none" strike="noStrike" dirty="0">
                          <a:solidFill>
                            <a:srgbClr val="000000"/>
                          </a:solidFill>
                          <a:effectLst/>
                          <a:latin typeface="Calibri"/>
                        </a:rPr>
                        <a:t>MC B4 Exposure time _STATUS</a:t>
                      </a:r>
                    </a:p>
                  </a:txBody>
                  <a:tcPr marL="9525" marR="9525" marT="7144" marB="0" anchor="ctr" anchorCtr="1"/>
                </a:tc>
                <a:tc>
                  <a:txBody>
                    <a:bodyPr/>
                    <a:lstStyle/>
                    <a:p>
                      <a:pPr marL="0" algn="l" defTabSz="914400" rtl="0" eaLnBrk="1" fontAlgn="b" latinLnBrk="0" hangingPunct="1">
                        <a:lnSpc>
                          <a:spcPct val="150000"/>
                        </a:lnSpc>
                      </a:pPr>
                      <a:r>
                        <a:rPr lang="en-US" altLang="zh-CN" sz="1200" b="0" i="0" u="none" strike="noStrike" kern="1200" dirty="0" smtClean="0">
                          <a:solidFill>
                            <a:srgbClr val="000000"/>
                          </a:solidFill>
                          <a:effectLst/>
                          <a:latin typeface="Calibri"/>
                          <a:ea typeface="+mn-ea"/>
                          <a:cs typeface="+mn-cs"/>
                        </a:rPr>
                        <a:t>01~0BH</a:t>
                      </a:r>
                      <a:endParaRPr lang="zh-CN" sz="1200" b="0" i="0" u="none" strike="noStrike" kern="1200" dirty="0">
                        <a:solidFill>
                          <a:srgbClr val="000000"/>
                        </a:solidFill>
                        <a:effectLst/>
                        <a:latin typeface="Calibri"/>
                        <a:ea typeface="+mn-ea"/>
                        <a:cs typeface="+mn-cs"/>
                      </a:endParaRPr>
                    </a:p>
                  </a:txBody>
                  <a:tcPr marL="68580" marR="68580" marT="0" marB="0" anchor="ctr" anchorCtr="1"/>
                </a:tc>
              </a:tr>
              <a:tr h="274320">
                <a:tc>
                  <a:txBody>
                    <a:bodyPr/>
                    <a:lstStyle/>
                    <a:p>
                      <a:pPr algn="l" fontAlgn="b"/>
                      <a:r>
                        <a:rPr lang="en-US" sz="1200" b="0" i="0" u="none" strike="noStrike">
                          <a:solidFill>
                            <a:srgbClr val="000000"/>
                          </a:solidFill>
                          <a:effectLst/>
                          <a:latin typeface="Calibri"/>
                        </a:rPr>
                        <a:t>AS019</a:t>
                      </a:r>
                    </a:p>
                  </a:txBody>
                  <a:tcPr marL="9525" marR="9525" marT="7144" marB="0" anchor="ctr" anchorCtr="1"/>
                </a:tc>
                <a:tc>
                  <a:txBody>
                    <a:bodyPr/>
                    <a:lstStyle/>
                    <a:p>
                      <a:pPr algn="l" fontAlgn="b"/>
                      <a:r>
                        <a:rPr lang="en-US" sz="1200" b="0" i="0" u="none" strike="noStrike" dirty="0">
                          <a:solidFill>
                            <a:srgbClr val="000000"/>
                          </a:solidFill>
                          <a:effectLst/>
                          <a:latin typeface="Calibri"/>
                        </a:rPr>
                        <a:t>MC reset CANA counter</a:t>
                      </a:r>
                    </a:p>
                  </a:txBody>
                  <a:tcPr marL="9525" marR="9525" marT="7144" marB="0" anchor="ctr" anchorCtr="1"/>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altLang="zh-CN" sz="1200" b="0" i="0" u="none" strike="noStrike" kern="1200" dirty="0" smtClean="0">
                          <a:solidFill>
                            <a:srgbClr val="000000"/>
                          </a:solidFill>
                          <a:effectLst/>
                          <a:latin typeface="Calibri"/>
                          <a:ea typeface="+mn-ea"/>
                          <a:cs typeface="+mn-cs"/>
                        </a:rPr>
                        <a:t>Counter+1</a:t>
                      </a:r>
                      <a:endParaRPr lang="zh-CN" sz="1200" b="0" i="0" u="none" strike="noStrike" kern="1200" dirty="0">
                        <a:solidFill>
                          <a:srgbClr val="000000"/>
                        </a:solidFill>
                        <a:effectLst/>
                        <a:latin typeface="Calibri"/>
                        <a:ea typeface="+mn-ea"/>
                        <a:cs typeface="+mn-cs"/>
                      </a:endParaRPr>
                    </a:p>
                  </a:txBody>
                  <a:tcPr marL="68580" marR="68580" marT="0" marB="0" anchor="ctr" anchorCtr="1"/>
                </a:tc>
              </a:tr>
              <a:tr h="274320">
                <a:tc>
                  <a:txBody>
                    <a:bodyPr/>
                    <a:lstStyle/>
                    <a:p>
                      <a:pPr algn="l" fontAlgn="b"/>
                      <a:r>
                        <a:rPr lang="en-US" sz="1200" b="0" i="0" u="none" strike="noStrike">
                          <a:solidFill>
                            <a:srgbClr val="000000"/>
                          </a:solidFill>
                          <a:effectLst/>
                          <a:latin typeface="Calibri"/>
                        </a:rPr>
                        <a:t>AS020</a:t>
                      </a:r>
                    </a:p>
                  </a:txBody>
                  <a:tcPr marL="9525" marR="9525" marT="7144" marB="0" anchor="ctr" anchorCtr="1"/>
                </a:tc>
                <a:tc>
                  <a:txBody>
                    <a:bodyPr/>
                    <a:lstStyle/>
                    <a:p>
                      <a:pPr algn="l" fontAlgn="b"/>
                      <a:r>
                        <a:rPr lang="en-US" sz="1200" b="0" i="0" u="none" strike="noStrike" dirty="0">
                          <a:solidFill>
                            <a:srgbClr val="000000"/>
                          </a:solidFill>
                          <a:effectLst/>
                          <a:latin typeface="Calibri"/>
                        </a:rPr>
                        <a:t>MC reset CANB counter</a:t>
                      </a:r>
                    </a:p>
                  </a:txBody>
                  <a:tcPr marL="9525" marR="9525" marT="7144" marB="0" anchor="ctr" anchorCtr="1"/>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altLang="zh-CN" sz="1200" b="0" i="0" u="none" strike="noStrike" kern="1200" dirty="0" smtClean="0">
                          <a:solidFill>
                            <a:srgbClr val="000000"/>
                          </a:solidFill>
                          <a:effectLst/>
                          <a:latin typeface="Calibri"/>
                          <a:ea typeface="+mn-ea"/>
                          <a:cs typeface="+mn-cs"/>
                        </a:rPr>
                        <a:t>Counter+1</a:t>
                      </a:r>
                      <a:endParaRPr lang="zh-CN" sz="1200" b="0" i="0" u="none" strike="noStrike" kern="1200" dirty="0">
                        <a:solidFill>
                          <a:srgbClr val="000000"/>
                        </a:solidFill>
                        <a:effectLst/>
                        <a:latin typeface="Calibri"/>
                        <a:ea typeface="+mn-ea"/>
                        <a:cs typeface="+mn-cs"/>
                      </a:endParaRPr>
                    </a:p>
                  </a:txBody>
                  <a:tcPr marL="68580" marR="68580" marT="0" marB="0" anchor="ctr" anchorCtr="1"/>
                </a:tc>
              </a:tr>
            </a:tbl>
          </a:graphicData>
        </a:graphic>
      </p:graphicFrame>
    </p:spTree>
    <p:extLst>
      <p:ext uri="{BB962C8B-B14F-4D97-AF65-F5344CB8AC3E}">
        <p14:creationId xmlns:p14="http://schemas.microsoft.com/office/powerpoint/2010/main" val="37273452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a:srcRect l="11902" t="10047" r="24582" b="44512"/>
          <a:stretch/>
        </p:blipFill>
        <p:spPr>
          <a:xfrm>
            <a:off x="1590080" y="1815666"/>
            <a:ext cx="6366297" cy="1921476"/>
          </a:xfrm>
          <a:prstGeom prst="rect">
            <a:avLst/>
          </a:prstGeom>
        </p:spPr>
      </p:pic>
      <p:sp>
        <p:nvSpPr>
          <p:cNvPr id="3" name="矩形 2"/>
          <p:cNvSpPr/>
          <p:nvPr/>
        </p:nvSpPr>
        <p:spPr>
          <a:xfrm>
            <a:off x="1851803" y="2564221"/>
            <a:ext cx="3528392" cy="11189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9938" name="内容占位符 2"/>
          <p:cNvSpPr>
            <a:spLocks noGrp="1"/>
          </p:cNvSpPr>
          <p:nvPr>
            <p:ph idx="4294967295"/>
          </p:nvPr>
        </p:nvSpPr>
        <p:spPr>
          <a:xfrm>
            <a:off x="35002" y="1275606"/>
            <a:ext cx="8642350" cy="3024188"/>
          </a:xfrm>
        </p:spPr>
        <p:txBody>
          <a:bodyPr>
            <a:normAutofit/>
          </a:bodyPr>
          <a:lstStyle/>
          <a:p>
            <a:pPr lvl="2">
              <a:buFont typeface="Wingdings" pitchFamily="2" charset="2"/>
              <a:buChar char="ü"/>
            </a:pPr>
            <a:r>
              <a:rPr lang="en-US" altLang="zh-CN" dirty="0" smtClean="0"/>
              <a:t>Example </a:t>
            </a:r>
          </a:p>
        </p:txBody>
      </p:sp>
      <p:sp>
        <p:nvSpPr>
          <p:cNvPr id="39939" name="标题 3"/>
          <p:cNvSpPr>
            <a:spLocks noGrp="1" noChangeArrowheads="1"/>
          </p:cNvSpPr>
          <p:nvPr>
            <p:ph type="title" idx="4294967295"/>
          </p:nvPr>
        </p:nvSpPr>
        <p:spPr>
          <a:xfrm>
            <a:off x="179513" y="210335"/>
            <a:ext cx="8696325" cy="661720"/>
          </a:xfrm>
        </p:spPr>
        <p:txBody>
          <a:bodyPr>
            <a:spAutoFit/>
          </a:bodyPr>
          <a:lstStyle/>
          <a:p>
            <a:r>
              <a:rPr lang="en-US" altLang="zh-CN" sz="3700" dirty="0">
                <a:latin typeface="Arial" panose="020B0604020202020204" pitchFamily="34" charset="0"/>
                <a:cs typeface="Arial" panose="020B0604020202020204" pitchFamily="34" charset="0"/>
              </a:rPr>
              <a:t>Telemetry</a:t>
            </a:r>
            <a:endParaRPr lang="zh-CN" altLang="en-US" sz="3700" dirty="0">
              <a:latin typeface="Arial" panose="020B0604020202020204" pitchFamily="34" charset="0"/>
              <a:cs typeface="Arial" panose="020B0604020202020204" pitchFamily="34" charset="0"/>
            </a:endParaRPr>
          </a:p>
        </p:txBody>
      </p:sp>
      <p:sp>
        <p:nvSpPr>
          <p:cNvPr id="8" name="矩形 7"/>
          <p:cNvSpPr/>
          <p:nvPr/>
        </p:nvSpPr>
        <p:spPr>
          <a:xfrm>
            <a:off x="5452203" y="1823349"/>
            <a:ext cx="2448272" cy="148174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15418787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p:cNvSpPr txBox="1">
            <a:spLocks noChangeArrowheads="1"/>
          </p:cNvSpPr>
          <p:nvPr/>
        </p:nvSpPr>
        <p:spPr>
          <a:xfrm>
            <a:off x="179513"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dirty="0" smtClean="0">
                <a:latin typeface="Arial" panose="020B0604020202020204" pitchFamily="34" charset="0"/>
                <a:cs typeface="Arial" panose="020B0604020202020204" pitchFamily="34" charset="0"/>
              </a:rPr>
              <a:t>Data block 57 byte</a:t>
            </a:r>
            <a:endParaRPr lang="zh-CN" altLang="en-US" sz="3700" dirty="0">
              <a:latin typeface="Arial" panose="020B0604020202020204" pitchFamily="34" charset="0"/>
              <a:cs typeface="Arial" panose="020B0604020202020204" pitchFamily="34" charset="0"/>
            </a:endParaRPr>
          </a:p>
        </p:txBody>
      </p:sp>
      <p:sp>
        <p:nvSpPr>
          <p:cNvPr id="6" name="内容占位符 2"/>
          <p:cNvSpPr txBox="1">
            <a:spLocks/>
          </p:cNvSpPr>
          <p:nvPr/>
        </p:nvSpPr>
        <p:spPr>
          <a:xfrm>
            <a:off x="467544" y="790145"/>
            <a:ext cx="8280400" cy="1080120"/>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dirty="0" smtClean="0">
              <a:latin typeface="Arial" panose="020B0604020202020204" pitchFamily="34" charset="0"/>
              <a:cs typeface="Arial" panose="020B0604020202020204" pitchFamily="34"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51579562"/>
              </p:ext>
            </p:extLst>
          </p:nvPr>
        </p:nvGraphicFramePr>
        <p:xfrm>
          <a:off x="457200" y="1005576"/>
          <a:ext cx="8229600" cy="3920491"/>
        </p:xfrm>
        <a:graphic>
          <a:graphicData uri="http://schemas.openxmlformats.org/drawingml/2006/table">
            <a:tbl>
              <a:tblPr>
                <a:tableStyleId>{5C22544A-7EE6-4342-B048-85BDC9FD1C3A}</a:tableStyleId>
              </a:tblPr>
              <a:tblGrid>
                <a:gridCol w="586408"/>
                <a:gridCol w="792088"/>
                <a:gridCol w="2808312"/>
                <a:gridCol w="2304256"/>
                <a:gridCol w="1738536"/>
              </a:tblGrid>
              <a:tr h="160020">
                <a:tc>
                  <a:txBody>
                    <a:bodyPr/>
                    <a:lstStyle/>
                    <a:p>
                      <a:pPr algn="just">
                        <a:spcAft>
                          <a:spcPts val="0"/>
                        </a:spcAft>
                      </a:pPr>
                      <a:r>
                        <a:rPr lang="en-US" sz="1100" kern="100" dirty="0">
                          <a:effectLst/>
                        </a:rPr>
                        <a:t>NO.</a:t>
                      </a:r>
                      <a:endParaRPr lang="zh-CN" sz="1100" kern="100" dirty="0">
                        <a:effectLst/>
                        <a:latin typeface="Times New Roman"/>
                        <a:ea typeface="宋体"/>
                      </a:endParaRPr>
                    </a:p>
                  </a:txBody>
                  <a:tcPr marL="68580" marR="68580" marT="0" marB="0" anchor="ctr"/>
                </a:tc>
                <a:tc>
                  <a:txBody>
                    <a:bodyPr/>
                    <a:lstStyle/>
                    <a:p>
                      <a:pPr algn="just">
                        <a:spcAft>
                          <a:spcPts val="0"/>
                        </a:spcAft>
                      </a:pPr>
                      <a:r>
                        <a:rPr lang="en-US" sz="1100" kern="100">
                          <a:effectLst/>
                        </a:rPr>
                        <a:t>Byte</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name</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instruction</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discrption</a:t>
                      </a:r>
                      <a:endParaRPr lang="zh-CN" sz="1100" kern="100">
                        <a:effectLst/>
                        <a:latin typeface="Times New Roman"/>
                        <a:ea typeface="宋体"/>
                      </a:endParaRPr>
                    </a:p>
                  </a:txBody>
                  <a:tcPr marL="68580" marR="68580" marT="0" marB="0" anchor="ctr"/>
                </a:tc>
              </a:tr>
              <a:tr h="320040">
                <a:tc>
                  <a:txBody>
                    <a:bodyPr/>
                    <a:lstStyle/>
                    <a:p>
                      <a:pPr marL="342900" lvl="0" indent="-342900" algn="just">
                        <a:spcAft>
                          <a:spcPts val="0"/>
                        </a:spcAft>
                        <a:buFont typeface="+mj-lt"/>
                        <a:buAutoNum type="arabicPeriod"/>
                        <a:tabLst>
                          <a:tab pos="266700" algn="l"/>
                        </a:tabLst>
                      </a:pPr>
                      <a:r>
                        <a:rPr lang="en-US" sz="1100" kern="100">
                          <a:effectLst/>
                        </a:rPr>
                        <a:t> </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dirty="0">
                          <a:effectLst/>
                        </a:rPr>
                        <a:t>W0</a:t>
                      </a:r>
                      <a:endParaRPr lang="zh-CN" sz="1100" kern="100" dirty="0">
                        <a:effectLst/>
                        <a:latin typeface="Times New Roman"/>
                        <a:ea typeface="宋体"/>
                      </a:endParaRPr>
                    </a:p>
                  </a:txBody>
                  <a:tcPr marL="68580" marR="68580" marT="0" marB="0" anchor="ctr"/>
                </a:tc>
                <a:tc rowSpan="2">
                  <a:txBody>
                    <a:bodyPr/>
                    <a:lstStyle/>
                    <a:p>
                      <a:pPr algn="just">
                        <a:spcAft>
                          <a:spcPts val="0"/>
                        </a:spcAft>
                      </a:pPr>
                      <a:r>
                        <a:rPr lang="en-US" sz="1100" kern="100" dirty="0">
                          <a:effectLst/>
                        </a:rPr>
                        <a:t>B1 Exposure time </a:t>
                      </a:r>
                      <a:r>
                        <a:rPr lang="en-US" sz="1100" kern="100" dirty="0" err="1">
                          <a:effectLst/>
                        </a:rPr>
                        <a:t>Settings&amp;gain</a:t>
                      </a:r>
                      <a:r>
                        <a:rPr lang="en-US" sz="1100" kern="100" dirty="0">
                          <a:effectLst/>
                        </a:rPr>
                        <a:t> setting</a:t>
                      </a:r>
                      <a:endParaRPr lang="zh-CN" sz="1100" kern="100" dirty="0">
                        <a:effectLst/>
                        <a:latin typeface="Times New Roman"/>
                        <a:ea typeface="宋体"/>
                      </a:endParaRPr>
                    </a:p>
                  </a:txBody>
                  <a:tcPr marL="68580" marR="68580" marT="0" marB="0" anchor="ctr"/>
                </a:tc>
                <a:tc>
                  <a:txBody>
                    <a:bodyPr/>
                    <a:lstStyle/>
                    <a:p>
                      <a:pPr algn="just">
                        <a:spcAft>
                          <a:spcPts val="0"/>
                        </a:spcAft>
                      </a:pPr>
                      <a:r>
                        <a:rPr lang="en-US" sz="1100" kern="100">
                          <a:effectLst/>
                        </a:rPr>
                        <a:t>D15~D12</a:t>
                      </a:r>
                      <a:r>
                        <a:rPr lang="zh-CN" sz="1100" kern="100">
                          <a:effectLst/>
                        </a:rPr>
                        <a:t>：</a:t>
                      </a:r>
                    </a:p>
                    <a:p>
                      <a:pPr algn="just">
                        <a:spcAft>
                          <a:spcPts val="0"/>
                        </a:spcAft>
                      </a:pPr>
                      <a:r>
                        <a:rPr lang="en-US" sz="1100" kern="100">
                          <a:effectLst/>
                        </a:rPr>
                        <a:t>Exposure time CODE</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01~0BH</a:t>
                      </a:r>
                      <a:endParaRPr lang="zh-CN" sz="1100" kern="100">
                        <a:effectLst/>
                        <a:latin typeface="Times New Roman"/>
                        <a:ea typeface="宋体"/>
                      </a:endParaRPr>
                    </a:p>
                  </a:txBody>
                  <a:tcPr marL="68580" marR="68580" marT="0" marB="0" anchor="ctr"/>
                </a:tc>
              </a:tr>
              <a:tr h="336233">
                <a:tc>
                  <a:txBody>
                    <a:bodyPr/>
                    <a:lstStyle/>
                    <a:p>
                      <a:pPr marL="342900" lvl="0" indent="-342900" algn="just">
                        <a:spcAft>
                          <a:spcPts val="0"/>
                        </a:spcAft>
                        <a:buFont typeface="+mj-lt"/>
                        <a:buAutoNum type="arabicPeriod"/>
                        <a:tabLst>
                          <a:tab pos="266700" algn="l"/>
                        </a:tabLst>
                      </a:pPr>
                      <a:r>
                        <a:rPr lang="en-US" sz="1100" kern="100">
                          <a:effectLst/>
                        </a:rPr>
                        <a:t> </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dirty="0">
                          <a:effectLst/>
                        </a:rPr>
                        <a:t>W1</a:t>
                      </a:r>
                      <a:endParaRPr lang="zh-CN" sz="1100" kern="100" dirty="0">
                        <a:effectLst/>
                        <a:latin typeface="Times New Roman"/>
                        <a:ea typeface="宋体"/>
                      </a:endParaRPr>
                    </a:p>
                  </a:txBody>
                  <a:tcPr marL="68580" marR="68580" marT="0" marB="0" anchor="ctr"/>
                </a:tc>
                <a:tc vMerge="1">
                  <a:txBody>
                    <a:bodyPr/>
                    <a:lstStyle/>
                    <a:p>
                      <a:endParaRPr lang="zh-CN" altLang="en-US"/>
                    </a:p>
                  </a:txBody>
                  <a:tcPr/>
                </a:tc>
                <a:tc>
                  <a:txBody>
                    <a:bodyPr/>
                    <a:lstStyle/>
                    <a:p>
                      <a:pPr algn="just">
                        <a:spcAft>
                          <a:spcPts val="0"/>
                        </a:spcAft>
                      </a:pPr>
                      <a:r>
                        <a:rPr lang="en-US" sz="1100" kern="100">
                          <a:effectLst/>
                        </a:rPr>
                        <a:t>D11~D0</a:t>
                      </a:r>
                      <a:r>
                        <a:rPr lang="zh-CN" sz="1100" kern="100">
                          <a:effectLst/>
                        </a:rPr>
                        <a:t>：</a:t>
                      </a:r>
                    </a:p>
                    <a:p>
                      <a:pPr algn="just">
                        <a:spcAft>
                          <a:spcPts val="0"/>
                        </a:spcAft>
                      </a:pPr>
                      <a:r>
                        <a:rPr lang="en-US" sz="1100" kern="100">
                          <a:effectLst/>
                        </a:rPr>
                        <a:t>Gain CODE( 10bit)</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0~1FFH</a:t>
                      </a:r>
                      <a:endParaRPr lang="zh-CN" sz="1100" kern="100">
                        <a:effectLst/>
                        <a:latin typeface="Times New Roman"/>
                        <a:ea typeface="宋体"/>
                      </a:endParaRPr>
                    </a:p>
                  </a:txBody>
                  <a:tcPr marL="68580" marR="68580" marT="0" marB="0" anchor="ctr"/>
                </a:tc>
              </a:tr>
              <a:tr h="320040">
                <a:tc>
                  <a:txBody>
                    <a:bodyPr/>
                    <a:lstStyle/>
                    <a:p>
                      <a:pPr marL="342900" lvl="0" indent="-342900" algn="just">
                        <a:spcAft>
                          <a:spcPts val="0"/>
                        </a:spcAft>
                        <a:buFont typeface="+mj-lt"/>
                        <a:buAutoNum type="arabicPeriod"/>
                        <a:tabLst>
                          <a:tab pos="266700" algn="l"/>
                        </a:tabLst>
                      </a:pPr>
                      <a:r>
                        <a:rPr lang="en-US" sz="1100" kern="100">
                          <a:effectLst/>
                        </a:rPr>
                        <a:t> </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W2</a:t>
                      </a:r>
                      <a:endParaRPr lang="zh-CN" sz="1100" kern="100">
                        <a:effectLst/>
                        <a:latin typeface="Times New Roman"/>
                        <a:ea typeface="宋体"/>
                      </a:endParaRPr>
                    </a:p>
                  </a:txBody>
                  <a:tcPr marL="68580" marR="68580" marT="0" marB="0" anchor="ctr"/>
                </a:tc>
                <a:tc rowSpan="2">
                  <a:txBody>
                    <a:bodyPr/>
                    <a:lstStyle/>
                    <a:p>
                      <a:pPr algn="just">
                        <a:spcAft>
                          <a:spcPts val="0"/>
                        </a:spcAft>
                      </a:pPr>
                      <a:r>
                        <a:rPr lang="en-US" sz="1100" kern="100" dirty="0">
                          <a:effectLst/>
                        </a:rPr>
                        <a:t>B2 Exposure time </a:t>
                      </a:r>
                      <a:r>
                        <a:rPr lang="en-US" sz="1100" kern="100" dirty="0" err="1">
                          <a:effectLst/>
                        </a:rPr>
                        <a:t>Settings&amp;gain</a:t>
                      </a:r>
                      <a:r>
                        <a:rPr lang="en-US" sz="1100" kern="100" dirty="0">
                          <a:effectLst/>
                        </a:rPr>
                        <a:t> setting</a:t>
                      </a:r>
                      <a:endParaRPr lang="zh-CN" sz="1100" kern="100" dirty="0">
                        <a:effectLst/>
                        <a:latin typeface="Times New Roman"/>
                        <a:ea typeface="宋体"/>
                      </a:endParaRPr>
                    </a:p>
                  </a:txBody>
                  <a:tcPr marL="68580" marR="68580" marT="0" marB="0" anchor="ctr"/>
                </a:tc>
                <a:tc>
                  <a:txBody>
                    <a:bodyPr/>
                    <a:lstStyle/>
                    <a:p>
                      <a:pPr algn="just">
                        <a:spcAft>
                          <a:spcPts val="0"/>
                        </a:spcAft>
                      </a:pPr>
                      <a:r>
                        <a:rPr lang="en-US" sz="1100" kern="100" dirty="0">
                          <a:effectLst/>
                        </a:rPr>
                        <a:t>D15~D12</a:t>
                      </a:r>
                      <a:r>
                        <a:rPr lang="zh-CN" sz="1100" kern="100" dirty="0">
                          <a:effectLst/>
                        </a:rPr>
                        <a:t>：</a:t>
                      </a:r>
                    </a:p>
                    <a:p>
                      <a:pPr algn="just">
                        <a:spcAft>
                          <a:spcPts val="0"/>
                        </a:spcAft>
                      </a:pPr>
                      <a:r>
                        <a:rPr lang="en-US" sz="1100" kern="100" dirty="0">
                          <a:effectLst/>
                        </a:rPr>
                        <a:t>Exposure time CODE</a:t>
                      </a:r>
                      <a:endParaRPr lang="zh-CN" sz="1100" kern="100" dirty="0">
                        <a:effectLst/>
                        <a:latin typeface="Times New Roman"/>
                        <a:ea typeface="宋体"/>
                      </a:endParaRPr>
                    </a:p>
                  </a:txBody>
                  <a:tcPr marL="68580" marR="68580" marT="0" marB="0" anchor="ctr"/>
                </a:tc>
                <a:tc>
                  <a:txBody>
                    <a:bodyPr/>
                    <a:lstStyle/>
                    <a:p>
                      <a:pPr algn="just">
                        <a:spcAft>
                          <a:spcPts val="0"/>
                        </a:spcAft>
                      </a:pPr>
                      <a:r>
                        <a:rPr lang="en-US" sz="1100" kern="100">
                          <a:effectLst/>
                        </a:rPr>
                        <a:t>01~0BH</a:t>
                      </a:r>
                      <a:endParaRPr lang="zh-CN" sz="1100" kern="100">
                        <a:effectLst/>
                        <a:latin typeface="Times New Roman"/>
                        <a:ea typeface="宋体"/>
                      </a:endParaRPr>
                    </a:p>
                  </a:txBody>
                  <a:tcPr marL="68580" marR="68580" marT="0" marB="0" anchor="ctr"/>
                </a:tc>
              </a:tr>
              <a:tr h="320040">
                <a:tc>
                  <a:txBody>
                    <a:bodyPr/>
                    <a:lstStyle/>
                    <a:p>
                      <a:pPr marL="342900" lvl="0" indent="-342900" algn="just">
                        <a:spcAft>
                          <a:spcPts val="0"/>
                        </a:spcAft>
                        <a:buFont typeface="+mj-lt"/>
                        <a:buAutoNum type="arabicPeriod"/>
                        <a:tabLst>
                          <a:tab pos="266700" algn="l"/>
                        </a:tabLst>
                      </a:pPr>
                      <a:r>
                        <a:rPr lang="en-US" sz="1100" kern="100">
                          <a:effectLst/>
                        </a:rPr>
                        <a:t> </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W3</a:t>
                      </a:r>
                      <a:endParaRPr lang="zh-CN" sz="1100" kern="100">
                        <a:effectLst/>
                        <a:latin typeface="Times New Roman"/>
                        <a:ea typeface="宋体"/>
                      </a:endParaRPr>
                    </a:p>
                  </a:txBody>
                  <a:tcPr marL="68580" marR="68580" marT="0" marB="0" anchor="ctr"/>
                </a:tc>
                <a:tc vMerge="1">
                  <a:txBody>
                    <a:bodyPr/>
                    <a:lstStyle/>
                    <a:p>
                      <a:endParaRPr lang="zh-CN" altLang="en-US"/>
                    </a:p>
                  </a:txBody>
                  <a:tcPr/>
                </a:tc>
                <a:tc>
                  <a:txBody>
                    <a:bodyPr/>
                    <a:lstStyle/>
                    <a:p>
                      <a:pPr algn="just">
                        <a:spcAft>
                          <a:spcPts val="0"/>
                        </a:spcAft>
                      </a:pPr>
                      <a:r>
                        <a:rPr lang="en-US" sz="1100" kern="100" dirty="0">
                          <a:effectLst/>
                        </a:rPr>
                        <a:t>D11~D0</a:t>
                      </a:r>
                      <a:r>
                        <a:rPr lang="zh-CN" sz="1100" kern="100" dirty="0">
                          <a:effectLst/>
                        </a:rPr>
                        <a:t>：</a:t>
                      </a:r>
                    </a:p>
                    <a:p>
                      <a:pPr algn="just">
                        <a:spcAft>
                          <a:spcPts val="0"/>
                        </a:spcAft>
                      </a:pPr>
                      <a:r>
                        <a:rPr lang="en-US" sz="1100" kern="100" dirty="0">
                          <a:effectLst/>
                        </a:rPr>
                        <a:t>Gain CODE( 10bit)</a:t>
                      </a:r>
                      <a:endParaRPr lang="zh-CN" sz="1100" kern="100" dirty="0">
                        <a:effectLst/>
                        <a:latin typeface="Times New Roman"/>
                        <a:ea typeface="宋体"/>
                      </a:endParaRPr>
                    </a:p>
                  </a:txBody>
                  <a:tcPr marL="68580" marR="68580" marT="0" marB="0" anchor="ctr"/>
                </a:tc>
                <a:tc>
                  <a:txBody>
                    <a:bodyPr/>
                    <a:lstStyle/>
                    <a:p>
                      <a:pPr algn="just">
                        <a:spcAft>
                          <a:spcPts val="0"/>
                        </a:spcAft>
                      </a:pPr>
                      <a:r>
                        <a:rPr lang="en-US" sz="1100" kern="100">
                          <a:effectLst/>
                        </a:rPr>
                        <a:t>0~1FFH</a:t>
                      </a:r>
                      <a:endParaRPr lang="zh-CN" sz="1100" kern="100">
                        <a:effectLst/>
                        <a:latin typeface="Times New Roman"/>
                        <a:ea typeface="宋体"/>
                      </a:endParaRPr>
                    </a:p>
                  </a:txBody>
                  <a:tcPr marL="68580" marR="68580" marT="0" marB="0" anchor="ctr"/>
                </a:tc>
              </a:tr>
              <a:tr h="320040">
                <a:tc>
                  <a:txBody>
                    <a:bodyPr/>
                    <a:lstStyle/>
                    <a:p>
                      <a:pPr marL="342900" lvl="0" indent="-342900" algn="just">
                        <a:spcAft>
                          <a:spcPts val="0"/>
                        </a:spcAft>
                        <a:buFont typeface="+mj-lt"/>
                        <a:buAutoNum type="arabicPeriod"/>
                        <a:tabLst>
                          <a:tab pos="266700" algn="l"/>
                        </a:tabLst>
                      </a:pPr>
                      <a:r>
                        <a:rPr lang="en-US" sz="1100" kern="100">
                          <a:effectLst/>
                        </a:rPr>
                        <a:t> </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W4</a:t>
                      </a:r>
                      <a:endParaRPr lang="zh-CN" sz="1100" kern="100">
                        <a:effectLst/>
                        <a:latin typeface="Times New Roman"/>
                        <a:ea typeface="宋体"/>
                      </a:endParaRPr>
                    </a:p>
                  </a:txBody>
                  <a:tcPr marL="68580" marR="68580" marT="0" marB="0" anchor="ctr"/>
                </a:tc>
                <a:tc rowSpan="2">
                  <a:txBody>
                    <a:bodyPr/>
                    <a:lstStyle/>
                    <a:p>
                      <a:pPr algn="just">
                        <a:spcAft>
                          <a:spcPts val="0"/>
                        </a:spcAft>
                      </a:pPr>
                      <a:r>
                        <a:rPr lang="en-US" sz="1100" kern="100">
                          <a:effectLst/>
                        </a:rPr>
                        <a:t>B3 Exposure time Settings&amp;gain setting</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dirty="0">
                          <a:effectLst/>
                        </a:rPr>
                        <a:t>D15~D12</a:t>
                      </a:r>
                      <a:r>
                        <a:rPr lang="zh-CN" sz="1100" kern="100" dirty="0">
                          <a:effectLst/>
                        </a:rPr>
                        <a:t>：</a:t>
                      </a:r>
                    </a:p>
                    <a:p>
                      <a:pPr algn="just">
                        <a:spcAft>
                          <a:spcPts val="0"/>
                        </a:spcAft>
                      </a:pPr>
                      <a:r>
                        <a:rPr lang="en-US" sz="1100" kern="100" dirty="0">
                          <a:effectLst/>
                        </a:rPr>
                        <a:t>Exposure time CODE</a:t>
                      </a:r>
                      <a:endParaRPr lang="zh-CN" sz="1100" kern="100" dirty="0">
                        <a:effectLst/>
                        <a:latin typeface="Times New Roman"/>
                        <a:ea typeface="宋体"/>
                      </a:endParaRPr>
                    </a:p>
                  </a:txBody>
                  <a:tcPr marL="68580" marR="68580" marT="0" marB="0" anchor="ctr"/>
                </a:tc>
                <a:tc>
                  <a:txBody>
                    <a:bodyPr/>
                    <a:lstStyle/>
                    <a:p>
                      <a:pPr algn="just">
                        <a:spcAft>
                          <a:spcPts val="0"/>
                        </a:spcAft>
                      </a:pPr>
                      <a:r>
                        <a:rPr lang="en-US" sz="1100" kern="100">
                          <a:effectLst/>
                        </a:rPr>
                        <a:t>01~0BH</a:t>
                      </a:r>
                      <a:endParaRPr lang="zh-CN" sz="1100" kern="100">
                        <a:effectLst/>
                        <a:latin typeface="Times New Roman"/>
                        <a:ea typeface="宋体"/>
                      </a:endParaRPr>
                    </a:p>
                  </a:txBody>
                  <a:tcPr marL="68580" marR="68580" marT="0" marB="0" anchor="ctr"/>
                </a:tc>
              </a:tr>
              <a:tr h="414338">
                <a:tc>
                  <a:txBody>
                    <a:bodyPr/>
                    <a:lstStyle/>
                    <a:p>
                      <a:pPr marL="342900" lvl="0" indent="-342900" algn="just">
                        <a:spcAft>
                          <a:spcPts val="0"/>
                        </a:spcAft>
                        <a:buFont typeface="+mj-lt"/>
                        <a:buAutoNum type="arabicPeriod"/>
                        <a:tabLst>
                          <a:tab pos="266700" algn="l"/>
                        </a:tabLst>
                      </a:pPr>
                      <a:r>
                        <a:rPr lang="en-US" sz="1100" kern="100">
                          <a:effectLst/>
                        </a:rPr>
                        <a:t> </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W5</a:t>
                      </a:r>
                      <a:endParaRPr lang="zh-CN" sz="1100" kern="100">
                        <a:effectLst/>
                        <a:latin typeface="Times New Roman"/>
                        <a:ea typeface="宋体"/>
                      </a:endParaRPr>
                    </a:p>
                  </a:txBody>
                  <a:tcPr marL="68580" marR="68580" marT="0" marB="0" anchor="ctr"/>
                </a:tc>
                <a:tc vMerge="1">
                  <a:txBody>
                    <a:bodyPr/>
                    <a:lstStyle/>
                    <a:p>
                      <a:endParaRPr lang="zh-CN" altLang="en-US"/>
                    </a:p>
                  </a:txBody>
                  <a:tcPr/>
                </a:tc>
                <a:tc>
                  <a:txBody>
                    <a:bodyPr/>
                    <a:lstStyle/>
                    <a:p>
                      <a:pPr algn="just">
                        <a:spcAft>
                          <a:spcPts val="0"/>
                        </a:spcAft>
                      </a:pPr>
                      <a:r>
                        <a:rPr lang="en-US" sz="1100" kern="100" dirty="0">
                          <a:effectLst/>
                        </a:rPr>
                        <a:t>D11~D0</a:t>
                      </a:r>
                      <a:r>
                        <a:rPr lang="zh-CN" sz="1100" kern="100" dirty="0">
                          <a:effectLst/>
                        </a:rPr>
                        <a:t>：</a:t>
                      </a:r>
                    </a:p>
                    <a:p>
                      <a:pPr algn="just">
                        <a:spcAft>
                          <a:spcPts val="0"/>
                        </a:spcAft>
                      </a:pPr>
                      <a:r>
                        <a:rPr lang="en-US" sz="1100" kern="100" dirty="0">
                          <a:effectLst/>
                        </a:rPr>
                        <a:t>Gain CODE( 10bit)</a:t>
                      </a:r>
                      <a:endParaRPr lang="zh-CN" sz="1100" kern="100" dirty="0">
                        <a:effectLst/>
                        <a:latin typeface="Times New Roman"/>
                        <a:ea typeface="宋体"/>
                      </a:endParaRPr>
                    </a:p>
                  </a:txBody>
                  <a:tcPr marL="68580" marR="68580" marT="0" marB="0" anchor="ctr"/>
                </a:tc>
                <a:tc>
                  <a:txBody>
                    <a:bodyPr/>
                    <a:lstStyle/>
                    <a:p>
                      <a:pPr algn="just">
                        <a:spcAft>
                          <a:spcPts val="0"/>
                        </a:spcAft>
                      </a:pPr>
                      <a:r>
                        <a:rPr lang="en-US" sz="1100" kern="100">
                          <a:effectLst/>
                        </a:rPr>
                        <a:t>0~1FFH</a:t>
                      </a:r>
                      <a:endParaRPr lang="zh-CN" sz="1100" kern="100">
                        <a:effectLst/>
                        <a:latin typeface="Times New Roman"/>
                        <a:ea typeface="宋体"/>
                      </a:endParaRPr>
                    </a:p>
                  </a:txBody>
                  <a:tcPr marL="68580" marR="68580" marT="0" marB="0" anchor="ctr"/>
                </a:tc>
              </a:tr>
              <a:tr h="320040">
                <a:tc>
                  <a:txBody>
                    <a:bodyPr/>
                    <a:lstStyle/>
                    <a:p>
                      <a:pPr marL="342900" lvl="0" indent="-342900" algn="just">
                        <a:spcAft>
                          <a:spcPts val="0"/>
                        </a:spcAft>
                        <a:buFont typeface="+mj-lt"/>
                        <a:buAutoNum type="arabicPeriod"/>
                        <a:tabLst>
                          <a:tab pos="266700" algn="l"/>
                        </a:tabLst>
                      </a:pPr>
                      <a:r>
                        <a:rPr lang="en-US" sz="1100" kern="100">
                          <a:effectLst/>
                        </a:rPr>
                        <a:t> </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W6</a:t>
                      </a:r>
                      <a:endParaRPr lang="zh-CN" sz="1100" kern="100">
                        <a:effectLst/>
                        <a:latin typeface="Times New Roman"/>
                        <a:ea typeface="宋体"/>
                      </a:endParaRPr>
                    </a:p>
                  </a:txBody>
                  <a:tcPr marL="68580" marR="68580" marT="0" marB="0" anchor="ctr"/>
                </a:tc>
                <a:tc rowSpan="2">
                  <a:txBody>
                    <a:bodyPr/>
                    <a:lstStyle/>
                    <a:p>
                      <a:pPr algn="just">
                        <a:spcAft>
                          <a:spcPts val="0"/>
                        </a:spcAft>
                      </a:pPr>
                      <a:r>
                        <a:rPr lang="en-US" sz="1100" kern="100">
                          <a:effectLst/>
                        </a:rPr>
                        <a:t>B4 Exposure time Settings&amp;gain setting</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dirty="0">
                          <a:effectLst/>
                        </a:rPr>
                        <a:t>D15~D12</a:t>
                      </a:r>
                      <a:r>
                        <a:rPr lang="zh-CN" sz="1100" kern="100" dirty="0">
                          <a:effectLst/>
                        </a:rPr>
                        <a:t>：</a:t>
                      </a:r>
                    </a:p>
                    <a:p>
                      <a:pPr algn="just">
                        <a:spcAft>
                          <a:spcPts val="0"/>
                        </a:spcAft>
                      </a:pPr>
                      <a:r>
                        <a:rPr lang="en-US" sz="1100" kern="100" dirty="0">
                          <a:effectLst/>
                        </a:rPr>
                        <a:t>Exposure time CODE</a:t>
                      </a:r>
                      <a:endParaRPr lang="zh-CN" sz="1100" kern="100" dirty="0">
                        <a:effectLst/>
                        <a:latin typeface="Times New Roman"/>
                        <a:ea typeface="宋体"/>
                      </a:endParaRPr>
                    </a:p>
                  </a:txBody>
                  <a:tcPr marL="68580" marR="68580" marT="0" marB="0" anchor="ctr"/>
                </a:tc>
                <a:tc>
                  <a:txBody>
                    <a:bodyPr/>
                    <a:lstStyle/>
                    <a:p>
                      <a:pPr algn="just">
                        <a:spcAft>
                          <a:spcPts val="0"/>
                        </a:spcAft>
                      </a:pPr>
                      <a:r>
                        <a:rPr lang="en-US" sz="1100" kern="100">
                          <a:effectLst/>
                        </a:rPr>
                        <a:t>01~0BH</a:t>
                      </a:r>
                      <a:endParaRPr lang="zh-CN" sz="1100" kern="100">
                        <a:effectLst/>
                        <a:latin typeface="Times New Roman"/>
                        <a:ea typeface="宋体"/>
                      </a:endParaRPr>
                    </a:p>
                  </a:txBody>
                  <a:tcPr marL="68580" marR="68580" marT="0" marB="0" anchor="ctr"/>
                </a:tc>
              </a:tr>
              <a:tr h="320040">
                <a:tc>
                  <a:txBody>
                    <a:bodyPr/>
                    <a:lstStyle/>
                    <a:p>
                      <a:pPr marL="342900" lvl="0" indent="-342900" algn="just">
                        <a:spcAft>
                          <a:spcPts val="0"/>
                        </a:spcAft>
                        <a:buFont typeface="+mj-lt"/>
                        <a:buAutoNum type="arabicPeriod"/>
                        <a:tabLst>
                          <a:tab pos="266700" algn="l"/>
                        </a:tabLst>
                      </a:pPr>
                      <a:r>
                        <a:rPr lang="en-US" sz="1100" kern="100">
                          <a:effectLst/>
                        </a:rPr>
                        <a:t> </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W7</a:t>
                      </a:r>
                      <a:endParaRPr lang="zh-CN" sz="1100" kern="100">
                        <a:effectLst/>
                        <a:latin typeface="Times New Roman"/>
                        <a:ea typeface="宋体"/>
                      </a:endParaRPr>
                    </a:p>
                  </a:txBody>
                  <a:tcPr marL="68580" marR="68580" marT="0" marB="0" anchor="ctr"/>
                </a:tc>
                <a:tc vMerge="1">
                  <a:txBody>
                    <a:bodyPr/>
                    <a:lstStyle/>
                    <a:p>
                      <a:endParaRPr lang="zh-CN" altLang="en-US"/>
                    </a:p>
                  </a:txBody>
                  <a:tcPr/>
                </a:tc>
                <a:tc>
                  <a:txBody>
                    <a:bodyPr/>
                    <a:lstStyle/>
                    <a:p>
                      <a:pPr algn="just">
                        <a:spcAft>
                          <a:spcPts val="0"/>
                        </a:spcAft>
                      </a:pPr>
                      <a:r>
                        <a:rPr lang="en-US" sz="1100" kern="100">
                          <a:effectLst/>
                        </a:rPr>
                        <a:t>D11~D0</a:t>
                      </a:r>
                      <a:r>
                        <a:rPr lang="zh-CN" sz="1100" kern="100">
                          <a:effectLst/>
                        </a:rPr>
                        <a:t>：</a:t>
                      </a:r>
                    </a:p>
                    <a:p>
                      <a:pPr algn="just">
                        <a:spcAft>
                          <a:spcPts val="0"/>
                        </a:spcAft>
                      </a:pPr>
                      <a:r>
                        <a:rPr lang="en-US" sz="1100" kern="100">
                          <a:effectLst/>
                        </a:rPr>
                        <a:t>Gain CODE( 10bit)</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dirty="0">
                          <a:effectLst/>
                        </a:rPr>
                        <a:t>0~1FFH</a:t>
                      </a:r>
                      <a:endParaRPr lang="zh-CN" sz="1100" kern="100" dirty="0">
                        <a:effectLst/>
                        <a:latin typeface="Times New Roman"/>
                        <a:ea typeface="宋体"/>
                      </a:endParaRPr>
                    </a:p>
                  </a:txBody>
                  <a:tcPr marL="68580" marR="68580" marT="0" marB="0" anchor="ctr"/>
                </a:tc>
              </a:tr>
              <a:tr h="320040">
                <a:tc rowSpan="2">
                  <a:txBody>
                    <a:bodyPr/>
                    <a:lstStyle/>
                    <a:p>
                      <a:pPr marL="342900" lvl="0" indent="-342900" algn="just">
                        <a:spcAft>
                          <a:spcPts val="0"/>
                        </a:spcAft>
                        <a:buFont typeface="+mj-lt"/>
                        <a:buAutoNum type="arabicPeriod"/>
                        <a:tabLst>
                          <a:tab pos="266700" algn="l"/>
                        </a:tabLst>
                      </a:pPr>
                      <a:r>
                        <a:rPr lang="en-US" sz="1100" kern="100">
                          <a:effectLst/>
                        </a:rPr>
                        <a:t> </a:t>
                      </a:r>
                      <a:endParaRPr lang="zh-CN" sz="1100" kern="100">
                        <a:effectLst/>
                        <a:latin typeface="Times New Roman"/>
                        <a:ea typeface="宋体"/>
                      </a:endParaRPr>
                    </a:p>
                  </a:txBody>
                  <a:tcPr marL="68580" marR="68580" marT="0" marB="0" anchor="ctr"/>
                </a:tc>
                <a:tc rowSpan="2">
                  <a:txBody>
                    <a:bodyPr/>
                    <a:lstStyle/>
                    <a:p>
                      <a:pPr algn="just">
                        <a:spcAft>
                          <a:spcPts val="0"/>
                        </a:spcAft>
                      </a:pPr>
                      <a:r>
                        <a:rPr lang="en-US" sz="1100" kern="100">
                          <a:effectLst/>
                        </a:rPr>
                        <a:t>W8</a:t>
                      </a:r>
                      <a:endParaRPr lang="zh-CN" sz="1100" kern="100">
                        <a:effectLst/>
                        <a:latin typeface="Times New Roman"/>
                        <a:ea typeface="宋体"/>
                      </a:endParaRPr>
                    </a:p>
                  </a:txBody>
                  <a:tcPr marL="68580" marR="68580" marT="0" marB="0" anchor="ctr"/>
                </a:tc>
                <a:tc rowSpan="2">
                  <a:txBody>
                    <a:bodyPr/>
                    <a:lstStyle/>
                    <a:p>
                      <a:pPr algn="just">
                        <a:spcAft>
                          <a:spcPts val="0"/>
                        </a:spcAft>
                      </a:pPr>
                      <a:r>
                        <a:rPr lang="en-US" sz="1100" kern="100">
                          <a:effectLst/>
                        </a:rPr>
                        <a:t>Integration Time Settings/Algorithm Settings</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D7~D4</a:t>
                      </a:r>
                      <a:r>
                        <a:rPr lang="zh-CN" sz="1100" kern="100">
                          <a:effectLst/>
                        </a:rPr>
                        <a:t>：</a:t>
                      </a:r>
                    </a:p>
                    <a:p>
                      <a:pPr algn="just">
                        <a:spcAft>
                          <a:spcPts val="0"/>
                        </a:spcAft>
                      </a:pPr>
                      <a:r>
                        <a:rPr lang="en-US" sz="1100" kern="100">
                          <a:effectLst/>
                        </a:rPr>
                        <a:t>Algorithm Settings</a:t>
                      </a:r>
                      <a:endParaRPr lang="zh-CN" sz="1100" kern="100">
                        <a:effectLst/>
                        <a:latin typeface="Times New Roman"/>
                        <a:ea typeface="宋体"/>
                      </a:endParaRPr>
                    </a:p>
                  </a:txBody>
                  <a:tcPr marL="68580" marR="68580" marT="0" marB="0" anchor="ctr"/>
                </a:tc>
                <a:tc>
                  <a:txBody>
                    <a:bodyPr/>
                    <a:lstStyle/>
                    <a:p>
                      <a:pPr marR="635" algn="just">
                        <a:spcAft>
                          <a:spcPts val="0"/>
                        </a:spcAft>
                      </a:pPr>
                      <a:r>
                        <a:rPr lang="en-US" sz="1100" kern="100" dirty="0">
                          <a:effectLst/>
                        </a:rPr>
                        <a:t>on</a:t>
                      </a:r>
                      <a:r>
                        <a:rPr lang="zh-CN" sz="1100" kern="100" dirty="0">
                          <a:effectLst/>
                        </a:rPr>
                        <a:t>：</a:t>
                      </a:r>
                      <a:r>
                        <a:rPr lang="en-US" sz="1100" kern="100" dirty="0">
                          <a:effectLst/>
                        </a:rPr>
                        <a:t>01H</a:t>
                      </a:r>
                      <a:endParaRPr lang="zh-CN" sz="1100" kern="100" dirty="0">
                        <a:effectLst/>
                      </a:endParaRPr>
                    </a:p>
                    <a:p>
                      <a:pPr algn="just">
                        <a:spcAft>
                          <a:spcPts val="0"/>
                        </a:spcAft>
                      </a:pPr>
                      <a:r>
                        <a:rPr lang="en-US" sz="1100" kern="100" dirty="0">
                          <a:effectLst/>
                        </a:rPr>
                        <a:t>off</a:t>
                      </a:r>
                      <a:r>
                        <a:rPr lang="zh-CN" sz="1100" kern="100" dirty="0">
                          <a:effectLst/>
                        </a:rPr>
                        <a:t>：</a:t>
                      </a:r>
                      <a:r>
                        <a:rPr lang="en-US" sz="1100" kern="100" dirty="0">
                          <a:effectLst/>
                        </a:rPr>
                        <a:t>02H</a:t>
                      </a:r>
                      <a:endParaRPr lang="zh-CN" sz="1100" kern="100" dirty="0">
                        <a:effectLst/>
                        <a:latin typeface="Times New Roman"/>
                        <a:ea typeface="宋体"/>
                      </a:endParaRPr>
                    </a:p>
                  </a:txBody>
                  <a:tcPr marL="68580" marR="68580" marT="0" marB="0" anchor="ctr"/>
                </a:tc>
              </a:tr>
              <a:tr h="32004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just">
                        <a:spcAft>
                          <a:spcPts val="0"/>
                        </a:spcAft>
                      </a:pPr>
                      <a:r>
                        <a:rPr lang="en-US" sz="1100" kern="100">
                          <a:effectLst/>
                        </a:rPr>
                        <a:t>D3~D0</a:t>
                      </a:r>
                      <a:r>
                        <a:rPr lang="zh-CN" sz="1100" kern="100">
                          <a:effectLst/>
                        </a:rPr>
                        <a:t>：</a:t>
                      </a:r>
                    </a:p>
                    <a:p>
                      <a:pPr algn="just">
                        <a:spcAft>
                          <a:spcPts val="0"/>
                        </a:spcAft>
                      </a:pPr>
                      <a:r>
                        <a:rPr lang="en-US" sz="1100" kern="100">
                          <a:effectLst/>
                        </a:rPr>
                        <a:t>Integration Time Settings</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dirty="0">
                          <a:effectLst/>
                        </a:rPr>
                        <a:t>01~0AH</a:t>
                      </a:r>
                      <a:endParaRPr lang="zh-CN" sz="1100" kern="100" dirty="0">
                        <a:effectLst/>
                        <a:latin typeface="Times New Roman"/>
                        <a:ea typeface="宋体"/>
                      </a:endParaRPr>
                    </a:p>
                  </a:txBody>
                  <a:tcPr marL="68580" marR="68580" marT="0" marB="0" anchor="ctr"/>
                </a:tc>
              </a:tr>
              <a:tr h="320040">
                <a:tc>
                  <a:txBody>
                    <a:bodyPr/>
                    <a:lstStyle/>
                    <a:p>
                      <a:pPr marL="342900" lvl="0" indent="-342900" algn="just">
                        <a:spcAft>
                          <a:spcPts val="0"/>
                        </a:spcAft>
                        <a:buFont typeface="+mj-lt"/>
                        <a:buAutoNum type="arabicPeriod"/>
                        <a:tabLst>
                          <a:tab pos="266700" algn="l"/>
                        </a:tabLst>
                      </a:pPr>
                      <a:r>
                        <a:rPr lang="en-US" sz="1100" kern="100">
                          <a:effectLst/>
                        </a:rPr>
                        <a:t> </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W9~W56</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filling</a:t>
                      </a:r>
                      <a:r>
                        <a:rPr lang="zh-CN" sz="1100" kern="100">
                          <a:effectLst/>
                        </a:rPr>
                        <a:t>“</a:t>
                      </a:r>
                      <a:r>
                        <a:rPr lang="en-US" sz="1100" kern="100">
                          <a:effectLst/>
                        </a:rPr>
                        <a:t>AA</a:t>
                      </a:r>
                      <a:r>
                        <a:rPr lang="zh-CN" sz="1100" kern="100">
                          <a:effectLst/>
                        </a:rPr>
                        <a:t>”</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a:effectLst/>
                        </a:rPr>
                        <a:t> </a:t>
                      </a:r>
                      <a:endParaRPr lang="zh-CN" sz="1100" kern="100">
                        <a:effectLst/>
                        <a:latin typeface="Times New Roman"/>
                        <a:ea typeface="宋体"/>
                      </a:endParaRPr>
                    </a:p>
                  </a:txBody>
                  <a:tcPr marL="68580" marR="68580" marT="0" marB="0" anchor="ctr"/>
                </a:tc>
                <a:tc>
                  <a:txBody>
                    <a:bodyPr/>
                    <a:lstStyle/>
                    <a:p>
                      <a:pPr algn="just">
                        <a:spcAft>
                          <a:spcPts val="0"/>
                        </a:spcAft>
                      </a:pPr>
                      <a:r>
                        <a:rPr lang="en-US" sz="1100" kern="100" dirty="0">
                          <a:effectLst/>
                        </a:rPr>
                        <a:t> </a:t>
                      </a:r>
                      <a:endParaRPr lang="zh-CN" sz="1100" kern="1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9866843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内容占位符 2"/>
          <p:cNvSpPr>
            <a:spLocks noGrp="1"/>
          </p:cNvSpPr>
          <p:nvPr>
            <p:ph idx="4294967295"/>
          </p:nvPr>
        </p:nvSpPr>
        <p:spPr>
          <a:xfrm>
            <a:off x="914400" y="1383506"/>
            <a:ext cx="8229600" cy="3187304"/>
          </a:xfrm>
        </p:spPr>
        <p:txBody>
          <a:bodyPr>
            <a:normAutofit/>
          </a:bodyPr>
          <a:lstStyle/>
          <a:p>
            <a:pPr lvl="1" eaLnBrk="1" hangingPunct="1"/>
            <a:r>
              <a:rPr lang="en-US" altLang="zh-CN" dirty="0" smtClean="0">
                <a:latin typeface="Arial" panose="020B0604020202020204" pitchFamily="34" charset="0"/>
                <a:cs typeface="Arial" panose="020B0604020202020204" pitchFamily="34" charset="0"/>
              </a:rPr>
              <a:t>Slow TM: </a:t>
            </a:r>
          </a:p>
          <a:p>
            <a:pPr lvl="2">
              <a:buFont typeface="Wingdings" pitchFamily="2" charset="2"/>
              <a:buChar char="ü"/>
            </a:pPr>
            <a:r>
              <a:rPr lang="en-US" altLang="zh-CN" dirty="0" smtClean="0">
                <a:latin typeface="Arial" panose="020B0604020202020204" pitchFamily="34" charset="0"/>
                <a:cs typeface="Arial" panose="020B0604020202020204" pitchFamily="34" charset="0"/>
              </a:rPr>
              <a:t>Title of </a:t>
            </a:r>
            <a:r>
              <a:rPr lang="en-US" altLang="zh-CN" dirty="0" smtClean="0">
                <a:solidFill>
                  <a:srgbClr val="FF0000"/>
                </a:solidFill>
                <a:latin typeface="Arial" panose="020B0604020202020204" pitchFamily="34" charset="0"/>
                <a:cs typeface="Arial" panose="020B0604020202020204" pitchFamily="34" charset="0"/>
              </a:rPr>
              <a:t>Temperature</a:t>
            </a:r>
            <a:r>
              <a:rPr lang="en-US" altLang="zh-CN" dirty="0" smtClean="0">
                <a:latin typeface="Arial" panose="020B0604020202020204" pitchFamily="34" charset="0"/>
                <a:cs typeface="Arial" panose="020B0604020202020204" pitchFamily="34" charset="0"/>
              </a:rPr>
              <a:t> TM</a:t>
            </a:r>
          </a:p>
          <a:p>
            <a:pPr lvl="2">
              <a:buFont typeface="Wingdings" pitchFamily="2" charset="2"/>
              <a:buChar char="ü"/>
            </a:pPr>
            <a:r>
              <a:rPr lang="en-US" altLang="zh-CN" dirty="0" smtClean="0">
                <a:latin typeface="Arial" panose="020B0604020202020204" pitchFamily="34" charset="0"/>
                <a:cs typeface="Arial" panose="020B0604020202020204" pitchFamily="34" charset="0"/>
              </a:rPr>
              <a:t>Package 1:Loop1~12</a:t>
            </a:r>
          </a:p>
        </p:txBody>
      </p:sp>
      <p:sp>
        <p:nvSpPr>
          <p:cNvPr id="5" name="标题 3"/>
          <p:cNvSpPr txBox="1">
            <a:spLocks noChangeArrowheads="1"/>
          </p:cNvSpPr>
          <p:nvPr/>
        </p:nvSpPr>
        <p:spPr>
          <a:xfrm>
            <a:off x="179513"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smtClean="0">
                <a:latin typeface="Arial" panose="020B0604020202020204" pitchFamily="34" charset="0"/>
                <a:cs typeface="Arial" panose="020B0604020202020204" pitchFamily="34" charset="0"/>
              </a:rPr>
              <a:t>Telemetry</a:t>
            </a:r>
            <a:endParaRPr lang="zh-CN" altLang="en-US" sz="3700" dirty="0">
              <a:latin typeface="Arial" panose="020B0604020202020204" pitchFamily="34" charset="0"/>
              <a:cs typeface="Arial" panose="020B0604020202020204" pitchFamily="34" charset="0"/>
            </a:endParaRPr>
          </a:p>
        </p:txBody>
      </p:sp>
      <p:sp>
        <p:nvSpPr>
          <p:cNvPr id="6" name="内容占位符 2"/>
          <p:cNvSpPr txBox="1">
            <a:spLocks/>
          </p:cNvSpPr>
          <p:nvPr/>
        </p:nvSpPr>
        <p:spPr>
          <a:xfrm>
            <a:off x="467544" y="790145"/>
            <a:ext cx="8280400" cy="1080120"/>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smtClean="0">
                <a:latin typeface="Arial" panose="020B0604020202020204" pitchFamily="34" charset="0"/>
                <a:cs typeface="Arial" panose="020B0604020202020204" pitchFamily="34" charset="0"/>
              </a:rPr>
              <a:t>Camera Thermal </a:t>
            </a:r>
            <a:r>
              <a:rPr lang="en-US" altLang="zh-CN" dirty="0">
                <a:latin typeface="Arial" panose="020B0604020202020204" pitchFamily="34" charset="0"/>
                <a:cs typeface="Arial" panose="020B0604020202020204" pitchFamily="34" charset="0"/>
              </a:rPr>
              <a:t>Controller Loops</a:t>
            </a:r>
            <a:endParaRPr lang="en-US" altLang="zh-CN"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5137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p:cNvSpPr txBox="1">
            <a:spLocks noChangeArrowheads="1"/>
          </p:cNvSpPr>
          <p:nvPr/>
        </p:nvSpPr>
        <p:spPr>
          <a:xfrm>
            <a:off x="179513"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smtClean="0">
                <a:latin typeface="Arial" panose="020B0604020202020204" pitchFamily="34" charset="0"/>
                <a:cs typeface="Arial" panose="020B0604020202020204" pitchFamily="34" charset="0"/>
              </a:rPr>
              <a:t>Telemetry</a:t>
            </a:r>
            <a:endParaRPr lang="zh-CN" altLang="en-US" sz="3700" dirty="0">
              <a:latin typeface="Arial" panose="020B0604020202020204" pitchFamily="34" charset="0"/>
              <a:cs typeface="Arial" panose="020B0604020202020204" pitchFamily="34" charset="0"/>
            </a:endParaRPr>
          </a:p>
        </p:txBody>
      </p:sp>
      <p:sp>
        <p:nvSpPr>
          <p:cNvPr id="6" name="内容占位符 2"/>
          <p:cNvSpPr txBox="1">
            <a:spLocks/>
          </p:cNvSpPr>
          <p:nvPr/>
        </p:nvSpPr>
        <p:spPr>
          <a:xfrm>
            <a:off x="467544" y="790145"/>
            <a:ext cx="8280400" cy="1080120"/>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dirty="0" smtClean="0">
              <a:latin typeface="Arial" panose="020B0604020202020204" pitchFamily="34" charset="0"/>
              <a:cs typeface="Arial" panose="020B0604020202020204" pitchFamily="34"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622560936"/>
              </p:ext>
            </p:extLst>
          </p:nvPr>
        </p:nvGraphicFramePr>
        <p:xfrm>
          <a:off x="827584" y="1437624"/>
          <a:ext cx="7632848" cy="2725008"/>
        </p:xfrm>
        <a:graphic>
          <a:graphicData uri="http://schemas.openxmlformats.org/drawingml/2006/table">
            <a:tbl>
              <a:tblPr firstRow="1" firstCol="1" bandRow="1" bandCol="1">
                <a:tableStyleId>{5C22544A-7EE6-4342-B048-85BDC9FD1C3A}</a:tableStyleId>
              </a:tblPr>
              <a:tblGrid>
                <a:gridCol w="1693109"/>
                <a:gridCol w="2026174"/>
                <a:gridCol w="2525778"/>
                <a:gridCol w="1387787"/>
              </a:tblGrid>
              <a:tr h="185174">
                <a:tc>
                  <a:txBody>
                    <a:bodyPr/>
                    <a:lstStyle/>
                    <a:p>
                      <a:pPr algn="ctr">
                        <a:spcAft>
                          <a:spcPts val="0"/>
                        </a:spcAft>
                      </a:pPr>
                      <a:r>
                        <a:rPr lang="en-US" sz="800" kern="100" dirty="0">
                          <a:effectLst/>
                        </a:rPr>
                        <a:t>P47W22~W24B23~B12</a:t>
                      </a:r>
                      <a:endParaRPr lang="zh-CN" sz="800" kern="100" dirty="0">
                        <a:effectLst/>
                        <a:latin typeface="Times New Roman"/>
                        <a:ea typeface="宋体"/>
                      </a:endParaRPr>
                    </a:p>
                  </a:txBody>
                  <a:tcPr marL="10645" marR="10645" marT="0" marB="0" anchor="ctr"/>
                </a:tc>
                <a:tc>
                  <a:txBody>
                    <a:bodyPr/>
                    <a:lstStyle/>
                    <a:p>
                      <a:pPr algn="ctr">
                        <a:spcAft>
                          <a:spcPts val="0"/>
                        </a:spcAft>
                      </a:pPr>
                      <a:r>
                        <a:rPr lang="en-US" sz="800" kern="100">
                          <a:effectLst/>
                        </a:rPr>
                        <a:t>RS047</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11_+Y_Skin_of_+Z_TEMPERATURE</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185174">
                <a:tc>
                  <a:txBody>
                    <a:bodyPr/>
                    <a:lstStyle/>
                    <a:p>
                      <a:pPr algn="ctr">
                        <a:spcAft>
                          <a:spcPts val="0"/>
                        </a:spcAft>
                      </a:pPr>
                      <a:r>
                        <a:rPr lang="en-US" sz="800" kern="100" dirty="0">
                          <a:effectLst/>
                        </a:rPr>
                        <a:t>P47W22~W24B11~B0</a:t>
                      </a:r>
                      <a:endParaRPr lang="zh-CN" sz="800" kern="100" dirty="0">
                        <a:effectLst/>
                        <a:latin typeface="Times New Roman"/>
                        <a:ea typeface="宋体"/>
                      </a:endParaRPr>
                    </a:p>
                  </a:txBody>
                  <a:tcPr marL="10645" marR="10645" marT="0" marB="0" anchor="ctr"/>
                </a:tc>
                <a:tc>
                  <a:txBody>
                    <a:bodyPr/>
                    <a:lstStyle/>
                    <a:p>
                      <a:pPr algn="ctr">
                        <a:spcAft>
                          <a:spcPts val="0"/>
                        </a:spcAft>
                      </a:pPr>
                      <a:r>
                        <a:rPr lang="en-US" sz="800" kern="100">
                          <a:effectLst/>
                        </a:rPr>
                        <a:t>RS048</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12_+Y_Skin_of_-Z_TEMPERATURE</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185174">
                <a:tc>
                  <a:txBody>
                    <a:bodyPr/>
                    <a:lstStyle/>
                    <a:p>
                      <a:pPr algn="ctr">
                        <a:spcAft>
                          <a:spcPts val="0"/>
                        </a:spcAft>
                      </a:pPr>
                      <a:r>
                        <a:rPr lang="en-US" sz="800" kern="100">
                          <a:effectLst/>
                        </a:rPr>
                        <a:t>P47W25~W27B23~B12</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dirty="0">
                          <a:effectLst/>
                        </a:rPr>
                        <a:t>RS049</a:t>
                      </a:r>
                      <a:endParaRPr lang="zh-CN" sz="800" kern="100" dirty="0">
                        <a:effectLst/>
                        <a:latin typeface="Times New Roman"/>
                        <a:ea typeface="宋体"/>
                      </a:endParaRPr>
                    </a:p>
                  </a:txBody>
                  <a:tcPr marL="10645" marR="10645" marT="0" marB="0" anchor="ctr"/>
                </a:tc>
                <a:tc>
                  <a:txBody>
                    <a:bodyPr/>
                    <a:lstStyle/>
                    <a:p>
                      <a:pPr algn="ctr">
                        <a:spcAft>
                          <a:spcPts val="0"/>
                        </a:spcAft>
                      </a:pPr>
                      <a:r>
                        <a:rPr lang="en-US" sz="800" kern="100" dirty="0">
                          <a:effectLst/>
                        </a:rPr>
                        <a:t>13_-Y_Skin_of_-Z_TEMPERATURE</a:t>
                      </a:r>
                      <a:endParaRPr lang="zh-CN" sz="800" kern="100" dirty="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185174">
                <a:tc>
                  <a:txBody>
                    <a:bodyPr/>
                    <a:lstStyle/>
                    <a:p>
                      <a:pPr algn="ctr">
                        <a:spcAft>
                          <a:spcPts val="0"/>
                        </a:spcAft>
                      </a:pPr>
                      <a:r>
                        <a:rPr lang="en-US" sz="800" kern="100">
                          <a:effectLst/>
                        </a:rPr>
                        <a:t>P47W25~W27B11~B0</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dirty="0">
                          <a:effectLst/>
                        </a:rPr>
                        <a:t>RS050</a:t>
                      </a:r>
                      <a:endParaRPr lang="zh-CN" sz="800" kern="100" dirty="0">
                        <a:effectLst/>
                        <a:latin typeface="Times New Roman"/>
                        <a:ea typeface="宋体"/>
                      </a:endParaRPr>
                    </a:p>
                  </a:txBody>
                  <a:tcPr marL="10645" marR="10645" marT="0" marB="0" anchor="ctr"/>
                </a:tc>
                <a:tc>
                  <a:txBody>
                    <a:bodyPr/>
                    <a:lstStyle/>
                    <a:p>
                      <a:pPr algn="ctr">
                        <a:spcAft>
                          <a:spcPts val="0"/>
                        </a:spcAft>
                      </a:pPr>
                      <a:r>
                        <a:rPr lang="en-US" sz="800" kern="100">
                          <a:effectLst/>
                        </a:rPr>
                        <a:t>14_-Y_Skin_of_+Z_TEMPERATURE</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185174">
                <a:tc>
                  <a:txBody>
                    <a:bodyPr/>
                    <a:lstStyle/>
                    <a:p>
                      <a:pPr algn="ctr">
                        <a:spcAft>
                          <a:spcPts val="0"/>
                        </a:spcAft>
                      </a:pPr>
                      <a:r>
                        <a:rPr lang="en-US" sz="800" kern="100">
                          <a:effectLst/>
                        </a:rPr>
                        <a:t>P47W28~W30B23~B12</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RS051</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dirty="0">
                          <a:effectLst/>
                        </a:rPr>
                        <a:t>15_Top_of_+Z_frame_TEMPERATURE</a:t>
                      </a:r>
                      <a:endParaRPr lang="zh-CN" sz="800" kern="100" dirty="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185174">
                <a:tc>
                  <a:txBody>
                    <a:bodyPr/>
                    <a:lstStyle/>
                    <a:p>
                      <a:pPr algn="ctr">
                        <a:spcAft>
                          <a:spcPts val="0"/>
                        </a:spcAft>
                      </a:pPr>
                      <a:r>
                        <a:rPr lang="en-US" sz="800" kern="100">
                          <a:effectLst/>
                        </a:rPr>
                        <a:t>P47W28~W30B11~B0</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RS052</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dirty="0">
                          <a:effectLst/>
                        </a:rPr>
                        <a:t>16_Bottom_of_+Z_frame_TEMPERATURE</a:t>
                      </a:r>
                      <a:endParaRPr lang="zh-CN" sz="800" kern="100" dirty="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185174">
                <a:tc>
                  <a:txBody>
                    <a:bodyPr/>
                    <a:lstStyle/>
                    <a:p>
                      <a:pPr algn="ctr">
                        <a:spcAft>
                          <a:spcPts val="0"/>
                        </a:spcAft>
                      </a:pPr>
                      <a:r>
                        <a:rPr lang="en-US" sz="800" kern="100">
                          <a:effectLst/>
                        </a:rPr>
                        <a:t>P47W31~W33B23~B12</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RS053</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17_Back_Skin_TEMPERATURE</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dirty="0">
                          <a:effectLst/>
                        </a:rPr>
                        <a:t>%f</a:t>
                      </a:r>
                      <a:endParaRPr lang="zh-CN" sz="800" kern="100" dirty="0">
                        <a:effectLst/>
                        <a:latin typeface="Times New Roman"/>
                        <a:ea typeface="宋体"/>
                      </a:endParaRPr>
                    </a:p>
                  </a:txBody>
                  <a:tcPr marL="10645" marR="10645" marT="0" marB="0" anchor="ctr"/>
                </a:tc>
              </a:tr>
              <a:tr h="185174">
                <a:tc>
                  <a:txBody>
                    <a:bodyPr/>
                    <a:lstStyle/>
                    <a:p>
                      <a:pPr algn="ctr">
                        <a:spcAft>
                          <a:spcPts val="0"/>
                        </a:spcAft>
                      </a:pPr>
                      <a:r>
                        <a:rPr lang="en-US" sz="800" kern="100">
                          <a:effectLst/>
                        </a:rPr>
                        <a:t>P47W31~W33B11~B0</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RS054</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18_Upper_of_Back_Skin_TEMPERATURE</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185174">
                <a:tc>
                  <a:txBody>
                    <a:bodyPr/>
                    <a:lstStyle/>
                    <a:p>
                      <a:pPr algn="ctr">
                        <a:spcAft>
                          <a:spcPts val="0"/>
                        </a:spcAft>
                      </a:pPr>
                      <a:r>
                        <a:rPr lang="en-US" sz="800" kern="100">
                          <a:effectLst/>
                        </a:rPr>
                        <a:t>P47W34~W36B23~B12</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RS055</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19_Bottom_of_Back_Skin_TEMPERATURE</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251460">
                <a:tc>
                  <a:txBody>
                    <a:bodyPr/>
                    <a:lstStyle/>
                    <a:p>
                      <a:pPr algn="ctr">
                        <a:spcAft>
                          <a:spcPts val="0"/>
                        </a:spcAft>
                      </a:pPr>
                      <a:r>
                        <a:rPr lang="en-US" sz="800" kern="100">
                          <a:effectLst/>
                        </a:rPr>
                        <a:t>P47W34~W36B11~B0</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RS056</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20_Focal_plane_splice_lens_frame_TEMPERATURE</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251460">
                <a:tc>
                  <a:txBody>
                    <a:bodyPr/>
                    <a:lstStyle/>
                    <a:p>
                      <a:pPr algn="ctr">
                        <a:spcAft>
                          <a:spcPts val="0"/>
                        </a:spcAft>
                      </a:pPr>
                      <a:r>
                        <a:rPr lang="en-US" sz="800" kern="100">
                          <a:effectLst/>
                        </a:rPr>
                        <a:t>P47W37~W39B23~B12</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RS057</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21_Focal_circuit_Inside_frame_TEMPERATURE</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185174">
                <a:tc>
                  <a:txBody>
                    <a:bodyPr/>
                    <a:lstStyle/>
                    <a:p>
                      <a:pPr algn="ctr">
                        <a:spcAft>
                          <a:spcPts val="0"/>
                        </a:spcAft>
                      </a:pPr>
                      <a:r>
                        <a:rPr lang="en-US" sz="800" kern="100">
                          <a:effectLst/>
                        </a:rPr>
                        <a:t>P47W37~W39B11~B0</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RS058</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22-Main&amp;Third_lens_cover_TEMPERATURE</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185174">
                <a:tc>
                  <a:txBody>
                    <a:bodyPr/>
                    <a:lstStyle/>
                    <a:p>
                      <a:pPr algn="ctr">
                        <a:spcAft>
                          <a:spcPts val="0"/>
                        </a:spcAft>
                      </a:pPr>
                      <a:r>
                        <a:rPr lang="en-US" sz="800" kern="100">
                          <a:effectLst/>
                        </a:rPr>
                        <a:t>P47W40~W42B23~B12</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RS059</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dirty="0">
                          <a:effectLst/>
                        </a:rPr>
                        <a:t>23-Secondary_lens_cover_TEMPERATURE</a:t>
                      </a:r>
                      <a:endParaRPr lang="zh-CN" sz="800" kern="100" dirty="0">
                        <a:effectLst/>
                        <a:latin typeface="Times New Roman"/>
                        <a:ea typeface="宋体"/>
                      </a:endParaRPr>
                    </a:p>
                  </a:txBody>
                  <a:tcPr marL="10645" marR="10645" marT="0" marB="0" anchor="ctr"/>
                </a:tc>
                <a:tc>
                  <a:txBody>
                    <a:bodyPr/>
                    <a:lstStyle/>
                    <a:p>
                      <a:pPr algn="ctr">
                        <a:spcAft>
                          <a:spcPts val="0"/>
                        </a:spcAft>
                      </a:pPr>
                      <a:r>
                        <a:rPr lang="en-US" sz="800" kern="100">
                          <a:effectLst/>
                        </a:rPr>
                        <a:t>%f</a:t>
                      </a:r>
                      <a:endParaRPr lang="zh-CN" sz="800" kern="100">
                        <a:effectLst/>
                        <a:latin typeface="Times New Roman"/>
                        <a:ea typeface="宋体"/>
                      </a:endParaRPr>
                    </a:p>
                  </a:txBody>
                  <a:tcPr marL="10645" marR="10645" marT="0" marB="0" anchor="ctr"/>
                </a:tc>
              </a:tr>
              <a:tr h="185174">
                <a:tc>
                  <a:txBody>
                    <a:bodyPr/>
                    <a:lstStyle/>
                    <a:p>
                      <a:pPr algn="ctr">
                        <a:spcAft>
                          <a:spcPts val="0"/>
                        </a:spcAft>
                      </a:pPr>
                      <a:r>
                        <a:rPr lang="en-US" sz="800" kern="100">
                          <a:effectLst/>
                        </a:rPr>
                        <a:t>P47W40~W42B11~B0</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RS060</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a:effectLst/>
                        </a:rPr>
                        <a:t>24-CCD_TEMPERATURE</a:t>
                      </a:r>
                      <a:endParaRPr lang="zh-CN" sz="800" kern="100">
                        <a:effectLst/>
                        <a:latin typeface="Times New Roman"/>
                        <a:ea typeface="宋体"/>
                      </a:endParaRPr>
                    </a:p>
                  </a:txBody>
                  <a:tcPr marL="10645" marR="10645" marT="0" marB="0" anchor="ctr"/>
                </a:tc>
                <a:tc>
                  <a:txBody>
                    <a:bodyPr/>
                    <a:lstStyle/>
                    <a:p>
                      <a:pPr algn="ctr">
                        <a:spcAft>
                          <a:spcPts val="0"/>
                        </a:spcAft>
                      </a:pPr>
                      <a:r>
                        <a:rPr lang="en-US" sz="800" kern="100" dirty="0">
                          <a:effectLst/>
                        </a:rPr>
                        <a:t>%f</a:t>
                      </a:r>
                      <a:endParaRPr lang="zh-CN" sz="800" kern="100" dirty="0">
                        <a:effectLst/>
                        <a:latin typeface="Times New Roman"/>
                        <a:ea typeface="宋体"/>
                      </a:endParaRPr>
                    </a:p>
                  </a:txBody>
                  <a:tcPr marL="10645" marR="10645" marT="0" marB="0" anchor="ctr"/>
                </a:tc>
              </a:tr>
            </a:tbl>
          </a:graphicData>
        </a:graphic>
      </p:graphicFrame>
    </p:spTree>
    <p:extLst>
      <p:ext uri="{BB962C8B-B14F-4D97-AF65-F5344CB8AC3E}">
        <p14:creationId xmlns:p14="http://schemas.microsoft.com/office/powerpoint/2010/main" val="36659838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内容占位符 2"/>
          <p:cNvSpPr>
            <a:spLocks noGrp="1"/>
          </p:cNvSpPr>
          <p:nvPr>
            <p:ph idx="4294967295"/>
          </p:nvPr>
        </p:nvSpPr>
        <p:spPr>
          <a:xfrm>
            <a:off x="89238" y="1005576"/>
            <a:ext cx="9072562" cy="647700"/>
          </a:xfrm>
        </p:spPr>
        <p:txBody>
          <a:bodyPr>
            <a:normAutofit lnSpcReduction="10000"/>
          </a:bodyPr>
          <a:lstStyle/>
          <a:p>
            <a:pPr eaLnBrk="1" hangingPunct="1"/>
            <a:r>
              <a:rPr lang="en-US" altLang="zh-CN" sz="2600" dirty="0" smtClean="0"/>
              <a:t>Imaging Mode</a:t>
            </a:r>
          </a:p>
        </p:txBody>
      </p:sp>
      <p:sp>
        <p:nvSpPr>
          <p:cNvPr id="53251" name="标题 3"/>
          <p:cNvSpPr>
            <a:spLocks noGrp="1" noChangeArrowheads="1"/>
          </p:cNvSpPr>
          <p:nvPr>
            <p:ph type="title" idx="4294967295"/>
          </p:nvPr>
        </p:nvSpPr>
        <p:spPr>
          <a:xfrm>
            <a:off x="7951" y="187713"/>
            <a:ext cx="8893175" cy="661720"/>
          </a:xfrm>
        </p:spPr>
        <p:txBody>
          <a:bodyPr>
            <a:spAutoFit/>
          </a:bodyPr>
          <a:lstStyle/>
          <a:p>
            <a:r>
              <a:rPr lang="en-US" altLang="zh-CN" sz="3700" dirty="0" smtClean="0">
                <a:latin typeface="Arial" panose="020B0604020202020204" pitchFamily="34" charset="0"/>
                <a:cs typeface="Arial" panose="020B0604020202020204" pitchFamily="34" charset="0"/>
              </a:rPr>
              <a:t>TC </a:t>
            </a:r>
            <a:r>
              <a:rPr lang="en-US" altLang="zh-CN" sz="3700" dirty="0">
                <a:latin typeface="Arial" panose="020B0604020202020204" pitchFamily="34" charset="0"/>
                <a:cs typeface="Arial" panose="020B0604020202020204" pitchFamily="34" charset="0"/>
              </a:rPr>
              <a:t>Based on Operation Mode</a:t>
            </a:r>
            <a:endParaRPr lang="zh-CN" altLang="en-US" sz="3700" dirty="0">
              <a:latin typeface="Arial" panose="020B0604020202020204" pitchFamily="34" charset="0"/>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395470744"/>
              </p:ext>
            </p:extLst>
          </p:nvPr>
        </p:nvGraphicFramePr>
        <p:xfrm>
          <a:off x="1331640" y="1707654"/>
          <a:ext cx="6624736" cy="1251570"/>
        </p:xfrm>
        <a:graphic>
          <a:graphicData uri="http://schemas.openxmlformats.org/drawingml/2006/table">
            <a:tbl>
              <a:tblPr/>
              <a:tblGrid>
                <a:gridCol w="1152128"/>
                <a:gridCol w="3456384"/>
                <a:gridCol w="2016224"/>
              </a:tblGrid>
              <a:tr h="1714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dirty="0" smtClean="0">
                          <a:ln>
                            <a:noFill/>
                          </a:ln>
                          <a:solidFill>
                            <a:schemeClr val="tx1"/>
                          </a:solidFill>
                          <a:effectLst/>
                          <a:latin typeface="Arial" panose="020B0604020202020204" pitchFamily="34" charset="0"/>
                          <a:ea typeface="宋体" pitchFamily="2" charset="-122"/>
                          <a:cs typeface="Arial" panose="020B0604020202020204" pitchFamily="34" charset="0"/>
                        </a:rPr>
                        <a:t>TC Number</a:t>
                      </a:r>
                      <a:endParaRPr kumimoji="0" lang="zh-CN" altLang="zh-CN" sz="1100" b="0" i="0" u="none" strike="noStrike" cap="none" normalizeH="0" baseline="0" dirty="0" smtClean="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L="16127" marR="1612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B3B3"/>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dirty="0" smtClean="0">
                          <a:ln>
                            <a:noFill/>
                          </a:ln>
                          <a:solidFill>
                            <a:schemeClr val="tx1"/>
                          </a:solidFill>
                          <a:effectLst/>
                          <a:latin typeface="Arial" panose="020B0604020202020204" pitchFamily="34" charset="0"/>
                          <a:ea typeface="宋体" pitchFamily="2" charset="-122"/>
                          <a:cs typeface="Arial" panose="020B0604020202020204" pitchFamily="34" charset="0"/>
                        </a:rPr>
                        <a:t>TC Name</a:t>
                      </a:r>
                      <a:endParaRPr kumimoji="0" lang="zh-CN" altLang="zh-CN" sz="1100" b="0" i="0" u="none" strike="noStrike" cap="none" normalizeH="0" baseline="0" dirty="0" smtClean="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L="16127" marR="1612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B3B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chemeClr val="tx1"/>
                          </a:solidFill>
                          <a:effectLst/>
                          <a:latin typeface="Arial" panose="020B0604020202020204" pitchFamily="34" charset="0"/>
                          <a:ea typeface="宋体" pitchFamily="2" charset="-122"/>
                          <a:cs typeface="Arial" panose="020B0604020202020204" pitchFamily="34" charset="0"/>
                        </a:rPr>
                        <a:t>TC Code</a:t>
                      </a:r>
                      <a:endParaRPr kumimoji="0" lang="zh-CN" altLang="zh-CN" sz="1100" b="0" i="0" u="none" strike="noStrike" cap="none" normalizeH="0" baseline="0" smtClean="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L="16127" marR="1612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B3B3"/>
                    </a:solidFill>
                  </a:tcPr>
                </a:tc>
              </a:tr>
              <a:tr h="270030">
                <a:tc>
                  <a:txBody>
                    <a:bodyPr/>
                    <a:lstStyle/>
                    <a:p>
                      <a:pPr algn="just">
                        <a:spcAft>
                          <a:spcPts val="0"/>
                        </a:spcAft>
                      </a:pPr>
                      <a:r>
                        <a:rPr lang="en-US" sz="800" kern="100" dirty="0">
                          <a:effectLst/>
                          <a:latin typeface="Times New Roman"/>
                          <a:ea typeface="宋体"/>
                        </a:rPr>
                        <a:t>KSM137</a:t>
                      </a:r>
                      <a:endParaRPr lang="zh-CN" sz="8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algn="l">
                        <a:spcAft>
                          <a:spcPts val="0"/>
                        </a:spcAft>
                      </a:pPr>
                      <a:r>
                        <a:rPr lang="en-US" altLang="zh-CN" sz="1100" kern="100" dirty="0" smtClean="0">
                          <a:solidFill>
                            <a:srgbClr val="000000"/>
                          </a:solidFill>
                          <a:effectLst/>
                          <a:latin typeface="Times New Roman"/>
                          <a:ea typeface="+mn-ea"/>
                        </a:rPr>
                        <a:t>MC Power-on 1st</a:t>
                      </a:r>
                      <a:endParaRPr lang="zh-CN" altLang="zh-CN" sz="1100" kern="100" dirty="0">
                        <a:effectLst/>
                        <a:latin typeface="Times New Roman"/>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algn="ctr">
                        <a:spcAft>
                          <a:spcPts val="0"/>
                        </a:spcAft>
                      </a:pPr>
                      <a:r>
                        <a:rPr lang="en-US" sz="800" kern="100">
                          <a:effectLst/>
                          <a:latin typeface="Times New Roman"/>
                          <a:ea typeface="宋体"/>
                        </a:rPr>
                        <a:t>007015AAH</a:t>
                      </a:r>
                      <a:endParaRPr lang="zh-CN" sz="8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270030">
                <a:tc>
                  <a:txBody>
                    <a:bodyPr/>
                    <a:lstStyle/>
                    <a:p>
                      <a:pPr algn="just">
                        <a:spcAft>
                          <a:spcPts val="0"/>
                        </a:spcAft>
                      </a:pPr>
                      <a:r>
                        <a:rPr lang="en-US" sz="800" kern="100" dirty="0">
                          <a:effectLst/>
                          <a:latin typeface="Times New Roman"/>
                          <a:ea typeface="宋体"/>
                        </a:rPr>
                        <a:t>KSM138</a:t>
                      </a:r>
                      <a:endParaRPr lang="zh-CN" sz="8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algn="l">
                        <a:spcAft>
                          <a:spcPts val="0"/>
                        </a:spcAft>
                      </a:pPr>
                      <a:r>
                        <a:rPr lang="en-US" altLang="zh-CN" sz="1100" kern="100" dirty="0" smtClean="0">
                          <a:solidFill>
                            <a:srgbClr val="000000"/>
                          </a:solidFill>
                          <a:effectLst/>
                          <a:latin typeface="Times New Roman"/>
                          <a:ea typeface="+mn-ea"/>
                        </a:rPr>
                        <a:t>MC Power-on 2nd</a:t>
                      </a:r>
                      <a:endParaRPr lang="zh-CN" altLang="zh-CN" sz="1100" kern="100" dirty="0">
                        <a:effectLst/>
                        <a:latin typeface="Times New Roman"/>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algn="ctr">
                        <a:spcAft>
                          <a:spcPts val="0"/>
                        </a:spcAft>
                      </a:pPr>
                      <a:r>
                        <a:rPr lang="en-US" sz="800" kern="100">
                          <a:effectLst/>
                          <a:latin typeface="Times New Roman"/>
                          <a:ea typeface="宋体"/>
                        </a:rPr>
                        <a:t>007016AAH</a:t>
                      </a:r>
                      <a:endParaRPr lang="zh-CN" sz="8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270030">
                <a:tc>
                  <a:txBody>
                    <a:bodyPr/>
                    <a:lstStyle/>
                    <a:p>
                      <a:pPr algn="just">
                        <a:spcAft>
                          <a:spcPts val="0"/>
                        </a:spcAft>
                      </a:pPr>
                      <a:r>
                        <a:rPr lang="en-US" sz="800" kern="100" dirty="0">
                          <a:effectLst/>
                          <a:latin typeface="Times New Roman"/>
                          <a:ea typeface="宋体"/>
                        </a:rPr>
                        <a:t>KSM139</a:t>
                      </a:r>
                      <a:endParaRPr lang="zh-CN" sz="8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algn="l">
                        <a:spcAft>
                          <a:spcPts val="0"/>
                        </a:spcAft>
                      </a:pPr>
                      <a:r>
                        <a:rPr lang="en-US" altLang="zh-CN" sz="1100" kern="100" dirty="0" smtClean="0">
                          <a:solidFill>
                            <a:srgbClr val="000000"/>
                          </a:solidFill>
                          <a:effectLst/>
                          <a:latin typeface="Times New Roman"/>
                          <a:ea typeface="+mn-ea"/>
                        </a:rPr>
                        <a:t>MC Power-off 1st</a:t>
                      </a:r>
                      <a:endParaRPr lang="zh-CN" altLang="zh-CN" sz="1100" kern="100" dirty="0">
                        <a:effectLst/>
                        <a:latin typeface="Times New Roman"/>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algn="ctr">
                        <a:spcAft>
                          <a:spcPts val="0"/>
                        </a:spcAft>
                      </a:pPr>
                      <a:r>
                        <a:rPr lang="en-US" sz="800" kern="100">
                          <a:effectLst/>
                          <a:latin typeface="Times New Roman"/>
                          <a:ea typeface="宋体"/>
                        </a:rPr>
                        <a:t>007017AAH</a:t>
                      </a:r>
                      <a:endParaRPr lang="zh-CN" sz="8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270030">
                <a:tc>
                  <a:txBody>
                    <a:bodyPr/>
                    <a:lstStyle/>
                    <a:p>
                      <a:pPr algn="just">
                        <a:spcAft>
                          <a:spcPts val="0"/>
                        </a:spcAft>
                      </a:pPr>
                      <a:r>
                        <a:rPr lang="en-US" sz="800" kern="100" dirty="0">
                          <a:effectLst/>
                          <a:latin typeface="Times New Roman"/>
                          <a:ea typeface="宋体"/>
                        </a:rPr>
                        <a:t>KSM140</a:t>
                      </a:r>
                      <a:endParaRPr lang="zh-CN" sz="8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algn="l" defTabSz="914400" rtl="0" eaLnBrk="1" latinLnBrk="0" hangingPunct="1">
                        <a:spcAft>
                          <a:spcPts val="0"/>
                        </a:spcAft>
                      </a:pPr>
                      <a:r>
                        <a:rPr lang="en-US" altLang="zh-CN" sz="1100" kern="100" dirty="0" smtClean="0">
                          <a:solidFill>
                            <a:srgbClr val="000000"/>
                          </a:solidFill>
                          <a:effectLst/>
                          <a:latin typeface="Times New Roman"/>
                          <a:ea typeface="+mn-ea"/>
                          <a:cs typeface="+mn-cs"/>
                        </a:rPr>
                        <a:t>MC Power-off 2st</a:t>
                      </a:r>
                      <a:endParaRPr lang="zh-CN" altLang="zh-CN" sz="1100" kern="100" dirty="0">
                        <a:solidFill>
                          <a:srgbClr val="000000"/>
                        </a:solidFill>
                        <a:effectLst/>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algn="ctr">
                        <a:spcAft>
                          <a:spcPts val="0"/>
                        </a:spcAft>
                      </a:pPr>
                      <a:r>
                        <a:rPr lang="en-US" sz="800" kern="100" dirty="0">
                          <a:effectLst/>
                          <a:latin typeface="Times New Roman"/>
                          <a:ea typeface="宋体"/>
                        </a:rPr>
                        <a:t>007018AAH</a:t>
                      </a:r>
                      <a:endParaRPr lang="zh-CN" sz="8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spTree>
    <p:extLst>
      <p:ext uri="{BB962C8B-B14F-4D97-AF65-F5344CB8AC3E}">
        <p14:creationId xmlns:p14="http://schemas.microsoft.com/office/powerpoint/2010/main" val="16597846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内容占位符 2"/>
          <p:cNvSpPr>
            <a:spLocks noGrp="1"/>
          </p:cNvSpPr>
          <p:nvPr>
            <p:ph idx="4294967295"/>
          </p:nvPr>
        </p:nvSpPr>
        <p:spPr>
          <a:xfrm>
            <a:off x="71438" y="951570"/>
            <a:ext cx="9072562" cy="378619"/>
          </a:xfrm>
        </p:spPr>
        <p:txBody>
          <a:bodyPr>
            <a:normAutofit fontScale="55000" lnSpcReduction="20000"/>
          </a:bodyPr>
          <a:lstStyle/>
          <a:p>
            <a:pPr eaLnBrk="1" hangingPunct="1"/>
            <a:r>
              <a:rPr lang="en-US" altLang="zh-CN" sz="2600" dirty="0" smtClean="0"/>
              <a:t>Imaging Mode– reference to </a:t>
            </a:r>
            <a:r>
              <a:rPr lang="en-US" altLang="zh-CN" sz="2600" dirty="0" smtClean="0">
                <a:solidFill>
                  <a:srgbClr val="FF0000"/>
                </a:solidFill>
              </a:rPr>
              <a:t>imaging parameter setting</a:t>
            </a:r>
            <a:endParaRPr lang="en-US" altLang="zh-CN" sz="2600" dirty="0" smtClean="0"/>
          </a:p>
        </p:txBody>
      </p:sp>
      <p:sp>
        <p:nvSpPr>
          <p:cNvPr id="71683" name="标题 3"/>
          <p:cNvSpPr>
            <a:spLocks noGrp="1" noChangeArrowheads="1"/>
          </p:cNvSpPr>
          <p:nvPr>
            <p:ph type="title" idx="4294967295"/>
          </p:nvPr>
        </p:nvSpPr>
        <p:spPr>
          <a:xfrm>
            <a:off x="1" y="129077"/>
            <a:ext cx="8893175" cy="661720"/>
          </a:xfrm>
        </p:spPr>
        <p:txBody>
          <a:bodyPr>
            <a:spAutoFit/>
          </a:bodyPr>
          <a:lstStyle/>
          <a:p>
            <a:r>
              <a:rPr lang="en-US" altLang="zh-CN" sz="3700" dirty="0">
                <a:latin typeface="Arial" panose="020B0604020202020204" pitchFamily="34" charset="0"/>
                <a:cs typeface="Arial" panose="020B0604020202020204" pitchFamily="34" charset="0"/>
              </a:rPr>
              <a:t>TM/TC Based on Operation Mode</a:t>
            </a:r>
            <a:endParaRPr lang="zh-CN" altLang="en-US" sz="3700" dirty="0">
              <a:latin typeface="Arial" panose="020B0604020202020204" pitchFamily="34" charset="0"/>
              <a:cs typeface="Arial" panose="020B0604020202020204" pitchFamily="34" charset="0"/>
            </a:endParaRPr>
          </a:p>
        </p:txBody>
      </p:sp>
      <p:sp>
        <p:nvSpPr>
          <p:cNvPr id="71727" name="Rectangle 4"/>
          <p:cNvSpPr>
            <a:spLocks noChangeArrowheads="1"/>
          </p:cNvSpPr>
          <p:nvPr/>
        </p:nvSpPr>
        <p:spPr bwMode="auto">
          <a:xfrm>
            <a:off x="0" y="-90160"/>
            <a:ext cx="13051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indent="200025" eaLnBrk="0" hangingPunct="0"/>
            <a:r>
              <a:rPr lang="en-US" altLang="zh-CN" sz="1000">
                <a:latin typeface="Arial Narrow" pitchFamily="34" charset="0"/>
                <a:cs typeface="Arial" pitchFamily="34" charset="0"/>
              </a:rPr>
              <a:t>TDI stages for PMC</a:t>
            </a:r>
            <a:endParaRPr lang="en-US" altLang="zh-CN" sz="900"/>
          </a:p>
          <a:p>
            <a:pPr indent="200025" eaLnBrk="0" hangingPunct="0"/>
            <a:endParaRPr lang="en-US" altLang="zh-CN"/>
          </a:p>
        </p:txBody>
      </p:sp>
      <p:sp>
        <p:nvSpPr>
          <p:cNvPr id="4" name="TextBox 3"/>
          <p:cNvSpPr txBox="1"/>
          <p:nvPr/>
        </p:nvSpPr>
        <p:spPr>
          <a:xfrm>
            <a:off x="611560" y="1302036"/>
            <a:ext cx="18002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smtClean="0"/>
              <a:t>Default Value</a:t>
            </a:r>
            <a:endParaRPr lang="zh-CN" altLang="en-US" b="1" dirty="0"/>
          </a:p>
        </p:txBody>
      </p:sp>
      <p:graphicFrame>
        <p:nvGraphicFramePr>
          <p:cNvPr id="3" name="表格 2"/>
          <p:cNvGraphicFramePr>
            <a:graphicFrameLocks noGrp="1"/>
          </p:cNvGraphicFramePr>
          <p:nvPr>
            <p:extLst>
              <p:ext uri="{D42A27DB-BD31-4B8C-83A1-F6EECF244321}">
                <p14:modId xmlns:p14="http://schemas.microsoft.com/office/powerpoint/2010/main" val="3810986680"/>
              </p:ext>
            </p:extLst>
          </p:nvPr>
        </p:nvGraphicFramePr>
        <p:xfrm>
          <a:off x="899592" y="1923678"/>
          <a:ext cx="6840759" cy="1027666"/>
        </p:xfrm>
        <a:graphic>
          <a:graphicData uri="http://schemas.openxmlformats.org/drawingml/2006/table">
            <a:tbl>
              <a:tblPr firstRow="1" firstCol="1" bandRow="1">
                <a:tableStyleId>{5C22544A-7EE6-4342-B048-85BDC9FD1C3A}</a:tableStyleId>
              </a:tblPr>
              <a:tblGrid>
                <a:gridCol w="2160241"/>
                <a:gridCol w="1152128"/>
                <a:gridCol w="1045840"/>
                <a:gridCol w="1241275"/>
                <a:gridCol w="1241275"/>
              </a:tblGrid>
              <a:tr h="308610">
                <a:tc>
                  <a:txBody>
                    <a:bodyPr/>
                    <a:lstStyle/>
                    <a:p>
                      <a:pPr algn="ctr">
                        <a:lnSpc>
                          <a:spcPct val="150000"/>
                        </a:lnSpc>
                        <a:spcAft>
                          <a:spcPts val="0"/>
                        </a:spcAft>
                      </a:pPr>
                      <a:r>
                        <a:rPr lang="en-US" sz="1400" kern="100" dirty="0">
                          <a:effectLst/>
                          <a:latin typeface="Times New Roman" panose="02020603050405020304" pitchFamily="18" charset="0"/>
                          <a:cs typeface="Times New Roman" panose="02020603050405020304" pitchFamily="18" charset="0"/>
                        </a:rPr>
                        <a:t>Band</a:t>
                      </a:r>
                      <a:endParaRPr lang="zh-CN" sz="14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sz="1400" kern="100" dirty="0">
                          <a:effectLst/>
                          <a:latin typeface="Times New Roman" panose="02020603050405020304" pitchFamily="18" charset="0"/>
                          <a:cs typeface="Times New Roman" panose="02020603050405020304" pitchFamily="18" charset="0"/>
                        </a:rPr>
                        <a:t>B1 </a:t>
                      </a:r>
                      <a:endParaRPr lang="zh-CN" sz="14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sz="1400" kern="100" dirty="0">
                          <a:effectLst/>
                          <a:latin typeface="Times New Roman" panose="02020603050405020304" pitchFamily="18" charset="0"/>
                          <a:cs typeface="Times New Roman" panose="02020603050405020304" pitchFamily="18" charset="0"/>
                        </a:rPr>
                        <a:t>B2 </a:t>
                      </a:r>
                      <a:endParaRPr lang="zh-CN" sz="14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sz="1400" kern="100">
                          <a:effectLst/>
                          <a:latin typeface="Times New Roman" panose="02020603050405020304" pitchFamily="18" charset="0"/>
                          <a:cs typeface="Times New Roman" panose="02020603050405020304" pitchFamily="18" charset="0"/>
                        </a:rPr>
                        <a:t>B3 </a:t>
                      </a:r>
                      <a:endParaRPr lang="zh-CN" sz="1400" kern="10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sz="1400" kern="100">
                          <a:effectLst/>
                          <a:latin typeface="Times New Roman" panose="02020603050405020304" pitchFamily="18" charset="0"/>
                          <a:cs typeface="Times New Roman" panose="02020603050405020304" pitchFamily="18" charset="0"/>
                        </a:rPr>
                        <a:t>B4 </a:t>
                      </a:r>
                      <a:endParaRPr lang="zh-CN" sz="1400" kern="100">
                        <a:effectLst/>
                        <a:latin typeface="Times New Roman" panose="02020603050405020304" pitchFamily="18" charset="0"/>
                        <a:ea typeface="宋体"/>
                        <a:cs typeface="Times New Roman" panose="02020603050405020304" pitchFamily="18" charset="0"/>
                      </a:endParaRPr>
                    </a:p>
                  </a:txBody>
                  <a:tcPr marL="68580" marR="68580" marT="0" marB="0" anchor="ctr"/>
                </a:tc>
              </a:tr>
              <a:tr h="410446">
                <a:tc>
                  <a:txBody>
                    <a:bodyPr/>
                    <a:lstStyle/>
                    <a:p>
                      <a:pPr algn="l" fontAlgn="b"/>
                      <a:r>
                        <a:rPr lang="en-US" altLang="zh-CN" sz="1400" b="0" i="0" u="none" strike="noStrike" dirty="0" err="1" smtClean="0">
                          <a:solidFill>
                            <a:srgbClr val="000000"/>
                          </a:solidFill>
                          <a:effectLst/>
                          <a:latin typeface="Times New Roman"/>
                        </a:rPr>
                        <a:t>Algorithm_ENABLE</a:t>
                      </a:r>
                      <a:r>
                        <a:rPr lang="en-US" altLang="zh-CN" sz="1400" b="0" i="0" u="none" strike="noStrike" dirty="0" smtClean="0">
                          <a:solidFill>
                            <a:srgbClr val="000000"/>
                          </a:solidFill>
                          <a:effectLst/>
                          <a:latin typeface="Times New Roman"/>
                        </a:rPr>
                        <a:t> </a:t>
                      </a:r>
                      <a:endParaRPr lang="en-US" altLang="zh-CN" sz="1400" b="0" i="0" u="none" strike="noStrike" dirty="0">
                        <a:solidFill>
                          <a:srgbClr val="000000"/>
                        </a:solidFill>
                        <a:effectLst/>
                        <a:latin typeface="Times New Roman"/>
                      </a:endParaRPr>
                    </a:p>
                  </a:txBody>
                  <a:tcPr marL="68580" marR="68580" marT="0" marB="0" anchor="ctr"/>
                </a:tc>
                <a:tc gridSpan="4">
                  <a:txBody>
                    <a:bodyPr/>
                    <a:lstStyle/>
                    <a:p>
                      <a:pPr algn="ctr">
                        <a:lnSpc>
                          <a:spcPct val="150000"/>
                        </a:lnSpc>
                        <a:spcAft>
                          <a:spcPts val="0"/>
                        </a:spcAft>
                      </a:pPr>
                      <a:r>
                        <a:rPr lang="en-US" sz="1400" kern="0" dirty="0" smtClean="0">
                          <a:effectLst/>
                          <a:latin typeface="Times New Roman" panose="02020603050405020304" pitchFamily="18" charset="0"/>
                          <a:cs typeface="Times New Roman" panose="02020603050405020304" pitchFamily="18" charset="0"/>
                        </a:rPr>
                        <a:t>0</a:t>
                      </a:r>
                      <a:r>
                        <a:rPr lang="en-US" altLang="zh-CN" sz="1400" kern="0" dirty="0" smtClean="0">
                          <a:effectLst/>
                          <a:latin typeface="Times New Roman" panose="02020603050405020304" pitchFamily="18" charset="0"/>
                          <a:cs typeface="Times New Roman" panose="02020603050405020304" pitchFamily="18" charset="0"/>
                        </a:rPr>
                        <a:t>1</a:t>
                      </a:r>
                      <a:r>
                        <a:rPr lang="en-US" sz="1400" kern="0" dirty="0" smtClean="0">
                          <a:effectLst/>
                          <a:latin typeface="Times New Roman" panose="02020603050405020304" pitchFamily="18" charset="0"/>
                          <a:cs typeface="Times New Roman" panose="02020603050405020304" pitchFamily="18" charset="0"/>
                        </a:rPr>
                        <a:t>H</a:t>
                      </a:r>
                      <a:endParaRPr lang="zh-CN" sz="14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pPr algn="ctr">
                        <a:lnSpc>
                          <a:spcPct val="150000"/>
                        </a:lnSpc>
                        <a:spcAft>
                          <a:spcPts val="0"/>
                        </a:spcAft>
                      </a:pPr>
                      <a:endParaRPr lang="zh-CN" sz="18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hMerge="1">
                  <a:txBody>
                    <a:bodyPr/>
                    <a:lstStyle/>
                    <a:p>
                      <a:pPr algn="ctr">
                        <a:lnSpc>
                          <a:spcPct val="150000"/>
                        </a:lnSpc>
                        <a:spcAft>
                          <a:spcPts val="0"/>
                        </a:spcAft>
                      </a:pPr>
                      <a:endParaRPr lang="zh-CN" sz="18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r>
              <a:tr h="308610">
                <a:tc>
                  <a:txBody>
                    <a:bodyPr/>
                    <a:lstStyle/>
                    <a:p>
                      <a:pPr algn="ctr">
                        <a:lnSpc>
                          <a:spcPct val="150000"/>
                        </a:lnSpc>
                        <a:spcAft>
                          <a:spcPts val="0"/>
                        </a:spcAft>
                      </a:pPr>
                      <a:r>
                        <a:rPr lang="en-US" sz="1400" kern="100">
                          <a:effectLst/>
                          <a:latin typeface="Times New Roman" panose="02020603050405020304" pitchFamily="18" charset="0"/>
                          <a:cs typeface="Times New Roman" panose="02020603050405020304" pitchFamily="18" charset="0"/>
                        </a:rPr>
                        <a:t>Gain</a:t>
                      </a:r>
                      <a:endParaRPr lang="zh-CN" sz="1400" kern="10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altLang="zh-CN" sz="1400" kern="0" dirty="0" smtClean="0">
                          <a:effectLst/>
                          <a:latin typeface="Times New Roman" panose="02020603050405020304" pitchFamily="18" charset="0"/>
                          <a:cs typeface="Times New Roman" panose="02020603050405020304" pitchFamily="18" charset="0"/>
                        </a:rPr>
                        <a:t>BB</a:t>
                      </a:r>
                      <a:r>
                        <a:rPr lang="en-US" sz="1400" kern="0" dirty="0" smtClean="0">
                          <a:effectLst/>
                          <a:latin typeface="Times New Roman" panose="02020603050405020304" pitchFamily="18" charset="0"/>
                          <a:cs typeface="Times New Roman" panose="02020603050405020304" pitchFamily="18" charset="0"/>
                        </a:rPr>
                        <a:t>H</a:t>
                      </a:r>
                      <a:endParaRPr lang="zh-CN" sz="14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altLang="zh-CN" sz="1400" kern="0" smtClean="0">
                          <a:effectLst/>
                          <a:latin typeface="Times New Roman" panose="02020603050405020304" pitchFamily="18" charset="0"/>
                          <a:cs typeface="Times New Roman" panose="02020603050405020304" pitchFamily="18" charset="0"/>
                        </a:rPr>
                        <a:t>BBH</a:t>
                      </a:r>
                      <a:endParaRPr lang="zh-CN" altLang="zh-CN" sz="14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altLang="zh-CN" sz="1400" kern="0" smtClean="0">
                          <a:effectLst/>
                          <a:latin typeface="Times New Roman" panose="02020603050405020304" pitchFamily="18" charset="0"/>
                          <a:cs typeface="Times New Roman" panose="02020603050405020304" pitchFamily="18" charset="0"/>
                        </a:rPr>
                        <a:t>BBH</a:t>
                      </a:r>
                      <a:endParaRPr lang="zh-CN" altLang="zh-CN" sz="14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altLang="zh-CN" sz="1400" kern="0" dirty="0" smtClean="0">
                          <a:effectLst/>
                          <a:latin typeface="Times New Roman" panose="02020603050405020304" pitchFamily="18" charset="0"/>
                          <a:cs typeface="Times New Roman" panose="02020603050405020304" pitchFamily="18" charset="0"/>
                        </a:rPr>
                        <a:t>BBH</a:t>
                      </a:r>
                      <a:endParaRPr lang="zh-CN" altLang="zh-CN" sz="1400" kern="100" dirty="0">
                        <a:effectLst/>
                        <a:latin typeface="Times New Roman" panose="02020603050405020304" pitchFamily="18" charset="0"/>
                        <a:ea typeface="宋体"/>
                        <a:cs typeface="Times New Roman" panose="02020603050405020304" pitchFamily="18" charset="0"/>
                      </a:endParaRPr>
                    </a:p>
                  </a:txBody>
                  <a:tcPr marL="68580" marR="68580" marT="0" marB="0" anchor="ctr"/>
                </a:tc>
              </a:tr>
            </a:tbl>
          </a:graphicData>
        </a:graphic>
      </p:graphicFrame>
    </p:spTree>
    <p:extLst>
      <p:ext uri="{BB962C8B-B14F-4D97-AF65-F5344CB8AC3E}">
        <p14:creationId xmlns:p14="http://schemas.microsoft.com/office/powerpoint/2010/main" val="16002660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内容占位符 2"/>
          <p:cNvSpPr>
            <a:spLocks noGrp="1"/>
          </p:cNvSpPr>
          <p:nvPr>
            <p:ph idx="4294967295"/>
          </p:nvPr>
        </p:nvSpPr>
        <p:spPr>
          <a:xfrm>
            <a:off x="71438" y="1383507"/>
            <a:ext cx="9072562" cy="378619"/>
          </a:xfrm>
        </p:spPr>
        <p:txBody>
          <a:bodyPr>
            <a:normAutofit fontScale="55000" lnSpcReduction="20000"/>
          </a:bodyPr>
          <a:lstStyle/>
          <a:p>
            <a:pPr eaLnBrk="1" hangingPunct="1"/>
            <a:r>
              <a:rPr lang="en-US" altLang="zh-CN" sz="2600" dirty="0" smtClean="0"/>
              <a:t>Imaging Mode– reference to </a:t>
            </a:r>
            <a:r>
              <a:rPr lang="en-US" altLang="zh-CN" sz="2600" dirty="0" smtClean="0">
                <a:solidFill>
                  <a:srgbClr val="FF0000"/>
                </a:solidFill>
              </a:rPr>
              <a:t>imaging parameter setting</a:t>
            </a:r>
            <a:endParaRPr lang="en-US" altLang="zh-CN" sz="2600" dirty="0" smtClean="0"/>
          </a:p>
        </p:txBody>
      </p:sp>
      <p:sp>
        <p:nvSpPr>
          <p:cNvPr id="71683" name="标题 3"/>
          <p:cNvSpPr>
            <a:spLocks noGrp="1" noChangeArrowheads="1"/>
          </p:cNvSpPr>
          <p:nvPr>
            <p:ph type="title" idx="4294967295"/>
          </p:nvPr>
        </p:nvSpPr>
        <p:spPr>
          <a:xfrm>
            <a:off x="1" y="129077"/>
            <a:ext cx="8893175" cy="661720"/>
          </a:xfrm>
        </p:spPr>
        <p:txBody>
          <a:bodyPr>
            <a:spAutoFit/>
          </a:bodyPr>
          <a:lstStyle/>
          <a:p>
            <a:r>
              <a:rPr lang="en-US" altLang="zh-CN" sz="3700" dirty="0">
                <a:latin typeface="Arial" panose="020B0604020202020204" pitchFamily="34" charset="0"/>
                <a:cs typeface="Arial" panose="020B0604020202020204" pitchFamily="34" charset="0"/>
              </a:rPr>
              <a:t>TM/TC Based on Operation Mode</a:t>
            </a:r>
            <a:endParaRPr lang="zh-CN" altLang="en-US" sz="3700" dirty="0">
              <a:latin typeface="Arial" panose="020B0604020202020204" pitchFamily="34" charset="0"/>
              <a:cs typeface="Arial" panose="020B0604020202020204" pitchFamily="34" charset="0"/>
            </a:endParaRPr>
          </a:p>
        </p:txBody>
      </p:sp>
      <p:sp>
        <p:nvSpPr>
          <p:cNvPr id="71727" name="Rectangle 4"/>
          <p:cNvSpPr>
            <a:spLocks noChangeArrowheads="1"/>
          </p:cNvSpPr>
          <p:nvPr/>
        </p:nvSpPr>
        <p:spPr bwMode="auto">
          <a:xfrm>
            <a:off x="0" y="-90160"/>
            <a:ext cx="13051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indent="200025" eaLnBrk="0" hangingPunct="0"/>
            <a:r>
              <a:rPr lang="en-US" altLang="zh-CN" sz="1000">
                <a:latin typeface="Arial Narrow" pitchFamily="34" charset="0"/>
                <a:cs typeface="Arial" pitchFamily="34" charset="0"/>
              </a:rPr>
              <a:t>TDI stages for PMC</a:t>
            </a:r>
            <a:endParaRPr lang="en-US" altLang="zh-CN" sz="900"/>
          </a:p>
          <a:p>
            <a:pPr indent="200025" eaLnBrk="0" hangingPunct="0"/>
            <a:endParaRPr lang="en-US" altLang="zh-CN"/>
          </a:p>
        </p:txBody>
      </p:sp>
      <p:graphicFrame>
        <p:nvGraphicFramePr>
          <p:cNvPr id="3" name="表格 2"/>
          <p:cNvGraphicFramePr>
            <a:graphicFrameLocks noGrp="1"/>
          </p:cNvGraphicFramePr>
          <p:nvPr>
            <p:extLst>
              <p:ext uri="{D42A27DB-BD31-4B8C-83A1-F6EECF244321}">
                <p14:modId xmlns:p14="http://schemas.microsoft.com/office/powerpoint/2010/main" val="733268785"/>
              </p:ext>
            </p:extLst>
          </p:nvPr>
        </p:nvGraphicFramePr>
        <p:xfrm>
          <a:off x="1043608" y="2258544"/>
          <a:ext cx="6984776" cy="2270760"/>
        </p:xfrm>
        <a:graphic>
          <a:graphicData uri="http://schemas.openxmlformats.org/drawingml/2006/table">
            <a:tbl>
              <a:tblPr firstRow="1" firstCol="1" bandRow="1">
                <a:tableStyleId>{5C22544A-7EE6-4342-B048-85BDC9FD1C3A}</a:tableStyleId>
              </a:tblPr>
              <a:tblGrid>
                <a:gridCol w="1826162"/>
                <a:gridCol w="1558214"/>
                <a:gridCol w="1296144"/>
                <a:gridCol w="1152128"/>
                <a:gridCol w="1152128"/>
              </a:tblGrid>
              <a:tr h="205740">
                <a:tc rowSpan="2">
                  <a:txBody>
                    <a:bodyPr/>
                    <a:lstStyle/>
                    <a:p>
                      <a:pPr indent="266700" algn="ctr">
                        <a:spcBef>
                          <a:spcPts val="240"/>
                        </a:spcBef>
                        <a:spcAft>
                          <a:spcPts val="240"/>
                        </a:spcAft>
                      </a:pPr>
                      <a:r>
                        <a:rPr lang="en-US" altLang="zh-CN" sz="1400" b="1" kern="1200" dirty="0" smtClean="0">
                          <a:solidFill>
                            <a:schemeClr val="lt1"/>
                          </a:solidFill>
                          <a:effectLst/>
                          <a:latin typeface="+mn-lt"/>
                          <a:ea typeface="+mn-ea"/>
                          <a:cs typeface="+mn-cs"/>
                        </a:rPr>
                        <a:t>solar elevation</a:t>
                      </a:r>
                      <a:r>
                        <a:rPr lang="zh-CN" altLang="zh-CN" sz="1400" b="1" kern="1200" dirty="0" smtClean="0">
                          <a:solidFill>
                            <a:schemeClr val="lt1"/>
                          </a:solidFill>
                          <a:effectLst/>
                          <a:latin typeface="+mn-lt"/>
                          <a:ea typeface="+mn-ea"/>
                          <a:cs typeface="+mn-cs"/>
                        </a:rPr>
                        <a:t>（</a:t>
                      </a:r>
                      <a:r>
                        <a:rPr lang="en-US" altLang="zh-CN" sz="1400" b="1" kern="1200" dirty="0" smtClean="0">
                          <a:solidFill>
                            <a:schemeClr val="lt1"/>
                          </a:solidFill>
                          <a:effectLst/>
                          <a:latin typeface="+mn-lt"/>
                          <a:ea typeface="+mn-ea"/>
                          <a:cs typeface="+mn-cs"/>
                        </a:rPr>
                        <a:t>°</a:t>
                      </a:r>
                      <a:r>
                        <a:rPr lang="zh-CN" altLang="zh-CN" sz="1400" b="1" kern="1200" dirty="0" smtClean="0">
                          <a:solidFill>
                            <a:schemeClr val="lt1"/>
                          </a:solidFill>
                          <a:effectLst/>
                          <a:latin typeface="+mn-lt"/>
                          <a:ea typeface="+mn-ea"/>
                          <a:cs typeface="+mn-cs"/>
                        </a:rPr>
                        <a:t>）</a:t>
                      </a:r>
                      <a:endParaRPr lang="zh-CN" sz="1100" kern="100" dirty="0">
                        <a:effectLst/>
                        <a:latin typeface="Arial"/>
                        <a:ea typeface="宋体"/>
                        <a:cs typeface="Times New Roman"/>
                      </a:endParaRPr>
                    </a:p>
                  </a:txBody>
                  <a:tcPr marL="0" marR="0" marT="0" marB="0" anchor="ctr"/>
                </a:tc>
                <a:tc gridSpan="4">
                  <a:txBody>
                    <a:bodyPr/>
                    <a:lstStyle/>
                    <a:p>
                      <a:pPr indent="266700" algn="ctr">
                        <a:spcBef>
                          <a:spcPts val="240"/>
                        </a:spcBef>
                        <a:spcAft>
                          <a:spcPts val="240"/>
                        </a:spcAft>
                      </a:pPr>
                      <a:r>
                        <a:rPr lang="en-US" altLang="zh-CN" sz="1400" b="1" kern="1200" dirty="0" smtClean="0">
                          <a:solidFill>
                            <a:schemeClr val="lt1"/>
                          </a:solidFill>
                          <a:effectLst/>
                          <a:latin typeface="+mn-lt"/>
                          <a:ea typeface="+mn-ea"/>
                          <a:cs typeface="+mn-cs"/>
                        </a:rPr>
                        <a:t>Gain dB</a:t>
                      </a:r>
                      <a:endParaRPr lang="zh-CN" sz="1100" kern="100" dirty="0">
                        <a:effectLst/>
                        <a:latin typeface="Arial"/>
                        <a:ea typeface="宋体"/>
                        <a:cs typeface="Times New Roman"/>
                      </a:endParaRPr>
                    </a:p>
                  </a:txBody>
                  <a:tcPr marL="0" marR="0" marT="0" marB="0" anchor="ctr"/>
                </a:tc>
                <a:tc hMerge="1">
                  <a:txBody>
                    <a:bodyPr/>
                    <a:lstStyle/>
                    <a:p>
                      <a:endParaRPr lang="zh-CN" altLang="en-US"/>
                    </a:p>
                  </a:txBody>
                  <a:tcPr/>
                </a:tc>
                <a:tc hMerge="1">
                  <a:txBody>
                    <a:bodyPr/>
                    <a:lstStyle/>
                    <a:p>
                      <a:pPr indent="266700" algn="ctr">
                        <a:spcBef>
                          <a:spcPts val="240"/>
                        </a:spcBef>
                        <a:spcAft>
                          <a:spcPts val="240"/>
                        </a:spcAft>
                      </a:pPr>
                      <a:endParaRPr lang="zh-CN" sz="1500" kern="100" dirty="0">
                        <a:effectLst/>
                        <a:latin typeface="Arial"/>
                        <a:ea typeface="宋体"/>
                        <a:cs typeface="Times New Roman"/>
                      </a:endParaRPr>
                    </a:p>
                  </a:txBody>
                  <a:tcPr marL="0" marR="0" marT="0" marB="0" anchor="ctr"/>
                </a:tc>
                <a:tc hMerge="1">
                  <a:txBody>
                    <a:bodyPr/>
                    <a:lstStyle/>
                    <a:p>
                      <a:pPr indent="266700" algn="ctr">
                        <a:spcBef>
                          <a:spcPts val="240"/>
                        </a:spcBef>
                        <a:spcAft>
                          <a:spcPts val="240"/>
                        </a:spcAft>
                      </a:pPr>
                      <a:endParaRPr lang="zh-CN" sz="1500" kern="100" dirty="0">
                        <a:effectLst/>
                        <a:latin typeface="Arial"/>
                        <a:ea typeface="宋体"/>
                        <a:cs typeface="Times New Roman"/>
                      </a:endParaRPr>
                    </a:p>
                  </a:txBody>
                  <a:tcPr marL="0" marR="0" marT="0" marB="0" anchor="ctr"/>
                </a:tc>
              </a:tr>
              <a:tr h="205740">
                <a:tc vMerge="1">
                  <a:txBody>
                    <a:bodyPr/>
                    <a:lstStyle/>
                    <a:p>
                      <a:endParaRPr lang="zh-CN" altLang="en-US"/>
                    </a:p>
                  </a:txBody>
                  <a:tcPr/>
                </a:tc>
                <a:tc>
                  <a:txBody>
                    <a:bodyPr/>
                    <a:lstStyle/>
                    <a:p>
                      <a:pPr algn="ctr">
                        <a:spcAft>
                          <a:spcPts val="0"/>
                        </a:spcAft>
                      </a:pPr>
                      <a:r>
                        <a:rPr lang="zh-CN" sz="1100" kern="100" dirty="0">
                          <a:effectLst/>
                          <a:latin typeface="Arial"/>
                          <a:ea typeface="宋体"/>
                          <a:cs typeface="Times New Roman"/>
                        </a:rPr>
                        <a:t>B1</a:t>
                      </a:r>
                    </a:p>
                  </a:txBody>
                  <a:tcPr marL="0" marR="0" marT="0" marB="0" anchor="ctr"/>
                </a:tc>
                <a:tc>
                  <a:txBody>
                    <a:bodyPr/>
                    <a:lstStyle/>
                    <a:p>
                      <a:pPr algn="ctr">
                        <a:spcAft>
                          <a:spcPts val="0"/>
                        </a:spcAft>
                      </a:pPr>
                      <a:r>
                        <a:rPr lang="zh-CN" sz="1100" kern="100" dirty="0">
                          <a:effectLst/>
                          <a:latin typeface="Arial"/>
                          <a:ea typeface="宋体"/>
                          <a:cs typeface="Times New Roman"/>
                        </a:rPr>
                        <a:t>B2</a:t>
                      </a:r>
                    </a:p>
                  </a:txBody>
                  <a:tcPr marL="0" marR="0" marT="0" marB="0" anchor="ctr"/>
                </a:tc>
                <a:tc>
                  <a:txBody>
                    <a:bodyPr/>
                    <a:lstStyle/>
                    <a:p>
                      <a:pPr algn="ctr">
                        <a:spcAft>
                          <a:spcPts val="0"/>
                        </a:spcAft>
                      </a:pPr>
                      <a:r>
                        <a:rPr lang="zh-CN" sz="1100" kern="100" dirty="0">
                          <a:effectLst/>
                          <a:latin typeface="Arial"/>
                          <a:ea typeface="宋体"/>
                          <a:cs typeface="Times New Roman"/>
                        </a:rPr>
                        <a:t>B3</a:t>
                      </a:r>
                    </a:p>
                  </a:txBody>
                  <a:tcPr marL="0" marR="0" marT="0" marB="0" anchor="ctr"/>
                </a:tc>
                <a:tc>
                  <a:txBody>
                    <a:bodyPr/>
                    <a:lstStyle/>
                    <a:p>
                      <a:pPr algn="ctr">
                        <a:spcAft>
                          <a:spcPts val="0"/>
                        </a:spcAft>
                      </a:pPr>
                      <a:r>
                        <a:rPr lang="zh-CN" sz="1100" kern="100" dirty="0">
                          <a:effectLst/>
                          <a:latin typeface="Arial"/>
                          <a:ea typeface="宋体"/>
                          <a:cs typeface="Times New Roman"/>
                        </a:rPr>
                        <a:t>B4</a:t>
                      </a:r>
                    </a:p>
                  </a:txBody>
                  <a:tcPr marL="0" marR="0" marT="0" marB="0" anchor="ctr"/>
                </a:tc>
              </a:tr>
              <a:tr h="308610">
                <a:tc>
                  <a:txBody>
                    <a:bodyPr/>
                    <a:lstStyle/>
                    <a:p>
                      <a:pPr algn="ctr">
                        <a:lnSpc>
                          <a:spcPct val="150000"/>
                        </a:lnSpc>
                        <a:spcAft>
                          <a:spcPts val="0"/>
                        </a:spcAft>
                      </a:pPr>
                      <a:r>
                        <a:rPr lang="en-US" sz="1400" kern="100" dirty="0">
                          <a:effectLst/>
                          <a:latin typeface="Times New Roman"/>
                          <a:ea typeface="宋体"/>
                          <a:cs typeface="Times New Roman"/>
                        </a:rPr>
                        <a:t>≥60°</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4dB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2dB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4dB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2dB</a:t>
                      </a:r>
                      <a:endParaRPr lang="zh-CN" sz="1400" kern="100">
                        <a:effectLst/>
                        <a:latin typeface="Times New Roman"/>
                        <a:ea typeface="宋体"/>
                        <a:cs typeface="Times New Roman"/>
                      </a:endParaRPr>
                    </a:p>
                  </a:txBody>
                  <a:tcPr marL="68580" marR="68580" marT="0" marB="0" anchor="ctr"/>
                </a:tc>
              </a:tr>
              <a:tr h="308610">
                <a:tc>
                  <a:txBody>
                    <a:bodyPr/>
                    <a:lstStyle/>
                    <a:p>
                      <a:pPr algn="ctr">
                        <a:lnSpc>
                          <a:spcPct val="150000"/>
                        </a:lnSpc>
                        <a:spcAft>
                          <a:spcPts val="0"/>
                        </a:spcAft>
                      </a:pPr>
                      <a:r>
                        <a:rPr lang="en-US" sz="1400" kern="100" dirty="0" smtClean="0">
                          <a:effectLst/>
                          <a:latin typeface="Times New Roman"/>
                          <a:ea typeface="宋体"/>
                          <a:cs typeface="Times New Roman"/>
                        </a:rPr>
                        <a:t>(50</a:t>
                      </a:r>
                      <a:r>
                        <a:rPr lang="en-US" sz="1400" kern="100" dirty="0">
                          <a:effectLst/>
                          <a:latin typeface="Times New Roman"/>
                          <a:ea typeface="宋体"/>
                          <a:cs typeface="Times New Roman"/>
                        </a:rPr>
                        <a:t>°-60</a:t>
                      </a:r>
                      <a:r>
                        <a:rPr lang="en-US" sz="1400" kern="100" dirty="0" smtClean="0">
                          <a:effectLst/>
                          <a:latin typeface="Times New Roman"/>
                          <a:ea typeface="宋体"/>
                          <a:cs typeface="Times New Roman"/>
                        </a:rPr>
                        <a:t>°]</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dirty="0">
                          <a:effectLst/>
                          <a:latin typeface="Times New Roman"/>
                          <a:ea typeface="宋体"/>
                          <a:cs typeface="Times New Roman"/>
                        </a:rPr>
                        <a:t>4dB</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2dB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4dB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4dB</a:t>
                      </a:r>
                      <a:endParaRPr lang="zh-CN" sz="1400" kern="100">
                        <a:effectLst/>
                        <a:latin typeface="Times New Roman"/>
                        <a:ea typeface="宋体"/>
                        <a:cs typeface="Times New Roman"/>
                      </a:endParaRPr>
                    </a:p>
                  </a:txBody>
                  <a:tcPr marL="68580" marR="68580" marT="0" marB="0" anchor="ctr"/>
                </a:tc>
              </a:tr>
              <a:tr h="308610">
                <a:tc>
                  <a:txBody>
                    <a:bodyPr/>
                    <a:lstStyle/>
                    <a:p>
                      <a:pPr algn="ctr">
                        <a:lnSpc>
                          <a:spcPct val="150000"/>
                        </a:lnSpc>
                        <a:spcAft>
                          <a:spcPts val="0"/>
                        </a:spcAft>
                      </a:pPr>
                      <a:r>
                        <a:rPr lang="en-US" sz="1400" kern="100" dirty="0" smtClean="0">
                          <a:effectLst/>
                          <a:latin typeface="Times New Roman"/>
                          <a:ea typeface="宋体"/>
                          <a:cs typeface="Times New Roman"/>
                        </a:rPr>
                        <a:t>(40</a:t>
                      </a:r>
                      <a:r>
                        <a:rPr lang="en-US" sz="1400" kern="100" dirty="0">
                          <a:effectLst/>
                          <a:latin typeface="Times New Roman"/>
                          <a:ea typeface="宋体"/>
                          <a:cs typeface="Times New Roman"/>
                        </a:rPr>
                        <a:t>°-50</a:t>
                      </a:r>
                      <a:r>
                        <a:rPr lang="en-US" sz="1400" kern="100" dirty="0" smtClean="0">
                          <a:effectLst/>
                          <a:latin typeface="Times New Roman"/>
                          <a:ea typeface="宋体"/>
                          <a:cs typeface="Times New Roman"/>
                        </a:rPr>
                        <a:t>°]</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dirty="0">
                          <a:effectLst/>
                          <a:latin typeface="Times New Roman"/>
                          <a:ea typeface="宋体"/>
                          <a:cs typeface="Times New Roman"/>
                        </a:rPr>
                        <a:t>6dB</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dirty="0">
                          <a:effectLst/>
                          <a:latin typeface="Times New Roman"/>
                          <a:ea typeface="宋体"/>
                          <a:cs typeface="Times New Roman"/>
                        </a:rPr>
                        <a:t>4dB</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6dB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4dB</a:t>
                      </a:r>
                      <a:endParaRPr lang="zh-CN" sz="1400" kern="100">
                        <a:effectLst/>
                        <a:latin typeface="Times New Roman"/>
                        <a:ea typeface="宋体"/>
                        <a:cs typeface="Times New Roman"/>
                      </a:endParaRPr>
                    </a:p>
                  </a:txBody>
                  <a:tcPr marL="68580" marR="68580" marT="0" marB="0" anchor="ctr"/>
                </a:tc>
              </a:tr>
              <a:tr h="308610">
                <a:tc>
                  <a:txBody>
                    <a:bodyPr/>
                    <a:lstStyle/>
                    <a:p>
                      <a:pPr algn="ctr">
                        <a:lnSpc>
                          <a:spcPct val="150000"/>
                        </a:lnSpc>
                        <a:spcAft>
                          <a:spcPts val="0"/>
                        </a:spcAft>
                      </a:pPr>
                      <a:r>
                        <a:rPr lang="en-US" sz="1400" kern="100" dirty="0" smtClean="0">
                          <a:effectLst/>
                          <a:latin typeface="Times New Roman"/>
                          <a:ea typeface="宋体"/>
                          <a:cs typeface="Times New Roman"/>
                        </a:rPr>
                        <a:t>(30</a:t>
                      </a:r>
                      <a:r>
                        <a:rPr lang="en-US" sz="1400" kern="100" dirty="0">
                          <a:effectLst/>
                          <a:latin typeface="Times New Roman"/>
                          <a:ea typeface="宋体"/>
                          <a:cs typeface="Times New Roman"/>
                        </a:rPr>
                        <a:t>°-40</a:t>
                      </a:r>
                      <a:r>
                        <a:rPr lang="en-US" sz="1400" kern="100" dirty="0" smtClean="0">
                          <a:effectLst/>
                          <a:latin typeface="Times New Roman"/>
                          <a:ea typeface="宋体"/>
                          <a:cs typeface="Times New Roman"/>
                        </a:rPr>
                        <a:t>°]</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8dB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dirty="0">
                          <a:effectLst/>
                          <a:latin typeface="Times New Roman"/>
                          <a:ea typeface="宋体"/>
                          <a:cs typeface="Times New Roman"/>
                        </a:rPr>
                        <a:t>6dB</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dirty="0">
                          <a:effectLst/>
                          <a:latin typeface="Times New Roman"/>
                          <a:ea typeface="宋体"/>
                          <a:cs typeface="Times New Roman"/>
                        </a:rPr>
                        <a:t>8dB</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6dB</a:t>
                      </a:r>
                      <a:endParaRPr lang="zh-CN" sz="1400" kern="100">
                        <a:effectLst/>
                        <a:latin typeface="Times New Roman"/>
                        <a:ea typeface="宋体"/>
                        <a:cs typeface="Times New Roman"/>
                      </a:endParaRPr>
                    </a:p>
                  </a:txBody>
                  <a:tcPr marL="68580" marR="68580" marT="0" marB="0" anchor="ctr"/>
                </a:tc>
              </a:tr>
              <a:tr h="308610">
                <a:tc>
                  <a:txBody>
                    <a:bodyPr/>
                    <a:lstStyle/>
                    <a:p>
                      <a:pPr algn="ctr">
                        <a:lnSpc>
                          <a:spcPct val="150000"/>
                        </a:lnSpc>
                        <a:spcAft>
                          <a:spcPts val="0"/>
                        </a:spcAft>
                      </a:pPr>
                      <a:r>
                        <a:rPr lang="zh-CN" altLang="en-US" sz="1400" kern="100" dirty="0" smtClean="0">
                          <a:effectLst/>
                          <a:latin typeface="Times New Roman"/>
                          <a:ea typeface="宋体"/>
                          <a:cs typeface="Times New Roman"/>
                        </a:rPr>
                        <a:t>（</a:t>
                      </a:r>
                      <a:r>
                        <a:rPr lang="en-US" sz="1400" kern="100" dirty="0" smtClean="0">
                          <a:effectLst/>
                          <a:latin typeface="Times New Roman"/>
                          <a:ea typeface="宋体"/>
                          <a:cs typeface="Times New Roman"/>
                        </a:rPr>
                        <a:t>20</a:t>
                      </a:r>
                      <a:r>
                        <a:rPr lang="en-US" sz="1400" kern="100" dirty="0">
                          <a:effectLst/>
                          <a:latin typeface="Times New Roman"/>
                          <a:ea typeface="宋体"/>
                          <a:cs typeface="Times New Roman"/>
                        </a:rPr>
                        <a:t>°-30</a:t>
                      </a:r>
                      <a:r>
                        <a:rPr lang="en-US" sz="1400" kern="100" dirty="0" smtClean="0">
                          <a:effectLst/>
                          <a:latin typeface="Times New Roman"/>
                          <a:ea typeface="宋体"/>
                          <a:cs typeface="Times New Roman"/>
                        </a:rPr>
                        <a:t>°]</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10dB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8dB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dirty="0">
                          <a:effectLst/>
                          <a:latin typeface="Times New Roman"/>
                          <a:ea typeface="宋体"/>
                          <a:cs typeface="Times New Roman"/>
                        </a:rPr>
                        <a:t>10dB</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dirty="0">
                          <a:effectLst/>
                          <a:latin typeface="Times New Roman"/>
                          <a:ea typeface="宋体"/>
                          <a:cs typeface="Times New Roman"/>
                        </a:rPr>
                        <a:t>10dB</a:t>
                      </a:r>
                      <a:endParaRPr lang="zh-CN" sz="1400" kern="100" dirty="0">
                        <a:effectLst/>
                        <a:latin typeface="Times New Roman"/>
                        <a:ea typeface="宋体"/>
                        <a:cs typeface="Times New Roman"/>
                      </a:endParaRPr>
                    </a:p>
                  </a:txBody>
                  <a:tcPr marL="68580" marR="68580" marT="0" marB="0" anchor="ctr"/>
                </a:tc>
              </a:tr>
              <a:tr h="308610">
                <a:tc>
                  <a:txBody>
                    <a:bodyPr/>
                    <a:lstStyle/>
                    <a:p>
                      <a:pPr algn="ctr">
                        <a:lnSpc>
                          <a:spcPct val="150000"/>
                        </a:lnSpc>
                        <a:spcAft>
                          <a:spcPts val="0"/>
                        </a:spcAft>
                      </a:pPr>
                      <a:r>
                        <a:rPr lang="en-US" sz="1400" kern="100" dirty="0">
                          <a:effectLst/>
                          <a:latin typeface="Times New Roman"/>
                          <a:ea typeface="宋体"/>
                          <a:cs typeface="Times New Roman"/>
                        </a:rPr>
                        <a:t>≤20°</a:t>
                      </a:r>
                      <a:endParaRPr lang="zh-CN" sz="14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12dB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12dB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a:effectLst/>
                          <a:latin typeface="Times New Roman"/>
                          <a:ea typeface="宋体"/>
                          <a:cs typeface="Times New Roman"/>
                        </a:rPr>
                        <a:t>12dB</a:t>
                      </a:r>
                      <a:endParaRPr lang="zh-CN" sz="14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400" kern="100" dirty="0">
                          <a:effectLst/>
                          <a:latin typeface="Times New Roman"/>
                          <a:ea typeface="宋体"/>
                          <a:cs typeface="Times New Roman"/>
                        </a:rPr>
                        <a:t>12dB</a:t>
                      </a:r>
                      <a:endParaRPr lang="zh-CN" sz="1400" kern="100" dirty="0">
                        <a:effectLst/>
                        <a:latin typeface="Times New Roman"/>
                        <a:ea typeface="宋体"/>
                        <a:cs typeface="Times New Roman"/>
                      </a:endParaRPr>
                    </a:p>
                  </a:txBody>
                  <a:tcPr marL="68580" marR="68580" marT="0" marB="0" anchor="ctr"/>
                </a:tc>
              </a:tr>
            </a:tbl>
          </a:graphicData>
        </a:graphic>
      </p:graphicFrame>
    </p:spTree>
    <p:extLst>
      <p:ext uri="{BB962C8B-B14F-4D97-AF65-F5344CB8AC3E}">
        <p14:creationId xmlns:p14="http://schemas.microsoft.com/office/powerpoint/2010/main" val="38651808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内容占位符 2"/>
          <p:cNvSpPr>
            <a:spLocks noGrp="1"/>
          </p:cNvSpPr>
          <p:nvPr>
            <p:ph idx="4294967295"/>
          </p:nvPr>
        </p:nvSpPr>
        <p:spPr>
          <a:xfrm>
            <a:off x="1116013" y="1600200"/>
            <a:ext cx="7308850" cy="2159794"/>
          </a:xfrm>
        </p:spPr>
        <p:txBody>
          <a:bodyPr>
            <a:normAutofit/>
          </a:bodyPr>
          <a:lstStyle/>
          <a:p>
            <a:pPr eaLnBrk="1" hangingPunct="1">
              <a:buFont typeface="Wingdings" panose="05000000000000000000" pitchFamily="2" charset="2"/>
              <a:buChar char="l"/>
            </a:pPr>
            <a:r>
              <a:rPr lang="en-US" altLang="zh-CN" sz="2800" dirty="0" smtClean="0"/>
              <a:t>Basic Working Constraint</a:t>
            </a:r>
          </a:p>
          <a:p>
            <a:pPr eaLnBrk="1" hangingPunct="1">
              <a:buFont typeface="Wingdings" panose="05000000000000000000" pitchFamily="2" charset="2"/>
              <a:buChar char="l"/>
            </a:pPr>
            <a:r>
              <a:rPr lang="en-US" altLang="zh-CN" sz="2800" dirty="0" smtClean="0"/>
              <a:t>Working Rules Camera Subsystem</a:t>
            </a:r>
          </a:p>
          <a:p>
            <a:pPr>
              <a:buFont typeface="Wingdings" panose="05000000000000000000" pitchFamily="2" charset="2"/>
              <a:buChar char="l"/>
            </a:pPr>
            <a:r>
              <a:rPr lang="en-US" altLang="zh-CN" sz="2800" dirty="0" smtClean="0"/>
              <a:t>Anomaly </a:t>
            </a:r>
            <a:r>
              <a:rPr lang="en-US" altLang="zh-CN" sz="2800" dirty="0"/>
              <a:t>to Handle</a:t>
            </a:r>
          </a:p>
        </p:txBody>
      </p:sp>
      <p:sp>
        <p:nvSpPr>
          <p:cNvPr id="4" name="标题 3"/>
          <p:cNvSpPr txBox="1">
            <a:spLocks noChangeArrowheads="1"/>
          </p:cNvSpPr>
          <p:nvPr/>
        </p:nvSpPr>
        <p:spPr>
          <a:xfrm>
            <a:off x="1"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smtClean="0">
                <a:latin typeface="Arial" panose="020B0604020202020204" pitchFamily="34" charset="0"/>
                <a:cs typeface="Arial" panose="020B0604020202020204" pitchFamily="34" charset="0"/>
              </a:rPr>
              <a:t>Instructions for Use</a:t>
            </a:r>
            <a:endParaRPr lang="zh-CN" altLang="en-US" sz="3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76831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内容占位符 2"/>
          <p:cNvSpPr>
            <a:spLocks noGrp="1"/>
          </p:cNvSpPr>
          <p:nvPr>
            <p:ph idx="4294967295"/>
          </p:nvPr>
        </p:nvSpPr>
        <p:spPr>
          <a:xfrm>
            <a:off x="647700" y="1059656"/>
            <a:ext cx="8496300" cy="3456385"/>
          </a:xfrm>
        </p:spPr>
        <p:txBody>
          <a:bodyPr>
            <a:normAutofit fontScale="85000" lnSpcReduction="10000"/>
          </a:bodyPr>
          <a:lstStyle/>
          <a:p>
            <a:pPr eaLnBrk="1" hangingPunct="1"/>
            <a:r>
              <a:rPr lang="en-US" altLang="zh-CN" dirty="0" smtClean="0"/>
              <a:t>Basic Working </a:t>
            </a:r>
            <a:r>
              <a:rPr lang="en-US" altLang="zh-CN" dirty="0" smtClean="0">
                <a:solidFill>
                  <a:srgbClr val="FF3300"/>
                </a:solidFill>
              </a:rPr>
              <a:t>Constraint</a:t>
            </a:r>
          </a:p>
          <a:p>
            <a:pPr lvl="1"/>
            <a:r>
              <a:rPr lang="en-US" altLang="zh-CN" sz="2400" dirty="0" smtClean="0"/>
              <a:t>Camera is </a:t>
            </a:r>
            <a:r>
              <a:rPr lang="en-US" altLang="zh-CN" sz="2400" dirty="0"/>
              <a:t>recommended to </a:t>
            </a:r>
            <a:r>
              <a:rPr lang="en-US" altLang="zh-CN" sz="2400" dirty="0">
                <a:solidFill>
                  <a:srgbClr val="FF3300"/>
                </a:solidFill>
              </a:rPr>
              <a:t>acquire images in </a:t>
            </a:r>
            <a:r>
              <a:rPr lang="en-US" altLang="zh-CN" sz="2400" dirty="0" smtClean="0">
                <a:solidFill>
                  <a:srgbClr val="FF3300"/>
                </a:solidFill>
              </a:rPr>
              <a:t>sunlight </a:t>
            </a:r>
            <a:r>
              <a:rPr lang="en-US" altLang="zh-CN" sz="2400" dirty="0" smtClean="0"/>
              <a:t>in </a:t>
            </a:r>
            <a:r>
              <a:rPr lang="en-US" altLang="zh-CN" sz="2400" dirty="0"/>
              <a:t>normal case. </a:t>
            </a:r>
          </a:p>
          <a:p>
            <a:pPr lvl="1"/>
            <a:r>
              <a:rPr lang="en-US" altLang="zh-CN" sz="2200" dirty="0" smtClean="0">
                <a:solidFill>
                  <a:schemeClr val="tx1"/>
                </a:solidFill>
              </a:rPr>
              <a:t>Temperature </a:t>
            </a:r>
            <a:r>
              <a:rPr lang="en-US" altLang="zh-CN" sz="2200" dirty="0">
                <a:solidFill>
                  <a:schemeClr val="tx1"/>
                </a:solidFill>
              </a:rPr>
              <a:t>of </a:t>
            </a:r>
            <a:r>
              <a:rPr lang="en-US" altLang="zh-CN" sz="2200" dirty="0" smtClean="0">
                <a:solidFill>
                  <a:schemeClr val="tx1"/>
                </a:solidFill>
              </a:rPr>
              <a:t>MC’s TDICCD shall </a:t>
            </a:r>
            <a:r>
              <a:rPr lang="en-US" altLang="zh-CN" sz="2200" dirty="0">
                <a:solidFill>
                  <a:schemeClr val="tx1"/>
                </a:solidFill>
              </a:rPr>
              <a:t>be </a:t>
            </a:r>
            <a:r>
              <a:rPr lang="en-US" altLang="zh-CN" sz="2200" dirty="0">
                <a:solidFill>
                  <a:srgbClr val="FF0000"/>
                </a:solidFill>
              </a:rPr>
              <a:t>lower than </a:t>
            </a:r>
            <a:r>
              <a:rPr lang="en-US" altLang="zh-CN" sz="2200" dirty="0" smtClean="0">
                <a:solidFill>
                  <a:srgbClr val="FF0000"/>
                </a:solidFill>
              </a:rPr>
              <a:t>28</a:t>
            </a:r>
            <a:r>
              <a:rPr lang="en-US" altLang="zh-CN" sz="2200" dirty="0" smtClean="0">
                <a:solidFill>
                  <a:srgbClr val="FF0000"/>
                </a:solidFill>
                <a:sym typeface="Symbol"/>
              </a:rPr>
              <a:t></a:t>
            </a:r>
            <a:r>
              <a:rPr lang="en-US" altLang="zh-CN" sz="2200" dirty="0" smtClean="0">
                <a:solidFill>
                  <a:srgbClr val="FF0000"/>
                </a:solidFill>
              </a:rPr>
              <a:t>C</a:t>
            </a:r>
          </a:p>
          <a:p>
            <a:pPr lvl="1" eaLnBrk="1" hangingPunct="1"/>
            <a:r>
              <a:rPr lang="en-US" altLang="zh-CN" sz="2200" dirty="0" smtClean="0"/>
              <a:t>MC </a:t>
            </a:r>
            <a:r>
              <a:rPr lang="en-US" altLang="zh-CN" sz="2200" dirty="0" smtClean="0">
                <a:solidFill>
                  <a:srgbClr val="FF3300"/>
                </a:solidFill>
              </a:rPr>
              <a:t>accumulated working period per rev</a:t>
            </a:r>
            <a:r>
              <a:rPr lang="en-US" altLang="zh-CN" sz="2200" dirty="0" smtClean="0"/>
              <a:t>: no more than </a:t>
            </a:r>
            <a:r>
              <a:rPr lang="en-US" altLang="zh-CN" sz="2200" dirty="0" smtClean="0">
                <a:solidFill>
                  <a:srgbClr val="FF3300"/>
                </a:solidFill>
              </a:rPr>
              <a:t>8 minutes</a:t>
            </a:r>
          </a:p>
          <a:p>
            <a:pPr lvl="1" eaLnBrk="1" hangingPunct="1"/>
            <a:r>
              <a:rPr lang="en-US" altLang="zh-CN" sz="2200" dirty="0" smtClean="0"/>
              <a:t>MC </a:t>
            </a:r>
            <a:r>
              <a:rPr lang="en-US" altLang="zh-CN" sz="2200" dirty="0" smtClean="0">
                <a:solidFill>
                  <a:srgbClr val="FF3300"/>
                </a:solidFill>
              </a:rPr>
              <a:t>accumulated working time per day</a:t>
            </a:r>
            <a:r>
              <a:rPr lang="en-US" altLang="zh-CN" sz="2200" dirty="0" smtClean="0"/>
              <a:t>: less than </a:t>
            </a:r>
            <a:r>
              <a:rPr lang="en-US" altLang="zh-CN" sz="2200" dirty="0" smtClean="0">
                <a:solidFill>
                  <a:srgbClr val="FF3300"/>
                </a:solidFill>
              </a:rPr>
              <a:t>75 minutes</a:t>
            </a:r>
          </a:p>
          <a:p>
            <a:pPr lvl="1" eaLnBrk="1" hangingPunct="1"/>
            <a:endParaRPr lang="en-US" altLang="zh-CN" sz="2200" dirty="0" smtClean="0">
              <a:solidFill>
                <a:srgbClr val="FF3300"/>
              </a:solidFill>
            </a:endParaRPr>
          </a:p>
        </p:txBody>
      </p:sp>
      <p:sp>
        <p:nvSpPr>
          <p:cNvPr id="4" name="标题 3"/>
          <p:cNvSpPr txBox="1">
            <a:spLocks noChangeArrowheads="1"/>
          </p:cNvSpPr>
          <p:nvPr/>
        </p:nvSpPr>
        <p:spPr>
          <a:xfrm>
            <a:off x="1"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dirty="0" smtClean="0">
                <a:latin typeface="Arial" panose="020B0604020202020204" pitchFamily="34" charset="0"/>
                <a:cs typeface="Arial" panose="020B0604020202020204" pitchFamily="34" charset="0"/>
              </a:rPr>
              <a:t>Instructions for Use</a:t>
            </a:r>
            <a:endParaRPr lang="zh-CN" altLang="en-US" sz="3700" dirty="0">
              <a:latin typeface="Arial" panose="020B0604020202020204" pitchFamily="34" charset="0"/>
              <a:cs typeface="Arial" panose="020B0604020202020204" pitchFamily="34" charset="0"/>
            </a:endParaRPr>
          </a:p>
        </p:txBody>
      </p:sp>
      <p:sp>
        <p:nvSpPr>
          <p:cNvPr id="6" name="右箭头标注 5"/>
          <p:cNvSpPr/>
          <p:nvPr/>
        </p:nvSpPr>
        <p:spPr>
          <a:xfrm>
            <a:off x="144016" y="2355726"/>
            <a:ext cx="1043608" cy="432048"/>
          </a:xfrm>
          <a:prstGeom prst="rightArrowCallou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100" dirty="0" smtClean="0"/>
              <a:t>warning</a:t>
            </a:r>
            <a:endParaRPr lang="zh-CN" altLang="en-US" sz="1100" dirty="0"/>
          </a:p>
        </p:txBody>
      </p:sp>
    </p:spTree>
    <p:extLst>
      <p:ext uri="{BB962C8B-B14F-4D97-AF65-F5344CB8AC3E}">
        <p14:creationId xmlns:p14="http://schemas.microsoft.com/office/powerpoint/2010/main" val="31641745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2"/>
          <p:cNvSpPr>
            <a:spLocks noGrp="1"/>
          </p:cNvSpPr>
          <p:nvPr>
            <p:ph idx="4294967295"/>
          </p:nvPr>
        </p:nvSpPr>
        <p:spPr>
          <a:xfrm>
            <a:off x="647700" y="1545432"/>
            <a:ext cx="7956550" cy="2970610"/>
          </a:xfrm>
        </p:spPr>
        <p:txBody>
          <a:bodyPr>
            <a:normAutofit/>
          </a:bodyPr>
          <a:lstStyle/>
          <a:p>
            <a:pPr eaLnBrk="1" hangingPunct="1"/>
            <a:r>
              <a:rPr lang="en-US" altLang="zh-CN" sz="2800" dirty="0" smtClean="0"/>
              <a:t>Working Rules of Camera-</a:t>
            </a:r>
            <a:r>
              <a:rPr lang="en-US" altLang="zh-CN" sz="2400" dirty="0" smtClean="0">
                <a:solidFill>
                  <a:srgbClr val="FF0000"/>
                </a:solidFill>
              </a:rPr>
              <a:t>imaging mode</a:t>
            </a:r>
            <a:endParaRPr lang="en-US" altLang="zh-CN" sz="2800" dirty="0" smtClean="0">
              <a:solidFill>
                <a:srgbClr val="FF0000"/>
              </a:solidFill>
            </a:endParaRPr>
          </a:p>
          <a:p>
            <a:pPr lvl="1" eaLnBrk="1" hangingPunct="1"/>
            <a:r>
              <a:rPr lang="en-US" altLang="zh-CN" sz="2400" dirty="0" smtClean="0"/>
              <a:t>While imaging mode, </a:t>
            </a:r>
          </a:p>
          <a:p>
            <a:pPr marL="457200" lvl="1" indent="0" eaLnBrk="1" hangingPunct="1">
              <a:buNone/>
            </a:pPr>
            <a:r>
              <a:rPr lang="en-US" altLang="zh-CN" sz="2400" dirty="0" smtClean="0"/>
              <a:t>MC can receive valid data </a:t>
            </a:r>
            <a:r>
              <a:rPr lang="en-US" altLang="zh-CN" sz="2400" dirty="0" err="1" smtClean="0"/>
              <a:t>tele</a:t>
            </a:r>
            <a:r>
              <a:rPr lang="en-US" altLang="zh-CN" sz="2400" dirty="0" smtClean="0"/>
              <a:t>-command and collect telemetry</a:t>
            </a:r>
          </a:p>
          <a:p>
            <a:pPr marL="457200" lvl="1" indent="0" eaLnBrk="1" hangingPunct="1">
              <a:buNone/>
            </a:pPr>
            <a:r>
              <a:rPr lang="en-US" altLang="zh-CN" sz="2400" dirty="0" smtClean="0"/>
              <a:t>MC can implement imaging steps.</a:t>
            </a:r>
          </a:p>
        </p:txBody>
      </p:sp>
      <p:sp>
        <p:nvSpPr>
          <p:cNvPr id="4" name="标题 3"/>
          <p:cNvSpPr txBox="1">
            <a:spLocks noChangeArrowheads="1"/>
          </p:cNvSpPr>
          <p:nvPr/>
        </p:nvSpPr>
        <p:spPr>
          <a:xfrm>
            <a:off x="1"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dirty="0" smtClean="0">
                <a:latin typeface="Arial" panose="020B0604020202020204" pitchFamily="34" charset="0"/>
                <a:cs typeface="Arial" panose="020B0604020202020204" pitchFamily="34" charset="0"/>
              </a:rPr>
              <a:t>Instructions for Use</a:t>
            </a:r>
            <a:endParaRPr lang="zh-CN" altLang="en-US" sz="3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15210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p:cNvSpPr>
          <p:nvPr>
            <p:ph idx="4294967295"/>
          </p:nvPr>
        </p:nvSpPr>
        <p:spPr>
          <a:xfrm>
            <a:off x="647700" y="1545432"/>
            <a:ext cx="8496300" cy="2970610"/>
          </a:xfrm>
        </p:spPr>
        <p:txBody>
          <a:bodyPr>
            <a:normAutofit fontScale="70000" lnSpcReduction="20000"/>
          </a:bodyPr>
          <a:lstStyle/>
          <a:p>
            <a:pPr eaLnBrk="1" hangingPunct="1"/>
            <a:r>
              <a:rPr lang="en-US" altLang="zh-CN" dirty="0" smtClean="0"/>
              <a:t>Working Rules of HRC-</a:t>
            </a:r>
            <a:r>
              <a:rPr lang="en-US" altLang="zh-CN" sz="2800" dirty="0" smtClean="0">
                <a:solidFill>
                  <a:srgbClr val="FF0000"/>
                </a:solidFill>
              </a:rPr>
              <a:t>imaging mode</a:t>
            </a:r>
            <a:endParaRPr lang="en-US" altLang="zh-CN" dirty="0" smtClean="0">
              <a:solidFill>
                <a:srgbClr val="FF3300"/>
              </a:solidFill>
            </a:endParaRPr>
          </a:p>
          <a:p>
            <a:pPr lvl="1"/>
            <a:r>
              <a:rPr lang="en-US" altLang="zh-CN" dirty="0" smtClean="0"/>
              <a:t>Camera can implement </a:t>
            </a:r>
            <a:r>
              <a:rPr lang="en-US" altLang="zh-CN" i="1" dirty="0">
                <a:solidFill>
                  <a:srgbClr val="FF3300"/>
                </a:solidFill>
              </a:rPr>
              <a:t>camera imaging power-on </a:t>
            </a:r>
            <a:r>
              <a:rPr lang="en-US" altLang="zh-CN" i="1" dirty="0" smtClean="0">
                <a:solidFill>
                  <a:srgbClr val="FF3300"/>
                </a:solidFill>
              </a:rPr>
              <a:t>command</a:t>
            </a:r>
            <a:r>
              <a:rPr lang="en-US" altLang="zh-CN" dirty="0" smtClean="0"/>
              <a:t>. </a:t>
            </a:r>
          </a:p>
          <a:p>
            <a:pPr lvl="2" eaLnBrk="1" hangingPunct="1">
              <a:buFont typeface="Wingdings" pitchFamily="2" charset="2"/>
              <a:buChar char="ü"/>
            </a:pPr>
            <a:r>
              <a:rPr lang="en-US" altLang="zh-CN" dirty="0" smtClean="0"/>
              <a:t>After this command camera can normally acquire images;</a:t>
            </a:r>
          </a:p>
          <a:p>
            <a:pPr lvl="2">
              <a:buFont typeface="Wingdings" pitchFamily="2" charset="2"/>
              <a:buChar char="ü"/>
            </a:pPr>
            <a:r>
              <a:rPr lang="en-US" altLang="zh-CN" dirty="0" smtClean="0">
                <a:solidFill>
                  <a:srgbClr val="FF0000"/>
                </a:solidFill>
              </a:rPr>
              <a:t>10s </a:t>
            </a:r>
            <a:r>
              <a:rPr lang="en-US" altLang="zh-CN" dirty="0" smtClean="0"/>
              <a:t>after </a:t>
            </a:r>
            <a:r>
              <a:rPr lang="en-US" altLang="zh-CN" dirty="0"/>
              <a:t>this command </a:t>
            </a:r>
            <a:r>
              <a:rPr lang="en-US" altLang="zh-CN" dirty="0" smtClean="0"/>
              <a:t>imaging parameters, such as gain can be set too;</a:t>
            </a:r>
          </a:p>
          <a:p>
            <a:pPr lvl="2">
              <a:buFont typeface="Wingdings" pitchFamily="2" charset="2"/>
              <a:buChar char="ü"/>
            </a:pPr>
            <a:r>
              <a:rPr lang="en-US" altLang="zh-CN" dirty="0" smtClean="0">
                <a:latin typeface="Arial" panose="020B0604020202020204" pitchFamily="34" charset="0"/>
                <a:cs typeface="Arial" panose="020B0604020202020204" pitchFamily="34" charset="0"/>
              </a:rPr>
              <a:t>Camera  </a:t>
            </a:r>
            <a:r>
              <a:rPr lang="en-US" altLang="zh-CN" dirty="0">
                <a:latin typeface="Arial" panose="020B0604020202020204" pitchFamily="34" charset="0"/>
                <a:cs typeface="Arial" panose="020B0604020202020204" pitchFamily="34" charset="0"/>
              </a:rPr>
              <a:t>will </a:t>
            </a:r>
            <a:r>
              <a:rPr lang="en-US" altLang="zh-CN" sz="2500" dirty="0">
                <a:solidFill>
                  <a:srgbClr val="FF0000"/>
                </a:solidFill>
              </a:rPr>
              <a:t>turn off </a:t>
            </a:r>
            <a:r>
              <a:rPr lang="en-US" altLang="zh-CN" dirty="0" err="1" smtClean="0">
                <a:latin typeface="Arial" panose="020B0604020202020204" pitchFamily="34" charset="0"/>
                <a:cs typeface="Arial" panose="020B0604020202020204" pitchFamily="34" charset="0"/>
              </a:rPr>
              <a:t>automaticlly</a:t>
            </a:r>
            <a:r>
              <a:rPr lang="en-US" altLang="zh-CN" dirty="0" smtClean="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on </a:t>
            </a:r>
            <a:r>
              <a:rPr lang="en-US" altLang="zh-CN" sz="2500" dirty="0" smtClean="0">
                <a:solidFill>
                  <a:srgbClr val="FF0000"/>
                </a:solidFill>
              </a:rPr>
              <a:t>15mins</a:t>
            </a:r>
            <a:r>
              <a:rPr lang="en-US" altLang="zh-CN" dirty="0" smtClean="0">
                <a:latin typeface="Arial" panose="020B0604020202020204" pitchFamily="34" charset="0"/>
                <a:cs typeface="Arial" panose="020B0604020202020204" pitchFamily="34" charset="0"/>
              </a:rPr>
              <a:t> after </a:t>
            </a:r>
            <a:r>
              <a:rPr lang="en-US" altLang="zh-CN" dirty="0"/>
              <a:t>this command </a:t>
            </a:r>
            <a:endParaRPr lang="en-US" altLang="zh-CN" dirty="0" smtClean="0"/>
          </a:p>
        </p:txBody>
      </p:sp>
      <p:sp>
        <p:nvSpPr>
          <p:cNvPr id="4" name="标题 3"/>
          <p:cNvSpPr txBox="1">
            <a:spLocks noChangeArrowheads="1"/>
          </p:cNvSpPr>
          <p:nvPr/>
        </p:nvSpPr>
        <p:spPr>
          <a:xfrm>
            <a:off x="1"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dirty="0" smtClean="0">
                <a:latin typeface="Arial" panose="020B0604020202020204" pitchFamily="34" charset="0"/>
                <a:cs typeface="Arial" panose="020B0604020202020204" pitchFamily="34" charset="0"/>
              </a:rPr>
              <a:t>Instructions for Use</a:t>
            </a:r>
            <a:endParaRPr lang="zh-CN" altLang="en-US" sz="3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6538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内容占位符 2"/>
          <p:cNvSpPr>
            <a:spLocks noGrp="1"/>
          </p:cNvSpPr>
          <p:nvPr>
            <p:ph idx="4294967295"/>
          </p:nvPr>
        </p:nvSpPr>
        <p:spPr>
          <a:xfrm>
            <a:off x="323850" y="1491854"/>
            <a:ext cx="8496300" cy="3239690"/>
          </a:xfrm>
        </p:spPr>
        <p:txBody>
          <a:bodyPr>
            <a:normAutofit fontScale="85000" lnSpcReduction="10000"/>
          </a:bodyPr>
          <a:lstStyle/>
          <a:p>
            <a:pPr marL="342900" lvl="1" indent="-342900" eaLnBrk="1" hangingPunct="1">
              <a:buFont typeface="Arial" charset="0"/>
              <a:buChar char="•"/>
              <a:defRPr/>
            </a:pPr>
            <a:r>
              <a:rPr lang="en-US" altLang="zh-CN" dirty="0" smtClean="0"/>
              <a:t>Working Rules of Camera-</a:t>
            </a:r>
            <a:r>
              <a:rPr lang="en-US" altLang="zh-CN" sz="2400" dirty="0" smtClean="0">
                <a:solidFill>
                  <a:srgbClr val="FF0000"/>
                </a:solidFill>
              </a:rPr>
              <a:t>imaging mode</a:t>
            </a:r>
            <a:endParaRPr lang="en-US" altLang="zh-CN" dirty="0" smtClean="0">
              <a:solidFill>
                <a:srgbClr val="FF3300"/>
              </a:solidFill>
            </a:endParaRPr>
          </a:p>
          <a:p>
            <a:pPr lvl="1" eaLnBrk="1" hangingPunct="1">
              <a:defRPr/>
            </a:pPr>
            <a:r>
              <a:rPr lang="en-US" altLang="zh-CN" sz="2400" dirty="0" smtClean="0">
                <a:solidFill>
                  <a:srgbClr val="FF0000"/>
                </a:solidFill>
              </a:rPr>
              <a:t>Setting imaging parameters</a:t>
            </a:r>
            <a:r>
              <a:rPr lang="en-US" altLang="zh-CN" sz="2400" dirty="0" smtClean="0"/>
              <a:t>:</a:t>
            </a:r>
          </a:p>
          <a:p>
            <a:pPr lvl="2" eaLnBrk="1" hangingPunct="1">
              <a:buFont typeface="Wingdings" pitchFamily="2" charset="2"/>
              <a:buChar char="ü"/>
              <a:defRPr/>
            </a:pPr>
            <a:r>
              <a:rPr lang="en-US" altLang="zh-CN" sz="2000" dirty="0" smtClean="0"/>
              <a:t>Gain if necessary</a:t>
            </a:r>
          </a:p>
          <a:p>
            <a:pPr lvl="1" eaLnBrk="1" hangingPunct="1">
              <a:defRPr/>
            </a:pPr>
            <a:r>
              <a:rPr lang="en-US" altLang="zh-CN" sz="2400" dirty="0" smtClean="0"/>
              <a:t>It is suggested that the </a:t>
            </a:r>
            <a:r>
              <a:rPr lang="en-US" altLang="zh-CN" sz="2400" dirty="0" smtClean="0">
                <a:solidFill>
                  <a:srgbClr val="FF0000"/>
                </a:solidFill>
              </a:rPr>
              <a:t>working parameters of camera</a:t>
            </a:r>
            <a:r>
              <a:rPr lang="en-US" altLang="zh-CN" sz="2400" dirty="0" smtClean="0"/>
              <a:t>, as below, </a:t>
            </a:r>
            <a:r>
              <a:rPr lang="en-US" altLang="zh-CN" sz="2400" dirty="0" smtClean="0">
                <a:solidFill>
                  <a:srgbClr val="FF0000"/>
                </a:solidFill>
              </a:rPr>
              <a:t>should not be adjusted in the duration of imaging</a:t>
            </a:r>
            <a:r>
              <a:rPr lang="en-US" altLang="zh-CN" sz="2400" dirty="0" smtClean="0"/>
              <a:t>:</a:t>
            </a:r>
            <a:endParaRPr lang="en-US" altLang="zh-CN" sz="2400" dirty="0" smtClean="0">
              <a:solidFill>
                <a:srgbClr val="FF3300"/>
              </a:solidFill>
            </a:endParaRPr>
          </a:p>
          <a:p>
            <a:pPr lvl="2" eaLnBrk="1" hangingPunct="1">
              <a:buFont typeface="Wingdings" pitchFamily="2" charset="2"/>
              <a:buChar char="ü"/>
              <a:defRPr/>
            </a:pPr>
            <a:r>
              <a:rPr lang="en-US" sz="2000" dirty="0" smtClean="0"/>
              <a:t>Integration time setting</a:t>
            </a:r>
          </a:p>
          <a:p>
            <a:pPr lvl="2" eaLnBrk="1" hangingPunct="1">
              <a:buFont typeface="Wingdings" pitchFamily="2" charset="2"/>
              <a:buChar char="ü"/>
              <a:defRPr/>
            </a:pPr>
            <a:r>
              <a:rPr lang="en-US" sz="2000" dirty="0" smtClean="0"/>
              <a:t>Algorithm ON/OFF Setting</a:t>
            </a:r>
          </a:p>
        </p:txBody>
      </p:sp>
      <p:sp>
        <p:nvSpPr>
          <p:cNvPr id="4" name="标题 3"/>
          <p:cNvSpPr txBox="1">
            <a:spLocks noChangeArrowheads="1"/>
          </p:cNvSpPr>
          <p:nvPr/>
        </p:nvSpPr>
        <p:spPr>
          <a:xfrm>
            <a:off x="1"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dirty="0" smtClean="0">
                <a:latin typeface="Arial" panose="020B0604020202020204" pitchFamily="34" charset="0"/>
                <a:cs typeface="Arial" panose="020B0604020202020204" pitchFamily="34" charset="0"/>
              </a:rPr>
              <a:t>Instructions for Use</a:t>
            </a:r>
            <a:endParaRPr lang="zh-CN" altLang="en-US" sz="3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60067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内容占位符 2"/>
          <p:cNvSpPr>
            <a:spLocks noGrp="1"/>
          </p:cNvSpPr>
          <p:nvPr>
            <p:ph idx="4294967295"/>
          </p:nvPr>
        </p:nvSpPr>
        <p:spPr>
          <a:xfrm>
            <a:off x="611560" y="1329612"/>
            <a:ext cx="7956550" cy="2970610"/>
          </a:xfrm>
        </p:spPr>
        <p:txBody>
          <a:bodyPr>
            <a:noAutofit/>
          </a:bodyPr>
          <a:lstStyle/>
          <a:p>
            <a:pPr lvl="0"/>
            <a:r>
              <a:rPr lang="x-none" altLang="zh-CN" sz="1800" dirty="0"/>
              <a:t>The accumulative time duration of </a:t>
            </a:r>
            <a:r>
              <a:rPr lang="en-US" altLang="zh-CN" sz="1800" dirty="0" smtClean="0"/>
              <a:t>camera</a:t>
            </a:r>
            <a:r>
              <a:rPr lang="x-none" altLang="zh-CN" sz="1800" dirty="0" smtClean="0"/>
              <a:t> </a:t>
            </a:r>
            <a:r>
              <a:rPr lang="x-none" altLang="zh-CN" sz="1800" dirty="0"/>
              <a:t>power on is no more than </a:t>
            </a:r>
            <a:r>
              <a:rPr lang="en-US" altLang="zh-CN" sz="1800" dirty="0" smtClean="0"/>
              <a:t>8</a:t>
            </a:r>
            <a:r>
              <a:rPr lang="x-none" altLang="zh-CN" sz="1800" dirty="0" smtClean="0"/>
              <a:t> </a:t>
            </a:r>
            <a:r>
              <a:rPr lang="x-none" altLang="zh-CN" sz="1800" dirty="0"/>
              <a:t>minutes in one orbit, and the accumulative time duration limitation is no more than 70 minutes for one day.</a:t>
            </a:r>
            <a:endParaRPr lang="zh-CN" altLang="zh-CN" sz="1800" dirty="0"/>
          </a:p>
          <a:p>
            <a:r>
              <a:rPr lang="en-US" altLang="zh-CN" sz="1800" dirty="0" smtClean="0">
                <a:latin typeface="Arial" panose="020B0604020202020204" pitchFamily="34" charset="0"/>
                <a:cs typeface="Arial" panose="020B0604020202020204" pitchFamily="34" charset="0"/>
              </a:rPr>
              <a:t>Camera can </a:t>
            </a:r>
            <a:r>
              <a:rPr lang="en-US" altLang="zh-CN" sz="1800" dirty="0">
                <a:latin typeface="Arial" panose="020B0604020202020204" pitchFamily="34" charset="0"/>
                <a:cs typeface="Arial" panose="020B0604020202020204" pitchFamily="34" charset="0"/>
              </a:rPr>
              <a:t>only work at daytime, so sunlight will light on either +X plan or –X plan of satellite during imaging. Satellite should yaw +90° to do the calibration mode if sunlight is on the +X plan before yaw maneuver, or satellite should yaw -90° to do the calibration mode if sunlight is on the -X plan before yaw maneuver</a:t>
            </a:r>
            <a:endParaRPr lang="zh-CN" altLang="zh-CN" sz="1800" dirty="0">
              <a:latin typeface="Arial" panose="020B0604020202020204" pitchFamily="34" charset="0"/>
              <a:cs typeface="Arial" panose="020B0604020202020204" pitchFamily="34" charset="0"/>
            </a:endParaRPr>
          </a:p>
        </p:txBody>
      </p:sp>
      <p:sp>
        <p:nvSpPr>
          <p:cNvPr id="4" name="标题 3"/>
          <p:cNvSpPr txBox="1">
            <a:spLocks noChangeArrowheads="1"/>
          </p:cNvSpPr>
          <p:nvPr/>
        </p:nvSpPr>
        <p:spPr>
          <a:xfrm>
            <a:off x="1"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dirty="0" smtClean="0">
                <a:latin typeface="Arial" panose="020B0604020202020204" pitchFamily="34" charset="0"/>
                <a:cs typeface="Arial" panose="020B0604020202020204" pitchFamily="34" charset="0"/>
              </a:rPr>
              <a:t>Instructions for Use</a:t>
            </a:r>
            <a:endParaRPr lang="zh-CN" altLang="en-US" sz="3700" dirty="0">
              <a:latin typeface="Arial" panose="020B0604020202020204" pitchFamily="34" charset="0"/>
              <a:cs typeface="Arial" panose="020B0604020202020204" pitchFamily="34" charset="0"/>
            </a:endParaRPr>
          </a:p>
        </p:txBody>
      </p:sp>
      <p:sp>
        <p:nvSpPr>
          <p:cNvPr id="2" name="TextBox 1"/>
          <p:cNvSpPr txBox="1"/>
          <p:nvPr/>
        </p:nvSpPr>
        <p:spPr>
          <a:xfrm>
            <a:off x="179512" y="1005577"/>
            <a:ext cx="2160240" cy="430887"/>
          </a:xfrm>
          <a:prstGeom prst="rect">
            <a:avLst/>
          </a:prstGeom>
          <a:noFill/>
        </p:spPr>
        <p:txBody>
          <a:bodyPr wrap="square" rtlCol="0">
            <a:spAutoFit/>
          </a:bodyPr>
          <a:lstStyle/>
          <a:p>
            <a:r>
              <a:rPr lang="en-US" altLang="zh-CN" sz="2200" b="1" dirty="0">
                <a:solidFill>
                  <a:srgbClr val="FF0000"/>
                </a:solidFill>
                <a:latin typeface="Arial" panose="020B0604020202020204" pitchFamily="34" charset="0"/>
                <a:cs typeface="Arial" panose="020B0604020202020204" pitchFamily="34" charset="0"/>
              </a:rPr>
              <a:t>Working Rules</a:t>
            </a:r>
            <a:endParaRPr lang="zh-CN" altLang="en-US" sz="22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86177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内容占位符 2"/>
          <p:cNvSpPr>
            <a:spLocks noGrp="1"/>
          </p:cNvSpPr>
          <p:nvPr>
            <p:ph idx="4294967295"/>
          </p:nvPr>
        </p:nvSpPr>
        <p:spPr>
          <a:xfrm>
            <a:off x="602769" y="1221601"/>
            <a:ext cx="8101013" cy="3240881"/>
          </a:xfrm>
        </p:spPr>
        <p:txBody>
          <a:bodyPr>
            <a:normAutofit fontScale="92500" lnSpcReduction="10000"/>
          </a:bodyPr>
          <a:lstStyle/>
          <a:p>
            <a:r>
              <a:rPr lang="en-US" altLang="zh-CN" dirty="0" smtClean="0"/>
              <a:t>Anomaly </a:t>
            </a:r>
            <a:r>
              <a:rPr lang="en-US" altLang="zh-CN" dirty="0"/>
              <a:t>to Handle</a:t>
            </a:r>
            <a:endParaRPr lang="en-US" altLang="zh-CN" dirty="0" smtClean="0"/>
          </a:p>
          <a:p>
            <a:pPr lvl="1" eaLnBrk="1" hangingPunct="1"/>
            <a:r>
              <a:rPr lang="en-US" altLang="zh-CN" sz="2400" dirty="0" smtClean="0"/>
              <a:t>Basics</a:t>
            </a:r>
          </a:p>
          <a:p>
            <a:pPr lvl="2" eaLnBrk="1" hangingPunct="1">
              <a:buFont typeface="Wingdings" pitchFamily="2" charset="2"/>
              <a:buChar char="ü"/>
            </a:pPr>
            <a:r>
              <a:rPr lang="en-US" altLang="zh-CN" dirty="0" smtClean="0"/>
              <a:t>If there are some </a:t>
            </a:r>
            <a:r>
              <a:rPr lang="en-US" altLang="zh-CN" dirty="0" smtClean="0">
                <a:solidFill>
                  <a:srgbClr val="FF0000"/>
                </a:solidFill>
              </a:rPr>
              <a:t>anomalies</a:t>
            </a:r>
            <a:r>
              <a:rPr lang="en-US" altLang="zh-CN" dirty="0" smtClean="0"/>
              <a:t> for camera, it is needed to </a:t>
            </a:r>
            <a:r>
              <a:rPr lang="en-US" altLang="zh-CN" dirty="0" smtClean="0">
                <a:solidFill>
                  <a:srgbClr val="FF0000"/>
                </a:solidFill>
              </a:rPr>
              <a:t>report immediately</a:t>
            </a:r>
            <a:r>
              <a:rPr lang="en-US" altLang="zh-CN" dirty="0" smtClean="0"/>
              <a:t>.</a:t>
            </a:r>
          </a:p>
          <a:p>
            <a:pPr lvl="2" eaLnBrk="1" hangingPunct="1">
              <a:buFont typeface="Wingdings" pitchFamily="2" charset="2"/>
              <a:buChar char="ü"/>
            </a:pPr>
            <a:r>
              <a:rPr lang="en-US" altLang="zh-CN" dirty="0" smtClean="0">
                <a:solidFill>
                  <a:srgbClr val="FF0000"/>
                </a:solidFill>
              </a:rPr>
              <a:t>Anomaly category</a:t>
            </a:r>
            <a:r>
              <a:rPr lang="en-US" altLang="zh-CN" dirty="0" smtClean="0"/>
              <a:t>: </a:t>
            </a:r>
            <a:r>
              <a:rPr lang="en-US" altLang="zh-CN" dirty="0" smtClean="0">
                <a:solidFill>
                  <a:srgbClr val="FF0000"/>
                </a:solidFill>
              </a:rPr>
              <a:t>output</a:t>
            </a:r>
            <a:r>
              <a:rPr lang="en-US" altLang="zh-CN" dirty="0" smtClean="0"/>
              <a:t> anomaly, </a:t>
            </a:r>
            <a:r>
              <a:rPr lang="en-US" altLang="zh-CN" dirty="0" smtClean="0">
                <a:solidFill>
                  <a:srgbClr val="FF0000"/>
                </a:solidFill>
              </a:rPr>
              <a:t>working status </a:t>
            </a:r>
            <a:r>
              <a:rPr lang="en-US" altLang="zh-CN" dirty="0" smtClean="0"/>
              <a:t>anomaly.</a:t>
            </a:r>
          </a:p>
        </p:txBody>
      </p:sp>
      <p:sp>
        <p:nvSpPr>
          <p:cNvPr id="4" name="标题 3"/>
          <p:cNvSpPr txBox="1">
            <a:spLocks noChangeArrowheads="1"/>
          </p:cNvSpPr>
          <p:nvPr/>
        </p:nvSpPr>
        <p:spPr>
          <a:xfrm>
            <a:off x="1"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dirty="0" smtClean="0">
                <a:latin typeface="Arial" panose="020B0604020202020204" pitchFamily="34" charset="0"/>
                <a:cs typeface="Arial" panose="020B0604020202020204" pitchFamily="34" charset="0"/>
              </a:rPr>
              <a:t>Instructions for Use</a:t>
            </a:r>
            <a:endParaRPr lang="zh-CN" altLang="en-US" sz="3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50121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内容占位符 2"/>
          <p:cNvSpPr>
            <a:spLocks noGrp="1"/>
          </p:cNvSpPr>
          <p:nvPr>
            <p:ph idx="4294967295"/>
          </p:nvPr>
        </p:nvSpPr>
        <p:spPr>
          <a:xfrm>
            <a:off x="455885" y="1167594"/>
            <a:ext cx="8243888" cy="3024188"/>
          </a:xfrm>
        </p:spPr>
        <p:txBody>
          <a:bodyPr>
            <a:normAutofit fontScale="70000" lnSpcReduction="20000"/>
          </a:bodyPr>
          <a:lstStyle/>
          <a:p>
            <a:pPr lvl="1" eaLnBrk="1" hangingPunct="1"/>
            <a:r>
              <a:rPr lang="en-US" altLang="zh-CN" sz="2400" dirty="0" smtClean="0"/>
              <a:t>Output anomaly</a:t>
            </a:r>
          </a:p>
          <a:p>
            <a:pPr lvl="2" eaLnBrk="1" hangingPunct="1">
              <a:buFont typeface="Wingdings" pitchFamily="2" charset="2"/>
              <a:buChar char="ü"/>
            </a:pPr>
            <a:r>
              <a:rPr lang="en-US" altLang="zh-CN" sz="2000" dirty="0" smtClean="0"/>
              <a:t>Status: camera </a:t>
            </a:r>
            <a:r>
              <a:rPr lang="en-US" altLang="zh-CN" sz="2000" dirty="0" smtClean="0">
                <a:solidFill>
                  <a:srgbClr val="FF0000"/>
                </a:solidFill>
              </a:rPr>
              <a:t>cannot normally output image </a:t>
            </a:r>
            <a:r>
              <a:rPr lang="en-US" altLang="zh-CN" sz="2000" dirty="0" smtClean="0"/>
              <a:t>during performing mission </a:t>
            </a:r>
          </a:p>
          <a:p>
            <a:pPr lvl="2" eaLnBrk="1" hangingPunct="1">
              <a:buFont typeface="Wingdings" pitchFamily="2" charset="2"/>
              <a:buChar char="ü"/>
            </a:pPr>
            <a:r>
              <a:rPr lang="en-US" altLang="zh-CN" sz="2000" dirty="0" smtClean="0"/>
              <a:t>To handle: </a:t>
            </a:r>
            <a:r>
              <a:rPr lang="en-US" altLang="zh-CN" sz="2000" dirty="0" smtClean="0">
                <a:solidFill>
                  <a:srgbClr val="FF0000"/>
                </a:solidFill>
              </a:rPr>
              <a:t>Report to DFH  immediately </a:t>
            </a:r>
            <a:r>
              <a:rPr lang="en-US" altLang="zh-CN" sz="2000" dirty="0" smtClean="0"/>
              <a:t>with all the </a:t>
            </a:r>
            <a:r>
              <a:rPr lang="en-US" altLang="zh-CN" sz="2000" dirty="0" smtClean="0">
                <a:solidFill>
                  <a:srgbClr val="FF0000"/>
                </a:solidFill>
              </a:rPr>
              <a:t>working status telemetry </a:t>
            </a:r>
            <a:r>
              <a:rPr lang="en-US" altLang="zh-CN" sz="2000" dirty="0" smtClean="0"/>
              <a:t>of </a:t>
            </a:r>
            <a:r>
              <a:rPr lang="en-US" altLang="zh-CN" sz="2000" dirty="0" smtClean="0">
                <a:solidFill>
                  <a:srgbClr val="FF0000"/>
                </a:solidFill>
              </a:rPr>
              <a:t>camera</a:t>
            </a:r>
          </a:p>
          <a:p>
            <a:pPr lvl="1" eaLnBrk="1" hangingPunct="1"/>
            <a:r>
              <a:rPr lang="en-US" altLang="zh-CN" sz="2000" dirty="0" smtClean="0"/>
              <a:t>Working status anomaly</a:t>
            </a:r>
          </a:p>
          <a:p>
            <a:pPr lvl="2" eaLnBrk="1" hangingPunct="1">
              <a:buFont typeface="Wingdings" pitchFamily="2" charset="2"/>
              <a:buChar char="ü"/>
            </a:pPr>
            <a:r>
              <a:rPr lang="en-US" altLang="zh-CN" sz="2000" dirty="0" smtClean="0"/>
              <a:t>Status: </a:t>
            </a:r>
            <a:r>
              <a:rPr lang="en-US" altLang="zh-CN" sz="2000" dirty="0" smtClean="0">
                <a:solidFill>
                  <a:srgbClr val="FF0000"/>
                </a:solidFill>
              </a:rPr>
              <a:t>Working status telemetry </a:t>
            </a:r>
            <a:r>
              <a:rPr lang="en-US" altLang="zh-CN" sz="2000" dirty="0" smtClean="0"/>
              <a:t>is</a:t>
            </a:r>
            <a:r>
              <a:rPr lang="en-US" altLang="zh-CN" sz="2000" dirty="0" smtClean="0">
                <a:solidFill>
                  <a:srgbClr val="FF0000"/>
                </a:solidFill>
              </a:rPr>
              <a:t> abnormal </a:t>
            </a:r>
            <a:r>
              <a:rPr lang="en-US" altLang="zh-CN" sz="2000" dirty="0" smtClean="0"/>
              <a:t>during performing mission, however, camera can output image.</a:t>
            </a:r>
          </a:p>
          <a:p>
            <a:pPr lvl="2" eaLnBrk="1" hangingPunct="1">
              <a:buFont typeface="Wingdings" pitchFamily="2" charset="2"/>
              <a:buChar char="ü"/>
            </a:pPr>
            <a:r>
              <a:rPr lang="en-US" altLang="zh-CN" sz="2000" dirty="0" smtClean="0"/>
              <a:t>To handle: </a:t>
            </a:r>
            <a:r>
              <a:rPr lang="en-US" altLang="zh-CN" sz="2000" dirty="0" smtClean="0">
                <a:solidFill>
                  <a:srgbClr val="FF0000"/>
                </a:solidFill>
              </a:rPr>
              <a:t>Report to DFH  </a:t>
            </a:r>
            <a:r>
              <a:rPr lang="en-US" altLang="zh-CN" sz="2000" dirty="0" smtClean="0"/>
              <a:t>with all the </a:t>
            </a:r>
            <a:r>
              <a:rPr lang="en-US" altLang="zh-CN" sz="2000" dirty="0" smtClean="0">
                <a:solidFill>
                  <a:srgbClr val="FF0000"/>
                </a:solidFill>
              </a:rPr>
              <a:t>working status telemetry </a:t>
            </a:r>
            <a:r>
              <a:rPr lang="en-US" altLang="zh-CN" sz="2000" dirty="0" smtClean="0"/>
              <a:t>of </a:t>
            </a:r>
            <a:r>
              <a:rPr lang="en-US" altLang="zh-CN" sz="2000" dirty="0" smtClean="0">
                <a:solidFill>
                  <a:srgbClr val="FF0000"/>
                </a:solidFill>
              </a:rPr>
              <a:t>camera</a:t>
            </a:r>
          </a:p>
        </p:txBody>
      </p:sp>
      <p:sp>
        <p:nvSpPr>
          <p:cNvPr id="4" name="标题 3"/>
          <p:cNvSpPr txBox="1">
            <a:spLocks noChangeArrowheads="1"/>
          </p:cNvSpPr>
          <p:nvPr/>
        </p:nvSpPr>
        <p:spPr>
          <a:xfrm>
            <a:off x="1" y="210335"/>
            <a:ext cx="8696325" cy="661720"/>
          </a:xfrm>
          <a:prstGeom prst="rect">
            <a:avLst/>
          </a:prstGeom>
        </p:spPr>
        <p:txBody>
          <a:bodyPr vert="horz" lIns="91440" tIns="45720" rIns="91440" bIns="45720" rtlCol="0" anchor="ctr">
            <a:sp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700" dirty="0" smtClean="0">
                <a:latin typeface="Arial" panose="020B0604020202020204" pitchFamily="34" charset="0"/>
                <a:cs typeface="Arial" panose="020B0604020202020204" pitchFamily="34" charset="0"/>
              </a:rPr>
              <a:t>Instructions for Use</a:t>
            </a:r>
            <a:endParaRPr lang="zh-CN" altLang="en-US" sz="3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4857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Box 1"/>
          <p:cNvSpPr txBox="1">
            <a:spLocks noChangeArrowheads="1"/>
          </p:cNvSpPr>
          <p:nvPr/>
        </p:nvSpPr>
        <p:spPr bwMode="auto">
          <a:xfrm>
            <a:off x="1692275" y="2247900"/>
            <a:ext cx="59753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8000" b="1">
                <a:solidFill>
                  <a:srgbClr val="FF0000"/>
                </a:solidFill>
                <a:latin typeface="Palace Script MT" pitchFamily="66" charset="0"/>
              </a:rPr>
              <a:t>Thank your attention! </a:t>
            </a:r>
            <a:endParaRPr lang="zh-CN" altLang="en-US" sz="8000" b="1">
              <a:solidFill>
                <a:srgbClr val="FF0000"/>
              </a:solidFill>
              <a:latin typeface="Palace Script MT" pitchFamily="66" charset="0"/>
            </a:endParaRPr>
          </a:p>
        </p:txBody>
      </p:sp>
    </p:spTree>
    <p:extLst>
      <p:ext uri="{BB962C8B-B14F-4D97-AF65-F5344CB8AC3E}">
        <p14:creationId xmlns:p14="http://schemas.microsoft.com/office/powerpoint/2010/main" val="32150489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2410</TotalTime>
  <Words>1546</Words>
  <Application>Microsoft Office PowerPoint</Application>
  <PresentationFormat>全屏显示(16:9)</PresentationFormat>
  <Paragraphs>499</Paragraphs>
  <Slides>32</Slides>
  <Notes>15</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32</vt:i4>
      </vt:variant>
    </vt:vector>
  </HeadingPairs>
  <TitlesOfParts>
    <vt:vector size="34" baseType="lpstr">
      <vt:lpstr>Office 主题</vt:lpstr>
      <vt:lpstr>Visio</vt:lpstr>
      <vt:lpstr>Multispectral Camera In-orbit Operation Instructions (Normal &amp; Emergency)</vt:lpstr>
      <vt:lpstr>Outline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Telemetry and Tele-command</vt:lpstr>
      <vt:lpstr>PowerPoint 演示文稿</vt:lpstr>
      <vt:lpstr>PowerPoint 演示文稿</vt:lpstr>
      <vt:lpstr>Telemetry</vt:lpstr>
      <vt:lpstr>Telemetry</vt:lpstr>
      <vt:lpstr>Telemetry</vt:lpstr>
      <vt:lpstr>Telemetry</vt:lpstr>
      <vt:lpstr>PowerPoint 演示文稿</vt:lpstr>
      <vt:lpstr>PowerPoint 演示文稿</vt:lpstr>
      <vt:lpstr>PowerPoint 演示文稿</vt:lpstr>
      <vt:lpstr>TC Based on Operation Mode</vt:lpstr>
      <vt:lpstr>TM/TC Based on Operation Mode</vt:lpstr>
      <vt:lpstr>TM/TC Based on Operation Mode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李宁</dc:creator>
  <cp:lastModifiedBy>侯天宝</cp:lastModifiedBy>
  <cp:revision>171</cp:revision>
  <dcterms:created xsi:type="dcterms:W3CDTF">2013-04-18T01:59:38Z</dcterms:created>
  <dcterms:modified xsi:type="dcterms:W3CDTF">2019-09-29T09:16:21Z</dcterms:modified>
</cp:coreProperties>
</file>