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275" r:id="rId2"/>
    <p:sldId id="381" r:id="rId3"/>
    <p:sldId id="409" r:id="rId4"/>
    <p:sldId id="410" r:id="rId5"/>
    <p:sldId id="411" r:id="rId6"/>
    <p:sldId id="437" r:id="rId7"/>
    <p:sldId id="438" r:id="rId8"/>
    <p:sldId id="439" r:id="rId9"/>
    <p:sldId id="444" r:id="rId10"/>
    <p:sldId id="440" r:id="rId11"/>
    <p:sldId id="441" r:id="rId12"/>
    <p:sldId id="442" r:id="rId13"/>
    <p:sldId id="443" r:id="rId14"/>
    <p:sldId id="445" r:id="rId15"/>
    <p:sldId id="446" r:id="rId16"/>
    <p:sldId id="447" r:id="rId17"/>
    <p:sldId id="448" r:id="rId18"/>
    <p:sldId id="449" r:id="rId19"/>
    <p:sldId id="451" r:id="rId20"/>
    <p:sldId id="414" r:id="rId21"/>
    <p:sldId id="415" r:id="rId22"/>
    <p:sldId id="416" r:id="rId23"/>
    <p:sldId id="417" r:id="rId24"/>
    <p:sldId id="418" r:id="rId25"/>
    <p:sldId id="419" r:id="rId26"/>
    <p:sldId id="420" r:id="rId27"/>
    <p:sldId id="421" r:id="rId28"/>
    <p:sldId id="452" r:id="rId29"/>
    <p:sldId id="453" r:id="rId30"/>
    <p:sldId id="454" r:id="rId31"/>
    <p:sldId id="455" r:id="rId32"/>
    <p:sldId id="456" r:id="rId33"/>
    <p:sldId id="457" r:id="rId34"/>
    <p:sldId id="422" r:id="rId35"/>
  </p:sldIdLst>
  <p:sldSz cx="9144000" cy="5143500" type="screen16x9"/>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98E4EC8-262F-4493-A17B-40E3C335E374}">
          <p14:sldIdLst>
            <p14:sldId id="275"/>
            <p14:sldId id="381"/>
            <p14:sldId id="409"/>
            <p14:sldId id="410"/>
            <p14:sldId id="411"/>
            <p14:sldId id="437"/>
            <p14:sldId id="438"/>
            <p14:sldId id="439"/>
            <p14:sldId id="444"/>
            <p14:sldId id="440"/>
            <p14:sldId id="441"/>
            <p14:sldId id="442"/>
            <p14:sldId id="443"/>
            <p14:sldId id="445"/>
            <p14:sldId id="446"/>
            <p14:sldId id="447"/>
            <p14:sldId id="448"/>
            <p14:sldId id="449"/>
            <p14:sldId id="451"/>
            <p14:sldId id="414"/>
            <p14:sldId id="415"/>
            <p14:sldId id="416"/>
            <p14:sldId id="417"/>
            <p14:sldId id="418"/>
            <p14:sldId id="419"/>
            <p14:sldId id="420"/>
            <p14:sldId id="421"/>
            <p14:sldId id="452"/>
            <p14:sldId id="453"/>
            <p14:sldId id="454"/>
            <p14:sldId id="455"/>
            <p14:sldId id="456"/>
            <p14:sldId id="457"/>
            <p14:sldId id="42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3F1"/>
    <a:srgbClr val="0099FF"/>
    <a:srgbClr val="165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01" autoAdjust="0"/>
    <p:restoredTop sz="99245" autoAdjust="0"/>
  </p:normalViewPr>
  <p:slideViewPr>
    <p:cSldViewPr>
      <p:cViewPr>
        <p:scale>
          <a:sx n="100" d="100"/>
          <a:sy n="100" d="100"/>
        </p:scale>
        <p:origin x="-2040" y="-942"/>
      </p:cViewPr>
      <p:guideLst>
        <p:guide orient="horz" pos="162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t>2019-9-30</a:t>
            </a:fld>
            <a:endParaRPr lang="zh-CN" altLang="en-US"/>
          </a:p>
        </p:txBody>
      </p:sp>
      <p:sp>
        <p:nvSpPr>
          <p:cNvPr id="4" name="页脚占位符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2019-9-30</a:t>
            </a:fld>
            <a:endParaRPr lang="zh-CN" altLang="en-US"/>
          </a:p>
        </p:txBody>
      </p:sp>
      <p:sp>
        <p:nvSpPr>
          <p:cNvPr id="4" name="幻灯片图像占位符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副标题 2"/>
          <p:cNvSpPr>
            <a:spLocks noGrp="1"/>
          </p:cNvSpPr>
          <p:nvPr>
            <p:ph type="subTitle" idx="1" hasCustomPrompt="1"/>
          </p:nvPr>
        </p:nvSpPr>
        <p:spPr>
          <a:xfrm>
            <a:off x="2195736" y="3813888"/>
            <a:ext cx="4914912" cy="514356"/>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1806936"/>
            <a:ext cx="7586658" cy="811995"/>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11267" name="Picture 3"/>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val="0"/>
              </a:ext>
            </a:extLst>
          </a:blip>
          <a:srcRect/>
          <a:stretch>
            <a:fillRect/>
          </a:stretch>
        </p:blipFill>
        <p:spPr bwMode="auto">
          <a:xfrm>
            <a:off x="7092280" y="141480"/>
            <a:ext cx="1843743" cy="97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pic>
        <p:nvPicPr>
          <p:cNvPr id="1331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422411" y="0"/>
            <a:ext cx="2754307" cy="145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0"/>
            <a:ext cx="9144000" cy="910817"/>
          </a:xfrm>
          <a:prstGeom prst="rect">
            <a:avLst/>
          </a:prstGeom>
        </p:spPr>
      </p:pic>
      <p:sp>
        <p:nvSpPr>
          <p:cNvPr id="2" name="标题占位符 1"/>
          <p:cNvSpPr>
            <a:spLocks noGrp="1"/>
          </p:cNvSpPr>
          <p:nvPr>
            <p:ph type="title"/>
          </p:nvPr>
        </p:nvSpPr>
        <p:spPr>
          <a:xfrm>
            <a:off x="457200" y="205979"/>
            <a:ext cx="8229600" cy="81199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017974"/>
            <a:ext cx="8229600" cy="35766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4769644"/>
            <a:ext cx="6480720" cy="272669"/>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4767263"/>
            <a:ext cx="802432" cy="273844"/>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5036361"/>
            <a:ext cx="9144000" cy="241094"/>
          </a:xfrm>
          <a:prstGeom prst="rect">
            <a:avLst/>
          </a:prstGeom>
        </p:spPr>
      </p:pic>
      <p:pic>
        <p:nvPicPr>
          <p:cNvPr id="16" name="图片 15"/>
          <p:cNvPicPr>
            <a:picLocks noChangeAspect="1"/>
          </p:cNvPicPr>
          <p:nvPr userDrawn="1"/>
        </p:nvPicPr>
        <p:blipFill rotWithShape="1">
          <a:blip r:embed="rId8" cstate="print">
            <a:extLst>
              <a:ext uri="{28A0092B-C50C-407E-A947-70E740481C1C}">
                <a14:useLocalDpi xmlns:a14="http://schemas.microsoft.com/office/drawing/2010/main" val="0"/>
              </a:ext>
            </a:extLst>
          </a:blip>
          <a:srcRect b="34726"/>
          <a:stretch/>
        </p:blipFill>
        <p:spPr>
          <a:xfrm>
            <a:off x="171892" y="4754850"/>
            <a:ext cx="432048" cy="258988"/>
          </a:xfrm>
          <a:prstGeom prst="rect">
            <a:avLst/>
          </a:prstGeom>
        </p:spPr>
      </p:pic>
      <p:pic>
        <p:nvPicPr>
          <p:cNvPr id="12290" name="Picture 2"/>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884369" y="160116"/>
            <a:ext cx="1115549" cy="590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611560" y="3435846"/>
            <a:ext cx="8208912" cy="1134126"/>
          </a:xfrm>
        </p:spPr>
        <p:txBody>
          <a:bodyPr/>
          <a:lstStyle/>
          <a:p>
            <a:r>
              <a:rPr lang="en-US" altLang="zh-CN" sz="2000" dirty="0"/>
              <a:t>Beijing Institute of Control Engineering</a:t>
            </a:r>
          </a:p>
          <a:p>
            <a:r>
              <a:rPr lang="en-US" altLang="zh-CN" sz="2000" dirty="0" smtClean="0"/>
              <a:t>Oct</a:t>
            </a:r>
            <a:r>
              <a:rPr lang="en-US" altLang="zh-CN" sz="2000" dirty="0" smtClean="0"/>
              <a:t>, </a:t>
            </a:r>
            <a:r>
              <a:rPr lang="en-US" altLang="zh-CN" sz="2000" dirty="0" smtClean="0"/>
              <a:t>2019</a:t>
            </a:r>
            <a:endParaRPr lang="en-US" altLang="zh-CN" sz="2000" dirty="0"/>
          </a:p>
          <a:p>
            <a:endParaRPr lang="zh-CN" altLang="en-US" dirty="0"/>
          </a:p>
          <a:p>
            <a:endParaRPr lang="zh-CN" altLang="en-US" dirty="0"/>
          </a:p>
        </p:txBody>
      </p:sp>
      <p:sp>
        <p:nvSpPr>
          <p:cNvPr id="3" name="标题 2"/>
          <p:cNvSpPr>
            <a:spLocks noGrp="1"/>
          </p:cNvSpPr>
          <p:nvPr>
            <p:ph type="title"/>
          </p:nvPr>
        </p:nvSpPr>
        <p:spPr>
          <a:xfrm>
            <a:off x="714348" y="1329612"/>
            <a:ext cx="7586658" cy="1566174"/>
          </a:xfrm>
        </p:spPr>
        <p:txBody>
          <a:bodyPr>
            <a:normAutofit/>
          </a:bodyPr>
          <a:lstStyle/>
          <a:p>
            <a:r>
              <a:rPr lang="en-US" altLang="zh-CN" sz="4400" dirty="0" smtClean="0"/>
              <a:t>ETRSS-1 </a:t>
            </a:r>
            <a:r>
              <a:rPr lang="en-US" altLang="zh-CN" sz="4400" dirty="0"/>
              <a:t>AOCS In-orbit Operation Instructions</a:t>
            </a:r>
            <a:endParaRPr lang="zh-CN" altLang="en-US" sz="440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a:xfrm>
            <a:off x="457200" y="1017974"/>
            <a:ext cx="8229600" cy="3576649"/>
          </a:xfrm>
        </p:spPr>
        <p:txBody>
          <a:bodyPr>
            <a:normAutofit fontScale="70000" lnSpcReduction="20000"/>
          </a:bodyPr>
          <a:lstStyle/>
          <a:p>
            <a:pPr marL="514350" lvl="1" indent="-514350">
              <a:buClr>
                <a:srgbClr val="0070C0"/>
              </a:buClr>
              <a:buFont typeface="Wingdings" panose="05000000000000000000" pitchFamily="2" charset="2"/>
              <a:buChar char="l"/>
            </a:pPr>
            <a:r>
              <a:rPr lang="en-US" altLang="zh-CN" dirty="0" smtClean="0"/>
              <a:t>Satellite-ground control loop</a:t>
            </a:r>
            <a:endParaRPr lang="zh-CN" altLang="zh-CN" dirty="0"/>
          </a:p>
          <a:p>
            <a:pPr marL="514350" lvl="1" indent="-514350">
              <a:buClr>
                <a:srgbClr val="0070C0"/>
              </a:buClr>
              <a:buFont typeface="Wingdings" panose="05000000000000000000" pitchFamily="2" charset="2"/>
              <a:buChar char="l"/>
            </a:pPr>
            <a:r>
              <a:rPr lang="en-US" altLang="zh-CN" dirty="0" smtClean="0"/>
              <a:t>AOCS</a:t>
            </a:r>
          </a:p>
          <a:p>
            <a:pPr marL="514350" lvl="1" indent="-514350">
              <a:buClr>
                <a:srgbClr val="0070C0"/>
              </a:buClr>
              <a:buFont typeface="Wingdings" panose="05000000000000000000" pitchFamily="2" charset="2"/>
              <a:buChar char="l"/>
            </a:pPr>
            <a:r>
              <a:rPr lang="en-US" altLang="zh-CN" dirty="0" smtClean="0"/>
              <a:t>AOCS Composition Units</a:t>
            </a:r>
            <a:endParaRPr lang="zh-CN" altLang="zh-CN" dirty="0"/>
          </a:p>
          <a:p>
            <a:pPr marL="514350" lvl="1" indent="-514350">
              <a:buClr>
                <a:srgbClr val="0070C0"/>
              </a:buClr>
              <a:buFont typeface="Wingdings" panose="05000000000000000000" pitchFamily="2" charset="2"/>
              <a:buChar char="l"/>
            </a:pPr>
            <a:r>
              <a:rPr lang="en-US" altLang="zh-CN" dirty="0" smtClean="0"/>
              <a:t>Work Modes</a:t>
            </a:r>
            <a:endParaRPr lang="en-US" altLang="zh-CN" dirty="0"/>
          </a:p>
          <a:p>
            <a:pPr marL="514350" lvl="1" indent="-514350">
              <a:buClr>
                <a:srgbClr val="0070C0"/>
              </a:buClr>
              <a:buFont typeface="Wingdings" panose="05000000000000000000" pitchFamily="2" charset="2"/>
              <a:buChar char="l"/>
            </a:pPr>
            <a:r>
              <a:rPr lang="en-US" altLang="zh-CN" dirty="0" smtClean="0"/>
              <a:t>Flight Procedures</a:t>
            </a:r>
            <a:endParaRPr lang="zh-CN" altLang="zh-CN" dirty="0"/>
          </a:p>
          <a:p>
            <a:pPr marL="514350" lvl="1" indent="-514350">
              <a:buClr>
                <a:srgbClr val="0070C0"/>
              </a:buClr>
              <a:buFont typeface="Wingdings" panose="05000000000000000000" pitchFamily="2" charset="2"/>
              <a:buChar char="l"/>
            </a:pPr>
            <a:r>
              <a:rPr lang="en-US" altLang="zh-CN" dirty="0" smtClean="0"/>
              <a:t>Operations</a:t>
            </a:r>
            <a:endParaRPr lang="zh-CN" altLang="zh-CN" dirty="0"/>
          </a:p>
          <a:p>
            <a:pPr marL="514350" lvl="1" indent="-514350">
              <a:buClr>
                <a:srgbClr val="0070C0"/>
              </a:buClr>
              <a:buFont typeface="Wingdings" panose="05000000000000000000" pitchFamily="2" charset="2"/>
              <a:buChar char="l"/>
            </a:pPr>
            <a:r>
              <a:rPr lang="en-US" altLang="zh-CN" dirty="0" smtClean="0"/>
              <a:t>Telemetry Introduction</a:t>
            </a:r>
          </a:p>
          <a:p>
            <a:pPr marL="514350" lvl="1" indent="-514350">
              <a:buClr>
                <a:srgbClr val="0070C0"/>
              </a:buClr>
              <a:buFont typeface="Wingdings" panose="05000000000000000000" pitchFamily="2" charset="2"/>
              <a:buChar char="l"/>
            </a:pPr>
            <a:r>
              <a:rPr lang="en-US" altLang="zh-CN" dirty="0" smtClean="0"/>
              <a:t>Q&amp;A</a:t>
            </a:r>
            <a:endParaRPr lang="zh-CN" altLang="en-US" dirty="0"/>
          </a:p>
        </p:txBody>
      </p:sp>
      <p:sp>
        <p:nvSpPr>
          <p:cNvPr id="7" name="标题 1"/>
          <p:cNvSpPr>
            <a:spLocks noGrp="1"/>
          </p:cNvSpPr>
          <p:nvPr>
            <p:ph type="title"/>
          </p:nvPr>
        </p:nvSpPr>
        <p:spPr>
          <a:xfrm>
            <a:off x="457200" y="205978"/>
            <a:ext cx="8229600" cy="691586"/>
          </a:xfrm>
        </p:spPr>
        <p:txBody>
          <a:bodyPr>
            <a:normAutofit fontScale="90000"/>
          </a:bodyPr>
          <a:lstStyle/>
          <a:p>
            <a:r>
              <a:rPr lang="en-US" altLang="zh-CN" dirty="0" smtClean="0"/>
              <a:t>Contents</a:t>
            </a:r>
            <a:endParaRPr lang="zh-CN" altLang="en-US" dirty="0"/>
          </a:p>
        </p:txBody>
      </p:sp>
    </p:spTree>
    <p:extLst>
      <p:ext uri="{BB962C8B-B14F-4D97-AF65-F5344CB8AC3E}">
        <p14:creationId xmlns:p14="http://schemas.microsoft.com/office/powerpoint/2010/main" val="18311940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179512" y="141480"/>
            <a:ext cx="8229600" cy="691586"/>
          </a:xfrm>
        </p:spPr>
        <p:txBody>
          <a:bodyPr>
            <a:normAutofit fontScale="90000"/>
          </a:bodyPr>
          <a:lstStyle/>
          <a:p>
            <a:r>
              <a:rPr lang="en-US" altLang="zh-CN" dirty="0" smtClean="0"/>
              <a:t>Satellite-ground control loop</a:t>
            </a:r>
            <a:endParaRPr lang="zh-CN" altLang="en-US" dirty="0"/>
          </a:p>
        </p:txBody>
      </p:sp>
      <p:sp>
        <p:nvSpPr>
          <p:cNvPr id="2" name="矩形 1"/>
          <p:cNvSpPr/>
          <p:nvPr/>
        </p:nvSpPr>
        <p:spPr>
          <a:xfrm>
            <a:off x="2555776" y="4191930"/>
            <a:ext cx="4104456" cy="3240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Ground Station</a:t>
            </a:r>
            <a:endParaRPr lang="zh-CN" altLang="en-US" dirty="0">
              <a:solidFill>
                <a:schemeClr val="tx1"/>
              </a:solidFill>
            </a:endParaRPr>
          </a:p>
        </p:txBody>
      </p:sp>
      <p:sp>
        <p:nvSpPr>
          <p:cNvPr id="7" name="矩形 6"/>
          <p:cNvSpPr/>
          <p:nvPr/>
        </p:nvSpPr>
        <p:spPr>
          <a:xfrm>
            <a:off x="2051720" y="1059582"/>
            <a:ext cx="5112568" cy="21456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267744" y="1167594"/>
            <a:ext cx="936104"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Satellite</a:t>
            </a:r>
            <a:endParaRPr lang="zh-CN" altLang="en-US" dirty="0">
              <a:solidFill>
                <a:schemeClr val="tx1"/>
              </a:solidFill>
            </a:endParaRPr>
          </a:p>
        </p:txBody>
      </p:sp>
      <p:sp>
        <p:nvSpPr>
          <p:cNvPr id="9" name="椭圆 8"/>
          <p:cNvSpPr/>
          <p:nvPr/>
        </p:nvSpPr>
        <p:spPr>
          <a:xfrm>
            <a:off x="2767236" y="1785017"/>
            <a:ext cx="1080120" cy="69478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OBDH</a:t>
            </a:r>
            <a:endParaRPr lang="zh-CN" altLang="en-US" dirty="0">
              <a:solidFill>
                <a:schemeClr val="tx1"/>
              </a:solidFill>
            </a:endParaRPr>
          </a:p>
        </p:txBody>
      </p:sp>
      <p:sp>
        <p:nvSpPr>
          <p:cNvPr id="10" name="圆角矩形 9"/>
          <p:cNvSpPr/>
          <p:nvPr/>
        </p:nvSpPr>
        <p:spPr>
          <a:xfrm>
            <a:off x="3923928" y="2618463"/>
            <a:ext cx="1368152" cy="43204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TT&amp;C</a:t>
            </a:r>
          </a:p>
          <a:p>
            <a:pPr algn="ctr"/>
            <a:r>
              <a:rPr lang="en-US" altLang="zh-CN" dirty="0" smtClean="0">
                <a:solidFill>
                  <a:schemeClr val="tx1"/>
                </a:solidFill>
              </a:rPr>
              <a:t>Subsystem</a:t>
            </a:r>
            <a:endParaRPr lang="zh-CN" altLang="en-US" dirty="0">
              <a:solidFill>
                <a:schemeClr val="tx1"/>
              </a:solidFill>
            </a:endParaRPr>
          </a:p>
        </p:txBody>
      </p:sp>
      <p:sp>
        <p:nvSpPr>
          <p:cNvPr id="11" name="圆角矩形 10"/>
          <p:cNvSpPr/>
          <p:nvPr/>
        </p:nvSpPr>
        <p:spPr>
          <a:xfrm>
            <a:off x="5629808" y="1970391"/>
            <a:ext cx="864096" cy="32403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AOCS</a:t>
            </a:r>
            <a:endParaRPr lang="zh-CN" altLang="en-US" dirty="0">
              <a:solidFill>
                <a:schemeClr val="tx1"/>
              </a:solidFill>
            </a:endParaRPr>
          </a:p>
        </p:txBody>
      </p:sp>
      <p:sp>
        <p:nvSpPr>
          <p:cNvPr id="13" name="圆角矩形 12"/>
          <p:cNvSpPr/>
          <p:nvPr/>
        </p:nvSpPr>
        <p:spPr>
          <a:xfrm>
            <a:off x="4211960" y="1214475"/>
            <a:ext cx="1512168" cy="43204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Other Subsystems</a:t>
            </a:r>
            <a:endParaRPr lang="zh-CN" altLang="en-US" dirty="0">
              <a:solidFill>
                <a:schemeClr val="tx1"/>
              </a:solidFill>
            </a:endParaRPr>
          </a:p>
        </p:txBody>
      </p:sp>
      <p:cxnSp>
        <p:nvCxnSpPr>
          <p:cNvPr id="24" name="直接箭头连接符 23"/>
          <p:cNvCxnSpPr>
            <a:stCxn id="10" idx="2"/>
            <a:endCxn id="2" idx="0"/>
          </p:cNvCxnSpPr>
          <p:nvPr/>
        </p:nvCxnSpPr>
        <p:spPr>
          <a:xfrm>
            <a:off x="4608004" y="3050511"/>
            <a:ext cx="0" cy="1141419"/>
          </a:xfrm>
          <a:prstGeom prst="straightConnector1">
            <a:avLst/>
          </a:prstGeom>
          <a:ln>
            <a:headEnd type="arrow"/>
            <a:tailEnd type="arrow"/>
          </a:ln>
        </p:spPr>
        <p:style>
          <a:lnRef idx="3">
            <a:schemeClr val="accent1"/>
          </a:lnRef>
          <a:fillRef idx="0">
            <a:schemeClr val="accent1"/>
          </a:fillRef>
          <a:effectRef idx="2">
            <a:schemeClr val="accent1"/>
          </a:effectRef>
          <a:fontRef idx="minor">
            <a:schemeClr val="tx1"/>
          </a:fontRef>
        </p:style>
      </p:cxnSp>
      <p:cxnSp>
        <p:nvCxnSpPr>
          <p:cNvPr id="26" name="直接箭头连接符 25"/>
          <p:cNvCxnSpPr>
            <a:stCxn id="9" idx="5"/>
          </p:cNvCxnSpPr>
          <p:nvPr/>
        </p:nvCxnSpPr>
        <p:spPr>
          <a:xfrm>
            <a:off x="3689176" y="2378053"/>
            <a:ext cx="378768" cy="240410"/>
          </a:xfrm>
          <a:prstGeom prst="straightConnector1">
            <a:avLst/>
          </a:prstGeom>
          <a:ln>
            <a:headEnd type="arrow"/>
            <a:tailEnd type="arrow"/>
          </a:ln>
        </p:spPr>
        <p:style>
          <a:lnRef idx="3">
            <a:schemeClr val="accent1"/>
          </a:lnRef>
          <a:fillRef idx="0">
            <a:schemeClr val="accent1"/>
          </a:fillRef>
          <a:effectRef idx="2">
            <a:schemeClr val="accent1"/>
          </a:effectRef>
          <a:fontRef idx="minor">
            <a:schemeClr val="tx1"/>
          </a:fontRef>
        </p:style>
      </p:cxnSp>
      <p:cxnSp>
        <p:nvCxnSpPr>
          <p:cNvPr id="28" name="直接箭头连接符 27"/>
          <p:cNvCxnSpPr>
            <a:stCxn id="9" idx="6"/>
            <a:endCxn id="11" idx="1"/>
          </p:cNvCxnSpPr>
          <p:nvPr/>
        </p:nvCxnSpPr>
        <p:spPr>
          <a:xfrm>
            <a:off x="3847356" y="2132409"/>
            <a:ext cx="1782452" cy="0"/>
          </a:xfrm>
          <a:prstGeom prst="straightConnector1">
            <a:avLst/>
          </a:prstGeom>
          <a:ln>
            <a:headEnd type="arrow"/>
            <a:tailEnd type="arrow"/>
          </a:ln>
        </p:spPr>
        <p:style>
          <a:lnRef idx="3">
            <a:schemeClr val="accent1"/>
          </a:lnRef>
          <a:fillRef idx="0">
            <a:schemeClr val="accent1"/>
          </a:fillRef>
          <a:effectRef idx="2">
            <a:schemeClr val="accent1"/>
          </a:effectRef>
          <a:fontRef idx="minor">
            <a:schemeClr val="tx1"/>
          </a:fontRef>
        </p:style>
      </p:cxnSp>
      <p:cxnSp>
        <p:nvCxnSpPr>
          <p:cNvPr id="31" name="直接箭头连接符 30"/>
          <p:cNvCxnSpPr>
            <a:endCxn id="11" idx="2"/>
          </p:cNvCxnSpPr>
          <p:nvPr/>
        </p:nvCxnSpPr>
        <p:spPr>
          <a:xfrm flipV="1">
            <a:off x="5292080" y="2294427"/>
            <a:ext cx="769776" cy="54006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3" name="直接箭头连接符 32"/>
          <p:cNvCxnSpPr>
            <a:stCxn id="9" idx="7"/>
          </p:cNvCxnSpPr>
          <p:nvPr/>
        </p:nvCxnSpPr>
        <p:spPr>
          <a:xfrm flipV="1">
            <a:off x="3689176" y="1599643"/>
            <a:ext cx="522784" cy="287123"/>
          </a:xfrm>
          <a:prstGeom prst="straightConnector1">
            <a:avLst/>
          </a:prstGeom>
          <a:ln>
            <a:headEnd type="arrow"/>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504727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179512" y="141480"/>
            <a:ext cx="8229600" cy="691586"/>
          </a:xfrm>
        </p:spPr>
        <p:txBody>
          <a:bodyPr>
            <a:normAutofit fontScale="90000"/>
          </a:bodyPr>
          <a:lstStyle/>
          <a:p>
            <a:r>
              <a:rPr lang="en-US" altLang="zh-CN" dirty="0" smtClean="0"/>
              <a:t>AOCS</a:t>
            </a:r>
            <a:endParaRPr lang="zh-CN" altLang="en-US" dirty="0"/>
          </a:p>
        </p:txBody>
      </p:sp>
      <p:sp>
        <p:nvSpPr>
          <p:cNvPr id="8" name="矩形 7"/>
          <p:cNvSpPr/>
          <p:nvPr/>
        </p:nvSpPr>
        <p:spPr>
          <a:xfrm>
            <a:off x="467544" y="1059582"/>
            <a:ext cx="8424936" cy="1200329"/>
          </a:xfrm>
          <a:prstGeom prst="rect">
            <a:avLst/>
          </a:prstGeom>
        </p:spPr>
        <p:txBody>
          <a:bodyPr wrap="square">
            <a:spAutoFit/>
          </a:bodyPr>
          <a:lstStyle/>
          <a:p>
            <a:r>
              <a:rPr lang="en-US" altLang="zh-CN" dirty="0" smtClean="0"/>
              <a:t>Mission of AOCS: Provide the attitude required by the work-mode of satellite</a:t>
            </a:r>
          </a:p>
          <a:p>
            <a:pPr algn="ctr"/>
            <a:r>
              <a:rPr lang="en-US" altLang="zh-CN" b="1" dirty="0" smtClean="0"/>
              <a:t>Solar zone</a:t>
            </a:r>
            <a:r>
              <a:rPr lang="en-US" altLang="zh-CN" dirty="0" smtClean="0"/>
              <a:t>: Sun </a:t>
            </a:r>
            <a:r>
              <a:rPr lang="en-US" altLang="zh-CN" dirty="0"/>
              <a:t>P</a:t>
            </a:r>
            <a:r>
              <a:rPr lang="en-US" altLang="zh-CN" dirty="0" smtClean="0"/>
              <a:t>ointing Mode (</a:t>
            </a:r>
            <a:r>
              <a:rPr lang="en-US" altLang="zh-CN" dirty="0"/>
              <a:t>Coarse)</a:t>
            </a:r>
            <a:endParaRPr lang="en-US" altLang="zh-CN" dirty="0" smtClean="0"/>
          </a:p>
          <a:p>
            <a:pPr algn="ctr"/>
            <a:r>
              <a:rPr lang="en-US" altLang="zh-CN" b="1" dirty="0" smtClean="0"/>
              <a:t>Shadow zone</a:t>
            </a:r>
            <a:r>
              <a:rPr lang="en-US" altLang="zh-CN" dirty="0" smtClean="0"/>
              <a:t>: Earth Pointing Mode</a:t>
            </a:r>
          </a:p>
          <a:p>
            <a:pPr algn="ctr"/>
            <a:r>
              <a:rPr lang="en-US" altLang="zh-CN" b="1" dirty="0" smtClean="0"/>
              <a:t>Imaging</a:t>
            </a:r>
            <a:r>
              <a:rPr lang="en-US" altLang="zh-CN" dirty="0" smtClean="0"/>
              <a:t>: Attitude Maintaining Mode towards target (Mainly roll-maneuvering )</a:t>
            </a:r>
            <a:endParaRPr lang="zh-CN" altLang="zh-CN" dirty="0"/>
          </a:p>
        </p:txBody>
      </p:sp>
      <p:graphicFrame>
        <p:nvGraphicFramePr>
          <p:cNvPr id="9" name="表格 8"/>
          <p:cNvGraphicFramePr>
            <a:graphicFrameLocks noGrp="1"/>
          </p:cNvGraphicFramePr>
          <p:nvPr>
            <p:extLst>
              <p:ext uri="{D42A27DB-BD31-4B8C-83A1-F6EECF244321}">
                <p14:modId xmlns:p14="http://schemas.microsoft.com/office/powerpoint/2010/main" val="685469138"/>
              </p:ext>
            </p:extLst>
          </p:nvPr>
        </p:nvGraphicFramePr>
        <p:xfrm>
          <a:off x="755576" y="2289255"/>
          <a:ext cx="7560838" cy="2400300"/>
        </p:xfrm>
        <a:graphic>
          <a:graphicData uri="http://schemas.openxmlformats.org/drawingml/2006/table">
            <a:tbl>
              <a:tblPr firstRow="1" bandRow="1">
                <a:tableStyleId>{5C22544A-7EE6-4342-B048-85BDC9FD1C3A}</a:tableStyleId>
              </a:tblPr>
              <a:tblGrid>
                <a:gridCol w="1343292"/>
                <a:gridCol w="1815582"/>
                <a:gridCol w="199358"/>
                <a:gridCol w="1754335"/>
                <a:gridCol w="1205183"/>
                <a:gridCol w="1243088"/>
              </a:tblGrid>
              <a:tr h="278130">
                <a:tc gridSpan="6">
                  <a:txBody>
                    <a:bodyPr/>
                    <a:lstStyle/>
                    <a:p>
                      <a:pPr algn="ctr"/>
                      <a:r>
                        <a:rPr lang="en-US" altLang="zh-CN" sz="1400" dirty="0" smtClean="0"/>
                        <a:t>AOCS Composition</a:t>
                      </a:r>
                      <a:endParaRPr lang="zh-CN" altLang="en-US" sz="1400" dirty="0"/>
                    </a:p>
                  </a:txBody>
                  <a:tcPr marT="34290" marB="3429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dirty="0"/>
                    </a:p>
                  </a:txBody>
                  <a:tcPr/>
                </a:tc>
              </a:tr>
              <a:tr h="278130">
                <a:tc gridSpan="6">
                  <a:txBody>
                    <a:bodyPr/>
                    <a:lstStyle/>
                    <a:p>
                      <a:pPr algn="ctr"/>
                      <a:r>
                        <a:rPr lang="en-US" altLang="zh-CN" sz="1400" dirty="0" smtClean="0"/>
                        <a:t>Controller</a:t>
                      </a:r>
                      <a:endParaRPr lang="zh-CN" altLang="en-US" sz="1400" dirty="0"/>
                    </a:p>
                  </a:txBody>
                  <a:tcPr marT="34290" marB="3429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dirty="0"/>
                    </a:p>
                  </a:txBody>
                  <a:tcPr/>
                </a:tc>
              </a:tr>
              <a:tr h="278130">
                <a:tc gridSpan="6">
                  <a:txBody>
                    <a:bodyPr/>
                    <a:lstStyle/>
                    <a:p>
                      <a:pPr algn="ctr"/>
                      <a:r>
                        <a:rPr lang="en-US" altLang="zh-CN" sz="1400" dirty="0" smtClean="0"/>
                        <a:t>Central</a:t>
                      </a:r>
                      <a:r>
                        <a:rPr lang="en-US" altLang="zh-CN" sz="1400" baseline="0" dirty="0" smtClean="0"/>
                        <a:t> Control Unit (CCU)</a:t>
                      </a:r>
                      <a:endParaRPr lang="zh-CN" altLang="en-US" sz="1400" dirty="0"/>
                    </a:p>
                  </a:txBody>
                  <a:tcPr marT="34290" marB="3429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dirty="0"/>
                    </a:p>
                  </a:txBody>
                  <a:tcPr/>
                </a:tc>
              </a:tr>
              <a:tr h="278130">
                <a:tc gridSpan="6">
                  <a:txBody>
                    <a:bodyPr/>
                    <a:lstStyle/>
                    <a:p>
                      <a:pPr algn="ctr"/>
                      <a:r>
                        <a:rPr lang="en-US" altLang="zh-CN" sz="1400" dirty="0" smtClean="0"/>
                        <a:t>Actuator</a:t>
                      </a:r>
                      <a:endParaRPr lang="zh-CN" altLang="en-US" sz="1400" dirty="0"/>
                    </a:p>
                  </a:txBody>
                  <a:tcPr marT="34290" marB="3429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dirty="0"/>
                    </a:p>
                  </a:txBody>
                  <a:tcPr/>
                </a:tc>
              </a:tr>
              <a:tr h="278130">
                <a:tc gridSpan="2">
                  <a:txBody>
                    <a:bodyPr/>
                    <a:lstStyle/>
                    <a:p>
                      <a:pPr algn="ctr"/>
                      <a:r>
                        <a:rPr lang="en-US" altLang="zh-CN" sz="1400" dirty="0" smtClean="0"/>
                        <a:t>Momentum</a:t>
                      </a:r>
                      <a:r>
                        <a:rPr lang="en-US" altLang="zh-CN" sz="1400" baseline="0" dirty="0" smtClean="0"/>
                        <a:t> Wheel (MW)</a:t>
                      </a:r>
                      <a:endParaRPr lang="zh-CN" altLang="en-US" sz="1400" dirty="0"/>
                    </a:p>
                  </a:txBody>
                  <a:tcPr marT="34290" marB="34290" anchor="ctr"/>
                </a:tc>
                <a:tc hMerge="1">
                  <a:txBody>
                    <a:bodyPr/>
                    <a:lstStyle/>
                    <a:p>
                      <a:endParaRPr lang="zh-CN" altLang="en-US"/>
                    </a:p>
                  </a:txBody>
                  <a:tcPr/>
                </a:tc>
                <a:tc gridSpan="4">
                  <a:txBody>
                    <a:bodyPr/>
                    <a:lstStyle/>
                    <a:p>
                      <a:pPr algn="ctr"/>
                      <a:r>
                        <a:rPr lang="en-US" altLang="zh-CN" sz="1400" dirty="0" smtClean="0"/>
                        <a:t>Magnetic Torquer (MT)</a:t>
                      </a:r>
                      <a:endParaRPr lang="zh-CN" altLang="en-US" sz="1400" dirty="0"/>
                    </a:p>
                  </a:txBody>
                  <a:tcPr marT="34290" marB="34290" anchor="ct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dirty="0"/>
                    </a:p>
                  </a:txBody>
                  <a:tcPr/>
                </a:tc>
              </a:tr>
              <a:tr h="278130">
                <a:tc gridSpan="6">
                  <a:txBody>
                    <a:bodyPr/>
                    <a:lstStyle/>
                    <a:p>
                      <a:pPr algn="ctr"/>
                      <a:r>
                        <a:rPr lang="en-US" altLang="zh-CN" sz="1400" dirty="0" smtClean="0"/>
                        <a:t>Sensor</a:t>
                      </a:r>
                      <a:endParaRPr lang="zh-CN" altLang="en-US" sz="1400" dirty="0"/>
                    </a:p>
                  </a:txBody>
                  <a:tcPr marT="34290" marB="3429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dirty="0"/>
                    </a:p>
                  </a:txBody>
                  <a:tcPr/>
                </a:tc>
              </a:tr>
              <a:tr h="685800">
                <a:tc>
                  <a:txBody>
                    <a:bodyPr/>
                    <a:lstStyle/>
                    <a:p>
                      <a:pPr algn="ctr"/>
                      <a:r>
                        <a:rPr lang="en-US" altLang="zh-CN" sz="1400" dirty="0" smtClean="0"/>
                        <a:t>Fiber-optical</a:t>
                      </a:r>
                      <a:r>
                        <a:rPr lang="en-US" altLang="zh-CN" sz="1400" baseline="0" dirty="0" smtClean="0"/>
                        <a:t> gyro(FOG)</a:t>
                      </a:r>
                      <a:endParaRPr lang="zh-CN" altLang="en-US" sz="1400" dirty="0"/>
                    </a:p>
                  </a:txBody>
                  <a:tcPr marT="34290" marB="34290" anchor="ctr"/>
                </a:tc>
                <a:tc gridSpan="2">
                  <a:txBody>
                    <a:bodyPr/>
                    <a:lstStyle/>
                    <a:p>
                      <a:pPr algn="ctr"/>
                      <a:r>
                        <a:rPr lang="en-US" altLang="zh-CN" sz="1400" dirty="0" smtClean="0"/>
                        <a:t>Dual axis</a:t>
                      </a:r>
                      <a:r>
                        <a:rPr lang="en-US" altLang="zh-CN" sz="1400" baseline="0" dirty="0" smtClean="0"/>
                        <a:t> micro-analog sun sensor(ASS)</a:t>
                      </a:r>
                      <a:endParaRPr lang="zh-CN" altLang="en-US" sz="1400" dirty="0"/>
                    </a:p>
                  </a:txBody>
                  <a:tcPr marT="34290" marB="34290" anchor="ctr"/>
                </a:tc>
                <a:tc hMerge="1">
                  <a:txBody>
                    <a:bodyPr/>
                    <a:lstStyle/>
                    <a:p>
                      <a:pPr algn="ctr"/>
                      <a:endParaRPr lang="zh-CN" altLang="en-US" dirty="0"/>
                    </a:p>
                  </a:txBody>
                  <a:tcPr/>
                </a:tc>
                <a:tc>
                  <a:txBody>
                    <a:bodyPr/>
                    <a:lstStyle/>
                    <a:p>
                      <a:pPr algn="ctr"/>
                      <a:r>
                        <a:rPr lang="en-US" altLang="zh-CN" sz="1400" dirty="0" smtClean="0"/>
                        <a:t>Digital</a:t>
                      </a:r>
                      <a:r>
                        <a:rPr lang="en-US" altLang="zh-CN" sz="1400" baseline="0" dirty="0" smtClean="0"/>
                        <a:t> magnetometer</a:t>
                      </a:r>
                    </a:p>
                    <a:p>
                      <a:pPr algn="ctr"/>
                      <a:r>
                        <a:rPr lang="en-US" altLang="zh-CN" sz="1400" baseline="0" dirty="0" smtClean="0"/>
                        <a:t>(MM)</a:t>
                      </a:r>
                      <a:endParaRPr lang="zh-CN" altLang="en-US" sz="1400" dirty="0"/>
                    </a:p>
                  </a:txBody>
                  <a:tcPr marT="34290" marB="34290" anchor="ctr"/>
                </a:tc>
                <a:tc>
                  <a:txBody>
                    <a:bodyPr/>
                    <a:lstStyle/>
                    <a:p>
                      <a:pPr algn="ctr"/>
                      <a:r>
                        <a:rPr lang="en-US" altLang="zh-CN" sz="1400" dirty="0" smtClean="0"/>
                        <a:t>Nano Star</a:t>
                      </a:r>
                      <a:r>
                        <a:rPr lang="en-US" altLang="zh-CN" sz="1400" baseline="0" dirty="0" smtClean="0"/>
                        <a:t> Sensor</a:t>
                      </a:r>
                      <a:endParaRPr lang="en-US" altLang="zh-CN" sz="1400" dirty="0" smtClean="0"/>
                    </a:p>
                    <a:p>
                      <a:pPr algn="ctr"/>
                      <a:r>
                        <a:rPr lang="en-US" altLang="zh-CN" sz="1400" dirty="0" smtClean="0"/>
                        <a:t>(STS)</a:t>
                      </a:r>
                      <a:endParaRPr lang="zh-CN" altLang="en-US" sz="1400" dirty="0"/>
                    </a:p>
                  </a:txBody>
                  <a:tcPr marT="34290" marB="34290" anchor="ctr"/>
                </a:tc>
                <a:tc>
                  <a:txBody>
                    <a:bodyPr/>
                    <a:lstStyle/>
                    <a:p>
                      <a:pPr algn="ctr"/>
                      <a:r>
                        <a:rPr lang="en-US" altLang="zh-CN" sz="1400" dirty="0" smtClean="0"/>
                        <a:t>SOC</a:t>
                      </a:r>
                      <a:r>
                        <a:rPr lang="en-US" altLang="zh-CN" sz="1400" baseline="0" dirty="0" smtClean="0"/>
                        <a:t> digital sun sensor</a:t>
                      </a:r>
                    </a:p>
                    <a:p>
                      <a:pPr algn="ctr"/>
                      <a:r>
                        <a:rPr lang="en-US" altLang="zh-CN" sz="1400" baseline="0" dirty="0" smtClean="0"/>
                        <a:t>(DSS)</a:t>
                      </a:r>
                      <a:endParaRPr lang="zh-CN" altLang="en-US" sz="1400" dirty="0"/>
                    </a:p>
                  </a:txBody>
                  <a:tcPr marT="34290" marB="34290" anchor="ctr"/>
                </a:tc>
              </a:tr>
            </a:tbl>
          </a:graphicData>
        </a:graphic>
      </p:graphicFrame>
    </p:spTree>
    <p:extLst>
      <p:ext uri="{BB962C8B-B14F-4D97-AF65-F5344CB8AC3E}">
        <p14:creationId xmlns:p14="http://schemas.microsoft.com/office/powerpoint/2010/main" val="2112453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4572000" y="1005576"/>
            <a:ext cx="576064" cy="37264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smtClean="0">
                <a:solidFill>
                  <a:schemeClr val="tx1"/>
                </a:solidFill>
              </a:rPr>
              <a:t>CCU</a:t>
            </a:r>
            <a:endParaRPr lang="zh-CN" altLang="en-US" sz="4400" dirty="0">
              <a:solidFill>
                <a:schemeClr val="tx1"/>
              </a:solidFill>
            </a:endParaRPr>
          </a:p>
        </p:txBody>
      </p:sp>
      <p:sp>
        <p:nvSpPr>
          <p:cNvPr id="7" name="矩形 6"/>
          <p:cNvSpPr/>
          <p:nvPr/>
        </p:nvSpPr>
        <p:spPr>
          <a:xfrm>
            <a:off x="836712" y="1232046"/>
            <a:ext cx="2088232" cy="2700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Nano Star Sensor</a:t>
            </a:r>
            <a:endParaRPr lang="zh-CN" altLang="en-US" dirty="0">
              <a:solidFill>
                <a:schemeClr val="tx1"/>
              </a:solidFill>
            </a:endParaRPr>
          </a:p>
        </p:txBody>
      </p:sp>
      <p:sp>
        <p:nvSpPr>
          <p:cNvPr id="8" name="矩形 7"/>
          <p:cNvSpPr/>
          <p:nvPr/>
        </p:nvSpPr>
        <p:spPr>
          <a:xfrm>
            <a:off x="836712" y="1616376"/>
            <a:ext cx="2088232" cy="2700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Fiber-optical gyro</a:t>
            </a:r>
            <a:endParaRPr lang="zh-CN" altLang="en-US" dirty="0">
              <a:solidFill>
                <a:schemeClr val="tx1"/>
              </a:solidFill>
            </a:endParaRPr>
          </a:p>
        </p:txBody>
      </p:sp>
      <p:sp>
        <p:nvSpPr>
          <p:cNvPr id="9" name="矩形 8"/>
          <p:cNvSpPr/>
          <p:nvPr/>
        </p:nvSpPr>
        <p:spPr>
          <a:xfrm>
            <a:off x="179512" y="2020268"/>
            <a:ext cx="3402632" cy="2700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Dual axis micro-analog sun sensor</a:t>
            </a:r>
            <a:endParaRPr lang="zh-CN" altLang="en-US" dirty="0">
              <a:solidFill>
                <a:schemeClr val="tx1"/>
              </a:solidFill>
            </a:endParaRPr>
          </a:p>
        </p:txBody>
      </p:sp>
      <p:sp>
        <p:nvSpPr>
          <p:cNvPr id="10" name="矩形 9"/>
          <p:cNvSpPr/>
          <p:nvPr/>
        </p:nvSpPr>
        <p:spPr>
          <a:xfrm>
            <a:off x="733264" y="2409732"/>
            <a:ext cx="2295128" cy="2700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Digital magnetometer</a:t>
            </a:r>
            <a:endParaRPr lang="zh-CN" altLang="en-US" dirty="0">
              <a:solidFill>
                <a:schemeClr val="tx1"/>
              </a:solidFill>
            </a:endParaRPr>
          </a:p>
        </p:txBody>
      </p:sp>
      <p:sp>
        <p:nvSpPr>
          <p:cNvPr id="11" name="矩形 10"/>
          <p:cNvSpPr/>
          <p:nvPr/>
        </p:nvSpPr>
        <p:spPr>
          <a:xfrm>
            <a:off x="733264" y="2789486"/>
            <a:ext cx="2295128" cy="2700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SOC digital sun sensor</a:t>
            </a:r>
            <a:endParaRPr lang="zh-CN" altLang="en-US" dirty="0">
              <a:solidFill>
                <a:schemeClr val="tx1"/>
              </a:solidFill>
            </a:endParaRPr>
          </a:p>
        </p:txBody>
      </p:sp>
      <p:sp>
        <p:nvSpPr>
          <p:cNvPr id="12" name="矩形 11"/>
          <p:cNvSpPr/>
          <p:nvPr/>
        </p:nvSpPr>
        <p:spPr>
          <a:xfrm>
            <a:off x="733264" y="3597864"/>
            <a:ext cx="2295128" cy="2700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Momentum Wheel</a:t>
            </a:r>
            <a:endParaRPr lang="zh-CN" altLang="en-US" dirty="0">
              <a:solidFill>
                <a:schemeClr val="tx1"/>
              </a:solidFill>
            </a:endParaRPr>
          </a:p>
        </p:txBody>
      </p:sp>
      <p:sp>
        <p:nvSpPr>
          <p:cNvPr id="13" name="矩形 12"/>
          <p:cNvSpPr/>
          <p:nvPr/>
        </p:nvSpPr>
        <p:spPr>
          <a:xfrm>
            <a:off x="733264" y="4029912"/>
            <a:ext cx="2295128" cy="2700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Magnetic Torquer</a:t>
            </a:r>
            <a:endParaRPr lang="zh-CN" altLang="en-US" dirty="0">
              <a:solidFill>
                <a:schemeClr val="tx1"/>
              </a:solidFill>
            </a:endParaRPr>
          </a:p>
        </p:txBody>
      </p:sp>
      <p:sp>
        <p:nvSpPr>
          <p:cNvPr id="14" name="矩形 13"/>
          <p:cNvSpPr/>
          <p:nvPr/>
        </p:nvSpPr>
        <p:spPr>
          <a:xfrm>
            <a:off x="3316424" y="1167865"/>
            <a:ext cx="864096" cy="1620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RS422</a:t>
            </a:r>
            <a:endParaRPr lang="zh-CN" altLang="en-US" sz="1200" dirty="0">
              <a:solidFill>
                <a:schemeClr val="tx1"/>
              </a:solidFill>
            </a:endParaRPr>
          </a:p>
        </p:txBody>
      </p:sp>
      <p:sp>
        <p:nvSpPr>
          <p:cNvPr id="15" name="矩形 14"/>
          <p:cNvSpPr/>
          <p:nvPr/>
        </p:nvSpPr>
        <p:spPr>
          <a:xfrm>
            <a:off x="3316424" y="3516855"/>
            <a:ext cx="864096" cy="1620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RS422</a:t>
            </a:r>
            <a:endParaRPr lang="zh-CN" altLang="en-US" sz="1200" dirty="0">
              <a:solidFill>
                <a:schemeClr val="tx1"/>
              </a:solidFill>
            </a:endParaRPr>
          </a:p>
        </p:txBody>
      </p:sp>
      <p:sp>
        <p:nvSpPr>
          <p:cNvPr id="16" name="矩形 15"/>
          <p:cNvSpPr/>
          <p:nvPr/>
        </p:nvSpPr>
        <p:spPr>
          <a:xfrm>
            <a:off x="3316424" y="2724476"/>
            <a:ext cx="864096" cy="1620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RS422</a:t>
            </a:r>
            <a:endParaRPr lang="zh-CN" altLang="en-US" sz="1200" dirty="0">
              <a:solidFill>
                <a:schemeClr val="tx1"/>
              </a:solidFill>
            </a:endParaRPr>
          </a:p>
        </p:txBody>
      </p:sp>
      <p:sp>
        <p:nvSpPr>
          <p:cNvPr id="17" name="矩形 16"/>
          <p:cNvSpPr/>
          <p:nvPr/>
        </p:nvSpPr>
        <p:spPr>
          <a:xfrm>
            <a:off x="3297610" y="1512997"/>
            <a:ext cx="864096" cy="1620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RS422</a:t>
            </a:r>
            <a:endParaRPr lang="zh-CN" altLang="en-US" sz="1200" dirty="0">
              <a:solidFill>
                <a:schemeClr val="tx1"/>
              </a:solidFill>
            </a:endParaRPr>
          </a:p>
        </p:txBody>
      </p:sp>
      <p:sp>
        <p:nvSpPr>
          <p:cNvPr id="18" name="矩形 17"/>
          <p:cNvSpPr/>
          <p:nvPr/>
        </p:nvSpPr>
        <p:spPr>
          <a:xfrm>
            <a:off x="3774312" y="1951435"/>
            <a:ext cx="595486" cy="137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I/O</a:t>
            </a:r>
            <a:endParaRPr lang="zh-CN" altLang="en-US" sz="1200" dirty="0">
              <a:solidFill>
                <a:schemeClr val="tx1"/>
              </a:solidFill>
            </a:endParaRPr>
          </a:p>
        </p:txBody>
      </p:sp>
      <p:sp>
        <p:nvSpPr>
          <p:cNvPr id="19" name="矩形 18"/>
          <p:cNvSpPr/>
          <p:nvPr/>
        </p:nvSpPr>
        <p:spPr>
          <a:xfrm>
            <a:off x="3316424" y="2344583"/>
            <a:ext cx="864096" cy="1620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RS485</a:t>
            </a:r>
            <a:endParaRPr lang="zh-CN" altLang="en-US" sz="1200" dirty="0">
              <a:solidFill>
                <a:schemeClr val="tx1"/>
              </a:solidFill>
            </a:endParaRPr>
          </a:p>
        </p:txBody>
      </p:sp>
      <p:cxnSp>
        <p:nvCxnSpPr>
          <p:cNvPr id="29" name="直接连接符 28"/>
          <p:cNvCxnSpPr>
            <a:stCxn id="7" idx="3"/>
          </p:cNvCxnSpPr>
          <p:nvPr/>
        </p:nvCxnSpPr>
        <p:spPr>
          <a:xfrm>
            <a:off x="2924944" y="1367061"/>
            <a:ext cx="1647056"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924944" y="1751391"/>
            <a:ext cx="1647056"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0" idx="3"/>
          </p:cNvCxnSpPr>
          <p:nvPr/>
        </p:nvCxnSpPr>
        <p:spPr>
          <a:xfrm>
            <a:off x="3028392" y="2544747"/>
            <a:ext cx="1543608"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028392" y="2924501"/>
            <a:ext cx="1543608"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3572112" y="2155283"/>
            <a:ext cx="999889" cy="1572"/>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028392" y="3732879"/>
            <a:ext cx="1543608"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3028392" y="4160490"/>
            <a:ext cx="154360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3431915" y="3961079"/>
            <a:ext cx="595486" cy="137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I/O</a:t>
            </a:r>
            <a:endParaRPr lang="zh-CN" altLang="en-US" sz="1200" dirty="0">
              <a:solidFill>
                <a:schemeClr val="tx1"/>
              </a:solidFill>
            </a:endParaRPr>
          </a:p>
        </p:txBody>
      </p:sp>
      <p:cxnSp>
        <p:nvCxnSpPr>
          <p:cNvPr id="39" name="直接连接符 38"/>
          <p:cNvCxnSpPr/>
          <p:nvPr/>
        </p:nvCxnSpPr>
        <p:spPr>
          <a:xfrm>
            <a:off x="5148064" y="2862812"/>
            <a:ext cx="1692000" cy="0"/>
          </a:xfrm>
          <a:prstGeom prst="line">
            <a:avLst/>
          </a:prstGeom>
          <a:ln w="60325"/>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6840064" y="2398049"/>
            <a:ext cx="2124424" cy="9295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chemeClr val="tx1"/>
                </a:solidFill>
              </a:rPr>
              <a:t>External </a:t>
            </a:r>
          </a:p>
          <a:p>
            <a:pPr algn="ctr"/>
            <a:r>
              <a:rPr lang="en-US" altLang="zh-CN" sz="2800" b="1" dirty="0" smtClean="0">
                <a:solidFill>
                  <a:schemeClr val="tx1"/>
                </a:solidFill>
              </a:rPr>
              <a:t>systems</a:t>
            </a:r>
            <a:endParaRPr lang="zh-CN" altLang="en-US" sz="2800" b="1" dirty="0">
              <a:solidFill>
                <a:schemeClr val="tx1"/>
              </a:solidFill>
            </a:endParaRPr>
          </a:p>
        </p:txBody>
      </p:sp>
      <p:sp>
        <p:nvSpPr>
          <p:cNvPr id="41" name="标题 1"/>
          <p:cNvSpPr>
            <a:spLocks noGrp="1"/>
          </p:cNvSpPr>
          <p:nvPr>
            <p:ph type="title"/>
          </p:nvPr>
        </p:nvSpPr>
        <p:spPr>
          <a:xfrm>
            <a:off x="179512" y="141480"/>
            <a:ext cx="8229600" cy="691586"/>
          </a:xfrm>
        </p:spPr>
        <p:txBody>
          <a:bodyPr>
            <a:normAutofit fontScale="90000"/>
          </a:bodyPr>
          <a:lstStyle/>
          <a:p>
            <a:r>
              <a:rPr lang="en-US" altLang="zh-CN" dirty="0" smtClean="0"/>
              <a:t>AOCS</a:t>
            </a:r>
            <a:endParaRPr lang="zh-CN" altLang="en-US" dirty="0"/>
          </a:p>
        </p:txBody>
      </p:sp>
    </p:spTree>
    <p:extLst>
      <p:ext uri="{BB962C8B-B14F-4D97-AF65-F5344CB8AC3E}">
        <p14:creationId xmlns:p14="http://schemas.microsoft.com/office/powerpoint/2010/main" val="4005767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AOCS Composition Units</a:t>
            </a:r>
            <a:endParaRPr lang="en-US" altLang="zh-CN" sz="2800" b="1" dirty="0">
              <a:solidFill>
                <a:schemeClr val="bg1"/>
              </a:solidFill>
              <a:latin typeface="微软雅黑" pitchFamily="34" charset="-122"/>
              <a:ea typeface="微软雅黑" pitchFamily="34" charset="-122"/>
            </a:endParaRPr>
          </a:p>
        </p:txBody>
      </p:sp>
      <p:sp>
        <p:nvSpPr>
          <p:cNvPr id="7" name="内容占位符 2"/>
          <p:cNvSpPr>
            <a:spLocks noGrp="1"/>
          </p:cNvSpPr>
          <p:nvPr>
            <p:ph idx="1"/>
          </p:nvPr>
        </p:nvSpPr>
        <p:spPr>
          <a:xfrm>
            <a:off x="323528" y="897564"/>
            <a:ext cx="8568952" cy="1134126"/>
          </a:xfrm>
        </p:spPr>
        <p:txBody>
          <a:bodyPr>
            <a:normAutofit fontScale="85000" lnSpcReduction="20000"/>
          </a:bodyPr>
          <a:lstStyle/>
          <a:p>
            <a:pPr marL="0" indent="0" algn="ctr">
              <a:buNone/>
            </a:pPr>
            <a:r>
              <a:rPr lang="en-US" altLang="zh-CN" sz="2000" dirty="0" smtClean="0">
                <a:latin typeface="Times New Roman" pitchFamily="18" charset="0"/>
                <a:cs typeface="Times New Roman" pitchFamily="18" charset="0"/>
              </a:rPr>
              <a:t>Fiber-Optical Gyroscope</a:t>
            </a:r>
          </a:p>
          <a:p>
            <a:pPr marL="0" indent="0" algn="just">
              <a:buNone/>
            </a:pPr>
            <a:r>
              <a:rPr lang="en-US" altLang="zh-CN" sz="2000" dirty="0" smtClean="0">
                <a:latin typeface="Times New Roman" pitchFamily="18" charset="0"/>
                <a:cs typeface="Times New Roman" pitchFamily="18" charset="0"/>
              </a:rPr>
              <a:t>Due to the limit on life, weight and power consumption, it is required to select the gyroscope with miniaturization, integration, and low power consumption.</a:t>
            </a:r>
            <a:endParaRPr lang="zh-CN" altLang="en-US" sz="2000" dirty="0">
              <a:latin typeface="Times New Roman" pitchFamily="18" charset="0"/>
              <a:cs typeface="Times New Roman"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1391379554"/>
              </p:ext>
            </p:extLst>
          </p:nvPr>
        </p:nvGraphicFramePr>
        <p:xfrm>
          <a:off x="3059833" y="2193708"/>
          <a:ext cx="5787479" cy="2385060"/>
        </p:xfrm>
        <a:graphic>
          <a:graphicData uri="http://schemas.openxmlformats.org/drawingml/2006/table">
            <a:tbl>
              <a:tblPr firstRow="1" bandRow="1">
                <a:tableStyleId>{5C22544A-7EE6-4342-B048-85BDC9FD1C3A}</a:tableStyleId>
              </a:tblPr>
              <a:tblGrid>
                <a:gridCol w="2067567"/>
                <a:gridCol w="3719912"/>
              </a:tblGrid>
              <a:tr h="274320">
                <a:tc>
                  <a:txBody>
                    <a:bodyPr/>
                    <a:lstStyle/>
                    <a:p>
                      <a:pPr algn="ctr"/>
                      <a:r>
                        <a:rPr lang="en-US" altLang="zh-CN" sz="1400" dirty="0" smtClean="0">
                          <a:latin typeface="Times New Roman" pitchFamily="18" charset="0"/>
                          <a:cs typeface="Times New Roman" pitchFamily="18" charset="0"/>
                        </a:rPr>
                        <a:t>Object</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Index</a:t>
                      </a:r>
                      <a:endParaRPr lang="zh-CN" altLang="en-US" sz="1400" dirty="0">
                        <a:latin typeface="Times New Roman" pitchFamily="18" charset="0"/>
                        <a:cs typeface="Times New Roman" pitchFamily="18" charset="0"/>
                      </a:endParaRPr>
                    </a:p>
                  </a:txBody>
                  <a:tcPr marT="34290" marB="34290"/>
                </a:tc>
              </a:tr>
              <a:tr h="274320">
                <a:tc>
                  <a:txBody>
                    <a:bodyPr/>
                    <a:lstStyle/>
                    <a:p>
                      <a:pPr algn="ctr"/>
                      <a:r>
                        <a:rPr lang="en-US" altLang="zh-CN" sz="1400" dirty="0" smtClean="0">
                          <a:latin typeface="Times New Roman" pitchFamily="18" charset="0"/>
                          <a:cs typeface="Times New Roman" pitchFamily="18" charset="0"/>
                        </a:rPr>
                        <a:t>Weight</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1.4kg</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pPr algn="ctr"/>
                      <a:r>
                        <a:rPr lang="en-US" altLang="zh-CN" sz="1400" dirty="0" smtClean="0">
                          <a:latin typeface="Times New Roman" pitchFamily="18" charset="0"/>
                          <a:cs typeface="Times New Roman" pitchFamily="18" charset="0"/>
                        </a:rPr>
                        <a:t>Power</a:t>
                      </a:r>
                      <a:r>
                        <a:rPr lang="en-US" altLang="zh-CN" sz="1400" baseline="0" dirty="0" smtClean="0">
                          <a:latin typeface="Times New Roman" pitchFamily="18" charset="0"/>
                          <a:cs typeface="Times New Roman" pitchFamily="18" charset="0"/>
                        </a:rPr>
                        <a:t> Consumption</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Steady-state   8.2W</a:t>
                      </a:r>
                    </a:p>
                    <a:p>
                      <a:pPr algn="ctr"/>
                      <a:r>
                        <a:rPr lang="en-US" altLang="zh-CN" sz="1400" dirty="0" smtClean="0">
                          <a:latin typeface="Times New Roman" pitchFamily="18" charset="0"/>
                          <a:cs typeface="Times New Roman" pitchFamily="18" charset="0"/>
                        </a:rPr>
                        <a:t>Initialization</a:t>
                      </a:r>
                      <a:r>
                        <a:rPr lang="en-US" altLang="zh-CN" sz="1400" baseline="0" dirty="0" smtClean="0">
                          <a:latin typeface="Times New Roman" pitchFamily="18" charset="0"/>
                          <a:cs typeface="Times New Roman" pitchFamily="18" charset="0"/>
                        </a:rPr>
                        <a:t>   13W</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Measurement</a:t>
                      </a:r>
                      <a:r>
                        <a:rPr lang="en-US" altLang="zh-CN" sz="1400" baseline="0" dirty="0" smtClean="0">
                          <a:latin typeface="Times New Roman" pitchFamily="18" charset="0"/>
                          <a:cs typeface="Times New Roman" pitchFamily="18" charset="0"/>
                        </a:rPr>
                        <a:t> range</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-50˚/s~+50˚/s</a:t>
                      </a: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Size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157mm×130mm×106mm</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Interface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4×RS422</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pPr algn="ctr"/>
                      <a:r>
                        <a:rPr lang="en-US" altLang="zh-CN" sz="1400" dirty="0" smtClean="0">
                          <a:latin typeface="Times New Roman" pitchFamily="18" charset="0"/>
                          <a:cs typeface="Times New Roman" pitchFamily="18" charset="0"/>
                        </a:rPr>
                        <a:t>Power Supply</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-12V</a:t>
                      </a: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5V,</a:t>
                      </a:r>
                      <a:r>
                        <a:rPr lang="en-US" altLang="zh-CN" sz="1400" baseline="0" dirty="0" smtClean="0">
                          <a:latin typeface="Times New Roman" pitchFamily="18" charset="0"/>
                          <a:cs typeface="Times New Roman" pitchFamily="18" charset="0"/>
                        </a:rPr>
                        <a:t> independently for 4 gyro-heads</a:t>
                      </a:r>
                      <a:endParaRPr lang="zh-CN" altLang="en-US" sz="1400" dirty="0">
                        <a:latin typeface="Times New Roman" pitchFamily="18" charset="0"/>
                        <a:cs typeface="Times New Roman" pitchFamily="18" charset="0"/>
                      </a:endParaRPr>
                    </a:p>
                  </a:txBody>
                  <a:tcPr marT="34290" marB="34290" anchor="ctr" anchorCtr="1"/>
                </a:tc>
              </a:tr>
            </a:tbl>
          </a:graphicData>
        </a:graphic>
      </p:graphicFrame>
      <p:pic>
        <p:nvPicPr>
          <p:cNvPr id="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9425" t="13881" r="18468" b="10621"/>
          <a:stretch/>
        </p:blipFill>
        <p:spPr bwMode="auto">
          <a:xfrm>
            <a:off x="107505" y="2458008"/>
            <a:ext cx="2797491"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24131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323528" y="897564"/>
            <a:ext cx="8568952" cy="1188132"/>
          </a:xfrm>
        </p:spPr>
        <p:txBody>
          <a:bodyPr>
            <a:normAutofit fontScale="70000" lnSpcReduction="20000"/>
          </a:bodyPr>
          <a:lstStyle/>
          <a:p>
            <a:pPr marL="0" indent="0" algn="ctr">
              <a:buNone/>
            </a:pPr>
            <a:r>
              <a:rPr lang="en-US" altLang="zh-CN" sz="2000" dirty="0" smtClean="0">
                <a:latin typeface="Times New Roman" pitchFamily="18" charset="0"/>
                <a:cs typeface="Times New Roman" pitchFamily="18" charset="0"/>
              </a:rPr>
              <a:t>Nano Star Sensor</a:t>
            </a:r>
          </a:p>
          <a:p>
            <a:pPr marL="0" indent="0" algn="just">
              <a:buNone/>
            </a:pPr>
            <a:r>
              <a:rPr lang="en-US" altLang="zh-CN" sz="2000" dirty="0" smtClean="0">
                <a:latin typeface="Times New Roman" pitchFamily="18" charset="0"/>
                <a:cs typeface="Times New Roman" pitchFamily="18" charset="0"/>
              </a:rPr>
              <a:t>STS is the core sensor for attitude determination. Due to the limit on weight and power consumption, it is required to select the STS with miniaturization, integration, and low power consumption.</a:t>
            </a:r>
            <a:endParaRPr lang="zh-CN" altLang="en-US" sz="2000" dirty="0">
              <a:latin typeface="Times New Roman" pitchFamily="18" charset="0"/>
              <a:cs typeface="Times New Roman" pitchFamily="18" charset="0"/>
            </a:endParaRPr>
          </a:p>
        </p:txBody>
      </p:sp>
      <p:pic>
        <p:nvPicPr>
          <p:cNvPr id="2050" name="Picture 2"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085696"/>
            <a:ext cx="3312368" cy="2607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表格 7"/>
          <p:cNvGraphicFramePr>
            <a:graphicFrameLocks noGrp="1"/>
          </p:cNvGraphicFramePr>
          <p:nvPr>
            <p:extLst>
              <p:ext uri="{D42A27DB-BD31-4B8C-83A1-F6EECF244321}">
                <p14:modId xmlns:p14="http://schemas.microsoft.com/office/powerpoint/2010/main" val="1814349683"/>
              </p:ext>
            </p:extLst>
          </p:nvPr>
        </p:nvGraphicFramePr>
        <p:xfrm>
          <a:off x="3851920" y="1869672"/>
          <a:ext cx="5112568" cy="2865120"/>
        </p:xfrm>
        <a:graphic>
          <a:graphicData uri="http://schemas.openxmlformats.org/drawingml/2006/table">
            <a:tbl>
              <a:tblPr firstRow="1" bandRow="1">
                <a:tableStyleId>{5C22544A-7EE6-4342-B048-85BDC9FD1C3A}</a:tableStyleId>
              </a:tblPr>
              <a:tblGrid>
                <a:gridCol w="2160240"/>
                <a:gridCol w="2952328"/>
              </a:tblGrid>
              <a:tr h="274320">
                <a:tc>
                  <a:txBody>
                    <a:bodyPr/>
                    <a:lstStyle/>
                    <a:p>
                      <a:pPr algn="ctr"/>
                      <a:r>
                        <a:rPr lang="en-US" altLang="zh-CN" sz="1400" dirty="0" smtClean="0">
                          <a:latin typeface="Times New Roman" pitchFamily="18" charset="0"/>
                          <a:cs typeface="Times New Roman" pitchFamily="18" charset="0"/>
                        </a:rPr>
                        <a:t>Object</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Index</a:t>
                      </a:r>
                      <a:endParaRPr lang="zh-CN" altLang="en-US" sz="1400" dirty="0">
                        <a:latin typeface="Times New Roman" pitchFamily="18" charset="0"/>
                        <a:cs typeface="Times New Roman" pitchFamily="18" charset="0"/>
                      </a:endParaRPr>
                    </a:p>
                  </a:txBody>
                  <a:tcPr marT="34290" marB="34290"/>
                </a:tc>
              </a:tr>
              <a:tr h="891540">
                <a:tc>
                  <a:txBody>
                    <a:bodyPr/>
                    <a:lstStyle/>
                    <a:p>
                      <a:pPr algn="ctr"/>
                      <a:r>
                        <a:rPr lang="en-US" altLang="zh-CN" sz="1400" dirty="0" smtClean="0">
                          <a:latin typeface="Times New Roman" pitchFamily="18" charset="0"/>
                          <a:cs typeface="Times New Roman" pitchFamily="18" charset="0"/>
                        </a:rPr>
                        <a:t>Measurement</a:t>
                      </a:r>
                      <a:r>
                        <a:rPr lang="en-US" altLang="zh-CN" sz="1400" baseline="0" dirty="0" smtClean="0">
                          <a:latin typeface="Times New Roman" pitchFamily="18" charset="0"/>
                          <a:cs typeface="Times New Roman" pitchFamily="18" charset="0"/>
                        </a:rPr>
                        <a:t> accuracy</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Around</a:t>
                      </a:r>
                      <a:r>
                        <a:rPr lang="en-US" altLang="zh-CN" sz="1400" baseline="0" dirty="0" smtClean="0">
                          <a:latin typeface="Times New Roman" pitchFamily="18" charset="0"/>
                          <a:cs typeface="Times New Roman" pitchFamily="18" charset="0"/>
                        </a:rPr>
                        <a:t> the optic axis:</a:t>
                      </a: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10˝(3</a:t>
                      </a:r>
                      <a:r>
                        <a:rPr lang="el-GR" altLang="zh-CN" sz="1400" dirty="0" smtClean="0">
                          <a:latin typeface="Times New Roman" pitchFamily="18" charset="0"/>
                          <a:cs typeface="Times New Roman" pitchFamily="18" charset="0"/>
                        </a:rPr>
                        <a:t>σ</a:t>
                      </a:r>
                      <a:r>
                        <a:rPr lang="en-US" altLang="zh-CN" sz="1400" dirty="0" smtClean="0">
                          <a:latin typeface="Times New Roman" pitchFamily="18" charset="0"/>
                          <a:cs typeface="Times New Roman" pitchFamily="18" charset="0"/>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Perpendicular to the optic axis:</a:t>
                      </a: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50˝(3</a:t>
                      </a:r>
                      <a:r>
                        <a:rPr lang="el-GR" altLang="zh-CN" sz="1400" dirty="0" smtClean="0">
                          <a:latin typeface="Times New Roman" pitchFamily="18" charset="0"/>
                          <a:cs typeface="Times New Roman" pitchFamily="18" charset="0"/>
                        </a:rPr>
                        <a:t>σ</a:t>
                      </a:r>
                      <a:r>
                        <a:rPr lang="en-US" altLang="zh-CN" sz="1400" dirty="0" smtClean="0">
                          <a:latin typeface="Times New Roman" pitchFamily="18" charset="0"/>
                          <a:cs typeface="Times New Roman" pitchFamily="18" charset="0"/>
                        </a:rPr>
                        <a:t>)</a:t>
                      </a: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Field of View</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21˚×18˚</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Work Temperature</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-20˚C~+40˚C</a:t>
                      </a: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Size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96mm×40mm×40mm</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Interface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RS422+2 differential</a:t>
                      </a:r>
                      <a:r>
                        <a:rPr lang="en-US" altLang="zh-CN" sz="1400" baseline="0" dirty="0" smtClean="0">
                          <a:latin typeface="Times New Roman" pitchFamily="18" charset="0"/>
                          <a:cs typeface="Times New Roman" pitchFamily="18" charset="0"/>
                        </a:rPr>
                        <a:t> signals</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Power Consumption</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1.5W</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Weight</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200g</a:t>
                      </a:r>
                      <a:endParaRPr lang="zh-CN" altLang="en-US" sz="1400" dirty="0">
                        <a:latin typeface="Times New Roman" pitchFamily="18" charset="0"/>
                        <a:cs typeface="Times New Roman" pitchFamily="18" charset="0"/>
                      </a:endParaRPr>
                    </a:p>
                  </a:txBody>
                  <a:tcPr marT="34290" marB="34290" anchor="ctr" anchorCtr="1"/>
                </a:tc>
              </a:tr>
            </a:tbl>
          </a:graphicData>
        </a:graphic>
      </p:graphicFrame>
      <p:sp>
        <p:nvSpPr>
          <p:cNvPr id="9"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a:solidFill>
                  <a:schemeClr val="bg1"/>
                </a:solidFill>
                <a:latin typeface="微软雅黑" pitchFamily="34" charset="-122"/>
                <a:ea typeface="微软雅黑" pitchFamily="34" charset="-122"/>
              </a:rPr>
              <a:t>AOCS Composition Units</a:t>
            </a:r>
          </a:p>
        </p:txBody>
      </p:sp>
    </p:spTree>
    <p:extLst>
      <p:ext uri="{BB962C8B-B14F-4D97-AF65-F5344CB8AC3E}">
        <p14:creationId xmlns:p14="http://schemas.microsoft.com/office/powerpoint/2010/main" val="18156519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8</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323528" y="897564"/>
            <a:ext cx="8568952" cy="1134126"/>
          </a:xfrm>
        </p:spPr>
        <p:txBody>
          <a:bodyPr>
            <a:normAutofit fontScale="85000" lnSpcReduction="20000"/>
          </a:bodyPr>
          <a:lstStyle/>
          <a:p>
            <a:pPr marL="0" indent="0" algn="ctr">
              <a:buNone/>
            </a:pPr>
            <a:r>
              <a:rPr lang="en-US" altLang="zh-CN" sz="2000" dirty="0" smtClean="0">
                <a:latin typeface="Times New Roman" pitchFamily="18" charset="0"/>
                <a:cs typeface="Times New Roman" pitchFamily="18" charset="0"/>
              </a:rPr>
              <a:t>Dual axis micro-analog sun sensor</a:t>
            </a:r>
          </a:p>
          <a:p>
            <a:pPr marL="0" indent="0" algn="just">
              <a:buNone/>
            </a:pPr>
            <a:r>
              <a:rPr lang="en-US" altLang="zh-CN" sz="2000" dirty="0" smtClean="0">
                <a:latin typeface="Times New Roman" pitchFamily="18" charset="0"/>
                <a:cs typeface="Times New Roman" pitchFamily="18" charset="0"/>
              </a:rPr>
              <a:t>SS is mainly used in injection period and also used for the Sun acquisition under emergency situation. Successful in Obiter-1 and MO-1.</a:t>
            </a:r>
            <a:endParaRPr lang="zh-CN" altLang="en-US" sz="2000" dirty="0">
              <a:latin typeface="Times New Roman" pitchFamily="18" charset="0"/>
              <a:cs typeface="Times New Roman"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3192131453"/>
              </p:ext>
            </p:extLst>
          </p:nvPr>
        </p:nvGraphicFramePr>
        <p:xfrm>
          <a:off x="3347865" y="2337383"/>
          <a:ext cx="5554149" cy="2186940"/>
        </p:xfrm>
        <a:graphic>
          <a:graphicData uri="http://schemas.openxmlformats.org/drawingml/2006/table">
            <a:tbl>
              <a:tblPr firstRow="1" bandRow="1">
                <a:tableStyleId>{5C22544A-7EE6-4342-B048-85BDC9FD1C3A}</a:tableStyleId>
              </a:tblPr>
              <a:tblGrid>
                <a:gridCol w="2592288"/>
                <a:gridCol w="2961861"/>
              </a:tblGrid>
              <a:tr h="274320">
                <a:tc>
                  <a:txBody>
                    <a:bodyPr/>
                    <a:lstStyle/>
                    <a:p>
                      <a:pPr algn="ctr"/>
                      <a:r>
                        <a:rPr lang="en-US" altLang="zh-CN" sz="1400" dirty="0" smtClean="0">
                          <a:latin typeface="Times New Roman" pitchFamily="18" charset="0"/>
                          <a:cs typeface="Times New Roman" pitchFamily="18" charset="0"/>
                        </a:rPr>
                        <a:t>Object</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Index</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Field of View</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±64˚×±64˚</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Measurement Accuracy</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≤0.5˚(3</a:t>
                      </a:r>
                      <a:r>
                        <a:rPr lang="el-GR" altLang="zh-CN" sz="1400" kern="1200" dirty="0" smtClean="0">
                          <a:solidFill>
                            <a:schemeClr val="dk1"/>
                          </a:solidFill>
                          <a:latin typeface="Times New Roman" pitchFamily="18" charset="0"/>
                          <a:ea typeface="+mn-ea"/>
                          <a:cs typeface="Times New Roman" pitchFamily="18" charset="0"/>
                        </a:rPr>
                        <a:t>σ</a:t>
                      </a:r>
                      <a:r>
                        <a:rPr lang="en-US" altLang="zh-CN" sz="1400" kern="1200" dirty="0" smtClean="0">
                          <a:solidFill>
                            <a:schemeClr val="dk1"/>
                          </a:solidFill>
                          <a:latin typeface="Times New Roman" pitchFamily="18" charset="0"/>
                          <a:ea typeface="+mn-ea"/>
                          <a:cs typeface="Times New Roman" pitchFamily="18" charset="0"/>
                        </a:rPr>
                        <a:t>)</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Weight</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&lt;30g</a:t>
                      </a: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Work Temperature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-70˚C~+70˚C</a:t>
                      </a: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Life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5 years</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4800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Size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34.5±1mm×48.5±1mm×13.5±1mm</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bl>
          </a:graphicData>
        </a:graphic>
      </p:graphicFrame>
      <p:pic>
        <p:nvPicPr>
          <p:cNvPr id="307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722" y="2158235"/>
            <a:ext cx="2694065" cy="2484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a:solidFill>
                  <a:schemeClr val="bg1"/>
                </a:solidFill>
                <a:latin typeface="微软雅黑" pitchFamily="34" charset="-122"/>
                <a:ea typeface="微软雅黑" pitchFamily="34" charset="-122"/>
              </a:rPr>
              <a:t>AOCS Composition Units</a:t>
            </a:r>
          </a:p>
        </p:txBody>
      </p:sp>
    </p:spTree>
    <p:extLst>
      <p:ext uri="{BB962C8B-B14F-4D97-AF65-F5344CB8AC3E}">
        <p14:creationId xmlns:p14="http://schemas.microsoft.com/office/powerpoint/2010/main" val="7077261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9</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323528" y="1167594"/>
            <a:ext cx="8568952" cy="1134126"/>
          </a:xfrm>
        </p:spPr>
        <p:txBody>
          <a:bodyPr>
            <a:normAutofit fontScale="62500" lnSpcReduction="20000"/>
          </a:bodyPr>
          <a:lstStyle/>
          <a:p>
            <a:pPr marL="0" indent="0" algn="ctr">
              <a:buNone/>
            </a:pPr>
            <a:r>
              <a:rPr lang="en-US" altLang="zh-CN" sz="2000" dirty="0" smtClean="0">
                <a:latin typeface="Times New Roman" pitchFamily="18" charset="0"/>
                <a:cs typeface="Times New Roman" pitchFamily="18" charset="0"/>
              </a:rPr>
              <a:t>SOC Digital Sun Sensor</a:t>
            </a:r>
          </a:p>
          <a:p>
            <a:pPr marL="0" indent="0" algn="just">
              <a:buNone/>
            </a:pPr>
            <a:r>
              <a:rPr lang="en-US" altLang="zh-CN" sz="2000" dirty="0" smtClean="0">
                <a:latin typeface="Times New Roman" pitchFamily="18" charset="0"/>
                <a:cs typeface="Times New Roman" pitchFamily="18" charset="0"/>
              </a:rPr>
              <a:t>SOC (System no a Chip) Digital Sun Sensor is an experimental unit on board.</a:t>
            </a:r>
          </a:p>
          <a:p>
            <a:pPr marL="0" indent="0" algn="just">
              <a:buNone/>
            </a:pPr>
            <a:r>
              <a:rPr lang="en-US" altLang="zh-CN" sz="2000" dirty="0" smtClean="0">
                <a:latin typeface="Times New Roman" pitchFamily="18" charset="0"/>
                <a:cs typeface="Times New Roman" pitchFamily="18" charset="0"/>
              </a:rPr>
              <a:t>The unit uses APS image sensor and optical mask to make a sun sensor with the weight of no more than 40g and 0.03° in accuracy.</a:t>
            </a:r>
            <a:endParaRPr lang="zh-CN" altLang="en-US" sz="2000" dirty="0">
              <a:latin typeface="Times New Roman" pitchFamily="18" charset="0"/>
              <a:cs typeface="Times New Roman"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1813044985"/>
              </p:ext>
            </p:extLst>
          </p:nvPr>
        </p:nvGraphicFramePr>
        <p:xfrm>
          <a:off x="3347865" y="2571750"/>
          <a:ext cx="5554149" cy="1691640"/>
        </p:xfrm>
        <a:graphic>
          <a:graphicData uri="http://schemas.openxmlformats.org/drawingml/2006/table">
            <a:tbl>
              <a:tblPr firstRow="1" bandRow="1">
                <a:tableStyleId>{5C22544A-7EE6-4342-B048-85BDC9FD1C3A}</a:tableStyleId>
              </a:tblPr>
              <a:tblGrid>
                <a:gridCol w="2592288"/>
                <a:gridCol w="2961861"/>
              </a:tblGrid>
              <a:tr h="274320">
                <a:tc>
                  <a:txBody>
                    <a:bodyPr/>
                    <a:lstStyle/>
                    <a:p>
                      <a:pPr algn="ctr"/>
                      <a:r>
                        <a:rPr lang="en-US" altLang="zh-CN" sz="1400" dirty="0" smtClean="0">
                          <a:latin typeface="Times New Roman" pitchFamily="18" charset="0"/>
                          <a:cs typeface="Times New Roman" pitchFamily="18" charset="0"/>
                        </a:rPr>
                        <a:t>Object</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Index</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Field of View</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±64˚×±64˚</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Measurement Accuracy</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≤0.03˚(3</a:t>
                      </a:r>
                      <a:r>
                        <a:rPr lang="el-GR" altLang="zh-CN" sz="1400" kern="1200" dirty="0" smtClean="0">
                          <a:solidFill>
                            <a:schemeClr val="dk1"/>
                          </a:solidFill>
                          <a:latin typeface="Times New Roman" pitchFamily="18" charset="0"/>
                          <a:ea typeface="+mn-ea"/>
                          <a:cs typeface="Times New Roman" pitchFamily="18" charset="0"/>
                        </a:rPr>
                        <a:t>σ</a:t>
                      </a:r>
                      <a:r>
                        <a:rPr lang="en-US" altLang="zh-CN" sz="1400" kern="1200" dirty="0" smtClean="0">
                          <a:solidFill>
                            <a:schemeClr val="dk1"/>
                          </a:solidFill>
                          <a:latin typeface="Times New Roman" pitchFamily="18" charset="0"/>
                          <a:ea typeface="+mn-ea"/>
                          <a:cs typeface="Times New Roman" pitchFamily="18" charset="0"/>
                        </a:rPr>
                        <a:t>)</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Data updating rate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dk1"/>
                          </a:solidFill>
                          <a:latin typeface="Times New Roman" pitchFamily="18" charset="0"/>
                          <a:ea typeface="+mn-ea"/>
                          <a:cs typeface="Times New Roman" pitchFamily="18" charset="0"/>
                        </a:rPr>
                        <a:t>≥</a:t>
                      </a:r>
                      <a:r>
                        <a:rPr lang="en-US" altLang="zh-CN" sz="1400" kern="1200" dirty="0" smtClean="0">
                          <a:solidFill>
                            <a:schemeClr val="dk1"/>
                          </a:solidFill>
                          <a:latin typeface="Times New Roman" pitchFamily="18" charset="0"/>
                          <a:ea typeface="+mn-ea"/>
                          <a:cs typeface="Times New Roman" pitchFamily="18" charset="0"/>
                        </a:rPr>
                        <a:t>10 Hz</a:t>
                      </a: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Weight</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dk1"/>
                          </a:solidFill>
                          <a:latin typeface="Times New Roman" pitchFamily="18" charset="0"/>
                          <a:ea typeface="+mn-ea"/>
                          <a:cs typeface="Times New Roman" pitchFamily="18" charset="0"/>
                        </a:rPr>
                        <a:t>＜</a:t>
                      </a:r>
                      <a:r>
                        <a:rPr lang="en-US" altLang="zh-CN" sz="1400" kern="1200" dirty="0" smtClean="0">
                          <a:solidFill>
                            <a:schemeClr val="dk1"/>
                          </a:solidFill>
                          <a:latin typeface="Times New Roman" pitchFamily="18" charset="0"/>
                          <a:ea typeface="+mn-ea"/>
                          <a:cs typeface="Times New Roman" pitchFamily="18" charset="0"/>
                        </a:rPr>
                        <a:t>40g</a:t>
                      </a: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Power consumption</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dk1"/>
                          </a:solidFill>
                          <a:latin typeface="Times New Roman" pitchFamily="18" charset="0"/>
                          <a:ea typeface="+mn-ea"/>
                          <a:cs typeface="Times New Roman" pitchFamily="18" charset="0"/>
                        </a:rPr>
                        <a:t>＜</a:t>
                      </a:r>
                      <a:r>
                        <a:rPr lang="en-US" altLang="zh-CN" sz="1400" kern="1200" dirty="0" smtClean="0">
                          <a:solidFill>
                            <a:schemeClr val="dk1"/>
                          </a:solidFill>
                          <a:latin typeface="Times New Roman" pitchFamily="18" charset="0"/>
                          <a:ea typeface="+mn-ea"/>
                          <a:cs typeface="Times New Roman" pitchFamily="18" charset="0"/>
                        </a:rPr>
                        <a:t>0.5W</a:t>
                      </a:r>
                    </a:p>
                  </a:txBody>
                  <a:tcPr marT="34290" marB="34290" anchor="ctr" anchorCtr="1"/>
                </a:tc>
              </a:tr>
            </a:tbl>
          </a:graphicData>
        </a:graphic>
      </p:graphicFrame>
      <p:sp>
        <p:nvSpPr>
          <p:cNvPr id="8"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a:solidFill>
                  <a:schemeClr val="bg1"/>
                </a:solidFill>
                <a:latin typeface="微软雅黑" pitchFamily="34" charset="-122"/>
                <a:ea typeface="微软雅黑" pitchFamily="34" charset="-122"/>
              </a:rPr>
              <a:t>AOCS Composition Units</a:t>
            </a:r>
          </a:p>
        </p:txBody>
      </p:sp>
      <p:pic>
        <p:nvPicPr>
          <p:cNvPr id="2050" name="Picture 2"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90" y="2517744"/>
            <a:ext cx="3053060" cy="189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37908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323528" y="897564"/>
            <a:ext cx="8568952" cy="1134126"/>
          </a:xfrm>
        </p:spPr>
        <p:txBody>
          <a:bodyPr>
            <a:normAutofit fontScale="85000" lnSpcReduction="20000"/>
          </a:bodyPr>
          <a:lstStyle/>
          <a:p>
            <a:pPr marL="0" indent="0" algn="ctr">
              <a:buNone/>
            </a:pPr>
            <a:r>
              <a:rPr lang="en-US" altLang="zh-CN" sz="2000" dirty="0" smtClean="0">
                <a:latin typeface="Times New Roman" pitchFamily="18" charset="0"/>
                <a:cs typeface="Times New Roman" pitchFamily="18" charset="0"/>
              </a:rPr>
              <a:t>Digital Magnetometer</a:t>
            </a:r>
          </a:p>
          <a:p>
            <a:pPr marL="0" indent="0" algn="just">
              <a:buNone/>
            </a:pPr>
            <a:r>
              <a:rPr lang="en-US" altLang="zh-CN" sz="2000" dirty="0" smtClean="0">
                <a:latin typeface="Times New Roman" pitchFamily="18" charset="0"/>
                <a:cs typeface="Times New Roman" pitchFamily="18" charset="0"/>
              </a:rPr>
              <a:t>ETRSS-1 selects 2 HMR 2300 3-axis magnetometer, backup for each other. Successful in PN-1, OVS-1 and MO-1.</a:t>
            </a:r>
            <a:endParaRPr lang="en-US" altLang="zh-CN" sz="2000" dirty="0">
              <a:latin typeface="Times New Roman" pitchFamily="18" charset="0"/>
              <a:cs typeface="Times New Roman" pitchFamily="18" charset="0"/>
            </a:endParaRPr>
          </a:p>
          <a:p>
            <a:pPr marL="0" indent="0" algn="just">
              <a:buNone/>
            </a:pPr>
            <a:endParaRPr lang="zh-CN" altLang="en-US" sz="2000" dirty="0">
              <a:latin typeface="Times New Roman" pitchFamily="18" charset="0"/>
              <a:cs typeface="Times New Roman"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2689131376"/>
              </p:ext>
            </p:extLst>
          </p:nvPr>
        </p:nvGraphicFramePr>
        <p:xfrm>
          <a:off x="323528" y="2085696"/>
          <a:ext cx="8568952" cy="2453640"/>
        </p:xfrm>
        <a:graphic>
          <a:graphicData uri="http://schemas.openxmlformats.org/drawingml/2006/table">
            <a:tbl>
              <a:tblPr firstRow="1" bandRow="1">
                <a:tableStyleId>{5C22544A-7EE6-4342-B048-85BDC9FD1C3A}</a:tableStyleId>
              </a:tblPr>
              <a:tblGrid>
                <a:gridCol w="1745527"/>
                <a:gridCol w="1824869"/>
                <a:gridCol w="1742355"/>
                <a:gridCol w="3256201"/>
              </a:tblGrid>
              <a:tr h="274320">
                <a:tc>
                  <a:txBody>
                    <a:bodyPr/>
                    <a:lstStyle/>
                    <a:p>
                      <a:pPr algn="ctr"/>
                      <a:r>
                        <a:rPr lang="en-US" altLang="zh-CN" sz="1400" dirty="0" smtClean="0"/>
                        <a:t>Object</a:t>
                      </a:r>
                      <a:endParaRPr lang="zh-CN" altLang="en-US" sz="1400" dirty="0"/>
                    </a:p>
                  </a:txBody>
                  <a:tcPr marT="34290" marB="34290" anchor="ctr" anchorCtr="1"/>
                </a:tc>
                <a:tc>
                  <a:txBody>
                    <a:bodyPr/>
                    <a:lstStyle/>
                    <a:p>
                      <a:pPr algn="ctr"/>
                      <a:r>
                        <a:rPr lang="en-US" altLang="zh-CN" sz="1400" dirty="0" smtClean="0"/>
                        <a:t>Index</a:t>
                      </a:r>
                      <a:endParaRPr lang="zh-CN" altLang="en-US" sz="1400" dirty="0"/>
                    </a:p>
                  </a:txBody>
                  <a:tcPr marT="34290" marB="34290" anchor="ctr" anchorCtr="1"/>
                </a:tc>
                <a:tc>
                  <a:txBody>
                    <a:bodyPr/>
                    <a:lstStyle/>
                    <a:p>
                      <a:pPr algn="ctr"/>
                      <a:r>
                        <a:rPr lang="en-US" altLang="zh-CN" sz="1400" dirty="0" smtClean="0"/>
                        <a:t>Object</a:t>
                      </a:r>
                      <a:endParaRPr lang="zh-CN" altLang="en-US" sz="1400" dirty="0"/>
                    </a:p>
                  </a:txBody>
                  <a:tcPr marT="34290" marB="34290" anchor="ctr" anchorCtr="1"/>
                </a:tc>
                <a:tc>
                  <a:txBody>
                    <a:bodyPr/>
                    <a:lstStyle/>
                    <a:p>
                      <a:pPr algn="ctr"/>
                      <a:r>
                        <a:rPr lang="en-US" altLang="zh-CN" sz="1400" dirty="0" smtClean="0"/>
                        <a:t>Index</a:t>
                      </a:r>
                      <a:endParaRPr lang="zh-CN" altLang="en-US" sz="1400" dirty="0"/>
                    </a:p>
                  </a:txBody>
                  <a:tcPr marT="34290" marB="34290" anchor="ctr" anchorCtr="1"/>
                </a:tc>
              </a:tr>
              <a:tr h="685800">
                <a:tc>
                  <a:txBody>
                    <a:bodyPr/>
                    <a:lstStyle/>
                    <a:p>
                      <a:pPr algn="ctr"/>
                      <a:r>
                        <a:rPr lang="en-US" altLang="zh-CN" sz="1400" dirty="0" smtClean="0">
                          <a:latin typeface="Times New Roman" pitchFamily="18" charset="0"/>
                          <a:cs typeface="Times New Roman" pitchFamily="18" charset="0"/>
                        </a:rPr>
                        <a:t>Field</a:t>
                      </a:r>
                      <a:r>
                        <a:rPr lang="en-US" altLang="zh-CN" sz="1400" baseline="0" dirty="0" smtClean="0">
                          <a:latin typeface="Times New Roman" pitchFamily="18" charset="0"/>
                          <a:cs typeface="Times New Roman" pitchFamily="18" charset="0"/>
                        </a:rPr>
                        <a:t> of View</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±64˚×±64˚</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Size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83mm×25mm×22mm</a:t>
                      </a: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body</a:t>
                      </a:r>
                      <a:r>
                        <a:rPr lang="zh-CN" altLang="en-US" sz="1400" dirty="0" smtClean="0">
                          <a:latin typeface="Times New Roman" pitchFamily="18" charset="0"/>
                          <a:cs typeface="Times New Roman" pitchFamily="18" charset="0"/>
                        </a:rPr>
                        <a:t>）</a:t>
                      </a:r>
                      <a:endParaRPr lang="en-US" altLang="zh-CN" sz="1400" dirty="0" smtClean="0">
                        <a:latin typeface="Times New Roman" pitchFamily="18" charset="0"/>
                        <a:cs typeface="Times New Roman" pitchFamily="18" charset="0"/>
                      </a:endParaRPr>
                    </a:p>
                    <a:p>
                      <a:pPr algn="ctr"/>
                      <a:r>
                        <a:rPr lang="en-US" altLang="zh-CN" sz="1400" dirty="0" smtClean="0">
                          <a:latin typeface="Times New Roman" pitchFamily="18" charset="0"/>
                          <a:cs typeface="Times New Roman" pitchFamily="18" charset="0"/>
                        </a:rPr>
                        <a:t>106.5mm×38mm×22.5mm</a:t>
                      </a:r>
                    </a:p>
                    <a:p>
                      <a:pPr algn="ct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envelop</a:t>
                      </a:r>
                      <a:r>
                        <a:rPr lang="zh-CN" altLang="en-US" sz="1400" dirty="0" smtClean="0">
                          <a:latin typeface="Times New Roman" pitchFamily="18" charset="0"/>
                          <a:cs typeface="Times New Roman" pitchFamily="18" charset="0"/>
                        </a:rPr>
                        <a:t>）</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pPr algn="ctr"/>
                      <a:r>
                        <a:rPr lang="en-US" altLang="zh-CN" sz="1400" dirty="0" smtClean="0">
                          <a:latin typeface="Times New Roman" pitchFamily="18" charset="0"/>
                          <a:cs typeface="Times New Roman" pitchFamily="18" charset="0"/>
                        </a:rPr>
                        <a:t>Measurement</a:t>
                      </a:r>
                      <a:r>
                        <a:rPr lang="en-US" altLang="zh-CN" sz="1400" baseline="0" dirty="0" smtClean="0">
                          <a:latin typeface="Times New Roman" pitchFamily="18" charset="0"/>
                          <a:cs typeface="Times New Roman" pitchFamily="18" charset="0"/>
                        </a:rPr>
                        <a:t> Accuracy</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0.01%~0.52%</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Measurement Range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±1Gauss</a:t>
                      </a:r>
                      <a:endParaRPr lang="zh-CN" altLang="en-US" sz="1400" dirty="0">
                        <a:latin typeface="Times New Roman" pitchFamily="18" charset="0"/>
                        <a:cs typeface="Times New Roman" pitchFamily="18" charset="0"/>
                      </a:endParaRPr>
                    </a:p>
                  </a:txBody>
                  <a:tcPr marT="34290" marB="34290" anchor="ctr" anchorCtr="1"/>
                </a:tc>
              </a:tr>
              <a:tr h="685800">
                <a:tc>
                  <a:txBody>
                    <a:bodyPr/>
                    <a:lstStyle/>
                    <a:p>
                      <a:pPr algn="ctr"/>
                      <a:r>
                        <a:rPr lang="en-US" altLang="zh-CN" sz="1400" dirty="0" smtClean="0">
                          <a:latin typeface="Times New Roman" pitchFamily="18" charset="0"/>
                          <a:cs typeface="Times New Roman" pitchFamily="18" charset="0"/>
                        </a:rPr>
                        <a:t>Resolution</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0.000067Gauss</a:t>
                      </a: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Average measurement error</a:t>
                      </a: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0.0013Gauss (1</a:t>
                      </a:r>
                      <a:r>
                        <a:rPr lang="el-GR" altLang="zh-CN" sz="1400" dirty="0" smtClean="0">
                          <a:latin typeface="Times New Roman" pitchFamily="18" charset="0"/>
                          <a:cs typeface="Times New Roman" pitchFamily="18" charset="0"/>
                        </a:rPr>
                        <a:t>σ</a:t>
                      </a:r>
                      <a:r>
                        <a:rPr lang="en-US" altLang="zh-CN" sz="1400" dirty="0" smtClean="0">
                          <a:latin typeface="Times New Roman" pitchFamily="18" charset="0"/>
                          <a:cs typeface="Times New Roman" pitchFamily="18" charset="0"/>
                        </a:rPr>
                        <a:t>)</a:t>
                      </a: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Power Supply</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6.5V~15V</a:t>
                      </a: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Current</a:t>
                      </a: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27mA~45mA</a:t>
                      </a:r>
                    </a:p>
                  </a:txBody>
                  <a:tcPr marT="34290" marB="34290" anchor="ctr" anchorCtr="1"/>
                </a:tc>
              </a:tr>
            </a:tbl>
          </a:graphicData>
        </a:graphic>
      </p:graphicFrame>
      <p:sp>
        <p:nvSpPr>
          <p:cNvPr id="8"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a:solidFill>
                  <a:schemeClr val="bg1"/>
                </a:solidFill>
                <a:latin typeface="微软雅黑" pitchFamily="34" charset="-122"/>
                <a:ea typeface="微软雅黑" pitchFamily="34" charset="-122"/>
              </a:rPr>
              <a:t>AOCS Composition Units</a:t>
            </a:r>
          </a:p>
        </p:txBody>
      </p:sp>
    </p:spTree>
    <p:extLst>
      <p:ext uri="{BB962C8B-B14F-4D97-AF65-F5344CB8AC3E}">
        <p14:creationId xmlns:p14="http://schemas.microsoft.com/office/powerpoint/2010/main" val="24757536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11</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323528" y="1221600"/>
            <a:ext cx="3096344" cy="3240360"/>
          </a:xfrm>
        </p:spPr>
        <p:txBody>
          <a:bodyPr>
            <a:normAutofit fontScale="85000" lnSpcReduction="10000"/>
          </a:bodyPr>
          <a:lstStyle/>
          <a:p>
            <a:pPr marL="0" indent="0" algn="ctr">
              <a:buNone/>
            </a:pPr>
            <a:r>
              <a:rPr lang="en-US" altLang="zh-CN" sz="2000" dirty="0" smtClean="0">
                <a:latin typeface="Times New Roman" pitchFamily="18" charset="0"/>
                <a:cs typeface="Times New Roman" pitchFamily="18" charset="0"/>
              </a:rPr>
              <a:t>Momentum Wheel</a:t>
            </a:r>
          </a:p>
          <a:p>
            <a:pPr marL="0" indent="0" algn="just">
              <a:buNone/>
            </a:pPr>
            <a:r>
              <a:rPr lang="en-US" altLang="zh-CN" sz="2000" dirty="0" smtClean="0">
                <a:latin typeface="Times New Roman" pitchFamily="18" charset="0"/>
                <a:cs typeface="Times New Roman" pitchFamily="18" charset="0"/>
              </a:rPr>
              <a:t>MWs are the main actuators for maneuvering. Besides, they are the core devices for implementing zero-momentum control strategy. ETRSS-1 selects FW-SR.090.0.1-1C type of MW.</a:t>
            </a:r>
            <a:endParaRPr lang="zh-CN" altLang="en-US" sz="2000" dirty="0">
              <a:latin typeface="Times New Roman" pitchFamily="18" charset="0"/>
              <a:cs typeface="Times New Roman"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3417613188"/>
              </p:ext>
            </p:extLst>
          </p:nvPr>
        </p:nvGraphicFramePr>
        <p:xfrm>
          <a:off x="3707905" y="1383618"/>
          <a:ext cx="5256583" cy="2613660"/>
        </p:xfrm>
        <a:graphic>
          <a:graphicData uri="http://schemas.openxmlformats.org/drawingml/2006/table">
            <a:tbl>
              <a:tblPr firstRow="1" bandRow="1">
                <a:tableStyleId>{5C22544A-7EE6-4342-B048-85BDC9FD1C3A}</a:tableStyleId>
              </a:tblPr>
              <a:tblGrid>
                <a:gridCol w="2382866"/>
                <a:gridCol w="2873717"/>
              </a:tblGrid>
              <a:tr h="274320">
                <a:tc>
                  <a:txBody>
                    <a:bodyPr/>
                    <a:lstStyle/>
                    <a:p>
                      <a:pPr algn="ctr"/>
                      <a:r>
                        <a:rPr lang="en-US" altLang="zh-CN" sz="1400" dirty="0" smtClean="0">
                          <a:latin typeface="Times New Roman" pitchFamily="18" charset="0"/>
                          <a:cs typeface="Times New Roman" pitchFamily="18" charset="0"/>
                        </a:rPr>
                        <a:t>Object</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FW-SR.090.0.1-1C</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Work</a:t>
                      </a:r>
                      <a:r>
                        <a:rPr lang="en-US" altLang="zh-CN" sz="1400" baseline="0" dirty="0" smtClean="0">
                          <a:latin typeface="Times New Roman" pitchFamily="18" charset="0"/>
                          <a:cs typeface="Times New Roman" pitchFamily="18" charset="0"/>
                        </a:rPr>
                        <a:t> speed</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6000rpm</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Max</a:t>
                      </a:r>
                      <a:r>
                        <a:rPr lang="en-US" altLang="zh-CN" sz="1400" baseline="0" dirty="0" smtClean="0">
                          <a:latin typeface="Times New Roman" pitchFamily="18" charset="0"/>
                          <a:cs typeface="Times New Roman" pitchFamily="18" charset="0"/>
                        </a:rPr>
                        <a:t> moment </a:t>
                      </a:r>
                      <a:r>
                        <a:rPr lang="en-US" altLang="zh-CN" sz="1400" dirty="0" smtClean="0">
                          <a:latin typeface="Times New Roman" pitchFamily="18" charset="0"/>
                          <a:cs typeface="Times New Roman" pitchFamily="18" charset="0"/>
                        </a:rPr>
                        <a:t>output</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15m</a:t>
                      </a:r>
                      <a:r>
                        <a:rPr lang="en-US" altLang="zh-CN" sz="1400" baseline="0" dirty="0" smtClean="0">
                          <a:latin typeface="Times New Roman" pitchFamily="18" charset="0"/>
                          <a:cs typeface="Times New Roman" pitchFamily="18" charset="0"/>
                        </a:rPr>
                        <a:t> Nm</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Angular momentum</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0.36Nms(tentatively)</a:t>
                      </a:r>
                    </a:p>
                  </a:txBody>
                  <a:tcPr marT="34290" marB="34290" anchor="ctr" anchorCtr="1"/>
                </a:tc>
              </a:tr>
              <a:tr h="891540">
                <a:tc>
                  <a:txBody>
                    <a:bodyPr/>
                    <a:lstStyle/>
                    <a:p>
                      <a:pPr algn="ctr"/>
                      <a:r>
                        <a:rPr lang="en-US" altLang="zh-CN" sz="1400" dirty="0" smtClean="0">
                          <a:latin typeface="Times New Roman" pitchFamily="18" charset="0"/>
                          <a:cs typeface="Times New Roman" pitchFamily="18" charset="0"/>
                        </a:rPr>
                        <a:t>Steady-state</a:t>
                      </a:r>
                      <a:r>
                        <a:rPr lang="en-US" altLang="zh-CN" sz="1400" baseline="0" dirty="0" smtClean="0">
                          <a:latin typeface="Times New Roman" pitchFamily="18" charset="0"/>
                          <a:cs typeface="Times New Roman" pitchFamily="18" charset="0"/>
                        </a:rPr>
                        <a:t> p</a:t>
                      </a:r>
                      <a:r>
                        <a:rPr lang="en-US" altLang="zh-CN" sz="1400" dirty="0" smtClean="0">
                          <a:latin typeface="Times New Roman" pitchFamily="18" charset="0"/>
                          <a:cs typeface="Times New Roman" pitchFamily="18" charset="0"/>
                        </a:rPr>
                        <a:t>ower consumption</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1W</a:t>
                      </a: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0.06Nms,1000rpm</a:t>
                      </a:r>
                      <a:r>
                        <a:rPr lang="zh-CN" altLang="en-US" sz="1400" dirty="0" smtClean="0">
                          <a:latin typeface="Times New Roman" pitchFamily="18" charset="0"/>
                          <a:cs typeface="Times New Roman" pitchFamily="18" charset="0"/>
                        </a:rPr>
                        <a:t>）</a:t>
                      </a:r>
                      <a:endParaRPr lang="en-US" altLang="zh-CN" sz="14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3W</a:t>
                      </a: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0.18Nms,3000rpm</a:t>
                      </a:r>
                      <a:r>
                        <a:rPr lang="zh-CN" altLang="en-US" sz="1400" dirty="0" smtClean="0">
                          <a:latin typeface="Times New Roman" pitchFamily="18" charset="0"/>
                          <a:cs typeface="Times New Roman" pitchFamily="18" charset="0"/>
                        </a:rPr>
                        <a:t>）</a:t>
                      </a:r>
                      <a:endParaRPr lang="en-US" altLang="zh-CN" sz="14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9W</a:t>
                      </a: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0.36Nms,6000rpm</a:t>
                      </a:r>
                      <a:r>
                        <a:rPr lang="zh-CN" altLang="en-US" sz="1400" dirty="0" smtClean="0">
                          <a:latin typeface="Times New Roman" pitchFamily="18" charset="0"/>
                          <a:cs typeface="Times New Roman" pitchFamily="18" charset="0"/>
                        </a:rPr>
                        <a:t>）</a:t>
                      </a:r>
                      <a:endParaRPr lang="en-US" altLang="zh-CN" sz="14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(tentatively)</a:t>
                      </a: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Weight</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Times New Roman" pitchFamily="18" charset="0"/>
                          <a:cs typeface="Times New Roman" pitchFamily="18" charset="0"/>
                        </a:rPr>
                        <a:t>≤</a:t>
                      </a:r>
                      <a:r>
                        <a:rPr lang="en-US" altLang="zh-CN" sz="1400" dirty="0" smtClean="0">
                          <a:latin typeface="Times New Roman" pitchFamily="18" charset="0"/>
                          <a:cs typeface="Times New Roman" pitchFamily="18" charset="0"/>
                        </a:rPr>
                        <a:t>1kg</a:t>
                      </a:r>
                    </a:p>
                  </a:txBody>
                  <a:tcPr marT="34290" marB="34290" anchor="ctr" anchorCtr="1"/>
                </a:tc>
              </a:tr>
              <a:tr h="274320">
                <a:tc>
                  <a:txBody>
                    <a:bodyPr/>
                    <a:lstStyle/>
                    <a:p>
                      <a:pPr algn="ctr"/>
                      <a:r>
                        <a:rPr lang="en-US" altLang="zh-CN" sz="1400" dirty="0" smtClean="0">
                          <a:latin typeface="Times New Roman" pitchFamily="18" charset="0"/>
                          <a:cs typeface="Times New Roman" pitchFamily="18" charset="0"/>
                        </a:rPr>
                        <a:t>Life</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5 years</a:t>
                      </a:r>
                    </a:p>
                  </a:txBody>
                  <a:tcPr marT="34290" marB="34290" anchor="ctr" anchorCtr="1"/>
                </a:tc>
              </a:tr>
            </a:tbl>
          </a:graphicData>
        </a:graphic>
      </p:graphicFrame>
      <p:sp>
        <p:nvSpPr>
          <p:cNvPr id="8"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a:solidFill>
                  <a:schemeClr val="bg1"/>
                </a:solidFill>
                <a:latin typeface="微软雅黑" pitchFamily="34" charset="-122"/>
                <a:ea typeface="微软雅黑" pitchFamily="34" charset="-122"/>
              </a:rPr>
              <a:t>AOCS Composition Units</a:t>
            </a:r>
          </a:p>
        </p:txBody>
      </p:sp>
    </p:spTree>
    <p:extLst>
      <p:ext uri="{BB962C8B-B14F-4D97-AF65-F5344CB8AC3E}">
        <p14:creationId xmlns:p14="http://schemas.microsoft.com/office/powerpoint/2010/main" val="36189651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12</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323528" y="897564"/>
            <a:ext cx="8568952" cy="1260671"/>
          </a:xfrm>
        </p:spPr>
        <p:txBody>
          <a:bodyPr>
            <a:normAutofit fontScale="85000" lnSpcReduction="10000"/>
          </a:bodyPr>
          <a:lstStyle/>
          <a:p>
            <a:pPr marL="0" indent="0" algn="ctr">
              <a:buNone/>
            </a:pPr>
            <a:r>
              <a:rPr lang="en-US" altLang="zh-CN" sz="2000" dirty="0" smtClean="0">
                <a:latin typeface="Times New Roman" pitchFamily="18" charset="0"/>
                <a:cs typeface="Times New Roman" pitchFamily="18" charset="0"/>
              </a:rPr>
              <a:t>Magnetic Torquer</a:t>
            </a:r>
          </a:p>
          <a:p>
            <a:pPr marL="0" indent="0" algn="just">
              <a:buNone/>
            </a:pPr>
            <a:r>
              <a:rPr lang="en-US" altLang="zh-CN" sz="2000" dirty="0" smtClean="0">
                <a:latin typeface="Times New Roman" pitchFamily="18" charset="0"/>
                <a:cs typeface="Times New Roman" pitchFamily="18" charset="0"/>
              </a:rPr>
              <a:t>MT is mainly used for unloading angular momentum and magnetic damping. The MT selected in ETRSS-1 is 1Am² of MT that has been applied on OVS-1 and MO-1. </a:t>
            </a:r>
            <a:endParaRPr lang="zh-CN" altLang="en-US" sz="2000" dirty="0">
              <a:latin typeface="Times New Roman" pitchFamily="18" charset="0"/>
              <a:cs typeface="Times New Roman"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331422048"/>
              </p:ext>
            </p:extLst>
          </p:nvPr>
        </p:nvGraphicFramePr>
        <p:xfrm>
          <a:off x="3710835" y="2180426"/>
          <a:ext cx="5256584" cy="2537460"/>
        </p:xfrm>
        <a:graphic>
          <a:graphicData uri="http://schemas.openxmlformats.org/drawingml/2006/table">
            <a:tbl>
              <a:tblPr firstRow="1" bandRow="1">
                <a:tableStyleId>{5C22544A-7EE6-4342-B048-85BDC9FD1C3A}</a:tableStyleId>
              </a:tblPr>
              <a:tblGrid>
                <a:gridCol w="2880320"/>
                <a:gridCol w="2376264"/>
              </a:tblGrid>
              <a:tr h="274320">
                <a:tc>
                  <a:txBody>
                    <a:bodyPr/>
                    <a:lstStyle/>
                    <a:p>
                      <a:pPr algn="ctr"/>
                      <a:r>
                        <a:rPr lang="en-US" altLang="zh-CN" sz="1400" dirty="0" smtClean="0">
                          <a:latin typeface="Times New Roman" pitchFamily="18" charset="0"/>
                          <a:cs typeface="Times New Roman" pitchFamily="18" charset="0"/>
                        </a:rPr>
                        <a:t>Object</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Index</a:t>
                      </a:r>
                      <a:endParaRPr lang="zh-CN" altLang="en-US" sz="1400" dirty="0">
                        <a:latin typeface="Times New Roman" pitchFamily="18" charset="0"/>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Max-output</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1Am²±5%</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Remnant magnetic moment</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dk1"/>
                          </a:solidFill>
                          <a:latin typeface="Times New Roman" pitchFamily="18" charset="0"/>
                          <a:ea typeface="+mn-ea"/>
                          <a:cs typeface="Times New Roman" pitchFamily="18" charset="0"/>
                        </a:rPr>
                        <a:t>＜</a:t>
                      </a:r>
                      <a:r>
                        <a:rPr lang="en-US" altLang="zh-CN" sz="1400" kern="1200" dirty="0" smtClean="0">
                          <a:solidFill>
                            <a:schemeClr val="dk1"/>
                          </a:solidFill>
                          <a:latin typeface="Times New Roman" pitchFamily="18" charset="0"/>
                          <a:ea typeface="+mn-ea"/>
                          <a:cs typeface="Times New Roman" pitchFamily="18" charset="0"/>
                        </a:rPr>
                        <a:t>0.01Am²</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Control signal</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5V pulse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Power consumption</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≤1.35W</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Weight</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&lt;200g</a:t>
                      </a: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Work Temperature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-15˚C~+45˚C</a:t>
                      </a: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Life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5 years</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Size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115mm×</a:t>
                      </a:r>
                      <a:r>
                        <a:rPr lang="el-GR" altLang="zh-CN" sz="1400" kern="1200" dirty="0" smtClean="0">
                          <a:solidFill>
                            <a:schemeClr val="dk1"/>
                          </a:solidFill>
                          <a:latin typeface="Times New Roman" pitchFamily="18" charset="0"/>
                          <a:ea typeface="+mn-ea"/>
                          <a:cs typeface="Times New Roman" pitchFamily="18" charset="0"/>
                        </a:rPr>
                        <a:t>Φ</a:t>
                      </a:r>
                      <a:r>
                        <a:rPr lang="en-US" altLang="zh-CN" sz="1400" kern="1200" dirty="0" smtClean="0">
                          <a:solidFill>
                            <a:schemeClr val="dk1"/>
                          </a:solidFill>
                          <a:latin typeface="Times New Roman" pitchFamily="18" charset="0"/>
                          <a:ea typeface="+mn-ea"/>
                          <a:cs typeface="Times New Roman" pitchFamily="18" charset="0"/>
                        </a:rPr>
                        <a:t>14mm</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bl>
          </a:graphicData>
        </a:graphic>
      </p:graphicFrame>
      <p:pic>
        <p:nvPicPr>
          <p:cNvPr id="5122" name="Picture 2" descr="着色"/>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148474"/>
            <a:ext cx="3384376" cy="258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a:solidFill>
                  <a:schemeClr val="bg1"/>
                </a:solidFill>
                <a:latin typeface="微软雅黑" pitchFamily="34" charset="-122"/>
                <a:ea typeface="微软雅黑" pitchFamily="34" charset="-122"/>
              </a:rPr>
              <a:t>AOCS Composition Units</a:t>
            </a:r>
          </a:p>
        </p:txBody>
      </p:sp>
    </p:spTree>
    <p:extLst>
      <p:ext uri="{BB962C8B-B14F-4D97-AF65-F5344CB8AC3E}">
        <p14:creationId xmlns:p14="http://schemas.microsoft.com/office/powerpoint/2010/main" val="28490300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323528" y="897564"/>
            <a:ext cx="8568952" cy="1620180"/>
          </a:xfrm>
        </p:spPr>
        <p:txBody>
          <a:bodyPr>
            <a:normAutofit fontScale="70000" lnSpcReduction="20000"/>
          </a:bodyPr>
          <a:lstStyle/>
          <a:p>
            <a:pPr marL="0" indent="0" algn="ctr">
              <a:buNone/>
            </a:pPr>
            <a:r>
              <a:rPr lang="en-US" altLang="zh-CN" sz="2000" dirty="0" smtClean="0">
                <a:latin typeface="Times New Roman" pitchFamily="18" charset="0"/>
                <a:cs typeface="Times New Roman" pitchFamily="18" charset="0"/>
              </a:rPr>
              <a:t>Central Control </a:t>
            </a:r>
            <a:r>
              <a:rPr lang="en-US" altLang="zh-CN" sz="2000" dirty="0">
                <a:latin typeface="Times New Roman" pitchFamily="18" charset="0"/>
                <a:cs typeface="Times New Roman" pitchFamily="18" charset="0"/>
              </a:rPr>
              <a:t>U</a:t>
            </a:r>
            <a:r>
              <a:rPr lang="en-US" altLang="zh-CN" sz="2000" dirty="0" smtClean="0">
                <a:latin typeface="Times New Roman" pitchFamily="18" charset="0"/>
                <a:cs typeface="Times New Roman" pitchFamily="18" charset="0"/>
              </a:rPr>
              <a:t>nit</a:t>
            </a:r>
          </a:p>
          <a:p>
            <a:pPr marL="0" indent="0" algn="just">
              <a:buNone/>
            </a:pPr>
            <a:r>
              <a:rPr lang="en-US" altLang="zh-CN" sz="1900" dirty="0" smtClean="0">
                <a:latin typeface="Times New Roman" pitchFamily="18" charset="0"/>
                <a:cs typeface="Times New Roman" pitchFamily="18" charset="0"/>
              </a:rPr>
              <a:t>CCU </a:t>
            </a:r>
            <a:r>
              <a:rPr lang="en-US" altLang="zh-CN" sz="1900" dirty="0">
                <a:latin typeface="Times New Roman" pitchFamily="18" charset="0"/>
                <a:cs typeface="Times New Roman" pitchFamily="18" charset="0"/>
              </a:rPr>
              <a:t>utilized in ETRSS-1 is the type of  double units with cold redundant computer. </a:t>
            </a:r>
            <a:r>
              <a:rPr lang="en-US" altLang="zh-CN" sz="1900" dirty="0" smtClean="0">
                <a:latin typeface="Times New Roman" pitchFamily="18" charset="0"/>
                <a:cs typeface="Times New Roman" pitchFamily="18" charset="0"/>
              </a:rPr>
              <a:t>CCU is the controller of attitude control subsystem in ETRSS-1, which is consist of  AOCC and FT. AOCC, applied with the double circuit design, is utilized for dealing with the measurements from other units and activating the actuators, except for propulsion system.</a:t>
            </a:r>
            <a:r>
              <a:rPr lang="en-US" altLang="zh-CN" sz="1900" dirty="0">
                <a:latin typeface="Times New Roman" pitchFamily="18" charset="0"/>
                <a:cs typeface="Times New Roman" pitchFamily="18" charset="0"/>
              </a:rPr>
              <a:t> Most of components in the CCU are military grade, and the rest is industrial grade</a:t>
            </a:r>
            <a:r>
              <a:rPr lang="en-US" altLang="zh-CN" sz="1900" dirty="0" smtClean="0">
                <a:latin typeface="Times New Roman" pitchFamily="18" charset="0"/>
                <a:cs typeface="Times New Roman" pitchFamily="18" charset="0"/>
              </a:rPr>
              <a:t>. </a:t>
            </a:r>
          </a:p>
          <a:p>
            <a:pPr marL="0" indent="0" algn="just">
              <a:buNone/>
            </a:pPr>
            <a:endParaRPr lang="zh-CN" altLang="en-US" sz="1900" dirty="0">
              <a:latin typeface="Times New Roman" pitchFamily="18" charset="0"/>
              <a:cs typeface="Times New Roman" pitchFamily="18" charset="0"/>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83356067"/>
              </p:ext>
            </p:extLst>
          </p:nvPr>
        </p:nvGraphicFramePr>
        <p:xfrm>
          <a:off x="539552" y="2463739"/>
          <a:ext cx="3207086" cy="2201828"/>
        </p:xfrm>
        <a:graphic>
          <a:graphicData uri="http://schemas.openxmlformats.org/presentationml/2006/ole">
            <mc:AlternateContent xmlns:mc="http://schemas.openxmlformats.org/markup-compatibility/2006">
              <mc:Choice xmlns:v="urn:schemas-microsoft-com:vml" Requires="v">
                <p:oleObj spid="_x0000_s1091" name="位图图像" r:id="rId3" imgW="4390476" imgH="4019048" progId="Paint.Picture">
                  <p:embed/>
                </p:oleObj>
              </mc:Choice>
              <mc:Fallback>
                <p:oleObj name="位图图像" r:id="rId3" imgW="4390476" imgH="401904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463739"/>
                        <a:ext cx="3207086" cy="2201828"/>
                      </a:xfrm>
                      <a:prstGeom prst="rect">
                        <a:avLst/>
                      </a:prstGeom>
                      <a:noFill/>
                    </p:spPr>
                  </p:pic>
                </p:oleObj>
              </mc:Fallback>
            </mc:AlternateContent>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1105611427"/>
              </p:ext>
            </p:extLst>
          </p:nvPr>
        </p:nvGraphicFramePr>
        <p:xfrm>
          <a:off x="4283968" y="2625756"/>
          <a:ext cx="4488404" cy="1821180"/>
        </p:xfrm>
        <a:graphic>
          <a:graphicData uri="http://schemas.openxmlformats.org/drawingml/2006/table">
            <a:tbl>
              <a:tblPr firstRow="1" bandRow="1">
                <a:tableStyleId>{5C22544A-7EE6-4342-B048-85BDC9FD1C3A}</a:tableStyleId>
              </a:tblPr>
              <a:tblGrid>
                <a:gridCol w="1473137"/>
                <a:gridCol w="3015267"/>
              </a:tblGrid>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Word</a:t>
                      </a:r>
                      <a:r>
                        <a:rPr lang="en-US" altLang="zh-CN" sz="1400" kern="1200" baseline="0" dirty="0" smtClean="0">
                          <a:solidFill>
                            <a:schemeClr val="dk1"/>
                          </a:solidFill>
                          <a:latin typeface="Times New Roman" pitchFamily="18" charset="0"/>
                          <a:ea typeface="+mn-ea"/>
                          <a:cs typeface="Times New Roman" pitchFamily="18" charset="0"/>
                        </a:rPr>
                        <a:t> length</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32bits</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4800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CPU frequency</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45MHz</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4800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Memorizer</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4MB Flash</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2MB SRAM</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Control cycle</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250ms±0.1ms</a:t>
                      </a:r>
                    </a:p>
                  </a:txBody>
                  <a:tcPr marT="34290" marB="34290" anchor="ctr" anchorCtr="1"/>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Timer</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latin typeface="Times New Roman" pitchFamily="18" charset="0"/>
                          <a:ea typeface="+mn-ea"/>
                          <a:cs typeface="Times New Roman" pitchFamily="18" charset="0"/>
                        </a:rPr>
                        <a:t>32bits counter,</a:t>
                      </a:r>
                      <a:r>
                        <a:rPr lang="en-US" altLang="zh-CN" sz="1400" kern="1200" baseline="0" dirty="0" smtClean="0">
                          <a:solidFill>
                            <a:schemeClr val="dk1"/>
                          </a:solidFill>
                          <a:latin typeface="Times New Roman" pitchFamily="18" charset="0"/>
                          <a:ea typeface="+mn-ea"/>
                          <a:cs typeface="Times New Roman" pitchFamily="18" charset="0"/>
                        </a:rPr>
                        <a:t> accuracy</a:t>
                      </a:r>
                      <a:r>
                        <a:rPr lang="zh-CN" altLang="en-US" sz="1400" kern="1200" baseline="0" dirty="0" smtClean="0">
                          <a:solidFill>
                            <a:schemeClr val="dk1"/>
                          </a:solidFill>
                          <a:latin typeface="Times New Roman" pitchFamily="18" charset="0"/>
                          <a:ea typeface="+mn-ea"/>
                          <a:cs typeface="Times New Roman" pitchFamily="18" charset="0"/>
                        </a:rPr>
                        <a:t>≤</a:t>
                      </a:r>
                      <a:r>
                        <a:rPr lang="en-US" altLang="zh-CN" sz="1400" kern="1200" baseline="0" dirty="0" smtClean="0">
                          <a:solidFill>
                            <a:schemeClr val="dk1"/>
                          </a:solidFill>
                          <a:latin typeface="Times New Roman" pitchFamily="18" charset="0"/>
                          <a:ea typeface="+mn-ea"/>
                          <a:cs typeface="Times New Roman" pitchFamily="18" charset="0"/>
                        </a:rPr>
                        <a:t>20</a:t>
                      </a:r>
                      <a:r>
                        <a:rPr lang="el-GR" altLang="zh-CN" sz="1400" kern="1200" baseline="0" dirty="0" smtClean="0">
                          <a:solidFill>
                            <a:schemeClr val="dk1"/>
                          </a:solidFill>
                          <a:latin typeface="Times New Roman" pitchFamily="18" charset="0"/>
                          <a:ea typeface="+mn-ea"/>
                          <a:cs typeface="Times New Roman" pitchFamily="18" charset="0"/>
                        </a:rPr>
                        <a:t>μ</a:t>
                      </a:r>
                      <a:r>
                        <a:rPr lang="en-US" altLang="zh-CN" sz="1400" kern="1200" baseline="0" dirty="0" smtClean="0">
                          <a:solidFill>
                            <a:schemeClr val="dk1"/>
                          </a:solidFill>
                          <a:latin typeface="Times New Roman" pitchFamily="18" charset="0"/>
                          <a:ea typeface="+mn-ea"/>
                          <a:cs typeface="Times New Roman" pitchFamily="18" charset="0"/>
                        </a:rPr>
                        <a:t>s</a:t>
                      </a:r>
                      <a:endParaRPr lang="en-US" altLang="zh-CN" sz="1400" kern="1200" dirty="0" smtClean="0">
                        <a:solidFill>
                          <a:schemeClr val="dk1"/>
                        </a:solidFill>
                        <a:latin typeface="Times New Roman" pitchFamily="18" charset="0"/>
                        <a:ea typeface="+mn-ea"/>
                        <a:cs typeface="Times New Roman" pitchFamily="18" charset="0"/>
                      </a:endParaRPr>
                    </a:p>
                  </a:txBody>
                  <a:tcPr marT="34290" marB="34290" anchor="ctr" anchorCtr="1"/>
                </a:tc>
              </a:tr>
            </a:tbl>
          </a:graphicData>
        </a:graphic>
      </p:graphicFrame>
      <p:sp>
        <p:nvSpPr>
          <p:cNvPr id="10"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a:solidFill>
                  <a:schemeClr val="bg1"/>
                </a:solidFill>
                <a:latin typeface="微软雅黑" pitchFamily="34" charset="-122"/>
                <a:ea typeface="微软雅黑" pitchFamily="34" charset="-122"/>
              </a:rPr>
              <a:t>AOCS Composition Units</a:t>
            </a:r>
          </a:p>
        </p:txBody>
      </p:sp>
    </p:spTree>
    <p:extLst>
      <p:ext uri="{BB962C8B-B14F-4D97-AF65-F5344CB8AC3E}">
        <p14:creationId xmlns:p14="http://schemas.microsoft.com/office/powerpoint/2010/main" val="18554003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107504" y="897564"/>
            <a:ext cx="8928992" cy="594066"/>
          </a:xfrm>
        </p:spPr>
        <p:txBody>
          <a:bodyPr>
            <a:normAutofit fontScale="92500" lnSpcReduction="10000"/>
          </a:bodyPr>
          <a:lstStyle/>
          <a:p>
            <a:pPr marL="0" indent="0" algn="just">
              <a:buNone/>
            </a:pPr>
            <a:r>
              <a:rPr lang="en-US" altLang="zh-CN" sz="2400" dirty="0" smtClean="0">
                <a:latin typeface="Times New Roman" pitchFamily="18" charset="0"/>
                <a:cs typeface="Times New Roman" pitchFamily="18" charset="0"/>
              </a:rPr>
              <a:t>Attitude control subsystem of ETRSS-1 has 6 work modes:</a:t>
            </a:r>
            <a:endParaRPr lang="en-US" altLang="zh-CN" sz="2400" dirty="0">
              <a:latin typeface="Times New Roman" pitchFamily="18" charset="0"/>
              <a:cs typeface="Times New Roman" pitchFamily="18" charset="0"/>
            </a:endParaRPr>
          </a:p>
          <a:p>
            <a:pPr marL="0" indent="0">
              <a:buNone/>
            </a:pPr>
            <a:endParaRPr lang="zh-CN" altLang="en-US" sz="2000" dirty="0">
              <a:latin typeface="Times New Roman" pitchFamily="18" charset="0"/>
              <a:cs typeface="Times New Roman"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789066919"/>
              </p:ext>
            </p:extLst>
          </p:nvPr>
        </p:nvGraphicFramePr>
        <p:xfrm>
          <a:off x="395537" y="1383618"/>
          <a:ext cx="8352925" cy="3444240"/>
        </p:xfrm>
        <a:graphic>
          <a:graphicData uri="http://schemas.openxmlformats.org/drawingml/2006/table">
            <a:tbl>
              <a:tblPr firstRow="1" bandRow="1">
                <a:tableStyleId>{5C22544A-7EE6-4342-B048-85BDC9FD1C3A}</a:tableStyleId>
              </a:tblPr>
              <a:tblGrid>
                <a:gridCol w="562644"/>
                <a:gridCol w="2520280"/>
                <a:gridCol w="1296144"/>
                <a:gridCol w="1152128"/>
                <a:gridCol w="2821729"/>
              </a:tblGrid>
              <a:tr h="274320">
                <a:tc>
                  <a:txBody>
                    <a:bodyPr/>
                    <a:lstStyle/>
                    <a:p>
                      <a:r>
                        <a:rPr lang="en-US" altLang="zh-CN" sz="1400" dirty="0" smtClean="0">
                          <a:latin typeface="Times New Roman" pitchFamily="18" charset="0"/>
                          <a:cs typeface="Times New Roman" pitchFamily="18" charset="0"/>
                        </a:rPr>
                        <a:t>No. </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Work Mode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Sensors</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Actuators</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Application Scenarios</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r>
                        <a:rPr lang="en-US" altLang="zh-CN" sz="1400" dirty="0" smtClean="0">
                          <a:latin typeface="Times New Roman" pitchFamily="18" charset="0"/>
                          <a:cs typeface="Times New Roman" pitchFamily="18" charset="0"/>
                        </a:rPr>
                        <a:t>2</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Global Attitude Acquisition Mode (AAM)</a:t>
                      </a:r>
                    </a:p>
                  </a:txBody>
                  <a:tcPr marT="34290" marB="34290" anchor="ctr" anchorCtr="1"/>
                </a:tc>
                <a:tc>
                  <a:txBody>
                    <a:bodyPr/>
                    <a:lstStyle/>
                    <a:p>
                      <a:pPr algn="ctr"/>
                      <a:r>
                        <a:rPr lang="en-US" altLang="zh-CN" sz="1400" dirty="0" smtClean="0">
                          <a:latin typeface="Times New Roman" pitchFamily="18" charset="0"/>
                          <a:cs typeface="Times New Roman" pitchFamily="18" charset="0"/>
                        </a:rPr>
                        <a:t>FOG,SS,MM,STS</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MW,MT</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Unusual</a:t>
                      </a:r>
                      <a:r>
                        <a:rPr lang="en-US" altLang="zh-CN" sz="1400" baseline="0" dirty="0" smtClean="0">
                          <a:latin typeface="Times New Roman" pitchFamily="18" charset="0"/>
                          <a:cs typeface="Times New Roman" pitchFamily="18" charset="0"/>
                        </a:rPr>
                        <a:t> attitude occurs</a:t>
                      </a:r>
                      <a:r>
                        <a:rPr lang="zh-CN" altLang="en-US" sz="1400" baseline="0" dirty="0" smtClean="0">
                          <a:latin typeface="Times New Roman" pitchFamily="18" charset="0"/>
                          <a:cs typeface="Times New Roman" pitchFamily="18" charset="0"/>
                        </a:rPr>
                        <a:t>、</a:t>
                      </a:r>
                      <a:r>
                        <a:rPr lang="en-US" altLang="zh-CN" sz="1400" baseline="0" dirty="0" smtClean="0">
                          <a:latin typeface="Times New Roman" pitchFamily="18" charset="0"/>
                          <a:cs typeface="Times New Roman" pitchFamily="18" charset="0"/>
                        </a:rPr>
                        <a:t>After the separation</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r>
                        <a:rPr lang="en-US" altLang="zh-CN" sz="1400" dirty="0" smtClean="0">
                          <a:latin typeface="Times New Roman" pitchFamily="18" charset="0"/>
                          <a:cs typeface="Times New Roman" pitchFamily="18" charset="0"/>
                        </a:rPr>
                        <a:t>3</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Sun Pointing</a:t>
                      </a:r>
                      <a:r>
                        <a:rPr lang="en-US" altLang="zh-CN" sz="1400" baseline="0" dirty="0" smtClean="0">
                          <a:latin typeface="Times New Roman" pitchFamily="18" charset="0"/>
                          <a:cs typeface="Times New Roman" pitchFamily="18" charset="0"/>
                        </a:rPr>
                        <a:t> </a:t>
                      </a:r>
                      <a:r>
                        <a:rPr lang="en-US" altLang="zh-CN" sz="1400" dirty="0" smtClean="0">
                          <a:latin typeface="Times New Roman" pitchFamily="18" charset="0"/>
                          <a:cs typeface="Times New Roman" pitchFamily="18" charset="0"/>
                        </a:rPr>
                        <a:t> </a:t>
                      </a:r>
                      <a:r>
                        <a:rPr lang="en-US" altLang="zh-CN" sz="1400" baseline="0" dirty="0" smtClean="0">
                          <a:latin typeface="Times New Roman" pitchFamily="18" charset="0"/>
                          <a:cs typeface="Times New Roman" pitchFamily="18" charset="0"/>
                        </a:rPr>
                        <a:t>Mode (SPM)</a:t>
                      </a: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FOG,SS,MM,STS</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MW,MT</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Sun-orientated operation</a:t>
                      </a:r>
                      <a:endParaRPr lang="zh-CN" altLang="en-US" sz="1400" dirty="0">
                        <a:latin typeface="Times New Roman" pitchFamily="18" charset="0"/>
                        <a:cs typeface="Times New Roman" pitchFamily="18" charset="0"/>
                      </a:endParaRPr>
                    </a:p>
                  </a:txBody>
                  <a:tcPr marT="34290" marB="34290" anchor="ctr" anchorCtr="1"/>
                </a:tc>
              </a:tr>
              <a:tr h="685800">
                <a:tc>
                  <a:txBody>
                    <a:bodyPr/>
                    <a:lstStyle/>
                    <a:p>
                      <a:r>
                        <a:rPr lang="en-US" altLang="zh-CN" sz="1400" dirty="0" smtClean="0">
                          <a:latin typeface="Times New Roman" pitchFamily="18" charset="0"/>
                          <a:cs typeface="Times New Roman" pitchFamily="18" charset="0"/>
                        </a:rPr>
                        <a:t>4</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Maneuver</a:t>
                      </a:r>
                      <a:r>
                        <a:rPr lang="en-US" altLang="zh-CN" sz="1400" baseline="0" dirty="0" smtClean="0">
                          <a:latin typeface="Times New Roman" pitchFamily="18" charset="0"/>
                          <a:cs typeface="Times New Roman" pitchFamily="18" charset="0"/>
                        </a:rPr>
                        <a:t> </a:t>
                      </a:r>
                      <a:r>
                        <a:rPr lang="en-US" altLang="zh-CN" sz="1400" dirty="0" smtClean="0">
                          <a:latin typeface="Times New Roman" pitchFamily="18" charset="0"/>
                          <a:cs typeface="Times New Roman" pitchFamily="18" charset="0"/>
                        </a:rPr>
                        <a:t>Mode</a:t>
                      </a:r>
                    </a:p>
                    <a:p>
                      <a:pPr algn="ctr"/>
                      <a:r>
                        <a:rPr lang="en-US" altLang="zh-CN" sz="1400" dirty="0" smtClean="0">
                          <a:latin typeface="Times New Roman" pitchFamily="18" charset="0"/>
                          <a:cs typeface="Times New Roman" pitchFamily="18" charset="0"/>
                        </a:rPr>
                        <a:t>(MAM)</a:t>
                      </a: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FOG,MM,</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STS</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MW,MT</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Between</a:t>
                      </a:r>
                      <a:r>
                        <a:rPr lang="en-US" altLang="zh-CN" sz="1400" baseline="0" dirty="0" smtClean="0">
                          <a:latin typeface="Times New Roman" pitchFamily="18" charset="0"/>
                          <a:cs typeface="Times New Roman" pitchFamily="18" charset="0"/>
                        </a:rPr>
                        <a:t> the imaging mission and no imaging mission</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r>
                        <a:rPr lang="en-US" altLang="zh-CN" sz="1400" dirty="0" smtClean="0">
                          <a:latin typeface="Times New Roman" pitchFamily="18" charset="0"/>
                          <a:cs typeface="Times New Roman" pitchFamily="18" charset="0"/>
                        </a:rPr>
                        <a:t>5</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Earth Pointing</a:t>
                      </a:r>
                      <a:r>
                        <a:rPr lang="en-US" altLang="zh-CN" sz="1400" baseline="0" dirty="0" smtClean="0">
                          <a:latin typeface="Times New Roman" pitchFamily="18" charset="0"/>
                          <a:cs typeface="Times New Roman" pitchFamily="18" charset="0"/>
                        </a:rPr>
                        <a:t> </a:t>
                      </a:r>
                      <a:r>
                        <a:rPr lang="en-US" altLang="zh-CN" sz="1400" dirty="0" smtClean="0">
                          <a:latin typeface="Times New Roman" pitchFamily="18" charset="0"/>
                          <a:cs typeface="Times New Roman" pitchFamily="18" charset="0"/>
                        </a:rPr>
                        <a:t>Mode (EPM)</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FOG,SS,MM,STS</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MW,MT</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Earth</a:t>
                      </a:r>
                      <a:r>
                        <a:rPr lang="en-US" altLang="zh-CN" sz="1400" baseline="0" dirty="0" smtClean="0">
                          <a:latin typeface="Times New Roman" pitchFamily="18" charset="0"/>
                          <a:cs typeface="Times New Roman" pitchFamily="18" charset="0"/>
                        </a:rPr>
                        <a:t>-orientated operation</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r>
                        <a:rPr lang="en-US" altLang="zh-CN" sz="1400" dirty="0" smtClean="0">
                          <a:latin typeface="Times New Roman" pitchFamily="18" charset="0"/>
                          <a:cs typeface="Times New Roman" pitchFamily="18" charset="0"/>
                        </a:rPr>
                        <a:t>6</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Attitude Maintaining Mode(AMM)</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FOG,SS,MM,STS</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MW,MT</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After</a:t>
                      </a:r>
                      <a:r>
                        <a:rPr lang="en-US" altLang="zh-CN" sz="1400" baseline="0" dirty="0" smtClean="0">
                          <a:latin typeface="Times New Roman" pitchFamily="18" charset="0"/>
                          <a:cs typeface="Times New Roman" pitchFamily="18" charset="0"/>
                        </a:rPr>
                        <a:t> roll maneuver and yaw 90</a:t>
                      </a:r>
                      <a:r>
                        <a:rPr lang="en-US" altLang="zh-CN" sz="1400" dirty="0" smtClean="0">
                          <a:latin typeface="Times New Roman" pitchFamily="18" charset="0"/>
                          <a:cs typeface="Times New Roman" pitchFamily="18" charset="0"/>
                        </a:rPr>
                        <a:t>˚ calibration</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r>
                        <a:rPr lang="en-US" altLang="zh-CN" sz="1400" dirty="0" smtClean="0">
                          <a:latin typeface="Times New Roman" pitchFamily="18" charset="0"/>
                          <a:cs typeface="Times New Roman" pitchFamily="18" charset="0"/>
                        </a:rPr>
                        <a:t>12</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Stop Control</a:t>
                      </a:r>
                      <a:r>
                        <a:rPr lang="en-US" altLang="zh-CN" sz="1400" baseline="0" dirty="0" smtClean="0">
                          <a:latin typeface="Times New Roman" pitchFamily="18" charset="0"/>
                          <a:cs typeface="Times New Roman" pitchFamily="18" charset="0"/>
                        </a:rPr>
                        <a:t> Mode(SCM)</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FOG,SS,MM,STS</a:t>
                      </a:r>
                      <a:endParaRPr lang="zh-CN" altLang="en-US" sz="1400" dirty="0" smtClean="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None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Operation</a:t>
                      </a:r>
                      <a:r>
                        <a:rPr lang="en-US" altLang="zh-CN" sz="1400" baseline="0" dirty="0" smtClean="0">
                          <a:latin typeface="Times New Roman" pitchFamily="18" charset="0"/>
                          <a:cs typeface="Times New Roman" pitchFamily="18" charset="0"/>
                        </a:rPr>
                        <a:t> failure</a:t>
                      </a:r>
                      <a:endParaRPr lang="zh-CN" altLang="en-US" sz="1400" dirty="0">
                        <a:latin typeface="Times New Roman" pitchFamily="18" charset="0"/>
                        <a:cs typeface="Times New Roman" pitchFamily="18" charset="0"/>
                      </a:endParaRPr>
                    </a:p>
                  </a:txBody>
                  <a:tcPr marT="34290" marB="34290" anchor="ctr" anchorCtr="1"/>
                </a:tc>
              </a:tr>
            </a:tbl>
          </a:graphicData>
        </a:graphic>
      </p:graphicFrame>
      <p:sp>
        <p:nvSpPr>
          <p:cNvPr id="9"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Work Modes</a:t>
            </a:r>
            <a:endParaRPr lang="en-US" altLang="zh-CN" sz="28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0881349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107504" y="897564"/>
            <a:ext cx="8928992" cy="540060"/>
          </a:xfrm>
        </p:spPr>
        <p:txBody>
          <a:bodyPr>
            <a:normAutofit fontScale="92500" lnSpcReduction="20000"/>
          </a:bodyPr>
          <a:lstStyle/>
          <a:p>
            <a:pPr marL="0" indent="0" algn="just">
              <a:buNone/>
            </a:pPr>
            <a:r>
              <a:rPr lang="en-US" altLang="zh-CN" sz="2400" dirty="0" smtClean="0">
                <a:latin typeface="Times New Roman" pitchFamily="18" charset="0"/>
                <a:cs typeface="Times New Roman" pitchFamily="18" charset="0"/>
              </a:rPr>
              <a:t>Switch between work modes:</a:t>
            </a:r>
            <a:endParaRPr lang="en-US" altLang="zh-CN" sz="2400" dirty="0">
              <a:latin typeface="Times New Roman" pitchFamily="18" charset="0"/>
              <a:cs typeface="Times New Roman" pitchFamily="18" charset="0"/>
            </a:endParaRPr>
          </a:p>
          <a:p>
            <a:pPr marL="0" indent="0">
              <a:buNone/>
            </a:pPr>
            <a:endParaRPr lang="zh-CN" altLang="en-US" sz="2000" dirty="0">
              <a:latin typeface="Times New Roman" pitchFamily="18" charset="0"/>
              <a:cs typeface="Times New Roman" pitchFamily="18" charset="0"/>
            </a:endParaRPr>
          </a:p>
        </p:txBody>
      </p:sp>
      <p:sp>
        <p:nvSpPr>
          <p:cNvPr id="8" name="椭圆 7"/>
          <p:cNvSpPr/>
          <p:nvPr/>
        </p:nvSpPr>
        <p:spPr>
          <a:xfrm>
            <a:off x="3696942" y="1659936"/>
            <a:ext cx="2254173" cy="756084"/>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smtClean="0"/>
              <a:t>AAM</a:t>
            </a:r>
          </a:p>
          <a:p>
            <a:pPr algn="ctr"/>
            <a:r>
              <a:rPr lang="en-US" altLang="zh-CN" dirty="0" smtClean="0"/>
              <a:t>Workmode=2</a:t>
            </a:r>
            <a:endParaRPr lang="zh-CN" altLang="en-US" dirty="0"/>
          </a:p>
        </p:txBody>
      </p:sp>
      <p:sp>
        <p:nvSpPr>
          <p:cNvPr id="9" name="椭圆 8"/>
          <p:cNvSpPr/>
          <p:nvPr/>
        </p:nvSpPr>
        <p:spPr>
          <a:xfrm>
            <a:off x="179512" y="1437624"/>
            <a:ext cx="2016224" cy="600354"/>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smtClean="0"/>
              <a:t>Initialization</a:t>
            </a:r>
            <a:endParaRPr lang="zh-CN" altLang="en-US" dirty="0"/>
          </a:p>
        </p:txBody>
      </p:sp>
      <p:sp>
        <p:nvSpPr>
          <p:cNvPr id="15" name="椭圆 14"/>
          <p:cNvSpPr/>
          <p:nvPr/>
        </p:nvSpPr>
        <p:spPr>
          <a:xfrm>
            <a:off x="3659409" y="2953215"/>
            <a:ext cx="2254173" cy="756084"/>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smtClean="0"/>
              <a:t>SPM</a:t>
            </a:r>
          </a:p>
          <a:p>
            <a:pPr algn="ctr"/>
            <a:r>
              <a:rPr lang="en-US" altLang="zh-CN" dirty="0" smtClean="0"/>
              <a:t>Workmode=3</a:t>
            </a:r>
            <a:endParaRPr lang="zh-CN" altLang="en-US" dirty="0"/>
          </a:p>
        </p:txBody>
      </p:sp>
      <p:sp>
        <p:nvSpPr>
          <p:cNvPr id="16" name="椭圆 15"/>
          <p:cNvSpPr/>
          <p:nvPr/>
        </p:nvSpPr>
        <p:spPr>
          <a:xfrm>
            <a:off x="899593" y="3204958"/>
            <a:ext cx="2254173" cy="756084"/>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smtClean="0"/>
              <a:t>EPM</a:t>
            </a:r>
          </a:p>
          <a:p>
            <a:pPr algn="ctr"/>
            <a:r>
              <a:rPr lang="en-US" altLang="zh-CN" dirty="0" smtClean="0"/>
              <a:t>Workmode=5</a:t>
            </a:r>
            <a:endParaRPr lang="zh-CN" altLang="en-US" dirty="0"/>
          </a:p>
        </p:txBody>
      </p:sp>
      <p:sp>
        <p:nvSpPr>
          <p:cNvPr id="17" name="椭圆 16"/>
          <p:cNvSpPr/>
          <p:nvPr/>
        </p:nvSpPr>
        <p:spPr>
          <a:xfrm>
            <a:off x="6588225" y="1204029"/>
            <a:ext cx="2254173" cy="756084"/>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smtClean="0"/>
              <a:t>SCM</a:t>
            </a:r>
          </a:p>
          <a:p>
            <a:pPr algn="ctr"/>
            <a:r>
              <a:rPr lang="en-US" altLang="zh-CN" dirty="0" smtClean="0"/>
              <a:t>Workmode=12</a:t>
            </a:r>
            <a:endParaRPr lang="zh-CN" altLang="en-US" dirty="0"/>
          </a:p>
        </p:txBody>
      </p:sp>
      <p:sp>
        <p:nvSpPr>
          <p:cNvPr id="18" name="椭圆 17"/>
          <p:cNvSpPr/>
          <p:nvPr/>
        </p:nvSpPr>
        <p:spPr>
          <a:xfrm>
            <a:off x="6614182" y="2575173"/>
            <a:ext cx="2254173" cy="756084"/>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smtClean="0"/>
              <a:t>AMM</a:t>
            </a:r>
          </a:p>
          <a:p>
            <a:pPr algn="ctr"/>
            <a:r>
              <a:rPr lang="en-US" altLang="zh-CN" dirty="0" smtClean="0"/>
              <a:t>Workmode=6</a:t>
            </a:r>
            <a:endParaRPr lang="zh-CN" altLang="en-US" dirty="0"/>
          </a:p>
        </p:txBody>
      </p:sp>
      <p:sp>
        <p:nvSpPr>
          <p:cNvPr id="19" name="椭圆 18"/>
          <p:cNvSpPr/>
          <p:nvPr/>
        </p:nvSpPr>
        <p:spPr>
          <a:xfrm>
            <a:off x="5004049" y="3961042"/>
            <a:ext cx="2254173" cy="756084"/>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smtClean="0"/>
              <a:t>MAM</a:t>
            </a:r>
          </a:p>
          <a:p>
            <a:pPr algn="ctr"/>
            <a:r>
              <a:rPr lang="en-US" altLang="zh-CN" dirty="0" smtClean="0"/>
              <a:t>Workmode=4</a:t>
            </a:r>
            <a:endParaRPr lang="zh-CN" altLang="en-US" dirty="0"/>
          </a:p>
        </p:txBody>
      </p:sp>
      <p:cxnSp>
        <p:nvCxnSpPr>
          <p:cNvPr id="42" name="直接箭头连接符 41"/>
          <p:cNvCxnSpPr>
            <a:stCxn id="9" idx="6"/>
          </p:cNvCxnSpPr>
          <p:nvPr/>
        </p:nvCxnSpPr>
        <p:spPr>
          <a:xfrm>
            <a:off x="2195736" y="1737802"/>
            <a:ext cx="1728192" cy="7504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4" name="直接箭头连接符 43"/>
          <p:cNvCxnSpPr>
            <a:stCxn id="8" idx="7"/>
            <a:endCxn id="17" idx="2"/>
          </p:cNvCxnSpPr>
          <p:nvPr/>
        </p:nvCxnSpPr>
        <p:spPr>
          <a:xfrm flipV="1">
            <a:off x="5620998" y="1582072"/>
            <a:ext cx="967226" cy="18859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6" name="直接箭头连接符 45"/>
          <p:cNvCxnSpPr>
            <a:endCxn id="8" idx="6"/>
          </p:cNvCxnSpPr>
          <p:nvPr/>
        </p:nvCxnSpPr>
        <p:spPr>
          <a:xfrm flipH="1">
            <a:off x="5951114" y="1770663"/>
            <a:ext cx="853134" cy="26731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8" name="直接箭头连接符 47"/>
          <p:cNvCxnSpPr>
            <a:stCxn id="16" idx="7"/>
          </p:cNvCxnSpPr>
          <p:nvPr/>
        </p:nvCxnSpPr>
        <p:spPr>
          <a:xfrm flipV="1">
            <a:off x="2823650" y="2301721"/>
            <a:ext cx="1100279" cy="101396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1" name="直接箭头连接符 50"/>
          <p:cNvCxnSpPr/>
          <p:nvPr/>
        </p:nvCxnSpPr>
        <p:spPr>
          <a:xfrm flipH="1">
            <a:off x="2411763" y="2193708"/>
            <a:ext cx="1285179" cy="10112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1" name="直接箭头连接符 60"/>
          <p:cNvCxnSpPr/>
          <p:nvPr/>
        </p:nvCxnSpPr>
        <p:spPr>
          <a:xfrm>
            <a:off x="4644008" y="2416020"/>
            <a:ext cx="0" cy="53719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3" name="直接箭头连接符 62"/>
          <p:cNvCxnSpPr>
            <a:endCxn id="8" idx="4"/>
          </p:cNvCxnSpPr>
          <p:nvPr/>
        </p:nvCxnSpPr>
        <p:spPr>
          <a:xfrm flipV="1">
            <a:off x="4824028" y="2416020"/>
            <a:ext cx="0" cy="53719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6" name="直接箭头连接符 65"/>
          <p:cNvCxnSpPr/>
          <p:nvPr/>
        </p:nvCxnSpPr>
        <p:spPr>
          <a:xfrm>
            <a:off x="5292080" y="3709299"/>
            <a:ext cx="216024" cy="25174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8" name="直接箭头连接符 67"/>
          <p:cNvCxnSpPr>
            <a:endCxn id="15" idx="5"/>
          </p:cNvCxnSpPr>
          <p:nvPr/>
        </p:nvCxnSpPr>
        <p:spPr>
          <a:xfrm flipH="1" flipV="1">
            <a:off x="5583466" y="3598573"/>
            <a:ext cx="212671" cy="36246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0" name="直接箭头连接符 69"/>
          <p:cNvCxnSpPr/>
          <p:nvPr/>
        </p:nvCxnSpPr>
        <p:spPr>
          <a:xfrm flipH="1" flipV="1">
            <a:off x="5796136" y="2301721"/>
            <a:ext cx="1008112" cy="3976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2" name="直接箭头连接符 71"/>
          <p:cNvCxnSpPr/>
          <p:nvPr/>
        </p:nvCxnSpPr>
        <p:spPr>
          <a:xfrm flipV="1">
            <a:off x="6588225" y="3315685"/>
            <a:ext cx="669997" cy="64535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4" name="直接箭头连接符 73"/>
          <p:cNvCxnSpPr>
            <a:stCxn id="18" idx="4"/>
          </p:cNvCxnSpPr>
          <p:nvPr/>
        </p:nvCxnSpPr>
        <p:spPr>
          <a:xfrm flipH="1">
            <a:off x="7092280" y="3331257"/>
            <a:ext cx="648988" cy="80666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7" name="直接箭头连接符 76"/>
          <p:cNvCxnSpPr>
            <a:endCxn id="19" idx="2"/>
          </p:cNvCxnSpPr>
          <p:nvPr/>
        </p:nvCxnSpPr>
        <p:spPr>
          <a:xfrm>
            <a:off x="2195736" y="3961042"/>
            <a:ext cx="2808312" cy="3780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9" name="直接箭头连接符 78"/>
          <p:cNvCxnSpPr>
            <a:stCxn id="19" idx="3"/>
          </p:cNvCxnSpPr>
          <p:nvPr/>
        </p:nvCxnSpPr>
        <p:spPr>
          <a:xfrm flipH="1" flipV="1">
            <a:off x="1547664" y="3961043"/>
            <a:ext cx="3786500" cy="64535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85" name="直接箭头连接符 84"/>
          <p:cNvCxnSpPr/>
          <p:nvPr/>
        </p:nvCxnSpPr>
        <p:spPr>
          <a:xfrm flipH="1" flipV="1">
            <a:off x="5508105" y="2301721"/>
            <a:ext cx="869577" cy="165932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86" name="矩形 85"/>
          <p:cNvSpPr/>
          <p:nvPr/>
        </p:nvSpPr>
        <p:spPr>
          <a:xfrm>
            <a:off x="2195736" y="1843396"/>
            <a:ext cx="1372592" cy="35031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SEPARATION</a:t>
            </a:r>
            <a:endParaRPr lang="zh-CN" altLang="en-US" dirty="0"/>
          </a:p>
        </p:txBody>
      </p:sp>
      <p:sp>
        <p:nvSpPr>
          <p:cNvPr id="30"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Work Modes</a:t>
            </a:r>
            <a:endParaRPr lang="en-US" altLang="zh-CN" sz="28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83372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897564"/>
            <a:ext cx="8568952" cy="1026114"/>
          </a:xfrm>
        </p:spPr>
        <p:txBody>
          <a:bodyPr>
            <a:normAutofit fontScale="70000" lnSpcReduction="20000"/>
          </a:bodyPr>
          <a:lstStyle/>
          <a:p>
            <a:pPr marL="0" indent="0" algn="ctr">
              <a:buNone/>
            </a:pPr>
            <a:r>
              <a:rPr lang="en-US" altLang="zh-CN" sz="2000" dirty="0" smtClean="0">
                <a:latin typeface="Times New Roman" pitchFamily="18" charset="0"/>
                <a:cs typeface="Times New Roman" pitchFamily="18" charset="0"/>
              </a:rPr>
              <a:t>Global Attitude </a:t>
            </a:r>
            <a:r>
              <a:rPr lang="en-US" altLang="zh-CN" sz="2000" dirty="0">
                <a:latin typeface="Times New Roman" pitchFamily="18" charset="0"/>
                <a:cs typeface="Times New Roman" pitchFamily="18" charset="0"/>
              </a:rPr>
              <a:t>Acquisition </a:t>
            </a:r>
            <a:r>
              <a:rPr lang="en-US" altLang="zh-CN" sz="2000" dirty="0" smtClean="0">
                <a:latin typeface="Times New Roman" pitchFamily="18" charset="0"/>
                <a:cs typeface="Times New Roman" pitchFamily="18" charset="0"/>
              </a:rPr>
              <a:t>Mode</a:t>
            </a:r>
          </a:p>
          <a:p>
            <a:pPr marL="0" indent="0" algn="just">
              <a:buNone/>
            </a:pPr>
            <a:r>
              <a:rPr lang="en-US" altLang="zh-CN" sz="2000" dirty="0" smtClean="0">
                <a:latin typeface="Times New Roman" pitchFamily="18" charset="0"/>
                <a:cs typeface="Times New Roman" pitchFamily="18" charset="0"/>
              </a:rPr>
              <a:t>After the separation or satellite operates with an unusual attitude, satellite will work into global attitude acquisition mode, which includes 5 sub-modes. </a:t>
            </a:r>
            <a:endParaRPr lang="zh-CN" altLang="en-US" sz="20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3598591777"/>
              </p:ext>
            </p:extLst>
          </p:nvPr>
        </p:nvGraphicFramePr>
        <p:xfrm>
          <a:off x="323528" y="1923678"/>
          <a:ext cx="8640960" cy="2758440"/>
        </p:xfrm>
        <a:graphic>
          <a:graphicData uri="http://schemas.openxmlformats.org/drawingml/2006/table">
            <a:tbl>
              <a:tblPr firstRow="1" bandRow="1">
                <a:tableStyleId>{5C22544A-7EE6-4342-B048-85BDC9FD1C3A}</a:tableStyleId>
              </a:tblPr>
              <a:tblGrid>
                <a:gridCol w="2088232"/>
                <a:gridCol w="6552728"/>
              </a:tblGrid>
              <a:tr h="278130">
                <a:tc>
                  <a:txBody>
                    <a:bodyPr/>
                    <a:lstStyle/>
                    <a:p>
                      <a:pPr algn="ctr"/>
                      <a:r>
                        <a:rPr lang="en-US" altLang="zh-CN" sz="1400" dirty="0" smtClean="0">
                          <a:latin typeface="Times New Roman" pitchFamily="18" charset="0"/>
                          <a:cs typeface="Times New Roman" pitchFamily="18" charset="0"/>
                        </a:rPr>
                        <a:t>Sub-mode</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Function</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pPr algn="ctr"/>
                      <a:r>
                        <a:rPr lang="en-US" altLang="zh-CN" sz="1400" dirty="0" smtClean="0">
                          <a:latin typeface="Times New Roman" pitchFamily="18" charset="0"/>
                          <a:cs typeface="Times New Roman" pitchFamily="18" charset="0"/>
                        </a:rPr>
                        <a:t>Angular rate damping </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Decrease</a:t>
                      </a:r>
                      <a:r>
                        <a:rPr lang="en-US" altLang="zh-CN" sz="1400" baseline="0" dirty="0" smtClean="0">
                          <a:latin typeface="Times New Roman" pitchFamily="18" charset="0"/>
                          <a:cs typeface="Times New Roman" pitchFamily="18" charset="0"/>
                        </a:rPr>
                        <a:t> the angular velocity of satellite to a required range by MW damping or magnetic damping.</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pPr marL="0" algn="ctr" defTabSz="914400" rtl="0" eaLnBrk="1" latinLnBrk="0" hangingPunct="1"/>
                      <a:r>
                        <a:rPr lang="en-US" altLang="zh-CN" sz="1400" kern="1200" dirty="0" smtClean="0">
                          <a:solidFill>
                            <a:schemeClr val="dk1"/>
                          </a:solidFill>
                          <a:latin typeface="Times New Roman" pitchFamily="18" charset="0"/>
                          <a:ea typeface="+mn-ea"/>
                          <a:cs typeface="Times New Roman" pitchFamily="18" charset="0"/>
                        </a:rPr>
                        <a:t>Sun acquiring</a:t>
                      </a:r>
                      <a:endParaRPr lang="zh-CN" altLang="en-US" sz="1400" kern="1200" dirty="0">
                        <a:solidFill>
                          <a:schemeClr val="dk1"/>
                        </a:solidFill>
                        <a:latin typeface="Times New Roman" pitchFamily="18" charset="0"/>
                        <a:ea typeface="+mn-ea"/>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After completing the angular rate damping,</a:t>
                      </a:r>
                      <a:r>
                        <a:rPr lang="en-US" altLang="zh-CN" sz="1400" baseline="0" dirty="0" smtClean="0">
                          <a:latin typeface="Times New Roman" pitchFamily="18" charset="0"/>
                          <a:cs typeface="Times New Roman" pitchFamily="18" charset="0"/>
                        </a:rPr>
                        <a:t>  the satellite is controlled by MW for capturing the sun.</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pPr algn="ctr"/>
                      <a:r>
                        <a:rPr lang="en-US" altLang="zh-CN" sz="1400" dirty="0" smtClean="0">
                          <a:latin typeface="Times New Roman" pitchFamily="18" charset="0"/>
                          <a:cs typeface="Times New Roman" pitchFamily="18" charset="0"/>
                        </a:rPr>
                        <a:t>Sun orientation</a:t>
                      </a:r>
                      <a:endParaRPr lang="zh-CN" altLang="en-US" sz="1400" dirty="0">
                        <a:latin typeface="Times New Roman" pitchFamily="18" charset="0"/>
                        <a:cs typeface="Times New Roman" pitchFamily="18" charset="0"/>
                      </a:endParaRPr>
                    </a:p>
                  </a:txBody>
                  <a:tcPr marT="34290" marB="34290" anchor="ctr" anchorCtr="1"/>
                </a:tc>
                <a:tc>
                  <a:txBody>
                    <a:bodyPr/>
                    <a:lstStyle/>
                    <a:p>
                      <a:pPr algn="ctr"/>
                      <a:r>
                        <a:rPr lang="en-US" altLang="zh-CN" sz="1400" dirty="0" smtClean="0">
                          <a:latin typeface="Times New Roman" pitchFamily="18" charset="0"/>
                          <a:cs typeface="Times New Roman" pitchFamily="18" charset="0"/>
                        </a:rPr>
                        <a:t>The –Z axis</a:t>
                      </a:r>
                      <a:r>
                        <a:rPr lang="en-US" altLang="zh-CN" sz="1400" baseline="0" dirty="0" smtClean="0">
                          <a:latin typeface="Times New Roman" pitchFamily="18" charset="0"/>
                          <a:cs typeface="Times New Roman" pitchFamily="18" charset="0"/>
                        </a:rPr>
                        <a:t> of satellite is controlled  to implement the Sun- orientation by utilizing the measurements from SS.</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pPr algn="ctr"/>
                      <a:r>
                        <a:rPr lang="en-US" altLang="zh-CN" sz="1400" dirty="0" smtClean="0">
                          <a:latin typeface="Times New Roman" pitchFamily="18" charset="0"/>
                          <a:cs typeface="Times New Roman" pitchFamily="18" charset="0"/>
                        </a:rPr>
                        <a:t>Attitude</a:t>
                      </a:r>
                      <a:r>
                        <a:rPr lang="en-US" altLang="zh-CN" sz="1400" baseline="0" dirty="0" smtClean="0">
                          <a:latin typeface="Times New Roman" pitchFamily="18" charset="0"/>
                          <a:cs typeface="Times New Roman" pitchFamily="18" charset="0"/>
                        </a:rPr>
                        <a:t> A</a:t>
                      </a:r>
                      <a:r>
                        <a:rPr lang="en-US" altLang="zh-CN" sz="1400" dirty="0" smtClean="0">
                          <a:latin typeface="Times New Roman" pitchFamily="18" charset="0"/>
                          <a:cs typeface="Times New Roman" pitchFamily="18" charset="0"/>
                        </a:rPr>
                        <a:t>djustment in Sun-pointing</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aseline="0" dirty="0" smtClean="0">
                          <a:latin typeface="Times New Roman" pitchFamily="18" charset="0"/>
                          <a:cs typeface="Times New Roman" pitchFamily="18" charset="0"/>
                        </a:rPr>
                        <a:t>Intermediate state for the satellite turns to SPM by remote instructions from the ground.</a:t>
                      </a:r>
                      <a:endParaRPr lang="zh-CN" altLang="en-US" sz="1400" dirty="0">
                        <a:latin typeface="Times New Roman" pitchFamily="18" charset="0"/>
                        <a:cs typeface="Times New Roman" pitchFamily="18" charset="0"/>
                      </a:endParaRPr>
                    </a:p>
                  </a:txBody>
                  <a:tcPr marT="34290" marB="34290" anchor="ctr" anchorCtr="1"/>
                </a:tc>
              </a:tr>
              <a:tr h="480060">
                <a:tc>
                  <a:txBody>
                    <a:bodyPr/>
                    <a:lstStyle/>
                    <a:p>
                      <a:pPr algn="ctr"/>
                      <a:r>
                        <a:rPr lang="en-US" altLang="zh-CN" sz="1400" dirty="0" smtClean="0">
                          <a:latin typeface="Times New Roman" pitchFamily="18" charset="0"/>
                          <a:cs typeface="Times New Roman" pitchFamily="18" charset="0"/>
                        </a:rPr>
                        <a:t>Attitude</a:t>
                      </a:r>
                      <a:r>
                        <a:rPr lang="en-US" altLang="zh-CN" sz="1400" baseline="0" dirty="0" smtClean="0">
                          <a:latin typeface="Times New Roman" pitchFamily="18" charset="0"/>
                          <a:cs typeface="Times New Roman" pitchFamily="18" charset="0"/>
                        </a:rPr>
                        <a:t> A</a:t>
                      </a:r>
                      <a:r>
                        <a:rPr lang="en-US" altLang="zh-CN" sz="1400" dirty="0" smtClean="0">
                          <a:latin typeface="Times New Roman" pitchFamily="18" charset="0"/>
                          <a:cs typeface="Times New Roman" pitchFamily="18" charset="0"/>
                        </a:rPr>
                        <a:t>djustment in Earth-pointing</a:t>
                      </a:r>
                      <a:endParaRPr lang="zh-CN" altLang="en-US" sz="1400" dirty="0">
                        <a:latin typeface="Times New Roman" pitchFamily="18" charset="0"/>
                        <a:cs typeface="Times New Roman" pitchFamily="18" charset="0"/>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aseline="0" dirty="0" smtClean="0">
                          <a:latin typeface="Times New Roman" pitchFamily="18" charset="0"/>
                          <a:cs typeface="Times New Roman" pitchFamily="18" charset="0"/>
                        </a:rPr>
                        <a:t>Intermediate state for the satellite turns to EPM by remote instructions from the ground.</a:t>
                      </a:r>
                      <a:endParaRPr lang="zh-CN" altLang="en-US" sz="1400" dirty="0" smtClean="0">
                        <a:latin typeface="Times New Roman" pitchFamily="18" charset="0"/>
                        <a:cs typeface="Times New Roman" pitchFamily="18" charset="0"/>
                      </a:endParaRPr>
                    </a:p>
                  </a:txBody>
                  <a:tcPr marT="34290" marB="34290" anchor="ctr" anchorCtr="1"/>
                </a:tc>
              </a:tr>
            </a:tbl>
          </a:graphicData>
        </a:graphic>
      </p:graphicFrame>
      <p:sp>
        <p:nvSpPr>
          <p:cNvPr id="8"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Work Modes</a:t>
            </a:r>
            <a:endParaRPr lang="en-US" altLang="zh-CN" sz="28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9218633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897564"/>
            <a:ext cx="8568952" cy="3780420"/>
          </a:xfrm>
        </p:spPr>
        <p:txBody>
          <a:bodyPr>
            <a:normAutofit fontScale="77500" lnSpcReduction="20000"/>
          </a:bodyPr>
          <a:lstStyle/>
          <a:p>
            <a:pPr marL="0" indent="0" algn="ctr">
              <a:buNone/>
            </a:pPr>
            <a:r>
              <a:rPr lang="en-US" altLang="zh-CN" sz="2000" dirty="0" smtClean="0">
                <a:latin typeface="Times New Roman" pitchFamily="18" charset="0"/>
                <a:cs typeface="Times New Roman" pitchFamily="18" charset="0"/>
              </a:rPr>
              <a:t>Coarse Sun Pointing Mode</a:t>
            </a:r>
          </a:p>
          <a:p>
            <a:pPr marL="0" indent="0" algn="just">
              <a:buNone/>
            </a:pPr>
            <a:r>
              <a:rPr lang="en-US" altLang="zh-CN" sz="2000" dirty="0" smtClean="0">
                <a:latin typeface="Times New Roman" pitchFamily="18" charset="0"/>
                <a:cs typeface="Times New Roman" pitchFamily="18" charset="0"/>
              </a:rPr>
              <a:t>SPM is the normal operation mode for the satellite. The attitude determination scheme of the mode is “FOG with STS” or “FOG with MM” . Attitude of the satellite is controlled by MW. And the redundant angular momentum is unloaded by the MT.</a:t>
            </a:r>
          </a:p>
          <a:p>
            <a:pPr marL="0" indent="0" algn="ctr">
              <a:buNone/>
            </a:pPr>
            <a:r>
              <a:rPr lang="en-US" altLang="zh-CN" sz="2000" dirty="0" smtClean="0">
                <a:latin typeface="Times New Roman" pitchFamily="18" charset="0"/>
                <a:cs typeface="Times New Roman" pitchFamily="18" charset="0"/>
              </a:rPr>
              <a:t>Maneuver Mode </a:t>
            </a:r>
          </a:p>
          <a:p>
            <a:pPr marL="0" indent="0" algn="just">
              <a:buNone/>
            </a:pPr>
            <a:r>
              <a:rPr lang="en-US" altLang="zh-CN" sz="2000" dirty="0" smtClean="0">
                <a:latin typeface="Times New Roman" pitchFamily="18" charset="0"/>
                <a:cs typeface="Times New Roman" pitchFamily="18" charset="0"/>
              </a:rPr>
              <a:t>An interim mode. Utilize estimation of FOG to implement attitude determination and MW to complete attitude maneuver.</a:t>
            </a:r>
          </a:p>
          <a:p>
            <a:pPr marL="0" indent="0" algn="ctr">
              <a:buNone/>
            </a:pPr>
            <a:r>
              <a:rPr lang="en-US" altLang="zh-CN" sz="2000" dirty="0" smtClean="0">
                <a:latin typeface="Times New Roman" pitchFamily="18" charset="0"/>
                <a:cs typeface="Times New Roman" pitchFamily="18" charset="0"/>
              </a:rPr>
              <a:t>Earth Pointing Mode</a:t>
            </a:r>
          </a:p>
          <a:p>
            <a:pPr marL="0" indent="0" algn="just">
              <a:buNone/>
            </a:pPr>
            <a:r>
              <a:rPr lang="en-US" altLang="zh-CN" sz="2000" dirty="0" smtClean="0">
                <a:latin typeface="Times New Roman" pitchFamily="18" charset="0"/>
                <a:cs typeface="Times New Roman" pitchFamily="18" charset="0"/>
              </a:rPr>
              <a:t>The satellite works in the three-axis zero-attitude earth-orientation operatio</a:t>
            </a:r>
            <a:r>
              <a:rPr lang="en-US" altLang="zh-CN" sz="2000" dirty="0">
                <a:latin typeface="Times New Roman" pitchFamily="18" charset="0"/>
                <a:cs typeface="Times New Roman" pitchFamily="18" charset="0"/>
              </a:rPr>
              <a:t>n</a:t>
            </a:r>
            <a:r>
              <a:rPr lang="en-US" altLang="zh-CN" sz="2000" dirty="0" smtClean="0">
                <a:latin typeface="Times New Roman" pitchFamily="18" charset="0"/>
                <a:cs typeface="Times New Roman" pitchFamily="18" charset="0"/>
              </a:rPr>
              <a:t>,</a:t>
            </a:r>
            <a:r>
              <a:rPr lang="en-US" altLang="zh-CN" sz="2000" dirty="0">
                <a:latin typeface="Times New Roman" pitchFamily="18" charset="0"/>
                <a:cs typeface="Times New Roman" pitchFamily="18" charset="0"/>
              </a:rPr>
              <a:t> The attitude determination scheme of the mode is “FOG with STS” or “FOG with MM” . Attitude of the satellite is controlled by MW. And the redundant angular momentum is unloaded by the MT.</a:t>
            </a:r>
            <a:r>
              <a:rPr lang="en-US" altLang="zh-CN" sz="2000" dirty="0" smtClean="0">
                <a:latin typeface="Times New Roman" pitchFamily="18" charset="0"/>
                <a:cs typeface="Times New Roman" pitchFamily="18" charset="0"/>
              </a:rPr>
              <a:t>   </a:t>
            </a:r>
            <a:endParaRPr lang="zh-CN" altLang="en-US" sz="20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Work Modes</a:t>
            </a:r>
            <a:endParaRPr lang="en-US" altLang="zh-CN" sz="28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831947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897564"/>
            <a:ext cx="8568952" cy="3780420"/>
          </a:xfrm>
        </p:spPr>
        <p:txBody>
          <a:bodyPr>
            <a:normAutofit fontScale="92500" lnSpcReduction="10000"/>
          </a:bodyPr>
          <a:lstStyle/>
          <a:p>
            <a:pPr marL="0" indent="0" algn="ctr">
              <a:buNone/>
            </a:pPr>
            <a:r>
              <a:rPr lang="en-US" altLang="zh-CN" sz="2000" dirty="0" smtClean="0">
                <a:latin typeface="Times New Roman" pitchFamily="18" charset="0"/>
                <a:cs typeface="Times New Roman" pitchFamily="18" charset="0"/>
              </a:rPr>
              <a:t>Attitude Maintaining Mode</a:t>
            </a:r>
          </a:p>
          <a:p>
            <a:pPr marL="0" indent="0" algn="just">
              <a:buNone/>
            </a:pPr>
            <a:r>
              <a:rPr lang="en-US" altLang="zh-CN" sz="2000" dirty="0" smtClean="0">
                <a:latin typeface="Times New Roman" pitchFamily="18" charset="0"/>
                <a:cs typeface="Times New Roman" pitchFamily="18" charset="0"/>
              </a:rPr>
              <a:t>AMM follows by MAM to keep the required attitude, roll angle for imaging or yaw 90° for calibration.</a:t>
            </a:r>
            <a:r>
              <a:rPr lang="en-US" altLang="zh-CN" sz="2000" dirty="0">
                <a:latin typeface="Times New Roman" pitchFamily="18" charset="0"/>
                <a:cs typeface="Times New Roman" pitchFamily="18" charset="0"/>
              </a:rPr>
              <a:t> “FOG with STS” or “FOG with MM</a:t>
            </a:r>
            <a:r>
              <a:rPr lang="en-US" altLang="zh-CN" sz="2000" dirty="0" smtClean="0">
                <a:latin typeface="Times New Roman" pitchFamily="18" charset="0"/>
                <a:cs typeface="Times New Roman" pitchFamily="18" charset="0"/>
              </a:rPr>
              <a:t>” is used for attitude determination.</a:t>
            </a:r>
            <a:r>
              <a:rPr lang="en-US" altLang="zh-CN" sz="2000" dirty="0">
                <a:latin typeface="Times New Roman" pitchFamily="18" charset="0"/>
                <a:cs typeface="Times New Roman" pitchFamily="18" charset="0"/>
              </a:rPr>
              <a:t> Attitude </a:t>
            </a:r>
            <a:r>
              <a:rPr lang="en-US" altLang="zh-CN" sz="2000" dirty="0" smtClean="0">
                <a:latin typeface="Times New Roman" pitchFamily="18" charset="0"/>
                <a:cs typeface="Times New Roman" pitchFamily="18" charset="0"/>
              </a:rPr>
              <a:t>control is implemented </a:t>
            </a:r>
            <a:r>
              <a:rPr lang="en-US" altLang="zh-CN" sz="2000" dirty="0">
                <a:latin typeface="Times New Roman" pitchFamily="18" charset="0"/>
                <a:cs typeface="Times New Roman" pitchFamily="18" charset="0"/>
              </a:rPr>
              <a:t>by MW. And the redundant angular momentum is unloaded by the MT. </a:t>
            </a:r>
            <a:endParaRPr lang="en-US" altLang="zh-CN" sz="2000" dirty="0" smtClean="0">
              <a:latin typeface="Times New Roman" pitchFamily="18" charset="0"/>
              <a:cs typeface="Times New Roman" pitchFamily="18" charset="0"/>
            </a:endParaRPr>
          </a:p>
          <a:p>
            <a:pPr marL="0" indent="0" algn="ctr">
              <a:buNone/>
            </a:pPr>
            <a:r>
              <a:rPr lang="en-US" altLang="zh-CN" sz="2000" dirty="0" smtClean="0">
                <a:latin typeface="Times New Roman" pitchFamily="18" charset="0"/>
                <a:cs typeface="Times New Roman" pitchFamily="18" charset="0"/>
              </a:rPr>
              <a:t>Stop Control Mode </a:t>
            </a:r>
          </a:p>
          <a:p>
            <a:pPr marL="0" indent="0" algn="just">
              <a:buNone/>
            </a:pPr>
            <a:r>
              <a:rPr lang="en-US" altLang="zh-CN" sz="2000" dirty="0" smtClean="0">
                <a:latin typeface="Times New Roman" pitchFamily="18" charset="0"/>
                <a:cs typeface="Times New Roman" pitchFamily="18" charset="0"/>
              </a:rPr>
              <a:t>The satellite can transfer into SCM  autonomously or by remote control. In this mode, the CCU will not work on attitude control any more. Only the measurement and orbit calculation are conducted. Output of actuators is ZERO.</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Work Modes</a:t>
            </a:r>
            <a:endParaRPr lang="en-US" altLang="zh-CN" sz="28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5624831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897564"/>
            <a:ext cx="8568952" cy="432048"/>
          </a:xfrm>
        </p:spPr>
        <p:txBody>
          <a:bodyPr>
            <a:normAutofit fontScale="85000" lnSpcReduction="20000"/>
          </a:bodyPr>
          <a:lstStyle/>
          <a:p>
            <a:pPr marL="0" indent="0" algn="ctr">
              <a:buNone/>
            </a:pPr>
            <a:r>
              <a:rPr lang="en-US" altLang="zh-CN" sz="2000" dirty="0" smtClean="0">
                <a:latin typeface="Times New Roman" pitchFamily="18" charset="0"/>
                <a:cs typeface="Times New Roman" pitchFamily="18" charset="0"/>
              </a:rPr>
              <a:t>The whole satellite is powered-off before launching.</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sp>
        <p:nvSpPr>
          <p:cNvPr id="7"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Flight Procedures</a:t>
            </a:r>
            <a:endParaRPr lang="en-US" altLang="zh-CN" sz="2800" b="1" dirty="0">
              <a:solidFill>
                <a:schemeClr val="bg1"/>
              </a:solidFill>
              <a:latin typeface="微软雅黑" pitchFamily="34" charset="-122"/>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238348757"/>
              </p:ext>
            </p:extLst>
          </p:nvPr>
        </p:nvGraphicFramePr>
        <p:xfrm>
          <a:off x="1547664" y="1275606"/>
          <a:ext cx="6096000" cy="3413760"/>
        </p:xfrm>
        <a:graphic>
          <a:graphicData uri="http://schemas.openxmlformats.org/drawingml/2006/table">
            <a:tbl>
              <a:tblPr firstRow="1" bandRow="1">
                <a:tableStyleId>{BC89EF96-8CEA-46FF-86C4-4CE0E7609802}</a:tableStyleId>
              </a:tblPr>
              <a:tblGrid>
                <a:gridCol w="792088"/>
                <a:gridCol w="5303912"/>
              </a:tblGrid>
              <a:tr h="278130">
                <a:tc>
                  <a:txBody>
                    <a:bodyPr/>
                    <a:lstStyle/>
                    <a:p>
                      <a:r>
                        <a:rPr lang="en-US" altLang="zh-CN" sz="1400" dirty="0" smtClean="0">
                          <a:latin typeface="Times New Roman" pitchFamily="18" charset="0"/>
                          <a:cs typeface="Times New Roman" pitchFamily="18" charset="0"/>
                        </a:rPr>
                        <a:t>0s</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Separation</a:t>
                      </a:r>
                      <a:endParaRPr lang="zh-CN" altLang="en-US" sz="1400" dirty="0">
                        <a:latin typeface="Times New Roman" pitchFamily="18" charset="0"/>
                        <a:cs typeface="Times New Roman" pitchFamily="18" charset="0"/>
                      </a:endParaRPr>
                    </a:p>
                  </a:txBody>
                  <a:tcPr marT="34290" marB="34290"/>
                </a:tc>
              </a:tr>
              <a:tr h="278130">
                <a:tc>
                  <a:txBody>
                    <a:bodyPr/>
                    <a:lstStyle/>
                    <a:p>
                      <a:r>
                        <a:rPr lang="en-US" altLang="zh-CN" sz="1400" dirty="0" smtClean="0">
                          <a:latin typeface="Times New Roman" pitchFamily="18" charset="0"/>
                          <a:cs typeface="Times New Roman" pitchFamily="18" charset="0"/>
                        </a:rPr>
                        <a:t>3s</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Send AOCC</a:t>
                      </a:r>
                      <a:r>
                        <a:rPr lang="en-US" altLang="zh-CN" sz="1400" baseline="0" dirty="0" smtClean="0">
                          <a:latin typeface="Times New Roman" pitchFamily="18" charset="0"/>
                          <a:cs typeface="Times New Roman" pitchFamily="18" charset="0"/>
                        </a:rPr>
                        <a:t> A power-on</a:t>
                      </a:r>
                      <a:endParaRPr lang="zh-CN" altLang="en-US" sz="1400" dirty="0">
                        <a:latin typeface="Times New Roman" pitchFamily="18" charset="0"/>
                        <a:cs typeface="Times New Roman" pitchFamily="18" charset="0"/>
                      </a:endParaRPr>
                    </a:p>
                  </a:txBody>
                  <a:tcPr marT="34290" marB="34290"/>
                </a:tc>
              </a:tr>
              <a:tr h="278130">
                <a:tc>
                  <a:txBody>
                    <a:bodyPr/>
                    <a:lstStyle/>
                    <a:p>
                      <a:r>
                        <a:rPr lang="en-US" altLang="zh-CN" sz="1400" dirty="0" smtClean="0">
                          <a:latin typeface="Times New Roman" pitchFamily="18" charset="0"/>
                          <a:cs typeface="Times New Roman" pitchFamily="18" charset="0"/>
                        </a:rPr>
                        <a:t>5s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Resend AOCC</a:t>
                      </a:r>
                      <a:r>
                        <a:rPr lang="en-US" altLang="zh-CN" sz="1400" baseline="0" dirty="0" smtClean="0">
                          <a:latin typeface="Times New Roman" pitchFamily="18" charset="0"/>
                          <a:cs typeface="Times New Roman" pitchFamily="18" charset="0"/>
                        </a:rPr>
                        <a:t> A power-on</a:t>
                      </a:r>
                      <a:endParaRPr lang="zh-CN" altLang="en-US" sz="1400" dirty="0" smtClean="0">
                        <a:latin typeface="Times New Roman" pitchFamily="18" charset="0"/>
                        <a:cs typeface="Times New Roman" pitchFamily="18" charset="0"/>
                      </a:endParaRPr>
                    </a:p>
                  </a:txBody>
                  <a:tcPr marT="34290" marB="34290"/>
                </a:tc>
              </a:tr>
              <a:tr h="278130">
                <a:tc>
                  <a:txBody>
                    <a:bodyPr/>
                    <a:lstStyle/>
                    <a:p>
                      <a:r>
                        <a:rPr lang="en-US" altLang="zh-CN" sz="1400" dirty="0" smtClean="0">
                          <a:latin typeface="Times New Roman" pitchFamily="18" charset="0"/>
                          <a:cs typeface="Times New Roman" pitchFamily="18" charset="0"/>
                        </a:rPr>
                        <a:t>11s</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Send FT power-on</a:t>
                      </a:r>
                      <a:endParaRPr lang="zh-CN" altLang="en-US" sz="1400" dirty="0">
                        <a:latin typeface="Times New Roman" pitchFamily="18" charset="0"/>
                        <a:cs typeface="Times New Roman" pitchFamily="18" charset="0"/>
                      </a:endParaRPr>
                    </a:p>
                  </a:txBody>
                  <a:tcPr marT="34290" marB="34290"/>
                </a:tc>
              </a:tr>
              <a:tr h="480060">
                <a:tc>
                  <a:txBody>
                    <a:bodyPr/>
                    <a:lstStyle/>
                    <a:p>
                      <a:r>
                        <a:rPr lang="en-US" altLang="zh-CN" sz="1400" dirty="0" smtClean="0">
                          <a:latin typeface="Times New Roman" pitchFamily="18" charset="0"/>
                          <a:cs typeface="Times New Roman" pitchFamily="18" charset="0"/>
                        </a:rPr>
                        <a:t>33s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Operating</a:t>
                      </a:r>
                      <a:r>
                        <a:rPr lang="en-US" altLang="zh-CN" sz="1400" baseline="0" dirty="0" smtClean="0">
                          <a:latin typeface="Times New Roman" pitchFamily="18" charset="0"/>
                          <a:cs typeface="Times New Roman" pitchFamily="18" charset="0"/>
                        </a:rPr>
                        <a:t> in </a:t>
                      </a:r>
                      <a:r>
                        <a:rPr lang="en-US" altLang="zh-CN" sz="1400" dirty="0" smtClean="0">
                          <a:latin typeface="Times New Roman" pitchFamily="18" charset="0"/>
                          <a:cs typeface="Times New Roman" pitchFamily="18" charset="0"/>
                        </a:rPr>
                        <a:t>AAM - Angular rate damping </a:t>
                      </a:r>
                      <a:endParaRPr lang="zh-CN" altLang="en-US" sz="1400" dirty="0" smtClean="0">
                        <a:latin typeface="Times New Roman" pitchFamily="18" charset="0"/>
                        <a:cs typeface="Times New Roman" pitchFamily="18" charset="0"/>
                      </a:endParaRPr>
                    </a:p>
                    <a:p>
                      <a:pPr algn="ctr"/>
                      <a:r>
                        <a:rPr lang="en-US" altLang="zh-CN" sz="1400" dirty="0" smtClean="0">
                          <a:latin typeface="Times New Roman" pitchFamily="18" charset="0"/>
                          <a:cs typeface="Times New Roman" pitchFamily="18" charset="0"/>
                        </a:rPr>
                        <a:t>sub-mode</a:t>
                      </a:r>
                      <a:r>
                        <a:rPr lang="en-US" altLang="zh-CN" sz="1400" baseline="0" dirty="0" smtClean="0">
                          <a:latin typeface="Times New Roman" pitchFamily="18" charset="0"/>
                          <a:cs typeface="Times New Roman" pitchFamily="18" charset="0"/>
                        </a:rPr>
                        <a:t> </a:t>
                      </a:r>
                      <a:r>
                        <a:rPr lang="en-US" altLang="zh-CN" sz="1400" dirty="0" smtClean="0">
                          <a:latin typeface="Times New Roman" pitchFamily="18" charset="0"/>
                          <a:cs typeface="Times New Roman" pitchFamily="18" charset="0"/>
                        </a:rPr>
                        <a:t>autonomously</a:t>
                      </a:r>
                      <a:r>
                        <a:rPr lang="en-US" altLang="zh-CN" sz="1400" baseline="0" dirty="0" smtClean="0">
                          <a:latin typeface="Times New Roman" pitchFamily="18" charset="0"/>
                          <a:cs typeface="Times New Roman" pitchFamily="18" charset="0"/>
                        </a:rPr>
                        <a:t> </a:t>
                      </a:r>
                      <a:endParaRPr lang="zh-CN" altLang="en-US" sz="1400" dirty="0">
                        <a:latin typeface="Times New Roman" pitchFamily="18" charset="0"/>
                        <a:cs typeface="Times New Roman" pitchFamily="18" charset="0"/>
                      </a:endParaRPr>
                    </a:p>
                  </a:txBody>
                  <a:tcPr marT="34290" marB="34290"/>
                </a:tc>
              </a:tr>
              <a:tr h="1508760">
                <a:tc>
                  <a:txBody>
                    <a:bodyPr/>
                    <a:lstStyle/>
                    <a:p>
                      <a:endParaRPr lang="zh-CN" altLang="en-US" sz="1400">
                        <a:latin typeface="Times New Roman" pitchFamily="18" charset="0"/>
                        <a:cs typeface="Times New Roman" pitchFamily="18" charset="0"/>
                      </a:endParaRPr>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Send</a:t>
                      </a:r>
                      <a:r>
                        <a:rPr lang="en-US" altLang="zh-CN" sz="1400" baseline="0" dirty="0" smtClean="0">
                          <a:latin typeface="Times New Roman" pitchFamily="18" charset="0"/>
                          <a:cs typeface="Times New Roman" pitchFamily="18" charset="0"/>
                        </a:rPr>
                        <a:t> Power-on command for several units of AOCS in sequence </a:t>
                      </a:r>
                      <a:r>
                        <a:rPr lang="en-US" altLang="zh-CN" sz="1400" dirty="0" smtClean="0">
                          <a:latin typeface="Times New Roman" pitchFamily="18" charset="0"/>
                          <a:cs typeface="Times New Roman" pitchFamily="18" charset="0"/>
                        </a:rPr>
                        <a:t>autonomously</a:t>
                      </a:r>
                      <a:r>
                        <a:rPr lang="en-US" altLang="zh-CN" sz="1400" baseline="0" dirty="0" smtClean="0">
                          <a:latin typeface="Times New Roman" pitchFamily="18" charset="0"/>
                          <a:cs typeface="Times New Roman" pitchFamily="18" charset="0"/>
                        </a:rPr>
                        <a:t> :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aseline="0" dirty="0" smtClean="0">
                          <a:latin typeface="Times New Roman" pitchFamily="18" charset="0"/>
                          <a:cs typeface="Times New Roman" pitchFamily="18" charset="0"/>
                        </a:rPr>
                        <a:t>MM A, MM B, Main optical source of FOG, Gyro X of FOG, Gyro Y of FOG, Gyro Z of FOG, Gyro S of FOG, MW X, MW Y, MW Z, MW S,</a:t>
                      </a:r>
                      <a:r>
                        <a:rPr lang="zh-CN" altLang="en-US" sz="1400" baseline="0" dirty="0" smtClean="0">
                          <a:latin typeface="Times New Roman" pitchFamily="18" charset="0"/>
                          <a:cs typeface="Times New Roman" pitchFamily="18" charset="0"/>
                        </a:rPr>
                        <a:t> </a:t>
                      </a:r>
                      <a:r>
                        <a:rPr lang="en-US" altLang="zh-CN" sz="1400" baseline="0" dirty="0" smtClean="0">
                          <a:latin typeface="Times New Roman" pitchFamily="18" charset="0"/>
                          <a:cs typeface="Times New Roman" pitchFamily="18" charset="0"/>
                        </a:rPr>
                        <a:t>MT X, MT Y, MT Z, STS A, STS B.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aseline="0" dirty="0" smtClean="0">
                          <a:latin typeface="Times New Roman" pitchFamily="18" charset="0"/>
                          <a:cs typeface="Times New Roman" pitchFamily="18" charset="0"/>
                        </a:rPr>
                        <a:t>0.25s per command (4s in total)</a:t>
                      </a:r>
                      <a:endParaRPr lang="zh-CN" altLang="en-US" sz="1400" dirty="0" smtClean="0">
                        <a:latin typeface="Times New Roman" pitchFamily="18" charset="0"/>
                        <a:cs typeface="Times New Roman" pitchFamily="18" charset="0"/>
                      </a:endParaRPr>
                    </a:p>
                  </a:txBody>
                  <a:tcPr marT="34290" marB="34290"/>
                </a:tc>
              </a:tr>
              <a:tr h="278130">
                <a:tc>
                  <a:txBody>
                    <a:bodyPr/>
                    <a:lstStyle/>
                    <a:p>
                      <a:r>
                        <a:rPr lang="en-US" altLang="zh-CN" sz="1400" dirty="0" smtClean="0">
                          <a:latin typeface="Times New Roman" pitchFamily="18" charset="0"/>
                          <a:cs typeface="Times New Roman" pitchFamily="18" charset="0"/>
                        </a:rPr>
                        <a:t>40s</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Resend command:</a:t>
                      </a:r>
                      <a:r>
                        <a:rPr lang="en-US" altLang="zh-CN" sz="1400" baseline="0" dirty="0" smtClean="0">
                          <a:latin typeface="Times New Roman" pitchFamily="18" charset="0"/>
                          <a:cs typeface="Times New Roman" pitchFamily="18" charset="0"/>
                        </a:rPr>
                        <a:t> Operating in AAM</a:t>
                      </a:r>
                      <a:endParaRPr lang="zh-CN" altLang="en-US" sz="1400" dirty="0">
                        <a:latin typeface="Times New Roman" pitchFamily="18" charset="0"/>
                        <a:cs typeface="Times New Roman" pitchFamily="18" charset="0"/>
                      </a:endParaRPr>
                    </a:p>
                  </a:txBody>
                  <a:tcPr marT="34290" marB="34290"/>
                </a:tc>
              </a:tr>
            </a:tbl>
          </a:graphicData>
        </a:graphic>
      </p:graphicFrame>
    </p:spTree>
    <p:extLst>
      <p:ext uri="{BB962C8B-B14F-4D97-AF65-F5344CB8AC3E}">
        <p14:creationId xmlns:p14="http://schemas.microsoft.com/office/powerpoint/2010/main" val="18072277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276452773"/>
              </p:ext>
            </p:extLst>
          </p:nvPr>
        </p:nvGraphicFramePr>
        <p:xfrm>
          <a:off x="1403648" y="1005576"/>
          <a:ext cx="6336704" cy="3665220"/>
        </p:xfrm>
        <a:graphic>
          <a:graphicData uri="http://schemas.openxmlformats.org/drawingml/2006/table">
            <a:tbl>
              <a:tblPr firstRow="1" bandRow="1">
                <a:tableStyleId>{BC89EF96-8CEA-46FF-86C4-4CE0E7609802}</a:tableStyleId>
              </a:tblPr>
              <a:tblGrid>
                <a:gridCol w="823364"/>
                <a:gridCol w="5513340"/>
              </a:tblGrid>
              <a:tr h="274320">
                <a:tc>
                  <a:txBody>
                    <a:bodyPr/>
                    <a:lstStyle/>
                    <a:p>
                      <a:r>
                        <a:rPr lang="en-US" altLang="zh-CN" sz="1400" b="0" dirty="0" smtClean="0">
                          <a:latin typeface="Times New Roman" pitchFamily="18" charset="0"/>
                          <a:cs typeface="Times New Roman" pitchFamily="18" charset="0"/>
                        </a:rPr>
                        <a:t>41s</a:t>
                      </a:r>
                      <a:endParaRPr lang="zh-CN" altLang="en-US" sz="1400" b="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MM A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42s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MM B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43s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Main optical source of FOG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44s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FOG X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45s</a:t>
                      </a:r>
                      <a:endParaRPr lang="zh-CN" altLang="en-US" sz="1400" dirty="0" smtClean="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FOG Y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46s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FOG Z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47s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FOG S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48s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MT X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49s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MT Y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50s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MT Z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51s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MW X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52s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MW Y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53s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MW Z Power-on</a:t>
                      </a:r>
                      <a:endParaRPr lang="zh-CN" altLang="en-US" sz="1400" b="0" dirty="0" smtClean="0">
                        <a:latin typeface="Times New Roman" pitchFamily="18" charset="0"/>
                        <a:cs typeface="Times New Roman" pitchFamily="18" charset="0"/>
                      </a:endParaRPr>
                    </a:p>
                  </a:txBody>
                  <a:tcPr marT="34290" marB="34290"/>
                </a:tc>
              </a:tr>
            </a:tbl>
          </a:graphicData>
        </a:graphic>
      </p:graphicFrame>
      <p:sp>
        <p:nvSpPr>
          <p:cNvPr id="7"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Flight Procedures</a:t>
            </a:r>
            <a:endParaRPr lang="en-US" altLang="zh-CN" sz="28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494546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051283089"/>
              </p:ext>
            </p:extLst>
          </p:nvPr>
        </p:nvGraphicFramePr>
        <p:xfrm>
          <a:off x="1115617" y="1329612"/>
          <a:ext cx="7007361" cy="2682240"/>
        </p:xfrm>
        <a:graphic>
          <a:graphicData uri="http://schemas.openxmlformats.org/drawingml/2006/table">
            <a:tbl>
              <a:tblPr firstRow="1" bandRow="1">
                <a:tableStyleId>{BC89EF96-8CEA-46FF-86C4-4CE0E7609802}</a:tableStyleId>
              </a:tblPr>
              <a:tblGrid>
                <a:gridCol w="910506"/>
                <a:gridCol w="6096855"/>
              </a:tblGrid>
              <a:tr h="274320">
                <a:tc>
                  <a:txBody>
                    <a:bodyPr/>
                    <a:lstStyle/>
                    <a:p>
                      <a:r>
                        <a:rPr lang="en-US" altLang="zh-CN" sz="1400" b="0" dirty="0" smtClean="0">
                          <a:latin typeface="Times New Roman" pitchFamily="18" charset="0"/>
                          <a:cs typeface="Times New Roman" pitchFamily="18" charset="0"/>
                        </a:rPr>
                        <a:t>54s</a:t>
                      </a:r>
                      <a:endParaRPr lang="zh-CN" altLang="en-US" sz="1400" b="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MW S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55s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STS A Power-on</a:t>
                      </a:r>
                      <a:endParaRPr lang="zh-CN" altLang="en-US" sz="1400" b="0" dirty="0" smtClean="0">
                        <a:latin typeface="Times New Roman" pitchFamily="18" charset="0"/>
                        <a:cs typeface="Times New Roman" pitchFamily="18" charset="0"/>
                      </a:endParaRPr>
                    </a:p>
                  </a:txBody>
                  <a:tcPr marT="34290" marB="34290"/>
                </a:tc>
              </a:tr>
              <a:tr h="274320">
                <a:tc>
                  <a:txBody>
                    <a:bodyPr/>
                    <a:lstStyle/>
                    <a:p>
                      <a:r>
                        <a:rPr lang="en-US" altLang="zh-CN" sz="1400" dirty="0" smtClean="0">
                          <a:latin typeface="Times New Roman" pitchFamily="18" charset="0"/>
                          <a:cs typeface="Times New Roman" pitchFamily="18" charset="0"/>
                        </a:rPr>
                        <a:t>56s</a:t>
                      </a:r>
                      <a:endParaRPr lang="zh-CN" altLang="en-US" sz="1400" dirty="0">
                        <a:latin typeface="Times New Roman" pitchFamily="18" charset="0"/>
                        <a:cs typeface="Times New Roman" pitchFamily="18" charset="0"/>
                      </a:endParaRP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0" dirty="0" smtClean="0">
                          <a:latin typeface="Times New Roman" pitchFamily="18" charset="0"/>
                          <a:cs typeface="Times New Roman" pitchFamily="18" charset="0"/>
                        </a:rPr>
                        <a:t>Resend command:</a:t>
                      </a:r>
                      <a:r>
                        <a:rPr lang="en-US" altLang="zh-CN" sz="1400" b="0" baseline="0" dirty="0" smtClean="0">
                          <a:latin typeface="Times New Roman" pitchFamily="18" charset="0"/>
                          <a:cs typeface="Times New Roman" pitchFamily="18" charset="0"/>
                        </a:rPr>
                        <a:t> STS B Power-on</a:t>
                      </a:r>
                      <a:endParaRPr lang="zh-CN" altLang="en-US" sz="1400" b="0" dirty="0" smtClean="0">
                        <a:latin typeface="Times New Roman" pitchFamily="18" charset="0"/>
                        <a:cs typeface="Times New Roman" pitchFamily="18" charset="0"/>
                      </a:endParaRPr>
                    </a:p>
                  </a:txBody>
                  <a:tcPr marT="34290" marB="34290"/>
                </a:tc>
              </a:tr>
              <a:tr h="480060">
                <a:tc>
                  <a:txBody>
                    <a:bodyPr/>
                    <a:lstStyle/>
                    <a:p>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Turning</a:t>
                      </a:r>
                      <a:r>
                        <a:rPr lang="en-US" altLang="zh-CN" sz="1400" baseline="0" dirty="0" smtClean="0">
                          <a:latin typeface="Times New Roman" pitchFamily="18" charset="0"/>
                          <a:cs typeface="Times New Roman" pitchFamily="18" charset="0"/>
                        </a:rPr>
                        <a:t> into Sun acquiring and sun Orientation sub-mode of AAM autonomously after completing angular rate damping</a:t>
                      </a:r>
                      <a:endParaRPr lang="zh-CN" altLang="en-US" sz="1400" dirty="0">
                        <a:latin typeface="Times New Roman" pitchFamily="18" charset="0"/>
                        <a:cs typeface="Times New Roman" pitchFamily="18" charset="0"/>
                      </a:endParaRPr>
                    </a:p>
                  </a:txBody>
                  <a:tcPr marT="34290" marB="34290"/>
                </a:tc>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smtClean="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Inject orbit</a:t>
                      </a:r>
                      <a:r>
                        <a:rPr lang="en-US" altLang="zh-CN" sz="1400" baseline="0" dirty="0" smtClean="0">
                          <a:latin typeface="Times New Roman" pitchFamily="18" charset="0"/>
                          <a:cs typeface="Times New Roman" pitchFamily="18" charset="0"/>
                        </a:rPr>
                        <a:t> parameters</a:t>
                      </a:r>
                      <a:endParaRPr lang="zh-CN" altLang="en-US" sz="1400" dirty="0">
                        <a:latin typeface="Times New Roman" pitchFamily="18" charset="0"/>
                        <a:cs typeface="Times New Roman" pitchFamily="18" charset="0"/>
                      </a:endParaRPr>
                    </a:p>
                  </a:txBody>
                  <a:tcPr marT="34290" marB="34290"/>
                </a:tc>
              </a:tr>
              <a:tr h="274320">
                <a:tc>
                  <a:txBody>
                    <a:bodyPr/>
                    <a:lstStyle/>
                    <a:p>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Send command: Use GPS time</a:t>
                      </a:r>
                      <a:r>
                        <a:rPr lang="en-US" altLang="zh-CN" sz="1400" baseline="0" dirty="0" smtClean="0">
                          <a:latin typeface="Times New Roman" pitchFamily="18" charset="0"/>
                          <a:cs typeface="Times New Roman" pitchFamily="18" charset="0"/>
                        </a:rPr>
                        <a:t> correction</a:t>
                      </a:r>
                      <a:endParaRPr lang="zh-CN" altLang="en-US" sz="1400" dirty="0">
                        <a:latin typeface="Times New Roman" pitchFamily="18" charset="0"/>
                        <a:cs typeface="Times New Roman" pitchFamily="18" charset="0"/>
                      </a:endParaRPr>
                    </a:p>
                  </a:txBody>
                  <a:tcPr marT="34290" marB="34290"/>
                </a:tc>
              </a:tr>
              <a:tr h="480060">
                <a:tc>
                  <a:txBody>
                    <a:bodyPr/>
                    <a:lstStyle/>
                    <a:p>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Send command: Turning to coarse SPM</a:t>
                      </a:r>
                      <a:r>
                        <a:rPr lang="en-US" altLang="zh-CN" sz="1400" baseline="0" dirty="0" smtClean="0">
                          <a:latin typeface="Times New Roman" pitchFamily="18" charset="0"/>
                          <a:cs typeface="Times New Roman" pitchFamily="18" charset="0"/>
                        </a:rPr>
                        <a:t> from sun-pointing attitude adjustment sub-mode of AAM</a:t>
                      </a:r>
                      <a:endParaRPr lang="zh-CN" altLang="en-US" sz="1400" dirty="0">
                        <a:latin typeface="Times New Roman" pitchFamily="18" charset="0"/>
                        <a:cs typeface="Times New Roman" pitchFamily="18" charset="0"/>
                      </a:endParaRPr>
                    </a:p>
                  </a:txBody>
                  <a:tcPr marT="34290" marB="34290"/>
                </a:tc>
              </a:tr>
              <a:tr h="274320">
                <a:tc>
                  <a:txBody>
                    <a:bodyPr/>
                    <a:lstStyle/>
                    <a:p>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Send command: Attitude determination</a:t>
                      </a:r>
                      <a:r>
                        <a:rPr lang="en-US" altLang="zh-CN" sz="1400" baseline="0" dirty="0" smtClean="0">
                          <a:latin typeface="Times New Roman" pitchFamily="18" charset="0"/>
                          <a:cs typeface="Times New Roman" pitchFamily="18" charset="0"/>
                        </a:rPr>
                        <a:t> uses STS with FOG.</a:t>
                      </a:r>
                      <a:endParaRPr lang="zh-CN" altLang="en-US" sz="1400" dirty="0">
                        <a:latin typeface="Times New Roman" pitchFamily="18" charset="0"/>
                        <a:cs typeface="Times New Roman" pitchFamily="18" charset="0"/>
                      </a:endParaRPr>
                    </a:p>
                  </a:txBody>
                  <a:tcPr marT="34290" marB="34290"/>
                </a:tc>
              </a:tr>
            </a:tbl>
          </a:graphicData>
        </a:graphic>
      </p:graphicFrame>
      <p:sp>
        <p:nvSpPr>
          <p:cNvPr id="7"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Flight Procedures</a:t>
            </a:r>
            <a:endParaRPr lang="en-US" altLang="zh-CN" sz="28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665933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Operations</a:t>
            </a:r>
            <a:endParaRPr lang="en-US" altLang="zh-CN" sz="2800" b="1" dirty="0">
              <a:solidFill>
                <a:schemeClr val="bg1"/>
              </a:solidFill>
              <a:latin typeface="微软雅黑" pitchFamily="34" charset="-122"/>
              <a:ea typeface="微软雅黑" pitchFamily="34" charset="-122"/>
            </a:endParaRPr>
          </a:p>
        </p:txBody>
      </p:sp>
      <p:sp>
        <p:nvSpPr>
          <p:cNvPr id="7" name="内容占位符 2"/>
          <p:cNvSpPr>
            <a:spLocks noGrp="1"/>
          </p:cNvSpPr>
          <p:nvPr>
            <p:ph idx="1"/>
          </p:nvPr>
        </p:nvSpPr>
        <p:spPr>
          <a:xfrm>
            <a:off x="323528" y="1221600"/>
            <a:ext cx="8568952" cy="1134126"/>
          </a:xfrm>
        </p:spPr>
        <p:txBody>
          <a:bodyPr>
            <a:normAutofit fontScale="85000" lnSpcReduction="20000"/>
          </a:bodyPr>
          <a:lstStyle/>
          <a:p>
            <a:pPr marL="0" indent="0" algn="just">
              <a:buNone/>
            </a:pPr>
            <a:r>
              <a:rPr lang="en-US" altLang="zh-CN" sz="2000" dirty="0" smtClean="0">
                <a:latin typeface="Times New Roman" pitchFamily="18" charset="0"/>
                <a:cs typeface="Times New Roman" pitchFamily="18" charset="0"/>
              </a:rPr>
              <a:t>	AOCS cooperates with the other subsystems to complete the imaging mission. Several command sequences will be applied for AOCS to implement the cooperation by providing a satisfied attitude condition. </a:t>
            </a:r>
          </a:p>
        </p:txBody>
      </p:sp>
      <p:graphicFrame>
        <p:nvGraphicFramePr>
          <p:cNvPr id="8" name="表格 7"/>
          <p:cNvGraphicFramePr>
            <a:graphicFrameLocks noGrp="1"/>
          </p:cNvGraphicFramePr>
          <p:nvPr>
            <p:extLst>
              <p:ext uri="{D42A27DB-BD31-4B8C-83A1-F6EECF244321}">
                <p14:modId xmlns:p14="http://schemas.microsoft.com/office/powerpoint/2010/main" val="3500260178"/>
              </p:ext>
            </p:extLst>
          </p:nvPr>
        </p:nvGraphicFramePr>
        <p:xfrm>
          <a:off x="827584" y="2733768"/>
          <a:ext cx="7488832" cy="845820"/>
        </p:xfrm>
        <a:graphic>
          <a:graphicData uri="http://schemas.openxmlformats.org/drawingml/2006/table">
            <a:tbl>
              <a:tblPr firstRow="1" bandRow="1">
                <a:tableStyleId>{5C22544A-7EE6-4342-B048-85BDC9FD1C3A}</a:tableStyleId>
              </a:tblPr>
              <a:tblGrid>
                <a:gridCol w="1092121"/>
                <a:gridCol w="6396711"/>
              </a:tblGrid>
              <a:tr h="278130">
                <a:tc>
                  <a:txBody>
                    <a:bodyPr/>
                    <a:lstStyle/>
                    <a:p>
                      <a:pPr algn="ctr"/>
                      <a:r>
                        <a:rPr lang="en-US" altLang="zh-CN" sz="1400" dirty="0" smtClean="0">
                          <a:latin typeface="Times New Roman" pitchFamily="18" charset="0"/>
                          <a:cs typeface="Times New Roman" pitchFamily="18" charset="0"/>
                        </a:rPr>
                        <a:t>No.</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Function of the command sequence</a:t>
                      </a:r>
                      <a:endParaRPr lang="zh-CN" altLang="en-US" sz="1400" dirty="0">
                        <a:latin typeface="Times New Roman" pitchFamily="18" charset="0"/>
                        <a:cs typeface="Times New Roman" pitchFamily="18" charset="0"/>
                      </a:endParaRPr>
                    </a:p>
                  </a:txBody>
                  <a:tcPr marT="34290" marB="34290"/>
                </a:tc>
              </a:tr>
              <a:tr h="278130">
                <a:tc>
                  <a:txBody>
                    <a:bodyPr/>
                    <a:lstStyle/>
                    <a:p>
                      <a:pPr algn="ctr"/>
                      <a:r>
                        <a:rPr lang="en-US" altLang="zh-CN" sz="1400" dirty="0" smtClean="0">
                          <a:latin typeface="Times New Roman" pitchFamily="18" charset="0"/>
                          <a:cs typeface="Times New Roman" pitchFamily="18" charset="0"/>
                        </a:rPr>
                        <a:t>1</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Mode transfer</a:t>
                      </a:r>
                      <a:r>
                        <a:rPr lang="en-US" altLang="zh-CN" sz="1400" baseline="0" dirty="0" smtClean="0">
                          <a:latin typeface="Times New Roman" pitchFamily="18" charset="0"/>
                          <a:cs typeface="Times New Roman" pitchFamily="18" charset="0"/>
                        </a:rPr>
                        <a:t> to EPM (Used for data transmission)</a:t>
                      </a:r>
                      <a:endParaRPr lang="zh-CN" altLang="en-US" sz="1400" dirty="0">
                        <a:latin typeface="Times New Roman" pitchFamily="18" charset="0"/>
                        <a:cs typeface="Times New Roman" pitchFamily="18" charset="0"/>
                      </a:endParaRPr>
                    </a:p>
                  </a:txBody>
                  <a:tcPr marT="34290" marB="34290"/>
                </a:tc>
              </a:tr>
              <a:tr h="278130">
                <a:tc>
                  <a:txBody>
                    <a:bodyPr/>
                    <a:lstStyle/>
                    <a:p>
                      <a:pPr algn="ctr"/>
                      <a:r>
                        <a:rPr lang="en-US" altLang="zh-CN" sz="1400" dirty="0" smtClean="0">
                          <a:latin typeface="Times New Roman" pitchFamily="18" charset="0"/>
                          <a:cs typeface="Times New Roman" pitchFamily="18" charset="0"/>
                        </a:rPr>
                        <a:t>2</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Mode transfer to AMM (Used for</a:t>
                      </a:r>
                      <a:r>
                        <a:rPr lang="en-US" altLang="zh-CN" sz="1400" baseline="0" dirty="0" smtClean="0">
                          <a:latin typeface="Times New Roman" pitchFamily="18" charset="0"/>
                          <a:cs typeface="Times New Roman" pitchFamily="18" charset="0"/>
                        </a:rPr>
                        <a:t> imaging mission</a:t>
                      </a:r>
                      <a:r>
                        <a:rPr lang="en-US" altLang="zh-CN" sz="1400" dirty="0" smtClean="0">
                          <a:latin typeface="Times New Roman" pitchFamily="18" charset="0"/>
                          <a:cs typeface="Times New Roman" pitchFamily="18" charset="0"/>
                        </a:rPr>
                        <a:t>)</a:t>
                      </a:r>
                      <a:endParaRPr lang="zh-CN" altLang="en-US" sz="1400" dirty="0">
                        <a:latin typeface="Times New Roman" pitchFamily="18" charset="0"/>
                        <a:cs typeface="Times New Roman" pitchFamily="18" charset="0"/>
                      </a:endParaRPr>
                    </a:p>
                  </a:txBody>
                  <a:tcPr marT="34290" marB="34290"/>
                </a:tc>
              </a:tr>
            </a:tbl>
          </a:graphicData>
        </a:graphic>
      </p:graphicFrame>
    </p:spTree>
    <p:extLst>
      <p:ext uri="{BB962C8B-B14F-4D97-AF65-F5344CB8AC3E}">
        <p14:creationId xmlns:p14="http://schemas.microsoft.com/office/powerpoint/2010/main" val="1042102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Operations</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2548190174"/>
              </p:ext>
            </p:extLst>
          </p:nvPr>
        </p:nvGraphicFramePr>
        <p:xfrm>
          <a:off x="251521" y="951570"/>
          <a:ext cx="8712969" cy="3962400"/>
        </p:xfrm>
        <a:graphic>
          <a:graphicData uri="http://schemas.openxmlformats.org/drawingml/2006/table">
            <a:tbl>
              <a:tblPr firstRow="1" bandRow="1">
                <a:tableStyleId>{5C22544A-7EE6-4342-B048-85BDC9FD1C3A}</a:tableStyleId>
              </a:tblPr>
              <a:tblGrid>
                <a:gridCol w="648072"/>
                <a:gridCol w="2160240"/>
                <a:gridCol w="1224136"/>
                <a:gridCol w="2448272"/>
                <a:gridCol w="2232249"/>
              </a:tblGrid>
              <a:tr h="274320">
                <a:tc gridSpan="5">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Command sequence 1</a:t>
                      </a:r>
                    </a:p>
                  </a:txBody>
                  <a:tcPr marT="34290" marB="3429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r>
              <a:tr h="228600">
                <a:tc>
                  <a:txBody>
                    <a:bodyPr/>
                    <a:lstStyle/>
                    <a:p>
                      <a:pPr algn="ctr"/>
                      <a:r>
                        <a:rPr lang="en-US" altLang="zh-CN" sz="1100" dirty="0" smtClean="0">
                          <a:latin typeface="Times New Roman" pitchFamily="18" charset="0"/>
                          <a:cs typeface="Times New Roman" pitchFamily="18" charset="0"/>
                        </a:rPr>
                        <a:t>Step</a:t>
                      </a:r>
                      <a:endParaRPr lang="zh-CN" altLang="en-US" sz="1100" dirty="0">
                        <a:latin typeface="Times New Roman" pitchFamily="18" charset="0"/>
                        <a:cs typeface="Times New Roman" pitchFamily="18" charset="0"/>
                      </a:endParaRPr>
                    </a:p>
                  </a:txBody>
                  <a:tcPr marT="34290" marB="34290"/>
                </a:tc>
                <a:tc>
                  <a:txBody>
                    <a:bodyPr/>
                    <a:lstStyle/>
                    <a:p>
                      <a:pPr algn="ctr"/>
                      <a:r>
                        <a:rPr lang="en-US" altLang="zh-CN" sz="1100" dirty="0" smtClean="0">
                          <a:latin typeface="Times New Roman" pitchFamily="18" charset="0"/>
                          <a:cs typeface="Times New Roman" pitchFamily="18" charset="0"/>
                        </a:rPr>
                        <a:t>Command</a:t>
                      </a:r>
                      <a:endParaRPr lang="zh-CN" altLang="en-US" sz="1100" dirty="0">
                        <a:latin typeface="Times New Roman" pitchFamily="18" charset="0"/>
                        <a:cs typeface="Times New Roman" pitchFamily="18" charset="0"/>
                      </a:endParaRPr>
                    </a:p>
                  </a:txBody>
                  <a:tcPr marT="34290" marB="34290"/>
                </a:tc>
                <a:tc>
                  <a:txBody>
                    <a:bodyPr/>
                    <a:lstStyle/>
                    <a:p>
                      <a:pPr algn="ctr"/>
                      <a:r>
                        <a:rPr lang="en-US" altLang="zh-CN" sz="1100" dirty="0" smtClean="0">
                          <a:latin typeface="Times New Roman" pitchFamily="18" charset="0"/>
                          <a:cs typeface="Times New Roman" pitchFamily="18" charset="0"/>
                        </a:rPr>
                        <a:t>Telemetry</a:t>
                      </a:r>
                      <a:endParaRPr lang="zh-CN" altLang="en-US" sz="1100" dirty="0">
                        <a:latin typeface="Times New Roman" pitchFamily="18" charset="0"/>
                        <a:cs typeface="Times New Roman" pitchFamily="18" charset="0"/>
                      </a:endParaRPr>
                    </a:p>
                  </a:txBody>
                  <a:tcPr marT="34290" marB="34290"/>
                </a:tc>
                <a:tc>
                  <a:txBody>
                    <a:bodyPr/>
                    <a:lstStyle/>
                    <a:p>
                      <a:pPr algn="ctr"/>
                      <a:r>
                        <a:rPr lang="en-US" altLang="zh-CN" sz="1100" dirty="0" smtClean="0">
                          <a:latin typeface="Times New Roman" pitchFamily="18" charset="0"/>
                          <a:cs typeface="Times New Roman" pitchFamily="18" charset="0"/>
                        </a:rPr>
                        <a:t>Description</a:t>
                      </a:r>
                      <a:endParaRPr lang="zh-CN" altLang="en-US" sz="1100" dirty="0">
                        <a:latin typeface="Times New Roman" pitchFamily="18" charset="0"/>
                        <a:cs typeface="Times New Roman" pitchFamily="18" charset="0"/>
                      </a:endParaRPr>
                    </a:p>
                  </a:txBody>
                  <a:tcPr marT="34290" marB="34290"/>
                </a:tc>
                <a:tc>
                  <a:txBody>
                    <a:bodyPr/>
                    <a:lstStyle/>
                    <a:p>
                      <a:pPr algn="ctr"/>
                      <a:r>
                        <a:rPr lang="en-US" altLang="zh-CN" sz="1100" dirty="0" smtClean="0">
                          <a:latin typeface="Times New Roman" pitchFamily="18" charset="0"/>
                          <a:cs typeface="Times New Roman" pitchFamily="18" charset="0"/>
                        </a:rPr>
                        <a:t>Definition and</a:t>
                      </a:r>
                      <a:r>
                        <a:rPr lang="en-US" altLang="zh-CN" sz="1100" baseline="0" dirty="0" smtClean="0">
                          <a:latin typeface="Times New Roman" pitchFamily="18" charset="0"/>
                          <a:cs typeface="Times New Roman" pitchFamily="18" charset="0"/>
                        </a:rPr>
                        <a:t> result</a:t>
                      </a:r>
                      <a:endParaRPr lang="zh-CN" altLang="en-US" sz="1100" dirty="0">
                        <a:latin typeface="Times New Roman" pitchFamily="18" charset="0"/>
                        <a:cs typeface="Times New Roman" pitchFamily="18" charset="0"/>
                      </a:endParaRPr>
                    </a:p>
                  </a:txBody>
                  <a:tcPr marT="34290" marB="34290"/>
                </a:tc>
              </a:tr>
              <a:tr h="548640">
                <a:tc>
                  <a:txBody>
                    <a:bodyPr/>
                    <a:lstStyle/>
                    <a:p>
                      <a:pPr algn="ctr"/>
                      <a:r>
                        <a:rPr lang="en-US" altLang="zh-CN" sz="1100" dirty="0" smtClean="0">
                          <a:latin typeface="Times New Roman" pitchFamily="18" charset="0"/>
                          <a:cs typeface="Times New Roman" pitchFamily="18" charset="0"/>
                        </a:rPr>
                        <a:t>1</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Send: Switch</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autonomously </a:t>
                      </a:r>
                      <a:r>
                        <a:rPr lang="en-US" altLang="zh-CN" sz="1100" baseline="0" dirty="0" smtClean="0">
                          <a:latin typeface="Times New Roman" pitchFamily="18" charset="0"/>
                          <a:cs typeface="Times New Roman" pitchFamily="18" charset="0"/>
                        </a:rPr>
                        <a:t>between </a:t>
                      </a:r>
                      <a:r>
                        <a:rPr lang="en-US" altLang="zh-CN" sz="1100" dirty="0" smtClean="0">
                          <a:latin typeface="Times New Roman" pitchFamily="18" charset="0"/>
                          <a:cs typeface="Times New Roman" pitchFamily="18" charset="0"/>
                        </a:rPr>
                        <a:t>EPM</a:t>
                      </a:r>
                      <a:r>
                        <a:rPr lang="en-US" altLang="zh-CN" sz="1100" baseline="0" dirty="0" smtClean="0">
                          <a:latin typeface="Times New Roman" pitchFamily="18" charset="0"/>
                          <a:cs typeface="Times New Roman" pitchFamily="18" charset="0"/>
                        </a:rPr>
                        <a:t> and </a:t>
                      </a:r>
                      <a:r>
                        <a:rPr lang="en-US" altLang="zh-CN" sz="1100" dirty="0" smtClean="0">
                          <a:latin typeface="Times New Roman" pitchFamily="18" charset="0"/>
                          <a:cs typeface="Times New Roman" pitchFamily="18" charset="0"/>
                        </a:rPr>
                        <a:t>SPM </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TMK278-3</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baseline="0" dirty="0" smtClean="0">
                          <a:latin typeface="Times New Roman" pitchFamily="18" charset="0"/>
                          <a:cs typeface="Times New Roman" pitchFamily="18" charset="0"/>
                        </a:rPr>
                        <a:t>Autonomously switch FLAG between EPM and SPM</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D3=0:Not</a:t>
                      </a:r>
                      <a:r>
                        <a:rPr lang="en-US" altLang="zh-CN" sz="1100" baseline="0" dirty="0" smtClean="0">
                          <a:latin typeface="Times New Roman" pitchFamily="18" charset="0"/>
                          <a:cs typeface="Times New Roman" pitchFamily="18" charset="0"/>
                        </a:rPr>
                        <a:t> allowed;</a:t>
                      </a:r>
                    </a:p>
                    <a:p>
                      <a:pPr algn="ctr"/>
                      <a:r>
                        <a:rPr lang="en-US" altLang="zh-CN" sz="1100" baseline="0" dirty="0" smtClean="0">
                          <a:latin typeface="Times New Roman" pitchFamily="18" charset="0"/>
                          <a:cs typeface="Times New Roman" pitchFamily="18" charset="0"/>
                        </a:rPr>
                        <a:t>D3=1: Allowed;</a:t>
                      </a:r>
                      <a:endParaRPr lang="zh-CN" altLang="en-US" sz="1100" dirty="0">
                        <a:latin typeface="Times New Roman" pitchFamily="18" charset="0"/>
                        <a:cs typeface="Times New Roman" pitchFamily="18" charset="0"/>
                      </a:endParaRPr>
                    </a:p>
                  </a:txBody>
                  <a:tcPr marT="34290" marB="34290" anchor="ctr"/>
                </a:tc>
              </a:tr>
              <a:tr h="388620">
                <a:tc>
                  <a:txBody>
                    <a:bodyPr/>
                    <a:lstStyle/>
                    <a:p>
                      <a:pPr algn="ctr"/>
                      <a:r>
                        <a:rPr lang="en-US" altLang="zh-CN" sz="1100" dirty="0" smtClean="0">
                          <a:latin typeface="Times New Roman" pitchFamily="18" charset="0"/>
                          <a:cs typeface="Times New Roman" pitchFamily="18" charset="0"/>
                        </a:rPr>
                        <a:t>2</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Send: Operate EPM</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TMK103</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Control Mode Word</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40H: MAM;</a:t>
                      </a:r>
                    </a:p>
                    <a:p>
                      <a:pPr algn="ctr"/>
                      <a:r>
                        <a:rPr lang="en-US" altLang="zh-CN" sz="1100" dirty="0" smtClean="0">
                          <a:latin typeface="Times New Roman" pitchFamily="18" charset="0"/>
                          <a:cs typeface="Times New Roman" pitchFamily="18" charset="0"/>
                        </a:rPr>
                        <a:t>50H: EPM;</a:t>
                      </a:r>
                      <a:endParaRPr lang="zh-CN" altLang="en-US" sz="1100" dirty="0">
                        <a:latin typeface="Times New Roman" pitchFamily="18" charset="0"/>
                        <a:cs typeface="Times New Roman" pitchFamily="18" charset="0"/>
                      </a:endParaRPr>
                    </a:p>
                  </a:txBody>
                  <a:tcPr marT="34290" marB="34290" anchor="ctr"/>
                </a:tc>
              </a:tr>
              <a:tr h="388620">
                <a:tc>
                  <a:txBody>
                    <a:bodyPr/>
                    <a:lstStyle/>
                    <a:p>
                      <a:pPr algn="ctr"/>
                      <a:r>
                        <a:rPr lang="en-US" altLang="zh-CN" sz="1100" dirty="0" smtClean="0">
                          <a:latin typeface="Times New Roman" pitchFamily="18" charset="0"/>
                          <a:cs typeface="Times New Roman" pitchFamily="18" charset="0"/>
                        </a:rPr>
                        <a:t>3</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Inject: </a:t>
                      </a:r>
                    </a:p>
                    <a:p>
                      <a:pPr algn="ctr"/>
                      <a:r>
                        <a:rPr lang="en-US" altLang="zh-CN" sz="1100" dirty="0" smtClean="0">
                          <a:latin typeface="Times New Roman" pitchFamily="18" charset="0"/>
                          <a:cs typeface="Times New Roman" pitchFamily="18" charset="0"/>
                        </a:rPr>
                        <a:t>Maneuver</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Data Block</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TMK171</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Count of successful</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injections </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+1</a:t>
                      </a:r>
                      <a:endParaRPr lang="zh-CN" altLang="en-US" sz="1100" dirty="0">
                        <a:latin typeface="Times New Roman" pitchFamily="18" charset="0"/>
                        <a:cs typeface="Times New Roman" pitchFamily="18" charset="0"/>
                      </a:endParaRPr>
                    </a:p>
                  </a:txBody>
                  <a:tcPr marT="34290" marB="34290" anchor="ctr"/>
                </a:tc>
              </a:tr>
              <a:tr h="388620">
                <a:tc rowSpan="3">
                  <a:txBody>
                    <a:bodyPr/>
                    <a:lstStyle/>
                    <a:p>
                      <a:pPr algn="ctr"/>
                      <a:r>
                        <a:rPr lang="en-US" altLang="zh-CN" sz="1100" dirty="0" smtClean="0">
                          <a:latin typeface="Times New Roman" pitchFamily="18" charset="0"/>
                          <a:cs typeface="Times New Roman" pitchFamily="18" charset="0"/>
                        </a:rPr>
                        <a:t>4</a:t>
                      </a:r>
                      <a:endParaRPr lang="zh-CN" altLang="en-US" sz="1100" dirty="0">
                        <a:latin typeface="Times New Roman" pitchFamily="18" charset="0"/>
                        <a:cs typeface="Times New Roman" pitchFamily="18" charset="0"/>
                      </a:endParaRPr>
                    </a:p>
                  </a:txBody>
                  <a:tcPr marT="34290" marB="34290" anchor="ctr"/>
                </a:tc>
                <a:tc rowSpan="3">
                  <a:txBody>
                    <a:bodyPr/>
                    <a:lstStyle/>
                    <a:p>
                      <a:pPr algn="ctr"/>
                      <a:r>
                        <a:rPr lang="en-US" altLang="zh-CN" sz="1100" dirty="0" smtClean="0">
                          <a:latin typeface="Times New Roman" pitchFamily="18" charset="0"/>
                          <a:cs typeface="Times New Roman" pitchFamily="18" charset="0"/>
                        </a:rPr>
                        <a:t>Send: Off-set</a:t>
                      </a:r>
                      <a:r>
                        <a:rPr lang="en-US" altLang="zh-CN" sz="1100" baseline="0" dirty="0" smtClean="0">
                          <a:latin typeface="Times New Roman" pitchFamily="18" charset="0"/>
                          <a:cs typeface="Times New Roman" pitchFamily="18" charset="0"/>
                        </a:rPr>
                        <a:t> Flight</a:t>
                      </a:r>
                      <a:endParaRPr lang="zh-CN" altLang="en-US" sz="11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TMK103</a:t>
                      </a:r>
                      <a:endParaRPr lang="zh-CN" altLang="en-US" sz="11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Control Mode Word</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40H: MAM;</a:t>
                      </a:r>
                    </a:p>
                    <a:p>
                      <a:pPr algn="ctr"/>
                      <a:r>
                        <a:rPr lang="en-US" altLang="zh-CN" sz="1100" dirty="0" smtClean="0">
                          <a:latin typeface="Times New Roman" pitchFamily="18" charset="0"/>
                          <a:cs typeface="Times New Roman" pitchFamily="18" charset="0"/>
                        </a:rPr>
                        <a:t>60H:AMM;</a:t>
                      </a:r>
                      <a:endParaRPr lang="zh-CN" altLang="en-US" sz="1100" dirty="0" smtClean="0">
                        <a:latin typeface="Times New Roman" pitchFamily="18" charset="0"/>
                        <a:cs typeface="Times New Roman" pitchFamily="18" charset="0"/>
                      </a:endParaRPr>
                    </a:p>
                  </a:txBody>
                  <a:tcPr marT="34290" marB="34290" anchor="ctr"/>
                </a:tc>
              </a:tr>
              <a:tr h="228600">
                <a:tc vMerge="1">
                  <a:txBody>
                    <a:bodyPr/>
                    <a:lstStyle/>
                    <a:p>
                      <a:endParaRPr lang="zh-CN" altLang="en-US"/>
                    </a:p>
                  </a:txBody>
                  <a:tcPr/>
                </a:tc>
                <a:tc vMerge="1">
                  <a:txBody>
                    <a:bodyPr/>
                    <a:lstStyle/>
                    <a:p>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TMK104</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baseline="0" dirty="0" smtClean="0">
                          <a:latin typeface="Times New Roman" pitchFamily="18" charset="0"/>
                          <a:cs typeface="Times New Roman" pitchFamily="18" charset="0"/>
                        </a:rPr>
                        <a:t>Angle of roll</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As the same</a:t>
                      </a:r>
                      <a:r>
                        <a:rPr lang="en-US" altLang="zh-CN" sz="1100" baseline="0" dirty="0" smtClean="0">
                          <a:latin typeface="Times New Roman" pitchFamily="18" charset="0"/>
                          <a:cs typeface="Times New Roman" pitchFamily="18" charset="0"/>
                        </a:rPr>
                        <a:t> as the set</a:t>
                      </a:r>
                      <a:endParaRPr lang="zh-CN" altLang="en-US" sz="1100" dirty="0">
                        <a:latin typeface="Times New Roman" pitchFamily="18" charset="0"/>
                        <a:cs typeface="Times New Roman" pitchFamily="18" charset="0"/>
                      </a:endParaRPr>
                    </a:p>
                  </a:txBody>
                  <a:tcPr marT="34290" marB="34290" anchor="ctr"/>
                </a:tc>
              </a:tr>
              <a:tr h="228600">
                <a:tc vMerge="1">
                  <a:txBody>
                    <a:bodyPr/>
                    <a:lstStyle/>
                    <a:p>
                      <a:endParaRPr lang="zh-CN" altLang="en-US"/>
                    </a:p>
                  </a:txBody>
                  <a:tcPr/>
                </a:tc>
                <a:tc vMerge="1">
                  <a:txBody>
                    <a:bodyPr/>
                    <a:lstStyle/>
                    <a:p>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TMK105</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Angle of pitch</a:t>
                      </a:r>
                      <a:endParaRPr lang="zh-CN" altLang="en-US" sz="11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As the same</a:t>
                      </a:r>
                      <a:r>
                        <a:rPr lang="en-US" altLang="zh-CN" sz="1100" baseline="0" dirty="0" smtClean="0">
                          <a:latin typeface="Times New Roman" pitchFamily="18" charset="0"/>
                          <a:cs typeface="Times New Roman" pitchFamily="18" charset="0"/>
                        </a:rPr>
                        <a:t> as the set</a:t>
                      </a:r>
                      <a:endParaRPr lang="zh-CN" altLang="en-US" sz="1100" dirty="0" smtClean="0">
                        <a:latin typeface="Times New Roman" pitchFamily="18" charset="0"/>
                        <a:cs typeface="Times New Roman" pitchFamily="18" charset="0"/>
                      </a:endParaRPr>
                    </a:p>
                  </a:txBody>
                  <a:tcPr marT="34290" marB="34290" anchor="ctr"/>
                </a:tc>
              </a:tr>
              <a:tr h="388620">
                <a:tc>
                  <a:txBody>
                    <a:bodyPr/>
                    <a:lstStyle/>
                    <a:p>
                      <a:pPr algn="ctr"/>
                      <a:r>
                        <a:rPr lang="en-US" altLang="zh-CN" sz="1100" dirty="0" smtClean="0">
                          <a:latin typeface="Times New Roman" pitchFamily="18" charset="0"/>
                          <a:cs typeface="Times New Roman" pitchFamily="18" charset="0"/>
                        </a:rPr>
                        <a:t>5</a:t>
                      </a:r>
                      <a:endParaRPr lang="zh-CN" altLang="en-US" sz="11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Send: Off-set</a:t>
                      </a:r>
                      <a:r>
                        <a:rPr lang="en-US" altLang="zh-CN" sz="1100" baseline="0" dirty="0" smtClean="0">
                          <a:latin typeface="Times New Roman" pitchFamily="18" charset="0"/>
                          <a:cs typeface="Times New Roman" pitchFamily="18" charset="0"/>
                        </a:rPr>
                        <a:t> Flight Return</a:t>
                      </a:r>
                      <a:endParaRPr lang="zh-CN" altLang="en-US" sz="11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TMK103</a:t>
                      </a:r>
                      <a:endParaRPr lang="zh-CN" altLang="en-US" sz="11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Control Mode Word</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40H: MAM;</a:t>
                      </a:r>
                    </a:p>
                    <a:p>
                      <a:pPr algn="ctr"/>
                      <a:r>
                        <a:rPr lang="en-US" altLang="zh-CN" sz="1100" dirty="0" smtClean="0">
                          <a:latin typeface="Times New Roman" pitchFamily="18" charset="0"/>
                          <a:cs typeface="Times New Roman" pitchFamily="18" charset="0"/>
                        </a:rPr>
                        <a:t>50H:EPM;</a:t>
                      </a:r>
                      <a:endParaRPr lang="zh-CN" altLang="en-US" sz="1100" dirty="0" smtClean="0">
                        <a:latin typeface="Times New Roman" pitchFamily="18" charset="0"/>
                        <a:cs typeface="Times New Roman" pitchFamily="18" charset="0"/>
                      </a:endParaRPr>
                    </a:p>
                  </a:txBody>
                  <a:tcPr marT="34290" marB="34290" anchor="ctr"/>
                </a:tc>
              </a:tr>
              <a:tr h="388620">
                <a:tc rowSpan="2">
                  <a:txBody>
                    <a:bodyPr/>
                    <a:lstStyle/>
                    <a:p>
                      <a:pPr algn="ctr"/>
                      <a:r>
                        <a:rPr lang="en-US" altLang="zh-CN" sz="1100" dirty="0" smtClean="0">
                          <a:latin typeface="Times New Roman" pitchFamily="18" charset="0"/>
                          <a:cs typeface="Times New Roman" pitchFamily="18" charset="0"/>
                        </a:rPr>
                        <a:t>6</a:t>
                      </a:r>
                      <a:endParaRPr lang="zh-CN" altLang="en-US" sz="1100" dirty="0">
                        <a:latin typeface="Times New Roman" pitchFamily="18" charset="0"/>
                        <a:cs typeface="Times New Roman" pitchFamily="18" charset="0"/>
                      </a:endParaRPr>
                    </a:p>
                  </a:txBody>
                  <a:tcPr marT="34290" marB="34290" anchor="ctr"/>
                </a:tc>
                <a:tc rowSpan="2">
                  <a:txBody>
                    <a:bodyPr/>
                    <a:lstStyle/>
                    <a:p>
                      <a:pPr algn="ctr"/>
                      <a:r>
                        <a:rPr lang="en-US" altLang="zh-CN" sz="1100" dirty="0" smtClean="0">
                          <a:latin typeface="Times New Roman" pitchFamily="18" charset="0"/>
                          <a:cs typeface="Times New Roman" pitchFamily="18" charset="0"/>
                        </a:rPr>
                        <a:t>Send: Switch</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autonomously </a:t>
                      </a:r>
                      <a:r>
                        <a:rPr lang="en-US" altLang="zh-CN" sz="1100" baseline="0" dirty="0" smtClean="0">
                          <a:latin typeface="Times New Roman" pitchFamily="18" charset="0"/>
                          <a:cs typeface="Times New Roman" pitchFamily="18" charset="0"/>
                        </a:rPr>
                        <a:t>between </a:t>
                      </a:r>
                      <a:r>
                        <a:rPr lang="en-US" altLang="zh-CN" sz="1100" dirty="0" smtClean="0">
                          <a:latin typeface="Times New Roman" pitchFamily="18" charset="0"/>
                          <a:cs typeface="Times New Roman" pitchFamily="18" charset="0"/>
                        </a:rPr>
                        <a:t>EPM</a:t>
                      </a:r>
                      <a:r>
                        <a:rPr lang="en-US" altLang="zh-CN" sz="1100" baseline="0" dirty="0" smtClean="0">
                          <a:latin typeface="Times New Roman" pitchFamily="18" charset="0"/>
                          <a:cs typeface="Times New Roman" pitchFamily="18" charset="0"/>
                        </a:rPr>
                        <a:t> and </a:t>
                      </a:r>
                      <a:r>
                        <a:rPr lang="en-US" altLang="zh-CN" sz="1100" dirty="0" smtClean="0">
                          <a:latin typeface="Times New Roman" pitchFamily="18" charset="0"/>
                          <a:cs typeface="Times New Roman" pitchFamily="18" charset="0"/>
                        </a:rPr>
                        <a:t>SPM </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TMK278-3</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baseline="0" dirty="0" smtClean="0">
                          <a:latin typeface="Times New Roman" pitchFamily="18" charset="0"/>
                          <a:cs typeface="Times New Roman" pitchFamily="18" charset="0"/>
                        </a:rPr>
                        <a:t>Autonomously switch FLAG between EPM and SPM</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D3=0:Not</a:t>
                      </a:r>
                      <a:r>
                        <a:rPr lang="en-US" altLang="zh-CN" sz="1100" baseline="0" dirty="0" smtClean="0">
                          <a:latin typeface="Times New Roman" pitchFamily="18" charset="0"/>
                          <a:cs typeface="Times New Roman" pitchFamily="18" charset="0"/>
                        </a:rPr>
                        <a:t> allowed;</a:t>
                      </a:r>
                    </a:p>
                    <a:p>
                      <a:pPr algn="ctr"/>
                      <a:r>
                        <a:rPr lang="en-US" altLang="zh-CN" sz="1100" baseline="0" dirty="0" smtClean="0">
                          <a:latin typeface="Times New Roman" pitchFamily="18" charset="0"/>
                          <a:cs typeface="Times New Roman" pitchFamily="18" charset="0"/>
                        </a:rPr>
                        <a:t>D3=1: Allowed;</a:t>
                      </a:r>
                      <a:endParaRPr lang="zh-CN" altLang="en-US" sz="1100" dirty="0">
                        <a:latin typeface="Times New Roman" pitchFamily="18" charset="0"/>
                        <a:cs typeface="Times New Roman" pitchFamily="18" charset="0"/>
                      </a:endParaRPr>
                    </a:p>
                  </a:txBody>
                  <a:tcPr marT="34290" marB="34290" anchor="ctr"/>
                </a:tc>
              </a:tr>
              <a:tr h="388620">
                <a:tc vMerge="1">
                  <a:txBody>
                    <a:bodyPr/>
                    <a:lstStyle/>
                    <a:p>
                      <a:endParaRPr lang="zh-CN" altLang="en-US"/>
                    </a:p>
                  </a:txBody>
                  <a:tcPr/>
                </a:tc>
                <a:tc vMerge="1">
                  <a:txBody>
                    <a:bodyPr/>
                    <a:lstStyle/>
                    <a:p>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TMK280-5</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FLAG of solar zone</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1:</a:t>
                      </a:r>
                      <a:r>
                        <a:rPr lang="en-US" altLang="zh-CN" sz="1100" baseline="0" dirty="0" smtClean="0">
                          <a:latin typeface="Times New Roman" pitchFamily="18" charset="0"/>
                          <a:cs typeface="Times New Roman" pitchFamily="18" charset="0"/>
                        </a:rPr>
                        <a:t> Solar zone;</a:t>
                      </a:r>
                    </a:p>
                    <a:p>
                      <a:pPr algn="ctr"/>
                      <a:r>
                        <a:rPr lang="en-US" altLang="zh-CN" sz="1100" baseline="0" dirty="0" smtClean="0">
                          <a:latin typeface="Times New Roman" pitchFamily="18" charset="0"/>
                          <a:cs typeface="Times New Roman" pitchFamily="18" charset="0"/>
                        </a:rPr>
                        <a:t>0: Shadow zone;</a:t>
                      </a:r>
                      <a:endParaRPr lang="zh-CN" altLang="en-US" sz="1100" dirty="0">
                        <a:latin typeface="Times New Roman" pitchFamily="18" charset="0"/>
                        <a:cs typeface="Times New Roman" pitchFamily="18" charset="0"/>
                      </a:endParaRPr>
                    </a:p>
                  </a:txBody>
                  <a:tcPr marT="34290" marB="34290" anchor="ctr"/>
                </a:tc>
              </a:tr>
            </a:tbl>
          </a:graphicData>
        </a:graphic>
      </p:graphicFrame>
    </p:spTree>
    <p:extLst>
      <p:ext uri="{BB962C8B-B14F-4D97-AF65-F5344CB8AC3E}">
        <p14:creationId xmlns:p14="http://schemas.microsoft.com/office/powerpoint/2010/main" val="2735830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Operations</a:t>
            </a:r>
            <a:endParaRPr lang="en-US" altLang="zh-CN" sz="2800" b="1" dirty="0">
              <a:solidFill>
                <a:schemeClr val="bg1"/>
              </a:solidFill>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857760111"/>
              </p:ext>
            </p:extLst>
          </p:nvPr>
        </p:nvGraphicFramePr>
        <p:xfrm>
          <a:off x="251521" y="1113588"/>
          <a:ext cx="8712969" cy="3558540"/>
        </p:xfrm>
        <a:graphic>
          <a:graphicData uri="http://schemas.openxmlformats.org/drawingml/2006/table">
            <a:tbl>
              <a:tblPr firstRow="1" bandRow="1">
                <a:tableStyleId>{5C22544A-7EE6-4342-B048-85BDC9FD1C3A}</a:tableStyleId>
              </a:tblPr>
              <a:tblGrid>
                <a:gridCol w="648072"/>
                <a:gridCol w="2160240"/>
                <a:gridCol w="1224136"/>
                <a:gridCol w="2448272"/>
                <a:gridCol w="2232249"/>
              </a:tblGrid>
              <a:tr h="274320">
                <a:tc gridSpan="5">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Command sequence 2</a:t>
                      </a:r>
                    </a:p>
                  </a:txBody>
                  <a:tcPr marT="34290" marB="3429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r>
              <a:tr h="228600">
                <a:tc>
                  <a:txBody>
                    <a:bodyPr/>
                    <a:lstStyle/>
                    <a:p>
                      <a:pPr algn="ctr"/>
                      <a:r>
                        <a:rPr lang="en-US" altLang="zh-CN" sz="1100" dirty="0" smtClean="0">
                          <a:latin typeface="Times New Roman" pitchFamily="18" charset="0"/>
                          <a:cs typeface="Times New Roman" pitchFamily="18" charset="0"/>
                        </a:rPr>
                        <a:t>Step</a:t>
                      </a:r>
                      <a:endParaRPr lang="zh-CN" altLang="en-US" sz="1100" dirty="0">
                        <a:latin typeface="Times New Roman" pitchFamily="18" charset="0"/>
                        <a:cs typeface="Times New Roman" pitchFamily="18" charset="0"/>
                      </a:endParaRPr>
                    </a:p>
                  </a:txBody>
                  <a:tcPr marT="34290" marB="34290"/>
                </a:tc>
                <a:tc>
                  <a:txBody>
                    <a:bodyPr/>
                    <a:lstStyle/>
                    <a:p>
                      <a:pPr algn="ctr"/>
                      <a:r>
                        <a:rPr lang="en-US" altLang="zh-CN" sz="1100" dirty="0" smtClean="0">
                          <a:latin typeface="Times New Roman" pitchFamily="18" charset="0"/>
                          <a:cs typeface="Times New Roman" pitchFamily="18" charset="0"/>
                        </a:rPr>
                        <a:t>Command</a:t>
                      </a:r>
                      <a:endParaRPr lang="zh-CN" altLang="en-US" sz="1100" dirty="0">
                        <a:latin typeface="Times New Roman" pitchFamily="18" charset="0"/>
                        <a:cs typeface="Times New Roman" pitchFamily="18" charset="0"/>
                      </a:endParaRPr>
                    </a:p>
                  </a:txBody>
                  <a:tcPr marT="34290" marB="34290"/>
                </a:tc>
                <a:tc>
                  <a:txBody>
                    <a:bodyPr/>
                    <a:lstStyle/>
                    <a:p>
                      <a:pPr algn="ctr"/>
                      <a:r>
                        <a:rPr lang="en-US" altLang="zh-CN" sz="1100" dirty="0" smtClean="0">
                          <a:latin typeface="Times New Roman" pitchFamily="18" charset="0"/>
                          <a:cs typeface="Times New Roman" pitchFamily="18" charset="0"/>
                        </a:rPr>
                        <a:t>Telemetry</a:t>
                      </a:r>
                      <a:endParaRPr lang="zh-CN" altLang="en-US" sz="1100" dirty="0">
                        <a:latin typeface="Times New Roman" pitchFamily="18" charset="0"/>
                        <a:cs typeface="Times New Roman" pitchFamily="18" charset="0"/>
                      </a:endParaRPr>
                    </a:p>
                  </a:txBody>
                  <a:tcPr marT="34290" marB="34290"/>
                </a:tc>
                <a:tc>
                  <a:txBody>
                    <a:bodyPr/>
                    <a:lstStyle/>
                    <a:p>
                      <a:pPr algn="ctr"/>
                      <a:r>
                        <a:rPr lang="en-US" altLang="zh-CN" sz="1100" dirty="0" smtClean="0">
                          <a:latin typeface="Times New Roman" pitchFamily="18" charset="0"/>
                          <a:cs typeface="Times New Roman" pitchFamily="18" charset="0"/>
                        </a:rPr>
                        <a:t>Description</a:t>
                      </a:r>
                      <a:endParaRPr lang="zh-CN" altLang="en-US" sz="1100" dirty="0">
                        <a:latin typeface="Times New Roman" pitchFamily="18" charset="0"/>
                        <a:cs typeface="Times New Roman" pitchFamily="18" charset="0"/>
                      </a:endParaRPr>
                    </a:p>
                  </a:txBody>
                  <a:tcPr marT="34290" marB="34290"/>
                </a:tc>
                <a:tc>
                  <a:txBody>
                    <a:bodyPr/>
                    <a:lstStyle/>
                    <a:p>
                      <a:pPr algn="ctr"/>
                      <a:r>
                        <a:rPr lang="en-US" altLang="zh-CN" sz="1100" dirty="0" smtClean="0">
                          <a:latin typeface="Times New Roman" pitchFamily="18" charset="0"/>
                          <a:cs typeface="Times New Roman" pitchFamily="18" charset="0"/>
                        </a:rPr>
                        <a:t>Definition and</a:t>
                      </a:r>
                      <a:r>
                        <a:rPr lang="en-US" altLang="zh-CN" sz="1100" baseline="0" dirty="0" smtClean="0">
                          <a:latin typeface="Times New Roman" pitchFamily="18" charset="0"/>
                          <a:cs typeface="Times New Roman" pitchFamily="18" charset="0"/>
                        </a:rPr>
                        <a:t> result</a:t>
                      </a:r>
                      <a:endParaRPr lang="zh-CN" altLang="en-US" sz="1100" dirty="0">
                        <a:latin typeface="Times New Roman" pitchFamily="18" charset="0"/>
                        <a:cs typeface="Times New Roman" pitchFamily="18" charset="0"/>
                      </a:endParaRPr>
                    </a:p>
                  </a:txBody>
                  <a:tcPr marT="34290" marB="34290"/>
                </a:tc>
              </a:tr>
              <a:tr h="548640">
                <a:tc>
                  <a:txBody>
                    <a:bodyPr/>
                    <a:lstStyle/>
                    <a:p>
                      <a:pPr algn="ctr"/>
                      <a:r>
                        <a:rPr lang="en-US" altLang="zh-CN" sz="1100" dirty="0" smtClean="0">
                          <a:latin typeface="Times New Roman" pitchFamily="18" charset="0"/>
                          <a:cs typeface="Times New Roman" pitchFamily="18" charset="0"/>
                        </a:rPr>
                        <a:t>1</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Send: Switch</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autonomously </a:t>
                      </a:r>
                      <a:r>
                        <a:rPr lang="en-US" altLang="zh-CN" sz="1100" baseline="0" dirty="0" smtClean="0">
                          <a:latin typeface="Times New Roman" pitchFamily="18" charset="0"/>
                          <a:cs typeface="Times New Roman" pitchFamily="18" charset="0"/>
                        </a:rPr>
                        <a:t>between </a:t>
                      </a:r>
                      <a:r>
                        <a:rPr lang="en-US" altLang="zh-CN" sz="1100" dirty="0" smtClean="0">
                          <a:latin typeface="Times New Roman" pitchFamily="18" charset="0"/>
                          <a:cs typeface="Times New Roman" pitchFamily="18" charset="0"/>
                        </a:rPr>
                        <a:t>EPM</a:t>
                      </a:r>
                      <a:r>
                        <a:rPr lang="en-US" altLang="zh-CN" sz="1100" baseline="0" dirty="0" smtClean="0">
                          <a:latin typeface="Times New Roman" pitchFamily="18" charset="0"/>
                          <a:cs typeface="Times New Roman" pitchFamily="18" charset="0"/>
                        </a:rPr>
                        <a:t> and </a:t>
                      </a:r>
                      <a:r>
                        <a:rPr lang="en-US" altLang="zh-CN" sz="1100" dirty="0" smtClean="0">
                          <a:latin typeface="Times New Roman" pitchFamily="18" charset="0"/>
                          <a:cs typeface="Times New Roman" pitchFamily="18" charset="0"/>
                        </a:rPr>
                        <a:t>SPM </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TMK278-3</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baseline="0" dirty="0" smtClean="0">
                          <a:latin typeface="Times New Roman" pitchFamily="18" charset="0"/>
                          <a:cs typeface="Times New Roman" pitchFamily="18" charset="0"/>
                        </a:rPr>
                        <a:t>Autonomously switch FLAG between EPM and SPM</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D3=0:Not</a:t>
                      </a:r>
                      <a:r>
                        <a:rPr lang="en-US" altLang="zh-CN" sz="1100" baseline="0" dirty="0" smtClean="0">
                          <a:latin typeface="Times New Roman" pitchFamily="18" charset="0"/>
                          <a:cs typeface="Times New Roman" pitchFamily="18" charset="0"/>
                        </a:rPr>
                        <a:t> allowed;</a:t>
                      </a:r>
                    </a:p>
                    <a:p>
                      <a:pPr algn="ctr"/>
                      <a:r>
                        <a:rPr lang="en-US" altLang="zh-CN" sz="1100" baseline="0" dirty="0" smtClean="0">
                          <a:latin typeface="Times New Roman" pitchFamily="18" charset="0"/>
                          <a:cs typeface="Times New Roman" pitchFamily="18" charset="0"/>
                        </a:rPr>
                        <a:t>D3=1: Allowed;</a:t>
                      </a:r>
                      <a:endParaRPr lang="zh-CN" altLang="en-US" sz="1100" dirty="0">
                        <a:latin typeface="Times New Roman" pitchFamily="18" charset="0"/>
                        <a:cs typeface="Times New Roman" pitchFamily="18" charset="0"/>
                      </a:endParaRPr>
                    </a:p>
                  </a:txBody>
                  <a:tcPr marT="34290" marB="34290" anchor="ctr"/>
                </a:tc>
              </a:tr>
              <a:tr h="388620">
                <a:tc>
                  <a:txBody>
                    <a:bodyPr/>
                    <a:lstStyle/>
                    <a:p>
                      <a:pPr algn="ctr"/>
                      <a:r>
                        <a:rPr lang="en-US" altLang="zh-CN" sz="1100" dirty="0" smtClean="0">
                          <a:latin typeface="Times New Roman" pitchFamily="18" charset="0"/>
                          <a:cs typeface="Times New Roman" pitchFamily="18" charset="0"/>
                        </a:rPr>
                        <a:t>2</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Inject: </a:t>
                      </a:r>
                    </a:p>
                    <a:p>
                      <a:pPr algn="ctr"/>
                      <a:r>
                        <a:rPr lang="en-US" altLang="zh-CN" sz="1100" dirty="0" smtClean="0">
                          <a:latin typeface="Times New Roman" pitchFamily="18" charset="0"/>
                          <a:cs typeface="Times New Roman" pitchFamily="18" charset="0"/>
                        </a:rPr>
                        <a:t>Maneuver</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Data Block</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TMK171</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Count of successful</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injections </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+1</a:t>
                      </a:r>
                      <a:endParaRPr lang="zh-CN" altLang="en-US" sz="1100" dirty="0">
                        <a:latin typeface="Times New Roman" pitchFamily="18" charset="0"/>
                        <a:cs typeface="Times New Roman" pitchFamily="18" charset="0"/>
                      </a:endParaRPr>
                    </a:p>
                  </a:txBody>
                  <a:tcPr marT="34290" marB="34290" anchor="ctr"/>
                </a:tc>
              </a:tr>
              <a:tr h="388620">
                <a:tc rowSpan="3">
                  <a:txBody>
                    <a:bodyPr/>
                    <a:lstStyle/>
                    <a:p>
                      <a:pPr algn="ctr"/>
                      <a:r>
                        <a:rPr lang="en-US" altLang="zh-CN" sz="1100" dirty="0" smtClean="0">
                          <a:latin typeface="Times New Roman" pitchFamily="18" charset="0"/>
                          <a:cs typeface="Times New Roman" pitchFamily="18" charset="0"/>
                        </a:rPr>
                        <a:t>3</a:t>
                      </a:r>
                      <a:endParaRPr lang="zh-CN" altLang="en-US" sz="1100" dirty="0">
                        <a:latin typeface="Times New Roman" pitchFamily="18" charset="0"/>
                        <a:cs typeface="Times New Roman" pitchFamily="18" charset="0"/>
                      </a:endParaRPr>
                    </a:p>
                  </a:txBody>
                  <a:tcPr marT="34290" marB="34290" anchor="ctr"/>
                </a:tc>
                <a:tc rowSpan="3">
                  <a:txBody>
                    <a:bodyPr/>
                    <a:lstStyle/>
                    <a:p>
                      <a:pPr algn="ctr"/>
                      <a:r>
                        <a:rPr lang="en-US" altLang="zh-CN" sz="1100" dirty="0" smtClean="0">
                          <a:latin typeface="Times New Roman" pitchFamily="18" charset="0"/>
                          <a:cs typeface="Times New Roman" pitchFamily="18" charset="0"/>
                        </a:rPr>
                        <a:t>Send: Off-set</a:t>
                      </a:r>
                      <a:r>
                        <a:rPr lang="en-US" altLang="zh-CN" sz="1100" baseline="0" dirty="0" smtClean="0">
                          <a:latin typeface="Times New Roman" pitchFamily="18" charset="0"/>
                          <a:cs typeface="Times New Roman" pitchFamily="18" charset="0"/>
                        </a:rPr>
                        <a:t> Flight</a:t>
                      </a:r>
                      <a:endParaRPr lang="zh-CN" altLang="en-US" sz="11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TMK103</a:t>
                      </a:r>
                      <a:endParaRPr lang="zh-CN" altLang="en-US" sz="11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Control Mode Word</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40H: MAM;</a:t>
                      </a:r>
                    </a:p>
                    <a:p>
                      <a:pPr algn="ctr"/>
                      <a:r>
                        <a:rPr lang="en-US" altLang="zh-CN" sz="1100" dirty="0" smtClean="0">
                          <a:latin typeface="Times New Roman" pitchFamily="18" charset="0"/>
                          <a:cs typeface="Times New Roman" pitchFamily="18" charset="0"/>
                        </a:rPr>
                        <a:t>60H:AMM;</a:t>
                      </a:r>
                      <a:endParaRPr lang="zh-CN" altLang="en-US" sz="1100" dirty="0" smtClean="0">
                        <a:latin typeface="Times New Roman" pitchFamily="18" charset="0"/>
                        <a:cs typeface="Times New Roman" pitchFamily="18" charset="0"/>
                      </a:endParaRPr>
                    </a:p>
                  </a:txBody>
                  <a:tcPr marT="34290" marB="34290" anchor="ctr"/>
                </a:tc>
              </a:tr>
              <a:tr h="228600">
                <a:tc vMerge="1">
                  <a:txBody>
                    <a:bodyPr/>
                    <a:lstStyle/>
                    <a:p>
                      <a:endParaRPr lang="zh-CN" altLang="en-US"/>
                    </a:p>
                  </a:txBody>
                  <a:tcPr/>
                </a:tc>
                <a:tc vMerge="1">
                  <a:txBody>
                    <a:bodyPr/>
                    <a:lstStyle/>
                    <a:p>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TMK104</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baseline="0" dirty="0" smtClean="0">
                          <a:latin typeface="Times New Roman" pitchFamily="18" charset="0"/>
                          <a:cs typeface="Times New Roman" pitchFamily="18" charset="0"/>
                        </a:rPr>
                        <a:t>Angle of roll</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As the same</a:t>
                      </a:r>
                      <a:r>
                        <a:rPr lang="en-US" altLang="zh-CN" sz="1100" baseline="0" dirty="0" smtClean="0">
                          <a:latin typeface="Times New Roman" pitchFamily="18" charset="0"/>
                          <a:cs typeface="Times New Roman" pitchFamily="18" charset="0"/>
                        </a:rPr>
                        <a:t> as the set</a:t>
                      </a:r>
                      <a:endParaRPr lang="zh-CN" altLang="en-US" sz="1100" dirty="0">
                        <a:latin typeface="Times New Roman" pitchFamily="18" charset="0"/>
                        <a:cs typeface="Times New Roman" pitchFamily="18" charset="0"/>
                      </a:endParaRPr>
                    </a:p>
                  </a:txBody>
                  <a:tcPr marT="34290" marB="34290" anchor="ctr"/>
                </a:tc>
              </a:tr>
              <a:tr h="228600">
                <a:tc vMerge="1">
                  <a:txBody>
                    <a:bodyPr/>
                    <a:lstStyle/>
                    <a:p>
                      <a:endParaRPr lang="zh-CN" altLang="en-US"/>
                    </a:p>
                  </a:txBody>
                  <a:tcPr/>
                </a:tc>
                <a:tc vMerge="1">
                  <a:txBody>
                    <a:bodyPr/>
                    <a:lstStyle/>
                    <a:p>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TMK105</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Angle of pitch</a:t>
                      </a:r>
                      <a:endParaRPr lang="zh-CN" altLang="en-US" sz="11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As the same</a:t>
                      </a:r>
                      <a:r>
                        <a:rPr lang="en-US" altLang="zh-CN" sz="1100" baseline="0" dirty="0" smtClean="0">
                          <a:latin typeface="Times New Roman" pitchFamily="18" charset="0"/>
                          <a:cs typeface="Times New Roman" pitchFamily="18" charset="0"/>
                        </a:rPr>
                        <a:t> as the set</a:t>
                      </a:r>
                      <a:endParaRPr lang="zh-CN" altLang="en-US" sz="1100" dirty="0" smtClean="0">
                        <a:latin typeface="Times New Roman" pitchFamily="18" charset="0"/>
                        <a:cs typeface="Times New Roman" pitchFamily="18" charset="0"/>
                      </a:endParaRPr>
                    </a:p>
                  </a:txBody>
                  <a:tcPr marT="34290" marB="34290" anchor="ctr"/>
                </a:tc>
              </a:tr>
              <a:tr h="388620">
                <a:tc>
                  <a:txBody>
                    <a:bodyPr/>
                    <a:lstStyle/>
                    <a:p>
                      <a:pPr algn="ctr"/>
                      <a:r>
                        <a:rPr lang="en-US" altLang="zh-CN" sz="1100" dirty="0" smtClean="0">
                          <a:latin typeface="Times New Roman" pitchFamily="18" charset="0"/>
                          <a:cs typeface="Times New Roman" pitchFamily="18" charset="0"/>
                        </a:rPr>
                        <a:t>4</a:t>
                      </a:r>
                      <a:endParaRPr lang="zh-CN" altLang="en-US" sz="11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Send: Off-set</a:t>
                      </a:r>
                      <a:r>
                        <a:rPr lang="en-US" altLang="zh-CN" sz="1100" baseline="0" dirty="0" smtClean="0">
                          <a:latin typeface="Times New Roman" pitchFamily="18" charset="0"/>
                          <a:cs typeface="Times New Roman" pitchFamily="18" charset="0"/>
                        </a:rPr>
                        <a:t> Flight Return</a:t>
                      </a:r>
                      <a:endParaRPr lang="zh-CN" altLang="en-US" sz="11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TMK103</a:t>
                      </a:r>
                      <a:endParaRPr lang="zh-CN" altLang="en-US" sz="11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Control Mode Word</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40H: MAM;</a:t>
                      </a:r>
                    </a:p>
                    <a:p>
                      <a:pPr algn="ctr"/>
                      <a:r>
                        <a:rPr lang="en-US" altLang="zh-CN" sz="1100" dirty="0" smtClean="0">
                          <a:latin typeface="Times New Roman" pitchFamily="18" charset="0"/>
                          <a:cs typeface="Times New Roman" pitchFamily="18" charset="0"/>
                        </a:rPr>
                        <a:t>50H:EPM;</a:t>
                      </a:r>
                      <a:endParaRPr lang="zh-CN" altLang="en-US" sz="1100" dirty="0" smtClean="0">
                        <a:latin typeface="Times New Roman" pitchFamily="18" charset="0"/>
                        <a:cs typeface="Times New Roman" pitchFamily="18" charset="0"/>
                      </a:endParaRPr>
                    </a:p>
                  </a:txBody>
                  <a:tcPr marT="34290" marB="34290" anchor="ctr"/>
                </a:tc>
              </a:tr>
              <a:tr h="388620">
                <a:tc rowSpan="2">
                  <a:txBody>
                    <a:bodyPr/>
                    <a:lstStyle/>
                    <a:p>
                      <a:pPr algn="ctr"/>
                      <a:r>
                        <a:rPr lang="en-US" altLang="zh-CN" sz="1100" dirty="0" smtClean="0">
                          <a:latin typeface="Times New Roman" pitchFamily="18" charset="0"/>
                          <a:cs typeface="Times New Roman" pitchFamily="18" charset="0"/>
                        </a:rPr>
                        <a:t>5</a:t>
                      </a:r>
                      <a:endParaRPr lang="zh-CN" altLang="en-US" sz="1100" dirty="0">
                        <a:latin typeface="Times New Roman" pitchFamily="18" charset="0"/>
                        <a:cs typeface="Times New Roman" pitchFamily="18" charset="0"/>
                      </a:endParaRPr>
                    </a:p>
                  </a:txBody>
                  <a:tcPr marT="34290" marB="34290" anchor="ctr"/>
                </a:tc>
                <a:tc rowSpan="2">
                  <a:txBody>
                    <a:bodyPr/>
                    <a:lstStyle/>
                    <a:p>
                      <a:pPr algn="ctr"/>
                      <a:r>
                        <a:rPr lang="en-US" altLang="zh-CN" sz="1100" dirty="0" smtClean="0">
                          <a:latin typeface="Times New Roman" pitchFamily="18" charset="0"/>
                          <a:cs typeface="Times New Roman" pitchFamily="18" charset="0"/>
                        </a:rPr>
                        <a:t>Send: Switch</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autonomously </a:t>
                      </a:r>
                      <a:r>
                        <a:rPr lang="en-US" altLang="zh-CN" sz="1100" baseline="0" dirty="0" smtClean="0">
                          <a:latin typeface="Times New Roman" pitchFamily="18" charset="0"/>
                          <a:cs typeface="Times New Roman" pitchFamily="18" charset="0"/>
                        </a:rPr>
                        <a:t>between </a:t>
                      </a:r>
                      <a:r>
                        <a:rPr lang="en-US" altLang="zh-CN" sz="1100" dirty="0" smtClean="0">
                          <a:latin typeface="Times New Roman" pitchFamily="18" charset="0"/>
                          <a:cs typeface="Times New Roman" pitchFamily="18" charset="0"/>
                        </a:rPr>
                        <a:t>EPM</a:t>
                      </a:r>
                      <a:r>
                        <a:rPr lang="en-US" altLang="zh-CN" sz="1100" baseline="0" dirty="0" smtClean="0">
                          <a:latin typeface="Times New Roman" pitchFamily="18" charset="0"/>
                          <a:cs typeface="Times New Roman" pitchFamily="18" charset="0"/>
                        </a:rPr>
                        <a:t> and </a:t>
                      </a:r>
                      <a:r>
                        <a:rPr lang="en-US" altLang="zh-CN" sz="1100" dirty="0" smtClean="0">
                          <a:latin typeface="Times New Roman" pitchFamily="18" charset="0"/>
                          <a:cs typeface="Times New Roman" pitchFamily="18" charset="0"/>
                        </a:rPr>
                        <a:t>SPM </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TMK278-3</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baseline="0" dirty="0" smtClean="0">
                          <a:latin typeface="Times New Roman" pitchFamily="18" charset="0"/>
                          <a:cs typeface="Times New Roman" pitchFamily="18" charset="0"/>
                        </a:rPr>
                        <a:t>Autonomously switch FLAG between EPM and SPM</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D3=0:Not</a:t>
                      </a:r>
                      <a:r>
                        <a:rPr lang="en-US" altLang="zh-CN" sz="1100" baseline="0" dirty="0" smtClean="0">
                          <a:latin typeface="Times New Roman" pitchFamily="18" charset="0"/>
                          <a:cs typeface="Times New Roman" pitchFamily="18" charset="0"/>
                        </a:rPr>
                        <a:t> allowed;</a:t>
                      </a:r>
                    </a:p>
                    <a:p>
                      <a:pPr algn="ctr"/>
                      <a:r>
                        <a:rPr lang="en-US" altLang="zh-CN" sz="1100" baseline="0" dirty="0" smtClean="0">
                          <a:latin typeface="Times New Roman" pitchFamily="18" charset="0"/>
                          <a:cs typeface="Times New Roman" pitchFamily="18" charset="0"/>
                        </a:rPr>
                        <a:t>D3=1: Allowed;</a:t>
                      </a:r>
                      <a:endParaRPr lang="zh-CN" altLang="en-US" sz="1100" dirty="0">
                        <a:latin typeface="Times New Roman" pitchFamily="18" charset="0"/>
                        <a:cs typeface="Times New Roman" pitchFamily="18" charset="0"/>
                      </a:endParaRPr>
                    </a:p>
                  </a:txBody>
                  <a:tcPr marT="34290" marB="34290" anchor="ctr"/>
                </a:tc>
              </a:tr>
              <a:tr h="388620">
                <a:tc vMerge="1">
                  <a:txBody>
                    <a:bodyPr/>
                    <a:lstStyle/>
                    <a:p>
                      <a:endParaRPr lang="zh-CN" altLang="en-US"/>
                    </a:p>
                  </a:txBody>
                  <a:tcPr/>
                </a:tc>
                <a:tc vMerge="1">
                  <a:txBody>
                    <a:bodyPr/>
                    <a:lstStyle/>
                    <a:p>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TMK280-5</a:t>
                      </a:r>
                      <a:endParaRPr lang="zh-CN" altLang="en-US" sz="1100" dirty="0" smtClean="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FLAG of Solar Zone</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1:</a:t>
                      </a:r>
                      <a:r>
                        <a:rPr lang="en-US" altLang="zh-CN" sz="1100" baseline="0" dirty="0" smtClean="0">
                          <a:latin typeface="Times New Roman" pitchFamily="18" charset="0"/>
                          <a:cs typeface="Times New Roman" pitchFamily="18" charset="0"/>
                        </a:rPr>
                        <a:t> Solar zone;</a:t>
                      </a:r>
                    </a:p>
                    <a:p>
                      <a:pPr algn="ctr"/>
                      <a:r>
                        <a:rPr lang="en-US" altLang="zh-CN" sz="1100" baseline="0" dirty="0" smtClean="0">
                          <a:latin typeface="Times New Roman" pitchFamily="18" charset="0"/>
                          <a:cs typeface="Times New Roman" pitchFamily="18" charset="0"/>
                        </a:rPr>
                        <a:t>0: Shadow zone;</a:t>
                      </a:r>
                      <a:endParaRPr lang="zh-CN" altLang="en-US" sz="1100" dirty="0">
                        <a:latin typeface="Times New Roman" pitchFamily="18" charset="0"/>
                        <a:cs typeface="Times New Roman" pitchFamily="18" charset="0"/>
                      </a:endParaRPr>
                    </a:p>
                  </a:txBody>
                  <a:tcPr marT="34290" marB="34290" anchor="ctr"/>
                </a:tc>
              </a:tr>
            </a:tbl>
          </a:graphicData>
        </a:graphic>
      </p:graphicFrame>
    </p:spTree>
    <p:extLst>
      <p:ext uri="{BB962C8B-B14F-4D97-AF65-F5344CB8AC3E}">
        <p14:creationId xmlns:p14="http://schemas.microsoft.com/office/powerpoint/2010/main" val="1155226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Operations</a:t>
            </a:r>
            <a:endParaRPr lang="en-US" altLang="zh-CN" sz="2800" b="1" dirty="0">
              <a:solidFill>
                <a:schemeClr val="bg1"/>
              </a:solidFill>
              <a:latin typeface="微软雅黑" pitchFamily="34" charset="-122"/>
              <a:ea typeface="微软雅黑" pitchFamily="34" charset="-122"/>
            </a:endParaRPr>
          </a:p>
        </p:txBody>
      </p:sp>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extLst>
                  <p:ext uri="{D42A27DB-BD31-4B8C-83A1-F6EECF244321}">
                    <p14:modId xmlns:p14="http://schemas.microsoft.com/office/powerpoint/2010/main" val="4125242219"/>
                  </p:ext>
                </p:extLst>
              </p:nvPr>
            </p:nvGraphicFramePr>
            <p:xfrm>
              <a:off x="395536" y="2193708"/>
              <a:ext cx="8424936" cy="1767840"/>
            </p:xfrm>
            <a:graphic>
              <a:graphicData uri="http://schemas.openxmlformats.org/drawingml/2006/table">
                <a:tbl>
                  <a:tblPr firstRow="1" bandRow="1">
                    <a:tableStyleId>{5C22544A-7EE6-4342-B048-85BDC9FD1C3A}</a:tableStyleId>
                  </a:tblPr>
                  <a:tblGrid>
                    <a:gridCol w="864098"/>
                    <a:gridCol w="936104"/>
                    <a:gridCol w="1512168"/>
                    <a:gridCol w="1224136"/>
                    <a:gridCol w="1080120"/>
                    <a:gridCol w="2808310"/>
                  </a:tblGrid>
                  <a:tr h="278130">
                    <a:tc gridSpan="6">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Maneuver</a:t>
                          </a:r>
                          <a:r>
                            <a:rPr lang="en-US" altLang="zh-CN" sz="1400" baseline="0" dirty="0" smtClean="0">
                              <a:latin typeface="Times New Roman" pitchFamily="18" charset="0"/>
                              <a:cs typeface="Times New Roman" pitchFamily="18" charset="0"/>
                            </a:rPr>
                            <a:t> </a:t>
                          </a:r>
                          <a:r>
                            <a:rPr lang="en-US" altLang="zh-CN" sz="1400" dirty="0" smtClean="0">
                              <a:latin typeface="Times New Roman" pitchFamily="18" charset="0"/>
                              <a:cs typeface="Times New Roman" pitchFamily="18" charset="0"/>
                            </a:rPr>
                            <a:t>Data Block</a:t>
                          </a:r>
                          <a:endParaRPr lang="zh-CN" altLang="en-US" sz="1400" dirty="0" smtClean="0">
                            <a:latin typeface="Times New Roman" pitchFamily="18" charset="0"/>
                            <a:cs typeface="Times New Roman" pitchFamily="18" charset="0"/>
                          </a:endParaRPr>
                        </a:p>
                      </a:txBody>
                      <a:tcPr marT="34290" marB="3429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r>
                  <a:tr h="480060">
                    <a:tc>
                      <a:txBody>
                        <a:bodyPr/>
                        <a:lstStyle/>
                        <a:p>
                          <a:pPr algn="ctr"/>
                          <a:r>
                            <a:rPr lang="en-US" altLang="zh-CN" sz="1400" dirty="0" smtClean="0">
                              <a:latin typeface="Times New Roman" pitchFamily="18" charset="0"/>
                              <a:cs typeface="Times New Roman" pitchFamily="18" charset="0"/>
                            </a:rPr>
                            <a:t>Block</a:t>
                          </a:r>
                          <a:r>
                            <a:rPr lang="en-US" altLang="zh-CN" sz="1400" baseline="0" dirty="0" smtClean="0">
                              <a:latin typeface="Times New Roman" pitchFamily="18" charset="0"/>
                              <a:cs typeface="Times New Roman" pitchFamily="18" charset="0"/>
                            </a:rPr>
                            <a:t> No.</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Symbol</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Description</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Dimension</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Data length</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Data Type</a:t>
                          </a:r>
                          <a:endParaRPr lang="zh-CN" altLang="en-US" sz="1400" dirty="0">
                            <a:latin typeface="Times New Roman" pitchFamily="18" charset="0"/>
                            <a:cs typeface="Times New Roman" pitchFamily="18" charset="0"/>
                          </a:endParaRPr>
                        </a:p>
                      </a:txBody>
                      <a:tcPr marT="34290" marB="34290" anchor="ctr"/>
                    </a:tc>
                  </a:tr>
                  <a:tr h="480060">
                    <a:tc>
                      <a:txBody>
                        <a:bodyPr/>
                        <a:lstStyle/>
                        <a:p>
                          <a:pPr algn="ctr"/>
                          <a:r>
                            <a:rPr lang="en-US" altLang="zh-CN" sz="1400" dirty="0" smtClean="0">
                              <a:latin typeface="Times New Roman" pitchFamily="18" charset="0"/>
                              <a:cs typeface="Times New Roman" pitchFamily="18" charset="0"/>
                            </a:rPr>
                            <a:t>271</a:t>
                          </a:r>
                          <a:endParaRPr lang="zh-CN" altLang="en-US" sz="1400" dirty="0">
                            <a:latin typeface="Times New Roman" pitchFamily="18" charset="0"/>
                            <a:cs typeface="Times New Roman" pitchFamily="18" charset="0"/>
                          </a:endParaRPr>
                        </a:p>
                      </a:txBody>
                      <a:tcPr marT="34290" marB="34290" anchor="ctr"/>
                    </a:tc>
                    <a:tc>
                      <a:txBody>
                        <a:bodyPr/>
                        <a:lstStyle/>
                        <a:p>
                          <a:pPr algn="ctr"/>
                          <a14:m>
                            <m:oMathPara xmlns:m="http://schemas.openxmlformats.org/officeDocument/2006/math">
                              <m:oMathParaPr>
                                <m:jc m:val="centerGroup"/>
                              </m:oMathParaPr>
                              <m:oMath xmlns:m="http://schemas.openxmlformats.org/officeDocument/2006/math">
                                <m:sSub>
                                  <m:sSubPr>
                                    <m:ctrlPr>
                                      <a:rPr lang="el-GR" altLang="zh-CN" sz="1400" i="1" dirty="0" smtClean="0">
                                        <a:latin typeface="Cambria Math"/>
                                        <a:cs typeface="Times New Roman" pitchFamily="18" charset="0"/>
                                      </a:rPr>
                                    </m:ctrlPr>
                                  </m:sSubPr>
                                  <m:e>
                                    <m:r>
                                      <a:rPr lang="el-GR" altLang="zh-CN" sz="1400" i="1" dirty="0" smtClean="0">
                                        <a:latin typeface="Cambria Math"/>
                                        <a:cs typeface="Times New Roman" pitchFamily="18" charset="0"/>
                                      </a:rPr>
                                      <m:t>𝜑</m:t>
                                    </m:r>
                                  </m:e>
                                  <m:sub>
                                    <m:r>
                                      <a:rPr lang="en-US" altLang="zh-CN" sz="1400" b="0" i="1" dirty="0" smtClean="0">
                                        <a:latin typeface="Cambria Math"/>
                                        <a:cs typeface="Times New Roman" pitchFamily="18" charset="0"/>
                                      </a:rPr>
                                      <m:t>𝑇𝑚</m:t>
                                    </m:r>
                                  </m:sub>
                                </m:sSub>
                              </m:oMath>
                            </m:oMathPara>
                          </a14:m>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Target</a:t>
                          </a:r>
                          <a:r>
                            <a:rPr lang="en-US" altLang="zh-CN" sz="1400" baseline="0" dirty="0" smtClean="0">
                              <a:latin typeface="Times New Roman" pitchFamily="18" charset="0"/>
                              <a:cs typeface="Times New Roman" pitchFamily="18" charset="0"/>
                            </a:rPr>
                            <a:t> </a:t>
                          </a:r>
                        </a:p>
                        <a:p>
                          <a:pPr algn="ctr"/>
                          <a:r>
                            <a:rPr lang="en-US" altLang="zh-CN" sz="1400" baseline="0" dirty="0" smtClean="0">
                              <a:latin typeface="Times New Roman" pitchFamily="18" charset="0"/>
                              <a:cs typeface="Times New Roman" pitchFamily="18" charset="0"/>
                            </a:rPr>
                            <a:t>angle of roll</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Degree</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4</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Standard single-precision</a:t>
                          </a:r>
                          <a:r>
                            <a:rPr lang="en-US" altLang="zh-CN" sz="1400" baseline="0" dirty="0" smtClean="0">
                              <a:latin typeface="Times New Roman" pitchFamily="18" charset="0"/>
                              <a:cs typeface="Times New Roman" pitchFamily="18" charset="0"/>
                            </a:rPr>
                            <a:t> </a:t>
                          </a:r>
                          <a:r>
                            <a:rPr lang="en-US" altLang="zh-CN" sz="1400" dirty="0" smtClean="0">
                              <a:latin typeface="Times New Roman" pitchFamily="18" charset="0"/>
                              <a:cs typeface="Times New Roman" pitchFamily="18" charset="0"/>
                            </a:rPr>
                            <a:t> floating point number</a:t>
                          </a:r>
                          <a:endParaRPr lang="zh-CN" altLang="en-US" sz="1400" dirty="0">
                            <a:latin typeface="Times New Roman" pitchFamily="18" charset="0"/>
                            <a:cs typeface="Times New Roman" pitchFamily="18" charset="0"/>
                          </a:endParaRPr>
                        </a:p>
                      </a:txBody>
                      <a:tcPr marT="34290" marB="34290" anchor="ctr"/>
                    </a:tc>
                  </a:tr>
                  <a:tr h="480060">
                    <a:tc>
                      <a:txBody>
                        <a:bodyPr/>
                        <a:lstStyle/>
                        <a:p>
                          <a:pPr algn="ctr"/>
                          <a:r>
                            <a:rPr lang="en-US" altLang="zh-CN" sz="1400" dirty="0" smtClean="0">
                              <a:latin typeface="Times New Roman" pitchFamily="18" charset="0"/>
                              <a:cs typeface="Times New Roman" pitchFamily="18" charset="0"/>
                            </a:rPr>
                            <a:t>272</a:t>
                          </a:r>
                          <a:endParaRPr lang="zh-CN" altLang="en-US" sz="1400" dirty="0">
                            <a:latin typeface="Times New Roman" pitchFamily="18" charset="0"/>
                            <a:cs typeface="Times New Roman" pitchFamily="18" charset="0"/>
                          </a:endParaRPr>
                        </a:p>
                      </a:txBody>
                      <a:tcPr marT="34290" marB="34290" anchor="ctr"/>
                    </a:tc>
                    <a:tc>
                      <a:txBody>
                        <a:bodyPr/>
                        <a:lstStyle/>
                        <a:p>
                          <a:pPr algn="ctr"/>
                          <a14:m>
                            <m:oMathPara xmlns:m="http://schemas.openxmlformats.org/officeDocument/2006/math">
                              <m:oMathParaPr>
                                <m:jc m:val="centerGroup"/>
                              </m:oMathParaPr>
                              <m:oMath xmlns:m="http://schemas.openxmlformats.org/officeDocument/2006/math">
                                <m:sSub>
                                  <m:sSubPr>
                                    <m:ctrlPr>
                                      <a:rPr lang="el-GR" altLang="zh-CN" sz="1400" i="1" dirty="0" smtClean="0">
                                        <a:latin typeface="Cambria Math"/>
                                        <a:cs typeface="Times New Roman" pitchFamily="18" charset="0"/>
                                      </a:rPr>
                                    </m:ctrlPr>
                                  </m:sSubPr>
                                  <m:e>
                                    <m:r>
                                      <m:rPr>
                                        <m:sty m:val="p"/>
                                      </m:rPr>
                                      <a:rPr lang="el-GR" altLang="zh-CN" sz="1400" i="1" dirty="0" smtClean="0">
                                        <a:latin typeface="Cambria Math"/>
                                        <a:cs typeface="Times New Roman" pitchFamily="18" charset="0"/>
                                      </a:rPr>
                                      <m:t>θ</m:t>
                                    </m:r>
                                  </m:e>
                                  <m:sub>
                                    <m:r>
                                      <a:rPr lang="en-US" altLang="zh-CN" sz="1400" b="0" i="1" dirty="0" smtClean="0">
                                        <a:latin typeface="Cambria Math"/>
                                        <a:cs typeface="Times New Roman" pitchFamily="18" charset="0"/>
                                      </a:rPr>
                                      <m:t>𝑇𝑚</m:t>
                                    </m:r>
                                  </m:sub>
                                </m:sSub>
                              </m:oMath>
                            </m:oMathPara>
                          </a14:m>
                          <a:endParaRPr lang="zh-CN" altLang="en-US" sz="14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itchFamily="18" charset="0"/>
                              <a:cs typeface="Times New Roman" pitchFamily="18" charset="0"/>
                            </a:rPr>
                            <a:t>Target</a:t>
                          </a:r>
                          <a:r>
                            <a:rPr lang="en-US" altLang="zh-CN" sz="1400" baseline="0" dirty="0" smtClean="0">
                              <a:latin typeface="Times New Roman" pitchFamily="18" charset="0"/>
                              <a:cs typeface="Times New Roman" pitchFamily="18" charset="0"/>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aseline="0" dirty="0" smtClean="0">
                              <a:latin typeface="Times New Roman" pitchFamily="18" charset="0"/>
                              <a:cs typeface="Times New Roman" pitchFamily="18" charset="0"/>
                            </a:rPr>
                            <a:t>angle of pitch</a:t>
                          </a:r>
                          <a:endParaRPr lang="zh-CN" altLang="en-US" sz="1400" dirty="0" smtClean="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Degree</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4</a:t>
                          </a:r>
                          <a:endParaRPr lang="zh-CN" altLang="en-US" sz="1400" dirty="0">
                            <a:latin typeface="Times New Roman" pitchFamily="18" charset="0"/>
                            <a:cs typeface="Times New Roman" pitchFamily="18" charset="0"/>
                          </a:endParaRPr>
                        </a:p>
                      </a:txBody>
                      <a:tcPr marT="34290" marB="34290" anchor="ctr"/>
                    </a:tc>
                    <a:tc>
                      <a:txBody>
                        <a:bodyPr/>
                        <a:lstStyle/>
                        <a:p>
                          <a:pPr algn="ctr"/>
                          <a:r>
                            <a:rPr lang="en-US" altLang="zh-CN" sz="1400" dirty="0" smtClean="0">
                              <a:latin typeface="Times New Roman" pitchFamily="18" charset="0"/>
                              <a:cs typeface="Times New Roman" pitchFamily="18" charset="0"/>
                            </a:rPr>
                            <a:t>Standard single-precision</a:t>
                          </a:r>
                          <a:r>
                            <a:rPr lang="en-US" altLang="zh-CN" sz="1400" baseline="0" dirty="0" smtClean="0">
                              <a:latin typeface="Times New Roman" pitchFamily="18" charset="0"/>
                              <a:cs typeface="Times New Roman" pitchFamily="18" charset="0"/>
                            </a:rPr>
                            <a:t> </a:t>
                          </a:r>
                          <a:r>
                            <a:rPr lang="en-US" altLang="zh-CN" sz="1400" dirty="0" smtClean="0">
                              <a:latin typeface="Times New Roman" pitchFamily="18" charset="0"/>
                              <a:cs typeface="Times New Roman" pitchFamily="18" charset="0"/>
                            </a:rPr>
                            <a:t> floating point number</a:t>
                          </a:r>
                          <a:endParaRPr lang="zh-CN" altLang="en-US" sz="1400" dirty="0">
                            <a:latin typeface="Times New Roman" pitchFamily="18" charset="0"/>
                            <a:cs typeface="Times New Roman" pitchFamily="18" charset="0"/>
                          </a:endParaRPr>
                        </a:p>
                      </a:txBody>
                      <a:tcPr marT="34290" marB="34290" anchor="ctr"/>
                    </a:tc>
                  </a:tr>
                </a:tbl>
              </a:graphicData>
            </a:graphic>
          </p:graphicFrame>
        </mc:Choice>
        <mc:Fallback xmlns="">
          <p:graphicFrame>
            <p:nvGraphicFramePr>
              <p:cNvPr id="7" name="表格 6"/>
              <p:cNvGraphicFramePr>
                <a:graphicFrameLocks noGrp="1"/>
              </p:cNvGraphicFramePr>
              <p:nvPr>
                <p:extLst>
                  <p:ext uri="{D42A27DB-BD31-4B8C-83A1-F6EECF244321}">
                    <p14:modId xmlns:p14="http://schemas.microsoft.com/office/powerpoint/2010/main" val="4125242219"/>
                  </p:ext>
                </p:extLst>
              </p:nvPr>
            </p:nvGraphicFramePr>
            <p:xfrm>
              <a:off x="395536" y="2924944"/>
              <a:ext cx="8424936" cy="2291080"/>
            </p:xfrm>
            <a:graphic>
              <a:graphicData uri="http://schemas.openxmlformats.org/drawingml/2006/table">
                <a:tbl>
                  <a:tblPr firstRow="1" bandRow="1">
                    <a:tableStyleId>{5C22544A-7EE6-4342-B048-85BDC9FD1C3A}</a:tableStyleId>
                  </a:tblPr>
                  <a:tblGrid>
                    <a:gridCol w="864098"/>
                    <a:gridCol w="936104"/>
                    <a:gridCol w="1512168"/>
                    <a:gridCol w="1224136"/>
                    <a:gridCol w="1080120"/>
                    <a:gridCol w="2808310"/>
                  </a:tblGrid>
                  <a:tr h="370840">
                    <a:tc gridSpan="6">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smtClean="0">
                              <a:latin typeface="Times New Roman" pitchFamily="18" charset="0"/>
                              <a:cs typeface="Times New Roman" pitchFamily="18" charset="0"/>
                            </a:rPr>
                            <a:t>Maneuver</a:t>
                          </a:r>
                          <a:r>
                            <a:rPr lang="en-US" altLang="zh-CN" sz="1800" baseline="0" dirty="0" smtClean="0">
                              <a:latin typeface="Times New Roman" pitchFamily="18" charset="0"/>
                              <a:cs typeface="Times New Roman" pitchFamily="18" charset="0"/>
                            </a:rPr>
                            <a:t> </a:t>
                          </a:r>
                          <a:r>
                            <a:rPr lang="en-US" altLang="zh-CN" sz="1800" dirty="0" smtClean="0">
                              <a:latin typeface="Times New Roman" pitchFamily="18" charset="0"/>
                              <a:cs typeface="Times New Roman" pitchFamily="18" charset="0"/>
                            </a:rPr>
                            <a:t>Data Block</a:t>
                          </a:r>
                          <a:endParaRPr lang="zh-CN" altLang="en-US" sz="1800" dirty="0" smtClean="0">
                            <a:latin typeface="Times New Roman" pitchFamily="18" charset="0"/>
                            <a:cs typeface="Times New Roman" pitchFamily="18" charset="0"/>
                          </a:endParaRP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r>
                  <a:tr h="640080">
                    <a:tc>
                      <a:txBody>
                        <a:bodyPr/>
                        <a:lstStyle/>
                        <a:p>
                          <a:pPr algn="ctr"/>
                          <a:r>
                            <a:rPr lang="en-US" altLang="zh-CN" dirty="0" smtClean="0">
                              <a:latin typeface="Times New Roman" pitchFamily="18" charset="0"/>
                              <a:cs typeface="Times New Roman" pitchFamily="18" charset="0"/>
                            </a:rPr>
                            <a:t>Block</a:t>
                          </a:r>
                          <a:r>
                            <a:rPr lang="en-US" altLang="zh-CN" baseline="0" dirty="0" smtClean="0">
                              <a:latin typeface="Times New Roman" pitchFamily="18" charset="0"/>
                              <a:cs typeface="Times New Roman" pitchFamily="18" charset="0"/>
                            </a:rPr>
                            <a:t> No.</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Symbol</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Description</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Dimension</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Data length</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Data Type</a:t>
                          </a:r>
                          <a:endParaRPr lang="zh-CN" altLang="en-US" dirty="0">
                            <a:latin typeface="Times New Roman" pitchFamily="18" charset="0"/>
                            <a:cs typeface="Times New Roman" pitchFamily="18" charset="0"/>
                          </a:endParaRPr>
                        </a:p>
                      </a:txBody>
                      <a:tcPr anchor="ctr"/>
                    </a:tc>
                  </a:tr>
                  <a:tr h="640080">
                    <a:tc>
                      <a:txBody>
                        <a:bodyPr/>
                        <a:lstStyle/>
                        <a:p>
                          <a:pPr algn="ctr"/>
                          <a:r>
                            <a:rPr lang="en-US" altLang="zh-CN" dirty="0" smtClean="0">
                              <a:latin typeface="Times New Roman" pitchFamily="18" charset="0"/>
                              <a:cs typeface="Times New Roman" pitchFamily="18" charset="0"/>
                            </a:rPr>
                            <a:t>271</a:t>
                          </a:r>
                          <a:endParaRPr lang="zh-CN" altLang="en-US" dirty="0">
                            <a:latin typeface="Times New Roman" pitchFamily="18" charset="0"/>
                            <a:cs typeface="Times New Roman" pitchFamily="18" charset="0"/>
                          </a:endParaRPr>
                        </a:p>
                      </a:txBody>
                      <a:tcPr anchor="ctr"/>
                    </a:tc>
                    <a:tc>
                      <a:txBody>
                        <a:bodyPr/>
                        <a:lstStyle/>
                        <a:p>
                          <a:endParaRPr lang="zh-CN"/>
                        </a:p>
                      </a:txBody>
                      <a:tcPr anchor="ctr">
                        <a:blipFill rotWithShape="1">
                          <a:blip r:embed="rId2"/>
                          <a:stretch>
                            <a:fillRect l="-93464" t="-162857" r="-710458" b="-115238"/>
                          </a:stretch>
                        </a:blipFill>
                      </a:tcPr>
                    </a:tc>
                    <a:tc>
                      <a:txBody>
                        <a:bodyPr/>
                        <a:lstStyle/>
                        <a:p>
                          <a:pPr algn="ctr"/>
                          <a:r>
                            <a:rPr lang="en-US" altLang="zh-CN" dirty="0" smtClean="0">
                              <a:latin typeface="Times New Roman" pitchFamily="18" charset="0"/>
                              <a:cs typeface="Times New Roman" pitchFamily="18" charset="0"/>
                            </a:rPr>
                            <a:t>Target</a:t>
                          </a:r>
                          <a:r>
                            <a:rPr lang="en-US" altLang="zh-CN" baseline="0" dirty="0" smtClean="0">
                              <a:latin typeface="Times New Roman" pitchFamily="18" charset="0"/>
                              <a:cs typeface="Times New Roman" pitchFamily="18" charset="0"/>
                            </a:rPr>
                            <a:t> </a:t>
                          </a:r>
                        </a:p>
                        <a:p>
                          <a:pPr algn="ctr"/>
                          <a:r>
                            <a:rPr lang="en-US" altLang="zh-CN" baseline="0" dirty="0" smtClean="0">
                              <a:latin typeface="Times New Roman" pitchFamily="18" charset="0"/>
                              <a:cs typeface="Times New Roman" pitchFamily="18" charset="0"/>
                            </a:rPr>
                            <a:t>angle of roll</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Degree</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4</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Standard single-precision</a:t>
                          </a:r>
                          <a:r>
                            <a:rPr lang="en-US" altLang="zh-CN" baseline="0" dirty="0" smtClean="0">
                              <a:latin typeface="Times New Roman" pitchFamily="18" charset="0"/>
                              <a:cs typeface="Times New Roman" pitchFamily="18" charset="0"/>
                            </a:rPr>
                            <a:t> </a:t>
                          </a:r>
                          <a:r>
                            <a:rPr lang="en-US" altLang="zh-CN" dirty="0" smtClean="0">
                              <a:latin typeface="Times New Roman" pitchFamily="18" charset="0"/>
                              <a:cs typeface="Times New Roman" pitchFamily="18" charset="0"/>
                            </a:rPr>
                            <a:t> floating point number</a:t>
                          </a:r>
                          <a:endParaRPr lang="zh-CN" altLang="en-US" dirty="0">
                            <a:latin typeface="Times New Roman" pitchFamily="18" charset="0"/>
                            <a:cs typeface="Times New Roman" pitchFamily="18" charset="0"/>
                          </a:endParaRPr>
                        </a:p>
                      </a:txBody>
                      <a:tcPr anchor="ctr"/>
                    </a:tc>
                  </a:tr>
                  <a:tr h="640080">
                    <a:tc>
                      <a:txBody>
                        <a:bodyPr/>
                        <a:lstStyle/>
                        <a:p>
                          <a:pPr algn="ctr"/>
                          <a:r>
                            <a:rPr lang="en-US" altLang="zh-CN" dirty="0" smtClean="0">
                              <a:latin typeface="Times New Roman" pitchFamily="18" charset="0"/>
                              <a:cs typeface="Times New Roman" pitchFamily="18" charset="0"/>
                            </a:rPr>
                            <a:t>272</a:t>
                          </a:r>
                          <a:endParaRPr lang="zh-CN" altLang="en-US" dirty="0">
                            <a:latin typeface="Times New Roman" pitchFamily="18" charset="0"/>
                            <a:cs typeface="Times New Roman" pitchFamily="18" charset="0"/>
                          </a:endParaRPr>
                        </a:p>
                      </a:txBody>
                      <a:tcPr anchor="ctr"/>
                    </a:tc>
                    <a:tc>
                      <a:txBody>
                        <a:bodyPr/>
                        <a:lstStyle/>
                        <a:p>
                          <a:endParaRPr lang="zh-CN"/>
                        </a:p>
                      </a:txBody>
                      <a:tcPr anchor="ctr">
                        <a:blipFill rotWithShape="1">
                          <a:blip r:embed="rId2"/>
                          <a:stretch>
                            <a:fillRect l="-93464" t="-262857" r="-710458" b="-15238"/>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latin typeface="Times New Roman" pitchFamily="18" charset="0"/>
                              <a:cs typeface="Times New Roman" pitchFamily="18" charset="0"/>
                            </a:rPr>
                            <a:t>Target</a:t>
                          </a:r>
                          <a:r>
                            <a:rPr lang="en-US" altLang="zh-CN" baseline="0" dirty="0" smtClean="0">
                              <a:latin typeface="Times New Roman" pitchFamily="18" charset="0"/>
                              <a:cs typeface="Times New Roman" pitchFamily="18" charset="0"/>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baseline="0" dirty="0" smtClean="0">
                              <a:latin typeface="Times New Roman" pitchFamily="18" charset="0"/>
                              <a:cs typeface="Times New Roman" pitchFamily="18" charset="0"/>
                            </a:rPr>
                            <a:t>angle of pitch</a:t>
                          </a:r>
                          <a:endParaRPr lang="zh-CN" altLang="en-US" dirty="0" smtClean="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Degree</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4</a:t>
                          </a:r>
                          <a:endParaRPr lang="zh-CN" altLang="en-US" dirty="0">
                            <a:latin typeface="Times New Roman" pitchFamily="18" charset="0"/>
                            <a:cs typeface="Times New Roman" pitchFamily="18" charset="0"/>
                          </a:endParaRPr>
                        </a:p>
                      </a:txBody>
                      <a:tcPr anchor="ctr"/>
                    </a:tc>
                    <a:tc>
                      <a:txBody>
                        <a:bodyPr/>
                        <a:lstStyle/>
                        <a:p>
                          <a:pPr algn="ctr"/>
                          <a:r>
                            <a:rPr lang="en-US" altLang="zh-CN" dirty="0" smtClean="0">
                              <a:latin typeface="Times New Roman" pitchFamily="18" charset="0"/>
                              <a:cs typeface="Times New Roman" pitchFamily="18" charset="0"/>
                            </a:rPr>
                            <a:t>Standard single-precision</a:t>
                          </a:r>
                          <a:r>
                            <a:rPr lang="en-US" altLang="zh-CN" baseline="0" dirty="0" smtClean="0">
                              <a:latin typeface="Times New Roman" pitchFamily="18" charset="0"/>
                              <a:cs typeface="Times New Roman" pitchFamily="18" charset="0"/>
                            </a:rPr>
                            <a:t> </a:t>
                          </a:r>
                          <a:r>
                            <a:rPr lang="en-US" altLang="zh-CN" dirty="0" smtClean="0">
                              <a:latin typeface="Times New Roman" pitchFamily="18" charset="0"/>
                              <a:cs typeface="Times New Roman" pitchFamily="18" charset="0"/>
                            </a:rPr>
                            <a:t> floating point number</a:t>
                          </a:r>
                          <a:endParaRPr lang="zh-CN" altLang="en-US" dirty="0">
                            <a:latin typeface="Times New Roman" pitchFamily="18" charset="0"/>
                            <a:cs typeface="Times New Roman" pitchFamily="18" charset="0"/>
                          </a:endParaRPr>
                        </a:p>
                      </a:txBody>
                      <a:tcPr anchor="ctr"/>
                    </a:tc>
                  </a:tr>
                </a:tbl>
              </a:graphicData>
            </a:graphic>
          </p:graphicFrame>
        </mc:Fallback>
      </mc:AlternateContent>
      <p:sp>
        <p:nvSpPr>
          <p:cNvPr id="8" name="内容占位符 2"/>
          <p:cNvSpPr>
            <a:spLocks noGrp="1"/>
          </p:cNvSpPr>
          <p:nvPr>
            <p:ph idx="1"/>
          </p:nvPr>
        </p:nvSpPr>
        <p:spPr>
          <a:xfrm>
            <a:off x="323528" y="1221600"/>
            <a:ext cx="8568952" cy="486054"/>
          </a:xfrm>
        </p:spPr>
        <p:txBody>
          <a:bodyPr>
            <a:normAutofit fontScale="92500" lnSpcReduction="20000"/>
          </a:bodyPr>
          <a:lstStyle/>
          <a:p>
            <a:pPr marL="0" indent="0" algn="ctr">
              <a:buNone/>
            </a:pPr>
            <a:r>
              <a:rPr lang="en-US" altLang="zh-CN" sz="2000" dirty="0" smtClean="0">
                <a:latin typeface="Times New Roman" pitchFamily="18" charset="0"/>
                <a:cs typeface="Times New Roman" pitchFamily="18" charset="0"/>
              </a:rPr>
              <a:t>Fixed Address Parameter of Maneuver Data Block</a:t>
            </a:r>
          </a:p>
        </p:txBody>
      </p:sp>
    </p:spTree>
    <p:extLst>
      <p:ext uri="{BB962C8B-B14F-4D97-AF65-F5344CB8AC3E}">
        <p14:creationId xmlns:p14="http://schemas.microsoft.com/office/powerpoint/2010/main" val="1382630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Telemetry Introduction</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552836475"/>
              </p:ext>
            </p:extLst>
          </p:nvPr>
        </p:nvGraphicFramePr>
        <p:xfrm>
          <a:off x="251520" y="1815666"/>
          <a:ext cx="8712968" cy="1870710"/>
        </p:xfrm>
        <a:graphic>
          <a:graphicData uri="http://schemas.openxmlformats.org/drawingml/2006/table">
            <a:tbl>
              <a:tblPr firstRow="1" bandRow="1">
                <a:tableStyleId>{5C22544A-7EE6-4342-B048-85BDC9FD1C3A}</a:tableStyleId>
              </a:tblPr>
              <a:tblGrid>
                <a:gridCol w="576064"/>
                <a:gridCol w="1368152"/>
                <a:gridCol w="1080120"/>
                <a:gridCol w="936104"/>
                <a:gridCol w="4752528"/>
              </a:tblGrid>
              <a:tr h="278130">
                <a:tc gridSpan="5">
                  <a:txBody>
                    <a:bodyPr/>
                    <a:lstStyle/>
                    <a:p>
                      <a:pPr algn="ctr"/>
                      <a:r>
                        <a:rPr lang="en-US" altLang="zh-CN" sz="1400" dirty="0" smtClean="0">
                          <a:latin typeface="Times New Roman" pitchFamily="18" charset="0"/>
                          <a:cs typeface="Times New Roman" pitchFamily="18" charset="0"/>
                        </a:rPr>
                        <a:t>There are 2 types of telemetry (TM) sent to OBDH by AOCS</a:t>
                      </a:r>
                      <a:endParaRPr lang="zh-CN" altLang="en-US" sz="1400" dirty="0">
                        <a:latin typeface="Times New Roman" pitchFamily="18" charset="0"/>
                        <a:cs typeface="Times New Roman" pitchFamily="18" charset="0"/>
                      </a:endParaRPr>
                    </a:p>
                  </a:txBody>
                  <a:tcPr marT="34290" marB="34290"/>
                </a:tc>
                <a:tc hMerge="1">
                  <a:txBody>
                    <a:bodyPr/>
                    <a:lstStyle/>
                    <a:p>
                      <a:endParaRPr lang="zh-CN" altLang="en-US">
                        <a:latin typeface="Times New Roman" pitchFamily="18" charset="0"/>
                        <a:cs typeface="Times New Roman" pitchFamily="18" charset="0"/>
                      </a:endParaRPr>
                    </a:p>
                  </a:txBody>
                  <a:tcPr/>
                </a:tc>
                <a:tc hMerge="1">
                  <a:txBody>
                    <a:bodyPr/>
                    <a:lstStyle/>
                    <a:p>
                      <a:endParaRPr lang="zh-CN" altLang="en-US" dirty="0">
                        <a:latin typeface="Times New Roman" pitchFamily="18" charset="0"/>
                        <a:cs typeface="Times New Roman" pitchFamily="18" charset="0"/>
                      </a:endParaRPr>
                    </a:p>
                  </a:txBody>
                  <a:tcPr/>
                </a:tc>
                <a:tc hMerge="1">
                  <a:txBody>
                    <a:bodyPr/>
                    <a:lstStyle/>
                    <a:p>
                      <a:endParaRPr lang="zh-CN" altLang="en-US">
                        <a:latin typeface="Times New Roman" pitchFamily="18" charset="0"/>
                        <a:cs typeface="Times New Roman" pitchFamily="18" charset="0"/>
                      </a:endParaRPr>
                    </a:p>
                  </a:txBody>
                  <a:tcPr/>
                </a:tc>
                <a:tc hMerge="1">
                  <a:txBody>
                    <a:bodyPr/>
                    <a:lstStyle/>
                    <a:p>
                      <a:endParaRPr lang="zh-CN" altLang="en-US" dirty="0">
                        <a:latin typeface="Times New Roman" pitchFamily="18" charset="0"/>
                        <a:cs typeface="Times New Roman" pitchFamily="18" charset="0"/>
                      </a:endParaRPr>
                    </a:p>
                  </a:txBody>
                  <a:tcPr/>
                </a:tc>
              </a:tr>
              <a:tr h="278130">
                <a:tc>
                  <a:txBody>
                    <a:bodyPr/>
                    <a:lstStyle/>
                    <a:p>
                      <a:pPr algn="ctr"/>
                      <a:r>
                        <a:rPr lang="en-US" altLang="zh-CN" sz="1100" dirty="0" smtClean="0">
                          <a:latin typeface="Times New Roman" pitchFamily="18" charset="0"/>
                          <a:cs typeface="Times New Roman" pitchFamily="18" charset="0"/>
                        </a:rPr>
                        <a:t>NO.</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Type</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Period</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Length</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Description</a:t>
                      </a:r>
                      <a:endParaRPr lang="zh-CN" altLang="en-US" sz="1100" dirty="0">
                        <a:latin typeface="Times New Roman" pitchFamily="18" charset="0"/>
                        <a:cs typeface="Times New Roman" pitchFamily="18" charset="0"/>
                      </a:endParaRPr>
                    </a:p>
                  </a:txBody>
                  <a:tcPr marT="34290" marB="34290" anchor="ctr"/>
                </a:tc>
              </a:tr>
              <a:tr h="868680">
                <a:tc>
                  <a:txBody>
                    <a:bodyPr/>
                    <a:lstStyle/>
                    <a:p>
                      <a:pPr algn="ctr"/>
                      <a:r>
                        <a:rPr lang="en-US" altLang="zh-CN" sz="1100" dirty="0" smtClean="0">
                          <a:latin typeface="Times New Roman" pitchFamily="18" charset="0"/>
                          <a:cs typeface="Times New Roman" pitchFamily="18" charset="0"/>
                        </a:rPr>
                        <a:t>1</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AOCS FAST TM (24H)</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1sec/frame</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128 bytes</a:t>
                      </a:r>
                      <a:endParaRPr lang="zh-CN" altLang="en-US" sz="1100" dirty="0">
                        <a:latin typeface="Times New Roman" pitchFamily="18" charset="0"/>
                        <a:cs typeface="Times New Roman" pitchFamily="18" charset="0"/>
                      </a:endParaRPr>
                    </a:p>
                  </a:txBody>
                  <a:tcPr marT="34290" marB="34290" anchor="ctr"/>
                </a:tc>
                <a:tc>
                  <a:txBody>
                    <a:bodyPr/>
                    <a:lstStyle/>
                    <a:p>
                      <a:pPr marL="285750" indent="-285750" algn="ctr">
                        <a:buFont typeface="Wingdings" pitchFamily="2" charset="2"/>
                        <a:buChar char="Ø"/>
                      </a:pPr>
                      <a:r>
                        <a:rPr lang="en-US" altLang="zh-CN" sz="1100" dirty="0" smtClean="0">
                          <a:latin typeface="Times New Roman" pitchFamily="18" charset="0"/>
                          <a:cs typeface="Times New Roman" pitchFamily="18" charset="0"/>
                        </a:rPr>
                        <a:t>AOCS FAST TM1 and AOCS FAST TM2</a:t>
                      </a:r>
                      <a:r>
                        <a:rPr lang="en-US" altLang="zh-CN" sz="1100" baseline="0" dirty="0" smtClean="0">
                          <a:latin typeface="Times New Roman" pitchFamily="18" charset="0"/>
                          <a:cs typeface="Times New Roman" pitchFamily="18" charset="0"/>
                        </a:rPr>
                        <a:t> download alternately, the  period for each is 2 sec/frame.</a:t>
                      </a:r>
                      <a:r>
                        <a:rPr lang="en-US" altLang="zh-CN" sz="1100" dirty="0" smtClean="0">
                          <a:latin typeface="Times New Roman" pitchFamily="18" charset="0"/>
                          <a:cs typeface="Times New Roman" pitchFamily="18" charset="0"/>
                        </a:rPr>
                        <a:t> </a:t>
                      </a:r>
                    </a:p>
                    <a:p>
                      <a:pPr marL="285750" indent="-285750" algn="ctr">
                        <a:buFont typeface="Wingdings" pitchFamily="2" charset="2"/>
                        <a:buChar char="Ø"/>
                      </a:pPr>
                      <a:r>
                        <a:rPr lang="en-US" altLang="zh-CN" sz="1100" dirty="0" smtClean="0">
                          <a:latin typeface="Times New Roman" pitchFamily="18" charset="0"/>
                          <a:cs typeface="Times New Roman" pitchFamily="18" charset="0"/>
                        </a:rPr>
                        <a:t>AOCS FAST TM2</a:t>
                      </a:r>
                      <a:r>
                        <a:rPr lang="en-US" altLang="zh-CN" sz="1100" baseline="0" dirty="0" smtClean="0">
                          <a:latin typeface="Times New Roman" pitchFamily="18" charset="0"/>
                          <a:cs typeface="Times New Roman" pitchFamily="18" charset="0"/>
                        </a:rPr>
                        <a:t> can be replaced by “Returning TM of injected orbit parameter” for 3 </a:t>
                      </a:r>
                      <a:r>
                        <a:rPr lang="en-US" altLang="zh-CN" sz="1100" dirty="0" smtClean="0">
                          <a:latin typeface="Times New Roman" pitchFamily="18" charset="0"/>
                          <a:cs typeface="Times New Roman" pitchFamily="18" charset="0"/>
                        </a:rPr>
                        <a:t>AOCS FAST TM2</a:t>
                      </a:r>
                      <a:r>
                        <a:rPr lang="en-US" altLang="zh-CN" sz="1100" baseline="0" dirty="0" smtClean="0">
                          <a:latin typeface="Times New Roman" pitchFamily="18" charset="0"/>
                          <a:cs typeface="Times New Roman" pitchFamily="18" charset="0"/>
                        </a:rPr>
                        <a:t>  periods once the satellite receives the orbit parameter injection.</a:t>
                      </a:r>
                      <a:endParaRPr lang="zh-CN" altLang="en-US" sz="1100" dirty="0">
                        <a:latin typeface="Times New Roman" pitchFamily="18" charset="0"/>
                        <a:cs typeface="Times New Roman" pitchFamily="18" charset="0"/>
                      </a:endParaRPr>
                    </a:p>
                  </a:txBody>
                  <a:tcPr marT="34290" marB="34290" anchor="ctr"/>
                </a:tc>
              </a:tr>
              <a:tr h="388620">
                <a:tc>
                  <a:txBody>
                    <a:bodyPr/>
                    <a:lstStyle/>
                    <a:p>
                      <a:pPr algn="ctr"/>
                      <a:r>
                        <a:rPr lang="en-US" altLang="zh-CN" sz="1100" dirty="0" smtClean="0">
                          <a:latin typeface="Times New Roman" pitchFamily="18" charset="0"/>
                          <a:cs typeface="Times New Roman" pitchFamily="18" charset="0"/>
                        </a:rPr>
                        <a:t>2</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AOCS SLOW</a:t>
                      </a:r>
                      <a:r>
                        <a:rPr lang="en-US" altLang="zh-CN" sz="1100" baseline="0" dirty="0" smtClean="0">
                          <a:latin typeface="Times New Roman" pitchFamily="18" charset="0"/>
                          <a:cs typeface="Times New Roman" pitchFamily="18" charset="0"/>
                        </a:rPr>
                        <a:t> </a:t>
                      </a:r>
                      <a:r>
                        <a:rPr lang="en-US" altLang="zh-CN" sz="1100" dirty="0" smtClean="0">
                          <a:latin typeface="Times New Roman" pitchFamily="18" charset="0"/>
                          <a:cs typeface="Times New Roman" pitchFamily="18" charset="0"/>
                        </a:rPr>
                        <a:t>TM (44H)</a:t>
                      </a:r>
                      <a:endParaRPr lang="zh-CN" altLang="en-US" sz="1100" dirty="0">
                        <a:latin typeface="Times New Roman" pitchFamily="18" charset="0"/>
                        <a:cs typeface="Times New Roman" pitchFamily="18" charset="0"/>
                      </a:endParaRPr>
                    </a:p>
                  </a:txBody>
                  <a:tcPr marT="34290" marB="34290" anchor="ctr"/>
                </a:tc>
                <a:tc>
                  <a:txBody>
                    <a:bodyPr/>
                    <a:lstStyle/>
                    <a:p>
                      <a:pPr algn="ctr"/>
                      <a:r>
                        <a:rPr lang="en-US" altLang="zh-CN" sz="1100" dirty="0" smtClean="0">
                          <a:latin typeface="Times New Roman" pitchFamily="18" charset="0"/>
                          <a:cs typeface="Times New Roman" pitchFamily="18" charset="0"/>
                        </a:rPr>
                        <a:t>32sec/frame</a:t>
                      </a:r>
                      <a:endParaRPr lang="zh-CN" altLang="en-US" sz="11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128 bytes</a:t>
                      </a:r>
                      <a:endParaRPr lang="zh-CN" altLang="en-US" sz="11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smtClean="0">
                          <a:latin typeface="Times New Roman" pitchFamily="18" charset="0"/>
                          <a:cs typeface="Times New Roman" pitchFamily="18" charset="0"/>
                        </a:rPr>
                        <a:t>AOCS SLOW TM1 and AOCS SLOW TM2</a:t>
                      </a:r>
                      <a:r>
                        <a:rPr lang="en-US" altLang="zh-CN" sz="1100" baseline="0" dirty="0" smtClean="0">
                          <a:latin typeface="Times New Roman" pitchFamily="18" charset="0"/>
                          <a:cs typeface="Times New Roman" pitchFamily="18" charset="0"/>
                        </a:rPr>
                        <a:t> download alternately, the  period for each is 64 sec/frame.</a:t>
                      </a:r>
                      <a:r>
                        <a:rPr lang="en-US" altLang="zh-CN" sz="1100" dirty="0" smtClean="0">
                          <a:latin typeface="Times New Roman" pitchFamily="18" charset="0"/>
                          <a:cs typeface="Times New Roman" pitchFamily="18" charset="0"/>
                        </a:rPr>
                        <a:t> </a:t>
                      </a:r>
                      <a:endParaRPr lang="zh-CN" altLang="en-US" sz="1100" dirty="0" smtClean="0">
                        <a:latin typeface="Times New Roman" pitchFamily="18" charset="0"/>
                        <a:cs typeface="Times New Roman" pitchFamily="18" charset="0"/>
                      </a:endParaRPr>
                    </a:p>
                  </a:txBody>
                  <a:tcPr marT="34290" marB="34290" anchor="ctr"/>
                </a:tc>
              </a:tr>
            </a:tbl>
          </a:graphicData>
        </a:graphic>
      </p:graphicFrame>
    </p:spTree>
    <p:extLst>
      <p:ext uri="{BB962C8B-B14F-4D97-AF65-F5344CB8AC3E}">
        <p14:creationId xmlns:p14="http://schemas.microsoft.com/office/powerpoint/2010/main" val="3138509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27</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Telemetry Introduction</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1164841337"/>
              </p:ext>
            </p:extLst>
          </p:nvPr>
        </p:nvGraphicFramePr>
        <p:xfrm>
          <a:off x="539552" y="1113588"/>
          <a:ext cx="7992888" cy="3550920"/>
        </p:xfrm>
        <a:graphic>
          <a:graphicData uri="http://schemas.openxmlformats.org/drawingml/2006/table">
            <a:tbl>
              <a:tblPr firstRow="1" bandRow="1">
                <a:tableStyleId>{5C22544A-7EE6-4342-B048-85BDC9FD1C3A}</a:tableStyleId>
              </a:tblPr>
              <a:tblGrid>
                <a:gridCol w="1800199"/>
                <a:gridCol w="1944216"/>
                <a:gridCol w="4248473"/>
              </a:tblGrid>
              <a:tr h="274320">
                <a:tc>
                  <a:txBody>
                    <a:bodyPr/>
                    <a:lstStyle/>
                    <a:p>
                      <a:pPr algn="ctr"/>
                      <a:r>
                        <a:rPr lang="en-US" altLang="zh-CN" sz="1400" dirty="0" smtClean="0">
                          <a:latin typeface="Times New Roman" pitchFamily="18" charset="0"/>
                          <a:cs typeface="Times New Roman" pitchFamily="18" charset="0"/>
                        </a:rPr>
                        <a:t>Telemetry Code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Name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Interpretation</a:t>
                      </a:r>
                      <a:r>
                        <a:rPr lang="en-US" altLang="zh-CN" sz="1400" baseline="0" dirty="0" smtClean="0">
                          <a:latin typeface="Times New Roman" pitchFamily="18" charset="0"/>
                          <a:cs typeface="Times New Roman" pitchFamily="18" charset="0"/>
                        </a:rPr>
                        <a:t> criterion</a:t>
                      </a:r>
                      <a:endParaRPr lang="zh-CN" altLang="en-US" sz="1400" dirty="0">
                        <a:latin typeface="Times New Roman" pitchFamily="18" charset="0"/>
                        <a:cs typeface="Times New Roman" pitchFamily="18" charset="0"/>
                      </a:endParaRPr>
                    </a:p>
                  </a:txBody>
                  <a:tcPr marT="34290" marB="34290"/>
                </a:tc>
              </a:tr>
              <a:tr h="617220">
                <a:tc>
                  <a:txBody>
                    <a:bodyPr/>
                    <a:lstStyle/>
                    <a:p>
                      <a:pPr algn="ctr"/>
                      <a:r>
                        <a:rPr lang="en-US" altLang="zh-CN" sz="1200" dirty="0" smtClean="0">
                          <a:latin typeface="Times New Roman" pitchFamily="18" charset="0"/>
                          <a:cs typeface="Times New Roman" pitchFamily="18" charset="0"/>
                        </a:rPr>
                        <a:t>TMK102</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Satellite</a:t>
                      </a:r>
                      <a:r>
                        <a:rPr lang="en-US" altLang="zh-CN" sz="1200" baseline="0" dirty="0" smtClean="0">
                          <a:latin typeface="Times New Roman" pitchFamily="18" charset="0"/>
                          <a:cs typeface="Times New Roman" pitchFamily="18" charset="0"/>
                        </a:rPr>
                        <a:t> Time</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The satellite</a:t>
                      </a:r>
                      <a:r>
                        <a:rPr lang="en-US" altLang="zh-CN" sz="1200" baseline="0" dirty="0" smtClean="0">
                          <a:latin typeface="Times New Roman" pitchFamily="18" charset="0"/>
                          <a:cs typeface="Times New Roman" pitchFamily="18" charset="0"/>
                        </a:rPr>
                        <a:t> time starts to increase since the AOCS is powered on. The satellite time can be corrected by applying GPS Time Correction.</a:t>
                      </a:r>
                      <a:endParaRPr lang="zh-CN" altLang="en-US" sz="1200" dirty="0">
                        <a:latin typeface="Times New Roman" pitchFamily="18" charset="0"/>
                        <a:cs typeface="Times New Roman" pitchFamily="18" charset="0"/>
                      </a:endParaRPr>
                    </a:p>
                  </a:txBody>
                  <a:tcPr marT="34290" marB="34290" anchor="ctr"/>
                </a:tc>
              </a:tr>
              <a:tr h="18973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TMK103</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Control Mode Word</a:t>
                      </a:r>
                      <a:endParaRPr lang="zh-CN" altLang="en-US" sz="1200" dirty="0">
                        <a:latin typeface="Times New Roman" pitchFamily="18" charset="0"/>
                        <a:cs typeface="Times New Roman" pitchFamily="18" charset="0"/>
                      </a:endParaRPr>
                    </a:p>
                  </a:txBody>
                  <a:tcPr marT="34290" marB="34290" anchor="ctr"/>
                </a:tc>
                <a:tc>
                  <a:txBody>
                    <a:bodyPr/>
                    <a:lstStyle/>
                    <a:p>
                      <a:pPr algn="l"/>
                      <a:r>
                        <a:rPr lang="en-US" altLang="zh-CN" sz="1200" dirty="0" smtClean="0">
                          <a:latin typeface="Times New Roman" pitchFamily="18" charset="0"/>
                          <a:cs typeface="Times New Roman" pitchFamily="18" charset="0"/>
                        </a:rPr>
                        <a:t>21H:AAM-angular rate dumping;</a:t>
                      </a:r>
                    </a:p>
                    <a:p>
                      <a:pPr algn="l"/>
                      <a:r>
                        <a:rPr lang="en-US" altLang="zh-CN" sz="1200" dirty="0" smtClean="0">
                          <a:latin typeface="Times New Roman" pitchFamily="18" charset="0"/>
                          <a:cs typeface="Times New Roman" pitchFamily="18" charset="0"/>
                        </a:rPr>
                        <a:t>22H:AAM-</a:t>
                      </a:r>
                      <a:r>
                        <a:rPr lang="en-US" altLang="zh-CN" sz="1200" baseline="0" dirty="0" smtClean="0">
                          <a:latin typeface="Times New Roman" pitchFamily="18" charset="0"/>
                          <a:cs typeface="Times New Roman" pitchFamily="18" charset="0"/>
                        </a:rPr>
                        <a:t>sun acquiring;</a:t>
                      </a:r>
                    </a:p>
                    <a:p>
                      <a:pPr algn="l"/>
                      <a:r>
                        <a:rPr lang="en-US" altLang="zh-CN" sz="1200" baseline="0" dirty="0" smtClean="0">
                          <a:latin typeface="Times New Roman" pitchFamily="18" charset="0"/>
                          <a:cs typeface="Times New Roman" pitchFamily="18" charset="0"/>
                        </a:rPr>
                        <a:t>23H:AAM-sun orientation;</a:t>
                      </a:r>
                    </a:p>
                    <a:p>
                      <a:pPr algn="l"/>
                      <a:r>
                        <a:rPr lang="en-US" altLang="zh-CN" sz="1200" baseline="0" dirty="0" smtClean="0">
                          <a:latin typeface="Times New Roman" pitchFamily="18" charset="0"/>
                          <a:cs typeface="Times New Roman" pitchFamily="18" charset="0"/>
                        </a:rPr>
                        <a:t>24H:AAM- attitude adjustment in earth-pointing;</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aseline="0" dirty="0" smtClean="0">
                          <a:latin typeface="Times New Roman" pitchFamily="18" charset="0"/>
                          <a:cs typeface="Times New Roman" pitchFamily="18" charset="0"/>
                        </a:rPr>
                        <a:t>25H:AAM- attitude adjustment in sun-pointing;</a:t>
                      </a:r>
                    </a:p>
                    <a:p>
                      <a:pPr algn="l"/>
                      <a:r>
                        <a:rPr lang="en-US" altLang="zh-CN" sz="1200" dirty="0" smtClean="0">
                          <a:latin typeface="Times New Roman" pitchFamily="18" charset="0"/>
                          <a:cs typeface="Times New Roman" pitchFamily="18" charset="0"/>
                        </a:rPr>
                        <a:t>30H:SPM;</a:t>
                      </a:r>
                    </a:p>
                    <a:p>
                      <a:pPr algn="l"/>
                      <a:r>
                        <a:rPr lang="en-US" altLang="zh-CN" sz="1200" dirty="0" smtClean="0">
                          <a:latin typeface="Times New Roman" pitchFamily="18" charset="0"/>
                          <a:cs typeface="Times New Roman" pitchFamily="18" charset="0"/>
                        </a:rPr>
                        <a:t>40H:MAM</a:t>
                      </a:r>
                      <a:r>
                        <a:rPr lang="en-US" altLang="zh-CN" sz="1200" baseline="0" dirty="0" smtClean="0">
                          <a:latin typeface="Times New Roman" pitchFamily="18" charset="0"/>
                          <a:cs typeface="Times New Roman" pitchFamily="18" charset="0"/>
                        </a:rPr>
                        <a:t>;</a:t>
                      </a:r>
                    </a:p>
                    <a:p>
                      <a:pPr algn="l"/>
                      <a:r>
                        <a:rPr lang="en-US" altLang="zh-CN" sz="1200" baseline="0" dirty="0" smtClean="0">
                          <a:latin typeface="Times New Roman" pitchFamily="18" charset="0"/>
                          <a:cs typeface="Times New Roman" pitchFamily="18" charset="0"/>
                        </a:rPr>
                        <a:t>50H:EPM;</a:t>
                      </a:r>
                    </a:p>
                    <a:p>
                      <a:pPr algn="l"/>
                      <a:r>
                        <a:rPr lang="en-US" altLang="zh-CN" sz="1200" baseline="0" dirty="0" smtClean="0">
                          <a:latin typeface="Times New Roman" pitchFamily="18" charset="0"/>
                          <a:cs typeface="Times New Roman" pitchFamily="18" charset="0"/>
                        </a:rPr>
                        <a:t>60H:AMM;</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aseline="0" dirty="0" smtClean="0">
                          <a:latin typeface="Times New Roman" pitchFamily="18" charset="0"/>
                          <a:cs typeface="Times New Roman" pitchFamily="18" charset="0"/>
                        </a:rPr>
                        <a:t>C0H:SCM.</a:t>
                      </a: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TMK104</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Angle of roll</a:t>
                      </a:r>
                      <a:endParaRPr lang="zh-CN" altLang="en-US" sz="1200" dirty="0">
                        <a:latin typeface="Times New Roman" pitchFamily="18" charset="0"/>
                        <a:cs typeface="Times New Roman" pitchFamily="18" charset="0"/>
                      </a:endParaRPr>
                    </a:p>
                  </a:txBody>
                  <a:tcPr marT="34290" marB="34290" anchor="ctr"/>
                </a:tc>
                <a:tc rowSpan="3">
                  <a:txBody>
                    <a:bodyPr/>
                    <a:lstStyle/>
                    <a:p>
                      <a:pPr algn="ctr"/>
                      <a:r>
                        <a:rPr lang="en-US" altLang="zh-CN" sz="1200" dirty="0" smtClean="0">
                          <a:latin typeface="Times New Roman" pitchFamily="18" charset="0"/>
                          <a:cs typeface="Times New Roman" pitchFamily="18" charset="0"/>
                        </a:rPr>
                        <a:t>Current attitude angle</a:t>
                      </a:r>
                      <a:r>
                        <a:rPr lang="en-US" altLang="zh-CN" sz="1200" baseline="0" dirty="0" smtClean="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of satellite</a:t>
                      </a:r>
                      <a:endParaRPr lang="zh-CN" altLang="en-US" sz="1200" dirty="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TMK105</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Angle of pitch</a:t>
                      </a:r>
                      <a:endParaRPr lang="zh-CN" altLang="en-US" sz="1200" dirty="0">
                        <a:latin typeface="Times New Roman" pitchFamily="18" charset="0"/>
                        <a:cs typeface="Times New Roman" pitchFamily="18" charset="0"/>
                      </a:endParaRPr>
                    </a:p>
                  </a:txBody>
                  <a:tcPr marT="34290" marB="34290" anchor="ctr"/>
                </a:tc>
                <a:tc vMerge="1">
                  <a:txBody>
                    <a:bodyPr/>
                    <a:lstStyle/>
                    <a:p>
                      <a:pPr algn="ctr"/>
                      <a:endParaRPr lang="zh-CN" altLang="en-US" sz="1600">
                        <a:latin typeface="Times New Roman" pitchFamily="18" charset="0"/>
                        <a:cs typeface="Times New Roman" pitchFamily="18" charset="0"/>
                      </a:endParaRPr>
                    </a:p>
                  </a:txBody>
                  <a:tcP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TMK106</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Angle of</a:t>
                      </a:r>
                      <a:r>
                        <a:rPr lang="en-US" altLang="zh-CN" sz="1200" baseline="0" dirty="0" smtClean="0">
                          <a:latin typeface="Times New Roman" pitchFamily="18" charset="0"/>
                          <a:cs typeface="Times New Roman" pitchFamily="18" charset="0"/>
                        </a:rPr>
                        <a:t> yaw</a:t>
                      </a:r>
                      <a:endParaRPr lang="zh-CN" altLang="en-US" sz="1200" dirty="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1859607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Telemetry Introduction</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3050612439"/>
              </p:ext>
            </p:extLst>
          </p:nvPr>
        </p:nvGraphicFramePr>
        <p:xfrm>
          <a:off x="611560" y="951571"/>
          <a:ext cx="7992888" cy="3825240"/>
        </p:xfrm>
        <a:graphic>
          <a:graphicData uri="http://schemas.openxmlformats.org/drawingml/2006/table">
            <a:tbl>
              <a:tblPr firstRow="1" bandRow="1">
                <a:tableStyleId>{5C22544A-7EE6-4342-B048-85BDC9FD1C3A}</a:tableStyleId>
              </a:tblPr>
              <a:tblGrid>
                <a:gridCol w="1800199"/>
                <a:gridCol w="2376265"/>
                <a:gridCol w="3816424"/>
              </a:tblGrid>
              <a:tr h="274320">
                <a:tc>
                  <a:txBody>
                    <a:bodyPr/>
                    <a:lstStyle/>
                    <a:p>
                      <a:pPr algn="ctr"/>
                      <a:r>
                        <a:rPr lang="en-US" altLang="zh-CN" sz="1400" dirty="0" smtClean="0">
                          <a:latin typeface="Times New Roman" pitchFamily="18" charset="0"/>
                          <a:cs typeface="Times New Roman" pitchFamily="18" charset="0"/>
                        </a:rPr>
                        <a:t>Telemetry Code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Name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Interpretation</a:t>
                      </a:r>
                      <a:r>
                        <a:rPr lang="en-US" altLang="zh-CN" sz="1400" baseline="0" dirty="0" smtClean="0">
                          <a:latin typeface="Times New Roman" pitchFamily="18" charset="0"/>
                          <a:cs typeface="Times New Roman" pitchFamily="18" charset="0"/>
                        </a:rPr>
                        <a:t> criterion</a:t>
                      </a:r>
                      <a:endParaRPr lang="zh-CN" altLang="en-US" sz="1400" dirty="0">
                        <a:latin typeface="Times New Roman" pitchFamily="18" charset="0"/>
                        <a:cs typeface="Times New Roman" pitchFamily="18" charset="0"/>
                      </a:endParaRPr>
                    </a:p>
                  </a:txBody>
                  <a:tcPr marT="34290" marB="34290"/>
                </a:tc>
              </a:tr>
              <a:tr h="251460">
                <a:tc>
                  <a:txBody>
                    <a:bodyPr/>
                    <a:lstStyle/>
                    <a:p>
                      <a:pPr algn="ctr"/>
                      <a:r>
                        <a:rPr lang="en-US" altLang="zh-CN" sz="1200" dirty="0" smtClean="0">
                          <a:latin typeface="Times New Roman" pitchFamily="18" charset="0"/>
                          <a:cs typeface="Times New Roman" pitchFamily="18" charset="0"/>
                        </a:rPr>
                        <a:t>TMK107</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Angular</a:t>
                      </a:r>
                      <a:r>
                        <a:rPr lang="en-US" altLang="zh-CN" sz="1200" baseline="0" dirty="0" smtClean="0">
                          <a:latin typeface="Times New Roman" pitchFamily="18" charset="0"/>
                          <a:cs typeface="Times New Roman" pitchFamily="18" charset="0"/>
                        </a:rPr>
                        <a:t> rate</a:t>
                      </a:r>
                      <a:r>
                        <a:rPr lang="en-US" altLang="zh-CN" sz="1200" dirty="0" smtClean="0">
                          <a:latin typeface="Times New Roman" pitchFamily="18" charset="0"/>
                          <a:cs typeface="Times New Roman" pitchFamily="18" charset="0"/>
                        </a:rPr>
                        <a:t> of roll</a:t>
                      </a:r>
                      <a:endParaRPr lang="zh-CN" altLang="en-US" sz="1200" dirty="0">
                        <a:latin typeface="Times New Roman" pitchFamily="18" charset="0"/>
                        <a:cs typeface="Times New Roman" pitchFamily="18" charset="0"/>
                      </a:endParaRPr>
                    </a:p>
                  </a:txBody>
                  <a:tcPr marT="34290" marB="34290" anchor="ctr"/>
                </a:tc>
                <a:tc rowSpan="3">
                  <a:txBody>
                    <a:bodyPr/>
                    <a:lstStyle/>
                    <a:p>
                      <a:pPr algn="ctr"/>
                      <a:r>
                        <a:rPr lang="en-US" altLang="zh-CN" sz="1200" dirty="0" smtClean="0">
                          <a:latin typeface="Times New Roman" pitchFamily="18" charset="0"/>
                          <a:cs typeface="Times New Roman" pitchFamily="18" charset="0"/>
                        </a:rPr>
                        <a:t>Current</a:t>
                      </a:r>
                      <a:r>
                        <a:rPr lang="en-US" altLang="zh-CN" sz="1200" baseline="0" dirty="0" smtClean="0">
                          <a:latin typeface="Times New Roman" pitchFamily="18" charset="0"/>
                          <a:cs typeface="Times New Roman" pitchFamily="18" charset="0"/>
                        </a:rPr>
                        <a:t> attitude angular rate of satellite</a:t>
                      </a:r>
                      <a:endParaRPr lang="zh-CN" altLang="en-US" sz="1200" dirty="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TMK108</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Angular</a:t>
                      </a:r>
                      <a:r>
                        <a:rPr lang="en-US" altLang="zh-CN" sz="1200" baseline="0" dirty="0" smtClean="0">
                          <a:latin typeface="Times New Roman" pitchFamily="18" charset="0"/>
                          <a:cs typeface="Times New Roman" pitchFamily="18" charset="0"/>
                        </a:rPr>
                        <a:t> rate</a:t>
                      </a:r>
                      <a:r>
                        <a:rPr lang="en-US" altLang="zh-CN" sz="1200" dirty="0" smtClean="0">
                          <a:latin typeface="Times New Roman" pitchFamily="18" charset="0"/>
                          <a:cs typeface="Times New Roman" pitchFamily="18" charset="0"/>
                        </a:rPr>
                        <a:t> of pitch</a:t>
                      </a:r>
                      <a:endParaRPr lang="zh-CN" altLang="en-US" sz="1200" dirty="0">
                        <a:latin typeface="Times New Roman" pitchFamily="18" charset="0"/>
                        <a:cs typeface="Times New Roman" pitchFamily="18" charset="0"/>
                      </a:endParaRPr>
                    </a:p>
                  </a:txBody>
                  <a:tcPr marT="34290" marB="34290" anchor="ctr"/>
                </a:tc>
                <a:tc vMerge="1">
                  <a:txBody>
                    <a:bodyPr/>
                    <a:lstStyle/>
                    <a:p>
                      <a:pPr algn="l"/>
                      <a:endParaRPr lang="en-US" altLang="zh-CN" sz="1600" baseline="0" dirty="0" smtClean="0">
                        <a:latin typeface="Times New Roman" pitchFamily="18" charset="0"/>
                        <a:cs typeface="Times New Roman" pitchFamily="18" charset="0"/>
                      </a:endParaRPr>
                    </a:p>
                  </a:txBody>
                  <a:tcPr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TMK109</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Angular</a:t>
                      </a:r>
                      <a:r>
                        <a:rPr lang="en-US" altLang="zh-CN" sz="1200" baseline="0" dirty="0" smtClean="0">
                          <a:latin typeface="Times New Roman" pitchFamily="18" charset="0"/>
                          <a:cs typeface="Times New Roman" pitchFamily="18" charset="0"/>
                        </a:rPr>
                        <a:t> rate</a:t>
                      </a:r>
                      <a:r>
                        <a:rPr lang="en-US" altLang="zh-CN" sz="1200" dirty="0" smtClean="0">
                          <a:latin typeface="Times New Roman" pitchFamily="18" charset="0"/>
                          <a:cs typeface="Times New Roman" pitchFamily="18" charset="0"/>
                        </a:rPr>
                        <a:t> of</a:t>
                      </a:r>
                      <a:r>
                        <a:rPr lang="en-US" altLang="zh-CN" sz="1200" baseline="0" dirty="0" smtClean="0">
                          <a:latin typeface="Times New Roman" pitchFamily="18" charset="0"/>
                          <a:cs typeface="Times New Roman" pitchFamily="18" charset="0"/>
                        </a:rPr>
                        <a:t> yaw</a:t>
                      </a:r>
                      <a:endParaRPr lang="zh-CN" altLang="en-US" sz="1200" dirty="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TMK116</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Angular</a:t>
                      </a:r>
                      <a:r>
                        <a:rPr lang="en-US" altLang="zh-CN" sz="1200" baseline="0" dirty="0" smtClean="0">
                          <a:latin typeface="Times New Roman" pitchFamily="18" charset="0"/>
                          <a:cs typeface="Times New Roman" pitchFamily="18" charset="0"/>
                        </a:rPr>
                        <a:t> rate of FOG X</a:t>
                      </a:r>
                      <a:endParaRPr lang="zh-CN" altLang="en-US" sz="1200" dirty="0">
                        <a:latin typeface="Times New Roman" pitchFamily="18" charset="0"/>
                        <a:cs typeface="Times New Roman" pitchFamily="18" charset="0"/>
                      </a:endParaRPr>
                    </a:p>
                  </a:txBody>
                  <a:tcPr marT="34290" marB="34290" anchor="ctr"/>
                </a:tc>
                <a:tc rowSpan="4">
                  <a:txBody>
                    <a:bodyPr/>
                    <a:lstStyle/>
                    <a:p>
                      <a:pPr algn="ctr"/>
                      <a:r>
                        <a:rPr lang="en-US" altLang="zh-CN" sz="1200" dirty="0" smtClean="0">
                          <a:latin typeface="Times New Roman" pitchFamily="18" charset="0"/>
                          <a:cs typeface="Times New Roman" pitchFamily="18" charset="0"/>
                        </a:rPr>
                        <a:t>Measured angular rate by FOG</a:t>
                      </a:r>
                    </a:p>
                    <a:p>
                      <a:pPr algn="ctr"/>
                      <a:r>
                        <a:rPr lang="en-US" altLang="zh-CN" sz="1200" dirty="0" smtClean="0">
                          <a:latin typeface="Times New Roman" pitchFamily="18" charset="0"/>
                          <a:cs typeface="Times New Roman" pitchFamily="18" charset="0"/>
                        </a:rPr>
                        <a:t>In maneuvering:</a:t>
                      </a:r>
                      <a:r>
                        <a:rPr lang="en-US" altLang="zh-CN" sz="1200" baseline="0" dirty="0" smtClean="0">
                          <a:latin typeface="Times New Roman" pitchFamily="18" charset="0"/>
                          <a:cs typeface="Times New Roman" pitchFamily="18" charset="0"/>
                        </a:rPr>
                        <a:t> -0.6˚/s~ +0.6˚/s;</a:t>
                      </a:r>
                    </a:p>
                    <a:p>
                      <a:pPr algn="ctr"/>
                      <a:r>
                        <a:rPr lang="en-US" altLang="zh-CN" sz="1200" baseline="0" dirty="0" smtClean="0">
                          <a:latin typeface="Times New Roman" pitchFamily="18" charset="0"/>
                          <a:cs typeface="Times New Roman" pitchFamily="18" charset="0"/>
                        </a:rPr>
                        <a:t>Others:-0.1˚/s~ +0.1˚/s;</a:t>
                      </a:r>
                      <a:endParaRPr lang="zh-CN" altLang="en-US" sz="1200" dirty="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TMK117</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Angular</a:t>
                      </a:r>
                      <a:r>
                        <a:rPr lang="en-US" altLang="zh-CN" sz="1200" baseline="0" dirty="0" smtClean="0">
                          <a:latin typeface="Times New Roman" pitchFamily="18" charset="0"/>
                          <a:cs typeface="Times New Roman" pitchFamily="18" charset="0"/>
                        </a:rPr>
                        <a:t> rate of FOG Y</a:t>
                      </a:r>
                      <a:endParaRPr lang="zh-CN" altLang="en-US" sz="1200" dirty="0" smtClean="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TMK118</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Angular</a:t>
                      </a:r>
                      <a:r>
                        <a:rPr lang="en-US" altLang="zh-CN" sz="1200" baseline="0" dirty="0" smtClean="0">
                          <a:latin typeface="Times New Roman" pitchFamily="18" charset="0"/>
                          <a:cs typeface="Times New Roman" pitchFamily="18" charset="0"/>
                        </a:rPr>
                        <a:t> rate of FOG Z</a:t>
                      </a:r>
                      <a:endParaRPr lang="zh-CN" altLang="en-US" sz="1200" dirty="0" smtClean="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TMK119</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Angular</a:t>
                      </a:r>
                      <a:r>
                        <a:rPr lang="en-US" altLang="zh-CN" sz="1200" baseline="0" dirty="0" smtClean="0">
                          <a:latin typeface="Times New Roman" pitchFamily="18" charset="0"/>
                          <a:cs typeface="Times New Roman" pitchFamily="18" charset="0"/>
                        </a:rPr>
                        <a:t> rate of FOG S</a:t>
                      </a:r>
                      <a:endParaRPr lang="zh-CN" altLang="en-US" sz="1200" dirty="0" smtClean="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r h="44973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TMK120</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ASS</a:t>
                      </a:r>
                      <a:r>
                        <a:rPr lang="en-US" altLang="zh-CN" sz="1200" baseline="0" dirty="0" smtClean="0">
                          <a:latin typeface="Times New Roman" pitchFamily="18" charset="0"/>
                          <a:cs typeface="Times New Roman" pitchFamily="18" charset="0"/>
                        </a:rPr>
                        <a:t> </a:t>
                      </a:r>
                      <a:r>
                        <a:rPr lang="el-GR" altLang="zh-CN" sz="1200" baseline="0" dirty="0" smtClean="0">
                          <a:latin typeface="Times New Roman" pitchFamily="18" charset="0"/>
                          <a:cs typeface="Times New Roman" pitchFamily="18" charset="0"/>
                        </a:rPr>
                        <a:t>α</a:t>
                      </a:r>
                      <a:endParaRPr lang="zh-CN" altLang="en-US" sz="1200" dirty="0" smtClean="0">
                        <a:latin typeface="Times New Roman" pitchFamily="18" charset="0"/>
                        <a:cs typeface="Times New Roman" pitchFamily="18" charset="0"/>
                      </a:endParaRPr>
                    </a:p>
                  </a:txBody>
                  <a:tcPr marT="34290" marB="34290" anchor="ctr"/>
                </a:tc>
                <a:tc rowSpan="2">
                  <a:txBody>
                    <a:bodyPr/>
                    <a:lstStyle/>
                    <a:p>
                      <a:pPr algn="ctr"/>
                      <a:r>
                        <a:rPr lang="en-US" altLang="zh-CN" sz="1200" dirty="0" smtClean="0">
                          <a:latin typeface="Times New Roman" pitchFamily="18" charset="0"/>
                          <a:cs typeface="Times New Roman" pitchFamily="18" charset="0"/>
                        </a:rPr>
                        <a:t>Solar</a:t>
                      </a:r>
                      <a:r>
                        <a:rPr lang="en-US" altLang="zh-CN" sz="1200" baseline="0" dirty="0" smtClean="0">
                          <a:latin typeface="Times New Roman" pitchFamily="18" charset="0"/>
                          <a:cs typeface="Times New Roman" pitchFamily="18" charset="0"/>
                        </a:rPr>
                        <a:t> zone:</a:t>
                      </a:r>
                    </a:p>
                    <a:p>
                      <a:pPr algn="ctr"/>
                      <a:r>
                        <a:rPr lang="en-US" altLang="zh-CN" sz="1200" baseline="0" dirty="0" smtClean="0">
                          <a:latin typeface="Times New Roman" pitchFamily="18" charset="0"/>
                          <a:cs typeface="Times New Roman" pitchFamily="18" charset="0"/>
                        </a:rPr>
                        <a:t>Sun;</a:t>
                      </a:r>
                    </a:p>
                    <a:p>
                      <a:pPr algn="ctr"/>
                      <a:r>
                        <a:rPr lang="en-US" altLang="zh-CN" sz="1200" baseline="0" dirty="0" smtClean="0">
                          <a:latin typeface="Times New Roman" pitchFamily="18" charset="0"/>
                          <a:cs typeface="Times New Roman" pitchFamily="18" charset="0"/>
                        </a:rPr>
                        <a:t>Absolute value </a:t>
                      </a:r>
                      <a:r>
                        <a:rPr lang="zh-CN" altLang="en-US" sz="1200" baseline="0" dirty="0" smtClean="0">
                          <a:latin typeface="Times New Roman" pitchFamily="18" charset="0"/>
                          <a:cs typeface="Times New Roman" pitchFamily="18" charset="0"/>
                        </a:rPr>
                        <a:t>＜ </a:t>
                      </a:r>
                      <a:r>
                        <a:rPr lang="en-US" altLang="zh-CN" sz="1200" baseline="0" dirty="0" smtClean="0">
                          <a:latin typeface="Times New Roman" pitchFamily="18" charset="0"/>
                          <a:cs typeface="Times New Roman" pitchFamily="18" charset="0"/>
                        </a:rPr>
                        <a:t>5˚;</a:t>
                      </a:r>
                    </a:p>
                    <a:p>
                      <a:pPr algn="ctr"/>
                      <a:r>
                        <a:rPr lang="en-US" altLang="zh-CN" sz="1200" baseline="0" dirty="0" smtClean="0">
                          <a:latin typeface="Times New Roman" pitchFamily="18" charset="0"/>
                          <a:cs typeface="Times New Roman" pitchFamily="18" charset="0"/>
                        </a:rPr>
                        <a:t>Shadow zone:</a:t>
                      </a:r>
                    </a:p>
                    <a:p>
                      <a:pPr algn="ctr"/>
                      <a:r>
                        <a:rPr lang="en-US" altLang="zh-CN" sz="1200" dirty="0" smtClean="0">
                          <a:latin typeface="Times New Roman" pitchFamily="18" charset="0"/>
                          <a:cs typeface="Times New Roman" pitchFamily="18" charset="0"/>
                        </a:rPr>
                        <a:t>No Sun.</a:t>
                      </a:r>
                      <a:endParaRPr lang="zh-CN" altLang="en-US" sz="1200" dirty="0">
                        <a:latin typeface="Times New Roman" pitchFamily="18" charset="0"/>
                        <a:cs typeface="Times New Roman" pitchFamily="18" charset="0"/>
                      </a:endParaRPr>
                    </a:p>
                  </a:txBody>
                  <a:tcPr marT="34290" marB="34290" anchor="ctr"/>
                </a:tc>
              </a:tr>
              <a:tr h="53324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TMK121</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ASS</a:t>
                      </a:r>
                      <a:r>
                        <a:rPr lang="en-US" altLang="zh-CN" sz="1200" baseline="0" dirty="0" smtClean="0">
                          <a:latin typeface="Times New Roman" pitchFamily="18" charset="0"/>
                          <a:cs typeface="Times New Roman" pitchFamily="18" charset="0"/>
                        </a:rPr>
                        <a:t> </a:t>
                      </a:r>
                      <a:r>
                        <a:rPr lang="el-GR" altLang="zh-CN" sz="1200" baseline="0" dirty="0" smtClean="0">
                          <a:latin typeface="Times New Roman" pitchFamily="18" charset="0"/>
                          <a:cs typeface="Times New Roman" pitchFamily="18" charset="0"/>
                        </a:rPr>
                        <a:t>β</a:t>
                      </a:r>
                      <a:endParaRPr lang="zh-CN" altLang="en-US" sz="1200" dirty="0" smtClean="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r h="38485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TMK138</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STS A status information</a:t>
                      </a:r>
                      <a:endParaRPr lang="zh-CN" altLang="en-US" sz="1200" dirty="0" smtClean="0">
                        <a:latin typeface="Times New Roman" pitchFamily="18" charset="0"/>
                        <a:cs typeface="Times New Roman" pitchFamily="18" charset="0"/>
                      </a:endParaRPr>
                    </a:p>
                  </a:txBody>
                  <a:tcPr marT="34290" marB="34290" anchor="ctr"/>
                </a:tc>
                <a:tc rowSpan="2">
                  <a:txBody>
                    <a:bodyPr/>
                    <a:lstStyle/>
                    <a:p>
                      <a:pPr algn="ctr"/>
                      <a:r>
                        <a:rPr lang="en-US" altLang="zh-CN" sz="1200" dirty="0" smtClean="0">
                          <a:latin typeface="Times New Roman" pitchFamily="18" charset="0"/>
                          <a:cs typeface="Times New Roman" pitchFamily="18" charset="0"/>
                        </a:rPr>
                        <a:t>When</a:t>
                      </a:r>
                      <a:r>
                        <a:rPr lang="en-US" altLang="zh-CN" sz="1200" baseline="0" dirty="0" smtClean="0">
                          <a:latin typeface="Times New Roman" pitchFamily="18" charset="0"/>
                          <a:cs typeface="Times New Roman" pitchFamily="18" charset="0"/>
                        </a:rPr>
                        <a:t> STS is available:</a:t>
                      </a:r>
                    </a:p>
                    <a:p>
                      <a:pPr algn="ctr"/>
                      <a:r>
                        <a:rPr lang="en-US" altLang="zh-CN" sz="1200" baseline="0" dirty="0" smtClean="0">
                          <a:latin typeface="Times New Roman" pitchFamily="18" charset="0"/>
                          <a:cs typeface="Times New Roman" pitchFamily="18" charset="0"/>
                        </a:rPr>
                        <a:t>D7(effectiveness of attitude data)=1:normal attitude information;</a:t>
                      </a:r>
                    </a:p>
                    <a:p>
                      <a:pPr algn="ctr"/>
                      <a:r>
                        <a:rPr lang="en-US" altLang="zh-CN" sz="1200" dirty="0" smtClean="0">
                          <a:latin typeface="Times New Roman" pitchFamily="18" charset="0"/>
                          <a:cs typeface="Times New Roman" pitchFamily="18" charset="0"/>
                        </a:rPr>
                        <a:t>D2~D0:current</a:t>
                      </a:r>
                      <a:r>
                        <a:rPr lang="en-US" altLang="zh-CN" sz="1200" baseline="0" dirty="0" smtClean="0">
                          <a:latin typeface="Times New Roman" pitchFamily="18" charset="0"/>
                          <a:cs typeface="Times New Roman" pitchFamily="18" charset="0"/>
                        </a:rPr>
                        <a:t> work mode of STS: Mode C.</a:t>
                      </a:r>
                      <a:endParaRPr lang="en-US" altLang="zh-CN" sz="1200" dirty="0" smtClean="0">
                        <a:latin typeface="Times New Roman" pitchFamily="18" charset="0"/>
                        <a:cs typeface="Times New Roman" pitchFamily="18" charset="0"/>
                      </a:endParaRPr>
                    </a:p>
                  </a:txBody>
                  <a:tcPr marT="34290" marB="34290" anchor="ctr"/>
                </a:tc>
              </a:tr>
              <a:tr h="41524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TMK147</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STS B status information</a:t>
                      </a:r>
                      <a:endParaRPr lang="zh-CN" altLang="en-US" sz="1200" dirty="0" smtClean="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bl>
          </a:graphicData>
        </a:graphic>
      </p:graphicFrame>
    </p:spTree>
    <p:extLst>
      <p:ext uri="{BB962C8B-B14F-4D97-AF65-F5344CB8AC3E}">
        <p14:creationId xmlns:p14="http://schemas.microsoft.com/office/powerpoint/2010/main" val="1834033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Telemetry Introduction</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4114420697"/>
              </p:ext>
            </p:extLst>
          </p:nvPr>
        </p:nvGraphicFramePr>
        <p:xfrm>
          <a:off x="611560" y="1059582"/>
          <a:ext cx="7992888" cy="3573780"/>
        </p:xfrm>
        <a:graphic>
          <a:graphicData uri="http://schemas.openxmlformats.org/drawingml/2006/table">
            <a:tbl>
              <a:tblPr firstRow="1" bandRow="1">
                <a:tableStyleId>{5C22544A-7EE6-4342-B048-85BDC9FD1C3A}</a:tableStyleId>
              </a:tblPr>
              <a:tblGrid>
                <a:gridCol w="1800199"/>
                <a:gridCol w="2376265"/>
                <a:gridCol w="3816424"/>
              </a:tblGrid>
              <a:tr h="274320">
                <a:tc>
                  <a:txBody>
                    <a:bodyPr/>
                    <a:lstStyle/>
                    <a:p>
                      <a:pPr algn="ctr"/>
                      <a:r>
                        <a:rPr lang="en-US" altLang="zh-CN" sz="1400" dirty="0" smtClean="0">
                          <a:latin typeface="Times New Roman" pitchFamily="18" charset="0"/>
                          <a:cs typeface="Times New Roman" pitchFamily="18" charset="0"/>
                        </a:rPr>
                        <a:t>Telemetry Code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Name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Interpretation</a:t>
                      </a:r>
                      <a:r>
                        <a:rPr lang="en-US" altLang="zh-CN" sz="1400" baseline="0" dirty="0" smtClean="0">
                          <a:latin typeface="Times New Roman" pitchFamily="18" charset="0"/>
                          <a:cs typeface="Times New Roman" pitchFamily="18" charset="0"/>
                        </a:rPr>
                        <a:t> criterion</a:t>
                      </a:r>
                      <a:endParaRPr lang="zh-CN" altLang="en-US" sz="1400" dirty="0">
                        <a:latin typeface="Times New Roman" pitchFamily="18" charset="0"/>
                        <a:cs typeface="Times New Roman" pitchFamily="18" charset="0"/>
                      </a:endParaRPr>
                    </a:p>
                  </a:txBody>
                  <a:tcPr marT="34290" marB="34290"/>
                </a:tc>
              </a:tr>
              <a:tr h="251460">
                <a:tc>
                  <a:txBody>
                    <a:bodyPr/>
                    <a:lstStyle/>
                    <a:p>
                      <a:pPr algn="ctr"/>
                      <a:r>
                        <a:rPr lang="en-US" altLang="zh-CN" sz="1200" dirty="0" smtClean="0">
                          <a:latin typeface="Times New Roman" pitchFamily="18" charset="0"/>
                          <a:cs typeface="Times New Roman" pitchFamily="18" charset="0"/>
                        </a:rPr>
                        <a:t>TMK152</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Rotation</a:t>
                      </a:r>
                      <a:r>
                        <a:rPr lang="en-US" altLang="zh-CN" sz="1200" baseline="0" dirty="0" smtClean="0">
                          <a:latin typeface="Times New Roman" pitchFamily="18" charset="0"/>
                          <a:cs typeface="Times New Roman" pitchFamily="18" charset="0"/>
                        </a:rPr>
                        <a:t> rate</a:t>
                      </a:r>
                      <a:r>
                        <a:rPr lang="en-US" altLang="zh-CN" sz="1200" dirty="0" smtClean="0">
                          <a:latin typeface="Times New Roman" pitchFamily="18" charset="0"/>
                          <a:cs typeface="Times New Roman" pitchFamily="18" charset="0"/>
                        </a:rPr>
                        <a:t> of MW</a:t>
                      </a:r>
                      <a:r>
                        <a:rPr lang="en-US" altLang="zh-CN" sz="1200" baseline="0" dirty="0" smtClean="0">
                          <a:latin typeface="Times New Roman" pitchFamily="18" charset="0"/>
                          <a:cs typeface="Times New Roman" pitchFamily="18" charset="0"/>
                        </a:rPr>
                        <a:t> X</a:t>
                      </a:r>
                      <a:endParaRPr lang="zh-CN" altLang="en-US" sz="1200" dirty="0">
                        <a:latin typeface="Times New Roman" pitchFamily="18" charset="0"/>
                        <a:cs typeface="Times New Roman" pitchFamily="18" charset="0"/>
                      </a:endParaRPr>
                    </a:p>
                  </a:txBody>
                  <a:tcPr marT="34290" marB="34290" anchor="ctr"/>
                </a:tc>
                <a:tc rowSpan="3">
                  <a:txBody>
                    <a:bodyPr/>
                    <a:lstStyle/>
                    <a:p>
                      <a:pPr algn="ctr"/>
                      <a:r>
                        <a:rPr lang="en-US" altLang="zh-CN" sz="1200" dirty="0" smtClean="0">
                          <a:latin typeface="Times New Roman" pitchFamily="18" charset="0"/>
                          <a:cs typeface="Times New Roman" pitchFamily="18" charset="0"/>
                        </a:rPr>
                        <a:t>Steady</a:t>
                      </a:r>
                      <a:r>
                        <a:rPr lang="en-US" altLang="zh-CN" sz="1200" baseline="0" dirty="0" smtClean="0">
                          <a:latin typeface="Times New Roman" pitchFamily="18" charset="0"/>
                          <a:cs typeface="Times New Roman" pitchFamily="18" charset="0"/>
                        </a:rPr>
                        <a:t> operation in SPM and EPM:</a:t>
                      </a:r>
                    </a:p>
                    <a:p>
                      <a:pPr algn="ctr"/>
                      <a:r>
                        <a:rPr lang="en-US" altLang="zh-CN" sz="1200" baseline="0" dirty="0" smtClean="0">
                          <a:latin typeface="Times New Roman" pitchFamily="18" charset="0"/>
                          <a:cs typeface="Times New Roman" pitchFamily="18" charset="0"/>
                        </a:rPr>
                        <a:t>1667±200 rpm</a:t>
                      </a:r>
                      <a:endParaRPr lang="zh-CN" altLang="en-US" sz="1200" dirty="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TMK153</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Rotation</a:t>
                      </a:r>
                      <a:r>
                        <a:rPr lang="en-US" altLang="zh-CN" sz="1200" baseline="0" dirty="0" smtClean="0">
                          <a:latin typeface="Times New Roman" pitchFamily="18" charset="0"/>
                          <a:cs typeface="Times New Roman" pitchFamily="18" charset="0"/>
                        </a:rPr>
                        <a:t> rate</a:t>
                      </a:r>
                      <a:r>
                        <a:rPr lang="en-US" altLang="zh-CN" sz="1200" dirty="0" smtClean="0">
                          <a:latin typeface="Times New Roman" pitchFamily="18" charset="0"/>
                          <a:cs typeface="Times New Roman" pitchFamily="18" charset="0"/>
                        </a:rPr>
                        <a:t> of MW</a:t>
                      </a:r>
                      <a:r>
                        <a:rPr lang="en-US" altLang="zh-CN" sz="1200" baseline="0" dirty="0" smtClean="0">
                          <a:latin typeface="Times New Roman" pitchFamily="18" charset="0"/>
                          <a:cs typeface="Times New Roman" pitchFamily="18" charset="0"/>
                        </a:rPr>
                        <a:t> Y</a:t>
                      </a:r>
                      <a:endParaRPr lang="zh-CN" altLang="en-US" sz="1200" dirty="0">
                        <a:latin typeface="Times New Roman" pitchFamily="18" charset="0"/>
                        <a:cs typeface="Times New Roman" pitchFamily="18" charset="0"/>
                      </a:endParaRPr>
                    </a:p>
                  </a:txBody>
                  <a:tcPr marT="34290" marB="34290" anchor="ctr"/>
                </a:tc>
                <a:tc vMerge="1">
                  <a:txBody>
                    <a:bodyPr/>
                    <a:lstStyle/>
                    <a:p>
                      <a:pPr algn="l"/>
                      <a:endParaRPr lang="en-US" altLang="zh-CN" sz="1600" baseline="0" dirty="0" smtClean="0">
                        <a:latin typeface="Times New Roman" pitchFamily="18" charset="0"/>
                        <a:cs typeface="Times New Roman" pitchFamily="18" charset="0"/>
                      </a:endParaRPr>
                    </a:p>
                  </a:txBody>
                  <a:tcPr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TMK154</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Rotation</a:t>
                      </a:r>
                      <a:r>
                        <a:rPr lang="en-US" altLang="zh-CN" sz="1200" baseline="0" dirty="0" smtClean="0">
                          <a:latin typeface="Times New Roman" pitchFamily="18" charset="0"/>
                          <a:cs typeface="Times New Roman" pitchFamily="18" charset="0"/>
                        </a:rPr>
                        <a:t> rate</a:t>
                      </a:r>
                      <a:r>
                        <a:rPr lang="en-US" altLang="zh-CN" sz="1200" dirty="0" smtClean="0">
                          <a:latin typeface="Times New Roman" pitchFamily="18" charset="0"/>
                          <a:cs typeface="Times New Roman" pitchFamily="18" charset="0"/>
                        </a:rPr>
                        <a:t> of MW</a:t>
                      </a:r>
                      <a:r>
                        <a:rPr lang="en-US" altLang="zh-CN" sz="1200" baseline="0" dirty="0" smtClean="0">
                          <a:latin typeface="Times New Roman" pitchFamily="18" charset="0"/>
                          <a:cs typeface="Times New Roman" pitchFamily="18" charset="0"/>
                        </a:rPr>
                        <a:t> Z</a:t>
                      </a:r>
                      <a:endParaRPr lang="zh-CN" altLang="en-US" sz="1200" dirty="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TMK155</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Rotation</a:t>
                      </a:r>
                      <a:r>
                        <a:rPr lang="en-US" altLang="zh-CN" sz="1200" baseline="0" dirty="0" smtClean="0">
                          <a:latin typeface="Times New Roman" pitchFamily="18" charset="0"/>
                          <a:cs typeface="Times New Roman" pitchFamily="18" charset="0"/>
                        </a:rPr>
                        <a:t> rate</a:t>
                      </a:r>
                      <a:r>
                        <a:rPr lang="en-US" altLang="zh-CN" sz="1200" dirty="0" smtClean="0">
                          <a:latin typeface="Times New Roman" pitchFamily="18" charset="0"/>
                          <a:cs typeface="Times New Roman" pitchFamily="18" charset="0"/>
                        </a:rPr>
                        <a:t> of MW</a:t>
                      </a:r>
                      <a:r>
                        <a:rPr lang="en-US" altLang="zh-CN" sz="1200" baseline="0" dirty="0" smtClean="0">
                          <a:latin typeface="Times New Roman" pitchFamily="18" charset="0"/>
                          <a:cs typeface="Times New Roman" pitchFamily="18" charset="0"/>
                        </a:rPr>
                        <a:t> S</a:t>
                      </a:r>
                      <a:endParaRPr lang="zh-CN" altLang="en-US" sz="12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baseline="0" dirty="0" smtClean="0">
                          <a:latin typeface="Times New Roman" pitchFamily="18" charset="0"/>
                          <a:cs typeface="Times New Roman" pitchFamily="18" charset="0"/>
                        </a:rPr>
                        <a:t>2887±50 rpm</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TMK160</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Pulse</a:t>
                      </a:r>
                      <a:r>
                        <a:rPr lang="en-US" altLang="zh-CN" sz="1200" baseline="0" dirty="0" smtClean="0">
                          <a:latin typeface="Times New Roman" pitchFamily="18" charset="0"/>
                          <a:cs typeface="Times New Roman" pitchFamily="18" charset="0"/>
                        </a:rPr>
                        <a:t> width of MT X</a:t>
                      </a:r>
                      <a:endParaRPr lang="zh-CN" altLang="en-US" sz="1200" dirty="0" smtClean="0">
                        <a:latin typeface="Times New Roman" pitchFamily="18" charset="0"/>
                        <a:cs typeface="Times New Roman" pitchFamily="18" charset="0"/>
                      </a:endParaRPr>
                    </a:p>
                  </a:txBody>
                  <a:tcPr marT="34290" marB="34290" anchor="ctr"/>
                </a:tc>
                <a:tc rowSpan="3">
                  <a:txBody>
                    <a:bodyPr/>
                    <a:lstStyle/>
                    <a:p>
                      <a:pPr algn="ctr"/>
                      <a:r>
                        <a:rPr lang="en-US" altLang="zh-CN" sz="1200" dirty="0" smtClean="0">
                          <a:latin typeface="Times New Roman" pitchFamily="18" charset="0"/>
                          <a:cs typeface="Times New Roman" pitchFamily="18" charset="0"/>
                        </a:rPr>
                        <a:t>Effective output varies between: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baseline="0" dirty="0" smtClean="0">
                          <a:latin typeface="Times New Roman" pitchFamily="18" charset="0"/>
                          <a:cs typeface="Times New Roman" pitchFamily="18" charset="0"/>
                        </a:rPr>
                        <a:t>-250ms~+250ms</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TMK161</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Pulse</a:t>
                      </a:r>
                      <a:r>
                        <a:rPr lang="en-US" altLang="zh-CN" sz="1200" baseline="0" dirty="0" smtClean="0">
                          <a:latin typeface="Times New Roman" pitchFamily="18" charset="0"/>
                          <a:cs typeface="Times New Roman" pitchFamily="18" charset="0"/>
                        </a:rPr>
                        <a:t> width of MT Y</a:t>
                      </a:r>
                      <a:endParaRPr lang="zh-CN" altLang="en-US" sz="1200" dirty="0" smtClean="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TMK162</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Pulse</a:t>
                      </a:r>
                      <a:r>
                        <a:rPr lang="en-US" altLang="zh-CN" sz="1200" baseline="0" dirty="0" smtClean="0">
                          <a:latin typeface="Times New Roman" pitchFamily="18" charset="0"/>
                          <a:cs typeface="Times New Roman" pitchFamily="18" charset="0"/>
                        </a:rPr>
                        <a:t> width of MT Z</a:t>
                      </a:r>
                      <a:endParaRPr lang="zh-CN" altLang="en-US" sz="1200" dirty="0" smtClean="0">
                        <a:latin typeface="Times New Roman" pitchFamily="18" charset="0"/>
                        <a:cs typeface="Times New Roman" pitchFamily="18" charset="0"/>
                      </a:endParaRPr>
                    </a:p>
                  </a:txBody>
                  <a:tcPr marT="34290" marB="34290" anchor="ctr"/>
                </a:tc>
                <a:tc vMerge="1">
                  <a:txBody>
                    <a:bodyPr/>
                    <a:lstStyle/>
                    <a:p>
                      <a:pPr algn="ctr"/>
                      <a:endParaRPr lang="zh-CN" altLang="en-US" sz="1600" dirty="0">
                        <a:latin typeface="Times New Roman" pitchFamily="18" charset="0"/>
                        <a:cs typeface="Times New Roman" pitchFamily="18" charset="0"/>
                      </a:endParaRPr>
                    </a:p>
                  </a:txBody>
                  <a:tcPr anchor="ctr"/>
                </a:tc>
              </a:tr>
              <a:tr h="15316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TMK167</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Units</a:t>
                      </a:r>
                      <a:r>
                        <a:rPr lang="en-US" altLang="zh-CN" sz="1200" baseline="0" dirty="0" smtClean="0">
                          <a:latin typeface="Times New Roman" pitchFamily="18" charset="0"/>
                          <a:cs typeface="Times New Roman" pitchFamily="18" charset="0"/>
                        </a:rPr>
                        <a:t> Power Status 1</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D7</a:t>
                      </a:r>
                      <a:r>
                        <a:rPr lang="en-US" altLang="zh-CN" sz="1200" dirty="0" smtClean="0">
                          <a:latin typeface="Times New Roman" pitchFamily="18" charset="0"/>
                          <a:cs typeface="Times New Roman" pitchFamily="18" charset="0"/>
                          <a:sym typeface="Wingdings" pitchFamily="2" charset="2"/>
                        </a:rPr>
                        <a:t>(</a:t>
                      </a:r>
                      <a:r>
                        <a:rPr lang="en-US" altLang="zh-CN" sz="1200" dirty="0" smtClean="0">
                          <a:latin typeface="Times New Roman" pitchFamily="18" charset="0"/>
                          <a:cs typeface="Times New Roman" pitchFamily="18" charset="0"/>
                        </a:rPr>
                        <a:t>STS A)=1: Power</a:t>
                      </a:r>
                      <a:r>
                        <a:rPr lang="en-US" altLang="zh-CN" sz="1200" baseline="0" dirty="0" smtClean="0">
                          <a:latin typeface="Times New Roman" pitchFamily="18" charset="0"/>
                          <a:cs typeface="Times New Roman" pitchFamily="18" charset="0"/>
                        </a:rPr>
                        <a:t> 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D6</a:t>
                      </a:r>
                      <a:r>
                        <a:rPr lang="en-US" altLang="zh-CN" sz="1200" dirty="0" smtClean="0">
                          <a:latin typeface="Times New Roman" pitchFamily="18" charset="0"/>
                          <a:cs typeface="Times New Roman" pitchFamily="18" charset="0"/>
                          <a:sym typeface="Wingdings" pitchFamily="2" charset="2"/>
                        </a:rPr>
                        <a:t>(</a:t>
                      </a:r>
                      <a:r>
                        <a:rPr lang="en-US" altLang="zh-CN" sz="1200" dirty="0" smtClean="0">
                          <a:latin typeface="Times New Roman" pitchFamily="18" charset="0"/>
                          <a:cs typeface="Times New Roman" pitchFamily="18" charset="0"/>
                        </a:rPr>
                        <a:t>STS B)=1: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D5</a:t>
                      </a:r>
                      <a:r>
                        <a:rPr lang="en-US" altLang="zh-CN" sz="1200" dirty="0" smtClean="0">
                          <a:latin typeface="Times New Roman" pitchFamily="18" charset="0"/>
                          <a:cs typeface="Times New Roman" pitchFamily="18" charset="0"/>
                          <a:sym typeface="Wingdings" pitchFamily="2" charset="2"/>
                        </a:rPr>
                        <a:t>(FOG</a:t>
                      </a:r>
                      <a:r>
                        <a:rPr lang="en-US" altLang="zh-CN" sz="1200" dirty="0" smtClean="0">
                          <a:latin typeface="Times New Roman" pitchFamily="18" charset="0"/>
                          <a:cs typeface="Times New Roman" pitchFamily="18" charset="0"/>
                        </a:rPr>
                        <a:t> X)=1: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D4</a:t>
                      </a:r>
                      <a:r>
                        <a:rPr lang="en-US" altLang="zh-CN" sz="1200" dirty="0" smtClean="0">
                          <a:latin typeface="Times New Roman" pitchFamily="18" charset="0"/>
                          <a:cs typeface="Times New Roman" pitchFamily="18" charset="0"/>
                          <a:sym typeface="Wingdings" pitchFamily="2" charset="2"/>
                        </a:rPr>
                        <a:t>(FOG</a:t>
                      </a:r>
                      <a:r>
                        <a:rPr lang="en-US" altLang="zh-CN" sz="1200" dirty="0" smtClean="0">
                          <a:latin typeface="Times New Roman" pitchFamily="18" charset="0"/>
                          <a:cs typeface="Times New Roman" pitchFamily="18" charset="0"/>
                        </a:rPr>
                        <a:t> Y)=1: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D3</a:t>
                      </a:r>
                      <a:r>
                        <a:rPr lang="en-US" altLang="zh-CN" sz="1200" dirty="0" smtClean="0">
                          <a:latin typeface="Times New Roman" pitchFamily="18" charset="0"/>
                          <a:cs typeface="Times New Roman" pitchFamily="18" charset="0"/>
                          <a:sym typeface="Wingdings" pitchFamily="2" charset="2"/>
                        </a:rPr>
                        <a:t>(FOG</a:t>
                      </a:r>
                      <a:r>
                        <a:rPr lang="en-US" altLang="zh-CN" sz="1200" dirty="0" smtClean="0">
                          <a:latin typeface="Times New Roman" pitchFamily="18" charset="0"/>
                          <a:cs typeface="Times New Roman" pitchFamily="18" charset="0"/>
                        </a:rPr>
                        <a:t> Z)=1: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D2</a:t>
                      </a:r>
                      <a:r>
                        <a:rPr lang="en-US" altLang="zh-CN" sz="1200" dirty="0" smtClean="0">
                          <a:latin typeface="Times New Roman" pitchFamily="18" charset="0"/>
                          <a:cs typeface="Times New Roman" pitchFamily="18" charset="0"/>
                          <a:sym typeface="Wingdings" pitchFamily="2" charset="2"/>
                        </a:rPr>
                        <a:t>(FOG</a:t>
                      </a:r>
                      <a:r>
                        <a:rPr lang="en-US" altLang="zh-CN" sz="1200" dirty="0" smtClean="0">
                          <a:latin typeface="Times New Roman" pitchFamily="18" charset="0"/>
                          <a:cs typeface="Times New Roman" pitchFamily="18" charset="0"/>
                        </a:rPr>
                        <a:t> S)=1: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D1</a:t>
                      </a:r>
                      <a:r>
                        <a:rPr lang="en-US" altLang="zh-CN" sz="1200" dirty="0" smtClean="0">
                          <a:latin typeface="Times New Roman" pitchFamily="18" charset="0"/>
                          <a:cs typeface="Times New Roman" pitchFamily="18" charset="0"/>
                          <a:sym typeface="Wingdings" pitchFamily="2" charset="2"/>
                        </a:rPr>
                        <a:t>(MM</a:t>
                      </a:r>
                      <a:r>
                        <a:rPr lang="en-US" altLang="zh-CN" sz="1200" baseline="0" dirty="0" smtClean="0">
                          <a:latin typeface="Times New Roman" pitchFamily="18" charset="0"/>
                          <a:cs typeface="Times New Roman" pitchFamily="18" charset="0"/>
                          <a:sym typeface="Wingdings" pitchFamily="2" charset="2"/>
                        </a:rPr>
                        <a:t> A</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D0</a:t>
                      </a:r>
                      <a:r>
                        <a:rPr lang="en-US" altLang="zh-CN" sz="1200" dirty="0" smtClean="0">
                          <a:latin typeface="Times New Roman" pitchFamily="18" charset="0"/>
                          <a:cs typeface="Times New Roman" pitchFamily="18" charset="0"/>
                          <a:sym typeface="Wingdings" pitchFamily="2" charset="2"/>
                        </a:rPr>
                        <a:t>(MM</a:t>
                      </a:r>
                      <a:r>
                        <a:rPr lang="en-US" altLang="zh-CN" sz="1200" baseline="0" dirty="0" smtClean="0">
                          <a:latin typeface="Times New Roman" pitchFamily="18" charset="0"/>
                          <a:cs typeface="Times New Roman" pitchFamily="18" charset="0"/>
                          <a:sym typeface="Wingdings" pitchFamily="2" charset="2"/>
                        </a:rPr>
                        <a:t> B</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txBody>
                  <a:tcPr marT="34290" marB="34290" anchor="ctr"/>
                </a:tc>
              </a:tr>
            </a:tbl>
          </a:graphicData>
        </a:graphic>
      </p:graphicFrame>
    </p:spTree>
    <p:extLst>
      <p:ext uri="{BB962C8B-B14F-4D97-AF65-F5344CB8AC3E}">
        <p14:creationId xmlns:p14="http://schemas.microsoft.com/office/powerpoint/2010/main" val="712412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Telemetry Introduction</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2147434390"/>
              </p:ext>
            </p:extLst>
          </p:nvPr>
        </p:nvGraphicFramePr>
        <p:xfrm>
          <a:off x="567358" y="1059582"/>
          <a:ext cx="7992888" cy="3528060"/>
        </p:xfrm>
        <a:graphic>
          <a:graphicData uri="http://schemas.openxmlformats.org/drawingml/2006/table">
            <a:tbl>
              <a:tblPr firstRow="1" bandRow="1">
                <a:tableStyleId>{5C22544A-7EE6-4342-B048-85BDC9FD1C3A}</a:tableStyleId>
              </a:tblPr>
              <a:tblGrid>
                <a:gridCol w="1800199"/>
                <a:gridCol w="2160241"/>
                <a:gridCol w="4032448"/>
              </a:tblGrid>
              <a:tr h="274320">
                <a:tc>
                  <a:txBody>
                    <a:bodyPr/>
                    <a:lstStyle/>
                    <a:p>
                      <a:pPr algn="ctr"/>
                      <a:r>
                        <a:rPr lang="en-US" altLang="zh-CN" sz="1400" dirty="0" smtClean="0">
                          <a:latin typeface="Times New Roman" pitchFamily="18" charset="0"/>
                          <a:cs typeface="Times New Roman" pitchFamily="18" charset="0"/>
                        </a:rPr>
                        <a:t>Telemetry Code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Name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Interpretation</a:t>
                      </a:r>
                      <a:r>
                        <a:rPr lang="en-US" altLang="zh-CN" sz="1400" baseline="0" dirty="0" smtClean="0">
                          <a:latin typeface="Times New Roman" pitchFamily="18" charset="0"/>
                          <a:cs typeface="Times New Roman" pitchFamily="18" charset="0"/>
                        </a:rPr>
                        <a:t> criterion</a:t>
                      </a:r>
                      <a:endParaRPr lang="zh-CN" altLang="en-US" sz="1400" dirty="0">
                        <a:latin typeface="Times New Roman" pitchFamily="18" charset="0"/>
                        <a:cs typeface="Times New Roman" pitchFamily="18" charset="0"/>
                      </a:endParaRPr>
                    </a:p>
                  </a:txBody>
                  <a:tcPr marT="34290" marB="34290"/>
                </a:tc>
              </a:tr>
              <a:tr h="15316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TMK168</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Units</a:t>
                      </a:r>
                      <a:r>
                        <a:rPr lang="en-US" altLang="zh-CN" sz="1200" baseline="0" dirty="0" smtClean="0">
                          <a:latin typeface="Times New Roman" pitchFamily="18" charset="0"/>
                          <a:cs typeface="Times New Roman" pitchFamily="18" charset="0"/>
                        </a:rPr>
                        <a:t> Power Status 2</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D7</a:t>
                      </a:r>
                      <a:r>
                        <a:rPr lang="en-US" altLang="zh-CN" sz="1200" dirty="0" smtClean="0">
                          <a:latin typeface="Times New Roman" pitchFamily="18" charset="0"/>
                          <a:cs typeface="Times New Roman" pitchFamily="18" charset="0"/>
                          <a:sym typeface="Wingdings" pitchFamily="2" charset="2"/>
                        </a:rPr>
                        <a:t>(</a:t>
                      </a:r>
                      <a:r>
                        <a:rPr lang="en-US" altLang="zh-CN" sz="1200" dirty="0" smtClean="0">
                          <a:latin typeface="Times New Roman" pitchFamily="18" charset="0"/>
                          <a:cs typeface="Times New Roman" pitchFamily="18" charset="0"/>
                        </a:rPr>
                        <a:t>MW X)=1: Power</a:t>
                      </a:r>
                      <a:r>
                        <a:rPr lang="en-US" altLang="zh-CN" sz="1200" baseline="0" dirty="0" smtClean="0">
                          <a:latin typeface="Times New Roman" pitchFamily="18" charset="0"/>
                          <a:cs typeface="Times New Roman" pitchFamily="18" charset="0"/>
                        </a:rPr>
                        <a:t> 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D6</a:t>
                      </a:r>
                      <a:r>
                        <a:rPr lang="en-US" altLang="zh-CN" sz="1200" dirty="0" smtClean="0">
                          <a:latin typeface="Times New Roman" pitchFamily="18" charset="0"/>
                          <a:cs typeface="Times New Roman" pitchFamily="18" charset="0"/>
                          <a:sym typeface="Wingdings" pitchFamily="2" charset="2"/>
                        </a:rPr>
                        <a:t>(</a:t>
                      </a:r>
                      <a:r>
                        <a:rPr lang="en-US" altLang="zh-CN" sz="1200" dirty="0" smtClean="0">
                          <a:latin typeface="Times New Roman" pitchFamily="18" charset="0"/>
                          <a:cs typeface="Times New Roman" pitchFamily="18" charset="0"/>
                        </a:rPr>
                        <a:t>MW Y)=1: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D5</a:t>
                      </a:r>
                      <a:r>
                        <a:rPr lang="en-US" altLang="zh-CN" sz="1200" dirty="0" smtClean="0">
                          <a:latin typeface="Times New Roman" pitchFamily="18" charset="0"/>
                          <a:cs typeface="Times New Roman" pitchFamily="18" charset="0"/>
                          <a:sym typeface="Wingdings" pitchFamily="2" charset="2"/>
                        </a:rPr>
                        <a:t>(</a:t>
                      </a:r>
                      <a:r>
                        <a:rPr lang="en-US" altLang="zh-CN" sz="1200" dirty="0" smtClean="0">
                          <a:latin typeface="Times New Roman" pitchFamily="18" charset="0"/>
                          <a:cs typeface="Times New Roman" pitchFamily="18" charset="0"/>
                        </a:rPr>
                        <a:t>MW Z)=1: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D4</a:t>
                      </a:r>
                      <a:r>
                        <a:rPr lang="en-US" altLang="zh-CN" sz="1200" dirty="0" smtClean="0">
                          <a:latin typeface="Times New Roman" pitchFamily="18" charset="0"/>
                          <a:cs typeface="Times New Roman" pitchFamily="18" charset="0"/>
                          <a:sym typeface="Wingdings" pitchFamily="2" charset="2"/>
                        </a:rPr>
                        <a:t>(MW</a:t>
                      </a:r>
                      <a:r>
                        <a:rPr lang="en-US" altLang="zh-CN" sz="1200" baseline="0" dirty="0" smtClean="0">
                          <a:latin typeface="Times New Roman" pitchFamily="18" charset="0"/>
                          <a:cs typeface="Times New Roman" pitchFamily="18" charset="0"/>
                          <a:sym typeface="Wingdings" pitchFamily="2" charset="2"/>
                        </a:rPr>
                        <a:t> S</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D3</a:t>
                      </a:r>
                      <a:r>
                        <a:rPr lang="en-US" altLang="zh-CN" sz="1200" dirty="0" smtClean="0">
                          <a:latin typeface="Times New Roman" pitchFamily="18" charset="0"/>
                          <a:cs typeface="Times New Roman" pitchFamily="18" charset="0"/>
                          <a:sym typeface="Wingdings" pitchFamily="2" charset="2"/>
                        </a:rPr>
                        <a:t>(MT</a:t>
                      </a:r>
                      <a:r>
                        <a:rPr lang="en-US" altLang="zh-CN" sz="1200" baseline="0" dirty="0" smtClean="0">
                          <a:latin typeface="Times New Roman" pitchFamily="18" charset="0"/>
                          <a:cs typeface="Times New Roman" pitchFamily="18" charset="0"/>
                          <a:sym typeface="Wingdings" pitchFamily="2" charset="2"/>
                        </a:rPr>
                        <a:t> X</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D2</a:t>
                      </a:r>
                      <a:r>
                        <a:rPr lang="en-US" altLang="zh-CN" sz="1200" dirty="0" smtClean="0">
                          <a:latin typeface="Times New Roman" pitchFamily="18" charset="0"/>
                          <a:cs typeface="Times New Roman" pitchFamily="18" charset="0"/>
                          <a:sym typeface="Wingdings" pitchFamily="2" charset="2"/>
                        </a:rPr>
                        <a:t>(MT</a:t>
                      </a:r>
                      <a:r>
                        <a:rPr lang="en-US" altLang="zh-CN" sz="1200" baseline="0" dirty="0" smtClean="0">
                          <a:latin typeface="Times New Roman" pitchFamily="18" charset="0"/>
                          <a:cs typeface="Times New Roman" pitchFamily="18" charset="0"/>
                          <a:sym typeface="Wingdings" pitchFamily="2" charset="2"/>
                        </a:rPr>
                        <a:t> Y</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D1</a:t>
                      </a:r>
                      <a:r>
                        <a:rPr lang="en-US" altLang="zh-CN" sz="1200" dirty="0" smtClean="0">
                          <a:latin typeface="Times New Roman" pitchFamily="18" charset="0"/>
                          <a:cs typeface="Times New Roman" pitchFamily="18" charset="0"/>
                          <a:sym typeface="Wingdings" pitchFamily="2" charset="2"/>
                        </a:rPr>
                        <a:t>(MT</a:t>
                      </a:r>
                      <a:r>
                        <a:rPr lang="en-US" altLang="zh-CN" sz="1200" baseline="0" dirty="0" smtClean="0">
                          <a:latin typeface="Times New Roman" pitchFamily="18" charset="0"/>
                          <a:cs typeface="Times New Roman" pitchFamily="18" charset="0"/>
                          <a:sym typeface="Wingdings" pitchFamily="2" charset="2"/>
                        </a:rPr>
                        <a:t> Z</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D0</a:t>
                      </a:r>
                      <a:r>
                        <a:rPr lang="en-US" altLang="zh-CN" sz="1200" dirty="0" smtClean="0">
                          <a:latin typeface="Times New Roman" pitchFamily="18" charset="0"/>
                          <a:cs typeface="Times New Roman" pitchFamily="18" charset="0"/>
                          <a:sym typeface="Wingdings" pitchFamily="2" charset="2"/>
                        </a:rPr>
                        <a:t>(DSS</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txBody>
                  <a:tcPr marT="34290" marB="34290" anchor="ctr"/>
                </a:tc>
              </a:tr>
              <a:tr h="17145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TMK170</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System</a:t>
                      </a:r>
                      <a:r>
                        <a:rPr lang="en-US" altLang="zh-CN" sz="1200" baseline="0" dirty="0" smtClean="0">
                          <a:latin typeface="Times New Roman" pitchFamily="18" charset="0"/>
                          <a:cs typeface="Times New Roman" pitchFamily="18" charset="0"/>
                        </a:rPr>
                        <a:t> Software </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baseline="0" dirty="0" smtClean="0">
                          <a:latin typeface="Times New Roman" pitchFamily="18" charset="0"/>
                          <a:cs typeface="Times New Roman" pitchFamily="18" charset="0"/>
                        </a:rPr>
                        <a:t>TM word 2</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D12~D10</a:t>
                      </a:r>
                      <a:r>
                        <a:rPr lang="en-US" altLang="zh-CN" sz="1200" dirty="0" smtClean="0">
                          <a:latin typeface="Times New Roman" pitchFamily="18" charset="0"/>
                          <a:cs typeface="Times New Roman" pitchFamily="18" charset="0"/>
                          <a:sym typeface="Wingdings" pitchFamily="2" charset="2"/>
                        </a:rPr>
                        <a:t>(Count</a:t>
                      </a:r>
                      <a:r>
                        <a:rPr lang="en-US" altLang="zh-CN" sz="1200" baseline="0" dirty="0" smtClean="0">
                          <a:latin typeface="Times New Roman" pitchFamily="18" charset="0"/>
                          <a:cs typeface="Times New Roman" pitchFamily="18" charset="0"/>
                          <a:sym typeface="Wingdings" pitchFamily="2" charset="2"/>
                        </a:rPr>
                        <a:t> of accumulated reset</a:t>
                      </a:r>
                      <a:r>
                        <a:rPr lang="en-US" altLang="zh-CN" sz="1200" dirty="0" smtClean="0">
                          <a:latin typeface="Times New Roman" pitchFamily="18" charset="0"/>
                          <a:cs typeface="Times New Roman" pitchFamily="18" charset="0"/>
                        </a:rPr>
                        <a:t>) : 0</a:t>
                      </a:r>
                      <a:r>
                        <a:rPr lang="en-US" altLang="zh-CN" sz="1200" baseline="0" dirty="0" smtClean="0">
                          <a:latin typeface="Times New Roman" pitchFamily="18" charset="0"/>
                          <a:cs typeface="Times New Roman" pitchFamily="18" charset="0"/>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D5</a:t>
                      </a:r>
                      <a:r>
                        <a:rPr lang="en-US" altLang="zh-CN" sz="1200" dirty="0" smtClean="0">
                          <a:latin typeface="Times New Roman" pitchFamily="18" charset="0"/>
                          <a:cs typeface="Times New Roman" pitchFamily="18" charset="0"/>
                          <a:sym typeface="Wingdings" pitchFamily="2" charset="2"/>
                        </a:rPr>
                        <a:t>(Flag</a:t>
                      </a:r>
                      <a:r>
                        <a:rPr lang="en-US" altLang="zh-CN" sz="1200" baseline="0" dirty="0" smtClean="0">
                          <a:latin typeface="Times New Roman" pitchFamily="18" charset="0"/>
                          <a:cs typeface="Times New Roman" pitchFamily="18" charset="0"/>
                          <a:sym typeface="Wingdings" pitchFamily="2" charset="2"/>
                        </a:rPr>
                        <a:t> of CCU</a:t>
                      </a:r>
                      <a:r>
                        <a:rPr lang="en-US" altLang="zh-CN" sz="1200" dirty="0" smtClean="0">
                          <a:latin typeface="Times New Roman" pitchFamily="18" charset="0"/>
                          <a:cs typeface="Times New Roman" pitchFamily="18" charset="0"/>
                        </a:rPr>
                        <a:t>) : CCU A</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D4</a:t>
                      </a:r>
                      <a:r>
                        <a:rPr lang="en-US" altLang="zh-CN" sz="1200" dirty="0" smtClean="0">
                          <a:latin typeface="Times New Roman" pitchFamily="18" charset="0"/>
                          <a:cs typeface="Times New Roman" pitchFamily="18" charset="0"/>
                          <a:sym typeface="Wingdings" pitchFamily="2" charset="2"/>
                        </a:rPr>
                        <a:t>(Flag</a:t>
                      </a:r>
                      <a:r>
                        <a:rPr lang="en-US" altLang="zh-CN" sz="1200" baseline="0" dirty="0" smtClean="0">
                          <a:latin typeface="Times New Roman" pitchFamily="18" charset="0"/>
                          <a:cs typeface="Times New Roman" pitchFamily="18" charset="0"/>
                          <a:sym typeface="Wingdings" pitchFamily="2" charset="2"/>
                        </a:rPr>
                        <a:t> of CCU A power state</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D3</a:t>
                      </a:r>
                      <a:r>
                        <a:rPr lang="en-US" altLang="zh-CN" sz="1200" dirty="0" smtClean="0">
                          <a:latin typeface="Times New Roman" pitchFamily="18" charset="0"/>
                          <a:cs typeface="Times New Roman" pitchFamily="18" charset="0"/>
                          <a:sym typeface="Wingdings" pitchFamily="2" charset="2"/>
                        </a:rPr>
                        <a:t>(Flag</a:t>
                      </a:r>
                      <a:r>
                        <a:rPr lang="en-US" altLang="zh-CN" sz="1200" baseline="0" dirty="0" smtClean="0">
                          <a:latin typeface="Times New Roman" pitchFamily="18" charset="0"/>
                          <a:cs typeface="Times New Roman" pitchFamily="18" charset="0"/>
                          <a:sym typeface="Wingdings" pitchFamily="2" charset="2"/>
                        </a:rPr>
                        <a:t> of CCU B power state</a:t>
                      </a:r>
                      <a:r>
                        <a:rPr lang="en-US" altLang="zh-CN" sz="1200" dirty="0" smtClean="0">
                          <a:latin typeface="Times New Roman" pitchFamily="18" charset="0"/>
                          <a:cs typeface="Times New Roman" pitchFamily="18" charset="0"/>
                        </a:rPr>
                        <a:t>):0: Power</a:t>
                      </a:r>
                      <a:r>
                        <a:rPr lang="en-US" altLang="zh-CN" sz="1200" baseline="0" dirty="0" smtClean="0">
                          <a:latin typeface="Times New Roman" pitchFamily="18" charset="0"/>
                          <a:cs typeface="Times New Roman" pitchFamily="18" charset="0"/>
                        </a:rPr>
                        <a:t> off;</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D2</a:t>
                      </a:r>
                      <a:r>
                        <a:rPr lang="en-US" altLang="zh-CN" sz="1200" dirty="0" smtClean="0">
                          <a:latin typeface="Times New Roman" pitchFamily="18" charset="0"/>
                          <a:cs typeface="Times New Roman" pitchFamily="18" charset="0"/>
                          <a:sym typeface="Wingdings" pitchFamily="2" charset="2"/>
                        </a:rPr>
                        <a:t>(Flag</a:t>
                      </a:r>
                      <a:r>
                        <a:rPr lang="en-US" altLang="zh-CN" sz="1200" baseline="0" dirty="0" smtClean="0">
                          <a:latin typeface="Times New Roman" pitchFamily="18" charset="0"/>
                          <a:cs typeface="Times New Roman" pitchFamily="18" charset="0"/>
                          <a:sym typeface="Wingdings" pitchFamily="2" charset="2"/>
                        </a:rPr>
                        <a:t> of FT power state</a:t>
                      </a: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D1</a:t>
                      </a:r>
                      <a:r>
                        <a:rPr lang="en-US" altLang="zh-CN" sz="1200" dirty="0" smtClean="0">
                          <a:latin typeface="Times New Roman" pitchFamily="18" charset="0"/>
                          <a:cs typeface="Times New Roman" pitchFamily="18" charset="0"/>
                          <a:sym typeface="Wingdings" pitchFamily="2" charset="2"/>
                        </a:rPr>
                        <a:t>(Status</a:t>
                      </a:r>
                      <a:r>
                        <a:rPr lang="en-US" altLang="zh-CN" sz="1200" baseline="0" dirty="0" smtClean="0">
                          <a:latin typeface="Times New Roman" pitchFamily="18" charset="0"/>
                          <a:cs typeface="Times New Roman" pitchFamily="18" charset="0"/>
                          <a:sym typeface="Wingdings" pitchFamily="2" charset="2"/>
                        </a:rPr>
                        <a:t> of FOG Main Power resource</a:t>
                      </a:r>
                      <a:r>
                        <a:rPr lang="en-US" altLang="zh-CN" sz="1200" dirty="0" smtClean="0">
                          <a:latin typeface="Times New Roman" pitchFamily="18" charset="0"/>
                          <a:cs typeface="Times New Roman" pitchFamily="18" charset="0"/>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1: Power</a:t>
                      </a:r>
                      <a:r>
                        <a:rPr lang="en-US" altLang="zh-CN" sz="1200" baseline="0" dirty="0" smtClean="0">
                          <a:latin typeface="Times New Roman" pitchFamily="18" charset="0"/>
                          <a:cs typeface="Times New Roman" pitchFamily="18" charset="0"/>
                        </a:rPr>
                        <a:t> on;</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D0</a:t>
                      </a:r>
                      <a:r>
                        <a:rPr lang="en-US" altLang="zh-CN" sz="1200" dirty="0" smtClean="0">
                          <a:latin typeface="Times New Roman" pitchFamily="18" charset="0"/>
                          <a:cs typeface="Times New Roman" pitchFamily="18" charset="0"/>
                          <a:sym typeface="Wingdings" pitchFamily="2" charset="2"/>
                        </a:rPr>
                        <a:t>(Status</a:t>
                      </a:r>
                      <a:r>
                        <a:rPr lang="en-US" altLang="zh-CN" sz="1200" baseline="0" dirty="0" smtClean="0">
                          <a:latin typeface="Times New Roman" pitchFamily="18" charset="0"/>
                          <a:cs typeface="Times New Roman" pitchFamily="18" charset="0"/>
                          <a:sym typeface="Wingdings" pitchFamily="2" charset="2"/>
                        </a:rPr>
                        <a:t> of FOG Backup Power resource</a:t>
                      </a:r>
                      <a:r>
                        <a:rPr lang="en-US" altLang="zh-CN" sz="1200" dirty="0" smtClean="0">
                          <a:latin typeface="Times New Roman" pitchFamily="18" charset="0"/>
                          <a:cs typeface="Times New Roman" pitchFamily="18" charset="0"/>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 0: Power</a:t>
                      </a:r>
                      <a:r>
                        <a:rPr lang="en-US" altLang="zh-CN" sz="1200" baseline="0" dirty="0" smtClean="0">
                          <a:latin typeface="Times New Roman" pitchFamily="18" charset="0"/>
                          <a:cs typeface="Times New Roman" pitchFamily="18" charset="0"/>
                        </a:rPr>
                        <a:t> off.</a:t>
                      </a:r>
                      <a:endParaRPr lang="en-US" altLang="zh-CN" sz="1200" dirty="0" smtClean="0">
                        <a:latin typeface="Times New Roman" pitchFamily="18" charset="0"/>
                        <a:cs typeface="Times New Roman" pitchFamily="18" charset="0"/>
                      </a:endParaRPr>
                    </a:p>
                  </a:txBody>
                  <a:tcPr marT="34290" marB="34290" anchor="ctr"/>
                </a:tc>
              </a:tr>
            </a:tbl>
          </a:graphicData>
        </a:graphic>
      </p:graphicFrame>
    </p:spTree>
    <p:extLst>
      <p:ext uri="{BB962C8B-B14F-4D97-AF65-F5344CB8AC3E}">
        <p14:creationId xmlns:p14="http://schemas.microsoft.com/office/powerpoint/2010/main" val="1300988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Telemetry Introduction</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835979887"/>
              </p:ext>
            </p:extLst>
          </p:nvPr>
        </p:nvGraphicFramePr>
        <p:xfrm>
          <a:off x="611560" y="1221600"/>
          <a:ext cx="7992888" cy="3116580"/>
        </p:xfrm>
        <a:graphic>
          <a:graphicData uri="http://schemas.openxmlformats.org/drawingml/2006/table">
            <a:tbl>
              <a:tblPr firstRow="1" bandRow="1">
                <a:tableStyleId>{5C22544A-7EE6-4342-B048-85BDC9FD1C3A}</a:tableStyleId>
              </a:tblPr>
              <a:tblGrid>
                <a:gridCol w="1800199"/>
                <a:gridCol w="2376265"/>
                <a:gridCol w="3816424"/>
              </a:tblGrid>
              <a:tr h="274320">
                <a:tc>
                  <a:txBody>
                    <a:bodyPr/>
                    <a:lstStyle/>
                    <a:p>
                      <a:pPr algn="ctr"/>
                      <a:r>
                        <a:rPr lang="en-US" altLang="zh-CN" sz="1400" dirty="0" smtClean="0">
                          <a:latin typeface="Times New Roman" pitchFamily="18" charset="0"/>
                          <a:cs typeface="Times New Roman" pitchFamily="18" charset="0"/>
                        </a:rPr>
                        <a:t>Telemetry Code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Name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Interpretation</a:t>
                      </a:r>
                      <a:r>
                        <a:rPr lang="en-US" altLang="zh-CN" sz="1400" baseline="0" dirty="0" smtClean="0">
                          <a:latin typeface="Times New Roman" pitchFamily="18" charset="0"/>
                          <a:cs typeface="Times New Roman" pitchFamily="18" charset="0"/>
                        </a:rPr>
                        <a:t> criterion</a:t>
                      </a:r>
                      <a:endParaRPr lang="zh-CN" altLang="en-US" sz="1400" dirty="0">
                        <a:latin typeface="Times New Roman" pitchFamily="18" charset="0"/>
                        <a:cs typeface="Times New Roman" pitchFamily="18" charset="0"/>
                      </a:endParaRPr>
                    </a:p>
                  </a:txBody>
                  <a:tcPr marT="34290" marB="34290"/>
                </a:tc>
              </a:tr>
              <a:tr h="4343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TMK171</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Count of successful</a:t>
                      </a:r>
                      <a:r>
                        <a:rPr lang="en-US" altLang="zh-CN" sz="1200" baseline="0" dirty="0" smtClean="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injections </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+1 after injecting</a:t>
                      </a:r>
                      <a:r>
                        <a:rPr lang="en-US" altLang="zh-CN" sz="1200" baseline="0" dirty="0" smtClean="0">
                          <a:latin typeface="Times New Roman" pitchFamily="18" charset="0"/>
                          <a:cs typeface="Times New Roman" pitchFamily="18" charset="0"/>
                        </a:rPr>
                        <a:t> data block</a:t>
                      </a:r>
                      <a:endParaRPr lang="zh-CN" altLang="en-US" sz="1200" dirty="0">
                        <a:latin typeface="Times New Roman" pitchFamily="18" charset="0"/>
                        <a:cs typeface="Times New Roman" pitchFamily="18" charset="0"/>
                      </a:endParaRPr>
                    </a:p>
                  </a:txBody>
                  <a:tcPr marT="34290" marB="34290" anchor="ctr"/>
                </a:tc>
              </a:tr>
              <a:tr h="15316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TMK268</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State</a:t>
                      </a:r>
                      <a:r>
                        <a:rPr lang="en-US" altLang="zh-CN" sz="1200" baseline="0" dirty="0" smtClean="0">
                          <a:latin typeface="Times New Roman" pitchFamily="18" charset="0"/>
                          <a:cs typeface="Times New Roman" pitchFamily="18" charset="0"/>
                        </a:rPr>
                        <a:t> of Health and Use of FOG</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D7</a:t>
                      </a:r>
                      <a:r>
                        <a:rPr lang="en-US" altLang="zh-CN" sz="1200" dirty="0" smtClean="0">
                          <a:latin typeface="Times New Roman" pitchFamily="18" charset="0"/>
                          <a:cs typeface="Times New Roman" pitchFamily="18" charset="0"/>
                          <a:sym typeface="Wingdings" pitchFamily="2" charset="2"/>
                        </a:rPr>
                        <a:t>(Health</a:t>
                      </a:r>
                      <a:r>
                        <a:rPr lang="en-US" altLang="zh-CN" sz="1200" baseline="0" dirty="0" smtClean="0">
                          <a:latin typeface="Times New Roman" pitchFamily="18" charset="0"/>
                          <a:cs typeface="Times New Roman" pitchFamily="18" charset="0"/>
                          <a:sym typeface="Wingdings" pitchFamily="2" charset="2"/>
                        </a:rPr>
                        <a:t> state of FOG S</a:t>
                      </a:r>
                      <a:r>
                        <a:rPr lang="en-US" altLang="zh-CN" sz="1200" dirty="0" smtClean="0">
                          <a:latin typeface="Times New Roman" pitchFamily="18" charset="0"/>
                          <a:cs typeface="Times New Roman" pitchFamily="18" charset="0"/>
                        </a:rPr>
                        <a:t>)=1: Healthy</a:t>
                      </a:r>
                      <a:r>
                        <a:rPr lang="en-US" altLang="zh-CN" sz="1200" baseline="0" dirty="0" smtClean="0">
                          <a:latin typeface="Times New Roman" pitchFamily="18" charset="0"/>
                          <a:cs typeface="Times New Roman" pitchFamily="18" charset="0"/>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D6</a:t>
                      </a:r>
                      <a:r>
                        <a:rPr lang="en-US" altLang="zh-CN" sz="1200" dirty="0" smtClean="0">
                          <a:latin typeface="Times New Roman" pitchFamily="18" charset="0"/>
                          <a:cs typeface="Times New Roman" pitchFamily="18" charset="0"/>
                          <a:sym typeface="Wingdings" pitchFamily="2" charset="2"/>
                        </a:rPr>
                        <a:t>(Health</a:t>
                      </a:r>
                      <a:r>
                        <a:rPr lang="en-US" altLang="zh-CN" sz="1200" baseline="0" dirty="0" smtClean="0">
                          <a:latin typeface="Times New Roman" pitchFamily="18" charset="0"/>
                          <a:cs typeface="Times New Roman" pitchFamily="18" charset="0"/>
                          <a:sym typeface="Wingdings" pitchFamily="2" charset="2"/>
                        </a:rPr>
                        <a:t> state of FOG Z</a:t>
                      </a:r>
                      <a:r>
                        <a:rPr lang="en-US" altLang="zh-CN" sz="1200" dirty="0" smtClean="0">
                          <a:latin typeface="Times New Roman" pitchFamily="18" charset="0"/>
                          <a:cs typeface="Times New Roman" pitchFamily="18" charset="0"/>
                        </a:rPr>
                        <a:t>)=1: Healthy</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D5</a:t>
                      </a:r>
                      <a:r>
                        <a:rPr lang="en-US" altLang="zh-CN" sz="1200" dirty="0" smtClean="0">
                          <a:latin typeface="Times New Roman" pitchFamily="18" charset="0"/>
                          <a:cs typeface="Times New Roman" pitchFamily="18" charset="0"/>
                          <a:sym typeface="Wingdings" pitchFamily="2" charset="2"/>
                        </a:rPr>
                        <a:t>(Health</a:t>
                      </a:r>
                      <a:r>
                        <a:rPr lang="en-US" altLang="zh-CN" sz="1200" baseline="0" dirty="0" smtClean="0">
                          <a:latin typeface="Times New Roman" pitchFamily="18" charset="0"/>
                          <a:cs typeface="Times New Roman" pitchFamily="18" charset="0"/>
                          <a:sym typeface="Wingdings" pitchFamily="2" charset="2"/>
                        </a:rPr>
                        <a:t> state of FOG Y</a:t>
                      </a:r>
                      <a:r>
                        <a:rPr lang="en-US" altLang="zh-CN" sz="1200" dirty="0" smtClean="0">
                          <a:latin typeface="Times New Roman" pitchFamily="18" charset="0"/>
                          <a:cs typeface="Times New Roman" pitchFamily="18" charset="0"/>
                        </a:rPr>
                        <a:t>)=1: Healthy</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D4</a:t>
                      </a:r>
                      <a:r>
                        <a:rPr lang="en-US" altLang="zh-CN" sz="1200" dirty="0" smtClean="0">
                          <a:latin typeface="Times New Roman" pitchFamily="18" charset="0"/>
                          <a:cs typeface="Times New Roman" pitchFamily="18" charset="0"/>
                          <a:sym typeface="Wingdings" pitchFamily="2" charset="2"/>
                        </a:rPr>
                        <a:t>(Health</a:t>
                      </a:r>
                      <a:r>
                        <a:rPr lang="en-US" altLang="zh-CN" sz="1200" baseline="0" dirty="0" smtClean="0">
                          <a:latin typeface="Times New Roman" pitchFamily="18" charset="0"/>
                          <a:cs typeface="Times New Roman" pitchFamily="18" charset="0"/>
                          <a:sym typeface="Wingdings" pitchFamily="2" charset="2"/>
                        </a:rPr>
                        <a:t> state of FOG Z</a:t>
                      </a:r>
                      <a:r>
                        <a:rPr lang="en-US" altLang="zh-CN" sz="1200" dirty="0" smtClean="0">
                          <a:latin typeface="Times New Roman" pitchFamily="18" charset="0"/>
                          <a:cs typeface="Times New Roman" pitchFamily="18" charset="0"/>
                        </a:rPr>
                        <a:t>)=1: Healthy</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D3</a:t>
                      </a:r>
                      <a:r>
                        <a:rPr lang="en-US" altLang="zh-CN" sz="1200" dirty="0" smtClean="0">
                          <a:latin typeface="Times New Roman" pitchFamily="18" charset="0"/>
                          <a:cs typeface="Times New Roman" pitchFamily="18" charset="0"/>
                          <a:sym typeface="Wingdings" pitchFamily="2" charset="2"/>
                        </a:rPr>
                        <a:t>(Use</a:t>
                      </a:r>
                      <a:r>
                        <a:rPr lang="en-US" altLang="zh-CN" sz="1200" baseline="0" dirty="0" smtClean="0">
                          <a:latin typeface="Times New Roman" pitchFamily="18" charset="0"/>
                          <a:cs typeface="Times New Roman" pitchFamily="18" charset="0"/>
                          <a:sym typeface="Wingdings" pitchFamily="2" charset="2"/>
                        </a:rPr>
                        <a:t> state of FOG S</a:t>
                      </a:r>
                      <a:r>
                        <a:rPr lang="en-US" altLang="zh-CN" sz="1200" dirty="0" smtClean="0">
                          <a:latin typeface="Times New Roman" pitchFamily="18" charset="0"/>
                          <a:cs typeface="Times New Roman" pitchFamily="18" charset="0"/>
                        </a:rPr>
                        <a:t>)=1: Used</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D2</a:t>
                      </a:r>
                      <a:r>
                        <a:rPr lang="en-US" altLang="zh-CN" sz="1200" dirty="0" smtClean="0">
                          <a:latin typeface="Times New Roman" pitchFamily="18" charset="0"/>
                          <a:cs typeface="Times New Roman" pitchFamily="18" charset="0"/>
                          <a:sym typeface="Wingdings" pitchFamily="2" charset="2"/>
                        </a:rPr>
                        <a:t>(Use</a:t>
                      </a:r>
                      <a:r>
                        <a:rPr lang="en-US" altLang="zh-CN" sz="1200" baseline="0" dirty="0" smtClean="0">
                          <a:latin typeface="Times New Roman" pitchFamily="18" charset="0"/>
                          <a:cs typeface="Times New Roman" pitchFamily="18" charset="0"/>
                          <a:sym typeface="Wingdings" pitchFamily="2" charset="2"/>
                        </a:rPr>
                        <a:t> state of FOG Z</a:t>
                      </a:r>
                      <a:r>
                        <a:rPr lang="en-US" altLang="zh-CN" sz="1200" dirty="0" smtClean="0">
                          <a:latin typeface="Times New Roman" pitchFamily="18" charset="0"/>
                          <a:cs typeface="Times New Roman" pitchFamily="18" charset="0"/>
                        </a:rPr>
                        <a:t>)=1: Used</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D1</a:t>
                      </a:r>
                      <a:r>
                        <a:rPr lang="en-US" altLang="zh-CN" sz="1200" dirty="0" smtClean="0">
                          <a:latin typeface="Times New Roman" pitchFamily="18" charset="0"/>
                          <a:cs typeface="Times New Roman" pitchFamily="18" charset="0"/>
                          <a:sym typeface="Wingdings" pitchFamily="2" charset="2"/>
                        </a:rPr>
                        <a:t>(Use</a:t>
                      </a:r>
                      <a:r>
                        <a:rPr lang="en-US" altLang="zh-CN" sz="1200" baseline="0" dirty="0" smtClean="0">
                          <a:latin typeface="Times New Roman" pitchFamily="18" charset="0"/>
                          <a:cs typeface="Times New Roman" pitchFamily="18" charset="0"/>
                          <a:sym typeface="Wingdings" pitchFamily="2" charset="2"/>
                        </a:rPr>
                        <a:t> state of FOG Y</a:t>
                      </a:r>
                      <a:r>
                        <a:rPr lang="en-US" altLang="zh-CN" sz="1200" dirty="0" smtClean="0">
                          <a:latin typeface="Times New Roman" pitchFamily="18" charset="0"/>
                          <a:cs typeface="Times New Roman" pitchFamily="18" charset="0"/>
                        </a:rPr>
                        <a:t>)=1: Used</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D0</a:t>
                      </a:r>
                      <a:r>
                        <a:rPr lang="en-US" altLang="zh-CN" sz="1200" dirty="0" smtClean="0">
                          <a:latin typeface="Times New Roman" pitchFamily="18" charset="0"/>
                          <a:cs typeface="Times New Roman" pitchFamily="18" charset="0"/>
                          <a:sym typeface="Wingdings" pitchFamily="2" charset="2"/>
                        </a:rPr>
                        <a:t>(Use</a:t>
                      </a:r>
                      <a:r>
                        <a:rPr lang="en-US" altLang="zh-CN" sz="1200" baseline="0" dirty="0" smtClean="0">
                          <a:latin typeface="Times New Roman" pitchFamily="18" charset="0"/>
                          <a:cs typeface="Times New Roman" pitchFamily="18" charset="0"/>
                          <a:sym typeface="Wingdings" pitchFamily="2" charset="2"/>
                        </a:rPr>
                        <a:t> state of FOG X</a:t>
                      </a:r>
                      <a:r>
                        <a:rPr lang="en-US" altLang="zh-CN" sz="1200" dirty="0" smtClean="0">
                          <a:latin typeface="Times New Roman" pitchFamily="18" charset="0"/>
                          <a:cs typeface="Times New Roman" pitchFamily="18" charset="0"/>
                        </a:rPr>
                        <a:t>)=1: Used</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txBody>
                  <a:tcPr marT="34290" marB="34290" anchor="ctr"/>
                </a:tc>
              </a:tr>
              <a:tr h="4343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TMK269</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Status</a:t>
                      </a:r>
                      <a:r>
                        <a:rPr lang="en-US" altLang="zh-CN" sz="1200" baseline="0" dirty="0" smtClean="0">
                          <a:latin typeface="Times New Roman" pitchFamily="18" charset="0"/>
                          <a:cs typeface="Times New Roman" pitchFamily="18" charset="0"/>
                        </a:rPr>
                        <a:t> of Sun Sensor</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D7~D6(Health state</a:t>
                      </a:r>
                      <a:r>
                        <a:rPr lang="en-US" altLang="zh-CN" sz="1200" baseline="0" dirty="0" smtClean="0">
                          <a:latin typeface="Times New Roman" pitchFamily="18" charset="0"/>
                          <a:cs typeface="Times New Roman" pitchFamily="18" charset="0"/>
                        </a:rPr>
                        <a:t> of sun sensor</a:t>
                      </a:r>
                      <a:r>
                        <a:rPr lang="en-US" altLang="zh-CN" sz="1200" dirty="0" smtClean="0">
                          <a:latin typeface="Times New Roman" pitchFamily="18" charset="0"/>
                          <a:cs typeface="Times New Roman" pitchFamily="18" charset="0"/>
                        </a:rPr>
                        <a:t>):</a:t>
                      </a:r>
                    </a:p>
                    <a:p>
                      <a:pPr algn="ctr"/>
                      <a:r>
                        <a:rPr lang="en-US" altLang="zh-CN" sz="1200" dirty="0" smtClean="0">
                          <a:latin typeface="Times New Roman" pitchFamily="18" charset="0"/>
                          <a:cs typeface="Times New Roman" pitchFamily="18" charset="0"/>
                        </a:rPr>
                        <a:t>1:Only ASS is healthy</a:t>
                      </a:r>
                      <a:endParaRPr lang="zh-CN" altLang="en-US" sz="1200" dirty="0">
                        <a:latin typeface="Times New Roman" pitchFamily="18" charset="0"/>
                        <a:cs typeface="Times New Roman" pitchFamily="18" charset="0"/>
                      </a:endParaRPr>
                    </a:p>
                  </a:txBody>
                  <a:tcPr marT="34290" marB="34290" anchor="ctr"/>
                </a:tc>
              </a:tr>
              <a:tr h="4343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TMK270</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Status</a:t>
                      </a:r>
                      <a:r>
                        <a:rPr lang="en-US" altLang="zh-CN" sz="1200" baseline="0" dirty="0" smtClean="0">
                          <a:latin typeface="Times New Roman" pitchFamily="18" charset="0"/>
                          <a:cs typeface="Times New Roman" pitchFamily="18" charset="0"/>
                        </a:rPr>
                        <a:t> of STS</a:t>
                      </a:r>
                      <a:endParaRPr lang="zh-CN" altLang="en-US" sz="1200" dirty="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D5~D4(Work</a:t>
                      </a:r>
                      <a:r>
                        <a:rPr lang="en-US" altLang="zh-CN" sz="1200" baseline="0" dirty="0" smtClean="0">
                          <a:latin typeface="Times New Roman" pitchFamily="18" charset="0"/>
                          <a:cs typeface="Times New Roman" pitchFamily="18" charset="0"/>
                        </a:rPr>
                        <a:t> status of  STS</a:t>
                      </a:r>
                      <a:r>
                        <a:rPr lang="en-US" altLang="zh-CN" sz="1200" dirty="0" smtClean="0">
                          <a:latin typeface="Times New Roman" pitchFamily="18" charset="0"/>
                          <a:cs typeface="Times New Roman" pitchFamily="18" charset="0"/>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0: Double STS work</a:t>
                      </a:r>
                      <a:endParaRPr lang="zh-CN" altLang="en-US" sz="1200" dirty="0" smtClean="0">
                        <a:latin typeface="Times New Roman" pitchFamily="18" charset="0"/>
                        <a:cs typeface="Times New Roman" pitchFamily="18" charset="0"/>
                      </a:endParaRPr>
                    </a:p>
                  </a:txBody>
                  <a:tcPr marT="34290" marB="34290" anchor="ctr"/>
                </a:tc>
              </a:tr>
            </a:tbl>
          </a:graphicData>
        </a:graphic>
      </p:graphicFrame>
    </p:spTree>
    <p:extLst>
      <p:ext uri="{BB962C8B-B14F-4D97-AF65-F5344CB8AC3E}">
        <p14:creationId xmlns:p14="http://schemas.microsoft.com/office/powerpoint/2010/main" val="3796942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Telemetry Introduction</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4005563352"/>
              </p:ext>
            </p:extLst>
          </p:nvPr>
        </p:nvGraphicFramePr>
        <p:xfrm>
          <a:off x="567358" y="1059583"/>
          <a:ext cx="7992888" cy="3468846"/>
        </p:xfrm>
        <a:graphic>
          <a:graphicData uri="http://schemas.openxmlformats.org/drawingml/2006/table">
            <a:tbl>
              <a:tblPr firstRow="1" bandRow="1">
                <a:tableStyleId>{5C22544A-7EE6-4342-B048-85BDC9FD1C3A}</a:tableStyleId>
              </a:tblPr>
              <a:tblGrid>
                <a:gridCol w="1800199"/>
                <a:gridCol w="2160241"/>
                <a:gridCol w="4032448"/>
              </a:tblGrid>
              <a:tr h="274320">
                <a:tc>
                  <a:txBody>
                    <a:bodyPr/>
                    <a:lstStyle/>
                    <a:p>
                      <a:pPr algn="ctr"/>
                      <a:r>
                        <a:rPr lang="en-US" altLang="zh-CN" sz="1400" dirty="0" smtClean="0">
                          <a:latin typeface="Times New Roman" pitchFamily="18" charset="0"/>
                          <a:cs typeface="Times New Roman" pitchFamily="18" charset="0"/>
                        </a:rPr>
                        <a:t>Telemetry Code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Name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Interpretation</a:t>
                      </a:r>
                      <a:r>
                        <a:rPr lang="en-US" altLang="zh-CN" sz="1400" baseline="0" dirty="0" smtClean="0">
                          <a:latin typeface="Times New Roman" pitchFamily="18" charset="0"/>
                          <a:cs typeface="Times New Roman" pitchFamily="18" charset="0"/>
                        </a:rPr>
                        <a:t> criterion</a:t>
                      </a:r>
                      <a:endParaRPr lang="zh-CN" altLang="en-US" sz="1400" dirty="0">
                        <a:latin typeface="Times New Roman" pitchFamily="18" charset="0"/>
                        <a:cs typeface="Times New Roman" pitchFamily="18" charset="0"/>
                      </a:endParaRPr>
                    </a:p>
                  </a:txBody>
                  <a:tcPr marT="34290" marB="34290"/>
                </a:tc>
              </a:tr>
              <a:tr h="15316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TMK271</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State</a:t>
                      </a:r>
                      <a:r>
                        <a:rPr lang="en-US" altLang="zh-CN" sz="1200" baseline="0" dirty="0" smtClean="0">
                          <a:latin typeface="Times New Roman" pitchFamily="18" charset="0"/>
                          <a:cs typeface="Times New Roman" pitchFamily="18" charset="0"/>
                        </a:rPr>
                        <a:t> of Health and Use of MW</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D7</a:t>
                      </a:r>
                      <a:r>
                        <a:rPr lang="en-US" altLang="zh-CN" sz="1200" dirty="0" smtClean="0">
                          <a:latin typeface="Times New Roman" pitchFamily="18" charset="0"/>
                          <a:cs typeface="Times New Roman" pitchFamily="18" charset="0"/>
                          <a:sym typeface="Wingdings" pitchFamily="2" charset="2"/>
                        </a:rPr>
                        <a:t>(Use</a:t>
                      </a:r>
                      <a:r>
                        <a:rPr lang="en-US" altLang="zh-CN" sz="1200" baseline="0" dirty="0" smtClean="0">
                          <a:latin typeface="Times New Roman" pitchFamily="18" charset="0"/>
                          <a:cs typeface="Times New Roman" pitchFamily="18" charset="0"/>
                          <a:sym typeface="Wingdings" pitchFamily="2" charset="2"/>
                        </a:rPr>
                        <a:t> state of MW S</a:t>
                      </a:r>
                      <a:r>
                        <a:rPr lang="en-US" altLang="zh-CN" sz="1200" dirty="0" smtClean="0">
                          <a:latin typeface="Times New Roman" pitchFamily="18" charset="0"/>
                          <a:cs typeface="Times New Roman" pitchFamily="18" charset="0"/>
                        </a:rPr>
                        <a:t>)=1: Used</a:t>
                      </a:r>
                      <a:r>
                        <a:rPr lang="en-US" altLang="zh-CN" sz="1200" baseline="0" dirty="0" smtClean="0">
                          <a:latin typeface="Times New Roman" pitchFamily="18" charset="0"/>
                          <a:cs typeface="Times New Roman" pitchFamily="18" charset="0"/>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D6</a:t>
                      </a:r>
                      <a:r>
                        <a:rPr lang="en-US" altLang="zh-CN" sz="1200" dirty="0" smtClean="0">
                          <a:latin typeface="Times New Roman" pitchFamily="18" charset="0"/>
                          <a:cs typeface="Times New Roman" pitchFamily="18" charset="0"/>
                          <a:sym typeface="Wingdings" pitchFamily="2" charset="2"/>
                        </a:rPr>
                        <a:t>(Use</a:t>
                      </a:r>
                      <a:r>
                        <a:rPr lang="en-US" altLang="zh-CN" sz="1200" baseline="0" dirty="0" smtClean="0">
                          <a:latin typeface="Times New Roman" pitchFamily="18" charset="0"/>
                          <a:cs typeface="Times New Roman" pitchFamily="18" charset="0"/>
                          <a:sym typeface="Wingdings" pitchFamily="2" charset="2"/>
                        </a:rPr>
                        <a:t> state of MW Z</a:t>
                      </a:r>
                      <a:r>
                        <a:rPr lang="en-US" altLang="zh-CN" sz="1200" dirty="0" smtClean="0">
                          <a:latin typeface="Times New Roman" pitchFamily="18" charset="0"/>
                          <a:cs typeface="Times New Roman" pitchFamily="18" charset="0"/>
                        </a:rPr>
                        <a:t>)=1: Used</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D5</a:t>
                      </a:r>
                      <a:r>
                        <a:rPr lang="en-US" altLang="zh-CN" sz="1200" dirty="0" smtClean="0">
                          <a:latin typeface="Times New Roman" pitchFamily="18" charset="0"/>
                          <a:cs typeface="Times New Roman" pitchFamily="18" charset="0"/>
                          <a:sym typeface="Wingdings" pitchFamily="2" charset="2"/>
                        </a:rPr>
                        <a:t>(Use</a:t>
                      </a:r>
                      <a:r>
                        <a:rPr lang="en-US" altLang="zh-CN" sz="1200" baseline="0" dirty="0" smtClean="0">
                          <a:latin typeface="Times New Roman" pitchFamily="18" charset="0"/>
                          <a:cs typeface="Times New Roman" pitchFamily="18" charset="0"/>
                          <a:sym typeface="Wingdings" pitchFamily="2" charset="2"/>
                        </a:rPr>
                        <a:t> state of MW Y</a:t>
                      </a:r>
                      <a:r>
                        <a:rPr lang="en-US" altLang="zh-CN" sz="1200" dirty="0" smtClean="0">
                          <a:latin typeface="Times New Roman" pitchFamily="18" charset="0"/>
                          <a:cs typeface="Times New Roman" pitchFamily="18" charset="0"/>
                        </a:rPr>
                        <a:t>)=1: Used</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D4</a:t>
                      </a:r>
                      <a:r>
                        <a:rPr lang="en-US" altLang="zh-CN" sz="1200" dirty="0" smtClean="0">
                          <a:latin typeface="Times New Roman" pitchFamily="18" charset="0"/>
                          <a:cs typeface="Times New Roman" pitchFamily="18" charset="0"/>
                          <a:sym typeface="Wingdings" pitchFamily="2" charset="2"/>
                        </a:rPr>
                        <a:t>(Use</a:t>
                      </a:r>
                      <a:r>
                        <a:rPr lang="en-US" altLang="zh-CN" sz="1200" baseline="0" dirty="0" smtClean="0">
                          <a:latin typeface="Times New Roman" pitchFamily="18" charset="0"/>
                          <a:cs typeface="Times New Roman" pitchFamily="18" charset="0"/>
                          <a:sym typeface="Wingdings" pitchFamily="2" charset="2"/>
                        </a:rPr>
                        <a:t> state of MW Z</a:t>
                      </a:r>
                      <a:r>
                        <a:rPr lang="en-US" altLang="zh-CN" sz="1200" dirty="0" smtClean="0">
                          <a:latin typeface="Times New Roman" pitchFamily="18" charset="0"/>
                          <a:cs typeface="Times New Roman" pitchFamily="18" charset="0"/>
                        </a:rPr>
                        <a:t>)=1: Used</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D3</a:t>
                      </a:r>
                      <a:r>
                        <a:rPr lang="en-US" altLang="zh-CN" sz="1200" dirty="0" smtClean="0">
                          <a:latin typeface="Times New Roman" pitchFamily="18" charset="0"/>
                          <a:cs typeface="Times New Roman" pitchFamily="18" charset="0"/>
                          <a:sym typeface="Wingdings" pitchFamily="2" charset="2"/>
                        </a:rPr>
                        <a:t>(Health</a:t>
                      </a:r>
                      <a:r>
                        <a:rPr lang="en-US" altLang="zh-CN" sz="1200" baseline="0" dirty="0" smtClean="0">
                          <a:latin typeface="Times New Roman" pitchFamily="18" charset="0"/>
                          <a:cs typeface="Times New Roman" pitchFamily="18" charset="0"/>
                          <a:sym typeface="Wingdings" pitchFamily="2" charset="2"/>
                        </a:rPr>
                        <a:t> state of MW S</a:t>
                      </a:r>
                      <a:r>
                        <a:rPr lang="en-US" altLang="zh-CN" sz="1200" dirty="0" smtClean="0">
                          <a:latin typeface="Times New Roman" pitchFamily="18" charset="0"/>
                          <a:cs typeface="Times New Roman" pitchFamily="18" charset="0"/>
                        </a:rPr>
                        <a:t>)=1: Healthy</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D2</a:t>
                      </a:r>
                      <a:r>
                        <a:rPr lang="en-US" altLang="zh-CN" sz="1200" dirty="0" smtClean="0">
                          <a:latin typeface="Times New Roman" pitchFamily="18" charset="0"/>
                          <a:cs typeface="Times New Roman" pitchFamily="18" charset="0"/>
                          <a:sym typeface="Wingdings" pitchFamily="2" charset="2"/>
                        </a:rPr>
                        <a:t>(Health</a:t>
                      </a:r>
                      <a:r>
                        <a:rPr lang="en-US" altLang="zh-CN" sz="1200" baseline="0" dirty="0" smtClean="0">
                          <a:latin typeface="Times New Roman" pitchFamily="18" charset="0"/>
                          <a:cs typeface="Times New Roman" pitchFamily="18" charset="0"/>
                          <a:sym typeface="Wingdings" pitchFamily="2" charset="2"/>
                        </a:rPr>
                        <a:t> state of MW Z</a:t>
                      </a:r>
                      <a:r>
                        <a:rPr lang="en-US" altLang="zh-CN" sz="1200" dirty="0" smtClean="0">
                          <a:latin typeface="Times New Roman" pitchFamily="18" charset="0"/>
                          <a:cs typeface="Times New Roman" pitchFamily="18" charset="0"/>
                        </a:rPr>
                        <a:t>)=1: Healthy</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D1</a:t>
                      </a:r>
                      <a:r>
                        <a:rPr lang="en-US" altLang="zh-CN" sz="1200" dirty="0" smtClean="0">
                          <a:latin typeface="Times New Roman" pitchFamily="18" charset="0"/>
                          <a:cs typeface="Times New Roman" pitchFamily="18" charset="0"/>
                          <a:sym typeface="Wingdings" pitchFamily="2" charset="2"/>
                        </a:rPr>
                        <a:t>(Health</a:t>
                      </a:r>
                      <a:r>
                        <a:rPr lang="en-US" altLang="zh-CN" sz="1200" baseline="0" dirty="0" smtClean="0">
                          <a:latin typeface="Times New Roman" pitchFamily="18" charset="0"/>
                          <a:cs typeface="Times New Roman" pitchFamily="18" charset="0"/>
                          <a:sym typeface="Wingdings" pitchFamily="2" charset="2"/>
                        </a:rPr>
                        <a:t> state of MW Y</a:t>
                      </a:r>
                      <a:r>
                        <a:rPr lang="en-US" altLang="zh-CN" sz="1200" dirty="0" smtClean="0">
                          <a:latin typeface="Times New Roman" pitchFamily="18" charset="0"/>
                          <a:cs typeface="Times New Roman" pitchFamily="18" charset="0"/>
                        </a:rPr>
                        <a:t>)=1: Healthy</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D0</a:t>
                      </a:r>
                      <a:r>
                        <a:rPr lang="en-US" altLang="zh-CN" sz="1200" dirty="0" smtClean="0">
                          <a:latin typeface="Times New Roman" pitchFamily="18" charset="0"/>
                          <a:cs typeface="Times New Roman" pitchFamily="18" charset="0"/>
                          <a:sym typeface="Wingdings" pitchFamily="2" charset="2"/>
                        </a:rPr>
                        <a:t>(Health</a:t>
                      </a:r>
                      <a:r>
                        <a:rPr lang="en-US" altLang="zh-CN" sz="1200" baseline="0" dirty="0" smtClean="0">
                          <a:latin typeface="Times New Roman" pitchFamily="18" charset="0"/>
                          <a:cs typeface="Times New Roman" pitchFamily="18" charset="0"/>
                          <a:sym typeface="Wingdings" pitchFamily="2" charset="2"/>
                        </a:rPr>
                        <a:t> state of MW X</a:t>
                      </a:r>
                      <a:r>
                        <a:rPr lang="en-US" altLang="zh-CN" sz="1200" dirty="0" smtClean="0">
                          <a:latin typeface="Times New Roman" pitchFamily="18" charset="0"/>
                          <a:cs typeface="Times New Roman" pitchFamily="18" charset="0"/>
                        </a:rPr>
                        <a:t>)=1: Healthy</a:t>
                      </a:r>
                      <a:r>
                        <a:rPr lang="en-US" altLang="zh-CN" sz="1200" baseline="0" dirty="0" smtClean="0">
                          <a:latin typeface="Times New Roman" pitchFamily="18" charset="0"/>
                          <a:cs typeface="Times New Roman" pitchFamily="18" charset="0"/>
                        </a:rPr>
                        <a:t>.</a:t>
                      </a:r>
                      <a:endParaRPr lang="en-US" altLang="zh-CN" sz="1200" dirty="0" smtClean="0">
                        <a:latin typeface="Times New Roman" pitchFamily="18" charset="0"/>
                        <a:cs typeface="Times New Roman" pitchFamily="18" charset="0"/>
                      </a:endParaRPr>
                    </a:p>
                  </a:txBody>
                  <a:tcPr marT="34290" marB="34290" anchor="ctr"/>
                </a:tc>
              </a:tr>
              <a:tr h="30186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TMK272</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Flag of Time Correction</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D6~D4</a:t>
                      </a:r>
                      <a:r>
                        <a:rPr lang="en-US" altLang="zh-CN" sz="1200" baseline="0" dirty="0" smtClean="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110B:GPS Time</a:t>
                      </a:r>
                      <a:r>
                        <a:rPr lang="en-US" altLang="zh-CN" sz="1200" baseline="0" dirty="0" smtClean="0">
                          <a:latin typeface="Times New Roman" pitchFamily="18" charset="0"/>
                          <a:cs typeface="Times New Roman" pitchFamily="18" charset="0"/>
                        </a:rPr>
                        <a:t> Correction</a:t>
                      </a:r>
                      <a:endParaRPr lang="en-US" altLang="zh-CN" sz="1200" dirty="0" smtClean="0">
                        <a:latin typeface="Times New Roman" pitchFamily="18" charset="0"/>
                        <a:cs typeface="Times New Roman" pitchFamily="18" charset="0"/>
                      </a:endParaRPr>
                    </a:p>
                  </a:txBody>
                  <a:tcPr marT="34290" marB="34290" anchor="ctr"/>
                </a:tc>
              </a:tr>
              <a:tr h="30186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TMK278-5</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Flag of MM</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D5</a:t>
                      </a:r>
                      <a:r>
                        <a:rPr lang="en-US" altLang="zh-CN" sz="1200" baseline="0" dirty="0" smtClean="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0: MM</a:t>
                      </a:r>
                      <a:r>
                        <a:rPr lang="en-US" altLang="zh-CN" sz="1200" baseline="0" dirty="0" smtClean="0">
                          <a:latin typeface="Times New Roman" pitchFamily="18" charset="0"/>
                          <a:cs typeface="Times New Roman" pitchFamily="18" charset="0"/>
                        </a:rPr>
                        <a:t> A;1 MM B</a:t>
                      </a:r>
                      <a:endParaRPr lang="en-US" altLang="zh-CN" sz="1200" dirty="0" smtClean="0">
                        <a:latin typeface="Times New Roman" pitchFamily="18" charset="0"/>
                        <a:cs typeface="Times New Roman" pitchFamily="18" charset="0"/>
                      </a:endParaRPr>
                    </a:p>
                  </a:txBody>
                  <a:tcPr marT="34290" marB="34290" anchor="ctr"/>
                </a:tc>
              </a:tr>
              <a:tr h="6172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TMK278-3</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baseline="0" dirty="0" smtClean="0">
                          <a:latin typeface="Times New Roman" pitchFamily="18" charset="0"/>
                          <a:cs typeface="Times New Roman" pitchFamily="18" charset="0"/>
                        </a:rPr>
                        <a:t>Autonomously switch FLAG between EPM and SPM</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D3=0:Not</a:t>
                      </a:r>
                      <a:r>
                        <a:rPr lang="en-US" altLang="zh-CN" sz="1200" baseline="0" dirty="0" smtClean="0">
                          <a:latin typeface="Times New Roman" pitchFamily="18" charset="0"/>
                          <a:cs typeface="Times New Roman" pitchFamily="18" charset="0"/>
                        </a:rPr>
                        <a:t> allow;</a:t>
                      </a:r>
                    </a:p>
                    <a:p>
                      <a:pPr algn="ctr"/>
                      <a:r>
                        <a:rPr lang="en-US" altLang="zh-CN" sz="1200" baseline="0" dirty="0" smtClean="0">
                          <a:latin typeface="Times New Roman" pitchFamily="18" charset="0"/>
                          <a:cs typeface="Times New Roman" pitchFamily="18" charset="0"/>
                        </a:rPr>
                        <a:t>D3=1: Allow;</a:t>
                      </a:r>
                      <a:endParaRPr lang="zh-CN" altLang="en-US" sz="1200" dirty="0" smtClean="0">
                        <a:latin typeface="Times New Roman" pitchFamily="18" charset="0"/>
                        <a:cs typeface="Times New Roman" pitchFamily="18" charset="0"/>
                      </a:endParaRPr>
                    </a:p>
                  </a:txBody>
                  <a:tcPr marT="34290" marB="34290" anchor="ctr"/>
                </a:tc>
              </a:tr>
              <a:tr h="4343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TMK279</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Fault</a:t>
                      </a:r>
                      <a:r>
                        <a:rPr lang="en-US" altLang="zh-CN" sz="1200" baseline="0" dirty="0" smtClean="0">
                          <a:latin typeface="Times New Roman" pitchFamily="18" charset="0"/>
                          <a:cs typeface="Times New Roman" pitchFamily="18" charset="0"/>
                        </a:rPr>
                        <a:t> flag of MM</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D3(MM</a:t>
                      </a:r>
                      <a:r>
                        <a:rPr lang="en-US" altLang="zh-CN" sz="1200" baseline="0" dirty="0" smtClean="0">
                          <a:latin typeface="Times New Roman" pitchFamily="18" charset="0"/>
                          <a:cs typeface="Times New Roman" pitchFamily="18" charset="0"/>
                        </a:rPr>
                        <a:t> A</a:t>
                      </a:r>
                      <a:r>
                        <a:rPr lang="en-US" altLang="zh-CN" sz="1200" dirty="0" smtClean="0">
                          <a:latin typeface="Times New Roman" pitchFamily="18" charset="0"/>
                          <a:cs typeface="Times New Roman" pitchFamily="18" charset="0"/>
                        </a:rPr>
                        <a:t>)=1:</a:t>
                      </a:r>
                      <a:r>
                        <a:rPr lang="en-US" altLang="zh-CN" sz="1200" baseline="0" dirty="0" smtClean="0">
                          <a:latin typeface="Times New Roman" pitchFamily="18" charset="0"/>
                          <a:cs typeface="Times New Roman" pitchFamily="18" charset="0"/>
                        </a:rPr>
                        <a:t> Normal;</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D0(MM</a:t>
                      </a:r>
                      <a:r>
                        <a:rPr lang="en-US" altLang="zh-CN" sz="1200" baseline="0" dirty="0" smtClean="0">
                          <a:latin typeface="Times New Roman" pitchFamily="18" charset="0"/>
                          <a:cs typeface="Times New Roman" pitchFamily="18" charset="0"/>
                        </a:rPr>
                        <a:t> B</a:t>
                      </a:r>
                      <a:r>
                        <a:rPr lang="en-US" altLang="zh-CN" sz="1200" dirty="0" smtClean="0">
                          <a:latin typeface="Times New Roman" pitchFamily="18" charset="0"/>
                          <a:cs typeface="Times New Roman" pitchFamily="18" charset="0"/>
                        </a:rPr>
                        <a:t>)=1:</a:t>
                      </a:r>
                      <a:r>
                        <a:rPr lang="en-US" altLang="zh-CN" sz="1200" baseline="0" dirty="0" smtClean="0">
                          <a:latin typeface="Times New Roman" pitchFamily="18" charset="0"/>
                          <a:cs typeface="Times New Roman" pitchFamily="18" charset="0"/>
                        </a:rPr>
                        <a:t> Normal.</a:t>
                      </a:r>
                    </a:p>
                  </a:txBody>
                  <a:tcPr marT="34290" marB="34290" anchor="ctr"/>
                </a:tc>
              </a:tr>
            </a:tbl>
          </a:graphicData>
        </a:graphic>
      </p:graphicFrame>
    </p:spTree>
    <p:extLst>
      <p:ext uri="{BB962C8B-B14F-4D97-AF65-F5344CB8AC3E}">
        <p14:creationId xmlns:p14="http://schemas.microsoft.com/office/powerpoint/2010/main" val="4244378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33</a:t>
            </a:fld>
            <a:r>
              <a:rPr lang="zh-CN" altLang="en-US" smtClean="0"/>
              <a:t> </a:t>
            </a:r>
            <a:endParaRPr lang="zh-CN" altLang="en-US" dirty="0">
              <a:latin typeface="微软雅黑" pitchFamily="34" charset="-122"/>
              <a:ea typeface="微软雅黑" pitchFamily="34" charset="-122"/>
            </a:endParaRPr>
          </a:p>
        </p:txBody>
      </p:sp>
      <p:sp>
        <p:nvSpPr>
          <p:cNvPr id="6" name="Rectangle 41"/>
          <p:cNvSpPr>
            <a:spLocks noChangeArrowheads="1"/>
          </p:cNvSpPr>
          <p:nvPr/>
        </p:nvSpPr>
        <p:spPr bwMode="auto">
          <a:xfrm>
            <a:off x="539553" y="249492"/>
            <a:ext cx="7659687" cy="523220"/>
          </a:xfrm>
          <a:prstGeom prst="rect">
            <a:avLst/>
          </a:prstGeom>
          <a:noFill/>
          <a:ln w="9525">
            <a:noFill/>
            <a:miter lim="800000"/>
            <a:headEnd/>
            <a:tailEnd/>
          </a:ln>
        </p:spPr>
        <p:txBody>
          <a:bodyPr>
            <a:spAutoFit/>
          </a:bodyPr>
          <a:lstStyle/>
          <a:p>
            <a:pPr algn="ctr" eaLnBrk="0" hangingPunct="0"/>
            <a:r>
              <a:rPr lang="en-US" altLang="zh-CN" sz="2800" b="1" dirty="0" smtClean="0">
                <a:solidFill>
                  <a:schemeClr val="bg1"/>
                </a:solidFill>
                <a:latin typeface="微软雅黑" pitchFamily="34" charset="-122"/>
                <a:ea typeface="微软雅黑" pitchFamily="34" charset="-122"/>
              </a:rPr>
              <a:t>Telemetry Introduction</a:t>
            </a:r>
            <a:endParaRPr lang="en-US" altLang="zh-CN" sz="2800" b="1" dirty="0">
              <a:solidFill>
                <a:schemeClr val="bg1"/>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752512233"/>
              </p:ext>
            </p:extLst>
          </p:nvPr>
        </p:nvGraphicFramePr>
        <p:xfrm>
          <a:off x="539552" y="951570"/>
          <a:ext cx="7992888" cy="3848100"/>
        </p:xfrm>
        <a:graphic>
          <a:graphicData uri="http://schemas.openxmlformats.org/drawingml/2006/table">
            <a:tbl>
              <a:tblPr firstRow="1" bandRow="1">
                <a:tableStyleId>{5C22544A-7EE6-4342-B048-85BDC9FD1C3A}</a:tableStyleId>
              </a:tblPr>
              <a:tblGrid>
                <a:gridCol w="1800199"/>
                <a:gridCol w="2376265"/>
                <a:gridCol w="3816424"/>
              </a:tblGrid>
              <a:tr h="274320">
                <a:tc>
                  <a:txBody>
                    <a:bodyPr/>
                    <a:lstStyle/>
                    <a:p>
                      <a:pPr algn="ctr"/>
                      <a:r>
                        <a:rPr lang="en-US" altLang="zh-CN" sz="1400" dirty="0" smtClean="0">
                          <a:latin typeface="Times New Roman" pitchFamily="18" charset="0"/>
                          <a:cs typeface="Times New Roman" pitchFamily="18" charset="0"/>
                        </a:rPr>
                        <a:t>Telemetry Code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Name</a:t>
                      </a:r>
                      <a:endParaRPr lang="zh-CN" altLang="en-US" sz="1400" dirty="0">
                        <a:latin typeface="Times New Roman" pitchFamily="18" charset="0"/>
                        <a:cs typeface="Times New Roman" pitchFamily="18" charset="0"/>
                      </a:endParaRPr>
                    </a:p>
                  </a:txBody>
                  <a:tcPr marT="34290" marB="34290"/>
                </a:tc>
                <a:tc>
                  <a:txBody>
                    <a:bodyPr/>
                    <a:lstStyle/>
                    <a:p>
                      <a:pPr algn="ctr"/>
                      <a:r>
                        <a:rPr lang="en-US" altLang="zh-CN" sz="1400" dirty="0" smtClean="0">
                          <a:latin typeface="Times New Roman" pitchFamily="18" charset="0"/>
                          <a:cs typeface="Times New Roman" pitchFamily="18" charset="0"/>
                        </a:rPr>
                        <a:t>Interpretation</a:t>
                      </a:r>
                      <a:r>
                        <a:rPr lang="en-US" altLang="zh-CN" sz="1400" baseline="0" dirty="0" smtClean="0">
                          <a:latin typeface="Times New Roman" pitchFamily="18" charset="0"/>
                          <a:cs typeface="Times New Roman" pitchFamily="18" charset="0"/>
                        </a:rPr>
                        <a:t> criterion</a:t>
                      </a:r>
                      <a:endParaRPr lang="zh-CN" altLang="en-US" sz="1400" dirty="0">
                        <a:latin typeface="Times New Roman" pitchFamily="18" charset="0"/>
                        <a:cs typeface="Times New Roman" pitchFamily="18" charset="0"/>
                      </a:endParaRPr>
                    </a:p>
                  </a:txBody>
                  <a:tcPr marT="34290" marB="34290"/>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TMK280-5</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Flag of Solar</a:t>
                      </a:r>
                      <a:r>
                        <a:rPr lang="en-US" altLang="zh-CN" sz="1200" baseline="0" dirty="0" smtClean="0">
                          <a:latin typeface="Times New Roman" pitchFamily="18" charset="0"/>
                          <a:cs typeface="Times New Roman" pitchFamily="18" charset="0"/>
                        </a:rPr>
                        <a:t> z</a:t>
                      </a:r>
                      <a:r>
                        <a:rPr lang="en-US" altLang="zh-CN" sz="1200" dirty="0" smtClean="0">
                          <a:latin typeface="Times New Roman" pitchFamily="18" charset="0"/>
                          <a:cs typeface="Times New Roman" pitchFamily="18" charset="0"/>
                        </a:rPr>
                        <a:t>one</a:t>
                      </a:r>
                      <a:endParaRPr lang="zh-CN" altLang="en-US" sz="1200" dirty="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D5:</a:t>
                      </a:r>
                      <a:r>
                        <a:rPr lang="en-US" altLang="zh-CN" sz="1200" baseline="0" dirty="0" smtClean="0">
                          <a:latin typeface="Times New Roman" pitchFamily="18" charset="0"/>
                          <a:cs typeface="Times New Roman" pitchFamily="18" charset="0"/>
                        </a:rPr>
                        <a:t> 1: Solar zone; 0: Shadow zone.</a:t>
                      </a:r>
                      <a:endParaRPr lang="en-US" altLang="zh-CN"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TMK280-1</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Attitude</a:t>
                      </a:r>
                      <a:r>
                        <a:rPr lang="en-US" altLang="zh-CN" sz="1200" baseline="0" dirty="0" smtClean="0">
                          <a:latin typeface="Times New Roman" pitchFamily="18" charset="0"/>
                          <a:cs typeface="Times New Roman" pitchFamily="18" charset="0"/>
                        </a:rPr>
                        <a:t> Determination</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D1~D0:</a:t>
                      </a:r>
                      <a:r>
                        <a:rPr lang="en-US" altLang="zh-CN" sz="1200" baseline="0" dirty="0" smtClean="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1:STS+FOG</a:t>
                      </a:r>
                    </a:p>
                  </a:txBody>
                  <a:tcPr marT="34290" marB="34290" anchor="ctr"/>
                </a:tc>
              </a:tr>
              <a:tr h="8001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TMK284</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Light source status of FOG</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D7(Is</a:t>
                      </a:r>
                      <a:r>
                        <a:rPr lang="en-US" altLang="zh-CN" sz="1200" baseline="0" dirty="0" smtClean="0">
                          <a:latin typeface="Times New Roman" pitchFamily="18" charset="0"/>
                          <a:cs typeface="Times New Roman" pitchFamily="18" charset="0"/>
                        </a:rPr>
                        <a:t> there input for FOG X</a:t>
                      </a:r>
                      <a:r>
                        <a:rPr lang="en-US" altLang="zh-CN" sz="1200" dirty="0" smtClean="0">
                          <a:latin typeface="Times New Roman" pitchFamily="18" charset="0"/>
                          <a:cs typeface="Times New Roman" pitchFamily="18" charset="0"/>
                        </a:rPr>
                        <a:t>)=0: Yes;</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D6(Is</a:t>
                      </a:r>
                      <a:r>
                        <a:rPr lang="en-US" altLang="zh-CN" sz="1200" baseline="0" dirty="0" smtClean="0">
                          <a:latin typeface="Times New Roman" pitchFamily="18" charset="0"/>
                          <a:cs typeface="Times New Roman" pitchFamily="18" charset="0"/>
                        </a:rPr>
                        <a:t> there input for FOG Y</a:t>
                      </a:r>
                      <a:r>
                        <a:rPr lang="en-US" altLang="zh-CN" sz="1200" dirty="0" smtClean="0">
                          <a:latin typeface="Times New Roman" pitchFamily="18" charset="0"/>
                          <a:cs typeface="Times New Roman" pitchFamily="18" charset="0"/>
                        </a:rPr>
                        <a:t>)=0: Yes;</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D5(Is</a:t>
                      </a:r>
                      <a:r>
                        <a:rPr lang="en-US" altLang="zh-CN" sz="1200" baseline="0" dirty="0" smtClean="0">
                          <a:latin typeface="Times New Roman" pitchFamily="18" charset="0"/>
                          <a:cs typeface="Times New Roman" pitchFamily="18" charset="0"/>
                        </a:rPr>
                        <a:t> there input for FOG Z</a:t>
                      </a:r>
                      <a:r>
                        <a:rPr lang="en-US" altLang="zh-CN" sz="1200" dirty="0" smtClean="0">
                          <a:latin typeface="Times New Roman" pitchFamily="18" charset="0"/>
                          <a:cs typeface="Times New Roman" pitchFamily="18" charset="0"/>
                        </a:rPr>
                        <a:t>)=0: Yes;</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D4(Is</a:t>
                      </a:r>
                      <a:r>
                        <a:rPr lang="en-US" altLang="zh-CN" sz="1200" baseline="0" dirty="0" smtClean="0">
                          <a:latin typeface="Times New Roman" pitchFamily="18" charset="0"/>
                          <a:cs typeface="Times New Roman" pitchFamily="18" charset="0"/>
                        </a:rPr>
                        <a:t> there input for FOG S</a:t>
                      </a:r>
                      <a:r>
                        <a:rPr lang="en-US" altLang="zh-CN" sz="1200" dirty="0" smtClean="0">
                          <a:latin typeface="Times New Roman" pitchFamily="18" charset="0"/>
                          <a:cs typeface="Times New Roman" pitchFamily="18" charset="0"/>
                        </a:rPr>
                        <a:t>)=0: Yes;</a:t>
                      </a: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TMK622</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1.2V</a:t>
                      </a:r>
                      <a:r>
                        <a:rPr lang="en-US" altLang="zh-CN" sz="1200" baseline="0" dirty="0" smtClean="0">
                          <a:latin typeface="Times New Roman" pitchFamily="18" charset="0"/>
                          <a:cs typeface="Times New Roman" pitchFamily="18" charset="0"/>
                        </a:rPr>
                        <a:t> Power TM of CCU</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1.2±0.1V</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TMK623</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1.5V</a:t>
                      </a:r>
                      <a:r>
                        <a:rPr lang="en-US" altLang="zh-CN" sz="1200" baseline="0" dirty="0" smtClean="0">
                          <a:latin typeface="Times New Roman" pitchFamily="18" charset="0"/>
                          <a:cs typeface="Times New Roman" pitchFamily="18" charset="0"/>
                        </a:rPr>
                        <a:t> Power TM of CCU</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1.5±0.1V</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TMK624</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12V</a:t>
                      </a:r>
                      <a:r>
                        <a:rPr lang="en-US" altLang="zh-CN" sz="1200" baseline="0" dirty="0" smtClean="0">
                          <a:latin typeface="Times New Roman" pitchFamily="18" charset="0"/>
                          <a:cs typeface="Times New Roman" pitchFamily="18" charset="0"/>
                        </a:rPr>
                        <a:t> Power TM of CCU</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3.0±0.1V</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TMK625</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-12V</a:t>
                      </a:r>
                      <a:r>
                        <a:rPr lang="en-US" altLang="zh-CN" sz="1200" baseline="0" dirty="0" smtClean="0">
                          <a:latin typeface="Times New Roman" pitchFamily="18" charset="0"/>
                          <a:cs typeface="Times New Roman" pitchFamily="18" charset="0"/>
                        </a:rPr>
                        <a:t> Power TM of CCU</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-3.0±0.1V</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TMK626</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3.3V</a:t>
                      </a:r>
                      <a:r>
                        <a:rPr lang="en-US" altLang="zh-CN" sz="1200" baseline="0" dirty="0" smtClean="0">
                          <a:latin typeface="Times New Roman" pitchFamily="18" charset="0"/>
                          <a:cs typeface="Times New Roman" pitchFamily="18" charset="0"/>
                        </a:rPr>
                        <a:t> Power TM of CCU</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3.3±0.1V</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TMK627</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Motor current</a:t>
                      </a:r>
                      <a:r>
                        <a:rPr lang="en-US" altLang="zh-CN" sz="1200" baseline="0" dirty="0" smtClean="0">
                          <a:latin typeface="Times New Roman" pitchFamily="18" charset="0"/>
                          <a:cs typeface="Times New Roman" pitchFamily="18" charset="0"/>
                        </a:rPr>
                        <a:t> of MW X</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20000~40000uA</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TMK635</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Motor current</a:t>
                      </a:r>
                      <a:r>
                        <a:rPr lang="en-US" altLang="zh-CN" sz="1200" baseline="0" dirty="0" smtClean="0">
                          <a:latin typeface="Times New Roman" pitchFamily="18" charset="0"/>
                          <a:cs typeface="Times New Roman" pitchFamily="18" charset="0"/>
                        </a:rPr>
                        <a:t> of MW Y</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20000~40000uA</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TMK643</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Motor current</a:t>
                      </a:r>
                      <a:r>
                        <a:rPr lang="en-US" altLang="zh-CN" sz="1200" baseline="0" dirty="0" smtClean="0">
                          <a:latin typeface="Times New Roman" pitchFamily="18" charset="0"/>
                          <a:cs typeface="Times New Roman" pitchFamily="18" charset="0"/>
                        </a:rPr>
                        <a:t> of MW Z</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20000~40000uA</a:t>
                      </a:r>
                      <a:endParaRPr lang="zh-CN" altLang="en-US" sz="1200" dirty="0" smtClean="0">
                        <a:latin typeface="Times New Roman" pitchFamily="18" charset="0"/>
                        <a:cs typeface="Times New Roman" pitchFamily="18" charset="0"/>
                      </a:endParaRPr>
                    </a:p>
                  </a:txBody>
                  <a:tcPr marT="34290" marB="34290" anchor="ctr"/>
                </a:tc>
              </a:tr>
              <a:tr h="2514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TMK651</a:t>
                      </a:r>
                      <a:endParaRPr lang="zh-CN" altLang="en-US" sz="1200" dirty="0" smtClean="0">
                        <a:latin typeface="Times New Roman" pitchFamily="18" charset="0"/>
                        <a:cs typeface="Times New Roman" pitchFamily="18" charset="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Motor current</a:t>
                      </a:r>
                      <a:r>
                        <a:rPr lang="en-US" altLang="zh-CN" sz="1200" baseline="0" dirty="0" smtClean="0">
                          <a:latin typeface="Times New Roman" pitchFamily="18" charset="0"/>
                          <a:cs typeface="Times New Roman" pitchFamily="18" charset="0"/>
                        </a:rPr>
                        <a:t> of MW S</a:t>
                      </a:r>
                      <a:endParaRPr lang="zh-CN" altLang="en-US" sz="1200" dirty="0" smtClean="0">
                        <a:latin typeface="Times New Roman" pitchFamily="18" charset="0"/>
                        <a:cs typeface="Times New Roman" pitchFamily="18" charset="0"/>
                      </a:endParaRPr>
                    </a:p>
                  </a:txBody>
                  <a:tcPr marT="34290" marB="34290" anchor="ctr"/>
                </a:tc>
                <a:tc>
                  <a:txBody>
                    <a:bodyPr/>
                    <a:lstStyle/>
                    <a:p>
                      <a:pPr algn="ctr"/>
                      <a:r>
                        <a:rPr lang="en-US" altLang="zh-CN" sz="1200" dirty="0" smtClean="0">
                          <a:latin typeface="Times New Roman" pitchFamily="18" charset="0"/>
                          <a:cs typeface="Times New Roman" pitchFamily="18" charset="0"/>
                        </a:rPr>
                        <a:t>45000~52000uA</a:t>
                      </a:r>
                      <a:endParaRPr lang="zh-CN" altLang="en-US" sz="1200" dirty="0" smtClean="0">
                        <a:latin typeface="Times New Roman" pitchFamily="18" charset="0"/>
                        <a:cs typeface="Times New Roman" pitchFamily="18" charset="0"/>
                      </a:endParaRPr>
                    </a:p>
                  </a:txBody>
                  <a:tcPr marT="34290" marB="34290" anchor="ctr"/>
                </a:tc>
              </a:tr>
            </a:tbl>
          </a:graphicData>
        </a:graphic>
      </p:graphicFrame>
    </p:spTree>
    <p:extLst>
      <p:ext uri="{BB962C8B-B14F-4D97-AF65-F5344CB8AC3E}">
        <p14:creationId xmlns:p14="http://schemas.microsoft.com/office/powerpoint/2010/main" val="2440959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dirty="0"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755576" y="1780245"/>
            <a:ext cx="7632848" cy="2862322"/>
          </a:xfrm>
          <a:prstGeom prst="rect">
            <a:avLst/>
          </a:prstGeom>
        </p:spPr>
        <p:txBody>
          <a:bodyPr wrap="square">
            <a:spAutoFit/>
          </a:bodyPr>
          <a:lstStyle/>
          <a:p>
            <a:pPr marL="0" lvl="1" algn="ctr">
              <a:buClr>
                <a:srgbClr val="0070C0"/>
              </a:buClr>
            </a:pPr>
            <a:r>
              <a:rPr lang="en-US" altLang="zh-CN" sz="6000" dirty="0" smtClean="0">
                <a:latin typeface="Times New Roman" pitchFamily="18" charset="0"/>
                <a:cs typeface="Times New Roman" pitchFamily="18" charset="0"/>
              </a:rPr>
              <a:t>Thank you for Listening!</a:t>
            </a:r>
          </a:p>
          <a:p>
            <a:pPr marL="0" lvl="1" algn="ctr">
              <a:buClr>
                <a:srgbClr val="0070C0"/>
              </a:buClr>
            </a:pPr>
            <a:endParaRPr lang="en-US" altLang="zh-CN" sz="6000" dirty="0" smtClean="0">
              <a:latin typeface="Times New Roman" pitchFamily="18" charset="0"/>
              <a:cs typeface="Times New Roman" pitchFamily="18" charset="0"/>
            </a:endParaRPr>
          </a:p>
          <a:p>
            <a:pPr marL="0" lvl="1" algn="ctr">
              <a:buClr>
                <a:srgbClr val="0070C0"/>
              </a:buClr>
            </a:pPr>
            <a:r>
              <a:rPr lang="en-US" altLang="zh-CN" sz="6000" dirty="0" smtClean="0">
                <a:latin typeface="Times New Roman" pitchFamily="18" charset="0"/>
                <a:cs typeface="Times New Roman" pitchFamily="18" charset="0"/>
              </a:rPr>
              <a:t>Q&amp;A?</a:t>
            </a:r>
            <a:endParaRPr lang="zh-CN" altLang="en-US" sz="6000" dirty="0">
              <a:latin typeface="Times New Roman" pitchFamily="18" charset="0"/>
              <a:cs typeface="Times New Roman" pitchFamily="18" charset="0"/>
            </a:endParaRPr>
          </a:p>
        </p:txBody>
      </p:sp>
    </p:spTree>
    <p:extLst>
      <p:ext uri="{BB962C8B-B14F-4D97-AF65-F5344CB8AC3E}">
        <p14:creationId xmlns:p14="http://schemas.microsoft.com/office/powerpoint/2010/main" val="41735542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穿越">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20535</TotalTime>
  <Words>4466</Words>
  <Application>Microsoft Office PowerPoint</Application>
  <PresentationFormat>全屏显示(16:9)</PresentationFormat>
  <Paragraphs>785</Paragraphs>
  <Slides>34</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36" baseType="lpstr">
      <vt:lpstr>Office 主题</vt:lpstr>
      <vt:lpstr>位图图像</vt:lpstr>
      <vt:lpstr>ETRSS-1 AOCS In-orbit Operation Instructions</vt:lpstr>
      <vt:lpstr>Contents</vt:lpstr>
      <vt:lpstr>Satellite-ground control loop</vt:lpstr>
      <vt:lpstr>AOCS</vt:lpstr>
      <vt:lpstr>AOCS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单悌磊</dc:creator>
  <cp:lastModifiedBy>李响</cp:lastModifiedBy>
  <cp:revision>710</cp:revision>
  <cp:lastPrinted>2019-09-30T02:30:08Z</cp:lastPrinted>
  <dcterms:created xsi:type="dcterms:W3CDTF">2013-04-18T01:59:38Z</dcterms:created>
  <dcterms:modified xsi:type="dcterms:W3CDTF">2019-09-30T02:30:41Z</dcterms:modified>
</cp:coreProperties>
</file>